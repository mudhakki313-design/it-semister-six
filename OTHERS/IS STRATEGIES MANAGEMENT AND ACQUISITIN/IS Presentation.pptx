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lang="en-US"/>
              <a:t>BACKGROUND </a:t>
            </a:r>
            <a:endParaRPr lang="en-GB"/>
          </a:p>
        </p:txBody>
      </p:sp>
      <p:sp>
        <p:nvSpPr>
          <p:cNvPr id="1048648" name="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17604"/>
          </a:xfrm>
        </p:spPr>
        <p:txBody>
          <a:bodyPr>
            <a:normAutofit fontScale="78571" lnSpcReduction="20000"/>
          </a:bodyPr>
          <a:p>
            <a:pPr indent="0" marL="0">
              <a:buNone/>
            </a:pPr>
            <a:r>
              <a:rPr altLang="en-GB" lang="en-US"/>
              <a:t>Prime</a:t>
            </a:r>
            <a:r>
              <a:rPr altLang="en-GB" lang="en-US"/>
              <a:t> </a:t>
            </a:r>
            <a:r>
              <a:rPr altLang="en-GB" lang="en-US"/>
              <a:t>Horizon Hotel is a prestigious 4-star luxury hotel located in the heart of Zanzibar, </a:t>
            </a:r>
            <a:endParaRPr lang="en-GB"/>
          </a:p>
          <a:p>
            <a:pPr indent="0" marL="0">
              <a:buNone/>
            </a:pPr>
            <a:r>
              <a:rPr altLang="en-GB" lang="en-US"/>
              <a:t>Tanzania. Established in 2015, the hotel has grown to become one of the preferred </a:t>
            </a:r>
            <a:endParaRPr lang="en-GB"/>
          </a:p>
          <a:p>
            <a:pPr indent="0" marL="0">
              <a:buNone/>
            </a:pPr>
            <a:r>
              <a:rPr altLang="en-GB" lang="en-US"/>
              <a:t>accommodation destinations for both business, travelers and tourists visiting Zanzibar.</a:t>
            </a:r>
            <a:endParaRPr lang="en-GB"/>
          </a:p>
          <a:p>
            <a:pPr indent="0" marL="0">
              <a:buNone/>
            </a:pPr>
            <a:r>
              <a:rPr altLang="en-GB" lang="en-US"/>
              <a:t>The hotel features include:</a:t>
            </a:r>
            <a:endParaRPr lang="en-GB"/>
          </a:p>
          <a:p>
            <a:pPr indent="0" marL="0">
              <a:buNone/>
            </a:pPr>
            <a:r>
              <a:rPr altLang="en-GB" lang="en-US"/>
              <a:t> 150 Rooms including standard rooms, deluxe rooms and executive suites</a:t>
            </a:r>
            <a:endParaRPr lang="en-GB"/>
          </a:p>
          <a:p>
            <a:pPr indent="0" marL="0">
              <a:buNone/>
            </a:pPr>
            <a:r>
              <a:rPr altLang="en-GB" lang="en-US"/>
              <a:t> 3 Restaurants offering local and continental foods</a:t>
            </a:r>
            <a:endParaRPr lang="en-GB"/>
          </a:p>
          <a:p>
            <a:pPr indent="0" marL="0">
              <a:buNone/>
            </a:pPr>
            <a:r>
              <a:rPr altLang="en-GB" lang="en-US"/>
              <a:t> 2 Conference Halls capable of hosting up to 300 guests</a:t>
            </a:r>
            <a:endParaRPr lang="en-GB"/>
          </a:p>
          <a:p>
            <a:pPr indent="0" marL="0">
              <a:buNone/>
            </a:pPr>
            <a:r>
              <a:rPr altLang="en-GB" lang="en-US"/>
              <a:t> Wellness Center with massage and gym facilities</a:t>
            </a:r>
            <a:endParaRPr lang="en-GB"/>
          </a:p>
          <a:p>
            <a:pPr indent="0" marL="0">
              <a:buNone/>
            </a:pPr>
            <a:r>
              <a:rPr altLang="en-GB" lang="en-US"/>
              <a:t> A Swimming Pool and rooftop lounge</a:t>
            </a:r>
            <a:endParaRPr lang="en-GB"/>
          </a:p>
          <a:p>
            <a:pPr indent="0" marL="0">
              <a:buNone/>
            </a:pPr>
            <a:r>
              <a:rPr altLang="en-GB" lang="en-US"/>
              <a:t> 24/7 Room Service</a:t>
            </a:r>
            <a:endParaRPr lang="en-GB"/>
          </a:p>
          <a:p>
            <a:pPr indent="0" marL="0">
              <a:buNone/>
            </a:pPr>
            <a:r>
              <a:rPr altLang="en-GB" lang="en-US"/>
              <a:t>The hotel employs approximately 100 staff members across various departments 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lang="en-US"/>
              <a:t>VISION AND MISSION </a:t>
            </a:r>
            <a:endParaRPr lang="en-GB"/>
          </a:p>
        </p:txBody>
      </p:sp>
      <p:sp>
        <p:nvSpPr>
          <p:cNvPr id="1048650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altLang="en-GB" lang="en-US"/>
              <a:t>B</a:t>
            </a:r>
            <a:r>
              <a:rPr altLang="en-GB" lang="en-US"/>
              <a:t>U</a:t>
            </a:r>
            <a:r>
              <a:rPr altLang="en-GB" lang="en-US"/>
              <a:t>SINESS</a:t>
            </a:r>
            <a:r>
              <a:rPr altLang="en-GB" lang="en-US"/>
              <a:t> </a:t>
            </a:r>
            <a:r>
              <a:rPr altLang="en-GB" lang="en-US"/>
              <a:t>P</a:t>
            </a:r>
            <a:r>
              <a:rPr altLang="en-GB" lang="en-US"/>
              <a:t>ROCESS</a:t>
            </a:r>
            <a:r>
              <a:rPr altLang="en-GB" lang="en-US"/>
              <a:t> </a:t>
            </a:r>
            <a:endParaRPr lang="en-GB"/>
          </a:p>
          <a:p>
            <a:pPr indent="0" marL="0">
              <a:buNone/>
            </a:pPr>
            <a:r>
              <a:rPr altLang="en-GB" lang="en-US"/>
              <a:t>EXISTING</a:t>
            </a:r>
            <a:r>
              <a:rPr altLang="en-GB" lang="en-US"/>
              <a:t> </a:t>
            </a:r>
            <a:r>
              <a:rPr altLang="en-GB" lang="en-US"/>
              <a:t>P</a:t>
            </a:r>
            <a:r>
              <a:rPr altLang="en-GB" lang="en-US"/>
              <a:t>R</a:t>
            </a:r>
            <a:r>
              <a:rPr altLang="en-GB" lang="en-US"/>
              <a:t>O</a:t>
            </a:r>
            <a:r>
              <a:rPr altLang="en-GB" lang="en-US"/>
              <a:t>B</a:t>
            </a:r>
            <a:r>
              <a:rPr altLang="en-GB" lang="en-US"/>
              <a:t>LEMS</a:t>
            </a:r>
            <a:r>
              <a:rPr altLang="en-GB" lang="en-US"/>
              <a:t> </a:t>
            </a:r>
            <a:endParaRPr lang="en-GB"/>
          </a:p>
          <a:p>
            <a:pPr indent="0" marL="0">
              <a:buNone/>
            </a:pPr>
            <a:r>
              <a:rPr altLang="en-GB" lang="en-US"/>
              <a:t>W</a:t>
            </a:r>
            <a:r>
              <a:rPr altLang="en-GB" lang="en-US"/>
              <a:t>H</a:t>
            </a:r>
            <a:r>
              <a:rPr altLang="en-GB" lang="en-US"/>
              <a:t>Y</a:t>
            </a:r>
            <a:r>
              <a:rPr altLang="en-GB" lang="en-US"/>
              <a:t> </a:t>
            </a:r>
            <a:r>
              <a:rPr altLang="en-GB" lang="en-US"/>
              <a:t>W</a:t>
            </a:r>
            <a:r>
              <a:rPr altLang="en-GB" lang="en-US"/>
              <a:t>E</a:t>
            </a:r>
            <a:r>
              <a:rPr altLang="en-GB" lang="en-US"/>
              <a:t> </a:t>
            </a:r>
            <a:r>
              <a:rPr altLang="en-GB" lang="en-US"/>
              <a:t>N</a:t>
            </a:r>
            <a:r>
              <a:rPr altLang="en-GB" lang="en-US"/>
              <a:t>E</a:t>
            </a:r>
            <a:r>
              <a:rPr altLang="en-GB" lang="en-US"/>
              <a:t>E</a:t>
            </a:r>
            <a:r>
              <a:rPr altLang="en-GB" lang="en-US"/>
              <a:t>D</a:t>
            </a:r>
            <a:r>
              <a:rPr altLang="en-GB" lang="en-US"/>
              <a:t> </a:t>
            </a:r>
            <a:r>
              <a:rPr altLang="en-GB" lang="en-US"/>
              <a:t>D</a:t>
            </a:r>
            <a:r>
              <a:rPr altLang="en-GB" lang="en-US"/>
              <a:t>B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/>
          </a:p>
        </p:txBody>
      </p:sp>
      <p:sp>
        <p:nvSpPr>
          <p:cNvPr id="1048652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altLang="en-GB" lang="en-US"/>
              <a:t>U</a:t>
            </a:r>
            <a:r>
              <a:rPr altLang="en-GB" lang="en-US"/>
              <a:t>S</a:t>
            </a:r>
            <a:r>
              <a:rPr altLang="en-GB" lang="en-US"/>
              <a:t>E</a:t>
            </a:r>
            <a:r>
              <a:rPr altLang="en-GB" lang="en-US"/>
              <a:t>R</a:t>
            </a:r>
            <a:r>
              <a:rPr altLang="en-GB" lang="en-US"/>
              <a:t>S</a:t>
            </a:r>
            <a:r>
              <a:rPr altLang="en-GB" lang="en-US"/>
              <a:t> </a:t>
            </a:r>
            <a:endParaRPr lang="en-GB"/>
          </a:p>
          <a:p>
            <a:pPr indent="0" marL="0">
              <a:buNone/>
            </a:pPr>
            <a:r>
              <a:rPr altLang="en-GB" lang="en-US"/>
              <a:t>FUNCTIONAL</a:t>
            </a:r>
            <a:r>
              <a:rPr altLang="en-GB" lang="en-US"/>
              <a:t> </a:t>
            </a:r>
            <a:r>
              <a:rPr altLang="en-GB" lang="en-US"/>
              <a:t>REQUIREMENTS</a:t>
            </a:r>
            <a:r>
              <a:rPr altLang="en-GB" lang="en-US"/>
              <a:t> </a:t>
            </a:r>
            <a:endParaRPr lang="en-GB"/>
          </a:p>
          <a:p>
            <a:pPr indent="0" marL="0">
              <a:buNone/>
            </a:pPr>
            <a:r>
              <a:rPr altLang="en-GB" lang="en-US"/>
              <a:t>N</a:t>
            </a:r>
            <a:r>
              <a:rPr altLang="en-GB" lang="en-US"/>
              <a:t>O</a:t>
            </a:r>
            <a:r>
              <a:rPr altLang="en-GB" lang="en-US"/>
              <a:t>N</a:t>
            </a:r>
            <a:r>
              <a:rPr altLang="en-GB" lang="en-US"/>
              <a:t> </a:t>
            </a:r>
            <a:r>
              <a:rPr altLang="en-GB" lang="en-US"/>
              <a:t>F</a:t>
            </a:r>
            <a:r>
              <a:rPr altLang="en-GB" lang="en-US"/>
              <a:t>U</a:t>
            </a:r>
            <a:r>
              <a:rPr altLang="en-GB" lang="en-US"/>
              <a:t>N</a:t>
            </a:r>
            <a:r>
              <a:rPr altLang="en-GB" lang="en-US"/>
              <a:t>C</a:t>
            </a:r>
            <a:r>
              <a:rPr altLang="en-GB" lang="en-US"/>
              <a:t>TIONAL</a:t>
            </a:r>
            <a:r>
              <a:rPr altLang="en-GB" lang="en-US"/>
              <a:t> </a:t>
            </a:r>
            <a:r>
              <a:rPr altLang="en-GB" lang="en-US"/>
              <a:t>REQUIREMENTS</a:t>
            </a:r>
            <a:r>
              <a:rPr altLang="en-GB" lang="en-US"/>
              <a:t> 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/>
          </a:p>
        </p:txBody>
      </p:sp>
      <p:sp>
        <p:nvSpPr>
          <p:cNvPr id="1048654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altLang="en-GB" lang="en-US"/>
              <a:t>ENTITIES</a:t>
            </a:r>
            <a:r>
              <a:rPr altLang="en-GB" lang="en-US"/>
              <a:t> </a:t>
            </a:r>
            <a:endParaRPr lang="en-GB"/>
          </a:p>
          <a:p>
            <a:pPr indent="0" marL="0">
              <a:buNone/>
            </a:pPr>
            <a:r>
              <a:rPr altLang="en-GB" lang="en-US"/>
              <a:t>A</a:t>
            </a:r>
            <a:r>
              <a:rPr altLang="en-GB" lang="en-US"/>
              <a:t>T</a:t>
            </a:r>
            <a:r>
              <a:rPr altLang="en-GB" lang="en-US"/>
              <a:t>T</a:t>
            </a:r>
            <a:r>
              <a:rPr altLang="en-GB" lang="en-US"/>
              <a:t>R</a:t>
            </a:r>
            <a:r>
              <a:rPr altLang="en-GB" lang="en-US"/>
              <a:t>I</a:t>
            </a:r>
            <a:r>
              <a:rPr altLang="en-GB" lang="en-US"/>
              <a:t>BUTES</a:t>
            </a:r>
            <a:r>
              <a:rPr altLang="en-GB" lang="en-US"/>
              <a:t> </a:t>
            </a:r>
            <a:endParaRPr lang="en-GB"/>
          </a:p>
          <a:p>
            <a:pPr indent="0" marL="0">
              <a:buNone/>
            </a:pPr>
            <a:r>
              <a:rPr altLang="en-GB" lang="en-US"/>
              <a:t>R</a:t>
            </a:r>
            <a:r>
              <a:rPr altLang="en-GB" lang="en-US"/>
              <a:t>E</a:t>
            </a:r>
            <a:r>
              <a:rPr altLang="en-GB" lang="en-US"/>
              <a:t>L</a:t>
            </a:r>
            <a:r>
              <a:rPr altLang="en-GB" lang="en-US"/>
              <a:t>ATIONSHIP</a:t>
            </a:r>
            <a:r>
              <a:rPr altLang="en-GB" lang="en-US"/>
              <a:t> 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lang="en-US"/>
              <a:t>E</a:t>
            </a:r>
            <a:r>
              <a:rPr altLang="en-GB" lang="en-US"/>
              <a:t>R</a:t>
            </a:r>
            <a:r>
              <a:rPr altLang="en-GB" lang="en-US"/>
              <a:t>D</a:t>
            </a:r>
            <a:endParaRPr lang="en-GB"/>
          </a:p>
        </p:txBody>
      </p:sp>
      <p:sp>
        <p:nvSpPr>
          <p:cNvPr id="1048656" name="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lang="en-US"/>
              <a:t>NORMALISATION</a:t>
            </a:r>
            <a:r>
              <a:rPr altLang="en-GB" lang="en-US"/>
              <a:t> </a:t>
            </a:r>
            <a:endParaRPr lang="en-GB"/>
          </a:p>
        </p:txBody>
      </p:sp>
      <p:sp>
        <p:nvSpPr>
          <p:cNvPr id="1048658" name="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lang="en-US"/>
              <a:t>D</a:t>
            </a:r>
            <a:r>
              <a:rPr altLang="en-GB" lang="en-US"/>
              <a:t>B</a:t>
            </a:r>
            <a:r>
              <a:rPr altLang="en-GB" lang="en-US"/>
              <a:t> </a:t>
            </a:r>
            <a:r>
              <a:rPr altLang="en-GB" lang="en-US"/>
              <a:t>I</a:t>
            </a:r>
            <a:r>
              <a:rPr altLang="en-GB" lang="en-US"/>
              <a:t>M</a:t>
            </a:r>
            <a:r>
              <a:rPr altLang="en-GB" lang="en-US"/>
              <a:t>P</a:t>
            </a:r>
            <a:r>
              <a:rPr altLang="en-GB" lang="en-US"/>
              <a:t>L</a:t>
            </a:r>
            <a:r>
              <a:rPr altLang="en-GB" lang="en-US"/>
              <a:t>EMENTATION</a:t>
            </a:r>
            <a:r>
              <a:rPr altLang="en-GB" lang="en-US"/>
              <a:t> </a:t>
            </a:r>
            <a:endParaRPr lang="en-GB"/>
          </a:p>
        </p:txBody>
      </p:sp>
      <p:sp>
        <p:nvSpPr>
          <p:cNvPr id="1048660" name="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lang="en-US"/>
              <a:t>S</a:t>
            </a:r>
            <a:r>
              <a:rPr altLang="en-GB" lang="en-US"/>
              <a:t>Q</a:t>
            </a:r>
            <a:r>
              <a:rPr altLang="en-GB" lang="en-US"/>
              <a:t>L</a:t>
            </a:r>
            <a:r>
              <a:rPr altLang="en-GB" lang="en-US"/>
              <a:t> </a:t>
            </a:r>
            <a:r>
              <a:rPr altLang="en-GB" lang="en-US"/>
              <a:t>Q</a:t>
            </a:r>
            <a:r>
              <a:rPr altLang="en-GB" lang="en-US"/>
              <a:t>U</a:t>
            </a:r>
            <a:r>
              <a:rPr altLang="en-GB" lang="en-US"/>
              <a:t>E</a:t>
            </a:r>
            <a:r>
              <a:rPr altLang="en-GB" lang="en-US"/>
              <a:t>R</a:t>
            </a:r>
            <a:r>
              <a:rPr altLang="en-GB" lang="en-US"/>
              <a:t>I</a:t>
            </a:r>
            <a:r>
              <a:rPr altLang="en-GB" lang="en-US"/>
              <a:t>ES</a:t>
            </a:r>
            <a:r>
              <a:rPr altLang="en-GB" lang="en-US"/>
              <a:t> </a:t>
            </a:r>
            <a:endParaRPr lang="en-GB"/>
          </a:p>
        </p:txBody>
      </p:sp>
      <p:sp>
        <p:nvSpPr>
          <p:cNvPr id="1048662" name="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GB" lang="en-US"/>
              <a:t>S</a:t>
            </a:r>
            <a:r>
              <a:rPr altLang="en-GB" lang="en-US"/>
              <a:t>T</a:t>
            </a:r>
            <a:r>
              <a:rPr altLang="en-GB" lang="en-US"/>
              <a:t>R</a:t>
            </a:r>
            <a:r>
              <a:rPr altLang="en-GB" lang="en-US"/>
              <a:t>A</a:t>
            </a:r>
            <a:r>
              <a:rPr altLang="en-GB" lang="en-US"/>
              <a:t>T</a:t>
            </a:r>
            <a:r>
              <a:rPr altLang="en-GB" lang="en-US"/>
              <a:t>E</a:t>
            </a:r>
            <a:r>
              <a:rPr altLang="en-GB" lang="en-US"/>
              <a:t>G</a:t>
            </a:r>
            <a:r>
              <a:rPr altLang="en-GB" lang="en-US"/>
              <a:t>I</a:t>
            </a:r>
            <a:r>
              <a:rPr altLang="en-GB" lang="en-US"/>
              <a:t>C</a:t>
            </a:r>
            <a:r>
              <a:rPr altLang="en-GB" lang="en-US"/>
              <a:t> </a:t>
            </a:r>
            <a:r>
              <a:rPr altLang="en-GB" lang="en-US"/>
              <a:t>A</a:t>
            </a:r>
            <a:r>
              <a:rPr altLang="en-GB" lang="en-US"/>
              <a:t>N</a:t>
            </a:r>
            <a:r>
              <a:rPr altLang="en-GB" lang="en-US"/>
              <a:t>A</a:t>
            </a:r>
            <a:r>
              <a:rPr altLang="en-GB" lang="en-US"/>
              <a:t>LYSIS</a:t>
            </a:r>
            <a:r>
              <a:rPr altLang="en-GB" lang="en-US"/>
              <a:t> </a:t>
            </a:r>
            <a:endParaRPr lang="en-GB"/>
          </a:p>
        </p:txBody>
      </p:sp>
      <p:sp>
        <p:nvSpPr>
          <p:cNvPr id="1048664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lang="en-GB"/>
              <a:t> How these reports help management. </a:t>
            </a:r>
            <a:endParaRPr lang="en-GB"/>
          </a:p>
          <a:p>
            <a:pPr indent="0" marL="0">
              <a:buNone/>
            </a:pPr>
            <a:r>
              <a:rPr lang="en-GB"/>
              <a:t> How the database supports organizational strategy. </a:t>
            </a:r>
            <a:endParaRPr lang="en-GB"/>
          </a:p>
          <a:p>
            <a:pPr indent="0" marL="0">
              <a:buNone/>
            </a:pPr>
            <a:r>
              <a:rPr lang="en-GB"/>
              <a:t> How managers can use the information for decision-makin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SM-A075F</dc:creator>
  <dcterms:created xsi:type="dcterms:W3CDTF">2015-05-12T03:30:45Z</dcterms:created>
  <dcterms:modified xsi:type="dcterms:W3CDTF">2026-07-20T08:36:30Z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265d6462c89c49c38cd7710e73a5db29_21</vt:lpwstr>
  </property>
</Properties>
</file>