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9"/>
  </p:notesMasterIdLst>
  <p:sldIdLst>
    <p:sldId id="275" r:id="rId2"/>
    <p:sldId id="258" r:id="rId3"/>
    <p:sldId id="267" r:id="rId4"/>
    <p:sldId id="268" r:id="rId5"/>
    <p:sldId id="269" r:id="rId6"/>
    <p:sldId id="270" r:id="rId7"/>
    <p:sldId id="271" r:id="rId8"/>
    <p:sldId id="259" r:id="rId9"/>
    <p:sldId id="260" r:id="rId10"/>
    <p:sldId id="261" r:id="rId11"/>
    <p:sldId id="262" r:id="rId12"/>
    <p:sldId id="272" r:id="rId13"/>
    <p:sldId id="273" r:id="rId14"/>
    <p:sldId id="266" r:id="rId15"/>
    <p:sldId id="274" r:id="rId16"/>
    <p:sldId id="276" r:id="rId17"/>
    <p:sldId id="27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3:04:29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3:05:25.6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23892,'254'660'0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89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71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76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40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2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00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084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54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56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34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2060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96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290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02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18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42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9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9904-24AC-0FF7-D0E3-21A46650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091" y="2772510"/>
            <a:ext cx="4704863" cy="601785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GROUP number 03.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69FF04-0436-0361-0F5A-F20F6C028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3642991"/>
              </p:ext>
            </p:extLst>
          </p:nvPr>
        </p:nvGraphicFramePr>
        <p:xfrm>
          <a:off x="758091" y="3305908"/>
          <a:ext cx="6822831" cy="3508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7832">
                  <a:extLst>
                    <a:ext uri="{9D8B030D-6E8A-4147-A177-3AD203B41FA5}">
                      <a16:colId xmlns:a16="http://schemas.microsoft.com/office/drawing/2014/main" val="3952983045"/>
                    </a:ext>
                  </a:extLst>
                </a:gridCol>
                <a:gridCol w="3664999">
                  <a:extLst>
                    <a:ext uri="{9D8B030D-6E8A-4147-A177-3AD203B41FA5}">
                      <a16:colId xmlns:a16="http://schemas.microsoft.com/office/drawing/2014/main" val="1125057366"/>
                    </a:ext>
                  </a:extLst>
                </a:gridCol>
              </a:tblGrid>
              <a:tr h="389792"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STUDENT NAME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REGISTRATION NUMBER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979180384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HAFIDH MWITA HAJI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BITAM/11/23/099/TZ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1496050532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HALIMA AMEIR JUMA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BITAM/11/23/074/TZ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4214629251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HARITH MAKAME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BITAM/11/23/059/TZ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599115188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HARITH OMAR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BITAM/11/23/056/TZ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052740853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HAFSA SAID ALI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BITAM/11/23/003/TZ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090891293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HEMED HUSSEIN PANDU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BITAM/11/23/032/TZ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795703506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HEMED SAID MMAKA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BITAM/11/23/001/TZ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725845793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</a:rPr>
                        <a:t>IBRAHIM ASAA MO’HD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</a:rPr>
                        <a:t>BITAM/11/23/073/TZ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56181278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6F7DA98-1266-EA3D-3060-57D160DA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488" y="328405"/>
            <a:ext cx="3342543" cy="232882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315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048646"/>
          <p:cNvSpPr>
            <a:spLocks noGrp="1"/>
          </p:cNvSpPr>
          <p:nvPr>
            <p:ph type="title"/>
          </p:nvPr>
        </p:nvSpPr>
        <p:spPr>
          <a:xfrm>
            <a:off x="1513664" y="408967"/>
            <a:ext cx="5692121" cy="732080"/>
          </a:xfrm>
        </p:spPr>
        <p:txBody>
          <a:bodyPr/>
          <a:lstStyle/>
          <a:p>
            <a:pPr algn="ctr"/>
            <a:r>
              <a:rPr lang="en-US" altLang="en-GB" b="1" dirty="0"/>
              <a:t>PRIME HORIZON HOTEL</a:t>
            </a:r>
            <a:endParaRPr lang="en-GB" b="1" dirty="0"/>
          </a:p>
        </p:txBody>
      </p:sp>
      <p:sp>
        <p:nvSpPr>
          <p:cNvPr id="1048648" name="Content Placeholder 1048647"/>
          <p:cNvSpPr>
            <a:spLocks noGrp="1"/>
          </p:cNvSpPr>
          <p:nvPr>
            <p:ph idx="1"/>
          </p:nvPr>
        </p:nvSpPr>
        <p:spPr>
          <a:xfrm>
            <a:off x="500185" y="1378073"/>
            <a:ext cx="8015164" cy="4952540"/>
          </a:xfrm>
        </p:spPr>
        <p:txBody>
          <a:bodyPr>
            <a:normAutofit fontScale="93571"/>
          </a:bodyPr>
          <a:lstStyle/>
          <a:p>
            <a:pPr marL="0" indent="0">
              <a:buNone/>
            </a:pPr>
            <a:r>
              <a:rPr lang="en-US" altLang="en-GB" sz="1900" b="1" dirty="0"/>
              <a:t>BACKGROUND</a:t>
            </a:r>
          </a:p>
          <a:p>
            <a:pPr marL="0" indent="0">
              <a:buNone/>
            </a:pPr>
            <a:r>
              <a:rPr lang="en-US" altLang="en-GB" dirty="0"/>
              <a:t>Prime Horizon Hotel is a prestigious 4-star luxury hotel located in the heart of Zanzibar, Tanzania. Established in 2015.</a:t>
            </a:r>
            <a:endParaRPr lang="en-GB" dirty="0"/>
          </a:p>
          <a:p>
            <a:pPr marL="0" indent="0">
              <a:buNone/>
            </a:pPr>
            <a:r>
              <a:rPr lang="en-US" altLang="en-GB" dirty="0"/>
              <a:t>The hotel features include: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 150 Rooms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 3 Restaurants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2 Conference Halls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Wellness Center with massage and gym facilities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A Swimming Pool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24/7 Room Service</a:t>
            </a:r>
            <a:endParaRPr lang="en-GB" dirty="0"/>
          </a:p>
          <a:p>
            <a:pPr marL="0" indent="0">
              <a:buNone/>
            </a:pPr>
            <a:r>
              <a:rPr lang="en-US" altLang="en-GB" dirty="0"/>
              <a:t>The hotel employs approximately 100 staff members across various departments 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07AF-760E-60CC-33E5-34AEB24F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52" y="601785"/>
            <a:ext cx="6347713" cy="750277"/>
          </a:xfrm>
        </p:spPr>
        <p:txBody>
          <a:bodyPr/>
          <a:lstStyle/>
          <a:p>
            <a:pPr algn="ctr"/>
            <a:r>
              <a:rPr lang="en-US" altLang="en-GB" dirty="0"/>
              <a:t>VISION AND MISSION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C6048-B8ED-9291-37D4-7F883BF1A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631" y="1836616"/>
            <a:ext cx="7573107" cy="4204748"/>
          </a:xfrm>
        </p:spPr>
        <p:txBody>
          <a:bodyPr>
            <a:normAutofit/>
          </a:bodyPr>
          <a:lstStyle/>
          <a:p>
            <a:r>
              <a:rPr lang="en-US" sz="2000" b="1" dirty="0"/>
              <a:t>Vision</a:t>
            </a:r>
          </a:p>
          <a:p>
            <a:pPr marL="0" indent="0">
              <a:buNone/>
            </a:pPr>
            <a:r>
              <a:rPr lang="en-US" dirty="0"/>
              <a:t>Being the premier 5-star hotel in Zanzibar, Tanzania, </a:t>
            </a:r>
            <a:r>
              <a:rPr lang="en-US" dirty="0" err="1"/>
              <a:t>recognised</a:t>
            </a:r>
            <a:r>
              <a:rPr lang="en-US" dirty="0"/>
              <a:t> for excellence in hospitality, innovation, and guest satisfaction.</a:t>
            </a:r>
          </a:p>
          <a:p>
            <a:r>
              <a:rPr lang="en-US" sz="2000" b="1" dirty="0"/>
              <a:t>Mission</a:t>
            </a:r>
          </a:p>
          <a:p>
            <a:pPr marL="0" indent="0">
              <a:buNone/>
            </a:pPr>
            <a:r>
              <a:rPr lang="en-US" dirty="0"/>
              <a:t>To consistently deliver exceptional guest experiences by providing high-quality accommodation, outstanding customer service, and modern facilities, while creating value for our employees, partners, and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186864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5D03-7551-3C57-CD0C-E5DC13D7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292" y="396387"/>
            <a:ext cx="4665785" cy="705581"/>
          </a:xfrm>
        </p:spPr>
        <p:txBody>
          <a:bodyPr/>
          <a:lstStyle/>
          <a:p>
            <a:r>
              <a:rPr lang="en-US" dirty="0"/>
              <a:t>BUSINESS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3D76B-51E3-E496-2205-318E7DAF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2877"/>
            <a:ext cx="5951904" cy="25430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Reservation and Booking Process: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Guest Check-in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Housekeeping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Food and Beverage Service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Billing and Payment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Reporting and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277698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A5B0-17D1-A07D-75AB-1F8BB661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829" y="492369"/>
            <a:ext cx="4595447" cy="687754"/>
          </a:xfrm>
        </p:spPr>
        <p:txBody>
          <a:bodyPr>
            <a:normAutofit/>
          </a:bodyPr>
          <a:lstStyle/>
          <a:p>
            <a:r>
              <a:rPr lang="en-US" dirty="0"/>
              <a:t>EXISTING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51AD-C711-B6C9-EC0E-3B04F4BF7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615" y="1825624"/>
            <a:ext cx="6991350" cy="31371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Double Booking Issues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Inconsistency and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Inefficient Room Status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Delayed and Inaccurate Reporting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Revenue Leakage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Lack of Security and Data Backup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Poor Decision-Making Support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89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005B-28F3-99BA-7E93-16F4BD62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878" y="686404"/>
            <a:ext cx="5603630" cy="907619"/>
          </a:xfrm>
        </p:spPr>
        <p:txBody>
          <a:bodyPr>
            <a:normAutofit/>
          </a:bodyPr>
          <a:lstStyle/>
          <a:p>
            <a:r>
              <a:rPr lang="en-US" altLang="en-GB" dirty="0"/>
              <a:t>WHY WE NEED A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84235-8940-6B8B-03DE-E4BFE39D5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32" y="1955642"/>
            <a:ext cx="6586469" cy="29467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Automation of Manual Processes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Centralised</a:t>
            </a:r>
            <a:r>
              <a:rPr lang="en-US" dirty="0"/>
              <a:t> Data Storage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Real-Time Room Availability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Improved Revenue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Efficient Reporting and Decision-Making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Security and Backup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352041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D389-3C14-6DA5-6CEE-E66141AD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4276" y="719016"/>
            <a:ext cx="3477847" cy="812800"/>
          </a:xfrm>
        </p:spPr>
        <p:txBody>
          <a:bodyPr/>
          <a:lstStyle/>
          <a:p>
            <a:r>
              <a:rPr lang="en-US" dirty="0"/>
              <a:t>SYSTEM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379AC-08C8-39E9-6DFA-0A08A6597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342" y="2074621"/>
            <a:ext cx="6347714" cy="307571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System Administrator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General Manager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Front Desk Receptionists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Housekeeping Staff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Restaurant and Food &amp; Beverage Staff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Finance and Accounting Staff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Guests</a:t>
            </a:r>
          </a:p>
        </p:txBody>
      </p:sp>
    </p:spTree>
    <p:extLst>
      <p:ext uri="{BB962C8B-B14F-4D97-AF65-F5344CB8AC3E}">
        <p14:creationId xmlns:p14="http://schemas.microsoft.com/office/powerpoint/2010/main" val="1217497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048648"/>
          <p:cNvSpPr>
            <a:spLocks noGrp="1"/>
          </p:cNvSpPr>
          <p:nvPr>
            <p:ph type="title"/>
          </p:nvPr>
        </p:nvSpPr>
        <p:spPr>
          <a:xfrm>
            <a:off x="1125415" y="722853"/>
            <a:ext cx="6213232" cy="851877"/>
          </a:xfrm>
        </p:spPr>
        <p:txBody>
          <a:bodyPr/>
          <a:lstStyle/>
          <a:p>
            <a:r>
              <a:rPr lang="en-US" altLang="en-GB" dirty="0"/>
              <a:t>FUNCTIONAL REQUIREMENTS</a:t>
            </a:r>
            <a:endParaRPr lang="en-GB" dirty="0"/>
          </a:p>
        </p:txBody>
      </p:sp>
      <p:sp>
        <p:nvSpPr>
          <p:cNvPr id="1048650" name="Content Placeholder 1048649"/>
          <p:cNvSpPr>
            <a:spLocks noGrp="1"/>
          </p:cNvSpPr>
          <p:nvPr>
            <p:ph idx="1"/>
          </p:nvPr>
        </p:nvSpPr>
        <p:spPr>
          <a:xfrm>
            <a:off x="609599" y="2160591"/>
            <a:ext cx="6347714" cy="35055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Guest Management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Room Management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Reservation Management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Check-in and Check-out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Payment and Billing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Service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Reporting and Analytics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User Management and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048650"/>
          <p:cNvSpPr>
            <a:spLocks noGrp="1"/>
          </p:cNvSpPr>
          <p:nvPr>
            <p:ph type="title"/>
          </p:nvPr>
        </p:nvSpPr>
        <p:spPr>
          <a:xfrm>
            <a:off x="683358" y="591772"/>
            <a:ext cx="7288335" cy="760289"/>
          </a:xfrm>
        </p:spPr>
        <p:txBody>
          <a:bodyPr>
            <a:normAutofit/>
          </a:bodyPr>
          <a:lstStyle/>
          <a:p>
            <a:r>
              <a:rPr lang="en-US" altLang="en-GB" dirty="0"/>
              <a:t>NON-FUNCTIONAL REQUIREMENTS</a:t>
            </a:r>
            <a:endParaRPr lang="en-GB" dirty="0"/>
          </a:p>
        </p:txBody>
      </p:sp>
      <p:sp>
        <p:nvSpPr>
          <p:cNvPr id="1048652" name="Content Placeholder 1048651"/>
          <p:cNvSpPr>
            <a:spLocks noGrp="1"/>
          </p:cNvSpPr>
          <p:nvPr>
            <p:ph idx="1"/>
          </p:nvPr>
        </p:nvSpPr>
        <p:spPr>
          <a:xfrm>
            <a:off x="683358" y="1949576"/>
            <a:ext cx="6347714" cy="32398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Performance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Security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Reliability and Availability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Usability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Scalability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Maintenance and Support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Backup and Recovery Requirements 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04865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Design: </a:t>
            </a:r>
            <a:r>
              <a:rPr lang="en-GB" b="1" dirty="0"/>
              <a:t>Entities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222B0-F51D-1E76-8D88-B8446B148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6" y="1660990"/>
            <a:ext cx="8759827" cy="44083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048654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5581"/>
          </a:xfrm>
        </p:spPr>
        <p:txBody>
          <a:bodyPr/>
          <a:lstStyle/>
          <a:p>
            <a:r>
              <a:rPr lang="en-US" altLang="en-GB" dirty="0"/>
              <a:t>ERD</a:t>
            </a:r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42079F2-8720-0DD3-B560-D0A263120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5" y="1168515"/>
            <a:ext cx="8253045" cy="500281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151F-63C4-F4CE-FE7E-CEF58994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583" y="105742"/>
            <a:ext cx="3806092" cy="859536"/>
          </a:xfrm>
        </p:spPr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87EF5-77CC-C70C-7666-1723795F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90" y="965278"/>
            <a:ext cx="7886700" cy="186389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 section  demonstrates  the  normalization  of  the  Prime  Horizon  Hotel  database  from unnormalized Form (UNF) through to Third Normal Form (3NF). </a:t>
            </a:r>
          </a:p>
          <a:p>
            <a:pPr marL="0" indent="0">
              <a:buNone/>
            </a:pPr>
            <a:r>
              <a:rPr lang="en-US" dirty="0"/>
              <a:t>The goal is to ensure that the database design is efficient, consistent, and free from anomalies. Below is example for unnormalized form: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8A09A-F995-24D2-D4FC-6CD62E3B9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0" t="35778" r="22200" b="38978"/>
          <a:stretch/>
        </p:blipFill>
        <p:spPr>
          <a:xfrm>
            <a:off x="117232" y="2973598"/>
            <a:ext cx="8815754" cy="286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71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3297-9665-E003-D5A9-5C4F15C3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1779-C903-EB1A-C94A-02C669CC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6183" y="662724"/>
            <a:ext cx="3997571" cy="7545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outputs for Select query: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64385-4524-E139-BABA-1144F7B80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3062" y="1470396"/>
            <a:ext cx="8217876" cy="49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1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048662"/>
          <p:cNvSpPr>
            <a:spLocks noGrp="1"/>
          </p:cNvSpPr>
          <p:nvPr>
            <p:ph type="title"/>
          </p:nvPr>
        </p:nvSpPr>
        <p:spPr>
          <a:xfrm>
            <a:off x="628650" y="128017"/>
            <a:ext cx="7444642" cy="868680"/>
          </a:xfrm>
        </p:spPr>
        <p:txBody>
          <a:bodyPr/>
          <a:lstStyle/>
          <a:p>
            <a:r>
              <a:rPr lang="en-US" altLang="en-GB" dirty="0"/>
              <a:t>REPORTS AND STRATEGIC ANALYSIS</a:t>
            </a:r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3588EC1-0F4A-5AB3-A519-9DEE2264C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0" t="25710" r="32506" b="25116"/>
          <a:stretch/>
        </p:blipFill>
        <p:spPr>
          <a:xfrm>
            <a:off x="312615" y="931444"/>
            <a:ext cx="8393723" cy="499511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51CC34-EF8F-0CDA-BA9B-00F3C4639319}"/>
                  </a:ext>
                </a:extLst>
              </p14:cNvPr>
              <p14:cNvContentPartPr/>
              <p14:nvPr/>
            </p14:nvContentPartPr>
            <p14:xfrm>
              <a:off x="9939456" y="168235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51CC34-EF8F-0CDA-BA9B-00F3C46393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33336" y="167623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11D85D2-0E6C-458F-68D6-19F654C5B5C7}"/>
                  </a:ext>
                </a:extLst>
              </p14:cNvPr>
              <p14:cNvContentPartPr/>
              <p14:nvPr/>
            </p14:nvContentPartPr>
            <p14:xfrm>
              <a:off x="1252656" y="1133712"/>
              <a:ext cx="91800" cy="237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11D85D2-0E6C-458F-68D6-19F654C5B5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9656" y="1070712"/>
                <a:ext cx="217440" cy="36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B89E-FCED-A44E-034F-D94F2DDBA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633664"/>
            <a:ext cx="6347714" cy="54077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1) How these reports help management.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2) How the database supports organizational strategy.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3DCFBA8-A1A8-869F-64D1-3681E5614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35" y="1123111"/>
            <a:ext cx="60669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Financial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Room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Guest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Service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Staff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D283BD-8D67-09D7-B6D2-A0D2F85DA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830558"/>
              </p:ext>
            </p:extLst>
          </p:nvPr>
        </p:nvGraphicFramePr>
        <p:xfrm>
          <a:off x="749259" y="3429000"/>
          <a:ext cx="5731510" cy="2758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884132348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3056545218"/>
                    </a:ext>
                  </a:extLst>
                </a:gridCol>
              </a:tblGrid>
              <a:tr h="19179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</a:rPr>
                        <a:t>Strategic Area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</a:rPr>
                        <a:t>How the Database Supports It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086306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Revenue Optimization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Tracks all income sources and identifies the highest revenue generators.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60147937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Cost Reduction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Identifies inefficiencies, such as empty rooms and low-demand services.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74289531"/>
                  </a:ext>
                </a:extLst>
              </a:tr>
              <a:tr h="2386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Guest Satisfaction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Stores guest preferences, enabling personalized service.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61042840"/>
                  </a:ext>
                </a:extLst>
              </a:tr>
              <a:tr h="2386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Competitive Advantage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Data-driven decisions help the hotel outperform competitors.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30352508"/>
                  </a:ext>
                </a:extLst>
              </a:tr>
              <a:tr h="2386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Marketing Effectiveness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Guest demographics guide targeted campaigns.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77947028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Operational Efficiency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Real-time data speeds up processes such as check-in and reservations.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76320966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Scalability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The database grows with the hotel and supports future expansion.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76013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85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082D-6993-DF04-F019-5609837A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11" y="1192029"/>
            <a:ext cx="7676148" cy="720721"/>
          </a:xfrm>
        </p:spPr>
        <p:txBody>
          <a:bodyPr>
            <a:normAutofit fontScale="90000"/>
          </a:bodyPr>
          <a:lstStyle/>
          <a:p>
            <a:r>
              <a:rPr lang="en-GB" sz="2200" dirty="0"/>
              <a:t>3) How managers can use the information for decision-making</a:t>
            </a:r>
            <a:br>
              <a:rPr lang="en-GB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E434B4-A310-D055-E30F-FEC8CF448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3209644"/>
              </p:ext>
            </p:extLst>
          </p:nvPr>
        </p:nvGraphicFramePr>
        <p:xfrm>
          <a:off x="609599" y="3727186"/>
          <a:ext cx="5731510" cy="1071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833600637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3771061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Data Source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Decision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291396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Revenue reports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Set annual revenue targets and budgets.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39228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Occupancy trends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Plan expansions or renovations during low seasons.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84388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Guest demographics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Enter new markets or launch targeted campaigns.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257678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747FAA-E260-06D4-B1B8-C12536049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74946"/>
              </p:ext>
            </p:extLst>
          </p:nvPr>
        </p:nvGraphicFramePr>
        <p:xfrm>
          <a:off x="609599" y="2175613"/>
          <a:ext cx="5731510" cy="1071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772813483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2136121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Data Source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Decision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2835298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Room occupancy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Adjust daily room prices (dynamic pricing).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84162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Staff performance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Schedule staff based on occupancy projections.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5183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Service revenue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Run promotions on underperforming services.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841802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E32E59-BD7F-6A96-5A33-FB0024CA3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89102"/>
              </p:ext>
            </p:extLst>
          </p:nvPr>
        </p:nvGraphicFramePr>
        <p:xfrm>
          <a:off x="609599" y="5190463"/>
          <a:ext cx="5731510" cy="1071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993123298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2703563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Data Source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Decision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371852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Daily operations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Allocate housekeeping based on check-in/out volume.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5399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Payment methods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Offer discounts for preferred payment methods.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845434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Service orders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Ensure popular services are always available.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8293197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02D1931-20F5-6F83-52F2-4B1E4FE74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2" y="1926693"/>
            <a:ext cx="2435282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1.Strategic Planning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Tactical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Operational Decisions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380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6074-6F07-2684-5DEB-2C0F1DE27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691" y="2962030"/>
            <a:ext cx="2641601" cy="13208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782275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214</TotalTime>
  <Words>642</Words>
  <Application>Microsoft Office PowerPoint</Application>
  <PresentationFormat>On-screen Show (4:3)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GROUP number 03.</vt:lpstr>
      <vt:lpstr>PRIME HORIZON HOTEL</vt:lpstr>
      <vt:lpstr>VISION AND MISSION </vt:lpstr>
      <vt:lpstr>BUSINESS PROCESSES</vt:lpstr>
      <vt:lpstr>EXISTING PROBLEMS</vt:lpstr>
      <vt:lpstr>WHY WE NEED A DATABASE</vt:lpstr>
      <vt:lpstr>SYSTEM USERS</vt:lpstr>
      <vt:lpstr>FUNCTIONAL REQUIREMENTS</vt:lpstr>
      <vt:lpstr>NON-FUNCTIONAL REQUIREMENTS</vt:lpstr>
      <vt:lpstr>Database Design: Entities</vt:lpstr>
      <vt:lpstr>ERD</vt:lpstr>
      <vt:lpstr>NORMALIZATION</vt:lpstr>
      <vt:lpstr>SQL Queries</vt:lpstr>
      <vt:lpstr>REPORTS AND STRATEGIC ANALYSIS</vt:lpstr>
      <vt:lpstr>PowerPoint Presentation</vt:lpstr>
      <vt:lpstr>3) How managers can use the information for decision-making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SM-A075F</dc:creator>
  <cp:lastModifiedBy>Hesammaka .</cp:lastModifiedBy>
  <cp:revision>9</cp:revision>
  <dcterms:created xsi:type="dcterms:W3CDTF">2015-05-12T03:30:45Z</dcterms:created>
  <dcterms:modified xsi:type="dcterms:W3CDTF">2026-07-21T04:21:31Z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265d6462c89c49c38cd7710e73a5db29_21</vt:lpwstr>
  </property>
</Properties>
</file>