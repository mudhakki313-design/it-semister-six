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sldIdLst>
    <p:sldId id="279"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30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3259806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1919427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3773561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E03EAE-B449-4ADF-8B17-4DF64CEBD8A7}" type="datetimeFigureOut">
              <a:rPr lang="en-US" smtClean="0"/>
              <a:t>07/21/26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1673882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E03EAE-B449-4ADF-8B17-4DF64CEBD8A7}" type="datetimeFigureOut">
              <a:rPr lang="en-US" smtClean="0"/>
              <a:t>07/21/26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3439926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E03EAE-B449-4ADF-8B17-4DF64CEBD8A7}" type="datetimeFigureOut">
              <a:rPr lang="en-US" smtClean="0"/>
              <a:t>07/21/26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1994011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E03EAE-B449-4ADF-8B17-4DF64CEBD8A7}" type="datetimeFigureOut">
              <a:rPr lang="en-US" smtClean="0"/>
              <a:t>07/21/26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3049795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E03EAE-B449-4ADF-8B17-4DF64CEBD8A7}" type="datetimeFigureOut">
              <a:rPr lang="en-US" smtClean="0"/>
              <a:t>07/21/26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2152090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E03EAE-B449-4ADF-8B17-4DF64CEBD8A7}" type="datetimeFigureOut">
              <a:rPr lang="en-US" smtClean="0"/>
              <a:t>07/21/26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611583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720244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73277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12973419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15277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1547875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1215032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03EAE-B449-4ADF-8B17-4DF64CEBD8A7}" type="datetimeFigureOut">
              <a:rPr lang="en-US" smtClean="0"/>
              <a:t>07/21/26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F39B2F-1885-4AD7-A9D1-B0FE63C97DC3}" type="slidenum">
              <a:rPr lang="en-US" smtClean="0"/>
              <a:t>‹#›</a:t>
            </a:fld>
            <a:endParaRPr lang="en-US"/>
          </a:p>
        </p:txBody>
      </p:sp>
    </p:spTree>
    <p:extLst>
      <p:ext uri="{BB962C8B-B14F-4D97-AF65-F5344CB8AC3E}">
        <p14:creationId xmlns:p14="http://schemas.microsoft.com/office/powerpoint/2010/main" val="992663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AE03EAE-B449-4ADF-8B17-4DF64CEBD8A7}" type="datetimeFigureOut">
              <a:rPr lang="en-US" smtClean="0"/>
              <a:t>07/21/26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DF39B2F-1885-4AD7-A9D1-B0FE63C97DC3}" type="slidenum">
              <a:rPr lang="en-US" smtClean="0"/>
              <a:t>‹#›</a:t>
            </a:fld>
            <a:endParaRPr lang="en-US"/>
          </a:p>
        </p:txBody>
      </p:sp>
    </p:spTree>
    <p:extLst>
      <p:ext uri="{BB962C8B-B14F-4D97-AF65-F5344CB8AC3E}">
        <p14:creationId xmlns:p14="http://schemas.microsoft.com/office/powerpoint/2010/main" val="3967767657"/>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89904-24AC-0FF7-D0E3-21A4665087A3}"/>
              </a:ext>
            </a:extLst>
          </p:cNvPr>
          <p:cNvSpPr>
            <a:spLocks noGrp="1"/>
          </p:cNvSpPr>
          <p:nvPr>
            <p:ph type="title"/>
          </p:nvPr>
        </p:nvSpPr>
        <p:spPr>
          <a:xfrm>
            <a:off x="1866456" y="2733352"/>
            <a:ext cx="4704863" cy="601785"/>
          </a:xfrm>
        </p:spPr>
        <p:txBody>
          <a:bodyPr>
            <a:normAutofit fontScale="90000"/>
          </a:bodyPr>
          <a:lstStyle/>
          <a:p>
            <a:r>
              <a:rPr lang="en-US" b="1" i="1" dirty="0">
                <a:latin typeface="Arial" panose="020B0604020202020204" pitchFamily="34" charset="0"/>
                <a:cs typeface="Arial" panose="020B0604020202020204" pitchFamily="34" charset="0"/>
              </a:rPr>
              <a:t>GROUP number 03.</a:t>
            </a:r>
            <a:endParaRPr lang="en-US" dirty="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1C69FF04-0436-0361-0F5A-F20F6C0282EB}"/>
              </a:ext>
            </a:extLst>
          </p:cNvPr>
          <p:cNvGraphicFramePr>
            <a:graphicFrameLocks noGrp="1"/>
          </p:cNvGraphicFramePr>
          <p:nvPr>
            <p:ph idx="1"/>
            <p:extLst>
              <p:ext uri="{D42A27DB-BD31-4B8C-83A1-F6EECF244321}">
                <p14:modId xmlns:p14="http://schemas.microsoft.com/office/powerpoint/2010/main" val="2716442562"/>
              </p:ext>
            </p:extLst>
          </p:nvPr>
        </p:nvGraphicFramePr>
        <p:xfrm>
          <a:off x="1690064" y="3254433"/>
          <a:ext cx="7488620" cy="3508128"/>
        </p:xfrm>
        <a:graphic>
          <a:graphicData uri="http://schemas.openxmlformats.org/drawingml/2006/table">
            <a:tbl>
              <a:tblPr firstRow="1" firstCol="1" bandRow="1">
                <a:tableStyleId>{5C22544A-7EE6-4342-B048-85BDC9FD1C3A}</a:tableStyleId>
              </a:tblPr>
              <a:tblGrid>
                <a:gridCol w="3465981">
                  <a:extLst>
                    <a:ext uri="{9D8B030D-6E8A-4147-A177-3AD203B41FA5}">
                      <a16:colId xmlns:a16="http://schemas.microsoft.com/office/drawing/2014/main" val="3952983045"/>
                    </a:ext>
                  </a:extLst>
                </a:gridCol>
                <a:gridCol w="4022639">
                  <a:extLst>
                    <a:ext uri="{9D8B030D-6E8A-4147-A177-3AD203B41FA5}">
                      <a16:colId xmlns:a16="http://schemas.microsoft.com/office/drawing/2014/main" val="1125057366"/>
                    </a:ext>
                  </a:extLst>
                </a:gridCol>
              </a:tblGrid>
              <a:tr h="389792">
                <a:tc>
                  <a:txBody>
                    <a:bodyPr/>
                    <a:lstStyle/>
                    <a:p>
                      <a:pPr marL="0" marR="0" algn="ctr" hangingPunct="0">
                        <a:lnSpc>
                          <a:spcPct val="150000"/>
                        </a:lnSpc>
                        <a:buNone/>
                      </a:pPr>
                      <a:r>
                        <a:rPr lang="en-US" sz="1400" kern="100" dirty="0">
                          <a:effectLst/>
                        </a:rPr>
                        <a:t>STUDENT NAME</a:t>
                      </a:r>
                      <a:endParaRPr lang="en-US" sz="1400" kern="100" dirty="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algn="ctr" hangingPunct="0">
                        <a:lnSpc>
                          <a:spcPct val="150000"/>
                        </a:lnSpc>
                        <a:buNone/>
                      </a:pPr>
                      <a:r>
                        <a:rPr lang="en-US" sz="1400" kern="100" dirty="0">
                          <a:effectLst/>
                        </a:rPr>
                        <a:t>REGISTRATION NUMBER</a:t>
                      </a:r>
                      <a:endParaRPr lang="en-US" sz="1400" kern="100" dirty="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3979180384"/>
                  </a:ext>
                </a:extLst>
              </a:tr>
              <a:tr h="389792">
                <a:tc>
                  <a:txBody>
                    <a:bodyPr/>
                    <a:lstStyle/>
                    <a:p>
                      <a:pPr marL="0" marR="0" hangingPunct="0">
                        <a:lnSpc>
                          <a:spcPct val="150000"/>
                        </a:lnSpc>
                        <a:buNone/>
                      </a:pPr>
                      <a:r>
                        <a:rPr lang="en-US" sz="1200" kern="100" dirty="0">
                          <a:effectLst/>
                        </a:rPr>
                        <a:t>HAFIDH MWITA HAJI</a:t>
                      </a:r>
                      <a:endParaRPr lang="en-US" sz="1200" kern="100" dirty="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hangingPunct="0">
                        <a:lnSpc>
                          <a:spcPct val="150000"/>
                        </a:lnSpc>
                        <a:buNone/>
                      </a:pPr>
                      <a:r>
                        <a:rPr lang="en-US" sz="1200" kern="100" dirty="0">
                          <a:effectLst/>
                        </a:rPr>
                        <a:t>BITAM/11/23/099/TZ</a:t>
                      </a:r>
                      <a:endParaRPr lang="en-US" sz="1200" kern="100" dirty="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1496050532"/>
                  </a:ext>
                </a:extLst>
              </a:tr>
              <a:tr h="389792">
                <a:tc>
                  <a:txBody>
                    <a:bodyPr/>
                    <a:lstStyle/>
                    <a:p>
                      <a:pPr marL="0" marR="0" hangingPunct="0">
                        <a:lnSpc>
                          <a:spcPct val="150000"/>
                        </a:lnSpc>
                        <a:buNone/>
                      </a:pPr>
                      <a:r>
                        <a:rPr lang="en-US" sz="1200" kern="100">
                          <a:effectLst/>
                        </a:rPr>
                        <a:t>HALIMA AMEIR JUMA</a:t>
                      </a:r>
                      <a:endParaRPr lang="en-US" sz="1200" kern="10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hangingPunct="0">
                        <a:lnSpc>
                          <a:spcPct val="150000"/>
                        </a:lnSpc>
                        <a:buNone/>
                      </a:pPr>
                      <a:r>
                        <a:rPr lang="en-US" sz="1200" kern="100">
                          <a:effectLst/>
                        </a:rPr>
                        <a:t>BITAM/11/23/074/TZ</a:t>
                      </a:r>
                      <a:endParaRPr lang="en-US" sz="1200" kern="10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4214629251"/>
                  </a:ext>
                </a:extLst>
              </a:tr>
              <a:tr h="389792">
                <a:tc>
                  <a:txBody>
                    <a:bodyPr/>
                    <a:lstStyle/>
                    <a:p>
                      <a:pPr marL="0" marR="0" hangingPunct="0">
                        <a:lnSpc>
                          <a:spcPct val="150000"/>
                        </a:lnSpc>
                        <a:buNone/>
                      </a:pPr>
                      <a:r>
                        <a:rPr lang="en-US" sz="1200" kern="100">
                          <a:effectLst/>
                        </a:rPr>
                        <a:t>HARITH MAKAME</a:t>
                      </a:r>
                      <a:endParaRPr lang="en-US" sz="1200" kern="10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hangingPunct="0">
                        <a:lnSpc>
                          <a:spcPct val="150000"/>
                        </a:lnSpc>
                        <a:buNone/>
                      </a:pPr>
                      <a:r>
                        <a:rPr lang="en-US" sz="1200" kern="100" dirty="0">
                          <a:effectLst/>
                        </a:rPr>
                        <a:t>BITAM/11/23/059/TZ</a:t>
                      </a:r>
                      <a:endParaRPr lang="en-US" sz="1200" kern="100" dirty="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3599115188"/>
                  </a:ext>
                </a:extLst>
              </a:tr>
              <a:tr h="389792">
                <a:tc>
                  <a:txBody>
                    <a:bodyPr/>
                    <a:lstStyle/>
                    <a:p>
                      <a:pPr marL="0" marR="0" hangingPunct="0">
                        <a:lnSpc>
                          <a:spcPct val="150000"/>
                        </a:lnSpc>
                        <a:buNone/>
                      </a:pPr>
                      <a:r>
                        <a:rPr lang="en-US" sz="1200" kern="100">
                          <a:effectLst/>
                        </a:rPr>
                        <a:t>HARITH OMAR</a:t>
                      </a:r>
                      <a:endParaRPr lang="en-US" sz="1200" kern="10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hangingPunct="0">
                        <a:lnSpc>
                          <a:spcPct val="150000"/>
                        </a:lnSpc>
                        <a:buNone/>
                      </a:pPr>
                      <a:r>
                        <a:rPr lang="en-US" sz="1200" kern="100">
                          <a:effectLst/>
                        </a:rPr>
                        <a:t>BITAM/11/23/056/TZ</a:t>
                      </a:r>
                      <a:endParaRPr lang="en-US" sz="1200" kern="10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2052740853"/>
                  </a:ext>
                </a:extLst>
              </a:tr>
              <a:tr h="389792">
                <a:tc>
                  <a:txBody>
                    <a:bodyPr/>
                    <a:lstStyle/>
                    <a:p>
                      <a:pPr marL="0" marR="0" hangingPunct="0">
                        <a:lnSpc>
                          <a:spcPct val="150000"/>
                        </a:lnSpc>
                        <a:buNone/>
                      </a:pPr>
                      <a:r>
                        <a:rPr lang="en-US" sz="1200" kern="100">
                          <a:effectLst/>
                        </a:rPr>
                        <a:t>HAFSA SAID ALI</a:t>
                      </a:r>
                      <a:endParaRPr lang="en-US" sz="1200" kern="10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hangingPunct="0">
                        <a:lnSpc>
                          <a:spcPct val="150000"/>
                        </a:lnSpc>
                        <a:buNone/>
                      </a:pPr>
                      <a:r>
                        <a:rPr lang="en-US" sz="1200" kern="100">
                          <a:effectLst/>
                        </a:rPr>
                        <a:t>BITAM/11/23/003/TZ</a:t>
                      </a:r>
                      <a:endParaRPr lang="en-US" sz="1200" kern="10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3090891293"/>
                  </a:ext>
                </a:extLst>
              </a:tr>
              <a:tr h="389792">
                <a:tc>
                  <a:txBody>
                    <a:bodyPr/>
                    <a:lstStyle/>
                    <a:p>
                      <a:pPr marL="0" marR="0" hangingPunct="0">
                        <a:lnSpc>
                          <a:spcPct val="150000"/>
                        </a:lnSpc>
                        <a:buNone/>
                      </a:pPr>
                      <a:r>
                        <a:rPr lang="en-US" sz="1200" kern="100">
                          <a:effectLst/>
                        </a:rPr>
                        <a:t>HEMED HUSSEIN PANDU</a:t>
                      </a:r>
                      <a:endParaRPr lang="en-US" sz="1200" kern="10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hangingPunct="0">
                        <a:lnSpc>
                          <a:spcPct val="150000"/>
                        </a:lnSpc>
                        <a:buNone/>
                      </a:pPr>
                      <a:r>
                        <a:rPr lang="en-US" sz="1200" kern="100" dirty="0">
                          <a:effectLst/>
                        </a:rPr>
                        <a:t>BITAM/11/23/032/TZ</a:t>
                      </a:r>
                      <a:endParaRPr lang="en-US" sz="1200" kern="100" dirty="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2795703506"/>
                  </a:ext>
                </a:extLst>
              </a:tr>
              <a:tr h="389792">
                <a:tc>
                  <a:txBody>
                    <a:bodyPr/>
                    <a:lstStyle/>
                    <a:p>
                      <a:pPr marL="0" marR="0" hangingPunct="0">
                        <a:lnSpc>
                          <a:spcPct val="150000"/>
                        </a:lnSpc>
                        <a:buNone/>
                      </a:pPr>
                      <a:r>
                        <a:rPr lang="en-US" sz="1200" kern="100" dirty="0">
                          <a:effectLst/>
                        </a:rPr>
                        <a:t>HEMED SAID MMAKA</a:t>
                      </a:r>
                      <a:endParaRPr lang="en-US" sz="1200" kern="100" dirty="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hangingPunct="0">
                        <a:lnSpc>
                          <a:spcPct val="150000"/>
                        </a:lnSpc>
                        <a:buNone/>
                      </a:pPr>
                      <a:r>
                        <a:rPr lang="en-US" sz="1200" kern="100" dirty="0">
                          <a:effectLst/>
                        </a:rPr>
                        <a:t>BITAM/11/23/001/TZ</a:t>
                      </a:r>
                      <a:endParaRPr lang="en-US" sz="1200" kern="100" dirty="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3725845793"/>
                  </a:ext>
                </a:extLst>
              </a:tr>
              <a:tr h="389792">
                <a:tc>
                  <a:txBody>
                    <a:bodyPr/>
                    <a:lstStyle/>
                    <a:p>
                      <a:pPr marL="0" marR="0" lvl="0" indent="0" algn="l" defTabSz="457200" rtl="0" eaLnBrk="1" fontAlgn="auto" latinLnBrk="0" hangingPunct="0">
                        <a:lnSpc>
                          <a:spcPct val="150000"/>
                        </a:lnSpc>
                        <a:spcBef>
                          <a:spcPts val="0"/>
                        </a:spcBef>
                        <a:spcAft>
                          <a:spcPts val="0"/>
                        </a:spcAft>
                        <a:buClrTx/>
                        <a:buSzTx/>
                        <a:buFontTx/>
                        <a:buNone/>
                        <a:tabLst/>
                        <a:defRPr/>
                      </a:pPr>
                      <a:r>
                        <a:rPr lang="en-US" sz="1200" kern="100" dirty="0">
                          <a:effectLst/>
                        </a:rPr>
                        <a:t>IBRAHIM ASAA MO’HD </a:t>
                      </a:r>
                      <a:endParaRPr lang="en-US" sz="1200" kern="100" dirty="0">
                        <a:effectLst/>
                        <a:latin typeface="Times New Roman" panose="02020603050405020304" pitchFamily="18" charset="0"/>
                        <a:ea typeface="Times New Roman" panose="02020603050405020304" pitchFamily="18" charset="0"/>
                      </a:endParaRPr>
                    </a:p>
                  </a:txBody>
                  <a:tcPr marL="34925" marR="34925" marT="34925" marB="34925"/>
                </a:tc>
                <a:tc>
                  <a:txBody>
                    <a:bodyPr/>
                    <a:lstStyle/>
                    <a:p>
                      <a:pPr marL="0" marR="0" lvl="0" indent="0" algn="l" defTabSz="457200" rtl="0" eaLnBrk="1" fontAlgn="auto" latinLnBrk="0" hangingPunct="0">
                        <a:lnSpc>
                          <a:spcPct val="150000"/>
                        </a:lnSpc>
                        <a:spcBef>
                          <a:spcPts val="0"/>
                        </a:spcBef>
                        <a:spcAft>
                          <a:spcPts val="0"/>
                        </a:spcAft>
                        <a:buClrTx/>
                        <a:buSzTx/>
                        <a:buFontTx/>
                        <a:buNone/>
                        <a:tabLst/>
                        <a:defRPr/>
                      </a:pPr>
                      <a:r>
                        <a:rPr lang="en-US" sz="1200" kern="100" dirty="0">
                          <a:effectLst/>
                        </a:rPr>
                        <a:t>BITAM/11/23/073/TZ</a:t>
                      </a:r>
                      <a:endParaRPr lang="en-US" sz="1200" kern="100" dirty="0">
                        <a:effectLst/>
                        <a:latin typeface="Times New Roman" panose="02020603050405020304" pitchFamily="18" charset="0"/>
                        <a:ea typeface="Times New Roman" panose="02020603050405020304" pitchFamily="18" charset="0"/>
                      </a:endParaRPr>
                    </a:p>
                  </a:txBody>
                  <a:tcPr marL="34925" marR="34925" marT="34925" marB="34925"/>
                </a:tc>
                <a:extLst>
                  <a:ext uri="{0D108BD9-81ED-4DB2-BD59-A6C34878D82A}">
                    <a16:rowId xmlns:a16="http://schemas.microsoft.com/office/drawing/2014/main" val="4187511020"/>
                  </a:ext>
                </a:extLst>
              </a:tr>
            </a:tbl>
          </a:graphicData>
        </a:graphic>
      </p:graphicFrame>
      <p:pic>
        <p:nvPicPr>
          <p:cNvPr id="5" name="Picture 4">
            <a:extLst>
              <a:ext uri="{FF2B5EF4-FFF2-40B4-BE49-F238E27FC236}">
                <a16:creationId xmlns:a16="http://schemas.microsoft.com/office/drawing/2014/main" id="{06F7DA98-1266-EA3D-3060-57D160DA0F70}"/>
              </a:ext>
            </a:extLst>
          </p:cNvPr>
          <p:cNvPicPr>
            <a:picLocks noChangeAspect="1"/>
          </p:cNvPicPr>
          <p:nvPr/>
        </p:nvPicPr>
        <p:blipFill>
          <a:blip r:embed="rId2"/>
          <a:stretch>
            <a:fillRect/>
          </a:stretch>
        </p:blipFill>
        <p:spPr bwMode="auto">
          <a:xfrm>
            <a:off x="3655461" y="277412"/>
            <a:ext cx="3801629" cy="232882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3155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8D7ED-E80C-CD45-8F9D-245A7450349B}"/>
              </a:ext>
            </a:extLst>
          </p:cNvPr>
          <p:cNvSpPr>
            <a:spLocks noGrp="1"/>
          </p:cNvSpPr>
          <p:nvPr>
            <p:ph type="title"/>
          </p:nvPr>
        </p:nvSpPr>
        <p:spPr>
          <a:xfrm>
            <a:off x="922713" y="462834"/>
            <a:ext cx="3765665" cy="806334"/>
          </a:xfrm>
        </p:spPr>
        <p:txBody>
          <a:bodyPr/>
          <a:lstStyle/>
          <a:p>
            <a:r>
              <a:rPr lang="en-US" dirty="0">
                <a:latin typeface="+mn-lt"/>
              </a:rPr>
              <a:t>INTRODUCTION</a:t>
            </a:r>
          </a:p>
        </p:txBody>
      </p:sp>
      <p:sp>
        <p:nvSpPr>
          <p:cNvPr id="3" name="Content Placeholder 2">
            <a:extLst>
              <a:ext uri="{FF2B5EF4-FFF2-40B4-BE49-F238E27FC236}">
                <a16:creationId xmlns:a16="http://schemas.microsoft.com/office/drawing/2014/main" id="{D3DAC788-F2E0-E8FD-B8A2-3194C8E1B8A8}"/>
              </a:ext>
            </a:extLst>
          </p:cNvPr>
          <p:cNvSpPr>
            <a:spLocks noGrp="1"/>
          </p:cNvSpPr>
          <p:nvPr>
            <p:ph idx="1"/>
          </p:nvPr>
        </p:nvSpPr>
        <p:spPr>
          <a:xfrm>
            <a:off x="299521" y="1478326"/>
            <a:ext cx="9467934" cy="3901348"/>
          </a:xfrm>
        </p:spPr>
        <p:txBody>
          <a:bodyPr>
            <a:normAutofit/>
          </a:bodyPr>
          <a:lstStyle/>
          <a:p>
            <a:pPr algn="just"/>
            <a:r>
              <a:rPr lang="en-US" sz="2000" dirty="0"/>
              <a:t>Business Intelligence (BI) helps transform raw data into meaningful information for better decision-making. In education, analysing student performance data enables institutions to identify academic trends and improve learning outcomes. This project uses Microsoft Power BI to </a:t>
            </a:r>
            <a:r>
              <a:rPr lang="en-US" sz="2000" dirty="0" err="1"/>
              <a:t>analyse</a:t>
            </a:r>
            <a:r>
              <a:rPr lang="en-US" sz="2000" dirty="0"/>
              <a:t> the Students Performance in Exams dataset, identify performance patterns, compare student groups, and provide insights and recommendations to improve student academic outcomes.</a:t>
            </a:r>
          </a:p>
          <a:p>
            <a:pPr algn="just"/>
            <a:r>
              <a:rPr lang="en-US" sz="2000" dirty="0"/>
              <a:t>Business Intelligence (BI) provides techniques and tools that transform raw data into useful insights through data collection, processing, analysis, and visualization</a:t>
            </a:r>
          </a:p>
        </p:txBody>
      </p:sp>
    </p:spTree>
    <p:extLst>
      <p:ext uri="{BB962C8B-B14F-4D97-AF65-F5344CB8AC3E}">
        <p14:creationId xmlns:p14="http://schemas.microsoft.com/office/powerpoint/2010/main" val="1853289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77848-8F04-C6B6-62C9-4B27D3DD00E8}"/>
              </a:ext>
            </a:extLst>
          </p:cNvPr>
          <p:cNvSpPr>
            <a:spLocks noGrp="1"/>
          </p:cNvSpPr>
          <p:nvPr>
            <p:ph type="title"/>
          </p:nvPr>
        </p:nvSpPr>
        <p:spPr>
          <a:xfrm>
            <a:off x="792481" y="427635"/>
            <a:ext cx="4910051" cy="718458"/>
          </a:xfrm>
        </p:spPr>
        <p:txBody>
          <a:bodyPr/>
          <a:lstStyle/>
          <a:p>
            <a:r>
              <a:rPr lang="en-US" dirty="0">
                <a:latin typeface="+mn-lt"/>
              </a:rPr>
              <a:t>PROBLEM STATEMENT</a:t>
            </a:r>
          </a:p>
        </p:txBody>
      </p:sp>
      <p:sp>
        <p:nvSpPr>
          <p:cNvPr id="3" name="Content Placeholder 2">
            <a:extLst>
              <a:ext uri="{FF2B5EF4-FFF2-40B4-BE49-F238E27FC236}">
                <a16:creationId xmlns:a16="http://schemas.microsoft.com/office/drawing/2014/main" id="{3CB18AC4-A32E-80E7-5309-CD0447B1427B}"/>
              </a:ext>
            </a:extLst>
          </p:cNvPr>
          <p:cNvSpPr>
            <a:spLocks noGrp="1"/>
          </p:cNvSpPr>
          <p:nvPr>
            <p:ph idx="1"/>
          </p:nvPr>
        </p:nvSpPr>
        <p:spPr>
          <a:xfrm>
            <a:off x="265611" y="1475569"/>
            <a:ext cx="9451967" cy="3176525"/>
          </a:xfrm>
        </p:spPr>
        <p:txBody>
          <a:bodyPr>
            <a:normAutofit/>
          </a:bodyPr>
          <a:lstStyle/>
          <a:p>
            <a:pPr algn="just">
              <a:lnSpc>
                <a:spcPct val="100000"/>
              </a:lnSpc>
            </a:pPr>
            <a:r>
              <a:rPr lang="en-US" sz="2400" dirty="0"/>
              <a:t>Educational institutions collect large amounts of student examination data, but it is often underutilized for decision-making. Without proper analysis, it is difficult to identify performance trends, students at risk of failure, and the factors affecting achievement in Mathematics, Reading, and Writing. Therefore, this project uses Microsoft Power BI to analyze student performance data, generate meaningful insights, and support data-driven decisions to improve academic outcomes.</a:t>
            </a:r>
          </a:p>
        </p:txBody>
      </p:sp>
    </p:spTree>
    <p:extLst>
      <p:ext uri="{BB962C8B-B14F-4D97-AF65-F5344CB8AC3E}">
        <p14:creationId xmlns:p14="http://schemas.microsoft.com/office/powerpoint/2010/main" val="1480404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EDA78-A933-17E4-1773-2689E78ED305}"/>
              </a:ext>
            </a:extLst>
          </p:cNvPr>
          <p:cNvSpPr>
            <a:spLocks noGrp="1"/>
          </p:cNvSpPr>
          <p:nvPr>
            <p:ph type="title"/>
          </p:nvPr>
        </p:nvSpPr>
        <p:spPr>
          <a:xfrm>
            <a:off x="738447" y="435679"/>
            <a:ext cx="4506884" cy="777979"/>
          </a:xfrm>
        </p:spPr>
        <p:txBody>
          <a:bodyPr/>
          <a:lstStyle/>
          <a:p>
            <a:r>
              <a:rPr lang="en-US" dirty="0">
                <a:latin typeface="+mn-lt"/>
              </a:rPr>
              <a:t>METHODOLOGY</a:t>
            </a:r>
          </a:p>
        </p:txBody>
      </p:sp>
      <p:sp>
        <p:nvSpPr>
          <p:cNvPr id="3" name="Content Placeholder 2">
            <a:extLst>
              <a:ext uri="{FF2B5EF4-FFF2-40B4-BE49-F238E27FC236}">
                <a16:creationId xmlns:a16="http://schemas.microsoft.com/office/drawing/2014/main" id="{187ACBC0-DA71-477E-AAE1-FEDE3B31F49F}"/>
              </a:ext>
            </a:extLst>
          </p:cNvPr>
          <p:cNvSpPr>
            <a:spLocks noGrp="1"/>
          </p:cNvSpPr>
          <p:nvPr>
            <p:ph idx="1"/>
          </p:nvPr>
        </p:nvSpPr>
        <p:spPr>
          <a:xfrm>
            <a:off x="275771" y="1378857"/>
            <a:ext cx="9533247" cy="3475776"/>
          </a:xfrm>
        </p:spPr>
        <p:txBody>
          <a:bodyPr>
            <a:normAutofit/>
          </a:bodyPr>
          <a:lstStyle/>
          <a:p>
            <a:pPr algn="just">
              <a:lnSpc>
                <a:spcPct val="100000"/>
              </a:lnSpc>
            </a:pPr>
            <a:r>
              <a:rPr lang="en-US" sz="2400" dirty="0"/>
              <a:t>This project was conducted using Microsoft Power BI Desktop. The dataset was imported and cleaned using Power Query by correcting data types, removing duplicates, and handling missing values. A Star Schema was created with one fact table and supporting dimension tables. Custom DAX measures were developed to analyze student performance, and interactive dashboards were designed to answer the business questions and provide data-driven insights.</a:t>
            </a:r>
          </a:p>
        </p:txBody>
      </p:sp>
    </p:spTree>
    <p:extLst>
      <p:ext uri="{BB962C8B-B14F-4D97-AF65-F5344CB8AC3E}">
        <p14:creationId xmlns:p14="http://schemas.microsoft.com/office/powerpoint/2010/main" val="996539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170A-70DD-9D35-8DFA-E508D5F6FED4}"/>
              </a:ext>
            </a:extLst>
          </p:cNvPr>
          <p:cNvSpPr>
            <a:spLocks noGrp="1"/>
          </p:cNvSpPr>
          <p:nvPr>
            <p:ph type="title"/>
          </p:nvPr>
        </p:nvSpPr>
        <p:spPr>
          <a:xfrm>
            <a:off x="931025" y="681644"/>
            <a:ext cx="3233651" cy="822959"/>
          </a:xfrm>
        </p:spPr>
        <p:txBody>
          <a:bodyPr/>
          <a:lstStyle/>
          <a:p>
            <a:r>
              <a:rPr lang="en-US" dirty="0">
                <a:latin typeface="+mn-lt"/>
              </a:rPr>
              <a:t>OBJECTIVE</a:t>
            </a:r>
          </a:p>
        </p:txBody>
      </p:sp>
      <p:sp>
        <p:nvSpPr>
          <p:cNvPr id="3" name="Content Placeholder 2">
            <a:extLst>
              <a:ext uri="{FF2B5EF4-FFF2-40B4-BE49-F238E27FC236}">
                <a16:creationId xmlns:a16="http://schemas.microsoft.com/office/drawing/2014/main" id="{4BB27BC5-61A5-6CB9-7D25-5E2CA5521F3B}"/>
              </a:ext>
            </a:extLst>
          </p:cNvPr>
          <p:cNvSpPr>
            <a:spLocks noGrp="1"/>
          </p:cNvSpPr>
          <p:nvPr>
            <p:ph idx="1"/>
          </p:nvPr>
        </p:nvSpPr>
        <p:spPr>
          <a:xfrm>
            <a:off x="387663" y="1712423"/>
            <a:ext cx="9271726" cy="3915295"/>
          </a:xfrm>
        </p:spPr>
        <p:txBody>
          <a:bodyPr>
            <a:normAutofit/>
          </a:bodyPr>
          <a:lstStyle/>
          <a:p>
            <a:pPr algn="just"/>
            <a:r>
              <a:rPr lang="en-US" sz="2400" dirty="0"/>
              <a:t>The objective of this project is to design and develop an interactive Business Intelligence dashboard using Microsoft Power BI to analyze student academic performance. The project aims to identify factors affecting student achievement, evaluate the impact of test preparation programs, compare performance across Mathematics, Reading, and Writing, and provide data-driven insights and recommendations to support better educational decision-making.</a:t>
            </a:r>
          </a:p>
        </p:txBody>
      </p:sp>
    </p:spTree>
    <p:extLst>
      <p:ext uri="{BB962C8B-B14F-4D97-AF65-F5344CB8AC3E}">
        <p14:creationId xmlns:p14="http://schemas.microsoft.com/office/powerpoint/2010/main" val="857274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6B802-34E0-B36F-B032-856B9A7208F4}"/>
              </a:ext>
            </a:extLst>
          </p:cNvPr>
          <p:cNvSpPr>
            <a:spLocks noGrp="1"/>
          </p:cNvSpPr>
          <p:nvPr>
            <p:ph type="title"/>
          </p:nvPr>
        </p:nvSpPr>
        <p:spPr>
          <a:xfrm>
            <a:off x="906086" y="442027"/>
            <a:ext cx="3582786" cy="796570"/>
          </a:xfrm>
        </p:spPr>
        <p:txBody>
          <a:bodyPr/>
          <a:lstStyle/>
          <a:p>
            <a:r>
              <a:rPr lang="en-US" dirty="0">
                <a:latin typeface="+mn-lt"/>
              </a:rPr>
              <a:t>DATA PROFILE</a:t>
            </a:r>
          </a:p>
        </p:txBody>
      </p:sp>
      <p:sp>
        <p:nvSpPr>
          <p:cNvPr id="3" name="Content Placeholder 2">
            <a:extLst>
              <a:ext uri="{FF2B5EF4-FFF2-40B4-BE49-F238E27FC236}">
                <a16:creationId xmlns:a16="http://schemas.microsoft.com/office/drawing/2014/main" id="{60AF90BF-E78D-0585-230E-38B20CF9CAC6}"/>
              </a:ext>
            </a:extLst>
          </p:cNvPr>
          <p:cNvSpPr>
            <a:spLocks noGrp="1"/>
          </p:cNvSpPr>
          <p:nvPr>
            <p:ph idx="1"/>
          </p:nvPr>
        </p:nvSpPr>
        <p:spPr>
          <a:xfrm>
            <a:off x="333829" y="1407886"/>
            <a:ext cx="9417000" cy="3563125"/>
          </a:xfrm>
        </p:spPr>
        <p:txBody>
          <a:bodyPr>
            <a:normAutofit/>
          </a:bodyPr>
          <a:lstStyle/>
          <a:p>
            <a:pPr algn="just"/>
            <a:r>
              <a:rPr lang="en-US" sz="2400" dirty="0"/>
              <a:t>The dataset used in this project contains student academic performance records along with demographic and socioeconomic information. It includes attributes such as gender, race/ethnicity, parental level of education, lunch type, test preparation course status, and examination scores in Mathematics, Reading, and Writing. These variables were analyzed to identify performance trends and the factors influencing student academic achievement.</a:t>
            </a:r>
          </a:p>
        </p:txBody>
      </p:sp>
    </p:spTree>
    <p:extLst>
      <p:ext uri="{BB962C8B-B14F-4D97-AF65-F5344CB8AC3E}">
        <p14:creationId xmlns:p14="http://schemas.microsoft.com/office/powerpoint/2010/main" val="1800672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8ECF5-C49B-689D-F806-32939959C9BB}"/>
              </a:ext>
            </a:extLst>
          </p:cNvPr>
          <p:cNvSpPr>
            <a:spLocks noGrp="1"/>
          </p:cNvSpPr>
          <p:nvPr>
            <p:ph type="title"/>
          </p:nvPr>
        </p:nvSpPr>
        <p:spPr>
          <a:xfrm>
            <a:off x="556953" y="767542"/>
            <a:ext cx="8661862" cy="1320800"/>
          </a:xfrm>
        </p:spPr>
        <p:txBody>
          <a:bodyPr>
            <a:normAutofit fontScale="90000"/>
          </a:bodyPr>
          <a:lstStyle/>
          <a:p>
            <a:pPr algn="ctr"/>
            <a:r>
              <a:rPr lang="en-US" dirty="0">
                <a:latin typeface="+mn-lt"/>
              </a:rPr>
              <a:t>DATA ENGINEERING AND POWER QUERY TRANSFORMATION</a:t>
            </a:r>
            <a:br>
              <a:rPr lang="en-US" dirty="0">
                <a:latin typeface="+mn-lt"/>
              </a:rPr>
            </a:br>
            <a:endParaRPr lang="en-US" dirty="0">
              <a:latin typeface="+mn-lt"/>
            </a:endParaRPr>
          </a:p>
        </p:txBody>
      </p:sp>
      <p:sp>
        <p:nvSpPr>
          <p:cNvPr id="3" name="Content Placeholder 2">
            <a:extLst>
              <a:ext uri="{FF2B5EF4-FFF2-40B4-BE49-F238E27FC236}">
                <a16:creationId xmlns:a16="http://schemas.microsoft.com/office/drawing/2014/main" id="{470DC779-0F40-057F-C729-6BC6E50BA5BE}"/>
              </a:ext>
            </a:extLst>
          </p:cNvPr>
          <p:cNvSpPr>
            <a:spLocks noGrp="1"/>
          </p:cNvSpPr>
          <p:nvPr>
            <p:ph idx="1"/>
          </p:nvPr>
        </p:nvSpPr>
        <p:spPr>
          <a:xfrm>
            <a:off x="216131" y="2088342"/>
            <a:ext cx="9933710" cy="2931187"/>
          </a:xfrm>
        </p:spPr>
        <p:txBody>
          <a:bodyPr>
            <a:normAutofit/>
          </a:bodyPr>
          <a:lstStyle/>
          <a:p>
            <a:pPr marL="0" indent="0" algn="just">
              <a:lnSpc>
                <a:spcPct val="100000"/>
              </a:lnSpc>
              <a:buNone/>
            </a:pPr>
            <a:r>
              <a:rPr lang="en-US" sz="2400" b="1" dirty="0"/>
              <a:t>Data Import and Primary Key Creation</a:t>
            </a:r>
          </a:p>
          <a:p>
            <a:pPr marL="0" indent="0" algn="just">
              <a:lnSpc>
                <a:spcPct val="100000"/>
              </a:lnSpc>
              <a:buNone/>
            </a:pPr>
            <a:r>
              <a:rPr lang="en-US" sz="2400" dirty="0"/>
              <a:t>The Students Performance in Exams dataset was imported into Microsoft Power BI Desktop using Power Query. Since the original dataset did not contain a unique identifier for each student, a surrogate key named Student_ID was created using an Index Column. This key was used to uniquely identify each student and establish relationships between the fact and dimension tables. </a:t>
            </a:r>
          </a:p>
        </p:txBody>
      </p:sp>
    </p:spTree>
    <p:extLst>
      <p:ext uri="{BB962C8B-B14F-4D97-AF65-F5344CB8AC3E}">
        <p14:creationId xmlns:p14="http://schemas.microsoft.com/office/powerpoint/2010/main" val="4139091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E87A9-5234-4708-BFB6-2B0D21E33F20}"/>
              </a:ext>
            </a:extLst>
          </p:cNvPr>
          <p:cNvSpPr>
            <a:spLocks noGrp="1"/>
          </p:cNvSpPr>
          <p:nvPr>
            <p:ph type="title"/>
          </p:nvPr>
        </p:nvSpPr>
        <p:spPr>
          <a:xfrm>
            <a:off x="714894" y="199506"/>
            <a:ext cx="7680961" cy="827313"/>
          </a:xfrm>
        </p:spPr>
        <p:txBody>
          <a:bodyPr/>
          <a:lstStyle/>
          <a:p>
            <a:pPr algn="ctr"/>
            <a:r>
              <a:rPr lang="en-US" dirty="0">
                <a:latin typeface="+mn-lt"/>
              </a:rPr>
              <a:t>Data Cleaning and Standardization</a:t>
            </a:r>
          </a:p>
        </p:txBody>
      </p:sp>
      <p:sp>
        <p:nvSpPr>
          <p:cNvPr id="3" name="Content Placeholder 2">
            <a:extLst>
              <a:ext uri="{FF2B5EF4-FFF2-40B4-BE49-F238E27FC236}">
                <a16:creationId xmlns:a16="http://schemas.microsoft.com/office/drawing/2014/main" id="{6663786E-A579-1A9B-9FD7-0E05D099D26B}"/>
              </a:ext>
            </a:extLst>
          </p:cNvPr>
          <p:cNvSpPr>
            <a:spLocks noGrp="1"/>
          </p:cNvSpPr>
          <p:nvPr>
            <p:ph idx="1"/>
          </p:nvPr>
        </p:nvSpPr>
        <p:spPr>
          <a:xfrm>
            <a:off x="275904" y="1121519"/>
            <a:ext cx="9441674" cy="4323317"/>
          </a:xfrm>
        </p:spPr>
        <p:txBody>
          <a:bodyPr/>
          <a:lstStyle/>
          <a:p>
            <a:pPr algn="just"/>
            <a:r>
              <a:rPr lang="en-US" dirty="0"/>
              <a:t>The dataset was cleaned by removing duplicate records, checking for missing values, correcting data types, and standardizing text fields. Column names were renamed to meaningful names, and categorical values such as Gender, Race/Ethnicity, Parental Level of Education, Lunch, and Test Preparation Course were formatted consistently to improve data quality and analysis.</a:t>
            </a:r>
          </a:p>
          <a:p>
            <a:pPr algn="just"/>
            <a:endParaRPr lang="en-US" dirty="0"/>
          </a:p>
          <a:p>
            <a:pPr algn="just"/>
            <a:endParaRPr lang="en-US" dirty="0"/>
          </a:p>
          <a:p>
            <a:pPr algn="just"/>
            <a:endParaRPr lang="en-US" dirty="0"/>
          </a:p>
          <a:p>
            <a:pPr algn="ctr"/>
            <a:r>
              <a:rPr lang="en-US" dirty="0"/>
              <a:t>WEKA IMAGE</a:t>
            </a:r>
          </a:p>
        </p:txBody>
      </p:sp>
      <p:pic>
        <p:nvPicPr>
          <p:cNvPr id="5" name="Picture 4">
            <a:extLst>
              <a:ext uri="{FF2B5EF4-FFF2-40B4-BE49-F238E27FC236}">
                <a16:creationId xmlns:a16="http://schemas.microsoft.com/office/drawing/2014/main" id="{64D13E6B-007D-187D-7BA7-0AF38E5A3E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702" y="2600450"/>
            <a:ext cx="10931240" cy="4257550"/>
          </a:xfrm>
          <a:prstGeom prst="rect">
            <a:avLst/>
          </a:prstGeom>
        </p:spPr>
      </p:pic>
    </p:spTree>
    <p:extLst>
      <p:ext uri="{BB962C8B-B14F-4D97-AF65-F5344CB8AC3E}">
        <p14:creationId xmlns:p14="http://schemas.microsoft.com/office/powerpoint/2010/main" val="2120931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D15B2-CF43-D852-E577-0E39E6C3F786}"/>
              </a:ext>
            </a:extLst>
          </p:cNvPr>
          <p:cNvSpPr>
            <a:spLocks noGrp="1"/>
          </p:cNvSpPr>
          <p:nvPr>
            <p:ph type="title"/>
          </p:nvPr>
        </p:nvSpPr>
        <p:spPr>
          <a:xfrm>
            <a:off x="947650" y="922713"/>
            <a:ext cx="6101543" cy="957942"/>
          </a:xfrm>
        </p:spPr>
        <p:txBody>
          <a:bodyPr/>
          <a:lstStyle/>
          <a:p>
            <a:r>
              <a:rPr lang="en-US" b="1" dirty="0">
                <a:latin typeface="+mn-lt"/>
              </a:rPr>
              <a:t>Data Type Transformation</a:t>
            </a:r>
          </a:p>
        </p:txBody>
      </p:sp>
      <p:sp>
        <p:nvSpPr>
          <p:cNvPr id="3" name="Content Placeholder 2">
            <a:extLst>
              <a:ext uri="{FF2B5EF4-FFF2-40B4-BE49-F238E27FC236}">
                <a16:creationId xmlns:a16="http://schemas.microsoft.com/office/drawing/2014/main" id="{E246C50F-D6F3-3E4F-5351-D813DB6A5481}"/>
              </a:ext>
            </a:extLst>
          </p:cNvPr>
          <p:cNvSpPr>
            <a:spLocks noGrp="1"/>
          </p:cNvSpPr>
          <p:nvPr>
            <p:ph idx="1"/>
          </p:nvPr>
        </p:nvSpPr>
        <p:spPr>
          <a:xfrm>
            <a:off x="371170" y="2191393"/>
            <a:ext cx="9712168" cy="2475214"/>
          </a:xfrm>
        </p:spPr>
        <p:txBody>
          <a:bodyPr>
            <a:normAutofit/>
          </a:bodyPr>
          <a:lstStyle/>
          <a:p>
            <a:pPr algn="just"/>
            <a:r>
              <a:rPr lang="en-US" sz="2400" dirty="0"/>
              <a:t>All examination score columns (Math Score, Reading Score, and Writing Score) were converted to Whole Number data types to ensure accurate calculations. Text columns were assigned the Text data type, allowing Power BI to perform reliable filtering, grouping, and reporting.</a:t>
            </a:r>
          </a:p>
        </p:txBody>
      </p:sp>
    </p:spTree>
    <p:extLst>
      <p:ext uri="{BB962C8B-B14F-4D97-AF65-F5344CB8AC3E}">
        <p14:creationId xmlns:p14="http://schemas.microsoft.com/office/powerpoint/2010/main" val="165710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822F7-3312-2800-00BD-DD010C44AC13}"/>
              </a:ext>
            </a:extLst>
          </p:cNvPr>
          <p:cNvSpPr>
            <a:spLocks noGrp="1"/>
          </p:cNvSpPr>
          <p:nvPr>
            <p:ph type="title"/>
          </p:nvPr>
        </p:nvSpPr>
        <p:spPr>
          <a:xfrm>
            <a:off x="590203" y="456053"/>
            <a:ext cx="8312727" cy="681036"/>
          </a:xfrm>
        </p:spPr>
        <p:txBody>
          <a:bodyPr>
            <a:normAutofit fontScale="90000"/>
          </a:bodyPr>
          <a:lstStyle/>
          <a:p>
            <a:r>
              <a:rPr lang="en-US" b="1" dirty="0">
                <a:latin typeface="+mn-lt"/>
              </a:rPr>
              <a:t>Data Modelling and Query Transformation</a:t>
            </a:r>
          </a:p>
        </p:txBody>
      </p:sp>
      <p:sp>
        <p:nvSpPr>
          <p:cNvPr id="3" name="Content Placeholder 2">
            <a:extLst>
              <a:ext uri="{FF2B5EF4-FFF2-40B4-BE49-F238E27FC236}">
                <a16:creationId xmlns:a16="http://schemas.microsoft.com/office/drawing/2014/main" id="{FEEAF74D-558D-A8F1-48E9-6F378E6AE7BC}"/>
              </a:ext>
            </a:extLst>
          </p:cNvPr>
          <p:cNvSpPr>
            <a:spLocks noGrp="1"/>
          </p:cNvSpPr>
          <p:nvPr>
            <p:ph idx="1"/>
          </p:nvPr>
        </p:nvSpPr>
        <p:spPr>
          <a:xfrm>
            <a:off x="357975" y="1521230"/>
            <a:ext cx="9733676" cy="3973484"/>
          </a:xfrm>
        </p:spPr>
        <p:txBody>
          <a:bodyPr>
            <a:normAutofit/>
          </a:bodyPr>
          <a:lstStyle/>
          <a:p>
            <a:pPr marL="0" indent="0">
              <a:buNone/>
            </a:pPr>
            <a:r>
              <a:rPr lang="en-US" dirty="0"/>
              <a:t>To improve performance and support a Star Schema design, the original dataset was transformed into multiple related tables using Power Query references:</a:t>
            </a:r>
          </a:p>
          <a:p>
            <a:pPr algn="just">
              <a:buFont typeface="Wingdings" panose="05000000000000000000" pitchFamily="2" charset="2"/>
              <a:buChar char="Ø"/>
            </a:pPr>
            <a:r>
              <a:rPr lang="en-US" b="1" dirty="0" err="1"/>
              <a:t>Dim_Student:</a:t>
            </a:r>
            <a:r>
              <a:rPr lang="en-US" dirty="0" err="1"/>
              <a:t>Contains</a:t>
            </a:r>
            <a:r>
              <a:rPr lang="en-US" dirty="0"/>
              <a:t> student demographic information, including Student_ID, Gender, Race/Ethnicity, Parental Level of Education, and Lunch Type. </a:t>
            </a:r>
          </a:p>
          <a:p>
            <a:pPr algn="just">
              <a:buFont typeface="Wingdings" panose="05000000000000000000" pitchFamily="2" charset="2"/>
              <a:buChar char="Ø"/>
            </a:pPr>
            <a:r>
              <a:rPr lang="en-US" b="1" dirty="0" err="1"/>
              <a:t>Dim_Course:</a:t>
            </a:r>
            <a:r>
              <a:rPr lang="en-US" dirty="0" err="1"/>
              <a:t>Contains</a:t>
            </a:r>
            <a:r>
              <a:rPr lang="en-US" dirty="0"/>
              <a:t> information about students' Test Preparation Course status (Completed or None). </a:t>
            </a:r>
          </a:p>
          <a:p>
            <a:pPr algn="just">
              <a:buFont typeface="Wingdings" panose="05000000000000000000" pitchFamily="2" charset="2"/>
              <a:buChar char="Ø"/>
            </a:pPr>
            <a:r>
              <a:rPr lang="en-US" b="1" dirty="0" err="1"/>
              <a:t>Fact_Performance</a:t>
            </a:r>
            <a:r>
              <a:rPr lang="en-US" b="1" dirty="0"/>
              <a:t>: </a:t>
            </a:r>
            <a:r>
              <a:rPr lang="en-US" dirty="0"/>
              <a:t>Stores the measurable data, including Student_ID, Math Score, Reading Score, Writing Score, and the calculated Average Score. This table serves as the central fact table for analysis and is linked to the dimension tables through </a:t>
            </a:r>
            <a:r>
              <a:rPr lang="en-US" dirty="0" err="1"/>
              <a:t>Student_ID</a:t>
            </a:r>
            <a:r>
              <a:rPr lang="en-US" dirty="0"/>
              <a:t>.</a:t>
            </a:r>
          </a:p>
        </p:txBody>
      </p:sp>
    </p:spTree>
    <p:extLst>
      <p:ext uri="{BB962C8B-B14F-4D97-AF65-F5344CB8AC3E}">
        <p14:creationId xmlns:p14="http://schemas.microsoft.com/office/powerpoint/2010/main" val="4104291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CD13A-7899-F62C-512E-6ADF78F7AF31}"/>
              </a:ext>
            </a:extLst>
          </p:cNvPr>
          <p:cNvSpPr>
            <a:spLocks noGrp="1"/>
          </p:cNvSpPr>
          <p:nvPr>
            <p:ph type="title"/>
          </p:nvPr>
        </p:nvSpPr>
        <p:spPr>
          <a:xfrm>
            <a:off x="482138" y="523703"/>
            <a:ext cx="8495607" cy="1255221"/>
          </a:xfrm>
        </p:spPr>
        <p:txBody>
          <a:bodyPr>
            <a:noAutofit/>
          </a:bodyPr>
          <a:lstStyle/>
          <a:p>
            <a:pPr algn="ctr"/>
            <a:r>
              <a:rPr lang="en-US" sz="3200" b="1" dirty="0">
                <a:latin typeface="+mn-lt"/>
              </a:rPr>
              <a:t>DATA MODELING AND ARCHITECTURE (THREE-TABLE STAR SCHEMA)</a:t>
            </a:r>
          </a:p>
        </p:txBody>
      </p:sp>
      <p:sp>
        <p:nvSpPr>
          <p:cNvPr id="3" name="Content Placeholder 2">
            <a:extLst>
              <a:ext uri="{FF2B5EF4-FFF2-40B4-BE49-F238E27FC236}">
                <a16:creationId xmlns:a16="http://schemas.microsoft.com/office/drawing/2014/main" id="{D2F8CC3B-D81B-CCD5-E973-EAAE710FE7AA}"/>
              </a:ext>
            </a:extLst>
          </p:cNvPr>
          <p:cNvSpPr>
            <a:spLocks noGrp="1"/>
          </p:cNvSpPr>
          <p:nvPr>
            <p:ph idx="1"/>
          </p:nvPr>
        </p:nvSpPr>
        <p:spPr>
          <a:xfrm>
            <a:off x="340823" y="2250111"/>
            <a:ext cx="9634450" cy="3045096"/>
          </a:xfrm>
        </p:spPr>
        <p:txBody>
          <a:bodyPr>
            <a:normAutofit/>
          </a:bodyPr>
          <a:lstStyle/>
          <a:p>
            <a:pPr marL="0" indent="0" algn="just">
              <a:buNone/>
            </a:pPr>
            <a:r>
              <a:rPr lang="en-US" sz="2400" b="1" dirty="0"/>
              <a:t>Normalized Design Justification</a:t>
            </a:r>
          </a:p>
          <a:p>
            <a:pPr marL="0" indent="0" algn="just">
              <a:buNone/>
            </a:pPr>
            <a:r>
              <a:rPr lang="en-US" sz="2400" dirty="0"/>
              <a:t>Standard flat database files force the calculation engine to run highly inefficient whole-table scans. Transitioning to a normalized three-table Star Schema maximizes cache efficiency and dramatically decreases query optimization latency.</a:t>
            </a:r>
          </a:p>
        </p:txBody>
      </p:sp>
    </p:spTree>
    <p:extLst>
      <p:ext uri="{BB962C8B-B14F-4D97-AF65-F5344CB8AC3E}">
        <p14:creationId xmlns:p14="http://schemas.microsoft.com/office/powerpoint/2010/main" val="210449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5D0B3-502C-6C86-118B-F33061350187}"/>
              </a:ext>
            </a:extLst>
          </p:cNvPr>
          <p:cNvSpPr>
            <a:spLocks noGrp="1"/>
          </p:cNvSpPr>
          <p:nvPr>
            <p:ph type="title"/>
          </p:nvPr>
        </p:nvSpPr>
        <p:spPr>
          <a:xfrm>
            <a:off x="706582" y="1026621"/>
            <a:ext cx="7689273" cy="806334"/>
          </a:xfrm>
        </p:spPr>
        <p:txBody>
          <a:bodyPr/>
          <a:lstStyle/>
          <a:p>
            <a:r>
              <a:rPr lang="en-US" b="1" dirty="0">
                <a:latin typeface="+mn-lt"/>
              </a:rPr>
              <a:t>Table Segmentation Inventory</a:t>
            </a:r>
          </a:p>
        </p:txBody>
      </p:sp>
      <p:sp>
        <p:nvSpPr>
          <p:cNvPr id="3" name="Content Placeholder 2">
            <a:extLst>
              <a:ext uri="{FF2B5EF4-FFF2-40B4-BE49-F238E27FC236}">
                <a16:creationId xmlns:a16="http://schemas.microsoft.com/office/drawing/2014/main" id="{23393950-B3EA-25FE-8923-2F991DDB1F24}"/>
              </a:ext>
            </a:extLst>
          </p:cNvPr>
          <p:cNvSpPr>
            <a:spLocks noGrp="1"/>
          </p:cNvSpPr>
          <p:nvPr>
            <p:ph idx="1"/>
          </p:nvPr>
        </p:nvSpPr>
        <p:spPr>
          <a:xfrm>
            <a:off x="282632" y="2187172"/>
            <a:ext cx="9850581" cy="3241040"/>
          </a:xfrm>
        </p:spPr>
        <p:txBody>
          <a:bodyPr>
            <a:normAutofit/>
          </a:bodyPr>
          <a:lstStyle/>
          <a:p>
            <a:pPr algn="just">
              <a:buFont typeface="Wingdings" panose="05000000000000000000" pitchFamily="2" charset="2"/>
              <a:buChar char="Ø"/>
            </a:pPr>
            <a:r>
              <a:rPr lang="en-US" sz="2400" b="1" dirty="0"/>
              <a:t>Dimension Table (Students): </a:t>
            </a:r>
            <a:r>
              <a:rPr lang="en-US" sz="2400" dirty="0"/>
              <a:t>Hosts rows defining structural client attributes (Gender, </a:t>
            </a:r>
            <a:r>
              <a:rPr lang="en-US" sz="2400" dirty="0" err="1"/>
              <a:t>Race_Ethnicity</a:t>
            </a:r>
            <a:r>
              <a:rPr lang="en-US" sz="2400" dirty="0"/>
              <a:t>, </a:t>
            </a:r>
            <a:r>
              <a:rPr lang="en-US" sz="2400" dirty="0" err="1"/>
              <a:t>Parental_Education</a:t>
            </a:r>
            <a:r>
              <a:rPr lang="en-US" sz="2400" dirty="0"/>
              <a:t>, Lunch). </a:t>
            </a:r>
          </a:p>
          <a:p>
            <a:pPr algn="just">
              <a:buFont typeface="Wingdings" panose="05000000000000000000" pitchFamily="2" charset="2"/>
              <a:buChar char="Ø"/>
            </a:pPr>
            <a:r>
              <a:rPr lang="en-US" sz="2400" b="1" dirty="0"/>
              <a:t>Dimension Table (Courses): </a:t>
            </a:r>
            <a:r>
              <a:rPr lang="en-US" sz="2400" dirty="0"/>
              <a:t>Hosts lookup attributes for academic fields (</a:t>
            </a:r>
            <a:r>
              <a:rPr lang="en-US" sz="2400" dirty="0" err="1"/>
              <a:t>Course_Code</a:t>
            </a:r>
            <a:r>
              <a:rPr lang="en-US" sz="2400" dirty="0"/>
              <a:t>, </a:t>
            </a:r>
            <a:r>
              <a:rPr lang="en-US" sz="2400" dirty="0" err="1"/>
              <a:t>Course_Name</a:t>
            </a:r>
            <a:r>
              <a:rPr lang="en-US" sz="2400" dirty="0"/>
              <a:t>, Department). </a:t>
            </a:r>
          </a:p>
          <a:p>
            <a:pPr algn="just">
              <a:buFont typeface="Wingdings" panose="05000000000000000000" pitchFamily="2" charset="2"/>
              <a:buChar char="Ø"/>
            </a:pPr>
            <a:r>
              <a:rPr lang="en-US" sz="2400" b="1" dirty="0"/>
              <a:t>Fact Table (Results): </a:t>
            </a:r>
            <a:r>
              <a:rPr lang="en-US" sz="2400" dirty="0"/>
              <a:t>Restricts observations strictly to numerical outcomes (Score), programmatic variables (</a:t>
            </a:r>
            <a:r>
              <a:rPr lang="en-US" sz="2400" dirty="0" err="1"/>
              <a:t>Test_Prep_Course</a:t>
            </a:r>
            <a:r>
              <a:rPr lang="en-US" sz="2400" dirty="0"/>
              <a:t>), and engineered operational groupings (Lecturer).</a:t>
            </a:r>
          </a:p>
        </p:txBody>
      </p:sp>
    </p:spTree>
    <p:extLst>
      <p:ext uri="{BB962C8B-B14F-4D97-AF65-F5344CB8AC3E}">
        <p14:creationId xmlns:p14="http://schemas.microsoft.com/office/powerpoint/2010/main" val="3568968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4DD9-B5D0-46CF-C1F0-38855009AD08}"/>
              </a:ext>
            </a:extLst>
          </p:cNvPr>
          <p:cNvSpPr>
            <a:spLocks noGrp="1"/>
          </p:cNvSpPr>
          <p:nvPr>
            <p:ph type="title"/>
          </p:nvPr>
        </p:nvSpPr>
        <p:spPr>
          <a:xfrm>
            <a:off x="532014" y="349398"/>
            <a:ext cx="6946669" cy="722944"/>
          </a:xfrm>
        </p:spPr>
        <p:txBody>
          <a:bodyPr>
            <a:normAutofit/>
          </a:bodyPr>
          <a:lstStyle/>
          <a:p>
            <a:pPr algn="ctr"/>
            <a:r>
              <a:rPr lang="en-US" b="1" dirty="0">
                <a:latin typeface="+mn-lt"/>
              </a:rPr>
              <a:t>Relationship Topology</a:t>
            </a:r>
          </a:p>
        </p:txBody>
      </p:sp>
      <p:sp>
        <p:nvSpPr>
          <p:cNvPr id="3" name="Content Placeholder 2">
            <a:extLst>
              <a:ext uri="{FF2B5EF4-FFF2-40B4-BE49-F238E27FC236}">
                <a16:creationId xmlns:a16="http://schemas.microsoft.com/office/drawing/2014/main" id="{91E65981-1F79-3777-DAB6-04A9F83A904F}"/>
              </a:ext>
            </a:extLst>
          </p:cNvPr>
          <p:cNvSpPr>
            <a:spLocks noGrp="1"/>
          </p:cNvSpPr>
          <p:nvPr>
            <p:ph idx="1"/>
          </p:nvPr>
        </p:nvSpPr>
        <p:spPr>
          <a:xfrm>
            <a:off x="240540" y="1072342"/>
            <a:ext cx="9468725" cy="5091480"/>
          </a:xfrm>
        </p:spPr>
        <p:txBody>
          <a:bodyPr>
            <a:normAutofit/>
          </a:bodyPr>
          <a:lstStyle/>
          <a:p>
            <a:r>
              <a:rPr lang="en-US" dirty="0"/>
              <a:t>The tables are bound together on the relationship canvas using a strictly configured One-to-Many (1 *) link over the shared keys. There is no direct relationship between the students table and the Courses table; instead, both act as lookup tables that filter down into the central Results fact table. Cross-filter directionality is mapped as moving downwards from the dimensions to the fact ledger, forcing filter contexts to cascade cleanly across all visual slices.</a:t>
            </a:r>
          </a:p>
          <a:p>
            <a:pPr algn="just"/>
            <a:endParaRPr lang="en-US" dirty="0"/>
          </a:p>
          <a:p>
            <a:pPr algn="just"/>
            <a:endParaRPr lang="en-US" dirty="0"/>
          </a:p>
          <a:p>
            <a:pPr marL="0" indent="0" algn="ctr">
              <a:buNone/>
            </a:pPr>
            <a:r>
              <a:rPr lang="en-US" dirty="0"/>
              <a:t>WEKA IMAGE</a:t>
            </a:r>
          </a:p>
        </p:txBody>
      </p:sp>
      <p:pic>
        <p:nvPicPr>
          <p:cNvPr id="5" name="Picture 4">
            <a:extLst>
              <a:ext uri="{FF2B5EF4-FFF2-40B4-BE49-F238E27FC236}">
                <a16:creationId xmlns:a16="http://schemas.microsoft.com/office/drawing/2014/main" id="{6572D6AD-4E79-EB8B-BC59-84BE7F16AE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540" y="3011214"/>
            <a:ext cx="11173694" cy="3846785"/>
          </a:xfrm>
          <a:prstGeom prst="rect">
            <a:avLst/>
          </a:prstGeom>
        </p:spPr>
      </p:pic>
    </p:spTree>
    <p:extLst>
      <p:ext uri="{BB962C8B-B14F-4D97-AF65-F5344CB8AC3E}">
        <p14:creationId xmlns:p14="http://schemas.microsoft.com/office/powerpoint/2010/main" val="1970121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95369-7CD3-12DE-145D-0D4714995A7B}"/>
              </a:ext>
            </a:extLst>
          </p:cNvPr>
          <p:cNvSpPr>
            <a:spLocks noGrp="1"/>
          </p:cNvSpPr>
          <p:nvPr>
            <p:ph type="title"/>
          </p:nvPr>
        </p:nvSpPr>
        <p:spPr>
          <a:xfrm>
            <a:off x="0" y="261257"/>
            <a:ext cx="9434945" cy="551543"/>
          </a:xfrm>
        </p:spPr>
        <p:txBody>
          <a:bodyPr>
            <a:normAutofit/>
          </a:bodyPr>
          <a:lstStyle/>
          <a:p>
            <a:pPr algn="ctr"/>
            <a:r>
              <a:rPr lang="en-US" sz="2400" dirty="0">
                <a:latin typeface="+mn-lt"/>
              </a:rPr>
              <a:t>THE DAX MEASURE FRAMEWORK AND METRIC CALCULATIONS</a:t>
            </a:r>
          </a:p>
        </p:txBody>
      </p:sp>
      <p:sp>
        <p:nvSpPr>
          <p:cNvPr id="3" name="Content Placeholder 2">
            <a:extLst>
              <a:ext uri="{FF2B5EF4-FFF2-40B4-BE49-F238E27FC236}">
                <a16:creationId xmlns:a16="http://schemas.microsoft.com/office/drawing/2014/main" id="{1E1292C6-8B09-A5B3-1D10-A1E524AD0047}"/>
              </a:ext>
            </a:extLst>
          </p:cNvPr>
          <p:cNvSpPr>
            <a:spLocks noGrp="1"/>
          </p:cNvSpPr>
          <p:nvPr>
            <p:ph idx="1"/>
          </p:nvPr>
        </p:nvSpPr>
        <p:spPr>
          <a:xfrm>
            <a:off x="390700" y="812800"/>
            <a:ext cx="9809590" cy="1236717"/>
          </a:xfrm>
        </p:spPr>
        <p:txBody>
          <a:bodyPr>
            <a:normAutofit/>
          </a:bodyPr>
          <a:lstStyle/>
          <a:p>
            <a:pPr marL="0" indent="0">
              <a:buNone/>
            </a:pPr>
            <a:r>
              <a:rPr lang="en-US" sz="2000" b="1" dirty="0"/>
              <a:t>Analytical Inventory</a:t>
            </a:r>
          </a:p>
          <a:p>
            <a:pPr marL="0" indent="0">
              <a:buNone/>
            </a:pPr>
            <a:r>
              <a:rPr lang="en-US" sz="2000" dirty="0"/>
              <a:t>The following 10 specialized Data Analysis Expressions (DAX) were engineered into the model to run clean aggregations across the normalized three-table schema:</a:t>
            </a:r>
          </a:p>
          <a:p>
            <a:pPr marL="0" indent="0">
              <a:buNone/>
            </a:pPr>
            <a:endParaRPr lang="en-US" dirty="0"/>
          </a:p>
        </p:txBody>
      </p:sp>
      <p:pic>
        <p:nvPicPr>
          <p:cNvPr id="5" name="Picture 4">
            <a:extLst>
              <a:ext uri="{FF2B5EF4-FFF2-40B4-BE49-F238E27FC236}">
                <a16:creationId xmlns:a16="http://schemas.microsoft.com/office/drawing/2014/main" id="{142B2454-891D-8F76-3693-A800F1CF75C7}"/>
              </a:ext>
            </a:extLst>
          </p:cNvPr>
          <p:cNvPicPr>
            <a:picLocks noChangeAspect="1"/>
          </p:cNvPicPr>
          <p:nvPr/>
        </p:nvPicPr>
        <p:blipFill>
          <a:blip r:embed="rId2"/>
          <a:stretch>
            <a:fillRect/>
          </a:stretch>
        </p:blipFill>
        <p:spPr>
          <a:xfrm>
            <a:off x="204502" y="1954921"/>
            <a:ext cx="11029240" cy="4808483"/>
          </a:xfrm>
          <a:prstGeom prst="rect">
            <a:avLst/>
          </a:prstGeom>
        </p:spPr>
      </p:pic>
    </p:spTree>
    <p:extLst>
      <p:ext uri="{BB962C8B-B14F-4D97-AF65-F5344CB8AC3E}">
        <p14:creationId xmlns:p14="http://schemas.microsoft.com/office/powerpoint/2010/main" val="659919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E449C-4434-D0C6-663D-E5F5A77C17AF}"/>
              </a:ext>
            </a:extLst>
          </p:cNvPr>
          <p:cNvSpPr>
            <a:spLocks noGrp="1"/>
          </p:cNvSpPr>
          <p:nvPr>
            <p:ph type="title"/>
          </p:nvPr>
        </p:nvSpPr>
        <p:spPr>
          <a:xfrm>
            <a:off x="0" y="174568"/>
            <a:ext cx="9168938" cy="764770"/>
          </a:xfrm>
        </p:spPr>
        <p:txBody>
          <a:bodyPr/>
          <a:lstStyle/>
          <a:p>
            <a:pPr algn="ctr"/>
            <a:r>
              <a:rPr lang="en-US" dirty="0">
                <a:latin typeface="+mn-lt"/>
              </a:rPr>
              <a:t>INTERACTIVE DASHBOARD ARCHITECTURE</a:t>
            </a:r>
          </a:p>
        </p:txBody>
      </p:sp>
      <p:sp>
        <p:nvSpPr>
          <p:cNvPr id="3" name="Content Placeholder 2">
            <a:extLst>
              <a:ext uri="{FF2B5EF4-FFF2-40B4-BE49-F238E27FC236}">
                <a16:creationId xmlns:a16="http://schemas.microsoft.com/office/drawing/2014/main" id="{8B237501-9922-AA00-8E5A-6F50E85D44FC}"/>
              </a:ext>
            </a:extLst>
          </p:cNvPr>
          <p:cNvSpPr>
            <a:spLocks noGrp="1"/>
          </p:cNvSpPr>
          <p:nvPr>
            <p:ph idx="1"/>
          </p:nvPr>
        </p:nvSpPr>
        <p:spPr>
          <a:xfrm>
            <a:off x="188686" y="1038958"/>
            <a:ext cx="9617466" cy="5384801"/>
          </a:xfrm>
        </p:spPr>
        <p:txBody>
          <a:bodyPr>
            <a:normAutofit/>
          </a:bodyPr>
          <a:lstStyle/>
          <a:p>
            <a:pPr marL="0" indent="0" algn="just">
              <a:buNone/>
            </a:pPr>
            <a:r>
              <a:rPr lang="en-US" sz="2000" b="1" dirty="0"/>
              <a:t>School Board Executive Overview (Enrolment)</a:t>
            </a:r>
          </a:p>
          <a:p>
            <a:pPr algn="just">
              <a:buFont typeface="Wingdings" panose="05000000000000000000" pitchFamily="2" charset="2"/>
              <a:buChar char="Ø"/>
            </a:pPr>
            <a:r>
              <a:rPr lang="en-US" sz="2000" b="1" dirty="0"/>
              <a:t>Visual Intent: </a:t>
            </a:r>
            <a:r>
              <a:rPr lang="en-US" sz="2000" dirty="0"/>
              <a:t>To provide senior stakeholders with a quick health check of baseline institutional enrolment and demographic metrics. </a:t>
            </a:r>
          </a:p>
          <a:p>
            <a:pPr algn="just">
              <a:buFont typeface="Wingdings" panose="05000000000000000000" pitchFamily="2" charset="2"/>
              <a:buChar char="Ø"/>
            </a:pPr>
            <a:r>
              <a:rPr lang="en-US" sz="2000" b="1" dirty="0"/>
              <a:t>Layout Mechanics: </a:t>
            </a:r>
            <a:r>
              <a:rPr lang="en-US" sz="2000" dirty="0"/>
              <a:t>Places dropdown slicers from the students table for Gender and the Results table for </a:t>
            </a:r>
            <a:r>
              <a:rPr lang="en-US" sz="2000" dirty="0" err="1"/>
              <a:t>Test_Prep_Course</a:t>
            </a:r>
            <a:r>
              <a:rPr lang="en-US" sz="2000" dirty="0"/>
              <a:t> at the top boundary. Below, summary KPI cards list primary enrolment, average grade values, and pass rates. A donut chart maps out demographic splits by gender, while a horizontal clustered bar chart ranks performance metrics across ethnic categories.</a:t>
            </a:r>
          </a:p>
        </p:txBody>
      </p:sp>
    </p:spTree>
    <p:extLst>
      <p:ext uri="{BB962C8B-B14F-4D97-AF65-F5344CB8AC3E}">
        <p14:creationId xmlns:p14="http://schemas.microsoft.com/office/powerpoint/2010/main" val="4073419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9194-A25B-0A9E-188E-DE6726256FFA}"/>
              </a:ext>
            </a:extLst>
          </p:cNvPr>
          <p:cNvSpPr>
            <a:spLocks noGrp="1"/>
          </p:cNvSpPr>
          <p:nvPr>
            <p:ph type="title"/>
          </p:nvPr>
        </p:nvSpPr>
        <p:spPr>
          <a:xfrm>
            <a:off x="653470" y="221727"/>
            <a:ext cx="8850284" cy="885370"/>
          </a:xfrm>
        </p:spPr>
        <p:txBody>
          <a:bodyPr>
            <a:normAutofit/>
          </a:bodyPr>
          <a:lstStyle/>
          <a:p>
            <a:pPr algn="ctr"/>
            <a:r>
              <a:rPr lang="en-US" b="1" dirty="0">
                <a:latin typeface="+mn-lt"/>
              </a:rPr>
              <a:t>Performance Variances (Performance)</a:t>
            </a:r>
          </a:p>
        </p:txBody>
      </p:sp>
      <p:sp>
        <p:nvSpPr>
          <p:cNvPr id="3" name="Content Placeholder 2">
            <a:extLst>
              <a:ext uri="{FF2B5EF4-FFF2-40B4-BE49-F238E27FC236}">
                <a16:creationId xmlns:a16="http://schemas.microsoft.com/office/drawing/2014/main" id="{86DDDE57-081B-41EC-C6C0-9611CFF13FBC}"/>
              </a:ext>
            </a:extLst>
          </p:cNvPr>
          <p:cNvSpPr>
            <a:spLocks noGrp="1"/>
          </p:cNvSpPr>
          <p:nvPr>
            <p:ph idx="1"/>
          </p:nvPr>
        </p:nvSpPr>
        <p:spPr>
          <a:xfrm>
            <a:off x="323270" y="968498"/>
            <a:ext cx="9510685" cy="5291592"/>
          </a:xfrm>
        </p:spPr>
        <p:txBody>
          <a:bodyPr>
            <a:normAutofit/>
          </a:bodyPr>
          <a:lstStyle/>
          <a:p>
            <a:pPr>
              <a:buFont typeface="Wingdings" panose="05000000000000000000" pitchFamily="2" charset="2"/>
              <a:buChar char="Ø"/>
            </a:pPr>
            <a:r>
              <a:rPr lang="en-US" sz="2000" b="1" dirty="0"/>
              <a:t>Visual Intent: </a:t>
            </a:r>
            <a:r>
              <a:rPr lang="en-US" sz="2000" dirty="0"/>
              <a:t>To track the direct relationships between external household factors and actual classroom grades. </a:t>
            </a:r>
          </a:p>
          <a:p>
            <a:pPr>
              <a:buFont typeface="Wingdings" panose="05000000000000000000" pitchFamily="2" charset="2"/>
              <a:buChar char="Ø"/>
            </a:pPr>
            <a:r>
              <a:rPr lang="en-US" sz="2000" b="1" dirty="0"/>
              <a:t>Layout Mechanics: </a:t>
            </a:r>
            <a:r>
              <a:rPr lang="en-US" sz="2000" dirty="0"/>
              <a:t>Employs a clustered column chart tracking Overall Average Score together across the X-axis categorized by Students [</a:t>
            </a:r>
            <a:r>
              <a:rPr lang="en-US" sz="2000" dirty="0" err="1"/>
              <a:t>Parental_Education</a:t>
            </a:r>
            <a:r>
              <a:rPr lang="en-US" sz="2000" dirty="0"/>
              <a:t>]. The base of the page features a financial matrix tracking Students [Lunch] status metrics, allowing seamless cross-filtering across the schema.</a:t>
            </a:r>
          </a:p>
        </p:txBody>
      </p:sp>
    </p:spTree>
    <p:extLst>
      <p:ext uri="{BB962C8B-B14F-4D97-AF65-F5344CB8AC3E}">
        <p14:creationId xmlns:p14="http://schemas.microsoft.com/office/powerpoint/2010/main" val="3034412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1CFBE-B993-FAA8-FF76-0C5B28C6CCC1}"/>
              </a:ext>
            </a:extLst>
          </p:cNvPr>
          <p:cNvSpPr>
            <a:spLocks noGrp="1"/>
          </p:cNvSpPr>
          <p:nvPr>
            <p:ph type="title"/>
          </p:nvPr>
        </p:nvSpPr>
        <p:spPr>
          <a:xfrm>
            <a:off x="721822" y="432263"/>
            <a:ext cx="8546869" cy="689956"/>
          </a:xfrm>
        </p:spPr>
        <p:txBody>
          <a:bodyPr/>
          <a:lstStyle/>
          <a:p>
            <a:pPr algn="ctr"/>
            <a:r>
              <a:rPr lang="en-US" b="1" dirty="0">
                <a:latin typeface="+mn-lt"/>
              </a:rPr>
              <a:t>Department Performance Analytics</a:t>
            </a:r>
          </a:p>
        </p:txBody>
      </p:sp>
      <p:sp>
        <p:nvSpPr>
          <p:cNvPr id="3" name="Content Placeholder 2">
            <a:extLst>
              <a:ext uri="{FF2B5EF4-FFF2-40B4-BE49-F238E27FC236}">
                <a16:creationId xmlns:a16="http://schemas.microsoft.com/office/drawing/2014/main" id="{C2B207BE-F5F3-2158-9AF1-300FA2885737}"/>
              </a:ext>
            </a:extLst>
          </p:cNvPr>
          <p:cNvSpPr>
            <a:spLocks noGrp="1"/>
          </p:cNvSpPr>
          <p:nvPr>
            <p:ph idx="1"/>
          </p:nvPr>
        </p:nvSpPr>
        <p:spPr>
          <a:xfrm>
            <a:off x="199505" y="1448253"/>
            <a:ext cx="9742517" cy="4351338"/>
          </a:xfrm>
        </p:spPr>
        <p:txBody>
          <a:bodyPr>
            <a:normAutofit/>
          </a:bodyPr>
          <a:lstStyle/>
          <a:p>
            <a:pPr algn="just">
              <a:buFont typeface="Wingdings" panose="05000000000000000000" pitchFamily="2" charset="2"/>
              <a:buChar char="Ø"/>
            </a:pPr>
            <a:r>
              <a:rPr lang="en-US" sz="2000" b="1" dirty="0"/>
              <a:t>Visual Intent: </a:t>
            </a:r>
            <a:r>
              <a:rPr lang="en-US" sz="2000" dirty="0"/>
              <a:t>To identify the best-performing academic sectors and contrast score reactions. </a:t>
            </a:r>
          </a:p>
          <a:p>
            <a:pPr algn="just">
              <a:buFont typeface="Wingdings" panose="05000000000000000000" pitchFamily="2" charset="2"/>
              <a:buChar char="Ø"/>
            </a:pPr>
            <a:r>
              <a:rPr lang="en-US" sz="2000" b="1" dirty="0"/>
              <a:t>Layout Mechanics: </a:t>
            </a:r>
            <a:r>
              <a:rPr lang="en-US" sz="2000" dirty="0"/>
              <a:t>Features an overall pass rate KPI card. The primary visual space contains a Clustered Column Chart with Courses [Department] on the X-axis and [Overall Average Score] on the Y-axis to clearly showcase that the Department of Humanities is the top department. A vertical slicer selection lists Results [</a:t>
            </a:r>
            <a:r>
              <a:rPr lang="en-US" sz="2000" dirty="0" err="1"/>
              <a:t>Test_Prep_Course</a:t>
            </a:r>
            <a:r>
              <a:rPr lang="en-US" sz="2000" dirty="0"/>
              <a:t>] for dynamic filtering.</a:t>
            </a:r>
          </a:p>
        </p:txBody>
      </p:sp>
    </p:spTree>
    <p:extLst>
      <p:ext uri="{BB962C8B-B14F-4D97-AF65-F5344CB8AC3E}">
        <p14:creationId xmlns:p14="http://schemas.microsoft.com/office/powerpoint/2010/main" val="1057081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4B5DF-EEF1-A6FD-E1AF-52DB262CFA44}"/>
              </a:ext>
            </a:extLst>
          </p:cNvPr>
          <p:cNvSpPr>
            <a:spLocks noGrp="1"/>
          </p:cNvSpPr>
          <p:nvPr>
            <p:ph type="title"/>
          </p:nvPr>
        </p:nvSpPr>
        <p:spPr>
          <a:xfrm>
            <a:off x="872835" y="246744"/>
            <a:ext cx="6999318" cy="1117599"/>
          </a:xfrm>
        </p:spPr>
        <p:txBody>
          <a:bodyPr/>
          <a:lstStyle/>
          <a:p>
            <a:r>
              <a:rPr lang="en-US" dirty="0">
                <a:latin typeface="+mn-lt"/>
              </a:rPr>
              <a:t>Lecturers Performance Analytics</a:t>
            </a:r>
          </a:p>
        </p:txBody>
      </p:sp>
      <p:sp>
        <p:nvSpPr>
          <p:cNvPr id="3" name="Content Placeholder 2">
            <a:extLst>
              <a:ext uri="{FF2B5EF4-FFF2-40B4-BE49-F238E27FC236}">
                <a16:creationId xmlns:a16="http://schemas.microsoft.com/office/drawing/2014/main" id="{999C821B-9BA5-CF58-DA36-E6C7E3D015AF}"/>
              </a:ext>
            </a:extLst>
          </p:cNvPr>
          <p:cNvSpPr>
            <a:spLocks noGrp="1"/>
          </p:cNvSpPr>
          <p:nvPr>
            <p:ph idx="1"/>
          </p:nvPr>
        </p:nvSpPr>
        <p:spPr>
          <a:xfrm>
            <a:off x="166256" y="1364343"/>
            <a:ext cx="9609512" cy="4812620"/>
          </a:xfrm>
        </p:spPr>
        <p:txBody>
          <a:bodyPr>
            <a:noAutofit/>
          </a:bodyPr>
          <a:lstStyle/>
          <a:p>
            <a:pPr algn="just">
              <a:buFont typeface="Wingdings" panose="05000000000000000000" pitchFamily="2" charset="2"/>
              <a:buChar char="Ø"/>
            </a:pPr>
            <a:r>
              <a:rPr lang="en-US" sz="2000" b="1" dirty="0"/>
              <a:t>Visual Intent: </a:t>
            </a:r>
            <a:r>
              <a:rPr lang="en-US" sz="2000" dirty="0"/>
              <a:t>Identify individual instructor impact and high-risk classroom failure points, focusing on Dr. Hemed. </a:t>
            </a:r>
            <a:r>
              <a:rPr lang="en-US" sz="2000" dirty="0" err="1"/>
              <a:t>Mmaka</a:t>
            </a:r>
            <a:r>
              <a:rPr lang="en-US" sz="2000" dirty="0"/>
              <a:t> failure rate of </a:t>
            </a:r>
            <a:r>
              <a:rPr lang="en-US" sz="2000" b="1" dirty="0"/>
              <a:t>24.64%. </a:t>
            </a:r>
            <a:r>
              <a:rPr lang="en-US" sz="2000" dirty="0"/>
              <a:t>Provide insights for targeted teaching. </a:t>
            </a:r>
          </a:p>
          <a:p>
            <a:pPr algn="just">
              <a:buFont typeface="Wingdings" panose="05000000000000000000" pitchFamily="2" charset="2"/>
              <a:buChar char="Ø"/>
            </a:pPr>
            <a:r>
              <a:rPr lang="en-US" sz="2000" b="1" dirty="0"/>
              <a:t>Layout Mechanics: </a:t>
            </a:r>
            <a:r>
              <a:rPr lang="en-US" sz="2000" dirty="0"/>
              <a:t>Top Summary Cards: Display total active lecturers, average student score, and highest classroom failure rate. • Primary Chart (Clustered Bar Chart): Y-axis: Results[Lecturer]; X-axis: [Institutional Failure Rate] to highlight outlier failure profiles. • Drill-Through Integration: Allows stakeholders to right-click on a lecturer’s name and access their detailed scorecard.</a:t>
            </a:r>
          </a:p>
        </p:txBody>
      </p:sp>
    </p:spTree>
    <p:extLst>
      <p:ext uri="{BB962C8B-B14F-4D97-AF65-F5344CB8AC3E}">
        <p14:creationId xmlns:p14="http://schemas.microsoft.com/office/powerpoint/2010/main" val="3578804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5CB8-62B0-FFD9-110E-F3AFE72ACBD0}"/>
              </a:ext>
            </a:extLst>
          </p:cNvPr>
          <p:cNvSpPr>
            <a:spLocks noGrp="1"/>
          </p:cNvSpPr>
          <p:nvPr>
            <p:ph type="title"/>
          </p:nvPr>
        </p:nvSpPr>
        <p:spPr>
          <a:xfrm>
            <a:off x="831010" y="330048"/>
            <a:ext cx="8304677" cy="925174"/>
          </a:xfrm>
        </p:spPr>
        <p:txBody>
          <a:bodyPr>
            <a:normAutofit fontScale="90000"/>
          </a:bodyPr>
          <a:lstStyle/>
          <a:p>
            <a:pPr algn="ctr"/>
            <a:r>
              <a:rPr lang="en-US" dirty="0">
                <a:latin typeface="+mn-lt"/>
              </a:rPr>
              <a:t>BUSINESS INSIGHTS AND EMPIRICAL FINDINGS</a:t>
            </a:r>
          </a:p>
        </p:txBody>
      </p:sp>
      <p:sp>
        <p:nvSpPr>
          <p:cNvPr id="3" name="Content Placeholder 2">
            <a:extLst>
              <a:ext uri="{FF2B5EF4-FFF2-40B4-BE49-F238E27FC236}">
                <a16:creationId xmlns:a16="http://schemas.microsoft.com/office/drawing/2014/main" id="{BC3249F1-6496-A45F-EA70-5E6A10E64FE9}"/>
              </a:ext>
            </a:extLst>
          </p:cNvPr>
          <p:cNvSpPr>
            <a:spLocks noGrp="1"/>
          </p:cNvSpPr>
          <p:nvPr>
            <p:ph idx="1"/>
          </p:nvPr>
        </p:nvSpPr>
        <p:spPr>
          <a:xfrm>
            <a:off x="537030" y="1321724"/>
            <a:ext cx="9047546" cy="4855239"/>
          </a:xfrm>
        </p:spPr>
        <p:txBody>
          <a:bodyPr>
            <a:normAutofit/>
          </a:bodyPr>
          <a:lstStyle/>
          <a:p>
            <a:pPr algn="just">
              <a:buFont typeface="Wingdings" panose="05000000000000000000" pitchFamily="2" charset="2"/>
              <a:buChar char="Ø"/>
            </a:pPr>
            <a:r>
              <a:rPr lang="en-US" sz="2000" b="1" dirty="0"/>
              <a:t>The Socioeconomic Performance Gap: </a:t>
            </a:r>
            <a:r>
              <a:rPr lang="en-US" sz="2000" dirty="0"/>
              <a:t>Reviewing the cross-filtered data in the financial matrix reveals a noticeable performance drop among students matching the free/reduced lunch proxy. This confirms that external economic constraints correlate closely with testing outcomes.</a:t>
            </a:r>
          </a:p>
        </p:txBody>
      </p:sp>
    </p:spTree>
    <p:extLst>
      <p:ext uri="{BB962C8B-B14F-4D97-AF65-F5344CB8AC3E}">
        <p14:creationId xmlns:p14="http://schemas.microsoft.com/office/powerpoint/2010/main" val="1942865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EC83-81FE-8785-9FED-E25CBDB9D8FC}"/>
              </a:ext>
            </a:extLst>
          </p:cNvPr>
          <p:cNvSpPr>
            <a:spLocks noGrp="1"/>
          </p:cNvSpPr>
          <p:nvPr>
            <p:ph type="title"/>
          </p:nvPr>
        </p:nvSpPr>
        <p:spPr>
          <a:xfrm>
            <a:off x="872837" y="224049"/>
            <a:ext cx="7777942" cy="864522"/>
          </a:xfrm>
        </p:spPr>
        <p:txBody>
          <a:bodyPr/>
          <a:lstStyle/>
          <a:p>
            <a:pPr algn="ctr"/>
            <a:r>
              <a:rPr lang="en-US" b="1" dirty="0">
                <a:latin typeface="+mn-lt"/>
              </a:rPr>
              <a:t>Best Department Performance</a:t>
            </a:r>
          </a:p>
        </p:txBody>
      </p:sp>
      <p:sp>
        <p:nvSpPr>
          <p:cNvPr id="3" name="Content Placeholder 2">
            <a:extLst>
              <a:ext uri="{FF2B5EF4-FFF2-40B4-BE49-F238E27FC236}">
                <a16:creationId xmlns:a16="http://schemas.microsoft.com/office/drawing/2014/main" id="{AE58BD44-0160-AFE8-9D8E-133B49DE53D9}"/>
              </a:ext>
            </a:extLst>
          </p:cNvPr>
          <p:cNvSpPr>
            <a:spLocks noGrp="1"/>
          </p:cNvSpPr>
          <p:nvPr>
            <p:ph idx="1"/>
          </p:nvPr>
        </p:nvSpPr>
        <p:spPr>
          <a:xfrm>
            <a:off x="399011" y="1088571"/>
            <a:ext cx="9385069" cy="5088392"/>
          </a:xfrm>
        </p:spPr>
        <p:txBody>
          <a:bodyPr>
            <a:normAutofit/>
          </a:bodyPr>
          <a:lstStyle/>
          <a:p>
            <a:pPr marL="0" indent="0" algn="just">
              <a:buNone/>
            </a:pPr>
            <a:r>
              <a:rPr lang="en-US" sz="2000" dirty="0"/>
              <a:t>The department column chart empirically proves that the Department of Humanities is the top academic sector, maintaining a leading institutional score average of 72.63% driven by strong language arts baselines. </a:t>
            </a:r>
          </a:p>
          <a:p>
            <a:pPr marL="0" indent="0" algn="just">
              <a:buNone/>
            </a:pPr>
            <a:r>
              <a:rPr lang="en-US" sz="2000" b="1" dirty="0"/>
              <a:t>High-Risk Classroom Failure Vector</a:t>
            </a:r>
          </a:p>
          <a:p>
            <a:pPr marL="0" indent="0" algn="just">
              <a:buNone/>
            </a:pPr>
            <a:r>
              <a:rPr lang="en-US" sz="2000" dirty="0"/>
              <a:t>The lecturer scorecard isolates a critical performance gap under Dr. Hemed. </a:t>
            </a:r>
            <a:r>
              <a:rPr lang="en-US" sz="2000" dirty="0" err="1"/>
              <a:t>Mmaka</a:t>
            </a:r>
            <a:r>
              <a:rPr lang="en-US" sz="2000" dirty="0"/>
              <a:t> within the quantitative track, showing a high-risk failure profile that peaks at an institutional failure rate of 24.64%.</a:t>
            </a:r>
          </a:p>
        </p:txBody>
      </p:sp>
    </p:spTree>
    <p:extLst>
      <p:ext uri="{BB962C8B-B14F-4D97-AF65-F5344CB8AC3E}">
        <p14:creationId xmlns:p14="http://schemas.microsoft.com/office/powerpoint/2010/main" val="2224737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BE829-1D4E-4B3B-EA62-F153626EB662}"/>
              </a:ext>
            </a:extLst>
          </p:cNvPr>
          <p:cNvSpPr>
            <a:spLocks noGrp="1"/>
          </p:cNvSpPr>
          <p:nvPr>
            <p:ph type="title"/>
          </p:nvPr>
        </p:nvSpPr>
        <p:spPr>
          <a:xfrm>
            <a:off x="838200" y="259543"/>
            <a:ext cx="8006542" cy="704734"/>
          </a:xfrm>
        </p:spPr>
        <p:txBody>
          <a:bodyPr>
            <a:normAutofit/>
          </a:bodyPr>
          <a:lstStyle/>
          <a:p>
            <a:pPr algn="ctr"/>
            <a:r>
              <a:rPr lang="en-US" dirty="0">
                <a:latin typeface="+mn-lt"/>
              </a:rPr>
              <a:t>RECOMMENDATION AND ACTION PLAN</a:t>
            </a:r>
          </a:p>
        </p:txBody>
      </p:sp>
      <p:sp>
        <p:nvSpPr>
          <p:cNvPr id="3" name="Content Placeholder 2">
            <a:extLst>
              <a:ext uri="{FF2B5EF4-FFF2-40B4-BE49-F238E27FC236}">
                <a16:creationId xmlns:a16="http://schemas.microsoft.com/office/drawing/2014/main" id="{3F2AF836-E9D1-012D-0053-D67B5C9E28CB}"/>
              </a:ext>
            </a:extLst>
          </p:cNvPr>
          <p:cNvSpPr>
            <a:spLocks noGrp="1"/>
          </p:cNvSpPr>
          <p:nvPr>
            <p:ph idx="1"/>
          </p:nvPr>
        </p:nvSpPr>
        <p:spPr>
          <a:xfrm>
            <a:off x="116377" y="1229097"/>
            <a:ext cx="9958647" cy="4174177"/>
          </a:xfrm>
        </p:spPr>
        <p:txBody>
          <a:bodyPr>
            <a:noAutofit/>
          </a:bodyPr>
          <a:lstStyle/>
          <a:p>
            <a:pPr algn="just">
              <a:buFont typeface="Wingdings" panose="05000000000000000000" pitchFamily="2" charset="2"/>
              <a:buChar char="Ø"/>
            </a:pPr>
            <a:r>
              <a:rPr lang="en-US" sz="2000" b="1" dirty="0"/>
              <a:t>Targeted Academic Resource Allocation</a:t>
            </a:r>
            <a:r>
              <a:rPr lang="en-US" sz="2000" dirty="0"/>
              <a:t>: Deploy specialized learning hubs and peer tutoring labs specifically tailored to support students from tracking vectors flagged under Dr. Hemed. </a:t>
            </a:r>
            <a:r>
              <a:rPr lang="en-US" sz="2000" dirty="0" err="1"/>
              <a:t>Mmaka</a:t>
            </a:r>
            <a:r>
              <a:rPr lang="en-US" sz="2000" dirty="0"/>
              <a:t> classroom domain. </a:t>
            </a:r>
          </a:p>
          <a:p>
            <a:pPr algn="just">
              <a:buFont typeface="Wingdings" panose="05000000000000000000" pitchFamily="2" charset="2"/>
              <a:buChar char="Ø"/>
            </a:pPr>
            <a:r>
              <a:rPr lang="en-US" sz="2000" b="1" dirty="0"/>
              <a:t>Automated Intervention Placement: </a:t>
            </a:r>
            <a:r>
              <a:rPr lang="en-US" sz="2000" dirty="0"/>
              <a:t>Given the proven success of the test preparation course, the school board should automate enrolment or provide direct subsidies for students flagged under lower financial proxies (Students [Lunch]). </a:t>
            </a:r>
          </a:p>
          <a:p>
            <a:pPr algn="just">
              <a:buFont typeface="Wingdings" panose="05000000000000000000" pitchFamily="2" charset="2"/>
              <a:buChar char="Ø"/>
            </a:pPr>
            <a:r>
              <a:rPr lang="en-US" sz="2000" b="1" dirty="0"/>
              <a:t>Early-Warning Alert Protocols: </a:t>
            </a:r>
            <a:r>
              <a:rPr lang="en-US" sz="2000" dirty="0"/>
              <a:t>Use the dashboard's underlying data model to set up early alerts. If a student's rolling score within the Results table dips below the 50-point passing threshold, the system automatically flags them for proactive counsellor review.</a:t>
            </a:r>
          </a:p>
        </p:txBody>
      </p:sp>
    </p:spTree>
    <p:extLst>
      <p:ext uri="{BB962C8B-B14F-4D97-AF65-F5344CB8AC3E}">
        <p14:creationId xmlns:p14="http://schemas.microsoft.com/office/powerpoint/2010/main" val="2825448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DA498-E9A8-26CF-181C-057C5C3336E5}"/>
              </a:ext>
            </a:extLst>
          </p:cNvPr>
          <p:cNvSpPr>
            <a:spLocks noGrp="1"/>
          </p:cNvSpPr>
          <p:nvPr>
            <p:ph type="title"/>
          </p:nvPr>
        </p:nvSpPr>
        <p:spPr>
          <a:xfrm>
            <a:off x="681643" y="465514"/>
            <a:ext cx="3275215" cy="806334"/>
          </a:xfrm>
        </p:spPr>
        <p:txBody>
          <a:bodyPr/>
          <a:lstStyle/>
          <a:p>
            <a:r>
              <a:rPr lang="en-US" dirty="0">
                <a:latin typeface="+mn-lt"/>
              </a:rPr>
              <a:t>CONCLUSION</a:t>
            </a:r>
          </a:p>
        </p:txBody>
      </p:sp>
      <p:sp>
        <p:nvSpPr>
          <p:cNvPr id="3" name="Content Placeholder 2">
            <a:extLst>
              <a:ext uri="{FF2B5EF4-FFF2-40B4-BE49-F238E27FC236}">
                <a16:creationId xmlns:a16="http://schemas.microsoft.com/office/drawing/2014/main" id="{7E575AFD-CA09-C85B-BFF9-1E5855B53098}"/>
              </a:ext>
            </a:extLst>
          </p:cNvPr>
          <p:cNvSpPr>
            <a:spLocks noGrp="1"/>
          </p:cNvSpPr>
          <p:nvPr>
            <p:ph idx="1"/>
          </p:nvPr>
        </p:nvSpPr>
        <p:spPr>
          <a:xfrm>
            <a:off x="249383" y="1496291"/>
            <a:ext cx="9692640" cy="3865417"/>
          </a:xfrm>
        </p:spPr>
        <p:txBody>
          <a:bodyPr>
            <a:noAutofit/>
          </a:bodyPr>
          <a:lstStyle/>
          <a:p>
            <a:pPr algn="just">
              <a:buFont typeface="Wingdings" panose="05000000000000000000" pitchFamily="2" charset="2"/>
              <a:buChar char="Ø"/>
            </a:pPr>
            <a:r>
              <a:rPr lang="en-US" sz="2000" b="1" dirty="0"/>
              <a:t>Project Synthesis: </a:t>
            </a:r>
            <a:r>
              <a:rPr lang="en-US" dirty="0"/>
              <a:t>This implementation demonstrates how enterprise BI workflows can transform static student rows into actionable institutional strategies. By shifting from a flat data layout to a structured three-table Star Schema (Students, Courses, Results), administrators can confidently track performance drivers and lecturer metrics in real time. </a:t>
            </a:r>
          </a:p>
          <a:p>
            <a:pPr algn="just">
              <a:buFont typeface="Wingdings" panose="05000000000000000000" pitchFamily="2" charset="2"/>
              <a:buChar char="Ø"/>
            </a:pPr>
            <a:r>
              <a:rPr lang="en-US" sz="2000" b="1" dirty="0"/>
              <a:t>System Boundaries &amp; Future Enhancements: </a:t>
            </a:r>
            <a:r>
              <a:rPr lang="en-US" dirty="0"/>
              <a:t>The current data model is limited by its static nature, lacking historical trend lines over multiple semesters or attendance records. Future development cycles should focus on ingesting time-series data to track student growth over multiple years.</a:t>
            </a:r>
          </a:p>
        </p:txBody>
      </p:sp>
    </p:spTree>
    <p:extLst>
      <p:ext uri="{BB962C8B-B14F-4D97-AF65-F5344CB8AC3E}">
        <p14:creationId xmlns:p14="http://schemas.microsoft.com/office/powerpoint/2010/main" val="951098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B6611-9DB0-24C0-DBFB-696F4BC6BF75}"/>
              </a:ext>
            </a:extLst>
          </p:cNvPr>
          <p:cNvSpPr>
            <a:spLocks noGrp="1"/>
          </p:cNvSpPr>
          <p:nvPr>
            <p:ph type="title"/>
          </p:nvPr>
        </p:nvSpPr>
        <p:spPr>
          <a:xfrm>
            <a:off x="3940796" y="2768600"/>
            <a:ext cx="3122156" cy="1320800"/>
          </a:xfrm>
        </p:spPr>
        <p:txBody>
          <a:bodyPr>
            <a:normAutofit/>
          </a:bodyPr>
          <a:lstStyle/>
          <a:p>
            <a:r>
              <a:rPr lang="en-US" sz="4000" dirty="0"/>
              <a:t>THANK YOU</a:t>
            </a:r>
          </a:p>
        </p:txBody>
      </p:sp>
    </p:spTree>
    <p:extLst>
      <p:ext uri="{BB962C8B-B14F-4D97-AF65-F5344CB8AC3E}">
        <p14:creationId xmlns:p14="http://schemas.microsoft.com/office/powerpoint/2010/main" val="10871867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219</TotalTime>
  <Words>1703</Words>
  <Application>Microsoft Office PowerPoint</Application>
  <PresentationFormat>Widescreen</PresentationFormat>
  <Paragraphs>88</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Times New Roman</vt:lpstr>
      <vt:lpstr>Trebuchet MS</vt:lpstr>
      <vt:lpstr>Wingdings</vt:lpstr>
      <vt:lpstr>Wingdings 3</vt:lpstr>
      <vt:lpstr>Facet</vt:lpstr>
      <vt:lpstr>GROUP number 03.</vt:lpstr>
      <vt:lpstr>INTRODUCTION</vt:lpstr>
      <vt:lpstr>PROBLEM STATEMENT</vt:lpstr>
      <vt:lpstr>METHODOLOGY</vt:lpstr>
      <vt:lpstr>OBJECTIVE</vt:lpstr>
      <vt:lpstr>DATA PROFILE</vt:lpstr>
      <vt:lpstr>DATA ENGINEERING AND POWER QUERY TRANSFORMATION </vt:lpstr>
      <vt:lpstr>Data Cleaning and Standardization</vt:lpstr>
      <vt:lpstr>Data Type Transformation</vt:lpstr>
      <vt:lpstr>Data Modelling and Query Transformation</vt:lpstr>
      <vt:lpstr>DATA MODELING AND ARCHITECTURE (THREE-TABLE STAR SCHEMA)</vt:lpstr>
      <vt:lpstr>Table Segmentation Inventory</vt:lpstr>
      <vt:lpstr>Relationship Topology</vt:lpstr>
      <vt:lpstr>THE DAX MEASURE FRAMEWORK AND METRIC CALCULATIONS</vt:lpstr>
      <vt:lpstr>INTERACTIVE DASHBOARD ARCHITECTURE</vt:lpstr>
      <vt:lpstr>Performance Variances (Performance)</vt:lpstr>
      <vt:lpstr>Department Performance Analytics</vt:lpstr>
      <vt:lpstr>Lecturers Performance Analytics</vt:lpstr>
      <vt:lpstr>BUSINESS INSIGHTS AND EMPIRICAL FINDINGS</vt:lpstr>
      <vt:lpstr>Best Department Performance</vt:lpstr>
      <vt:lpstr>RECOMMENDATION AND ACTION PLAN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Hapa Kazi</dc:creator>
  <cp:lastModifiedBy>Hesammaka .</cp:lastModifiedBy>
  <cp:revision>45</cp:revision>
  <dcterms:created xsi:type="dcterms:W3CDTF">2026-07-20T08:01:24Z</dcterms:created>
  <dcterms:modified xsi:type="dcterms:W3CDTF">2026-07-21T04:19:30Z</dcterms:modified>
</cp:coreProperties>
</file>