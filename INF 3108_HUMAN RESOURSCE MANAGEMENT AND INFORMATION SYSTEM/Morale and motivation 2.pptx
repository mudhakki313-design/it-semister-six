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9" r:id="rId4"/>
    <p:sldId id="286" r:id="rId5"/>
    <p:sldId id="260" r:id="rId6"/>
    <p:sldId id="290" r:id="rId7"/>
    <p:sldId id="287" r:id="rId8"/>
    <p:sldId id="292" r:id="rId9"/>
    <p:sldId id="261" r:id="rId10"/>
    <p:sldId id="262" r:id="rId11"/>
    <p:sldId id="288" r:id="rId12"/>
    <p:sldId id="263" r:id="rId13"/>
    <p:sldId id="265" r:id="rId14"/>
    <p:sldId id="297" r:id="rId15"/>
    <p:sldId id="298" r:id="rId16"/>
    <p:sldId id="303" r:id="rId17"/>
    <p:sldId id="299" r:id="rId18"/>
    <p:sldId id="320" r:id="rId19"/>
    <p:sldId id="302" r:id="rId20"/>
    <p:sldId id="304" r:id="rId21"/>
    <p:sldId id="307" r:id="rId22"/>
    <p:sldId id="306" r:id="rId23"/>
    <p:sldId id="309" r:id="rId24"/>
    <p:sldId id="310" r:id="rId25"/>
    <p:sldId id="311" r:id="rId26"/>
    <p:sldId id="312" r:id="rId27"/>
    <p:sldId id="313" r:id="rId28"/>
    <p:sldId id="314" r:id="rId29"/>
    <p:sldId id="315" r:id="rId30"/>
    <p:sldId id="316" r:id="rId31"/>
    <p:sldId id="317" r:id="rId32"/>
    <p:sldId id="318" r:id="rId33"/>
    <p:sldId id="319" r:id="rId34"/>
    <p:sldId id="323" r:id="rId35"/>
    <p:sldId id="322" r:id="rId36"/>
    <p:sldId id="327" r:id="rId37"/>
    <p:sldId id="326" r:id="rId38"/>
    <p:sldId id="346" r:id="rId39"/>
    <p:sldId id="328" r:id="rId40"/>
    <p:sldId id="329" r:id="rId41"/>
    <p:sldId id="331" r:id="rId42"/>
    <p:sldId id="330" r:id="rId43"/>
    <p:sldId id="332" r:id="rId44"/>
    <p:sldId id="334" r:id="rId45"/>
    <p:sldId id="335" r:id="rId46"/>
    <p:sldId id="336" r:id="rId47"/>
    <p:sldId id="337" r:id="rId48"/>
    <p:sldId id="338" r:id="rId49"/>
    <p:sldId id="339" r:id="rId50"/>
    <p:sldId id="340" r:id="rId51"/>
    <p:sldId id="342" r:id="rId52"/>
    <p:sldId id="343" r:id="rId53"/>
    <p:sldId id="344"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81DDFD-4AA8-480A-BC42-63B6729B936C}"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D70E6A28-62C7-4E6B-808C-5FB94F58F662}">
      <dgm:prSet phldrT="[Text]"/>
      <dgm:spPr/>
      <dgm:t>
        <a:bodyPr/>
        <a:lstStyle/>
        <a:p>
          <a:r>
            <a:rPr lang="en-US" dirty="0" smtClean="0"/>
            <a:t>Content Theories/need Theory</a:t>
          </a:r>
          <a:endParaRPr lang="en-US" dirty="0"/>
        </a:p>
      </dgm:t>
    </dgm:pt>
    <dgm:pt modelId="{20F9F441-694F-4E9D-B976-04C0649D7998}" type="parTrans" cxnId="{4B75138A-0B3E-4C18-855F-55DF9CE1DA86}">
      <dgm:prSet/>
      <dgm:spPr/>
      <dgm:t>
        <a:bodyPr/>
        <a:lstStyle/>
        <a:p>
          <a:endParaRPr lang="en-US"/>
        </a:p>
      </dgm:t>
    </dgm:pt>
    <dgm:pt modelId="{669EB1A5-8BF6-4DBD-A5C6-99747E2F5874}" type="sibTrans" cxnId="{4B75138A-0B3E-4C18-855F-55DF9CE1DA86}">
      <dgm:prSet/>
      <dgm:spPr/>
      <dgm:t>
        <a:bodyPr/>
        <a:lstStyle/>
        <a:p>
          <a:endParaRPr lang="en-US"/>
        </a:p>
      </dgm:t>
    </dgm:pt>
    <dgm:pt modelId="{79B69374-FE01-489E-ADC2-77A84211BCC8}">
      <dgm:prSet phldrT="[Text]"/>
      <dgm:spPr/>
      <dgm:t>
        <a:bodyPr/>
        <a:lstStyle/>
        <a:p>
          <a:r>
            <a:rPr lang="en-US" dirty="0" smtClean="0"/>
            <a:t>Maslow 's Theory</a:t>
          </a:r>
          <a:endParaRPr lang="en-US" dirty="0"/>
        </a:p>
      </dgm:t>
    </dgm:pt>
    <dgm:pt modelId="{99DB958A-F346-49AB-AE19-3A919D95E039}" type="parTrans" cxnId="{C4AEA9E0-BBD5-41F0-8014-D2FDD88EC586}">
      <dgm:prSet/>
      <dgm:spPr/>
      <dgm:t>
        <a:bodyPr/>
        <a:lstStyle/>
        <a:p>
          <a:endParaRPr lang="en-US"/>
        </a:p>
      </dgm:t>
    </dgm:pt>
    <dgm:pt modelId="{7E85DA80-2739-4AF7-A3E5-7BB54736A103}" type="sibTrans" cxnId="{C4AEA9E0-BBD5-41F0-8014-D2FDD88EC586}">
      <dgm:prSet/>
      <dgm:spPr/>
      <dgm:t>
        <a:bodyPr/>
        <a:lstStyle/>
        <a:p>
          <a:endParaRPr lang="en-US"/>
        </a:p>
      </dgm:t>
    </dgm:pt>
    <dgm:pt modelId="{AFBD9A3A-CD4A-4796-A6AD-03E1B78890AF}">
      <dgm:prSet phldrT="[Text]"/>
      <dgm:spPr/>
      <dgm:t>
        <a:bodyPr/>
        <a:lstStyle/>
        <a:p>
          <a:r>
            <a:rPr lang="en-US" dirty="0" smtClean="0"/>
            <a:t>Herzberg's Theory</a:t>
          </a:r>
          <a:endParaRPr lang="en-US" dirty="0"/>
        </a:p>
      </dgm:t>
    </dgm:pt>
    <dgm:pt modelId="{290F314A-67E5-4B9C-B79F-44DAFFFAC54A}" type="parTrans" cxnId="{E3072AE8-BDFA-4B3E-A1FA-D71891889911}">
      <dgm:prSet/>
      <dgm:spPr/>
      <dgm:t>
        <a:bodyPr/>
        <a:lstStyle/>
        <a:p>
          <a:endParaRPr lang="en-US"/>
        </a:p>
      </dgm:t>
    </dgm:pt>
    <dgm:pt modelId="{B16E12A1-341B-4119-8969-1BE3D74C5986}" type="sibTrans" cxnId="{E3072AE8-BDFA-4B3E-A1FA-D71891889911}">
      <dgm:prSet/>
      <dgm:spPr/>
      <dgm:t>
        <a:bodyPr/>
        <a:lstStyle/>
        <a:p>
          <a:endParaRPr lang="en-US"/>
        </a:p>
      </dgm:t>
    </dgm:pt>
    <dgm:pt modelId="{A9074FD0-9AD6-4017-8C95-03167DE91DA2}">
      <dgm:prSet phldrT="[Text]"/>
      <dgm:spPr/>
      <dgm:t>
        <a:bodyPr/>
        <a:lstStyle/>
        <a:p>
          <a:r>
            <a:rPr lang="en-US" dirty="0" smtClean="0"/>
            <a:t>Process Theories</a:t>
          </a:r>
          <a:endParaRPr lang="en-US" dirty="0"/>
        </a:p>
      </dgm:t>
    </dgm:pt>
    <dgm:pt modelId="{A199ECDB-270C-41D2-AAC2-1E7DC822C3BE}" type="parTrans" cxnId="{B397499D-88ED-4308-8FFB-FBE5683024AE}">
      <dgm:prSet/>
      <dgm:spPr/>
      <dgm:t>
        <a:bodyPr/>
        <a:lstStyle/>
        <a:p>
          <a:endParaRPr lang="en-US"/>
        </a:p>
      </dgm:t>
    </dgm:pt>
    <dgm:pt modelId="{D0103B1F-E24B-4D82-881A-DEA72A103864}" type="sibTrans" cxnId="{B397499D-88ED-4308-8FFB-FBE5683024AE}">
      <dgm:prSet/>
      <dgm:spPr/>
      <dgm:t>
        <a:bodyPr/>
        <a:lstStyle/>
        <a:p>
          <a:endParaRPr lang="en-US"/>
        </a:p>
      </dgm:t>
    </dgm:pt>
    <dgm:pt modelId="{B2109AE2-E114-4956-B00F-86DD30111207}">
      <dgm:prSet phldrT="[Text]"/>
      <dgm:spPr/>
      <dgm:t>
        <a:bodyPr/>
        <a:lstStyle/>
        <a:p>
          <a:r>
            <a:rPr lang="en-US" dirty="0" smtClean="0"/>
            <a:t>Expectancy theory</a:t>
          </a:r>
          <a:endParaRPr lang="en-US" dirty="0"/>
        </a:p>
      </dgm:t>
    </dgm:pt>
    <dgm:pt modelId="{ED275FD1-8347-47EC-B4E9-A8F2DDA2E1BA}" type="parTrans" cxnId="{7B7902FF-22D7-4260-8434-7E43C80AA76C}">
      <dgm:prSet/>
      <dgm:spPr/>
      <dgm:t>
        <a:bodyPr/>
        <a:lstStyle/>
        <a:p>
          <a:endParaRPr lang="en-US"/>
        </a:p>
      </dgm:t>
    </dgm:pt>
    <dgm:pt modelId="{4ED37197-46C3-4617-8275-6175AD531A7C}" type="sibTrans" cxnId="{7B7902FF-22D7-4260-8434-7E43C80AA76C}">
      <dgm:prSet/>
      <dgm:spPr/>
      <dgm:t>
        <a:bodyPr/>
        <a:lstStyle/>
        <a:p>
          <a:endParaRPr lang="en-US"/>
        </a:p>
      </dgm:t>
    </dgm:pt>
    <dgm:pt modelId="{CCE9ED36-40A9-4429-8273-F36FAC6A0F09}">
      <dgm:prSet phldrT="[Text]"/>
      <dgm:spPr/>
      <dgm:t>
        <a:bodyPr/>
        <a:lstStyle/>
        <a:p>
          <a:r>
            <a:rPr lang="en-US" dirty="0" smtClean="0"/>
            <a:t>Equity theory</a:t>
          </a:r>
          <a:endParaRPr lang="en-US" dirty="0"/>
        </a:p>
      </dgm:t>
    </dgm:pt>
    <dgm:pt modelId="{0ADCCEBA-0DA2-4CF3-9656-DF93E4442BA0}" type="parTrans" cxnId="{54908A50-E979-481F-B19A-2EA71A0400F1}">
      <dgm:prSet/>
      <dgm:spPr/>
      <dgm:t>
        <a:bodyPr/>
        <a:lstStyle/>
        <a:p>
          <a:endParaRPr lang="en-US"/>
        </a:p>
      </dgm:t>
    </dgm:pt>
    <dgm:pt modelId="{91569F18-F5F7-46E1-A30F-AA956EF63765}" type="sibTrans" cxnId="{54908A50-E979-481F-B19A-2EA71A0400F1}">
      <dgm:prSet/>
      <dgm:spPr/>
      <dgm:t>
        <a:bodyPr/>
        <a:lstStyle/>
        <a:p>
          <a:endParaRPr lang="en-US"/>
        </a:p>
      </dgm:t>
    </dgm:pt>
    <dgm:pt modelId="{B80B6475-B586-49FC-9F01-E485CB70674F}">
      <dgm:prSet phldrT="[Text]"/>
      <dgm:spPr/>
      <dgm:t>
        <a:bodyPr/>
        <a:lstStyle/>
        <a:p>
          <a:r>
            <a:rPr lang="en-US" dirty="0" smtClean="0"/>
            <a:t>McClelland Theory</a:t>
          </a:r>
          <a:endParaRPr lang="en-US" dirty="0"/>
        </a:p>
      </dgm:t>
    </dgm:pt>
    <dgm:pt modelId="{74BB8486-2AF4-4D3B-B85E-D2FAB5B2079B}" type="parTrans" cxnId="{1EB49BB1-D189-4E27-B812-7EDE3A04EB4E}">
      <dgm:prSet/>
      <dgm:spPr/>
      <dgm:t>
        <a:bodyPr/>
        <a:lstStyle/>
        <a:p>
          <a:endParaRPr lang="en-US"/>
        </a:p>
      </dgm:t>
    </dgm:pt>
    <dgm:pt modelId="{0C8D1C86-CB55-4148-9EC0-9531CAD17BB1}" type="sibTrans" cxnId="{1EB49BB1-D189-4E27-B812-7EDE3A04EB4E}">
      <dgm:prSet/>
      <dgm:spPr/>
      <dgm:t>
        <a:bodyPr/>
        <a:lstStyle/>
        <a:p>
          <a:endParaRPr lang="en-US"/>
        </a:p>
      </dgm:t>
    </dgm:pt>
    <dgm:pt modelId="{75FC5490-3667-44AE-9C2A-DB1E7FEC1753}">
      <dgm:prSet/>
      <dgm:spPr/>
      <dgm:t>
        <a:bodyPr/>
        <a:lstStyle/>
        <a:p>
          <a:r>
            <a:rPr lang="en-US" dirty="0" smtClean="0"/>
            <a:t>6's ERG theory</a:t>
          </a:r>
          <a:endParaRPr lang="en-US" dirty="0"/>
        </a:p>
      </dgm:t>
    </dgm:pt>
    <dgm:pt modelId="{86B64651-93C3-4E8B-BE0D-D2619AA6EB80}" type="parTrans" cxnId="{BB73E90D-9464-4624-9552-43904C2CC3A6}">
      <dgm:prSet/>
      <dgm:spPr/>
      <dgm:t>
        <a:bodyPr/>
        <a:lstStyle/>
        <a:p>
          <a:endParaRPr lang="en-US"/>
        </a:p>
      </dgm:t>
    </dgm:pt>
    <dgm:pt modelId="{0FE02563-A52C-4097-A512-6A64D8365391}" type="sibTrans" cxnId="{BB73E90D-9464-4624-9552-43904C2CC3A6}">
      <dgm:prSet/>
      <dgm:spPr/>
      <dgm:t>
        <a:bodyPr/>
        <a:lstStyle/>
        <a:p>
          <a:endParaRPr lang="en-US"/>
        </a:p>
      </dgm:t>
    </dgm:pt>
    <dgm:pt modelId="{D1793BB8-CE44-45BC-BF68-76A2F6F94DA5}">
      <dgm:prSet phldrT="[Text]"/>
      <dgm:spPr/>
      <dgm:t>
        <a:bodyPr/>
        <a:lstStyle/>
        <a:p>
          <a:r>
            <a:rPr lang="en-US" dirty="0" smtClean="0"/>
            <a:t>Reinforcement</a:t>
          </a:r>
          <a:endParaRPr lang="en-US" dirty="0"/>
        </a:p>
      </dgm:t>
    </dgm:pt>
    <dgm:pt modelId="{B7190FCE-2772-49D8-8CDA-6C26229D80B7}" type="parTrans" cxnId="{19B5AE5A-BF9B-4294-B104-A72DB26122C1}">
      <dgm:prSet/>
      <dgm:spPr/>
      <dgm:t>
        <a:bodyPr/>
        <a:lstStyle/>
        <a:p>
          <a:endParaRPr lang="en-US"/>
        </a:p>
      </dgm:t>
    </dgm:pt>
    <dgm:pt modelId="{75925041-64C8-4A0B-A1CE-E98DAF67F588}" type="sibTrans" cxnId="{19B5AE5A-BF9B-4294-B104-A72DB26122C1}">
      <dgm:prSet/>
      <dgm:spPr/>
      <dgm:t>
        <a:bodyPr/>
        <a:lstStyle/>
        <a:p>
          <a:endParaRPr lang="en-US"/>
        </a:p>
      </dgm:t>
    </dgm:pt>
    <dgm:pt modelId="{523D7243-89C8-4D7D-B399-A0476384DF90}">
      <dgm:prSet phldrT="[Text]"/>
      <dgm:spPr/>
      <dgm:t>
        <a:bodyPr/>
        <a:lstStyle/>
        <a:p>
          <a:r>
            <a:rPr lang="en-US" dirty="0" smtClean="0"/>
            <a:t>OB Modification</a:t>
          </a:r>
          <a:endParaRPr lang="en-US" dirty="0"/>
        </a:p>
      </dgm:t>
    </dgm:pt>
    <dgm:pt modelId="{42106AE7-D0DE-4BD5-B77D-D896025F703B}" type="parTrans" cxnId="{8A378BB7-AA8B-4CBC-A8FF-62A89338EB72}">
      <dgm:prSet/>
      <dgm:spPr/>
      <dgm:t>
        <a:bodyPr/>
        <a:lstStyle/>
        <a:p>
          <a:endParaRPr lang="en-US"/>
        </a:p>
      </dgm:t>
    </dgm:pt>
    <dgm:pt modelId="{378A8E4C-2DF9-4F8C-9D09-96F7B0B5C3CA}" type="sibTrans" cxnId="{8A378BB7-AA8B-4CBC-A8FF-62A89338EB72}">
      <dgm:prSet/>
      <dgm:spPr/>
      <dgm:t>
        <a:bodyPr/>
        <a:lstStyle/>
        <a:p>
          <a:endParaRPr lang="en-US"/>
        </a:p>
      </dgm:t>
    </dgm:pt>
    <dgm:pt modelId="{07C8CECE-46BF-4F82-A7A4-13D1421A36A8}">
      <dgm:prSet phldrT="[Text]"/>
      <dgm:spPr/>
      <dgm:t>
        <a:bodyPr/>
        <a:lstStyle/>
        <a:p>
          <a:r>
            <a:rPr lang="en-US" dirty="0" smtClean="0"/>
            <a:t>Behavioral theories</a:t>
          </a:r>
          <a:endParaRPr lang="en-US" dirty="0"/>
        </a:p>
      </dgm:t>
    </dgm:pt>
    <dgm:pt modelId="{5F5A642E-F9D6-4B7D-A6D6-F0399FCDE741}" type="parTrans" cxnId="{D8EEBC5D-4644-4619-B326-C43D70778C9A}">
      <dgm:prSet/>
      <dgm:spPr/>
      <dgm:t>
        <a:bodyPr/>
        <a:lstStyle/>
        <a:p>
          <a:endParaRPr lang="en-US"/>
        </a:p>
      </dgm:t>
    </dgm:pt>
    <dgm:pt modelId="{C37C8A6F-3D0A-436D-8529-2F4357FD024A}" type="sibTrans" cxnId="{D8EEBC5D-4644-4619-B326-C43D70778C9A}">
      <dgm:prSet/>
      <dgm:spPr/>
      <dgm:t>
        <a:bodyPr/>
        <a:lstStyle/>
        <a:p>
          <a:endParaRPr lang="en-US"/>
        </a:p>
      </dgm:t>
    </dgm:pt>
    <dgm:pt modelId="{AF0DBCE7-991A-4261-A16A-10DD4DBC852C}">
      <dgm:prSet phldrT="[Text]"/>
      <dgm:spPr/>
      <dgm:t>
        <a:bodyPr/>
        <a:lstStyle/>
        <a:p>
          <a:r>
            <a:rPr lang="en-US" dirty="0" smtClean="0"/>
            <a:t>McGregor X &amp; Y theory</a:t>
          </a:r>
          <a:endParaRPr lang="en-US" dirty="0"/>
        </a:p>
      </dgm:t>
    </dgm:pt>
    <dgm:pt modelId="{6DA3F6C3-668F-412C-8553-092E37E18823}" type="parTrans" cxnId="{5457734F-F527-4640-B74E-7295F10900DD}">
      <dgm:prSet/>
      <dgm:spPr/>
      <dgm:t>
        <a:bodyPr/>
        <a:lstStyle/>
        <a:p>
          <a:endParaRPr lang="en-US"/>
        </a:p>
      </dgm:t>
    </dgm:pt>
    <dgm:pt modelId="{83D07F5D-4258-4370-AEB5-1B4CF9B29C77}" type="sibTrans" cxnId="{5457734F-F527-4640-B74E-7295F10900DD}">
      <dgm:prSet/>
      <dgm:spPr/>
      <dgm:t>
        <a:bodyPr/>
        <a:lstStyle/>
        <a:p>
          <a:endParaRPr lang="en-US"/>
        </a:p>
      </dgm:t>
    </dgm:pt>
    <dgm:pt modelId="{36D2F1C1-1769-46B0-97A6-EBF55E144126}">
      <dgm:prSet/>
      <dgm:spPr/>
      <dgm:t>
        <a:bodyPr/>
        <a:lstStyle/>
        <a:p>
          <a:r>
            <a:rPr lang="en-US" dirty="0" smtClean="0"/>
            <a:t>5432349p-['# Theory Z</a:t>
          </a:r>
          <a:endParaRPr lang="en-US" dirty="0"/>
        </a:p>
      </dgm:t>
    </dgm:pt>
    <dgm:pt modelId="{EC9A1724-55FD-4B77-98DF-EC1A7FDE8BEC}" type="parTrans" cxnId="{78DDAF0B-39D0-406F-BB00-61B004613DEE}">
      <dgm:prSet/>
      <dgm:spPr/>
      <dgm:t>
        <a:bodyPr/>
        <a:lstStyle/>
        <a:p>
          <a:endParaRPr lang="en-US"/>
        </a:p>
      </dgm:t>
    </dgm:pt>
    <dgm:pt modelId="{FD0E476C-0365-45A7-99EB-309C78770537}" type="sibTrans" cxnId="{78DDAF0B-39D0-406F-BB00-61B004613DEE}">
      <dgm:prSet/>
      <dgm:spPr/>
      <dgm:t>
        <a:bodyPr/>
        <a:lstStyle/>
        <a:p>
          <a:endParaRPr lang="en-US"/>
        </a:p>
      </dgm:t>
    </dgm:pt>
    <dgm:pt modelId="{005EC8CC-49AB-42EC-8A80-F3509880B380}" type="pres">
      <dgm:prSet presAssocID="{9F81DDFD-4AA8-480A-BC42-63B6729B936C}" presName="Name0" presStyleCnt="0">
        <dgm:presLayoutVars>
          <dgm:dir/>
          <dgm:resizeHandles val="exact"/>
        </dgm:presLayoutVars>
      </dgm:prSet>
      <dgm:spPr/>
      <dgm:t>
        <a:bodyPr/>
        <a:lstStyle/>
        <a:p>
          <a:endParaRPr lang="en-US"/>
        </a:p>
      </dgm:t>
    </dgm:pt>
    <dgm:pt modelId="{0E105CFD-85BD-428F-B2C2-192F4329CE45}" type="pres">
      <dgm:prSet presAssocID="{D70E6A28-62C7-4E6B-808C-5FB94F58F662}" presName="node" presStyleLbl="node1" presStyleIdx="0" presStyleCnt="4">
        <dgm:presLayoutVars>
          <dgm:bulletEnabled val="1"/>
        </dgm:presLayoutVars>
      </dgm:prSet>
      <dgm:spPr/>
      <dgm:t>
        <a:bodyPr/>
        <a:lstStyle/>
        <a:p>
          <a:endParaRPr lang="en-US"/>
        </a:p>
      </dgm:t>
    </dgm:pt>
    <dgm:pt modelId="{23222839-9E0E-49D9-BA23-B14E49912E67}" type="pres">
      <dgm:prSet presAssocID="{669EB1A5-8BF6-4DBD-A5C6-99747E2F5874}" presName="sibTrans" presStyleCnt="0"/>
      <dgm:spPr/>
    </dgm:pt>
    <dgm:pt modelId="{8D9C6DE7-F4FC-43DE-B5E1-BA552445BCE1}" type="pres">
      <dgm:prSet presAssocID="{A9074FD0-9AD6-4017-8C95-03167DE91DA2}" presName="node" presStyleLbl="node1" presStyleIdx="1" presStyleCnt="4">
        <dgm:presLayoutVars>
          <dgm:bulletEnabled val="1"/>
        </dgm:presLayoutVars>
      </dgm:prSet>
      <dgm:spPr/>
      <dgm:t>
        <a:bodyPr/>
        <a:lstStyle/>
        <a:p>
          <a:endParaRPr lang="en-US"/>
        </a:p>
      </dgm:t>
    </dgm:pt>
    <dgm:pt modelId="{ABDDDC61-D36D-44C2-8FC3-78D0AA193D59}" type="pres">
      <dgm:prSet presAssocID="{D0103B1F-E24B-4D82-881A-DEA72A103864}" presName="sibTrans" presStyleCnt="0"/>
      <dgm:spPr/>
    </dgm:pt>
    <dgm:pt modelId="{37DC2160-2645-46FC-9297-A1A84FA8AD47}" type="pres">
      <dgm:prSet presAssocID="{D1793BB8-CE44-45BC-BF68-76A2F6F94DA5}" presName="node" presStyleLbl="node1" presStyleIdx="2" presStyleCnt="4">
        <dgm:presLayoutVars>
          <dgm:bulletEnabled val="1"/>
        </dgm:presLayoutVars>
      </dgm:prSet>
      <dgm:spPr/>
      <dgm:t>
        <a:bodyPr/>
        <a:lstStyle/>
        <a:p>
          <a:endParaRPr lang="en-US"/>
        </a:p>
      </dgm:t>
    </dgm:pt>
    <dgm:pt modelId="{DAABC62D-13F9-40E2-81BA-6DB19AC02153}" type="pres">
      <dgm:prSet presAssocID="{75925041-64C8-4A0B-A1CE-E98DAF67F588}" presName="sibTrans" presStyleCnt="0"/>
      <dgm:spPr/>
    </dgm:pt>
    <dgm:pt modelId="{384A8A91-5050-495A-8972-E79EB6AFD58F}" type="pres">
      <dgm:prSet presAssocID="{07C8CECE-46BF-4F82-A7A4-13D1421A36A8}" presName="node" presStyleLbl="node1" presStyleIdx="3" presStyleCnt="4">
        <dgm:presLayoutVars>
          <dgm:bulletEnabled val="1"/>
        </dgm:presLayoutVars>
      </dgm:prSet>
      <dgm:spPr/>
      <dgm:t>
        <a:bodyPr/>
        <a:lstStyle/>
        <a:p>
          <a:endParaRPr lang="en-US"/>
        </a:p>
      </dgm:t>
    </dgm:pt>
  </dgm:ptLst>
  <dgm:cxnLst>
    <dgm:cxn modelId="{BCBC5BA5-4ED8-4204-A54B-672A777E5C95}" type="presOf" srcId="{523D7243-89C8-4D7D-B399-A0476384DF90}" destId="{37DC2160-2645-46FC-9297-A1A84FA8AD47}" srcOrd="0" destOrd="1" presId="urn:microsoft.com/office/officeart/2005/8/layout/hList6"/>
    <dgm:cxn modelId="{82D16E76-3E75-47BA-8999-6269BC83DB12}" type="presOf" srcId="{B2109AE2-E114-4956-B00F-86DD30111207}" destId="{8D9C6DE7-F4FC-43DE-B5E1-BA552445BCE1}" srcOrd="0" destOrd="1" presId="urn:microsoft.com/office/officeart/2005/8/layout/hList6"/>
    <dgm:cxn modelId="{8A378BB7-AA8B-4CBC-A8FF-62A89338EB72}" srcId="{D1793BB8-CE44-45BC-BF68-76A2F6F94DA5}" destId="{523D7243-89C8-4D7D-B399-A0476384DF90}" srcOrd="0" destOrd="0" parTransId="{42106AE7-D0DE-4BD5-B77D-D896025F703B}" sibTransId="{378A8E4C-2DF9-4F8C-9D09-96F7B0B5C3CA}"/>
    <dgm:cxn modelId="{3F4FFD8F-94FA-4233-ABCA-41F2DFA9AB6A}" type="presOf" srcId="{79B69374-FE01-489E-ADC2-77A84211BCC8}" destId="{0E105CFD-85BD-428F-B2C2-192F4329CE45}" srcOrd="0" destOrd="1" presId="urn:microsoft.com/office/officeart/2005/8/layout/hList6"/>
    <dgm:cxn modelId="{F061768D-CF92-4390-B0AF-A85EFBA860AC}" type="presOf" srcId="{07C8CECE-46BF-4F82-A7A4-13D1421A36A8}" destId="{384A8A91-5050-495A-8972-E79EB6AFD58F}" srcOrd="0" destOrd="0" presId="urn:microsoft.com/office/officeart/2005/8/layout/hList6"/>
    <dgm:cxn modelId="{6A48C1DF-5F4C-4DF4-904B-A9F57E8374A5}" type="presOf" srcId="{D70E6A28-62C7-4E6B-808C-5FB94F58F662}" destId="{0E105CFD-85BD-428F-B2C2-192F4329CE45}" srcOrd="0" destOrd="0" presId="urn:microsoft.com/office/officeart/2005/8/layout/hList6"/>
    <dgm:cxn modelId="{0FFEE3EC-A044-4E2E-8AFA-635FFFDDFB5A}" type="presOf" srcId="{D1793BB8-CE44-45BC-BF68-76A2F6F94DA5}" destId="{37DC2160-2645-46FC-9297-A1A84FA8AD47}" srcOrd="0" destOrd="0" presId="urn:microsoft.com/office/officeart/2005/8/layout/hList6"/>
    <dgm:cxn modelId="{E3072AE8-BDFA-4B3E-A1FA-D71891889911}" srcId="{D70E6A28-62C7-4E6B-808C-5FB94F58F662}" destId="{AFBD9A3A-CD4A-4796-A6AD-03E1B78890AF}" srcOrd="1" destOrd="0" parTransId="{290F314A-67E5-4B9C-B79F-44DAFFFAC54A}" sibTransId="{B16E12A1-341B-4119-8969-1BE3D74C5986}"/>
    <dgm:cxn modelId="{C4AEA9E0-BBD5-41F0-8014-D2FDD88EC586}" srcId="{D70E6A28-62C7-4E6B-808C-5FB94F58F662}" destId="{79B69374-FE01-489E-ADC2-77A84211BCC8}" srcOrd="0" destOrd="0" parTransId="{99DB958A-F346-49AB-AE19-3A919D95E039}" sibTransId="{7E85DA80-2739-4AF7-A3E5-7BB54736A103}"/>
    <dgm:cxn modelId="{87895F6B-8428-473C-B881-6AD0A34EE851}" type="presOf" srcId="{B80B6475-B586-49FC-9F01-E485CB70674F}" destId="{0E105CFD-85BD-428F-B2C2-192F4329CE45}" srcOrd="0" destOrd="3" presId="urn:microsoft.com/office/officeart/2005/8/layout/hList6"/>
    <dgm:cxn modelId="{BB73E90D-9464-4624-9552-43904C2CC3A6}" srcId="{D70E6A28-62C7-4E6B-808C-5FB94F58F662}" destId="{75FC5490-3667-44AE-9C2A-DB1E7FEC1753}" srcOrd="3" destOrd="0" parTransId="{86B64651-93C3-4E8B-BE0D-D2619AA6EB80}" sibTransId="{0FE02563-A52C-4097-A512-6A64D8365391}"/>
    <dgm:cxn modelId="{54908A50-E979-481F-B19A-2EA71A0400F1}" srcId="{A9074FD0-9AD6-4017-8C95-03167DE91DA2}" destId="{CCE9ED36-40A9-4429-8273-F36FAC6A0F09}" srcOrd="1" destOrd="0" parTransId="{0ADCCEBA-0DA2-4CF3-9656-DF93E4442BA0}" sibTransId="{91569F18-F5F7-46E1-A30F-AA956EF63765}"/>
    <dgm:cxn modelId="{48C581E4-C91D-44ED-8D3B-06D309AEEB0B}" type="presOf" srcId="{CCE9ED36-40A9-4429-8273-F36FAC6A0F09}" destId="{8D9C6DE7-F4FC-43DE-B5E1-BA552445BCE1}" srcOrd="0" destOrd="2" presId="urn:microsoft.com/office/officeart/2005/8/layout/hList6"/>
    <dgm:cxn modelId="{DD818349-4B56-4405-BEE7-6D85D87A96FE}" type="presOf" srcId="{9F81DDFD-4AA8-480A-BC42-63B6729B936C}" destId="{005EC8CC-49AB-42EC-8A80-F3509880B380}" srcOrd="0" destOrd="0" presId="urn:microsoft.com/office/officeart/2005/8/layout/hList6"/>
    <dgm:cxn modelId="{4B75138A-0B3E-4C18-855F-55DF9CE1DA86}" srcId="{9F81DDFD-4AA8-480A-BC42-63B6729B936C}" destId="{D70E6A28-62C7-4E6B-808C-5FB94F58F662}" srcOrd="0" destOrd="0" parTransId="{20F9F441-694F-4E9D-B976-04C0649D7998}" sibTransId="{669EB1A5-8BF6-4DBD-A5C6-99747E2F5874}"/>
    <dgm:cxn modelId="{475ABCC0-FF0B-4964-9EA1-6CFBF2355AB4}" type="presOf" srcId="{A9074FD0-9AD6-4017-8C95-03167DE91DA2}" destId="{8D9C6DE7-F4FC-43DE-B5E1-BA552445BCE1}" srcOrd="0" destOrd="0" presId="urn:microsoft.com/office/officeart/2005/8/layout/hList6"/>
    <dgm:cxn modelId="{834918EB-BD37-43E2-9350-284F08A983F7}" type="presOf" srcId="{75FC5490-3667-44AE-9C2A-DB1E7FEC1753}" destId="{0E105CFD-85BD-428F-B2C2-192F4329CE45}" srcOrd="0" destOrd="4" presId="urn:microsoft.com/office/officeart/2005/8/layout/hList6"/>
    <dgm:cxn modelId="{767B7F1F-C35A-4CAC-8388-205F9DE669F1}" type="presOf" srcId="{AF0DBCE7-991A-4261-A16A-10DD4DBC852C}" destId="{384A8A91-5050-495A-8972-E79EB6AFD58F}" srcOrd="0" destOrd="1" presId="urn:microsoft.com/office/officeart/2005/8/layout/hList6"/>
    <dgm:cxn modelId="{B397499D-88ED-4308-8FFB-FBE5683024AE}" srcId="{9F81DDFD-4AA8-480A-BC42-63B6729B936C}" destId="{A9074FD0-9AD6-4017-8C95-03167DE91DA2}" srcOrd="1" destOrd="0" parTransId="{A199ECDB-270C-41D2-AAC2-1E7DC822C3BE}" sibTransId="{D0103B1F-E24B-4D82-881A-DEA72A103864}"/>
    <dgm:cxn modelId="{7343B561-739E-404F-AB27-07F822B8FDA5}" type="presOf" srcId="{36D2F1C1-1769-46B0-97A6-EBF55E144126}" destId="{384A8A91-5050-495A-8972-E79EB6AFD58F}" srcOrd="0" destOrd="2" presId="urn:microsoft.com/office/officeart/2005/8/layout/hList6"/>
    <dgm:cxn modelId="{78DDAF0B-39D0-406F-BB00-61B004613DEE}" srcId="{07C8CECE-46BF-4F82-A7A4-13D1421A36A8}" destId="{36D2F1C1-1769-46B0-97A6-EBF55E144126}" srcOrd="1" destOrd="0" parTransId="{EC9A1724-55FD-4B77-98DF-EC1A7FDE8BEC}" sibTransId="{FD0E476C-0365-45A7-99EB-309C78770537}"/>
    <dgm:cxn modelId="{7B7902FF-22D7-4260-8434-7E43C80AA76C}" srcId="{A9074FD0-9AD6-4017-8C95-03167DE91DA2}" destId="{B2109AE2-E114-4956-B00F-86DD30111207}" srcOrd="0" destOrd="0" parTransId="{ED275FD1-8347-47EC-B4E9-A8F2DDA2E1BA}" sibTransId="{4ED37197-46C3-4617-8275-6175AD531A7C}"/>
    <dgm:cxn modelId="{8EE3B5BD-6F01-47AB-B08F-DE05F659F8AD}" type="presOf" srcId="{AFBD9A3A-CD4A-4796-A6AD-03E1B78890AF}" destId="{0E105CFD-85BD-428F-B2C2-192F4329CE45}" srcOrd="0" destOrd="2" presId="urn:microsoft.com/office/officeart/2005/8/layout/hList6"/>
    <dgm:cxn modelId="{1EB49BB1-D189-4E27-B812-7EDE3A04EB4E}" srcId="{D70E6A28-62C7-4E6B-808C-5FB94F58F662}" destId="{B80B6475-B586-49FC-9F01-E485CB70674F}" srcOrd="2" destOrd="0" parTransId="{74BB8486-2AF4-4D3B-B85E-D2FAB5B2079B}" sibTransId="{0C8D1C86-CB55-4148-9EC0-9531CAD17BB1}"/>
    <dgm:cxn modelId="{19B5AE5A-BF9B-4294-B104-A72DB26122C1}" srcId="{9F81DDFD-4AA8-480A-BC42-63B6729B936C}" destId="{D1793BB8-CE44-45BC-BF68-76A2F6F94DA5}" srcOrd="2" destOrd="0" parTransId="{B7190FCE-2772-49D8-8CDA-6C26229D80B7}" sibTransId="{75925041-64C8-4A0B-A1CE-E98DAF67F588}"/>
    <dgm:cxn modelId="{D8EEBC5D-4644-4619-B326-C43D70778C9A}" srcId="{9F81DDFD-4AA8-480A-BC42-63B6729B936C}" destId="{07C8CECE-46BF-4F82-A7A4-13D1421A36A8}" srcOrd="3" destOrd="0" parTransId="{5F5A642E-F9D6-4B7D-A6D6-F0399FCDE741}" sibTransId="{C37C8A6F-3D0A-436D-8529-2F4357FD024A}"/>
    <dgm:cxn modelId="{5457734F-F527-4640-B74E-7295F10900DD}" srcId="{07C8CECE-46BF-4F82-A7A4-13D1421A36A8}" destId="{AF0DBCE7-991A-4261-A16A-10DD4DBC852C}" srcOrd="0" destOrd="0" parTransId="{6DA3F6C3-668F-412C-8553-092E37E18823}" sibTransId="{83D07F5D-4258-4370-AEB5-1B4CF9B29C77}"/>
    <dgm:cxn modelId="{B13B6368-BA75-4369-922E-BABE999B6B90}" type="presParOf" srcId="{005EC8CC-49AB-42EC-8A80-F3509880B380}" destId="{0E105CFD-85BD-428F-B2C2-192F4329CE45}" srcOrd="0" destOrd="0" presId="urn:microsoft.com/office/officeart/2005/8/layout/hList6"/>
    <dgm:cxn modelId="{DE625939-EC5C-4953-9521-6A805E782E39}" type="presParOf" srcId="{005EC8CC-49AB-42EC-8A80-F3509880B380}" destId="{23222839-9E0E-49D9-BA23-B14E49912E67}" srcOrd="1" destOrd="0" presId="urn:microsoft.com/office/officeart/2005/8/layout/hList6"/>
    <dgm:cxn modelId="{4BE7864C-9865-4307-A833-B1B40A858B6E}" type="presParOf" srcId="{005EC8CC-49AB-42EC-8A80-F3509880B380}" destId="{8D9C6DE7-F4FC-43DE-B5E1-BA552445BCE1}" srcOrd="2" destOrd="0" presId="urn:microsoft.com/office/officeart/2005/8/layout/hList6"/>
    <dgm:cxn modelId="{7BA44681-C8DB-47E6-822B-6D5EA0B8EF62}" type="presParOf" srcId="{005EC8CC-49AB-42EC-8A80-F3509880B380}" destId="{ABDDDC61-D36D-44C2-8FC3-78D0AA193D59}" srcOrd="3" destOrd="0" presId="urn:microsoft.com/office/officeart/2005/8/layout/hList6"/>
    <dgm:cxn modelId="{97BB4FEC-CA2A-4690-B751-5E67CE0B015A}" type="presParOf" srcId="{005EC8CC-49AB-42EC-8A80-F3509880B380}" destId="{37DC2160-2645-46FC-9297-A1A84FA8AD47}" srcOrd="4" destOrd="0" presId="urn:microsoft.com/office/officeart/2005/8/layout/hList6"/>
    <dgm:cxn modelId="{0C154397-E980-4355-A0CE-6F89B3AC5BAE}" type="presParOf" srcId="{005EC8CC-49AB-42EC-8A80-F3509880B380}" destId="{DAABC62D-13F9-40E2-81BA-6DB19AC02153}" srcOrd="5" destOrd="0" presId="urn:microsoft.com/office/officeart/2005/8/layout/hList6"/>
    <dgm:cxn modelId="{8D2782D1-D89C-4BEB-9AC4-E8B5EFF02A04}" type="presParOf" srcId="{005EC8CC-49AB-42EC-8A80-F3509880B380}" destId="{384A8A91-5050-495A-8972-E79EB6AFD58F}" srcOrd="6" destOrd="0" presId="urn:microsoft.com/office/officeart/2005/8/layout/hList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E105CFD-85BD-428F-B2C2-192F4329CE45}">
      <dsp:nvSpPr>
        <dsp:cNvPr id="0" name=""/>
        <dsp:cNvSpPr/>
      </dsp:nvSpPr>
      <dsp:spPr>
        <a:xfrm rot="16200000">
          <a:off x="-1287549" y="1289533"/>
          <a:ext cx="4525963"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558" bIns="0" numCol="1" spcCol="1270" anchor="t" anchorCtr="0">
          <a:noAutofit/>
        </a:bodyPr>
        <a:lstStyle/>
        <a:p>
          <a:pPr lvl="0" algn="l" defTabSz="933450">
            <a:lnSpc>
              <a:spcPct val="90000"/>
            </a:lnSpc>
            <a:spcBef>
              <a:spcPct val="0"/>
            </a:spcBef>
            <a:spcAft>
              <a:spcPct val="35000"/>
            </a:spcAft>
          </a:pPr>
          <a:r>
            <a:rPr lang="en-US" sz="2100" kern="1200" dirty="0" smtClean="0"/>
            <a:t>Content Theories/need Theory</a:t>
          </a:r>
          <a:endParaRPr lang="en-US" sz="2100" kern="1200" dirty="0"/>
        </a:p>
        <a:p>
          <a:pPr marL="171450" lvl="1" indent="-171450" algn="l" defTabSz="711200">
            <a:lnSpc>
              <a:spcPct val="90000"/>
            </a:lnSpc>
            <a:spcBef>
              <a:spcPct val="0"/>
            </a:spcBef>
            <a:spcAft>
              <a:spcPct val="15000"/>
            </a:spcAft>
            <a:buChar char="••"/>
          </a:pPr>
          <a:r>
            <a:rPr lang="en-US" sz="1600" kern="1200" dirty="0" smtClean="0"/>
            <a:t>Maslow 's Theory</a:t>
          </a:r>
          <a:endParaRPr lang="en-US" sz="1600" kern="1200" dirty="0"/>
        </a:p>
        <a:p>
          <a:pPr marL="171450" lvl="1" indent="-171450" algn="l" defTabSz="711200">
            <a:lnSpc>
              <a:spcPct val="90000"/>
            </a:lnSpc>
            <a:spcBef>
              <a:spcPct val="0"/>
            </a:spcBef>
            <a:spcAft>
              <a:spcPct val="15000"/>
            </a:spcAft>
            <a:buChar char="••"/>
          </a:pPr>
          <a:r>
            <a:rPr lang="en-US" sz="1600" kern="1200" dirty="0" smtClean="0"/>
            <a:t>Herzberg's Theory</a:t>
          </a:r>
          <a:endParaRPr lang="en-US" sz="1600" kern="1200" dirty="0"/>
        </a:p>
        <a:p>
          <a:pPr marL="171450" lvl="1" indent="-171450" algn="l" defTabSz="711200">
            <a:lnSpc>
              <a:spcPct val="90000"/>
            </a:lnSpc>
            <a:spcBef>
              <a:spcPct val="0"/>
            </a:spcBef>
            <a:spcAft>
              <a:spcPct val="15000"/>
            </a:spcAft>
            <a:buChar char="••"/>
          </a:pPr>
          <a:r>
            <a:rPr lang="en-US" sz="1600" kern="1200" dirty="0" smtClean="0"/>
            <a:t>McClelland Theory</a:t>
          </a:r>
          <a:endParaRPr lang="en-US" sz="1600" kern="1200" dirty="0"/>
        </a:p>
        <a:p>
          <a:pPr marL="171450" lvl="1" indent="-171450" algn="l" defTabSz="711200">
            <a:lnSpc>
              <a:spcPct val="90000"/>
            </a:lnSpc>
            <a:spcBef>
              <a:spcPct val="0"/>
            </a:spcBef>
            <a:spcAft>
              <a:spcPct val="15000"/>
            </a:spcAft>
            <a:buChar char="••"/>
          </a:pPr>
          <a:r>
            <a:rPr lang="en-US" sz="1600" kern="1200" dirty="0" smtClean="0"/>
            <a:t>6's ERG theory</a:t>
          </a:r>
          <a:endParaRPr lang="en-US" sz="1600" kern="1200" dirty="0"/>
        </a:p>
      </dsp:txBody>
      <dsp:txXfrm rot="16200000">
        <a:off x="-1287549" y="1289533"/>
        <a:ext cx="4525963" cy="1946895"/>
      </dsp:txXfrm>
    </dsp:sp>
    <dsp:sp modelId="{8D9C6DE7-F4FC-43DE-B5E1-BA552445BCE1}">
      <dsp:nvSpPr>
        <dsp:cNvPr id="0" name=""/>
        <dsp:cNvSpPr/>
      </dsp:nvSpPr>
      <dsp:spPr>
        <a:xfrm rot="16200000">
          <a:off x="805362" y="1289533"/>
          <a:ext cx="4525963"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558" bIns="0" numCol="1" spcCol="1270" anchor="t" anchorCtr="0">
          <a:noAutofit/>
        </a:bodyPr>
        <a:lstStyle/>
        <a:p>
          <a:pPr lvl="0" algn="l" defTabSz="933450">
            <a:lnSpc>
              <a:spcPct val="90000"/>
            </a:lnSpc>
            <a:spcBef>
              <a:spcPct val="0"/>
            </a:spcBef>
            <a:spcAft>
              <a:spcPct val="35000"/>
            </a:spcAft>
          </a:pPr>
          <a:r>
            <a:rPr lang="en-US" sz="2100" kern="1200" dirty="0" smtClean="0"/>
            <a:t>Process Theories</a:t>
          </a:r>
          <a:endParaRPr lang="en-US" sz="2100" kern="1200" dirty="0"/>
        </a:p>
        <a:p>
          <a:pPr marL="171450" lvl="1" indent="-171450" algn="l" defTabSz="711200">
            <a:lnSpc>
              <a:spcPct val="90000"/>
            </a:lnSpc>
            <a:spcBef>
              <a:spcPct val="0"/>
            </a:spcBef>
            <a:spcAft>
              <a:spcPct val="15000"/>
            </a:spcAft>
            <a:buChar char="••"/>
          </a:pPr>
          <a:r>
            <a:rPr lang="en-US" sz="1600" kern="1200" dirty="0" smtClean="0"/>
            <a:t>Expectancy theory</a:t>
          </a:r>
          <a:endParaRPr lang="en-US" sz="1600" kern="1200" dirty="0"/>
        </a:p>
        <a:p>
          <a:pPr marL="171450" lvl="1" indent="-171450" algn="l" defTabSz="711200">
            <a:lnSpc>
              <a:spcPct val="90000"/>
            </a:lnSpc>
            <a:spcBef>
              <a:spcPct val="0"/>
            </a:spcBef>
            <a:spcAft>
              <a:spcPct val="15000"/>
            </a:spcAft>
            <a:buChar char="••"/>
          </a:pPr>
          <a:r>
            <a:rPr lang="en-US" sz="1600" kern="1200" dirty="0" smtClean="0"/>
            <a:t>Equity theory</a:t>
          </a:r>
          <a:endParaRPr lang="en-US" sz="1600" kern="1200" dirty="0"/>
        </a:p>
      </dsp:txBody>
      <dsp:txXfrm rot="16200000">
        <a:off x="805362" y="1289533"/>
        <a:ext cx="4525963" cy="1946895"/>
      </dsp:txXfrm>
    </dsp:sp>
    <dsp:sp modelId="{37DC2160-2645-46FC-9297-A1A84FA8AD47}">
      <dsp:nvSpPr>
        <dsp:cNvPr id="0" name=""/>
        <dsp:cNvSpPr/>
      </dsp:nvSpPr>
      <dsp:spPr>
        <a:xfrm rot="16200000">
          <a:off x="2898274" y="1289533"/>
          <a:ext cx="4525963"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558" bIns="0" numCol="1" spcCol="1270" anchor="t" anchorCtr="0">
          <a:noAutofit/>
        </a:bodyPr>
        <a:lstStyle/>
        <a:p>
          <a:pPr lvl="0" algn="l" defTabSz="933450">
            <a:lnSpc>
              <a:spcPct val="90000"/>
            </a:lnSpc>
            <a:spcBef>
              <a:spcPct val="0"/>
            </a:spcBef>
            <a:spcAft>
              <a:spcPct val="35000"/>
            </a:spcAft>
          </a:pPr>
          <a:r>
            <a:rPr lang="en-US" sz="2100" kern="1200" dirty="0" smtClean="0"/>
            <a:t>Reinforcement</a:t>
          </a:r>
          <a:endParaRPr lang="en-US" sz="2100" kern="1200" dirty="0"/>
        </a:p>
        <a:p>
          <a:pPr marL="171450" lvl="1" indent="-171450" algn="l" defTabSz="711200">
            <a:lnSpc>
              <a:spcPct val="90000"/>
            </a:lnSpc>
            <a:spcBef>
              <a:spcPct val="0"/>
            </a:spcBef>
            <a:spcAft>
              <a:spcPct val="15000"/>
            </a:spcAft>
            <a:buChar char="••"/>
          </a:pPr>
          <a:r>
            <a:rPr lang="en-US" sz="1600" kern="1200" dirty="0" smtClean="0"/>
            <a:t>OB Modification</a:t>
          </a:r>
          <a:endParaRPr lang="en-US" sz="1600" kern="1200" dirty="0"/>
        </a:p>
      </dsp:txBody>
      <dsp:txXfrm rot="16200000">
        <a:off x="2898274" y="1289533"/>
        <a:ext cx="4525963" cy="1946895"/>
      </dsp:txXfrm>
    </dsp:sp>
    <dsp:sp modelId="{384A8A91-5050-495A-8972-E79EB6AFD58F}">
      <dsp:nvSpPr>
        <dsp:cNvPr id="0" name=""/>
        <dsp:cNvSpPr/>
      </dsp:nvSpPr>
      <dsp:spPr>
        <a:xfrm rot="16200000">
          <a:off x="4991186" y="1289533"/>
          <a:ext cx="4525963"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558" bIns="0" numCol="1" spcCol="1270" anchor="t" anchorCtr="0">
          <a:noAutofit/>
        </a:bodyPr>
        <a:lstStyle/>
        <a:p>
          <a:pPr lvl="0" algn="l" defTabSz="933450">
            <a:lnSpc>
              <a:spcPct val="90000"/>
            </a:lnSpc>
            <a:spcBef>
              <a:spcPct val="0"/>
            </a:spcBef>
            <a:spcAft>
              <a:spcPct val="35000"/>
            </a:spcAft>
          </a:pPr>
          <a:r>
            <a:rPr lang="en-US" sz="2100" kern="1200" dirty="0" smtClean="0"/>
            <a:t>Behavioral theories</a:t>
          </a:r>
          <a:endParaRPr lang="en-US" sz="2100" kern="1200" dirty="0"/>
        </a:p>
        <a:p>
          <a:pPr marL="171450" lvl="1" indent="-171450" algn="l" defTabSz="711200">
            <a:lnSpc>
              <a:spcPct val="90000"/>
            </a:lnSpc>
            <a:spcBef>
              <a:spcPct val="0"/>
            </a:spcBef>
            <a:spcAft>
              <a:spcPct val="15000"/>
            </a:spcAft>
            <a:buChar char="••"/>
          </a:pPr>
          <a:r>
            <a:rPr lang="en-US" sz="1600" kern="1200" dirty="0" smtClean="0"/>
            <a:t>McGregor X &amp; Y theory</a:t>
          </a:r>
          <a:endParaRPr lang="en-US" sz="1600" kern="1200" dirty="0"/>
        </a:p>
        <a:p>
          <a:pPr marL="171450" lvl="1" indent="-171450" algn="l" defTabSz="711200">
            <a:lnSpc>
              <a:spcPct val="90000"/>
            </a:lnSpc>
            <a:spcBef>
              <a:spcPct val="0"/>
            </a:spcBef>
            <a:spcAft>
              <a:spcPct val="15000"/>
            </a:spcAft>
            <a:buChar char="••"/>
          </a:pPr>
          <a:r>
            <a:rPr lang="en-US" sz="1600" kern="1200" dirty="0" smtClean="0"/>
            <a:t>5432349p-['# Theory Z</a:t>
          </a:r>
          <a:endParaRPr lang="en-US" sz="1600" kern="1200" dirty="0"/>
        </a:p>
      </dsp:txBody>
      <dsp:txXfrm rot="16200000">
        <a:off x="4991186" y="1289533"/>
        <a:ext cx="4525963" cy="1946895"/>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194793-C7E7-4F84-8742-BB700376FF46}" type="datetimeFigureOut">
              <a:rPr lang="en-US" smtClean="0"/>
              <a:pPr/>
              <a:t>5/17/2022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0698F0-DCF4-4342-A23A-C1DBA80914ED}"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CCC237-DFF3-418F-9CF4-4A34C5C290D6}" type="datetimeFigureOut">
              <a:rPr lang="en-US" smtClean="0"/>
              <a:pPr/>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D7F21CA-C552-40B4-93D7-D2E4168C433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CCC237-DFF3-418F-9CF4-4A34C5C290D6}" type="datetimeFigureOut">
              <a:rPr lang="en-US" smtClean="0"/>
              <a:pPr/>
              <a:t>5/17/2022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F21CA-C552-40B4-93D7-D2E4168C433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Morale and motivation </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MORALE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algn="just">
              <a:buNone/>
            </a:pPr>
            <a:r>
              <a:rPr lang="en-US" dirty="0" smtClean="0"/>
              <a:t>It </a:t>
            </a:r>
            <a:r>
              <a:rPr lang="en-US" dirty="0"/>
              <a:t>is </a:t>
            </a:r>
            <a:r>
              <a:rPr lang="en-US" dirty="0" smtClean="0"/>
              <a:t>the </a:t>
            </a:r>
            <a:r>
              <a:rPr lang="en-US" dirty="0"/>
              <a:t>mental attitude which makes </a:t>
            </a:r>
            <a:r>
              <a:rPr lang="en-US" dirty="0" smtClean="0"/>
              <a:t>the </a:t>
            </a:r>
            <a:r>
              <a:rPr lang="en-US" dirty="0"/>
              <a:t>individual perform his work either willingly and enthusiastically or poorly and reluctantly</a:t>
            </a:r>
            <a:r>
              <a:rPr lang="en-US" dirty="0" smtClean="0"/>
              <a:t>.</a:t>
            </a:r>
          </a:p>
          <a:p>
            <a:pPr algn="just">
              <a:buNone/>
            </a:pPr>
            <a:r>
              <a:rPr lang="en-US" dirty="0" smtClean="0"/>
              <a:t>It </a:t>
            </a:r>
            <a:r>
              <a:rPr lang="en-US" dirty="0"/>
              <a:t>is used to describe </a:t>
            </a:r>
            <a:r>
              <a:rPr lang="en-US" dirty="0" smtClean="0"/>
              <a:t>the </a:t>
            </a:r>
            <a:r>
              <a:rPr lang="en-US" dirty="0"/>
              <a:t>level or quality of </a:t>
            </a:r>
            <a:r>
              <a:rPr lang="en-US" dirty="0" smtClean="0"/>
              <a:t>the </a:t>
            </a:r>
            <a:r>
              <a:rPr lang="en-US" dirty="0"/>
              <a:t>attitude or reaction displayed by an individual or by a group as being high or low, good or poor, positive or negative. </a:t>
            </a:r>
            <a:endParaRPr lang="en-US" dirty="0" smtClean="0"/>
          </a:p>
          <a:p>
            <a:pPr algn="just">
              <a:buNone/>
            </a:pPr>
            <a:r>
              <a:rPr lang="en-US" dirty="0" smtClean="0"/>
              <a:t>Morale it define  “as a state of mind and emotions, affecting willingness to work, which in turn affects individual and organizational objectives.”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INFLUENCING MORALE </a:t>
            </a:r>
            <a:endParaRPr lang="en-US" dirty="0"/>
          </a:p>
        </p:txBody>
      </p:sp>
      <p:sp>
        <p:nvSpPr>
          <p:cNvPr id="3" name="Content Placeholder 2"/>
          <p:cNvSpPr>
            <a:spLocks noGrp="1"/>
          </p:cNvSpPr>
          <p:nvPr>
            <p:ph idx="1"/>
          </p:nvPr>
        </p:nvSpPr>
        <p:spPr/>
        <p:txBody>
          <a:bodyPr>
            <a:normAutofit/>
          </a:bodyPr>
          <a:lstStyle/>
          <a:p>
            <a:r>
              <a:rPr lang="en-US" dirty="0" smtClean="0"/>
              <a:t>1</a:t>
            </a:r>
            <a:r>
              <a:rPr lang="en-US" dirty="0"/>
              <a:t>. </a:t>
            </a:r>
            <a:r>
              <a:rPr lang="en-US" dirty="0" smtClean="0"/>
              <a:t>The </a:t>
            </a:r>
            <a:r>
              <a:rPr lang="en-US" dirty="0"/>
              <a:t>employees themselves </a:t>
            </a:r>
            <a:endParaRPr lang="en-US" dirty="0" smtClean="0"/>
          </a:p>
          <a:p>
            <a:r>
              <a:rPr lang="en-US" dirty="0" smtClean="0"/>
              <a:t>2</a:t>
            </a:r>
            <a:r>
              <a:rPr lang="en-US" dirty="0"/>
              <a:t>. Management practices </a:t>
            </a:r>
            <a:endParaRPr lang="en-US" dirty="0" smtClean="0"/>
          </a:p>
          <a:p>
            <a:r>
              <a:rPr lang="en-US" dirty="0" smtClean="0"/>
              <a:t>3</a:t>
            </a:r>
            <a:r>
              <a:rPr lang="en-US" dirty="0"/>
              <a:t>. Outside factors </a:t>
            </a:r>
            <a:endParaRPr lang="en-US" dirty="0" smtClean="0"/>
          </a:p>
          <a:p>
            <a:r>
              <a:rPr lang="en-US" dirty="0" smtClean="0"/>
              <a:t>4</a:t>
            </a:r>
            <a:r>
              <a:rPr lang="en-US" dirty="0"/>
              <a:t>. State of communication in </a:t>
            </a:r>
            <a:r>
              <a:rPr lang="en-US" dirty="0" smtClean="0"/>
              <a:t>the </a:t>
            </a:r>
            <a:r>
              <a:rPr lang="en-US" dirty="0"/>
              <a:t>firm</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t>INDICATIONS OF LOW EMPLOYEE MORALE </a:t>
            </a:r>
            <a:endParaRPr lang="en-US"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dirty="0" smtClean="0"/>
              <a:t>Customer complaints </a:t>
            </a:r>
          </a:p>
          <a:p>
            <a:pPr marL="514350" indent="-514350">
              <a:buFont typeface="+mj-lt"/>
              <a:buAutoNum type="arabicPeriod"/>
            </a:pPr>
            <a:r>
              <a:rPr lang="en-US" dirty="0" smtClean="0"/>
              <a:t>Frequent absenteeism and tardiness</a:t>
            </a:r>
          </a:p>
          <a:p>
            <a:pPr marL="514350" indent="-514350">
              <a:buFont typeface="+mj-lt"/>
              <a:buAutoNum type="arabicPeriod"/>
            </a:pPr>
            <a:r>
              <a:rPr lang="en-US" dirty="0" smtClean="0"/>
              <a:t>Frequent sick leave</a:t>
            </a:r>
          </a:p>
          <a:p>
            <a:pPr marL="514350" indent="-514350">
              <a:buFont typeface="+mj-lt"/>
              <a:buAutoNum type="arabicPeriod"/>
            </a:pPr>
            <a:r>
              <a:rPr lang="en-US" dirty="0" smtClean="0"/>
              <a:t>Low production, spoilage of materials due to inattention </a:t>
            </a:r>
          </a:p>
          <a:p>
            <a:pPr marL="514350" indent="-514350">
              <a:buFont typeface="+mj-lt"/>
              <a:buAutoNum type="arabicPeriod"/>
            </a:pPr>
            <a:r>
              <a:rPr lang="en-US" dirty="0" smtClean="0"/>
              <a:t>Unjustified overtime</a:t>
            </a:r>
          </a:p>
          <a:p>
            <a:pPr marL="514350" indent="-514350">
              <a:buFont typeface="+mj-lt"/>
              <a:buAutoNum type="arabicPeriod"/>
            </a:pPr>
            <a:r>
              <a:rPr lang="en-US" dirty="0" smtClean="0"/>
              <a:t>Careless handling of machines causing breakdowns </a:t>
            </a:r>
          </a:p>
          <a:p>
            <a:pPr marL="514350" indent="-514350">
              <a:buFont typeface="+mj-lt"/>
              <a:buAutoNum type="arabicPeriod"/>
            </a:pPr>
            <a:r>
              <a:rPr lang="en-US" dirty="0" smtClean="0"/>
              <a:t>Spoilage and waste of supplies and materials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0108"/>
            <a:ext cx="8229600" cy="5126055"/>
          </a:xfrm>
        </p:spPr>
        <p:txBody>
          <a:bodyPr>
            <a:normAutofit/>
          </a:bodyPr>
          <a:lstStyle/>
          <a:p>
            <a:pPr marL="514350" indent="-514350">
              <a:buFont typeface="+mj-lt"/>
              <a:buAutoNum type="arabicPeriod" startAt="8"/>
            </a:pPr>
            <a:r>
              <a:rPr lang="en-US" dirty="0" smtClean="0"/>
              <a:t>Grievance </a:t>
            </a:r>
            <a:r>
              <a:rPr lang="en-US" dirty="0"/>
              <a:t>and </a:t>
            </a:r>
            <a:r>
              <a:rPr lang="en-US" dirty="0" smtClean="0"/>
              <a:t>complaint</a:t>
            </a:r>
          </a:p>
          <a:p>
            <a:pPr marL="514350" indent="-514350">
              <a:buFont typeface="+mj-lt"/>
              <a:buAutoNum type="arabicPeriod" startAt="8"/>
            </a:pPr>
            <a:r>
              <a:rPr lang="en-US" dirty="0" smtClean="0"/>
              <a:t>High </a:t>
            </a:r>
            <a:r>
              <a:rPr lang="en-US" dirty="0"/>
              <a:t>labor turnover </a:t>
            </a:r>
            <a:endParaRPr lang="en-US" dirty="0" smtClean="0"/>
          </a:p>
          <a:p>
            <a:pPr marL="514350" indent="-514350">
              <a:buFont typeface="+mj-lt"/>
              <a:buAutoNum type="arabicPeriod" startAt="8"/>
            </a:pPr>
            <a:r>
              <a:rPr lang="en-US" dirty="0" smtClean="0"/>
              <a:t>Rumors</a:t>
            </a:r>
            <a:r>
              <a:rPr lang="en-US" dirty="0"/>
              <a:t>, quarrels or fights </a:t>
            </a:r>
            <a:endParaRPr lang="en-US" dirty="0" smtClean="0"/>
          </a:p>
          <a:p>
            <a:pPr marL="514350" indent="-514350">
              <a:buFont typeface="+mj-lt"/>
              <a:buAutoNum type="arabicPeriod" startAt="8"/>
            </a:pPr>
            <a:r>
              <a:rPr lang="en-US" dirty="0" smtClean="0"/>
              <a:t>Frequent </a:t>
            </a:r>
            <a:r>
              <a:rPr lang="en-US" dirty="0"/>
              <a:t>violations of rules and </a:t>
            </a:r>
            <a:r>
              <a:rPr lang="en-US" dirty="0" smtClean="0"/>
              <a:t>regulation</a:t>
            </a:r>
          </a:p>
          <a:p>
            <a:pPr marL="514350" indent="-514350">
              <a:buFont typeface="+mj-lt"/>
              <a:buAutoNum type="arabicPeriod" startAt="8"/>
            </a:pPr>
            <a:r>
              <a:rPr lang="en-US" dirty="0" smtClean="0"/>
              <a:t>Lost </a:t>
            </a:r>
            <a:r>
              <a:rPr lang="en-US" dirty="0"/>
              <a:t>man-hours coz of long breaks and frequent trips to comfort rooms </a:t>
            </a:r>
            <a:endParaRPr lang="en-US" dirty="0" smtClean="0"/>
          </a:p>
          <a:p>
            <a:pPr marL="514350" indent="-514350">
              <a:buFont typeface="+mj-lt"/>
              <a:buAutoNum type="arabicPeriod" startAt="8"/>
            </a:pPr>
            <a:r>
              <a:rPr lang="en-US" dirty="0" smtClean="0"/>
              <a:t>Unsatisfactory </a:t>
            </a:r>
            <a:r>
              <a:rPr lang="en-US" dirty="0"/>
              <a:t>ratings in performance </a:t>
            </a:r>
            <a:r>
              <a:rPr lang="en-US" dirty="0" smtClean="0"/>
              <a:t>appraisal</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Reasons for Morale Problems</a:t>
            </a:r>
            <a:endParaRPr lang="en-US" dirty="0"/>
          </a:p>
        </p:txBody>
      </p:sp>
      <p:sp>
        <p:nvSpPr>
          <p:cNvPr id="3" name="Content Placeholder 2"/>
          <p:cNvSpPr>
            <a:spLocks noGrp="1"/>
          </p:cNvSpPr>
          <p:nvPr>
            <p:ph idx="1"/>
          </p:nvPr>
        </p:nvSpPr>
        <p:spPr/>
        <p:txBody>
          <a:bodyPr/>
          <a:lstStyle/>
          <a:p>
            <a:pPr>
              <a:buNone/>
            </a:pPr>
            <a:endParaRPr lang="en-US" dirty="0" smtClean="0"/>
          </a:p>
          <a:p>
            <a:pPr>
              <a:buFont typeface="Wingdings" pitchFamily="2" charset="2"/>
              <a:buChar char="§"/>
            </a:pPr>
            <a:r>
              <a:rPr lang="en-US" dirty="0" smtClean="0"/>
              <a:t> Poor management</a:t>
            </a:r>
          </a:p>
          <a:p>
            <a:pPr>
              <a:buFont typeface="Wingdings" pitchFamily="2" charset="2"/>
              <a:buChar char="§"/>
            </a:pPr>
            <a:r>
              <a:rPr lang="en-US" dirty="0" smtClean="0"/>
              <a:t> Job dissatisfaction</a:t>
            </a:r>
          </a:p>
          <a:p>
            <a:pPr>
              <a:buFont typeface="Wingdings" pitchFamily="2" charset="2"/>
              <a:buChar char="§"/>
            </a:pPr>
            <a:r>
              <a:rPr lang="en-US" dirty="0" smtClean="0"/>
              <a:t> Failure to meet important individual needs</a:t>
            </a:r>
          </a:p>
          <a:p>
            <a:pPr>
              <a:buFont typeface="Wingdings" pitchFamily="2" charset="2"/>
              <a:buChar char="§"/>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t>METHODS USED IN DETERMINING MORALE </a:t>
            </a:r>
            <a:endParaRPr lang="en-US" dirty="0"/>
          </a:p>
        </p:txBody>
      </p:sp>
      <p:sp>
        <p:nvSpPr>
          <p:cNvPr id="3" name="Content Placeholder 2"/>
          <p:cNvSpPr>
            <a:spLocks noGrp="1"/>
          </p:cNvSpPr>
          <p:nvPr>
            <p:ph idx="1"/>
          </p:nvPr>
        </p:nvSpPr>
        <p:spPr/>
        <p:txBody>
          <a:bodyPr>
            <a:normAutofit/>
          </a:bodyPr>
          <a:lstStyle/>
          <a:p>
            <a:pPr>
              <a:buNone/>
            </a:pPr>
            <a:r>
              <a:rPr lang="en-US" dirty="0" smtClean="0"/>
              <a:t>1. Counseling and exit interview</a:t>
            </a:r>
          </a:p>
          <a:p>
            <a:pPr>
              <a:buNone/>
            </a:pPr>
            <a:r>
              <a:rPr lang="en-US" dirty="0" smtClean="0"/>
              <a:t>2. Grievance procedure </a:t>
            </a:r>
          </a:p>
          <a:p>
            <a:pPr>
              <a:buNone/>
            </a:pPr>
            <a:r>
              <a:rPr lang="en-US" dirty="0" smtClean="0"/>
              <a:t>3. Spy system or “management informers”</a:t>
            </a:r>
          </a:p>
          <a:p>
            <a:pPr>
              <a:buNone/>
            </a:pPr>
            <a:r>
              <a:rPr lang="en-US" dirty="0" smtClean="0"/>
              <a:t> 4. Interview</a:t>
            </a:r>
          </a:p>
          <a:p>
            <a:pPr>
              <a:buNone/>
            </a:pPr>
            <a:r>
              <a:rPr lang="en-US" dirty="0" smtClean="0"/>
              <a:t> 5. Studying or reviewing the employees’ records</a:t>
            </a:r>
          </a:p>
          <a:p>
            <a:pPr>
              <a:buNone/>
            </a:pPr>
            <a:r>
              <a:rPr lang="en-US" dirty="0" smtClean="0"/>
              <a:t> 6. Observation</a:t>
            </a:r>
          </a:p>
          <a:p>
            <a:pPr>
              <a:buNone/>
            </a:pPr>
            <a:r>
              <a:rPr lang="en-US" dirty="0" smtClean="0"/>
              <a:t> 7. Attitude or Morale survey</a:t>
            </a:r>
          </a:p>
          <a:p>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lstStyle/>
          <a:p>
            <a:r>
              <a:rPr lang="en-US" dirty="0" smtClean="0"/>
              <a:t>Building Morale</a:t>
            </a:r>
            <a:endParaRPr lang="en-US" dirty="0"/>
          </a:p>
        </p:txBody>
      </p:sp>
      <p:sp>
        <p:nvSpPr>
          <p:cNvPr id="3" name="Content Placeholder 2"/>
          <p:cNvSpPr>
            <a:spLocks noGrp="1"/>
          </p:cNvSpPr>
          <p:nvPr>
            <p:ph idx="1"/>
          </p:nvPr>
        </p:nvSpPr>
        <p:spPr>
          <a:xfrm>
            <a:off x="457200" y="1357298"/>
            <a:ext cx="8229600" cy="4768865"/>
          </a:xfrm>
        </p:spPr>
        <p:txBody>
          <a:bodyPr>
            <a:normAutofit lnSpcReduction="10000"/>
          </a:bodyPr>
          <a:lstStyle/>
          <a:p>
            <a:pPr algn="just"/>
            <a:r>
              <a:rPr lang="en-US" dirty="0" smtClean="0"/>
              <a:t>The </a:t>
            </a:r>
            <a:r>
              <a:rPr lang="en-US" dirty="0"/>
              <a:t>individual most able to raise or lower individual </a:t>
            </a:r>
            <a:r>
              <a:rPr lang="en-US" dirty="0" smtClean="0"/>
              <a:t>and </a:t>
            </a:r>
            <a:r>
              <a:rPr lang="en-US" dirty="0"/>
              <a:t>departmental morale is the manager/supervisor </a:t>
            </a:r>
            <a:r>
              <a:rPr lang="en-US" dirty="0" smtClean="0"/>
              <a:t>through </a:t>
            </a:r>
            <a:r>
              <a:rPr lang="en-US" dirty="0"/>
              <a:t>leadership and open </a:t>
            </a:r>
            <a:r>
              <a:rPr lang="en-US" dirty="0" smtClean="0"/>
              <a:t>communication.</a:t>
            </a:r>
          </a:p>
          <a:p>
            <a:pPr algn="just"/>
            <a:r>
              <a:rPr lang="en-US" dirty="0" smtClean="0"/>
              <a:t>Key </a:t>
            </a:r>
            <a:r>
              <a:rPr lang="en-US" dirty="0"/>
              <a:t>considerations in building </a:t>
            </a:r>
            <a:r>
              <a:rPr lang="en-US" dirty="0" smtClean="0"/>
              <a:t>morale:</a:t>
            </a:r>
            <a:endParaRPr lang="en-US" dirty="0"/>
          </a:p>
          <a:p>
            <a:pPr marL="809625" indent="-360363" algn="just">
              <a:buFont typeface="Wingdings" pitchFamily="2" charset="2"/>
              <a:buChar char="§"/>
              <a:tabLst>
                <a:tab pos="449263" algn="l"/>
              </a:tabLst>
            </a:pPr>
            <a:r>
              <a:rPr lang="en-US" dirty="0" smtClean="0"/>
              <a:t>Salary</a:t>
            </a:r>
            <a:endParaRPr lang="en-US" dirty="0"/>
          </a:p>
          <a:p>
            <a:pPr marL="809625" indent="-360363" algn="just">
              <a:buFont typeface="Wingdings" pitchFamily="2" charset="2"/>
              <a:buChar char="§"/>
              <a:tabLst>
                <a:tab pos="449263" algn="l"/>
              </a:tabLst>
            </a:pPr>
            <a:r>
              <a:rPr lang="en-US" dirty="0" smtClean="0"/>
              <a:t>Quality </a:t>
            </a:r>
            <a:r>
              <a:rPr lang="en-US" dirty="0"/>
              <a:t>of </a:t>
            </a:r>
            <a:r>
              <a:rPr lang="en-US" dirty="0" smtClean="0"/>
              <a:t>supervision</a:t>
            </a:r>
            <a:endParaRPr lang="en-US" dirty="0"/>
          </a:p>
          <a:p>
            <a:pPr marL="809625" indent="-360363" algn="just">
              <a:buFont typeface="Wingdings" pitchFamily="2" charset="2"/>
              <a:buChar char="§"/>
              <a:tabLst>
                <a:tab pos="449263" algn="l"/>
              </a:tabLst>
            </a:pPr>
            <a:r>
              <a:rPr lang="en-US" dirty="0" smtClean="0"/>
              <a:t> </a:t>
            </a:r>
            <a:r>
              <a:rPr lang="en-US" dirty="0"/>
              <a:t>Organizational and public </a:t>
            </a:r>
            <a:r>
              <a:rPr lang="en-US" dirty="0" smtClean="0"/>
              <a:t>support</a:t>
            </a:r>
            <a:endParaRPr lang="en-US" dirty="0"/>
          </a:p>
          <a:p>
            <a:pPr marL="809625" indent="-360363" algn="just">
              <a:buFont typeface="Wingdings" pitchFamily="2" charset="2"/>
              <a:buChar char="§"/>
              <a:tabLst>
                <a:tab pos="449263" algn="l"/>
              </a:tabLst>
            </a:pPr>
            <a:r>
              <a:rPr lang="en-US" dirty="0" smtClean="0"/>
              <a:t> </a:t>
            </a:r>
            <a:r>
              <a:rPr lang="en-US" dirty="0"/>
              <a:t>Physical conditions at work</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lstStyle/>
          <a:p>
            <a:r>
              <a:rPr lang="en-US" dirty="0" smtClean="0"/>
              <a:t>MOTIVATION</a:t>
            </a:r>
            <a:endParaRPr lang="en-US" dirty="0"/>
          </a:p>
        </p:txBody>
      </p:sp>
      <p:sp>
        <p:nvSpPr>
          <p:cNvPr id="3" name="Content Placeholder 2"/>
          <p:cNvSpPr>
            <a:spLocks noGrp="1"/>
          </p:cNvSpPr>
          <p:nvPr>
            <p:ph idx="1"/>
          </p:nvPr>
        </p:nvSpPr>
        <p:spPr>
          <a:xfrm>
            <a:off x="457200" y="1285860"/>
            <a:ext cx="8229600" cy="4840303"/>
          </a:xfrm>
        </p:spPr>
        <p:txBody>
          <a:bodyPr>
            <a:normAutofit fontScale="92500" lnSpcReduction="10000"/>
          </a:bodyPr>
          <a:lstStyle/>
          <a:p>
            <a:pPr algn="just"/>
            <a:r>
              <a:rPr lang="en-US" dirty="0"/>
              <a:t>T</a:t>
            </a:r>
            <a:r>
              <a:rPr lang="en-US" dirty="0" smtClean="0"/>
              <a:t>he </a:t>
            </a:r>
            <a:r>
              <a:rPr lang="en-US" dirty="0"/>
              <a:t>word motivation is derived from </a:t>
            </a:r>
            <a:r>
              <a:rPr lang="en-US" dirty="0" smtClean="0"/>
              <a:t>the </a:t>
            </a:r>
            <a:r>
              <a:rPr lang="en-US" dirty="0"/>
              <a:t>word “motivate” which means to move, impel or induce to act to satisfy a need or want. </a:t>
            </a:r>
            <a:endParaRPr lang="en-US" dirty="0" smtClean="0"/>
          </a:p>
          <a:p>
            <a:pPr algn="just"/>
            <a:r>
              <a:rPr lang="en-US" dirty="0" smtClean="0"/>
              <a:t>It </a:t>
            </a:r>
            <a:r>
              <a:rPr lang="en-US" dirty="0"/>
              <a:t>is </a:t>
            </a:r>
            <a:r>
              <a:rPr lang="en-US" dirty="0" smtClean="0"/>
              <a:t>the </a:t>
            </a:r>
            <a:r>
              <a:rPr lang="en-US" dirty="0"/>
              <a:t>willingness to exert effort to achieve a goal or objective for reward</a:t>
            </a:r>
            <a:r>
              <a:rPr lang="en-US" dirty="0" smtClean="0"/>
              <a:t>.</a:t>
            </a:r>
          </a:p>
          <a:p>
            <a:pPr algn="just"/>
            <a:r>
              <a:rPr lang="en-US" dirty="0" smtClean="0"/>
              <a:t>Motivation is defined as a process of satisfying the wants and needs of the employees and inducing, encouraging and helping the employees to perform their assigned jobs more enthusiastically for the effective achievement of the organizational goals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lstStyle/>
          <a:p>
            <a:r>
              <a:rPr lang="en-US" dirty="0" smtClean="0"/>
              <a:t>TYPESOF MOTIVATION </a:t>
            </a:r>
            <a:endParaRPr lang="en-US" dirty="0"/>
          </a:p>
        </p:txBody>
      </p:sp>
      <p:sp>
        <p:nvSpPr>
          <p:cNvPr id="3" name="Content Placeholder 2"/>
          <p:cNvSpPr>
            <a:spLocks noGrp="1"/>
          </p:cNvSpPr>
          <p:nvPr>
            <p:ph idx="1"/>
          </p:nvPr>
        </p:nvSpPr>
        <p:spPr>
          <a:xfrm>
            <a:off x="457200" y="1428736"/>
            <a:ext cx="8229600" cy="4697427"/>
          </a:xfrm>
        </p:spPr>
        <p:txBody>
          <a:bodyPr>
            <a:normAutofit fontScale="85000" lnSpcReduction="20000"/>
          </a:bodyPr>
          <a:lstStyle/>
          <a:p>
            <a:pPr algn="just">
              <a:buNone/>
            </a:pPr>
            <a:r>
              <a:rPr lang="en-US" sz="3300" b="1" dirty="0" smtClean="0"/>
              <a:t>POSITIVE </a:t>
            </a:r>
            <a:r>
              <a:rPr lang="en-US" sz="3300" b="1" dirty="0"/>
              <a:t>MOTIVATION </a:t>
            </a:r>
            <a:endParaRPr lang="en-US" sz="3300" dirty="0" smtClean="0"/>
          </a:p>
          <a:p>
            <a:pPr algn="just"/>
            <a:r>
              <a:rPr lang="en-US" sz="3300" dirty="0" smtClean="0"/>
              <a:t> Human </a:t>
            </a:r>
            <a:r>
              <a:rPr lang="en-US" sz="3300" dirty="0"/>
              <a:t>relations or leadership approach whereby subordinates enthusiastically follow the leader’s will </a:t>
            </a:r>
            <a:r>
              <a:rPr lang="en-US" sz="3300" dirty="0" smtClean="0"/>
              <a:t>cause </a:t>
            </a:r>
            <a:r>
              <a:rPr lang="en-US" sz="3300" dirty="0"/>
              <a:t>of some possible gain, reward or satisfaction they expect to get such as feeling of achievement, sense of responsibility, appreciation, promotion etc</a:t>
            </a:r>
            <a:r>
              <a:rPr lang="en-US" sz="3300" dirty="0" smtClean="0"/>
              <a:t>.</a:t>
            </a:r>
          </a:p>
          <a:p>
            <a:pPr algn="just">
              <a:buNone/>
            </a:pPr>
            <a:r>
              <a:rPr lang="en-US" sz="3300" b="1" dirty="0" smtClean="0"/>
              <a:t>NEGATIVE </a:t>
            </a:r>
            <a:r>
              <a:rPr lang="en-US" sz="3300" b="1" dirty="0"/>
              <a:t>MOTIVATION </a:t>
            </a:r>
            <a:endParaRPr lang="en-US" sz="3300" b="1" dirty="0" smtClean="0"/>
          </a:p>
          <a:p>
            <a:pPr algn="just"/>
            <a:r>
              <a:rPr lang="en-US" sz="3300" dirty="0"/>
              <a:t>I</a:t>
            </a:r>
            <a:r>
              <a:rPr lang="en-US" sz="3300" dirty="0" smtClean="0"/>
              <a:t>nfluences </a:t>
            </a:r>
            <a:r>
              <a:rPr lang="en-US" sz="3300" dirty="0"/>
              <a:t>others to follow the leader’s will, but not </a:t>
            </a:r>
            <a:r>
              <a:rPr lang="en-US" sz="3300" dirty="0" smtClean="0"/>
              <a:t>cause </a:t>
            </a:r>
            <a:r>
              <a:rPr lang="en-US" sz="3300" dirty="0"/>
              <a:t>of any expected advantage but of fear of punishment or the application of certain sanctions such as losing some money or status, recognition, or even one’s job.</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t>POSITIVE FACTORS IN MOTIVATING PEOPLE</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1. Money </a:t>
            </a:r>
          </a:p>
          <a:p>
            <a:pPr>
              <a:buNone/>
            </a:pPr>
            <a:r>
              <a:rPr lang="en-US" dirty="0" smtClean="0"/>
              <a:t>2. Job security </a:t>
            </a:r>
          </a:p>
          <a:p>
            <a:pPr>
              <a:buNone/>
            </a:pPr>
            <a:r>
              <a:rPr lang="en-US" dirty="0" smtClean="0"/>
              <a:t>3. Praise and recognition </a:t>
            </a:r>
          </a:p>
          <a:p>
            <a:pPr>
              <a:buNone/>
            </a:pPr>
            <a:r>
              <a:rPr lang="en-US" dirty="0" smtClean="0"/>
              <a:t>4. Sense of belonging</a:t>
            </a:r>
          </a:p>
          <a:p>
            <a:pPr>
              <a:buNone/>
            </a:pPr>
            <a:r>
              <a:rPr lang="en-US" dirty="0" smtClean="0"/>
              <a:t> 5. Competition </a:t>
            </a:r>
          </a:p>
          <a:p>
            <a:pPr>
              <a:buNone/>
            </a:pPr>
            <a:r>
              <a:rPr lang="en-US" dirty="0" smtClean="0"/>
              <a:t>6. Delegation of responsibility and authority</a:t>
            </a:r>
          </a:p>
          <a:p>
            <a:pPr>
              <a:buNone/>
            </a:pPr>
            <a:r>
              <a:rPr lang="en-US" dirty="0" smtClean="0"/>
              <a:t> 7. Employee participation </a:t>
            </a:r>
          </a:p>
          <a:p>
            <a:pPr>
              <a:buNone/>
            </a:pPr>
            <a:r>
              <a:rPr lang="en-US" dirty="0" smtClean="0"/>
              <a:t>8. Sincere interest in subordinate</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US" sz="4000" dirty="0" smtClean="0"/>
              <a:t>EFFECTSOF MOTIVATION </a:t>
            </a:r>
            <a:endParaRPr lang="en-US" dirty="0"/>
          </a:p>
        </p:txBody>
      </p:sp>
      <p:sp>
        <p:nvSpPr>
          <p:cNvPr id="3" name="Content Placeholder 2"/>
          <p:cNvSpPr>
            <a:spLocks noGrp="1"/>
          </p:cNvSpPr>
          <p:nvPr>
            <p:ph idx="1"/>
          </p:nvPr>
        </p:nvSpPr>
        <p:spPr>
          <a:xfrm>
            <a:off x="457200" y="1142984"/>
            <a:ext cx="8229600" cy="5286412"/>
          </a:xfrm>
        </p:spPr>
        <p:txBody>
          <a:bodyPr>
            <a:noAutofit/>
          </a:bodyPr>
          <a:lstStyle/>
          <a:p>
            <a:pPr marL="457200" indent="-457200" algn="just">
              <a:buFont typeface="+mj-lt"/>
              <a:buAutoNum type="arabicPeriod"/>
            </a:pPr>
            <a:r>
              <a:rPr lang="en-US" sz="2300" dirty="0" smtClean="0"/>
              <a:t>Move </a:t>
            </a:r>
            <a:r>
              <a:rPr lang="en-US" sz="2300" dirty="0"/>
              <a:t>and act to follow </a:t>
            </a:r>
            <a:r>
              <a:rPr lang="en-US" sz="2300" dirty="0" smtClean="0"/>
              <a:t>the </a:t>
            </a:r>
            <a:r>
              <a:rPr lang="en-US" sz="2300" dirty="0"/>
              <a:t>direction desired by management </a:t>
            </a:r>
            <a:endParaRPr lang="en-US" sz="2300" dirty="0" smtClean="0"/>
          </a:p>
          <a:p>
            <a:pPr marL="457200" indent="-457200" algn="just">
              <a:buFont typeface="+mj-lt"/>
              <a:buAutoNum type="arabicPeriod"/>
            </a:pPr>
            <a:r>
              <a:rPr lang="en-US" sz="2300" dirty="0" smtClean="0"/>
              <a:t> </a:t>
            </a:r>
            <a:r>
              <a:rPr lang="en-US" sz="2300" dirty="0"/>
              <a:t>Achieve high output and produce good quality products and services </a:t>
            </a:r>
            <a:endParaRPr lang="en-US" sz="2300" dirty="0" smtClean="0"/>
          </a:p>
          <a:p>
            <a:pPr marL="457200" indent="-457200" algn="just">
              <a:buFont typeface="+mj-lt"/>
              <a:buAutoNum type="arabicPeriod"/>
            </a:pPr>
            <a:r>
              <a:rPr lang="en-US" sz="2300" dirty="0" smtClean="0"/>
              <a:t> </a:t>
            </a:r>
            <a:r>
              <a:rPr lang="en-US" sz="2300" dirty="0"/>
              <a:t>More careful in </a:t>
            </a:r>
            <a:r>
              <a:rPr lang="en-US" sz="2300" dirty="0" smtClean="0"/>
              <a:t>the </a:t>
            </a:r>
            <a:r>
              <a:rPr lang="en-US" sz="2300" dirty="0"/>
              <a:t>use and care of machines and </a:t>
            </a:r>
            <a:r>
              <a:rPr lang="en-US" sz="2300" dirty="0" smtClean="0"/>
              <a:t>equipment</a:t>
            </a:r>
            <a:r>
              <a:rPr lang="en-US" sz="2300" dirty="0"/>
              <a:t>, avoid or prevent accidents, and minimize or prevent losses or </a:t>
            </a:r>
            <a:r>
              <a:rPr lang="en-US" sz="2300" dirty="0" smtClean="0"/>
              <a:t>waste</a:t>
            </a:r>
          </a:p>
          <a:p>
            <a:pPr marL="457200" indent="-457200" algn="just">
              <a:buFont typeface="+mj-lt"/>
              <a:buAutoNum type="arabicPeriod"/>
            </a:pPr>
            <a:r>
              <a:rPr lang="en-US" sz="2300" dirty="0" smtClean="0"/>
              <a:t> </a:t>
            </a:r>
            <a:r>
              <a:rPr lang="en-US" sz="2300" dirty="0"/>
              <a:t>Accept willingly the changes made by the management provided that the changes to be made has been previously explained and understood by them and proper training is provided to adjust them to the change </a:t>
            </a:r>
            <a:endParaRPr lang="en-US" sz="2300" dirty="0" smtClean="0"/>
          </a:p>
          <a:p>
            <a:pPr marL="457200" indent="-457200" algn="just">
              <a:buFont typeface="+mj-lt"/>
              <a:buAutoNum type="arabicPeriod"/>
            </a:pPr>
            <a:r>
              <a:rPr lang="en-US" sz="2300" dirty="0" smtClean="0"/>
              <a:t>Willingly </a:t>
            </a:r>
            <a:r>
              <a:rPr lang="en-US" sz="2300" dirty="0"/>
              <a:t>respond in times of emergencies or during rush periods or occasions requiring special effort, overtime, and the like </a:t>
            </a:r>
            <a:endParaRPr lang="en-US" sz="2300" dirty="0" smtClean="0"/>
          </a:p>
          <a:p>
            <a:pPr marL="457200" indent="-457200" algn="just">
              <a:buFont typeface="+mj-lt"/>
              <a:buAutoNum type="arabicPeriod"/>
            </a:pPr>
            <a:r>
              <a:rPr lang="en-US" sz="2300" dirty="0" smtClean="0"/>
              <a:t> </a:t>
            </a:r>
            <a:r>
              <a:rPr lang="en-US" sz="2300" dirty="0"/>
              <a:t>Problems of disciplines are minimized</a:t>
            </a:r>
          </a:p>
          <a:p>
            <a:pPr marL="457200" indent="-457200" algn="just">
              <a:buFont typeface="+mj-lt"/>
              <a:buAutoNum type="arabicPeriod"/>
            </a:pPr>
            <a:endParaRPr 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motivation </a:t>
            </a:r>
            <a:endParaRPr lang="en-US" dirty="0"/>
          </a:p>
        </p:txBody>
      </p:sp>
      <p:sp>
        <p:nvSpPr>
          <p:cNvPr id="3" name="Content Placeholder 2"/>
          <p:cNvSpPr>
            <a:spLocks noGrp="1"/>
          </p:cNvSpPr>
          <p:nvPr>
            <p:ph idx="1"/>
          </p:nvPr>
        </p:nvSpPr>
        <p:spPr/>
        <p:txBody>
          <a:bodyPr/>
          <a:lstStyle/>
          <a:p>
            <a:pPr>
              <a:buNone/>
            </a:pPr>
            <a:r>
              <a:rPr lang="en-US" dirty="0" smtClean="0"/>
              <a:t>Motivation </a:t>
            </a:r>
            <a:r>
              <a:rPr lang="en-US" dirty="0"/>
              <a:t>is essential </a:t>
            </a:r>
            <a:r>
              <a:rPr lang="en-US" dirty="0" smtClean="0"/>
              <a:t>because: </a:t>
            </a:r>
          </a:p>
          <a:p>
            <a:r>
              <a:rPr lang="en-US" dirty="0" smtClean="0"/>
              <a:t> Motivated </a:t>
            </a:r>
            <a:r>
              <a:rPr lang="en-US" dirty="0"/>
              <a:t>employees are always looking for better ways to do a job. </a:t>
            </a:r>
          </a:p>
          <a:p>
            <a:r>
              <a:rPr lang="en-US" dirty="0" smtClean="0"/>
              <a:t>A </a:t>
            </a:r>
            <a:r>
              <a:rPr lang="en-US" dirty="0"/>
              <a:t>motivated employee generally is more quality oriented </a:t>
            </a:r>
            <a:endParaRPr lang="en-US" dirty="0" smtClean="0"/>
          </a:p>
          <a:p>
            <a:r>
              <a:rPr lang="en-US" dirty="0" smtClean="0"/>
              <a:t>Highly </a:t>
            </a:r>
            <a:r>
              <a:rPr lang="en-US" dirty="0"/>
              <a:t>motivated workers are more productive than apathetic employees </a:t>
            </a:r>
            <a:endParaRPr lang="en-US"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Motivational Theories</a:t>
            </a:r>
            <a:endParaRPr lang="en-US" dirty="0"/>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GB" dirty="0" smtClean="0"/>
              <a:t>Explain  the concept of theories and what is contain within</a:t>
            </a:r>
          </a:p>
          <a:p>
            <a:endParaRPr lang="en-GB"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Vroom theory</a:t>
            </a:r>
            <a:endParaRPr lang="en-US" dirty="0"/>
          </a:p>
        </p:txBody>
      </p:sp>
      <p:sp>
        <p:nvSpPr>
          <p:cNvPr id="3" name="Content Placeholder 2"/>
          <p:cNvSpPr>
            <a:spLocks noGrp="1"/>
          </p:cNvSpPr>
          <p:nvPr>
            <p:ph idx="1"/>
          </p:nvPr>
        </p:nvSpPr>
        <p:spPr/>
        <p:txBody>
          <a:bodyPr/>
          <a:lstStyle/>
          <a:p>
            <a:r>
              <a:rPr lang="en-GB" dirty="0" smtClean="0"/>
              <a:t>Person motivation to provide some effort in accomplishing  a work is a function of :</a:t>
            </a:r>
          </a:p>
          <a:p>
            <a:r>
              <a:rPr lang="en-GB" dirty="0" smtClean="0"/>
              <a:t>Expectancy(</a:t>
            </a:r>
            <a:r>
              <a:rPr lang="en-GB" dirty="0" err="1" smtClean="0"/>
              <a:t>propababiliy</a:t>
            </a:r>
            <a:r>
              <a:rPr lang="en-GB" dirty="0" smtClean="0"/>
              <a:t> of paid effort)</a:t>
            </a:r>
          </a:p>
          <a:p>
            <a:r>
              <a:rPr lang="en-GB" dirty="0" smtClean="0"/>
              <a:t>Instrumentality(perceived connection </a:t>
            </a:r>
            <a:r>
              <a:rPr lang="en-GB" dirty="0" err="1" smtClean="0"/>
              <a:t>btn</a:t>
            </a:r>
            <a:r>
              <a:rPr lang="en-GB" dirty="0" smtClean="0"/>
              <a:t> performance and reward</a:t>
            </a:r>
          </a:p>
          <a:p>
            <a:r>
              <a:rPr lang="en-GB" dirty="0" smtClean="0"/>
              <a:t>Valence ( perceived value of the reward)</a:t>
            </a:r>
          </a:p>
          <a:p>
            <a:pPr>
              <a:buFont typeface="Wingdings" pitchFamily="2" charset="2"/>
              <a:buChar char="Ø"/>
            </a:pPr>
            <a:r>
              <a:rPr lang="en-GB" dirty="0" smtClean="0"/>
              <a:t>Incentive and rewards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 Incentive  and rewards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incentive</a:t>
            </a:r>
            <a:r>
              <a:rPr lang="en-US" dirty="0" smtClean="0"/>
              <a:t> is a motivational factor, which constantly encourages the employee to do better in their work.</a:t>
            </a:r>
          </a:p>
          <a:p>
            <a:r>
              <a:rPr lang="en-GB" dirty="0" smtClean="0"/>
              <a:t>Its objective is to </a:t>
            </a:r>
            <a:r>
              <a:rPr lang="en-US" dirty="0" smtClean="0"/>
              <a:t>appreciate and recognize people for the work done</a:t>
            </a:r>
          </a:p>
          <a:p>
            <a:r>
              <a:rPr lang="en-US" dirty="0" smtClean="0"/>
              <a:t>It can be  of monetary or non monetary value which grabs the attention of employees and instigates them to work continuously for achieving it</a:t>
            </a:r>
          </a:p>
          <a:p>
            <a:r>
              <a:rPr lang="en-GB" dirty="0" smtClean="0"/>
              <a:t>It pre determine  and arranged by organization </a:t>
            </a:r>
            <a:endParaRPr lang="en-US" dirty="0" smtClean="0"/>
          </a:p>
          <a:p>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 </a:t>
            </a:r>
            <a:r>
              <a:rPr lang="en-US" b="1" dirty="0" smtClean="0"/>
              <a:t>reward</a:t>
            </a:r>
            <a:r>
              <a:rPr lang="en-US" dirty="0" smtClean="0"/>
              <a:t> is a prize, which an employer gives to his/her employees for performing the job exceptionally</a:t>
            </a:r>
          </a:p>
          <a:p>
            <a:r>
              <a:rPr lang="en-GB" dirty="0" smtClean="0"/>
              <a:t>Its objective is to </a:t>
            </a:r>
            <a:r>
              <a:rPr lang="en-US" dirty="0" smtClean="0"/>
              <a:t>motivate employees to achieve something.</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Incentive plans</a:t>
            </a:r>
            <a:endParaRPr lang="en-US" dirty="0"/>
          </a:p>
        </p:txBody>
      </p:sp>
      <p:sp>
        <p:nvSpPr>
          <p:cNvPr id="3" name="Content Placeholder 2"/>
          <p:cNvSpPr>
            <a:spLocks noGrp="1"/>
          </p:cNvSpPr>
          <p:nvPr>
            <p:ph idx="1"/>
          </p:nvPr>
        </p:nvSpPr>
        <p:spPr/>
        <p:txBody>
          <a:bodyPr>
            <a:noAutofit/>
          </a:bodyPr>
          <a:lstStyle/>
          <a:p>
            <a:pPr algn="just"/>
            <a:r>
              <a:rPr lang="en-GB" dirty="0" smtClean="0"/>
              <a:t>Variable pay(team or group incentive plan)</a:t>
            </a:r>
          </a:p>
          <a:p>
            <a:pPr algn="just"/>
            <a:r>
              <a:rPr lang="en-GB" dirty="0" smtClean="0"/>
              <a:t>Individual employee incentive and recognition program</a:t>
            </a:r>
          </a:p>
          <a:p>
            <a:pPr algn="just"/>
            <a:r>
              <a:rPr lang="en-GB" dirty="0" smtClean="0"/>
              <a:t>Sales compensations program</a:t>
            </a:r>
          </a:p>
          <a:p>
            <a:pPr algn="just"/>
            <a:r>
              <a:rPr lang="en-GB" dirty="0" smtClean="0"/>
              <a:t>Organization wide incentive program</a:t>
            </a:r>
          </a:p>
          <a:p>
            <a:pPr algn="just"/>
            <a:r>
              <a:rPr lang="en-GB" dirty="0" smtClean="0"/>
              <a:t>Executive incentive compensations program</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Individual employee incentive and recognition program</a:t>
            </a:r>
            <a:br>
              <a:rPr lang="en-GB" dirty="0" smtClean="0"/>
            </a:br>
            <a:endParaRPr lang="en-US" dirty="0"/>
          </a:p>
        </p:txBody>
      </p:sp>
      <p:sp>
        <p:nvSpPr>
          <p:cNvPr id="3" name="Content Placeholder 2"/>
          <p:cNvSpPr>
            <a:spLocks noGrp="1"/>
          </p:cNvSpPr>
          <p:nvPr>
            <p:ph idx="1"/>
          </p:nvPr>
        </p:nvSpPr>
        <p:spPr/>
        <p:txBody>
          <a:bodyPr>
            <a:normAutofit fontScale="92500" lnSpcReduction="10000"/>
          </a:bodyPr>
          <a:lstStyle/>
          <a:p>
            <a:pPr marL="514350" indent="-514350">
              <a:buFont typeface="Wingdings" pitchFamily="2" charset="2"/>
              <a:buChar char="v"/>
            </a:pPr>
            <a:r>
              <a:rPr lang="en-GB" b="1" dirty="0" smtClean="0"/>
              <a:t>Peace work plan</a:t>
            </a:r>
            <a:r>
              <a:rPr lang="en-GB" dirty="0" smtClean="0"/>
              <a:t>. The workers paid a sum for each unit produced </a:t>
            </a:r>
          </a:p>
          <a:p>
            <a:r>
              <a:rPr lang="en-GB" dirty="0" smtClean="0"/>
              <a:t>Example if a sales parson 0.4 </a:t>
            </a:r>
            <a:r>
              <a:rPr lang="en-GB" dirty="0" err="1" smtClean="0"/>
              <a:t>shs</a:t>
            </a:r>
            <a:r>
              <a:rPr lang="en-GB" dirty="0" smtClean="0"/>
              <a:t> for each new customer  brought to the firm, he would get 40sh if he bring 100 customer and 80 </a:t>
            </a:r>
            <a:r>
              <a:rPr lang="en-GB" dirty="0" err="1" smtClean="0"/>
              <a:t>sh</a:t>
            </a:r>
            <a:r>
              <a:rPr lang="en-GB" dirty="0" smtClean="0"/>
              <a:t> for 200 customers </a:t>
            </a:r>
          </a:p>
          <a:p>
            <a:pPr marL="809625" indent="-269875">
              <a:buFont typeface="Wingdings" pitchFamily="2" charset="2"/>
              <a:buChar char="q"/>
            </a:pPr>
            <a:r>
              <a:rPr lang="en-GB" dirty="0" smtClean="0"/>
              <a:t>Straight peace work plan</a:t>
            </a:r>
          </a:p>
          <a:p>
            <a:pPr marL="360363" indent="-360363"/>
            <a:r>
              <a:rPr lang="en-GB" dirty="0" smtClean="0"/>
              <a:t>A person is paid a sum for each  item he produce  with a strict proportionally  </a:t>
            </a:r>
            <a:r>
              <a:rPr lang="en-GB" dirty="0" err="1" smtClean="0"/>
              <a:t>btn</a:t>
            </a:r>
            <a:r>
              <a:rPr lang="en-GB" dirty="0" smtClean="0"/>
              <a:t> results and rewards regardless of output</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92500" lnSpcReduction="20000"/>
          </a:bodyPr>
          <a:lstStyle/>
          <a:p>
            <a:pPr algn="just"/>
            <a:r>
              <a:rPr lang="en-GB" sz="3000" b="1" dirty="0" smtClean="0"/>
              <a:t>Example</a:t>
            </a:r>
            <a:r>
              <a:rPr lang="en-GB" sz="3000" dirty="0" smtClean="0"/>
              <a:t>. Sales person bring 30 customer per day instead of standard 20 per day. His piece rate for more than 25 customer might be 0.45 </a:t>
            </a:r>
            <a:r>
              <a:rPr lang="en-GB" sz="3000" dirty="0" err="1" smtClean="0"/>
              <a:t>shs</a:t>
            </a:r>
            <a:endParaRPr lang="en-GB" sz="3000" dirty="0" smtClean="0"/>
          </a:p>
          <a:p>
            <a:pPr algn="just"/>
            <a:r>
              <a:rPr lang="en-GB" sz="3000" b="1" dirty="0" smtClean="0"/>
              <a:t>Pros and cons</a:t>
            </a:r>
          </a:p>
          <a:p>
            <a:r>
              <a:rPr lang="en-GB" sz="3000" b="1" dirty="0" smtClean="0"/>
              <a:t>Pros:</a:t>
            </a:r>
          </a:p>
          <a:p>
            <a:pPr marL="719138" indent="-358775">
              <a:buFont typeface="Wingdings" pitchFamily="2" charset="2"/>
              <a:buChar char="§"/>
            </a:pPr>
            <a:r>
              <a:rPr lang="en-GB" sz="3000" dirty="0" smtClean="0"/>
              <a:t>It understandable</a:t>
            </a:r>
          </a:p>
          <a:p>
            <a:pPr marL="719138" indent="-358775">
              <a:buFont typeface="Wingdings" pitchFamily="2" charset="2"/>
              <a:buChar char="§"/>
            </a:pPr>
            <a:r>
              <a:rPr lang="en-GB" sz="3000" dirty="0" smtClean="0"/>
              <a:t>Equitable and </a:t>
            </a:r>
          </a:p>
          <a:p>
            <a:pPr marL="719138" indent="-358775">
              <a:buFont typeface="Wingdings" pitchFamily="2" charset="2"/>
              <a:buChar char="§"/>
            </a:pPr>
            <a:r>
              <a:rPr lang="en-GB" sz="3000" dirty="0" smtClean="0"/>
              <a:t>powerful incentive</a:t>
            </a:r>
          </a:p>
          <a:p>
            <a:r>
              <a:rPr lang="en-GB" sz="3000" b="1" dirty="0" smtClean="0"/>
              <a:t>Cons:</a:t>
            </a:r>
          </a:p>
          <a:p>
            <a:pPr marL="719138" indent="-358775">
              <a:buFont typeface="Wingdings" pitchFamily="2" charset="2"/>
              <a:buChar char="§"/>
            </a:pPr>
            <a:r>
              <a:rPr lang="en-GB" sz="3000" dirty="0" smtClean="0"/>
              <a:t>Employees are not care with quality and changing job</a:t>
            </a:r>
          </a:p>
          <a:p>
            <a:pPr marL="719138" indent="-358775">
              <a:buFont typeface="Wingdings" pitchFamily="2" charset="2"/>
              <a:buChar char="§"/>
            </a:pPr>
            <a:r>
              <a:rPr lang="en-GB" sz="3000" dirty="0" smtClean="0"/>
              <a:t>Resistance to new technology or process</a:t>
            </a:r>
          </a:p>
          <a:p>
            <a:pPr marL="719138" indent="-358775">
              <a:buFont typeface="Wingdings" pitchFamily="2" charset="2"/>
              <a:buChar char="§"/>
            </a:pPr>
            <a:r>
              <a:rPr lang="en-GB" sz="3000" dirty="0" smtClean="0"/>
              <a:t>Rigidity</a:t>
            </a:r>
          </a:p>
          <a:p>
            <a:pPr algn="just"/>
            <a:endParaRPr lang="en-US" sz="3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68931"/>
          </a:xfrm>
        </p:spPr>
        <p:txBody>
          <a:bodyPr>
            <a:normAutofit fontScale="92500" lnSpcReduction="20000"/>
          </a:bodyPr>
          <a:lstStyle/>
          <a:p>
            <a:pPr marL="630238" indent="-269875">
              <a:buFont typeface="Wingdings" pitchFamily="2" charset="2"/>
              <a:buChar char="q"/>
            </a:pPr>
            <a:r>
              <a:rPr lang="en-GB" dirty="0" smtClean="0"/>
              <a:t>The standard hour plan:</a:t>
            </a:r>
          </a:p>
          <a:p>
            <a:pPr marL="269875" indent="-179388"/>
            <a:r>
              <a:rPr lang="en-GB" dirty="0" smtClean="0"/>
              <a:t> A worker paid premium  equal to the percent by which his performance exceed the standard</a:t>
            </a:r>
          </a:p>
          <a:p>
            <a:pPr marL="269875" indent="-179388"/>
            <a:r>
              <a:rPr lang="en-GB" dirty="0" smtClean="0"/>
              <a:t>Example . If engineer  standard output is 160 per day ( 64 </a:t>
            </a:r>
            <a:r>
              <a:rPr lang="en-GB" dirty="0" err="1" smtClean="0"/>
              <a:t>sh</a:t>
            </a:r>
            <a:r>
              <a:rPr lang="en-GB" dirty="0" smtClean="0"/>
              <a:t> per day) and produced 200 he is given 25% 0r 80 </a:t>
            </a:r>
            <a:r>
              <a:rPr lang="en-GB" dirty="0" err="1" smtClean="0"/>
              <a:t>sh</a:t>
            </a:r>
            <a:r>
              <a:rPr lang="en-GB" dirty="0" smtClean="0"/>
              <a:t> for the day</a:t>
            </a:r>
          </a:p>
          <a:p>
            <a:pPr marL="269875" indent="-179388">
              <a:buFont typeface="Wingdings" pitchFamily="2" charset="2"/>
              <a:buChar char="v"/>
            </a:pPr>
            <a:r>
              <a:rPr lang="en-GB" dirty="0" smtClean="0"/>
              <a:t>Merit pay/merit rise: is refers to any salary increase the firm awards to an individual employees based on individual performance</a:t>
            </a:r>
          </a:p>
          <a:p>
            <a:pPr marL="449263" indent="-88900">
              <a:buFont typeface="Wingdings" pitchFamily="2" charset="2"/>
              <a:buChar char="q"/>
            </a:pPr>
            <a:r>
              <a:rPr lang="en-GB" dirty="0" smtClean="0"/>
              <a:t>Recognition based award</a:t>
            </a:r>
          </a:p>
          <a:p>
            <a:pPr marL="449263" indent="-88900">
              <a:buNone/>
            </a:pPr>
            <a:r>
              <a:rPr lang="en-GB" dirty="0" smtClean="0"/>
              <a:t>recognition found to have positive impact on performance</a:t>
            </a:r>
            <a:endParaRPr lang="en-US" dirty="0" smtClean="0"/>
          </a:p>
          <a:p>
            <a:pPr marL="449263" indent="-88900">
              <a:buFont typeface="Wingdings" pitchFamily="2" charset="2"/>
              <a:buChar char="q"/>
            </a:pP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Sales compensation plan</a:t>
            </a:r>
            <a:endParaRPr lang="en-US" dirty="0"/>
          </a:p>
        </p:txBody>
      </p:sp>
      <p:sp>
        <p:nvSpPr>
          <p:cNvPr id="3" name="Content Placeholder 2"/>
          <p:cNvSpPr>
            <a:spLocks noGrp="1"/>
          </p:cNvSpPr>
          <p:nvPr>
            <p:ph idx="1"/>
          </p:nvPr>
        </p:nvSpPr>
        <p:spPr>
          <a:xfrm>
            <a:off x="457200" y="1214422"/>
            <a:ext cx="8229600" cy="4911741"/>
          </a:xfrm>
        </p:spPr>
        <p:txBody>
          <a:bodyPr>
            <a:normAutofit fontScale="92500"/>
          </a:bodyPr>
          <a:lstStyle/>
          <a:p>
            <a:r>
              <a:rPr lang="en-GB" dirty="0" smtClean="0"/>
              <a:t>It rely in the form of: </a:t>
            </a:r>
          </a:p>
          <a:p>
            <a:pPr indent="376238">
              <a:buFont typeface="Wingdings" pitchFamily="2" charset="2"/>
              <a:buChar char="§"/>
            </a:pPr>
            <a:r>
              <a:rPr lang="en-GB" dirty="0" smtClean="0"/>
              <a:t>sales commission</a:t>
            </a:r>
          </a:p>
          <a:p>
            <a:pPr indent="376238">
              <a:buFont typeface="Wingdings" pitchFamily="2" charset="2"/>
              <a:buChar char="§"/>
            </a:pPr>
            <a:r>
              <a:rPr lang="en-GB" dirty="0" smtClean="0"/>
              <a:t>Salary</a:t>
            </a:r>
          </a:p>
          <a:p>
            <a:pPr indent="376238">
              <a:buFont typeface="Wingdings" pitchFamily="2" charset="2"/>
              <a:buChar char="§"/>
            </a:pPr>
            <a:r>
              <a:rPr lang="en-GB" dirty="0" smtClean="0"/>
              <a:t>Combination of salary and commission</a:t>
            </a:r>
          </a:p>
          <a:p>
            <a:pPr marL="90488" indent="269875">
              <a:buFont typeface="Wingdings" pitchFamily="2" charset="2"/>
              <a:buChar char="q"/>
              <a:tabLst>
                <a:tab pos="90488" algn="l"/>
              </a:tabLst>
            </a:pPr>
            <a:r>
              <a:rPr lang="en-GB" b="1" dirty="0" smtClean="0"/>
              <a:t>Commission plan </a:t>
            </a:r>
            <a:r>
              <a:rPr lang="en-GB" dirty="0" smtClean="0"/>
              <a:t>: Pay sales people for results and only results</a:t>
            </a:r>
          </a:p>
          <a:p>
            <a:pPr marL="90488" indent="269875">
              <a:tabLst>
                <a:tab pos="90488" algn="l"/>
              </a:tabLst>
            </a:pPr>
            <a:r>
              <a:rPr lang="en-GB" dirty="0" smtClean="0"/>
              <a:t>Pros: it is easy to understand and compute</a:t>
            </a:r>
          </a:p>
          <a:p>
            <a:pPr marL="90488" indent="269875">
              <a:tabLst>
                <a:tab pos="90488" algn="l"/>
              </a:tabLst>
            </a:pPr>
            <a:r>
              <a:rPr lang="en-GB" dirty="0" smtClean="0"/>
              <a:t>Cons :  </a:t>
            </a:r>
            <a:r>
              <a:rPr lang="en-GB" dirty="0" err="1" smtClean="0"/>
              <a:t>neglegat</a:t>
            </a:r>
            <a:r>
              <a:rPr lang="en-GB" dirty="0" smtClean="0"/>
              <a:t> of non selling duties, cultivating dedicated customer, it induce turnover </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68931"/>
          </a:xfrm>
        </p:spPr>
        <p:txBody>
          <a:bodyPr/>
          <a:lstStyle/>
          <a:p>
            <a:pPr>
              <a:buFont typeface="Wingdings" pitchFamily="2" charset="2"/>
              <a:buChar char="q"/>
            </a:pPr>
            <a:r>
              <a:rPr lang="en-GB" b="1" dirty="0" smtClean="0"/>
              <a:t>Salary plan</a:t>
            </a:r>
            <a:r>
              <a:rPr lang="en-GB" dirty="0" smtClean="0"/>
              <a:t>: Is the payment of fixed salaries. Straight salaries is suitable when the main job is to finding new clients.</a:t>
            </a:r>
          </a:p>
          <a:p>
            <a:r>
              <a:rPr lang="en-GB" dirty="0" smtClean="0"/>
              <a:t>Pros: simple to location or reassigning sales people, it forester loyalty</a:t>
            </a:r>
          </a:p>
          <a:p>
            <a:r>
              <a:rPr lang="en-GB" dirty="0" smtClean="0"/>
              <a:t>Cons: pay is not proportional to results resulted to demotion of potentially high performers.</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lstStyle/>
          <a:p>
            <a:pPr>
              <a:buFont typeface="Wingdings" pitchFamily="2" charset="2"/>
              <a:buChar char="q"/>
            </a:pPr>
            <a:r>
              <a:rPr lang="en-GB" b="1" dirty="0" smtClean="0"/>
              <a:t>Combination plan</a:t>
            </a:r>
            <a:r>
              <a:rPr lang="en-GB" dirty="0" smtClean="0"/>
              <a:t>: is the combination of salary  and combination it split of 80%  salary to 20% incentives</a:t>
            </a:r>
          </a:p>
          <a:p>
            <a:r>
              <a:rPr lang="en-GB" dirty="0" smtClean="0"/>
              <a:t>Pros : give sales people a floor to their earnings and provide incentive</a:t>
            </a:r>
          </a:p>
          <a:p>
            <a:r>
              <a:rPr lang="en-GB" dirty="0" smtClean="0"/>
              <a:t>Cons : complicated, can results to misunderstanding </a:t>
            </a:r>
          </a:p>
          <a:p>
            <a:pPr>
              <a:buFont typeface="Wingdings" pitchFamily="2" charset="2"/>
              <a:buChar char="q"/>
            </a:pPr>
            <a:r>
              <a:rPr lang="en-GB" dirty="0" smtClean="0"/>
              <a:t>Setting sales quota</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smtClean="0"/>
              <a:t>Team/ group variable pay incentive plan</a:t>
            </a:r>
            <a:endParaRPr lang="en-US" sz="3600" b="1" dirty="0"/>
          </a:p>
        </p:txBody>
      </p:sp>
      <p:sp>
        <p:nvSpPr>
          <p:cNvPr id="3" name="Content Placeholder 2"/>
          <p:cNvSpPr>
            <a:spLocks noGrp="1"/>
          </p:cNvSpPr>
          <p:nvPr>
            <p:ph idx="1"/>
          </p:nvPr>
        </p:nvSpPr>
        <p:spPr/>
        <p:txBody>
          <a:bodyPr>
            <a:normAutofit fontScale="92500" lnSpcReduction="20000"/>
          </a:bodyPr>
          <a:lstStyle/>
          <a:p>
            <a:r>
              <a:rPr lang="en-GB" dirty="0" smtClean="0"/>
              <a:t>In this plan incentive is paid to the team based on the team performance. It can be done by:</a:t>
            </a:r>
          </a:p>
          <a:p>
            <a:pPr marL="449263" indent="-88900">
              <a:buFont typeface="Wingdings" pitchFamily="2" charset="2"/>
              <a:buChar char="Ø"/>
            </a:pPr>
            <a:r>
              <a:rPr lang="en-GB" dirty="0" smtClean="0"/>
              <a:t> setting work standard for each team member and calculate member output. </a:t>
            </a:r>
          </a:p>
          <a:p>
            <a:pPr marL="719138" indent="0">
              <a:buFont typeface="Wingdings" pitchFamily="2" charset="2"/>
              <a:buChar char="§"/>
            </a:pPr>
            <a:r>
              <a:rPr lang="en-GB" dirty="0" smtClean="0"/>
              <a:t>All member received pay earn by highest producer or</a:t>
            </a:r>
          </a:p>
          <a:p>
            <a:pPr marL="719138" indent="0">
              <a:buFont typeface="Wingdings" pitchFamily="2" charset="2"/>
              <a:buChar char="§"/>
            </a:pPr>
            <a:r>
              <a:rPr lang="en-GB" dirty="0" smtClean="0"/>
              <a:t>All member received pay earn by lowest  producer or</a:t>
            </a:r>
          </a:p>
          <a:p>
            <a:pPr marL="719138" indent="0">
              <a:buFont typeface="Wingdings" pitchFamily="2" charset="2"/>
              <a:buChar char="§"/>
            </a:pPr>
            <a:r>
              <a:rPr lang="en-GB" dirty="0" smtClean="0"/>
              <a:t>All member received pay equal to average pay earned by group</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92500" lnSpcReduction="20000"/>
          </a:bodyPr>
          <a:lstStyle/>
          <a:p>
            <a:pPr indent="376238">
              <a:buFont typeface="Wingdings" pitchFamily="2" charset="2"/>
              <a:buChar char="Ø"/>
              <a:tabLst>
                <a:tab pos="630238" algn="l"/>
              </a:tabLst>
            </a:pPr>
            <a:r>
              <a:rPr lang="en-GB" dirty="0" smtClean="0"/>
              <a:t>Setting an engineering standard production standard based on output of the group as whole. Where</a:t>
            </a:r>
          </a:p>
          <a:p>
            <a:pPr marL="539750" indent="179388">
              <a:buFont typeface="Wingdings" pitchFamily="2" charset="2"/>
              <a:buChar char="§"/>
              <a:tabLst>
                <a:tab pos="809625" algn="l"/>
              </a:tabLst>
            </a:pPr>
            <a:r>
              <a:rPr lang="en-GB" dirty="0" smtClean="0"/>
              <a:t>All member received equal pay based on piece rate for the group job</a:t>
            </a:r>
          </a:p>
          <a:p>
            <a:pPr marL="360363" indent="358775">
              <a:buFont typeface="Wingdings" pitchFamily="2" charset="2"/>
              <a:buChar char="Ø"/>
              <a:tabLst>
                <a:tab pos="809625" algn="l"/>
              </a:tabLst>
            </a:pPr>
            <a:r>
              <a:rPr lang="en-GB" dirty="0" smtClean="0"/>
              <a:t>Tied a reward to goals based some overall standard of group performance ( total labour hr per final product).</a:t>
            </a:r>
          </a:p>
          <a:p>
            <a:pPr marL="0" indent="269875">
              <a:tabLst>
                <a:tab pos="360363" algn="l"/>
              </a:tabLst>
            </a:pPr>
            <a:r>
              <a:rPr lang="en-GB" dirty="0" smtClean="0"/>
              <a:t>Pros: reinforce  team planning and problem solving, ensure collaboration, facilitate training</a:t>
            </a:r>
          </a:p>
          <a:p>
            <a:pPr marL="0" indent="269875">
              <a:tabLst>
                <a:tab pos="360363" algn="l"/>
              </a:tabLst>
            </a:pPr>
            <a:r>
              <a:rPr lang="en-GB" dirty="0" smtClean="0"/>
              <a:t>Cons : Payment to workers may not proportionally to his own effort</a:t>
            </a:r>
          </a:p>
          <a:p>
            <a:pPr marL="360363" indent="358775">
              <a:buFont typeface="Wingdings" pitchFamily="2" charset="2"/>
              <a:buChar char="Ø"/>
              <a:tabLst>
                <a:tab pos="809625" algn="l"/>
              </a:tabLst>
            </a:pP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428604"/>
            <a:ext cx="7943880" cy="857256"/>
          </a:xfrm>
        </p:spPr>
        <p:txBody>
          <a:bodyPr>
            <a:normAutofit/>
          </a:bodyPr>
          <a:lstStyle/>
          <a:p>
            <a:r>
              <a:rPr lang="en-GB" dirty="0" smtClean="0"/>
              <a:t>Organization variable pay plan</a:t>
            </a:r>
            <a:endParaRPr lang="en-US" dirty="0"/>
          </a:p>
        </p:txBody>
      </p:sp>
      <p:sp>
        <p:nvSpPr>
          <p:cNvPr id="3" name="Content Placeholder 2"/>
          <p:cNvSpPr>
            <a:spLocks noGrp="1"/>
          </p:cNvSpPr>
          <p:nvPr>
            <p:ph idx="1"/>
          </p:nvPr>
        </p:nvSpPr>
        <p:spPr>
          <a:xfrm>
            <a:off x="428596" y="1357298"/>
            <a:ext cx="8229600" cy="4883153"/>
          </a:xfrm>
        </p:spPr>
        <p:txBody>
          <a:bodyPr>
            <a:normAutofit fontScale="85000" lnSpcReduction="20000"/>
          </a:bodyPr>
          <a:lstStyle/>
          <a:p>
            <a:pPr algn="just">
              <a:buFont typeface="Wingdings" pitchFamily="2" charset="2"/>
              <a:buChar char="§"/>
            </a:pPr>
            <a:r>
              <a:rPr lang="en-GB" dirty="0" smtClean="0"/>
              <a:t>Profit sharing plan</a:t>
            </a:r>
          </a:p>
          <a:p>
            <a:pPr algn="just">
              <a:buFont typeface="Wingdings" pitchFamily="2" charset="2"/>
              <a:buChar char="§"/>
            </a:pPr>
            <a:r>
              <a:rPr lang="en-GB" dirty="0" smtClean="0"/>
              <a:t>Employee stock ownership</a:t>
            </a:r>
          </a:p>
          <a:p>
            <a:pPr algn="just">
              <a:buFont typeface="Wingdings" pitchFamily="2" charset="2"/>
              <a:buChar char="§"/>
            </a:pPr>
            <a:r>
              <a:rPr lang="en-GB" dirty="0" smtClean="0"/>
              <a:t>Scanlon/gain sharing plans</a:t>
            </a:r>
          </a:p>
          <a:p>
            <a:pPr marL="715963" indent="-274638" algn="just">
              <a:buFont typeface="Wingdings" pitchFamily="2" charset="2"/>
              <a:buChar char="q"/>
              <a:tabLst>
                <a:tab pos="715963" algn="l"/>
              </a:tabLst>
            </a:pPr>
            <a:r>
              <a:rPr lang="en-GB" dirty="0" smtClean="0"/>
              <a:t>Profit sharing plan: Is the plan where employee have a share in company profit.</a:t>
            </a:r>
          </a:p>
          <a:p>
            <a:pPr marL="898525" indent="-457200" algn="just">
              <a:buFont typeface="Wingdings" pitchFamily="2" charset="2"/>
              <a:buChar char="§"/>
            </a:pPr>
            <a:r>
              <a:rPr lang="en-GB" dirty="0" smtClean="0"/>
              <a:t>In cash plan: Firm provide % of profit as a profit share to employee at regular interval</a:t>
            </a:r>
          </a:p>
          <a:p>
            <a:pPr marL="898525" indent="-457200" algn="just">
              <a:buFont typeface="Wingdings" pitchFamily="2" charset="2"/>
              <a:buChar char="§"/>
            </a:pPr>
            <a:r>
              <a:rPr lang="en-GB" dirty="0" smtClean="0"/>
              <a:t>The </a:t>
            </a:r>
            <a:r>
              <a:rPr lang="en-GB" dirty="0" err="1" smtClean="0"/>
              <a:t>Lincon</a:t>
            </a:r>
            <a:r>
              <a:rPr lang="en-GB" dirty="0" smtClean="0"/>
              <a:t> incentive system: it based on guarantee basis where  annual net  profit distributed each year to the employee on their merit rating</a:t>
            </a:r>
          </a:p>
          <a:p>
            <a:pPr marL="898525" indent="-457200" algn="just">
              <a:buFont typeface="Wingdings" pitchFamily="2" charset="2"/>
              <a:buChar char="§"/>
            </a:pPr>
            <a:r>
              <a:rPr lang="en-GB" dirty="0" smtClean="0"/>
              <a:t>Differed profit sharing plan: firm place pre determine portion of profit in each employees account under trustee supervisor </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6072230"/>
          </a:xfrm>
        </p:spPr>
        <p:txBody>
          <a:bodyPr>
            <a:noAutofit/>
          </a:bodyPr>
          <a:lstStyle/>
          <a:p>
            <a:pPr algn="just">
              <a:buFont typeface="Wingdings" pitchFamily="2" charset="2"/>
              <a:buChar char="q"/>
            </a:pPr>
            <a:r>
              <a:rPr lang="en-GB" sz="2700" b="1" dirty="0" smtClean="0"/>
              <a:t>Employee stock ownership plan (ESOP): </a:t>
            </a:r>
            <a:r>
              <a:rPr lang="en-GB" sz="2700" dirty="0" smtClean="0"/>
              <a:t>firm contribute share of its own  stock to a trust in which additional contribution are made annually. The trust distribute the stock to the employees on retirement or separation form the service.</a:t>
            </a:r>
          </a:p>
          <a:p>
            <a:pPr algn="just">
              <a:buFont typeface="Wingdings" pitchFamily="2" charset="2"/>
              <a:buChar char="q"/>
            </a:pPr>
            <a:r>
              <a:rPr lang="en-GB" sz="2700" b="1" dirty="0" smtClean="0"/>
              <a:t>Scanlon/ </a:t>
            </a:r>
            <a:r>
              <a:rPr lang="en-GB" sz="2700" b="1" dirty="0" err="1" smtClean="0"/>
              <a:t>gainsharing</a:t>
            </a:r>
            <a:r>
              <a:rPr lang="en-GB" sz="2700" b="1" dirty="0" smtClean="0"/>
              <a:t> plan </a:t>
            </a:r>
            <a:r>
              <a:rPr lang="en-GB" sz="2700" dirty="0" smtClean="0"/>
              <a:t>: is a plan help to synchronize employees and company goal  to ensure the two goal are overlap. </a:t>
            </a:r>
          </a:p>
          <a:p>
            <a:pPr algn="just"/>
            <a:r>
              <a:rPr lang="en-GB" sz="2700" dirty="0" smtClean="0"/>
              <a:t>It based on the following features</a:t>
            </a:r>
          </a:p>
          <a:p>
            <a:pPr marL="539750" indent="-179388" algn="just">
              <a:buFont typeface="Wingdings" pitchFamily="2" charset="2"/>
              <a:buChar char="§"/>
            </a:pPr>
            <a:r>
              <a:rPr lang="en-GB" sz="2700" dirty="0" smtClean="0"/>
              <a:t>Managers and subordinate must rid themselves of the us and them to develop ownership sense to the employees</a:t>
            </a:r>
          </a:p>
          <a:p>
            <a:pPr marL="539750" indent="-179388" algn="just">
              <a:buFont typeface="Wingdings" pitchFamily="2" charset="2"/>
              <a:buChar char="§"/>
            </a:pPr>
            <a:r>
              <a:rPr lang="en-GB" sz="2700" dirty="0" smtClean="0"/>
              <a:t>Identity-focus on employee involvement ( employees understand the mission vision and org operation</a:t>
            </a:r>
            <a:r>
              <a:rPr lang="en-GB" sz="2800" dirty="0" smtClean="0"/>
              <a: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68931"/>
          </a:xfrm>
        </p:spPr>
        <p:txBody>
          <a:bodyPr>
            <a:normAutofit fontScale="92500"/>
          </a:bodyPr>
          <a:lstStyle/>
          <a:p>
            <a:pPr marL="539750" indent="-179388" algn="just">
              <a:buFont typeface="Wingdings" pitchFamily="2" charset="2"/>
              <a:buChar char="§"/>
            </a:pPr>
            <a:r>
              <a:rPr lang="en-GB" dirty="0" smtClean="0"/>
              <a:t>competency</a:t>
            </a:r>
          </a:p>
          <a:p>
            <a:pPr marL="539750" indent="-179388" algn="just">
              <a:buFont typeface="Wingdings" pitchFamily="2" charset="2"/>
              <a:buChar char="§"/>
            </a:pPr>
            <a:r>
              <a:rPr lang="en-GB" dirty="0" smtClean="0"/>
              <a:t>Involvement system-employees provide improvement suggestion to management  and mgt take consideration of it</a:t>
            </a:r>
          </a:p>
          <a:p>
            <a:pPr marL="539750" indent="-179388" algn="just">
              <a:buFont typeface="Wingdings" pitchFamily="2" charset="2"/>
              <a:buChar char="§"/>
            </a:pPr>
            <a:r>
              <a:rPr lang="en-GB" dirty="0" smtClean="0"/>
              <a:t>Sharing benefit formula( 75% to employee, 25% to firm for success suggestion)</a:t>
            </a:r>
          </a:p>
          <a:p>
            <a:endParaRPr lang="en-GB" dirty="0" smtClean="0"/>
          </a:p>
          <a:p>
            <a:pPr>
              <a:buFont typeface="Wingdings" pitchFamily="2" charset="2"/>
              <a:buChar char="q"/>
            </a:pPr>
            <a:r>
              <a:rPr lang="en-GB" b="1" dirty="0" smtClean="0"/>
              <a:t>At risk variable pay plan</a:t>
            </a:r>
            <a:r>
              <a:rPr lang="en-GB" dirty="0" smtClean="0"/>
              <a:t>: is the plan that put some portion of the  employee weakly pay  at risk subject to the firm meeting’s its financial goal.</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Incentive for manager and executives </a:t>
            </a:r>
            <a:endParaRPr lang="en-US" dirty="0"/>
          </a:p>
        </p:txBody>
      </p:sp>
      <p:sp>
        <p:nvSpPr>
          <p:cNvPr id="3" name="Content Placeholder 2"/>
          <p:cNvSpPr>
            <a:spLocks noGrp="1"/>
          </p:cNvSpPr>
          <p:nvPr>
            <p:ph idx="1"/>
          </p:nvPr>
        </p:nvSpPr>
        <p:spPr>
          <a:xfrm>
            <a:off x="457200" y="1357298"/>
            <a:ext cx="8229600" cy="4768865"/>
          </a:xfrm>
        </p:spPr>
        <p:txBody>
          <a:bodyPr>
            <a:normAutofit fontScale="92500" lnSpcReduction="20000"/>
          </a:bodyPr>
          <a:lstStyle/>
          <a:p>
            <a:r>
              <a:rPr lang="en-GB" dirty="0" smtClean="0"/>
              <a:t>Short term incentive plan( the annual bonus</a:t>
            </a:r>
          </a:p>
          <a:p>
            <a:r>
              <a:rPr lang="en-GB" dirty="0" smtClean="0"/>
              <a:t>Long term incentive plan.</a:t>
            </a:r>
          </a:p>
          <a:p>
            <a:pPr>
              <a:buFont typeface="Wingdings" pitchFamily="2" charset="2"/>
              <a:buChar char="q"/>
            </a:pPr>
            <a:r>
              <a:rPr lang="en-GB" b="1" dirty="0" smtClean="0"/>
              <a:t>Short term incentive </a:t>
            </a:r>
            <a:r>
              <a:rPr lang="en-GB" dirty="0" smtClean="0"/>
              <a:t>: is the plan design to motivate short term performance of  managers and executives  are tied to company profitability( +/- of the total pay)</a:t>
            </a:r>
          </a:p>
          <a:p>
            <a:r>
              <a:rPr lang="en-GB" dirty="0" smtClean="0"/>
              <a:t>Thing to consider:</a:t>
            </a:r>
          </a:p>
          <a:p>
            <a:pPr marL="719138" indent="-179388">
              <a:buFont typeface="Wingdings" pitchFamily="2" charset="2"/>
              <a:buChar char="§"/>
            </a:pPr>
            <a:r>
              <a:rPr lang="en-GB" dirty="0" smtClean="0"/>
              <a:t>Eligibility( who is entitle)</a:t>
            </a:r>
          </a:p>
          <a:p>
            <a:pPr marL="719138" indent="-179388">
              <a:buFont typeface="Wingdings" pitchFamily="2" charset="2"/>
              <a:buChar char="§"/>
            </a:pPr>
            <a:r>
              <a:rPr lang="en-GB" dirty="0" smtClean="0"/>
              <a:t>Fund size( amount of bonus to make available)</a:t>
            </a:r>
          </a:p>
          <a:p>
            <a:pPr marL="719138" indent="-179388">
              <a:buFont typeface="Wingdings" pitchFamily="2" charset="2"/>
              <a:buChar char="§"/>
            </a:pPr>
            <a:r>
              <a:rPr lang="en-GB" dirty="0" smtClean="0"/>
              <a:t>Individual award( should it base to individual performance or organizational performance)</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428604"/>
            <a:ext cx="8229600" cy="5983311"/>
          </a:xfrm>
        </p:spPr>
        <p:txBody>
          <a:bodyPr>
            <a:noAutofit/>
          </a:bodyPr>
          <a:lstStyle/>
          <a:p>
            <a:pPr algn="just"/>
            <a:r>
              <a:rPr lang="en-GB" sz="2600" b="1" dirty="0" smtClean="0"/>
              <a:t>Long term incentives: </a:t>
            </a:r>
            <a:r>
              <a:rPr lang="en-GB" sz="2600" dirty="0" smtClean="0"/>
              <a:t>is the plan that encourage executives to stay with  company for long period.</a:t>
            </a:r>
          </a:p>
          <a:p>
            <a:pPr marL="539750" indent="-360363" algn="just">
              <a:buFont typeface="Wingdings" pitchFamily="2" charset="2"/>
              <a:buChar char="q"/>
            </a:pPr>
            <a:r>
              <a:rPr lang="en-GB" sz="2600" b="1" dirty="0" smtClean="0"/>
              <a:t>Golden handcuf</a:t>
            </a:r>
            <a:r>
              <a:rPr lang="en-GB" sz="2600" dirty="0" smtClean="0"/>
              <a:t>f-org accumulate capital for its executives</a:t>
            </a:r>
          </a:p>
          <a:p>
            <a:pPr marL="539750" indent="-360363" algn="just">
              <a:buFont typeface="Wingdings" pitchFamily="2" charset="2"/>
              <a:buChar char="q"/>
            </a:pPr>
            <a:r>
              <a:rPr lang="en-GB" sz="2600" b="1" dirty="0" smtClean="0"/>
              <a:t>Stock option</a:t>
            </a:r>
            <a:r>
              <a:rPr lang="en-GB" sz="2600" dirty="0" smtClean="0"/>
              <a:t>: the right to purchase  a  stated number of share  of a company stock  at today price at some time in the future</a:t>
            </a:r>
          </a:p>
          <a:p>
            <a:pPr marL="539750" indent="-360363" algn="just">
              <a:buFont typeface="Wingdings" pitchFamily="2" charset="2"/>
              <a:buChar char="q"/>
            </a:pPr>
            <a:r>
              <a:rPr lang="en-GB" sz="2600" b="1" dirty="0" smtClean="0"/>
              <a:t>Performance plan</a:t>
            </a:r>
            <a:r>
              <a:rPr lang="en-GB" sz="2600" dirty="0" smtClean="0"/>
              <a:t>: is  a plan whose payment  is a contingent  of financial performance measured against objective set at the start of a multi year period. </a:t>
            </a:r>
          </a:p>
          <a:p>
            <a:pPr marL="539750" indent="-360363" algn="just">
              <a:buFont typeface="Wingdings" pitchFamily="2" charset="2"/>
              <a:buChar char="q"/>
            </a:pPr>
            <a:r>
              <a:rPr lang="en-GB" sz="2600" b="1" dirty="0" smtClean="0"/>
              <a:t>Golden parachute: </a:t>
            </a:r>
            <a:r>
              <a:rPr lang="en-GB" sz="2600" dirty="0" smtClean="0"/>
              <a:t>payment that org make in connection with a change of ownership or control of the company. It persuade the executive to stay with the company</a:t>
            </a:r>
            <a:endParaRPr lang="en-US" sz="26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incentive plan fail</a:t>
            </a:r>
            <a:endParaRPr lang="en-US" dirty="0"/>
          </a:p>
        </p:txBody>
      </p:sp>
      <p:sp>
        <p:nvSpPr>
          <p:cNvPr id="3" name="Content Placeholder 2"/>
          <p:cNvSpPr>
            <a:spLocks noGrp="1"/>
          </p:cNvSpPr>
          <p:nvPr>
            <p:ph idx="1"/>
          </p:nvPr>
        </p:nvSpPr>
        <p:spPr/>
        <p:txBody>
          <a:bodyPr>
            <a:normAutofit fontScale="92500" lnSpcReduction="10000"/>
          </a:bodyPr>
          <a:lstStyle/>
          <a:p>
            <a:r>
              <a:rPr lang="en-GB" dirty="0" smtClean="0"/>
              <a:t>Performance pay can not replace good management </a:t>
            </a:r>
          </a:p>
          <a:p>
            <a:r>
              <a:rPr lang="en-GB" dirty="0" smtClean="0"/>
              <a:t>You get what you pay for ( rush </a:t>
            </a:r>
            <a:r>
              <a:rPr lang="en-GB" dirty="0" err="1" smtClean="0"/>
              <a:t>pdn</a:t>
            </a:r>
            <a:r>
              <a:rPr lang="en-GB" dirty="0" smtClean="0"/>
              <a:t> lower quality)</a:t>
            </a:r>
          </a:p>
          <a:p>
            <a:r>
              <a:rPr lang="en-GB" dirty="0" smtClean="0"/>
              <a:t>Pay is not a motivator </a:t>
            </a:r>
          </a:p>
          <a:p>
            <a:r>
              <a:rPr lang="en-GB" dirty="0" smtClean="0"/>
              <a:t>Reward punish </a:t>
            </a:r>
          </a:p>
          <a:p>
            <a:r>
              <a:rPr lang="en-GB" dirty="0" smtClean="0"/>
              <a:t>Reward rupture relationship-</a:t>
            </a:r>
          </a:p>
          <a:p>
            <a:r>
              <a:rPr lang="en-GB" dirty="0" smtClean="0"/>
              <a:t>Reward can have un intended consequences</a:t>
            </a:r>
          </a:p>
          <a:p>
            <a:r>
              <a:rPr lang="en-GB" dirty="0" smtClean="0"/>
              <a:t>Reward may undermine responsiveness</a:t>
            </a:r>
          </a:p>
          <a:p>
            <a:r>
              <a:rPr lang="en-GB" dirty="0" smtClean="0"/>
              <a:t>Rewards undermine intrinsic  motivation </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Benefit and service</a:t>
            </a:r>
            <a:endParaRPr lang="en-US" dirty="0"/>
          </a:p>
        </p:txBody>
      </p:sp>
      <p:sp>
        <p:nvSpPr>
          <p:cNvPr id="3" name="Content Placeholder 2"/>
          <p:cNvSpPr>
            <a:spLocks noGrp="1"/>
          </p:cNvSpPr>
          <p:nvPr>
            <p:ph idx="1"/>
          </p:nvPr>
        </p:nvSpPr>
        <p:spPr>
          <a:xfrm>
            <a:off x="457200" y="1142984"/>
            <a:ext cx="8229600" cy="4983179"/>
          </a:xfrm>
        </p:spPr>
        <p:txBody>
          <a:bodyPr>
            <a:normAutofit fontScale="85000" lnSpcReduction="10000"/>
          </a:bodyPr>
          <a:lstStyle/>
          <a:p>
            <a:r>
              <a:rPr lang="en-US" dirty="0" smtClean="0"/>
              <a:t>The provision of benefits and services can be and are important in maintain the employees and reducing the turnover and absenteeism low.</a:t>
            </a:r>
          </a:p>
          <a:p>
            <a:r>
              <a:rPr lang="en-US" dirty="0" smtClean="0"/>
              <a:t>The purpose of such benefits is to retain people in the organization and stimulate them to greater effort and higher performance.</a:t>
            </a:r>
          </a:p>
          <a:p>
            <a:r>
              <a:rPr lang="en-US" dirty="0" smtClean="0"/>
              <a:t>They foster loyalty and act as a security base for the employee.</a:t>
            </a:r>
          </a:p>
          <a:p>
            <a:r>
              <a:rPr lang="en-GB" b="1" dirty="0" smtClean="0"/>
              <a:t>Benefit</a:t>
            </a:r>
            <a:r>
              <a:rPr lang="en-GB" dirty="0" smtClean="0"/>
              <a:t> : is the indirect financial and nonfinancial payment employees  receive for continuing  their employment  with the company.</a:t>
            </a:r>
            <a:r>
              <a:rPr lang="en-US" dirty="0" smtClean="0"/>
              <a:t> It design to enhance recruitment and to boost the morale of the employees</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Employee benefit and service</a:t>
            </a:r>
            <a:endParaRPr lang="en-US" dirty="0"/>
          </a:p>
        </p:txBody>
      </p:sp>
      <p:sp>
        <p:nvSpPr>
          <p:cNvPr id="4" name="Content Placeholder 3"/>
          <p:cNvSpPr>
            <a:spLocks noGrp="1"/>
          </p:cNvSpPr>
          <p:nvPr>
            <p:ph idx="1"/>
          </p:nvPr>
        </p:nvSpPr>
        <p:spPr/>
        <p:txBody>
          <a:bodyPr>
            <a:normAutofit fontScale="92500" lnSpcReduction="10000"/>
          </a:bodyPr>
          <a:lstStyle/>
          <a:p>
            <a:r>
              <a:rPr lang="en-GB" dirty="0" smtClean="0"/>
              <a:t>Benefit : is the indirect financial and nonfinancial payment employees  receive for continuing  their employment  with the company.</a:t>
            </a:r>
            <a:r>
              <a:rPr lang="en-US" dirty="0" smtClean="0"/>
              <a:t> It design to enhance recruitment and to boost the morale of the employees.</a:t>
            </a:r>
            <a:r>
              <a:rPr lang="en-GB" dirty="0" smtClean="0"/>
              <a:t> It includes :</a:t>
            </a:r>
          </a:p>
          <a:p>
            <a:pPr marL="719138" indent="-88900"/>
            <a:r>
              <a:rPr lang="en-GB" dirty="0" smtClean="0"/>
              <a:t>Health  insurance</a:t>
            </a:r>
          </a:p>
          <a:p>
            <a:pPr marL="719138" indent="-88900"/>
            <a:r>
              <a:rPr lang="en-GB" dirty="0" smtClean="0"/>
              <a:t>Pension</a:t>
            </a:r>
          </a:p>
          <a:p>
            <a:pPr marL="719138" indent="-88900"/>
            <a:r>
              <a:rPr lang="en-GB" dirty="0" smtClean="0"/>
              <a:t>Time off with pay</a:t>
            </a:r>
          </a:p>
          <a:p>
            <a:pPr marL="719138" indent="-88900"/>
            <a:r>
              <a:rPr lang="en-GB" dirty="0" smtClean="0"/>
              <a:t>Child care facility </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6000792"/>
          </a:xfrm>
        </p:spPr>
        <p:txBody>
          <a:bodyPr>
            <a:noAutofit/>
          </a:bodyPr>
          <a:lstStyle/>
          <a:p>
            <a:pPr marL="719138" indent="-88900">
              <a:buNone/>
            </a:pPr>
            <a:endParaRPr lang="en-GB" sz="2400" b="1" dirty="0" smtClean="0"/>
          </a:p>
          <a:p>
            <a:pPr algn="just"/>
            <a:r>
              <a:rPr lang="en-US" sz="3600" b="1" dirty="0" smtClean="0"/>
              <a:t>Why Organizations Provide Benefits</a:t>
            </a:r>
          </a:p>
          <a:p>
            <a:pPr algn="just"/>
            <a:r>
              <a:rPr lang="en-US" sz="3600" dirty="0" smtClean="0"/>
              <a:t>Employee demand: To meet rising prices and increased cost of living employees</a:t>
            </a:r>
          </a:p>
          <a:p>
            <a:pPr algn="just"/>
            <a:r>
              <a:rPr lang="en-US" sz="3600" dirty="0" smtClean="0"/>
              <a:t>Trade union demands: The growth and strength of trade unions has substantial influence on the benefits and services a company offers</a:t>
            </a:r>
          </a:p>
          <a:p>
            <a:pPr algn="just"/>
            <a:r>
              <a:rPr lang="en-US" sz="3600" dirty="0" smtClean="0"/>
              <a:t> Employer’s preferences: to encourage employee morale</a:t>
            </a:r>
          </a:p>
          <a:p>
            <a:pPr>
              <a:buNone/>
            </a:pPr>
            <a:endParaRPr 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 services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addition to fringe benefits, organizations also provide services that employees find desirable at low or no cost</a:t>
            </a:r>
          </a:p>
          <a:p>
            <a:endParaRPr lang="en-US" dirty="0" smtClean="0"/>
          </a:p>
          <a:p>
            <a:r>
              <a:rPr lang="en-US" dirty="0" smtClean="0"/>
              <a:t>These services include:</a:t>
            </a:r>
          </a:p>
          <a:p>
            <a:r>
              <a:rPr lang="en-US" dirty="0" smtClean="0"/>
              <a:t>Services related to type of work performed- includes subsidies for the purchase and upkeep of work clothing and uniform. </a:t>
            </a:r>
          </a:p>
          <a:p>
            <a:r>
              <a:rPr lang="en-US" dirty="0" smtClean="0"/>
              <a:t> Eating facilities, transportation facilities, child care facilities housing services, financial and legal services, recreational, cultural and social programs educational services , medical services etc</a:t>
            </a:r>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GB" sz="3200" dirty="0" smtClean="0"/>
              <a:t>Factors influencing decision to set up a particular employee benefit and service program </a:t>
            </a:r>
            <a:endParaRPr lang="en-US" sz="3200" dirty="0"/>
          </a:p>
        </p:txBody>
      </p:sp>
      <p:sp>
        <p:nvSpPr>
          <p:cNvPr id="3" name="Content Placeholder 2"/>
          <p:cNvSpPr>
            <a:spLocks noGrp="1"/>
          </p:cNvSpPr>
          <p:nvPr>
            <p:ph idx="1"/>
          </p:nvPr>
        </p:nvSpPr>
        <p:spPr/>
        <p:txBody>
          <a:bodyPr/>
          <a:lstStyle/>
          <a:p>
            <a:r>
              <a:rPr lang="en-GB" dirty="0" smtClean="0"/>
              <a:t>Cost,</a:t>
            </a:r>
          </a:p>
          <a:p>
            <a:r>
              <a:rPr lang="en-GB" dirty="0" smtClean="0"/>
              <a:t>Ability to pay, </a:t>
            </a:r>
          </a:p>
          <a:p>
            <a:r>
              <a:rPr lang="en-GB" dirty="0" smtClean="0"/>
              <a:t>Need of the employees,</a:t>
            </a:r>
          </a:p>
          <a:p>
            <a:r>
              <a:rPr lang="en-GB" dirty="0" smtClean="0"/>
              <a:t> Bargaining strength  of the trade union</a:t>
            </a:r>
          </a:p>
          <a:p>
            <a:r>
              <a:rPr lang="en-GB" dirty="0" smtClean="0"/>
              <a:t>Tax consideration,</a:t>
            </a:r>
          </a:p>
          <a:p>
            <a:r>
              <a:rPr lang="en-GB" dirty="0" smtClean="0"/>
              <a:t>Social responsibility</a:t>
            </a:r>
          </a:p>
          <a:p>
            <a:r>
              <a:rPr lang="en-GB" dirty="0" smtClean="0"/>
              <a:t>Reaction of employees</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trends in compensation benefits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New Trends in Compensation Management The following are the new trends in compensation management </a:t>
            </a:r>
          </a:p>
          <a:p>
            <a:r>
              <a:rPr lang="en-US" dirty="0" smtClean="0"/>
              <a:t>Group </a:t>
            </a:r>
            <a:r>
              <a:rPr lang="en-US" dirty="0" err="1" smtClean="0"/>
              <a:t>Mediclaim</a:t>
            </a:r>
            <a:r>
              <a:rPr lang="en-US" dirty="0" smtClean="0"/>
              <a:t>/Insurance Scheme </a:t>
            </a:r>
          </a:p>
          <a:p>
            <a:r>
              <a:rPr lang="en-US" dirty="0" smtClean="0"/>
              <a:t>Personal Accident Insurance Scheme </a:t>
            </a:r>
          </a:p>
          <a:p>
            <a:r>
              <a:rPr lang="en-US" dirty="0" smtClean="0"/>
              <a:t>Recreation/ATM facilities </a:t>
            </a:r>
          </a:p>
          <a:p>
            <a:r>
              <a:rPr lang="en-US" dirty="0" smtClean="0"/>
              <a:t>Corporate Credit Card </a:t>
            </a:r>
          </a:p>
          <a:p>
            <a:r>
              <a:rPr lang="en-US" dirty="0" smtClean="0"/>
              <a:t>Club memberships</a:t>
            </a:r>
          </a:p>
          <a:p>
            <a:r>
              <a:rPr lang="en-US" dirty="0" smtClean="0"/>
              <a:t>Personal Health Care (Regular medical check-ups) </a:t>
            </a:r>
          </a:p>
          <a:p>
            <a:r>
              <a:rPr lang="en-US" dirty="0" smtClean="0"/>
              <a:t>Loans </a:t>
            </a:r>
          </a:p>
          <a:p>
            <a:r>
              <a:rPr lang="en-US" dirty="0" smtClean="0"/>
              <a:t>Educational Benefits (For Higher studies) </a:t>
            </a:r>
          </a:p>
          <a:p>
            <a:r>
              <a:rPr lang="en-US" dirty="0" smtClean="0"/>
              <a:t>Maternity Leave </a:t>
            </a:r>
          </a:p>
          <a:p>
            <a:r>
              <a:rPr lang="en-US" dirty="0" smtClean="0"/>
              <a:t>Paternity Leave</a:t>
            </a:r>
          </a:p>
          <a:p>
            <a:r>
              <a:rPr lang="en-US" dirty="0" smtClean="0"/>
              <a:t>Work-life balance</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Work-life balance</a:t>
            </a:r>
            <a:endParaRPr lang="en-US" dirty="0"/>
          </a:p>
        </p:txBody>
      </p:sp>
      <p:sp>
        <p:nvSpPr>
          <p:cNvPr id="3" name="Content Placeholder 2"/>
          <p:cNvSpPr>
            <a:spLocks noGrp="1"/>
          </p:cNvSpPr>
          <p:nvPr>
            <p:ph idx="1"/>
          </p:nvPr>
        </p:nvSpPr>
        <p:spPr/>
        <p:txBody>
          <a:bodyPr>
            <a:normAutofit/>
          </a:bodyPr>
          <a:lstStyle/>
          <a:p>
            <a:r>
              <a:rPr lang="en-US" dirty="0" smtClean="0"/>
              <a:t>Work-life balance , is a satisfactory level of involvement or ‘fit’ between the multiple roles in a person’s life.</a:t>
            </a:r>
          </a:p>
          <a:p>
            <a:r>
              <a:rPr lang="en-US" dirty="0" smtClean="0"/>
              <a:t>Work/life balance is generally associated with equilibrium, or maintaining an overall sense of harmony in life</a:t>
            </a:r>
          </a:p>
          <a:p>
            <a:r>
              <a:rPr lang="en-US" dirty="0" smtClean="0"/>
              <a:t>It is  a benefit that  help to attract and retain female talent.</a:t>
            </a:r>
          </a:p>
          <a:p>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Benefits of work life balance</a:t>
            </a:r>
            <a:br>
              <a:rPr lang="en-US" b="1" dirty="0" smtClean="0"/>
            </a:br>
            <a:endParaRPr lang="en-US" dirty="0"/>
          </a:p>
        </p:txBody>
      </p:sp>
      <p:sp>
        <p:nvSpPr>
          <p:cNvPr id="3" name="Content Placeholder 2"/>
          <p:cNvSpPr>
            <a:spLocks noGrp="1"/>
          </p:cNvSpPr>
          <p:nvPr>
            <p:ph idx="1"/>
          </p:nvPr>
        </p:nvSpPr>
        <p:spPr>
          <a:xfrm>
            <a:off x="457200" y="1071546"/>
            <a:ext cx="8229600" cy="5286412"/>
          </a:xfrm>
        </p:spPr>
        <p:txBody>
          <a:bodyPr>
            <a:noAutofit/>
          </a:bodyPr>
          <a:lstStyle/>
          <a:p>
            <a:pPr algn="just">
              <a:buNone/>
            </a:pPr>
            <a:r>
              <a:rPr lang="en-US" sz="2400" dirty="0" smtClean="0"/>
              <a:t>There are several advantages of work life balance. Some of them are listed below:</a:t>
            </a:r>
          </a:p>
          <a:p>
            <a:pPr algn="just">
              <a:buFont typeface="Wingdings" pitchFamily="2" charset="2"/>
              <a:buChar char="§"/>
            </a:pPr>
            <a:r>
              <a:rPr lang="en-US" sz="2400" dirty="0" smtClean="0"/>
              <a:t>increases the motivation of employees and helps them perform better at job</a:t>
            </a:r>
          </a:p>
          <a:p>
            <a:pPr algn="just">
              <a:buFont typeface="Wingdings" pitchFamily="2" charset="2"/>
              <a:buChar char="§"/>
            </a:pPr>
            <a:r>
              <a:rPr lang="en-US" sz="2400" dirty="0" smtClean="0"/>
              <a:t>It helps people to relieve their stress as they can spend leisure time with their near and dear ones</a:t>
            </a:r>
          </a:p>
          <a:p>
            <a:pPr algn="just">
              <a:buFont typeface="Wingdings" pitchFamily="2" charset="2"/>
              <a:buChar char="§"/>
            </a:pPr>
            <a:r>
              <a:rPr lang="en-US" sz="2400" dirty="0" smtClean="0"/>
              <a:t>Companies can maximize productivity from an employee who is rejuvenated and refreshed as compared to a over worked employee</a:t>
            </a:r>
          </a:p>
          <a:p>
            <a:pPr algn="just">
              <a:buFont typeface="Wingdings" pitchFamily="2" charset="2"/>
              <a:buChar char="§"/>
            </a:pPr>
            <a:r>
              <a:rPr lang="en-US" sz="2400" dirty="0" smtClean="0"/>
              <a:t>Healthy lifestyles can be maintained by having a work life balance. This includes a good diet, regular exercises etc.</a:t>
            </a:r>
          </a:p>
          <a:p>
            <a:pPr algn="just">
              <a:buFont typeface="Wingdings" pitchFamily="2" charset="2"/>
              <a:buChar char="§"/>
            </a:pPr>
            <a:r>
              <a:rPr lang="en-US" sz="2400" dirty="0" smtClean="0"/>
              <a:t>Employees who are highly motivated can help the business grow as they are more attached to their job and careers</a:t>
            </a:r>
          </a:p>
          <a:p>
            <a:pPr algn="just"/>
            <a:endParaRPr lang="en-US" sz="24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a:t>
            </a:r>
            <a:endParaRPr lang="en-US" dirty="0"/>
          </a:p>
        </p:txBody>
      </p:sp>
      <p:sp>
        <p:nvSpPr>
          <p:cNvPr id="3" name="Content Placeholder 2"/>
          <p:cNvSpPr>
            <a:spLocks noGrp="1"/>
          </p:cNvSpPr>
          <p:nvPr>
            <p:ph idx="1"/>
          </p:nvPr>
        </p:nvSpPr>
        <p:spPr>
          <a:xfrm>
            <a:off x="457200" y="1357298"/>
            <a:ext cx="8229600" cy="4768865"/>
          </a:xfrm>
        </p:spPr>
        <p:txBody>
          <a:bodyPr>
            <a:normAutofit fontScale="77500" lnSpcReduction="20000"/>
          </a:bodyPr>
          <a:lstStyle/>
          <a:p>
            <a:pPr>
              <a:buNone/>
            </a:pPr>
            <a:r>
              <a:rPr lang="en-US" dirty="0" smtClean="0"/>
              <a:t>flexible working time</a:t>
            </a:r>
          </a:p>
          <a:p>
            <a:r>
              <a:rPr lang="en-US" dirty="0" smtClean="0"/>
              <a:t>Flexi time</a:t>
            </a:r>
          </a:p>
          <a:p>
            <a:r>
              <a:rPr lang="en-US" dirty="0" smtClean="0"/>
              <a:t>Part-time work</a:t>
            </a:r>
          </a:p>
          <a:p>
            <a:r>
              <a:rPr lang="en-US" dirty="0" smtClean="0"/>
              <a:t>Overtime</a:t>
            </a:r>
          </a:p>
          <a:p>
            <a:r>
              <a:rPr lang="en-US" dirty="0" smtClean="0"/>
              <a:t>Job sharing</a:t>
            </a:r>
          </a:p>
          <a:p>
            <a:r>
              <a:rPr lang="en-US" dirty="0" smtClean="0"/>
              <a:t>Compressed hours </a:t>
            </a:r>
          </a:p>
          <a:p>
            <a:r>
              <a:rPr lang="en-US" dirty="0" smtClean="0"/>
              <a:t>Shift work</a:t>
            </a:r>
          </a:p>
          <a:p>
            <a:r>
              <a:rPr lang="en-US" dirty="0" err="1" smtClean="0"/>
              <a:t>Annualised</a:t>
            </a:r>
            <a:r>
              <a:rPr lang="en-US" dirty="0" smtClean="0"/>
              <a:t> hours -An </a:t>
            </a:r>
            <a:r>
              <a:rPr lang="en-US" dirty="0" err="1" smtClean="0"/>
              <a:t>annualised</a:t>
            </a:r>
            <a:r>
              <a:rPr lang="en-US" dirty="0" smtClean="0"/>
              <a:t> hours system is where the total number of hours to be worked over the year is fixed but there is flexibility over the employee’s daily and weekly working pattern</a:t>
            </a:r>
          </a:p>
          <a:p>
            <a:r>
              <a:rPr lang="en-US" dirty="0" smtClean="0"/>
              <a:t>Term-time working</a:t>
            </a:r>
          </a:p>
          <a:p>
            <a:r>
              <a:rPr lang="en-US" dirty="0" smtClean="0"/>
              <a:t>Zero hours contracts</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lstStyle/>
          <a:p>
            <a:r>
              <a:rPr lang="en-US" dirty="0" smtClean="0"/>
              <a:t>Quality of Work Life (QWL)</a:t>
            </a:r>
            <a:endParaRPr lang="en-US" dirty="0"/>
          </a:p>
        </p:txBody>
      </p:sp>
      <p:sp>
        <p:nvSpPr>
          <p:cNvPr id="3" name="Content Placeholder 2"/>
          <p:cNvSpPr>
            <a:spLocks noGrp="1"/>
          </p:cNvSpPr>
          <p:nvPr>
            <p:ph idx="1"/>
          </p:nvPr>
        </p:nvSpPr>
        <p:spPr>
          <a:xfrm>
            <a:off x="457200" y="1357298"/>
            <a:ext cx="8229600" cy="4929222"/>
          </a:xfrm>
        </p:spPr>
        <p:txBody>
          <a:bodyPr>
            <a:normAutofit fontScale="92500" lnSpcReduction="10000"/>
          </a:bodyPr>
          <a:lstStyle/>
          <a:p>
            <a:pPr algn="just"/>
            <a:r>
              <a:rPr lang="en-US" dirty="0" smtClean="0"/>
              <a:t>Quality of relationship between employees &amp; total working environment </a:t>
            </a:r>
          </a:p>
          <a:p>
            <a:pPr algn="just"/>
            <a:r>
              <a:rPr lang="en-US" dirty="0" smtClean="0"/>
              <a:t> a process by which an organization responds to employee needs</a:t>
            </a:r>
          </a:p>
          <a:p>
            <a:pPr algn="just"/>
            <a:r>
              <a:rPr lang="en-US" dirty="0" smtClean="0"/>
              <a:t>Is defined as the degree to which members of a particular organization are able to satisfy important personal needs through their experiences in the organization” </a:t>
            </a:r>
          </a:p>
          <a:p>
            <a:pPr algn="just"/>
            <a:r>
              <a:rPr lang="en-US" dirty="0" smtClean="0"/>
              <a:t> The major indicators of QWL are job involvement, job satisfaction and productivity</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WQL</a:t>
            </a:r>
            <a:endParaRPr lang="en-US" dirty="0"/>
          </a:p>
        </p:txBody>
      </p:sp>
      <p:sp>
        <p:nvSpPr>
          <p:cNvPr id="3" name="Content Placeholder 2"/>
          <p:cNvSpPr>
            <a:spLocks noGrp="1"/>
          </p:cNvSpPr>
          <p:nvPr>
            <p:ph idx="1"/>
          </p:nvPr>
        </p:nvSpPr>
        <p:spPr>
          <a:xfrm>
            <a:off x="457200" y="1357298"/>
            <a:ext cx="8229600" cy="4768865"/>
          </a:xfrm>
        </p:spPr>
        <p:txBody>
          <a:bodyPr>
            <a:normAutofit fontScale="92500" lnSpcReduction="10000"/>
          </a:bodyPr>
          <a:lstStyle/>
          <a:p>
            <a:r>
              <a:rPr lang="en-US" b="1" dirty="0" smtClean="0"/>
              <a:t>Quality Circles: </a:t>
            </a:r>
            <a:r>
              <a:rPr lang="en-US" dirty="0" smtClean="0"/>
              <a:t>Quality Circles (QC) is small groups of workers who meet regularly with their supervisor as their ‘circle leader’ to solve work-related problems. </a:t>
            </a:r>
          </a:p>
          <a:p>
            <a:r>
              <a:rPr lang="en-US" b="1" dirty="0" smtClean="0"/>
              <a:t>Alternative Work Schedule</a:t>
            </a:r>
            <a:r>
              <a:rPr lang="en-US" dirty="0" smtClean="0"/>
              <a:t>: Organizations also frequently use the modified ‘work-week’ as a way to increase employee motivation.</a:t>
            </a:r>
          </a:p>
          <a:p>
            <a:pPr marL="628650" indent="-88900">
              <a:buNone/>
            </a:pPr>
            <a:r>
              <a:rPr lang="en-US" dirty="0" smtClean="0"/>
              <a:t>A modified ‘work-week’ can be any work schedule that does not conform to a traditional 8 hours a day or 5 days a week format</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a:bodyPr>
          <a:lstStyle/>
          <a:p>
            <a:r>
              <a:rPr lang="en-US" dirty="0" smtClean="0"/>
              <a:t>The modified ‘work-week’ helps individual to:</a:t>
            </a:r>
          </a:p>
          <a:p>
            <a:pPr marL="719138" indent="-179388">
              <a:buFont typeface="Wingdings" pitchFamily="2" charset="2"/>
              <a:buChar char="§"/>
            </a:pPr>
            <a:r>
              <a:rPr lang="en-US" dirty="0" smtClean="0"/>
              <a:t>satisfy higher-level needs by providing more personal control over one’s work schedule. </a:t>
            </a:r>
          </a:p>
          <a:p>
            <a:pPr marL="719138" indent="-179388">
              <a:buFont typeface="Wingdings" pitchFamily="2" charset="2"/>
              <a:buChar char="§"/>
            </a:pPr>
            <a:r>
              <a:rPr lang="en-US" dirty="0" smtClean="0"/>
              <a:t>provides an opportunity to fulfill several needs simultaneously</a:t>
            </a:r>
          </a:p>
          <a:p>
            <a:pPr marL="360363" indent="-360363"/>
            <a:r>
              <a:rPr lang="en-US" b="1" dirty="0" smtClean="0"/>
              <a:t>Job-Redesign</a:t>
            </a:r>
            <a:r>
              <a:rPr lang="en-US" dirty="0" smtClean="0"/>
              <a:t>: Job-Redesign or changing the nature of people’s job. </a:t>
            </a:r>
          </a:p>
          <a:p>
            <a:pPr marL="539750" indent="-90488">
              <a:buNone/>
            </a:pPr>
            <a:r>
              <a:rPr lang="en-US" dirty="0" smtClean="0"/>
              <a:t>Job redesign can be in the form of job rotation, job enlargement, job enrichment  and used as part of motivation techniques</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OF QWL </a:t>
            </a:r>
            <a:endParaRPr lang="en-US" dirty="0"/>
          </a:p>
        </p:txBody>
      </p:sp>
      <p:sp>
        <p:nvSpPr>
          <p:cNvPr id="3" name="Content Placeholder 2"/>
          <p:cNvSpPr>
            <a:spLocks noGrp="1"/>
          </p:cNvSpPr>
          <p:nvPr>
            <p:ph idx="1"/>
          </p:nvPr>
        </p:nvSpPr>
        <p:spPr>
          <a:xfrm>
            <a:off x="457200" y="1428736"/>
            <a:ext cx="8229600" cy="4697427"/>
          </a:xfrm>
        </p:spPr>
        <p:txBody>
          <a:bodyPr>
            <a:normAutofit fontScale="92500" lnSpcReduction="20000"/>
          </a:bodyPr>
          <a:lstStyle/>
          <a:p>
            <a:pPr marL="449263" indent="-358775" algn="just">
              <a:buFont typeface="Wingdings" pitchFamily="2" charset="2"/>
              <a:buChar char="§"/>
            </a:pPr>
            <a:r>
              <a:rPr lang="en-US" dirty="0" smtClean="0"/>
              <a:t>Improve employee satisfaction; </a:t>
            </a:r>
          </a:p>
          <a:p>
            <a:pPr marL="449263" indent="-358775" algn="just">
              <a:buFont typeface="Wingdings" pitchFamily="2" charset="2"/>
              <a:buChar char="§"/>
            </a:pPr>
            <a:r>
              <a:rPr lang="en-US" dirty="0" smtClean="0"/>
              <a:t> Improve physical and psychological health of employees which creates positive feelings; </a:t>
            </a:r>
          </a:p>
          <a:p>
            <a:pPr marL="449263" indent="-358775" algn="just">
              <a:buFont typeface="Wingdings" pitchFamily="2" charset="2"/>
              <a:buChar char="§"/>
            </a:pPr>
            <a:r>
              <a:rPr lang="en-US" dirty="0" smtClean="0"/>
              <a:t> Enhance productivity of employees; </a:t>
            </a:r>
          </a:p>
          <a:p>
            <a:pPr marL="449263" indent="-358775" algn="just">
              <a:buFont typeface="Wingdings" pitchFamily="2" charset="2"/>
              <a:buChar char="§"/>
            </a:pPr>
            <a:r>
              <a:rPr lang="en-US" dirty="0" smtClean="0"/>
              <a:t> Reinforce workplace learning; </a:t>
            </a:r>
          </a:p>
          <a:p>
            <a:pPr marL="449263" indent="-358775" algn="just">
              <a:buFont typeface="Wingdings" pitchFamily="2" charset="2"/>
              <a:buChar char="§"/>
            </a:pPr>
            <a:r>
              <a:rPr lang="en-US" dirty="0" smtClean="0"/>
              <a:t> Improved management of the on-going change and transition; </a:t>
            </a:r>
          </a:p>
          <a:p>
            <a:pPr marL="449263" indent="-358775" algn="just">
              <a:buFont typeface="Wingdings" pitchFamily="2" charset="2"/>
              <a:buChar char="§"/>
            </a:pPr>
            <a:r>
              <a:rPr lang="en-US" dirty="0" smtClean="0"/>
              <a:t> Build the image of the company as best in recruitment, retention -Employer branding </a:t>
            </a:r>
          </a:p>
          <a:p>
            <a:pPr marL="449263" indent="-358775" algn="just">
              <a:buFont typeface="Wingdings" pitchFamily="2" charset="2"/>
              <a:buChar char="§"/>
            </a:pPr>
            <a:r>
              <a:rPr lang="en-US" dirty="0" smtClean="0"/>
              <a:t> General motivation of employees</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 requisites of QWL </a:t>
            </a:r>
            <a:endParaRPr lang="en-US" dirty="0"/>
          </a:p>
        </p:txBody>
      </p:sp>
      <p:sp>
        <p:nvSpPr>
          <p:cNvPr id="3" name="Content Placeholder 2"/>
          <p:cNvSpPr>
            <a:spLocks noGrp="1"/>
          </p:cNvSpPr>
          <p:nvPr>
            <p:ph idx="1"/>
          </p:nvPr>
        </p:nvSpPr>
        <p:spPr>
          <a:xfrm>
            <a:off x="457200" y="1357298"/>
            <a:ext cx="8229600" cy="4768865"/>
          </a:xfrm>
        </p:spPr>
        <p:txBody>
          <a:bodyPr/>
          <a:lstStyle/>
          <a:p>
            <a:pPr algn="just">
              <a:buFont typeface="Wingdings" pitchFamily="2" charset="2"/>
              <a:buChar char="§"/>
            </a:pPr>
            <a:r>
              <a:rPr lang="en-US" dirty="0" smtClean="0"/>
              <a:t>Shared recognition of a need for change. </a:t>
            </a:r>
          </a:p>
          <a:p>
            <a:pPr algn="just">
              <a:buFont typeface="Wingdings" pitchFamily="2" charset="2"/>
              <a:buChar char="§"/>
            </a:pPr>
            <a:r>
              <a:rPr lang="en-US" dirty="0" smtClean="0"/>
              <a:t> Strong leadership. </a:t>
            </a:r>
          </a:p>
          <a:p>
            <a:pPr algn="just">
              <a:buFont typeface="Wingdings" pitchFamily="2" charset="2"/>
              <a:buChar char="§"/>
            </a:pPr>
            <a:r>
              <a:rPr lang="en-US" dirty="0" smtClean="0"/>
              <a:t> Collaborative planning for change. </a:t>
            </a:r>
          </a:p>
          <a:p>
            <a:pPr algn="just">
              <a:buFont typeface="Wingdings" pitchFamily="2" charset="2"/>
              <a:buChar char="§"/>
            </a:pPr>
            <a:r>
              <a:rPr lang="en-US" dirty="0" smtClean="0"/>
              <a:t> Allocation of adequate resources to manage the change. </a:t>
            </a:r>
          </a:p>
          <a:p>
            <a:pPr algn="just">
              <a:buFont typeface="Wingdings" pitchFamily="2" charset="2"/>
              <a:buChar char="§"/>
            </a:pPr>
            <a:r>
              <a:rPr lang="en-US" dirty="0" smtClean="0"/>
              <a:t> Invitation to a third party who can introduce novel ideas , serve as a communication link, and help eliminate stereotypes and distrust</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Principle of QWL</a:t>
            </a:r>
            <a:endParaRPr lang="en-US" dirty="0"/>
          </a:p>
        </p:txBody>
      </p:sp>
      <p:sp>
        <p:nvSpPr>
          <p:cNvPr id="3" name="Content Placeholder 2"/>
          <p:cNvSpPr>
            <a:spLocks noGrp="1"/>
          </p:cNvSpPr>
          <p:nvPr>
            <p:ph idx="1"/>
          </p:nvPr>
        </p:nvSpPr>
        <p:spPr/>
        <p:txBody>
          <a:bodyPr/>
          <a:lstStyle/>
          <a:p>
            <a:r>
              <a:rPr lang="en-GB" dirty="0" smtClean="0"/>
              <a:t>Principle of security ( </a:t>
            </a:r>
            <a:r>
              <a:rPr lang="en-GB" smtClean="0"/>
              <a:t>job security)</a:t>
            </a:r>
            <a:endParaRPr lang="en-GB" dirty="0" smtClean="0"/>
          </a:p>
          <a:p>
            <a:r>
              <a:rPr lang="en-GB" dirty="0" smtClean="0"/>
              <a:t>Principle of equity( relationship </a:t>
            </a:r>
            <a:r>
              <a:rPr lang="en-GB" dirty="0" err="1" smtClean="0"/>
              <a:t>btn</a:t>
            </a:r>
            <a:r>
              <a:rPr lang="en-GB" dirty="0" smtClean="0"/>
              <a:t> effort and reward)</a:t>
            </a:r>
          </a:p>
          <a:p>
            <a:r>
              <a:rPr lang="en-GB" dirty="0" smtClean="0"/>
              <a:t>Principle of </a:t>
            </a:r>
            <a:r>
              <a:rPr lang="en-GB" dirty="0" err="1" smtClean="0"/>
              <a:t>indivualism</a:t>
            </a:r>
            <a:r>
              <a:rPr lang="en-GB" dirty="0" smtClean="0"/>
              <a:t> (opportunity for develop personality and potential)</a:t>
            </a:r>
          </a:p>
          <a:p>
            <a:r>
              <a:rPr lang="en-GB" dirty="0" smtClean="0"/>
              <a:t>Principle of democracy ( authority and responsibility)</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Advantages of QWL</a:t>
            </a:r>
            <a:endParaRPr lang="en-US" dirty="0"/>
          </a:p>
        </p:txBody>
      </p:sp>
      <p:sp>
        <p:nvSpPr>
          <p:cNvPr id="3" name="Content Placeholder 2"/>
          <p:cNvSpPr>
            <a:spLocks noGrp="1"/>
          </p:cNvSpPr>
          <p:nvPr>
            <p:ph idx="1"/>
          </p:nvPr>
        </p:nvSpPr>
        <p:spPr>
          <a:xfrm>
            <a:off x="457200" y="1357298"/>
            <a:ext cx="8229600" cy="4768865"/>
          </a:xfrm>
        </p:spPr>
        <p:txBody>
          <a:bodyPr>
            <a:normAutofit fontScale="92500"/>
          </a:bodyPr>
          <a:lstStyle/>
          <a:p>
            <a:pPr marL="514350" indent="-514350" fontAlgn="base">
              <a:buFont typeface="+mj-lt"/>
              <a:buAutoNum type="arabicPeriod"/>
            </a:pPr>
            <a:r>
              <a:rPr lang="en-US" dirty="0" smtClean="0"/>
              <a:t>Healthier, satisfied and productive employees;</a:t>
            </a:r>
          </a:p>
          <a:p>
            <a:pPr marL="514350" indent="-514350" fontAlgn="base">
              <a:buFont typeface="+mj-lt"/>
              <a:buAutoNum type="arabicPeriod"/>
            </a:pPr>
            <a:r>
              <a:rPr lang="en-US" dirty="0" smtClean="0"/>
              <a:t>Efficient, adaptive and profitable organizations;</a:t>
            </a:r>
          </a:p>
          <a:p>
            <a:pPr marL="514350" indent="-514350" fontAlgn="base">
              <a:buFont typeface="+mj-lt"/>
              <a:buAutoNum type="arabicPeriod"/>
            </a:pPr>
            <a:r>
              <a:rPr lang="en-US" dirty="0" smtClean="0"/>
              <a:t>More positive feelings towards one’s self (greater self-esteem);</a:t>
            </a:r>
          </a:p>
          <a:p>
            <a:pPr marL="514350" indent="-514350" fontAlgn="base">
              <a:buFont typeface="+mj-lt"/>
              <a:buAutoNum type="arabicPeriod"/>
            </a:pPr>
            <a:r>
              <a:rPr lang="en-US" dirty="0" smtClean="0"/>
              <a:t>More positive feelings towards one’s job (improved job satisfaction and involvement);</a:t>
            </a:r>
          </a:p>
          <a:p>
            <a:pPr marL="514350" indent="-514350" fontAlgn="base">
              <a:buFont typeface="+mj-lt"/>
              <a:buAutoNum type="arabicPeriod"/>
            </a:pPr>
            <a:r>
              <a:rPr lang="en-US" dirty="0" smtClean="0"/>
              <a:t>More positive feelings towards the organization (stronger commitment to the organization’s goals);</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Factors led to the success of Quality of Work Life </a:t>
            </a:r>
            <a:endParaRPr lang="en-US" sz="3600" dirty="0"/>
          </a:p>
        </p:txBody>
      </p:sp>
      <p:sp>
        <p:nvSpPr>
          <p:cNvPr id="3" name="Content Placeholder 2"/>
          <p:cNvSpPr>
            <a:spLocks noGrp="1"/>
          </p:cNvSpPr>
          <p:nvPr>
            <p:ph idx="1"/>
          </p:nvPr>
        </p:nvSpPr>
        <p:spPr/>
        <p:txBody>
          <a:bodyPr>
            <a:normAutofit/>
          </a:bodyPr>
          <a:lstStyle/>
          <a:p>
            <a:pPr fontAlgn="base"/>
            <a:r>
              <a:rPr lang="en-US" dirty="0" smtClean="0"/>
              <a:t>Flexi time</a:t>
            </a:r>
          </a:p>
          <a:p>
            <a:pPr fontAlgn="base"/>
            <a:r>
              <a:rPr lang="en-US" dirty="0" smtClean="0"/>
              <a:t>Job Enrichment.</a:t>
            </a:r>
          </a:p>
          <a:p>
            <a:pPr fontAlgn="base"/>
            <a:r>
              <a:rPr lang="en-US" dirty="0" smtClean="0"/>
              <a:t>Management by Objectives.</a:t>
            </a:r>
          </a:p>
          <a:p>
            <a:pPr fontAlgn="base"/>
            <a:r>
              <a:rPr lang="en-US" dirty="0" smtClean="0"/>
              <a:t>Job Rotation</a:t>
            </a:r>
          </a:p>
          <a:p>
            <a:pPr fontAlgn="base"/>
            <a:r>
              <a:rPr lang="en-US" dirty="0" smtClean="0"/>
              <a:t>Job Enlargement.</a:t>
            </a:r>
          </a:p>
          <a:p>
            <a:pPr fontAlgn="base"/>
            <a:r>
              <a:rPr lang="en-US" dirty="0" smtClean="0"/>
              <a:t>Autonomous Work Group</a:t>
            </a:r>
          </a:p>
          <a:p>
            <a:pPr fontAlgn="base"/>
            <a:r>
              <a:rPr lang="en-US" dirty="0" smtClean="0"/>
              <a:t>Employee Participation</a:t>
            </a:r>
          </a:p>
          <a:p>
            <a:pPr fontAlgn="base"/>
            <a:endParaRPr lang="en-US"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SRATEGIES FOR IMPROVEMENT OF QWL </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1.  Self managed work team </a:t>
            </a:r>
          </a:p>
          <a:p>
            <a:pPr marL="719138" indent="-449263">
              <a:buFont typeface="Wingdings" pitchFamily="2" charset="2"/>
              <a:buChar char="§"/>
            </a:pPr>
            <a:r>
              <a:rPr lang="en-US" dirty="0" smtClean="0"/>
              <a:t>Autonomous work group or integrated work teams </a:t>
            </a:r>
          </a:p>
          <a:p>
            <a:pPr marL="719138" indent="-449263">
              <a:buFont typeface="Wingdings" pitchFamily="2" charset="2"/>
              <a:buChar char="§"/>
            </a:pPr>
            <a:r>
              <a:rPr lang="en-US" dirty="0" smtClean="0"/>
              <a:t> Plan , co-ordinate &amp; control activities with the help of team leader </a:t>
            </a:r>
          </a:p>
          <a:p>
            <a:pPr marL="719138" indent="-449263">
              <a:buFont typeface="Wingdings" pitchFamily="2" charset="2"/>
              <a:buChar char="§"/>
            </a:pPr>
            <a:r>
              <a:rPr lang="en-US" dirty="0" smtClean="0"/>
              <a:t> Employee participation </a:t>
            </a:r>
          </a:p>
          <a:p>
            <a:pPr>
              <a:buNone/>
            </a:pPr>
            <a:r>
              <a:rPr lang="en-US" dirty="0" smtClean="0"/>
              <a:t>2.  Participative management </a:t>
            </a:r>
          </a:p>
          <a:p>
            <a:pPr marL="449263" indent="-179388">
              <a:buFont typeface="Wingdings" pitchFamily="2" charset="2"/>
              <a:buChar char="§"/>
            </a:pPr>
            <a:r>
              <a:rPr lang="en-US" dirty="0" smtClean="0"/>
              <a:t> Allowed to participate in management participative schemes – quality circle </a:t>
            </a:r>
          </a:p>
          <a:p>
            <a:pPr marL="449263" indent="-179388">
              <a:buFont typeface="Wingdings" pitchFamily="2" charset="2"/>
              <a:buChar char="§"/>
            </a:pPr>
            <a:r>
              <a:rPr lang="en-US" dirty="0" smtClean="0"/>
              <a:t> Develop a positive attitude</a:t>
            </a:r>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68931"/>
          </a:xfrm>
        </p:spPr>
        <p:txBody>
          <a:bodyPr>
            <a:normAutofit/>
          </a:bodyPr>
          <a:lstStyle/>
          <a:p>
            <a:pPr marL="514350" indent="-514350" algn="just">
              <a:buAutoNum type="arabicPeriod" startAt="3"/>
            </a:pPr>
            <a:r>
              <a:rPr lang="en-US" sz="2800" dirty="0" smtClean="0"/>
              <a:t>Worker- supervisor relationship Social association , belongingness, achieve of work results etc…</a:t>
            </a:r>
          </a:p>
          <a:p>
            <a:pPr algn="just">
              <a:buNone/>
            </a:pPr>
            <a:r>
              <a:rPr lang="en-US" sz="2800" dirty="0" smtClean="0"/>
              <a:t>4. Promotion </a:t>
            </a:r>
          </a:p>
          <a:p>
            <a:pPr marL="539750" indent="-269875" algn="just">
              <a:buFont typeface="Wingdings" pitchFamily="2" charset="2"/>
              <a:buChar char="§"/>
            </a:pPr>
            <a:r>
              <a:rPr lang="en-US" sz="2800" dirty="0" smtClean="0"/>
              <a:t> Opportunity to move in to jobs with high job satisfaction and prestige </a:t>
            </a:r>
          </a:p>
          <a:p>
            <a:pPr marL="539750" indent="-269875" algn="just">
              <a:buFont typeface="Wingdings" pitchFamily="2" charset="2"/>
              <a:buChar char="§"/>
            </a:pPr>
            <a:r>
              <a:rPr lang="en-US" sz="2800" dirty="0" smtClean="0"/>
              <a:t>Orderly, logical and prompt source of recruitment for the management to fill vacancies </a:t>
            </a:r>
          </a:p>
          <a:p>
            <a:pPr algn="just">
              <a:buNone/>
            </a:pPr>
            <a:r>
              <a:rPr lang="en-US" sz="2800" dirty="0" smtClean="0"/>
              <a:t>5. Recognition </a:t>
            </a:r>
          </a:p>
          <a:p>
            <a:pPr marL="539750" indent="-269875" algn="just">
              <a:buFont typeface="Wingdings" pitchFamily="2" charset="2"/>
              <a:buChar char="§"/>
            </a:pPr>
            <a:r>
              <a:rPr lang="en-US" sz="2800" dirty="0" smtClean="0"/>
              <a:t>Human being rather than employee rewarding system, job enrichment, offering membership etc…</a:t>
            </a:r>
          </a:p>
          <a:p>
            <a:pPr marL="514350" indent="-514350">
              <a:buAutoNum type="arabicPeriod" startAt="3"/>
            </a:pPr>
            <a:endParaRPr lang="en-US" sz="20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6. Organizational health program </a:t>
            </a:r>
          </a:p>
          <a:p>
            <a:pPr>
              <a:buNone/>
            </a:pPr>
            <a:r>
              <a:rPr lang="en-US" dirty="0" smtClean="0"/>
              <a:t> Educating employee about health problems </a:t>
            </a:r>
          </a:p>
          <a:p>
            <a:pPr>
              <a:buNone/>
            </a:pPr>
            <a:r>
              <a:rPr lang="en-US" dirty="0" smtClean="0"/>
              <a:t>Results in reduction of absenteeism, hospitalization etc.. </a:t>
            </a:r>
          </a:p>
          <a:p>
            <a:pPr>
              <a:buNone/>
            </a:pPr>
            <a:r>
              <a:rPr lang="en-US" dirty="0" smtClean="0"/>
              <a:t> 7. Alternative work schedule </a:t>
            </a:r>
          </a:p>
          <a:p>
            <a:pPr>
              <a:buNone/>
            </a:pPr>
            <a:r>
              <a:rPr lang="en-US" dirty="0" smtClean="0"/>
              <a:t> Work at home, flexible working hours, part time employment etc…</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5199</TotalTime>
  <Words>2945</Words>
  <Application>Microsoft Office PowerPoint</Application>
  <PresentationFormat>On-screen Show (4:3)</PresentationFormat>
  <Paragraphs>326</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Morale and motivation </vt:lpstr>
      <vt:lpstr> MORALE  </vt:lpstr>
      <vt:lpstr>FACTORS INFLUENCING MORALE </vt:lpstr>
      <vt:lpstr>INDICATIONS OF LOW EMPLOYEE MORALE </vt:lpstr>
      <vt:lpstr>Slide 5</vt:lpstr>
      <vt:lpstr>Reasons for Morale Problems</vt:lpstr>
      <vt:lpstr>METHODS USED IN DETERMINING MORALE </vt:lpstr>
      <vt:lpstr>Building Morale</vt:lpstr>
      <vt:lpstr>MOTIVATION</vt:lpstr>
      <vt:lpstr>TYPESOF MOTIVATION </vt:lpstr>
      <vt:lpstr>POSITIVE FACTORS IN MOTIVATING PEOPLE</vt:lpstr>
      <vt:lpstr>EFFECTSOF MOTIVATION </vt:lpstr>
      <vt:lpstr>Importance of motivation </vt:lpstr>
      <vt:lpstr>Motivational Theories</vt:lpstr>
      <vt:lpstr>Slide 15</vt:lpstr>
      <vt:lpstr>Vroom theory</vt:lpstr>
      <vt:lpstr>  Incentive  and rewards </vt:lpstr>
      <vt:lpstr>Slide 18</vt:lpstr>
      <vt:lpstr>Incentive plans</vt:lpstr>
      <vt:lpstr> Individual employee incentive and recognition program </vt:lpstr>
      <vt:lpstr>Slide 21</vt:lpstr>
      <vt:lpstr>Slide 22</vt:lpstr>
      <vt:lpstr>Sales compensation plan</vt:lpstr>
      <vt:lpstr>Slide 24</vt:lpstr>
      <vt:lpstr>Slide 25</vt:lpstr>
      <vt:lpstr>Team/ group variable pay incentive plan</vt:lpstr>
      <vt:lpstr>Slide 27</vt:lpstr>
      <vt:lpstr>Organization variable pay plan</vt:lpstr>
      <vt:lpstr>Slide 29</vt:lpstr>
      <vt:lpstr>Slide 30</vt:lpstr>
      <vt:lpstr>Incentive for manager and executives </vt:lpstr>
      <vt:lpstr>Slide 32</vt:lpstr>
      <vt:lpstr>Why incentive plan fail</vt:lpstr>
      <vt:lpstr>Benefit and service</vt:lpstr>
      <vt:lpstr>Employee benefit and service</vt:lpstr>
      <vt:lpstr>Slide 36</vt:lpstr>
      <vt:lpstr>Employee services </vt:lpstr>
      <vt:lpstr>Factors influencing decision to set up a particular employee benefit and service program </vt:lpstr>
      <vt:lpstr>trends in compensation benefits</vt:lpstr>
      <vt:lpstr>Work-life balance</vt:lpstr>
      <vt:lpstr>Benefits of work life balance </vt:lpstr>
      <vt:lpstr>Approach</vt:lpstr>
      <vt:lpstr>Quality of Work Life (QWL)</vt:lpstr>
      <vt:lpstr>Types of WQL</vt:lpstr>
      <vt:lpstr>Slide 45</vt:lpstr>
      <vt:lpstr>OBJECTIVES OF QWL </vt:lpstr>
      <vt:lpstr>Pre requisites of QWL </vt:lpstr>
      <vt:lpstr>Principle of QWL</vt:lpstr>
      <vt:lpstr>Advantages of QWL</vt:lpstr>
      <vt:lpstr>Factors led to the success of Quality of Work Life </vt:lpstr>
      <vt:lpstr>SRATEGIES FOR IMPROVEMENT OF QWL </vt:lpstr>
      <vt:lpstr>Slide 52</vt:lpstr>
      <vt:lpstr>Slide 53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Morale and motivation</dc:title>
  <dc:creator>user</dc:creator>
  <cp:lastModifiedBy>user</cp:lastModifiedBy>
  <cp:revision>37</cp:revision>
  <dcterms:created xsi:type="dcterms:W3CDTF">2022-05-12T07:31:25Z</dcterms:created>
  <dcterms:modified xsi:type="dcterms:W3CDTF">2022-05-17T12:08:31Z</dcterms:modified>
</cp:coreProperties>
</file>