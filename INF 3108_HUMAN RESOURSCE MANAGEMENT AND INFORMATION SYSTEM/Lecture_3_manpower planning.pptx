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90" r:id="rId5"/>
    <p:sldId id="259" r:id="rId6"/>
    <p:sldId id="260" r:id="rId7"/>
    <p:sldId id="291" r:id="rId8"/>
    <p:sldId id="292" r:id="rId9"/>
    <p:sldId id="261" r:id="rId10"/>
    <p:sldId id="262" r:id="rId11"/>
    <p:sldId id="263" r:id="rId12"/>
    <p:sldId id="265" r:id="rId13"/>
    <p:sldId id="266" r:id="rId14"/>
    <p:sldId id="267" r:id="rId15"/>
    <p:sldId id="268" r:id="rId16"/>
    <p:sldId id="269" r:id="rId17"/>
    <p:sldId id="270" r:id="rId18"/>
    <p:sldId id="272" r:id="rId19"/>
    <p:sldId id="273" r:id="rId20"/>
    <p:sldId id="274" r:id="rId21"/>
    <p:sldId id="276" r:id="rId22"/>
    <p:sldId id="277" r:id="rId23"/>
    <p:sldId id="281" r:id="rId24"/>
    <p:sldId id="283" r:id="rId25"/>
    <p:sldId id="282" r:id="rId26"/>
    <p:sldId id="284" r:id="rId27"/>
    <p:sldId id="289"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1" d="100"/>
          <a:sy n="81" d="100"/>
        </p:scale>
        <p:origin x="725" y="58"/>
      </p:cViewPr>
      <p:guideLst>
        <p:guide orient="horz" pos="2160"/>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35B27B9B-E7C8-417F-B86A-A8449F3E7894}" type="datetimeFigureOut">
              <a:rPr lang="en-US" smtClean="0"/>
              <a:t>5/29/2024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1BBA00-CC0A-4468-AF19-45A330CCC1E1}"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5B27B9B-E7C8-417F-B86A-A8449F3E7894}" type="datetimeFigureOut">
              <a:rPr lang="en-US" smtClean="0"/>
              <a:t>5/29/2024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1BBA00-CC0A-4468-AF19-45A330CCC1E1}"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5B27B9B-E7C8-417F-B86A-A8449F3E7894}" type="datetimeFigureOut">
              <a:rPr lang="en-US" smtClean="0"/>
              <a:t>5/29/2024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1BBA00-CC0A-4468-AF19-45A330CCC1E1}"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5B27B9B-E7C8-417F-B86A-A8449F3E7894}" type="datetimeFigureOut">
              <a:rPr lang="en-US" smtClean="0"/>
              <a:t>5/29/2024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1BBA00-CC0A-4468-AF19-45A330CCC1E1}"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5B27B9B-E7C8-417F-B86A-A8449F3E7894}" type="datetimeFigureOut">
              <a:rPr lang="en-US" smtClean="0"/>
              <a:t>5/29/2024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C1BBA00-CC0A-4468-AF19-45A330CCC1E1}"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5B27B9B-E7C8-417F-B86A-A8449F3E7894}" type="datetimeFigureOut">
              <a:rPr lang="en-US" smtClean="0"/>
              <a:t>5/29/2024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C1BBA00-CC0A-4468-AF19-45A330CCC1E1}"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5B27B9B-E7C8-417F-B86A-A8449F3E7894}" type="datetimeFigureOut">
              <a:rPr lang="en-US" smtClean="0"/>
              <a:t>5/29/2024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C1BBA00-CC0A-4468-AF19-45A330CCC1E1}"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5B27B9B-E7C8-417F-B86A-A8449F3E7894}" type="datetimeFigureOut">
              <a:rPr lang="en-US" smtClean="0"/>
              <a:t>5/29/2024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1BBA00-CC0A-4468-AF19-45A330CCC1E1}"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5B27B9B-E7C8-417F-B86A-A8449F3E7894}" type="datetimeFigureOut">
              <a:rPr lang="en-US" smtClean="0"/>
              <a:t>5/29/2024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1BBA00-CC0A-4468-AF19-45A330CCC1E1}"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5B27B9B-E7C8-417F-B86A-A8449F3E7894}" type="datetimeFigureOut">
              <a:rPr lang="en-US" smtClean="0"/>
              <a:t>5/29/2024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1BBA00-CC0A-4468-AF19-45A330CCC1E1}"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5B27B9B-E7C8-417F-B86A-A8449F3E7894}" type="datetimeFigureOut">
              <a:rPr lang="en-US" smtClean="0"/>
              <a:t>5/29/2024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1BBA00-CC0A-4468-AF19-45A330CCC1E1}"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5B27B9B-E7C8-417F-B86A-A8449F3E7894}" type="datetimeFigureOut">
              <a:rPr lang="en-US" smtClean="0"/>
              <a:t>5/29/2024</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1BBA00-CC0A-4468-AF19-45A330CCC1E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Human resource management and information system</a:t>
            </a:r>
            <a:endParaRPr lang="en-US" dirty="0"/>
          </a:p>
        </p:txBody>
      </p:sp>
      <p:sp>
        <p:nvSpPr>
          <p:cNvPr id="3" name="Subtitle 2"/>
          <p:cNvSpPr>
            <a:spLocks noGrp="1"/>
          </p:cNvSpPr>
          <p:nvPr>
            <p:ph type="subTitle" idx="1"/>
          </p:nvPr>
        </p:nvSpPr>
        <p:spPr/>
        <p:txBody>
          <a:bodyPr/>
          <a:lstStyle/>
          <a:p>
            <a:r>
              <a:rPr lang="en-GB" dirty="0"/>
              <a:t>Manpower planning </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GB" dirty="0"/>
              <a:t>Job design </a:t>
            </a:r>
          </a:p>
          <a:p>
            <a:r>
              <a:rPr lang="en-GB" dirty="0"/>
              <a:t>Job description</a:t>
            </a:r>
          </a:p>
          <a:p>
            <a:r>
              <a:rPr lang="en-GB" dirty="0"/>
              <a:t>guiding principle for Human resource planning (HRP)</a:t>
            </a:r>
          </a:p>
          <a:p>
            <a:r>
              <a:rPr lang="en-GB" dirty="0"/>
              <a:t>Significance of HRP</a:t>
            </a:r>
          </a:p>
          <a:p>
            <a:r>
              <a:rPr lang="en-GB" dirty="0"/>
              <a:t>Recruitment and selection</a:t>
            </a:r>
          </a:p>
          <a:p>
            <a:r>
              <a:rPr lang="en-GB" dirty="0"/>
              <a:t>Electronic recruitment  and application blanks </a:t>
            </a:r>
          </a:p>
          <a:p>
            <a:r>
              <a:rPr lang="en-GB" dirty="0"/>
              <a:t>Understanding a shifting labour market </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922114"/>
          </a:xfrm>
        </p:spPr>
        <p:txBody>
          <a:bodyPr/>
          <a:lstStyle/>
          <a:p>
            <a:r>
              <a:rPr lang="en-GB" dirty="0"/>
              <a:t>Job design </a:t>
            </a:r>
            <a:endParaRPr lang="en-US" dirty="0"/>
          </a:p>
        </p:txBody>
      </p:sp>
      <p:sp>
        <p:nvSpPr>
          <p:cNvPr id="3" name="Content Placeholder 2"/>
          <p:cNvSpPr>
            <a:spLocks noGrp="1"/>
          </p:cNvSpPr>
          <p:nvPr>
            <p:ph idx="1"/>
          </p:nvPr>
        </p:nvSpPr>
        <p:spPr>
          <a:xfrm>
            <a:off x="1055440" y="1417638"/>
            <a:ext cx="10153128" cy="4747666"/>
          </a:xfrm>
        </p:spPr>
        <p:txBody>
          <a:bodyPr>
            <a:normAutofit/>
          </a:bodyPr>
          <a:lstStyle/>
          <a:p>
            <a:r>
              <a:rPr lang="en-US" b="1" dirty="0"/>
              <a:t>A </a:t>
            </a:r>
            <a:r>
              <a:rPr lang="en-US" b="1" i="1" dirty="0"/>
              <a:t>job </a:t>
            </a:r>
            <a:r>
              <a:rPr lang="en-US" dirty="0"/>
              <a:t>consists of a related set of tasks that are carried out by a person to fulfil a purpose.</a:t>
            </a:r>
          </a:p>
          <a:p>
            <a:r>
              <a:rPr lang="en-US" dirty="0"/>
              <a:t>The jobs that people perform in organizations are the building blocks of all organization structures. </a:t>
            </a:r>
          </a:p>
          <a:p>
            <a:r>
              <a:rPr lang="en-US" dirty="0"/>
              <a:t>It is unchanged regardless of the person who do it </a:t>
            </a:r>
          </a:p>
          <a:p>
            <a:pPr algn="just"/>
            <a:r>
              <a:rPr lang="en-US" dirty="0"/>
              <a:t>A major contributor to effective job performance is </a:t>
            </a:r>
            <a:r>
              <a:rPr lang="en-US" b="1" dirty="0"/>
              <a:t>job design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6882B-015B-4CD0-A537-9421B3294802}"/>
              </a:ext>
            </a:extLst>
          </p:cNvPr>
          <p:cNvSpPr>
            <a:spLocks noGrp="1"/>
          </p:cNvSpPr>
          <p:nvPr>
            <p:ph type="title"/>
          </p:nvPr>
        </p:nvSpPr>
        <p:spPr/>
        <p:txBody>
          <a:bodyPr/>
          <a:lstStyle/>
          <a:p>
            <a:endParaRPr lang="en-TZ"/>
          </a:p>
        </p:txBody>
      </p:sp>
      <p:sp>
        <p:nvSpPr>
          <p:cNvPr id="3" name="Content Placeholder 2">
            <a:extLst>
              <a:ext uri="{FF2B5EF4-FFF2-40B4-BE49-F238E27FC236}">
                <a16:creationId xmlns:a16="http://schemas.microsoft.com/office/drawing/2014/main" id="{D2AA9DC4-FBF2-4C6A-A659-4E79C1D857DD}"/>
              </a:ext>
            </a:extLst>
          </p:cNvPr>
          <p:cNvSpPr>
            <a:spLocks noGrp="1"/>
          </p:cNvSpPr>
          <p:nvPr>
            <p:ph idx="1"/>
          </p:nvPr>
        </p:nvSpPr>
        <p:spPr/>
        <p:txBody>
          <a:bodyPr/>
          <a:lstStyle/>
          <a:p>
            <a:r>
              <a:rPr lang="en-US" dirty="0"/>
              <a:t>Job design is defined as the specification of the contents, methods, and relationships of jobs in order to satisfy technological and organizational requirements as well as the social and personal requirements of the job holder.</a:t>
            </a:r>
          </a:p>
          <a:p>
            <a:r>
              <a:rPr lang="en-US" dirty="0"/>
              <a:t>It indicates the way that a set of tasks, or an entire job, is organized.</a:t>
            </a:r>
          </a:p>
          <a:p>
            <a:endParaRPr lang="en-TZ" dirty="0"/>
          </a:p>
        </p:txBody>
      </p:sp>
    </p:spTree>
    <p:extLst>
      <p:ext uri="{BB962C8B-B14F-4D97-AF65-F5344CB8AC3E}">
        <p14:creationId xmlns:p14="http://schemas.microsoft.com/office/powerpoint/2010/main" val="32021068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706090"/>
          </a:xfrm>
        </p:spPr>
        <p:txBody>
          <a:bodyPr>
            <a:normAutofit fontScale="90000"/>
          </a:bodyPr>
          <a:lstStyle/>
          <a:p>
            <a:r>
              <a:rPr lang="en-US" dirty="0"/>
              <a:t>Objective  of Job design </a:t>
            </a:r>
          </a:p>
        </p:txBody>
      </p:sp>
      <p:sp>
        <p:nvSpPr>
          <p:cNvPr id="3" name="Content Placeholder 2"/>
          <p:cNvSpPr>
            <a:spLocks noGrp="1"/>
          </p:cNvSpPr>
          <p:nvPr>
            <p:ph idx="1"/>
          </p:nvPr>
        </p:nvSpPr>
        <p:spPr>
          <a:xfrm>
            <a:off x="609600" y="1196752"/>
            <a:ext cx="10972800" cy="4929413"/>
          </a:xfrm>
        </p:spPr>
        <p:txBody>
          <a:bodyPr>
            <a:normAutofit fontScale="70000" lnSpcReduction="20000"/>
          </a:bodyPr>
          <a:lstStyle/>
          <a:p>
            <a:pPr algn="just"/>
            <a:r>
              <a:rPr lang="en-US" dirty="0"/>
              <a:t>The overall objective of job design is to integrate the needs of the individual with those of the organization</a:t>
            </a:r>
          </a:p>
          <a:p>
            <a:pPr algn="just"/>
            <a:r>
              <a:rPr lang="en-GB" dirty="0"/>
              <a:t>Specifically  is :</a:t>
            </a:r>
            <a:endParaRPr lang="en-US" dirty="0"/>
          </a:p>
          <a:p>
            <a:pPr algn="just">
              <a:buFont typeface="Wingdings" pitchFamily="2" charset="2"/>
              <a:buChar char="v"/>
            </a:pPr>
            <a:r>
              <a:rPr lang="en-US" dirty="0"/>
              <a:t>To satisfy the requirements of the organization for:</a:t>
            </a:r>
          </a:p>
          <a:p>
            <a:pPr marL="809625" indent="-360363" algn="just"/>
            <a:r>
              <a:rPr lang="en-US" dirty="0"/>
              <a:t>productivity, </a:t>
            </a:r>
          </a:p>
          <a:p>
            <a:pPr marL="809625" indent="-360363" algn="just"/>
            <a:r>
              <a:rPr lang="en-US" dirty="0"/>
              <a:t>operational efficiency and</a:t>
            </a:r>
          </a:p>
          <a:p>
            <a:pPr marL="809625" indent="-360363" algn="just"/>
            <a:r>
              <a:rPr lang="en-US" dirty="0"/>
              <a:t> quality of product or service, and </a:t>
            </a:r>
          </a:p>
          <a:p>
            <a:pPr algn="just">
              <a:buFont typeface="Wingdings" pitchFamily="2" charset="2"/>
              <a:buChar char="v"/>
            </a:pPr>
            <a:r>
              <a:rPr lang="en-US" dirty="0"/>
              <a:t>To satisfy the needs of the individual for </a:t>
            </a:r>
          </a:p>
          <a:p>
            <a:pPr lvl="1" algn="just">
              <a:buFont typeface="Arial" panose="020B0604020202020204" pitchFamily="34" charset="0"/>
              <a:buChar char="•"/>
            </a:pPr>
            <a:r>
              <a:rPr lang="en-US" sz="3300" dirty="0"/>
              <a:t>interest, </a:t>
            </a:r>
          </a:p>
          <a:p>
            <a:pPr lvl="1" algn="just">
              <a:buFont typeface="Arial" panose="020B0604020202020204" pitchFamily="34" charset="0"/>
              <a:buChar char="•"/>
            </a:pPr>
            <a:r>
              <a:rPr lang="en-US" sz="3300" dirty="0"/>
              <a:t>challenge and</a:t>
            </a:r>
          </a:p>
          <a:p>
            <a:pPr lvl="1" algn="just">
              <a:buFont typeface="Arial" panose="020B0604020202020204" pitchFamily="34" charset="0"/>
              <a:buChar char="•"/>
            </a:pPr>
            <a:r>
              <a:rPr lang="en-US" sz="3300" dirty="0"/>
              <a:t> accomplishment</a:t>
            </a:r>
          </a:p>
          <a:p>
            <a:pPr marL="457200" lvl="1" indent="0" algn="just">
              <a:buNone/>
            </a:pPr>
            <a:r>
              <a:rPr lang="en-US" sz="3600" dirty="0"/>
              <a:t>Other objective is to help in task variety, work breaks, allowance for an adjustment period and provide training. </a:t>
            </a:r>
          </a:p>
          <a:p>
            <a:pPr lvl="1" algn="just">
              <a:buFont typeface="Arial" panose="020B0604020202020204" pitchFamily="34" charset="0"/>
              <a:buChar char="•"/>
            </a:pPr>
            <a:endParaRPr lang="en-US" sz="3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46"/>
          </a:xfrm>
        </p:spPr>
        <p:txBody>
          <a:bodyPr>
            <a:normAutofit fontScale="90000"/>
          </a:bodyPr>
          <a:lstStyle/>
          <a:p>
            <a:br>
              <a:rPr lang="en-US" i="1" dirty="0"/>
            </a:br>
            <a:r>
              <a:rPr lang="en-US" i="1" dirty="0"/>
              <a:t>Principles of job design</a:t>
            </a:r>
            <a:br>
              <a:rPr lang="en-US" i="1" dirty="0"/>
            </a:br>
            <a:endParaRPr lang="en-US" dirty="0"/>
          </a:p>
        </p:txBody>
      </p:sp>
      <p:sp>
        <p:nvSpPr>
          <p:cNvPr id="3" name="Content Placeholder 2"/>
          <p:cNvSpPr>
            <a:spLocks noGrp="1"/>
          </p:cNvSpPr>
          <p:nvPr>
            <p:ph idx="1"/>
          </p:nvPr>
        </p:nvSpPr>
        <p:spPr>
          <a:xfrm>
            <a:off x="1127448" y="1285860"/>
            <a:ext cx="9721080" cy="5000660"/>
          </a:xfrm>
        </p:spPr>
        <p:txBody>
          <a:bodyPr>
            <a:normAutofit fontScale="62500" lnSpcReduction="20000"/>
          </a:bodyPr>
          <a:lstStyle/>
          <a:p>
            <a:pPr algn="just">
              <a:buNone/>
            </a:pPr>
            <a:r>
              <a:rPr lang="en-US" sz="4500" dirty="0"/>
              <a:t>Robertson and Smith (1985) suggest the following five principles :</a:t>
            </a:r>
          </a:p>
          <a:p>
            <a:pPr marL="514350" indent="-514350" algn="just">
              <a:buFont typeface="+mj-lt"/>
              <a:buAutoNum type="arabicPeriod"/>
            </a:pPr>
            <a:r>
              <a:rPr lang="en-US" sz="5100" dirty="0"/>
              <a:t>To influence skill variety, provide opportunities for people to do several tasks and combine tasks.</a:t>
            </a:r>
          </a:p>
          <a:p>
            <a:pPr marL="514350" indent="-514350" algn="just">
              <a:buFont typeface="+mj-lt"/>
              <a:buAutoNum type="arabicPeriod"/>
            </a:pPr>
            <a:r>
              <a:rPr lang="en-US" sz="5100" dirty="0"/>
              <a:t> To influence task identity, combine tasks and form natural work units.</a:t>
            </a:r>
          </a:p>
          <a:p>
            <a:pPr marL="514350" indent="-514350" algn="just">
              <a:buFont typeface="+mj-lt"/>
              <a:buAutoNum type="arabicPeriod"/>
            </a:pPr>
            <a:r>
              <a:rPr lang="en-US" sz="5100" dirty="0"/>
              <a:t> To influence task significance, form natural work units and inform people of the importance of their work.</a:t>
            </a:r>
          </a:p>
          <a:p>
            <a:pPr marL="514350" indent="-514350" algn="just">
              <a:buFont typeface="+mj-lt"/>
              <a:buAutoNum type="arabicPeriod"/>
            </a:pPr>
            <a:r>
              <a:rPr lang="en-US" sz="5100" dirty="0"/>
              <a:t> To influence autonomy, give people responsibility for determining their own working systems.</a:t>
            </a:r>
          </a:p>
          <a:p>
            <a:pPr marL="514350" indent="-514350" algn="just">
              <a:buFont typeface="+mj-lt"/>
              <a:buAutoNum type="arabicPeriod"/>
            </a:pPr>
            <a:r>
              <a:rPr lang="en-US" sz="5100" dirty="0"/>
              <a:t> To influence feedback, establish good relationships and open feedback </a:t>
            </a:r>
            <a:r>
              <a:rPr lang="en-US" sz="5800" dirty="0"/>
              <a:t>channels</a:t>
            </a:r>
            <a:r>
              <a:rPr lang="en-US" sz="5100" dirty="0"/>
              <a:t>.</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8EE177E-5476-4811-A3E9-C9E5614E704B}"/>
              </a:ext>
            </a:extLst>
          </p:cNvPr>
          <p:cNvSpPr>
            <a:spLocks noGrp="1"/>
          </p:cNvSpPr>
          <p:nvPr>
            <p:ph idx="1"/>
          </p:nvPr>
        </p:nvSpPr>
        <p:spPr>
          <a:xfrm>
            <a:off x="609600" y="764705"/>
            <a:ext cx="10972800" cy="5361460"/>
          </a:xfrm>
        </p:spPr>
        <p:txBody>
          <a:bodyPr>
            <a:normAutofit/>
          </a:bodyPr>
          <a:lstStyle/>
          <a:p>
            <a:r>
              <a:rPr lang="en-US" dirty="0"/>
              <a:t>The principles of job design should handle the following problems: </a:t>
            </a:r>
          </a:p>
          <a:p>
            <a:pPr lvl="1"/>
            <a:r>
              <a:rPr lang="en-US" dirty="0"/>
              <a:t>Work overload/work underload</a:t>
            </a:r>
          </a:p>
          <a:p>
            <a:pPr lvl="1"/>
            <a:r>
              <a:rPr lang="en-US" dirty="0"/>
              <a:t>Repetitiveness</a:t>
            </a:r>
          </a:p>
          <a:p>
            <a:pPr lvl="1"/>
            <a:r>
              <a:rPr lang="en-US" dirty="0"/>
              <a:t>Isolation</a:t>
            </a:r>
          </a:p>
          <a:p>
            <a:pPr lvl="1"/>
            <a:r>
              <a:rPr lang="en-US" dirty="0"/>
              <a:t>Shift work </a:t>
            </a:r>
          </a:p>
          <a:p>
            <a:pPr lvl="1"/>
            <a:r>
              <a:rPr lang="en-US" dirty="0"/>
              <a:t>Delay in filling vacant position</a:t>
            </a:r>
          </a:p>
          <a:p>
            <a:pPr lvl="1"/>
            <a:r>
              <a:rPr lang="en-US" dirty="0"/>
              <a:t>Excessive working hour</a:t>
            </a:r>
          </a:p>
        </p:txBody>
      </p:sp>
    </p:spTree>
    <p:extLst>
      <p:ext uri="{BB962C8B-B14F-4D97-AF65-F5344CB8AC3E}">
        <p14:creationId xmlns:p14="http://schemas.microsoft.com/office/powerpoint/2010/main" val="29111029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B0946-7B4E-4B84-B8F2-909F397F3AEC}"/>
              </a:ext>
            </a:extLst>
          </p:cNvPr>
          <p:cNvSpPr>
            <a:spLocks noGrp="1"/>
          </p:cNvSpPr>
          <p:nvPr>
            <p:ph type="title"/>
          </p:nvPr>
        </p:nvSpPr>
        <p:spPr/>
        <p:txBody>
          <a:bodyPr/>
          <a:lstStyle/>
          <a:p>
            <a:r>
              <a:rPr lang="en-US" dirty="0"/>
              <a:t>Features of “Good” Job Design </a:t>
            </a:r>
            <a:endParaRPr lang="en-TZ" dirty="0"/>
          </a:p>
        </p:txBody>
      </p:sp>
      <p:sp>
        <p:nvSpPr>
          <p:cNvPr id="3" name="Content Placeholder 2">
            <a:extLst>
              <a:ext uri="{FF2B5EF4-FFF2-40B4-BE49-F238E27FC236}">
                <a16:creationId xmlns:a16="http://schemas.microsoft.com/office/drawing/2014/main" id="{E511B799-28B3-40F9-91FE-F1F3C4617262}"/>
              </a:ext>
            </a:extLst>
          </p:cNvPr>
          <p:cNvSpPr>
            <a:spLocks noGrp="1"/>
          </p:cNvSpPr>
          <p:nvPr>
            <p:ph idx="1"/>
          </p:nvPr>
        </p:nvSpPr>
        <p:spPr/>
        <p:txBody>
          <a:bodyPr>
            <a:normAutofit fontScale="92500" lnSpcReduction="20000"/>
          </a:bodyPr>
          <a:lstStyle/>
          <a:p>
            <a:r>
              <a:rPr lang="en-US" dirty="0"/>
              <a:t>Good job design has the following features:</a:t>
            </a:r>
          </a:p>
          <a:p>
            <a:r>
              <a:rPr lang="en-US" dirty="0"/>
              <a:t>Allow for employee input and initiatives</a:t>
            </a:r>
          </a:p>
          <a:p>
            <a:r>
              <a:rPr lang="en-US" dirty="0"/>
              <a:t>Allow employee a sense of accomplishment </a:t>
            </a:r>
          </a:p>
          <a:p>
            <a:r>
              <a:rPr lang="en-US" dirty="0"/>
              <a:t>Include training</a:t>
            </a:r>
          </a:p>
          <a:p>
            <a:r>
              <a:rPr lang="en-US" dirty="0"/>
              <a:t>Provide good work/rest schedule </a:t>
            </a:r>
          </a:p>
          <a:p>
            <a:r>
              <a:rPr lang="en-US" dirty="0"/>
              <a:t>Allow for adjustment period </a:t>
            </a:r>
          </a:p>
          <a:p>
            <a:r>
              <a:rPr lang="en-US" dirty="0"/>
              <a:t>Provide feedback to the employees about their performance </a:t>
            </a:r>
          </a:p>
          <a:p>
            <a:r>
              <a:rPr lang="en-US" dirty="0"/>
              <a:t>Minimize energy expenditure and force requirement</a:t>
            </a:r>
          </a:p>
          <a:p>
            <a:r>
              <a:rPr lang="en-US" dirty="0"/>
              <a:t>Balance static and dynamic work</a:t>
            </a:r>
            <a:endParaRPr lang="en-TZ" dirty="0"/>
          </a:p>
          <a:p>
            <a:endParaRPr lang="en-TZ" dirty="0"/>
          </a:p>
        </p:txBody>
      </p:sp>
    </p:spTree>
    <p:extLst>
      <p:ext uri="{BB962C8B-B14F-4D97-AF65-F5344CB8AC3E}">
        <p14:creationId xmlns:p14="http://schemas.microsoft.com/office/powerpoint/2010/main" val="33282968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46"/>
          </a:xfrm>
        </p:spPr>
        <p:txBody>
          <a:bodyPr>
            <a:normAutofit fontScale="90000"/>
          </a:bodyPr>
          <a:lstStyle/>
          <a:p>
            <a:br>
              <a:rPr lang="en-US" i="1" dirty="0"/>
            </a:br>
            <a:r>
              <a:rPr lang="en-US" i="1" dirty="0"/>
              <a:t>Approaches to job design</a:t>
            </a:r>
            <a:br>
              <a:rPr lang="en-US" i="1" dirty="0"/>
            </a:br>
            <a:endParaRPr lang="en-US" dirty="0"/>
          </a:p>
        </p:txBody>
      </p:sp>
      <p:sp>
        <p:nvSpPr>
          <p:cNvPr id="3" name="Content Placeholder 2"/>
          <p:cNvSpPr>
            <a:spLocks noGrp="1"/>
          </p:cNvSpPr>
          <p:nvPr>
            <p:ph idx="1"/>
          </p:nvPr>
        </p:nvSpPr>
        <p:spPr>
          <a:xfrm>
            <a:off x="839416" y="1428737"/>
            <a:ext cx="10369152" cy="4697427"/>
          </a:xfrm>
        </p:spPr>
        <p:txBody>
          <a:bodyPr>
            <a:normAutofit lnSpcReduction="10000"/>
          </a:bodyPr>
          <a:lstStyle/>
          <a:p>
            <a:r>
              <a:rPr lang="en-US" dirty="0"/>
              <a:t>The main job design approaches are:</a:t>
            </a:r>
          </a:p>
          <a:p>
            <a:pPr marL="514350" indent="-514350">
              <a:buFont typeface="+mj-lt"/>
              <a:buAutoNum type="arabicPeriod"/>
            </a:pPr>
            <a:r>
              <a:rPr lang="en-US" dirty="0"/>
              <a:t> </a:t>
            </a:r>
            <a:r>
              <a:rPr lang="en-US" b="1" i="1" dirty="0"/>
              <a:t>Job rotation </a:t>
            </a:r>
            <a:r>
              <a:rPr lang="en-US" i="1" dirty="0"/>
              <a:t>– </a:t>
            </a:r>
            <a:r>
              <a:rPr lang="en-US" dirty="0"/>
              <a:t>comprises the movement of employees from one task to another to reduce monotony by increasing variety.</a:t>
            </a:r>
          </a:p>
          <a:p>
            <a:pPr marL="514350" indent="-514350">
              <a:buFont typeface="+mj-lt"/>
              <a:buAutoNum type="arabicPeriod"/>
            </a:pPr>
            <a:r>
              <a:rPr lang="en-US" b="1" dirty="0"/>
              <a:t> </a:t>
            </a:r>
            <a:r>
              <a:rPr lang="en-US" b="1" i="1" dirty="0"/>
              <a:t>Job enlargement </a:t>
            </a:r>
            <a:r>
              <a:rPr lang="en-US" i="1" dirty="0"/>
              <a:t>– </a:t>
            </a:r>
            <a:r>
              <a:rPr lang="en-US" dirty="0"/>
              <a:t>combining previously fragmented tasks into one job, again to increase the variety and meaning of repetitive work.</a:t>
            </a:r>
          </a:p>
          <a:p>
            <a:pPr marL="514350" indent="-514350">
              <a:buFont typeface="+mj-lt"/>
              <a:buAutoNum type="arabicPeriod"/>
            </a:pPr>
            <a:r>
              <a:rPr lang="en-US" dirty="0"/>
              <a:t> </a:t>
            </a:r>
            <a:r>
              <a:rPr lang="en-US" b="1" i="1" dirty="0"/>
              <a:t>Job enrichment </a:t>
            </a:r>
            <a:r>
              <a:rPr lang="en-US" i="1" dirty="0"/>
              <a:t>– </a:t>
            </a:r>
            <a:r>
              <a:rPr lang="en-US" dirty="0"/>
              <a:t>It  goes beyond job enlargement to add greater autonomy and responsibility to a job.</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857233"/>
            <a:ext cx="8229600" cy="5268931"/>
          </a:xfrm>
        </p:spPr>
        <p:txBody>
          <a:bodyPr>
            <a:normAutofit/>
          </a:bodyPr>
          <a:lstStyle/>
          <a:p>
            <a:pPr algn="just">
              <a:buNone/>
            </a:pPr>
            <a:r>
              <a:rPr lang="en-US" dirty="0"/>
              <a:t> </a:t>
            </a:r>
            <a:r>
              <a:rPr lang="en-US" i="1" dirty="0"/>
              <a:t>Self-managing teams (autonomous work groups) – these are self-regulating teams </a:t>
            </a:r>
            <a:r>
              <a:rPr lang="en-US" dirty="0"/>
              <a:t>who work largely without direct supervision. The philosophy on which this technique is based is a logical extension of job enrichment.</a:t>
            </a:r>
          </a:p>
          <a:p>
            <a:pPr algn="just">
              <a:buNone/>
            </a:pPr>
            <a:r>
              <a:rPr lang="en-US" dirty="0"/>
              <a:t> </a:t>
            </a:r>
            <a:r>
              <a:rPr lang="en-US" i="1" dirty="0"/>
              <a:t>High-performance work design – which concentrates on setting up working groups in </a:t>
            </a:r>
            <a:r>
              <a:rPr lang="en-US" dirty="0"/>
              <a:t>environments where high levels of performance are required.</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r>
              <a:rPr lang="en-US" dirty="0"/>
              <a:t>JOB ENRICHMENT</a:t>
            </a:r>
            <a:br>
              <a:rPr lang="en-US" dirty="0"/>
            </a:br>
            <a:endParaRPr lang="en-US" dirty="0"/>
          </a:p>
        </p:txBody>
      </p:sp>
      <p:sp>
        <p:nvSpPr>
          <p:cNvPr id="3" name="Content Placeholder 2"/>
          <p:cNvSpPr>
            <a:spLocks noGrp="1"/>
          </p:cNvSpPr>
          <p:nvPr>
            <p:ph idx="1"/>
          </p:nvPr>
        </p:nvSpPr>
        <p:spPr>
          <a:xfrm>
            <a:off x="609600" y="1417639"/>
            <a:ext cx="10972800" cy="4708526"/>
          </a:xfrm>
        </p:spPr>
        <p:txBody>
          <a:bodyPr>
            <a:normAutofit fontScale="85000" lnSpcReduction="10000"/>
          </a:bodyPr>
          <a:lstStyle/>
          <a:p>
            <a:r>
              <a:rPr lang="en-US" dirty="0"/>
              <a:t>Job enrichment aims to maximize the interest and challenge of work by providing the employee with a job that has these characteristics:</a:t>
            </a:r>
          </a:p>
          <a:p>
            <a:pPr lvl="1"/>
            <a:r>
              <a:rPr lang="en-US" sz="3500" dirty="0"/>
              <a:t>It is a complete piece of work in the sense that the worker can identify a series of tasks or activities that end in a recognizable and definable product</a:t>
            </a:r>
          </a:p>
          <a:p>
            <a:pPr lvl="1"/>
            <a:r>
              <a:rPr lang="en-US" sz="3500" dirty="0"/>
              <a:t>It affords the employee as much variety, decision-making responsibility and</a:t>
            </a:r>
          </a:p>
          <a:p>
            <a:pPr lvl="1"/>
            <a:r>
              <a:rPr lang="en-US" sz="3500" dirty="0"/>
              <a:t>control as possible in carrying out the work.</a:t>
            </a:r>
          </a:p>
          <a:p>
            <a:pPr lvl="1"/>
            <a:r>
              <a:rPr lang="en-US" sz="3500" dirty="0"/>
              <a:t>It provides direct feedback through the work itself on how well the employee is doing his or her job.</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Factors  affect a job design</a:t>
            </a:r>
          </a:p>
        </p:txBody>
      </p:sp>
      <p:sp>
        <p:nvSpPr>
          <p:cNvPr id="3" name="Content Placeholder 2"/>
          <p:cNvSpPr>
            <a:spLocks noGrp="1"/>
          </p:cNvSpPr>
          <p:nvPr>
            <p:ph idx="1"/>
          </p:nvPr>
        </p:nvSpPr>
        <p:spPr/>
        <p:txBody>
          <a:bodyPr/>
          <a:lstStyle/>
          <a:p>
            <a:r>
              <a:rPr lang="en-US" dirty="0"/>
              <a:t>The various factors that affect a job design can classified under three heads. They are:</a:t>
            </a:r>
          </a:p>
          <a:p>
            <a:r>
              <a:rPr lang="en-US" dirty="0"/>
              <a:t>Organizational Factors</a:t>
            </a:r>
          </a:p>
          <a:p>
            <a:r>
              <a:rPr lang="en-US" dirty="0"/>
              <a:t>Environmental Factors</a:t>
            </a:r>
          </a:p>
          <a:p>
            <a:r>
              <a:rPr lang="en-US" dirty="0" err="1"/>
              <a:t>Behavioural</a:t>
            </a:r>
            <a:r>
              <a:rPr lang="en-US" dirty="0"/>
              <a:t> Factors</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Organizational Factors</a:t>
            </a:r>
            <a:endParaRPr lang="en-US" dirty="0"/>
          </a:p>
        </p:txBody>
      </p:sp>
      <p:sp>
        <p:nvSpPr>
          <p:cNvPr id="3" name="Content Placeholder 2"/>
          <p:cNvSpPr>
            <a:spLocks noGrp="1"/>
          </p:cNvSpPr>
          <p:nvPr>
            <p:ph idx="1"/>
          </p:nvPr>
        </p:nvSpPr>
        <p:spPr/>
        <p:txBody>
          <a:bodyPr>
            <a:normAutofit fontScale="92500" lnSpcReduction="20000"/>
          </a:bodyPr>
          <a:lstStyle/>
          <a:p>
            <a:r>
              <a:rPr lang="en-US" dirty="0"/>
              <a:t>Organizational factors that affect job design can be</a:t>
            </a:r>
          </a:p>
          <a:p>
            <a:pPr lvl="1"/>
            <a:r>
              <a:rPr lang="en-US" dirty="0"/>
              <a:t> work nature or characteristics, </a:t>
            </a:r>
          </a:p>
          <a:p>
            <a:pPr lvl="1"/>
            <a:r>
              <a:rPr lang="en-US" dirty="0"/>
              <a:t>work flow, </a:t>
            </a:r>
          </a:p>
          <a:p>
            <a:pPr lvl="1"/>
            <a:r>
              <a:rPr lang="en-US" dirty="0"/>
              <a:t>organizational practices and </a:t>
            </a:r>
          </a:p>
          <a:p>
            <a:pPr lvl="1"/>
            <a:r>
              <a:rPr lang="en-US" dirty="0"/>
              <a:t>ergonomics.</a:t>
            </a:r>
          </a:p>
          <a:p>
            <a:r>
              <a:rPr lang="en-US" dirty="0"/>
              <a:t>Work Nature / characteristics :</a:t>
            </a:r>
          </a:p>
          <a:p>
            <a:r>
              <a:rPr lang="en-US" dirty="0"/>
              <a:t> their are various elements of a job and job design is required to classify various tasks into a job or a coherent set of jobs. </a:t>
            </a:r>
          </a:p>
          <a:p>
            <a:pPr>
              <a:buNone/>
            </a:pPr>
            <a:r>
              <a:rPr lang="en-US" dirty="0"/>
              <a:t>The various tasks may be planning, executing, monitoring, controlling etc and all these are to be taken into consideration while designing a job.</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a:t>Ergonomics: Ergonomics aims at designing jobs in such a way that the physical abilities and individual traits of employees are taken into consideration so as to ensure efficiency and productivity.</a:t>
            </a:r>
          </a:p>
          <a:p>
            <a:endParaRPr lang="en-US" dirty="0"/>
          </a:p>
          <a:p>
            <a:r>
              <a:rPr lang="en-US" dirty="0"/>
              <a:t>Workflow: Product and service type often determines the sequence of work flow. A balance is required between various product or service processes and a job design ensures this.</a:t>
            </a:r>
          </a:p>
          <a:p>
            <a:endParaRPr lang="en-US" dirty="0"/>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Culture: Organizational culture determines the way tasks are carried out at the work places.</a:t>
            </a:r>
          </a:p>
          <a:p>
            <a:pPr marL="623888" indent="-174625"/>
            <a:r>
              <a:rPr lang="en-US" dirty="0"/>
              <a:t> Practices are methods or standards laid out for carrying out a certain task. </a:t>
            </a:r>
          </a:p>
          <a:p>
            <a:pPr marL="623888" indent="-174625"/>
            <a:r>
              <a:rPr lang="en-US" dirty="0"/>
              <a:t>These practices often effect the job design especially when the practices are not aligned to the interests of the unions</a:t>
            </a:r>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Environmental Factors</a:t>
            </a:r>
            <a:br>
              <a:rPr lang="en-US" b="1" dirty="0"/>
            </a:br>
            <a:endParaRPr lang="en-US" dirty="0"/>
          </a:p>
        </p:txBody>
      </p:sp>
      <p:sp>
        <p:nvSpPr>
          <p:cNvPr id="3" name="Content Placeholder 2"/>
          <p:cNvSpPr>
            <a:spLocks noGrp="1"/>
          </p:cNvSpPr>
          <p:nvPr>
            <p:ph idx="1"/>
          </p:nvPr>
        </p:nvSpPr>
        <p:spPr/>
        <p:txBody>
          <a:bodyPr>
            <a:normAutofit/>
          </a:bodyPr>
          <a:lstStyle/>
          <a:p>
            <a:r>
              <a:rPr lang="en-US" dirty="0"/>
              <a:t>Environmental factors affect the job design to a considerable extent. </a:t>
            </a:r>
          </a:p>
          <a:p>
            <a:r>
              <a:rPr lang="en-US" dirty="0"/>
              <a:t>These factors include both the internal as well as external factors. </a:t>
            </a:r>
          </a:p>
          <a:p>
            <a:r>
              <a:rPr lang="en-US" dirty="0"/>
              <a:t>They include factors like employee skills and abilities, their availability, and their socio economic and cultural prospects.</a:t>
            </a:r>
          </a:p>
          <a:p>
            <a:pPr lvl="1"/>
            <a:endParaRPr lang="en-US" dirty="0"/>
          </a:p>
          <a:p>
            <a:pPr lvl="1"/>
            <a:r>
              <a:rPr lang="en-US" dirty="0"/>
              <a:t>.</a:t>
            </a:r>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908720"/>
            <a:ext cx="10972800" cy="5256583"/>
          </a:xfrm>
        </p:spPr>
        <p:txBody>
          <a:bodyPr>
            <a:normAutofit fontScale="92500"/>
          </a:bodyPr>
          <a:lstStyle/>
          <a:p>
            <a:pPr marL="444500" lvl="1" indent="6350">
              <a:buNone/>
            </a:pPr>
            <a:r>
              <a:rPr lang="en-US" b="1" dirty="0"/>
              <a:t>Employee availability and abilities </a:t>
            </a:r>
          </a:p>
          <a:p>
            <a:pPr marL="1301750" lvl="2" indent="-457200"/>
            <a:r>
              <a:rPr lang="en-US" sz="2800" dirty="0"/>
              <a:t>Employee skills, abilities and time of availability play a crucial role while designing of the jobs. </a:t>
            </a:r>
          </a:p>
          <a:p>
            <a:pPr marL="1301750" lvl="2" indent="-457200"/>
            <a:r>
              <a:rPr lang="en-US" sz="2800" dirty="0"/>
              <a:t>Designing a job that is more demanding and above their skill set will lead to decreased productivity and employee satisfaction.</a:t>
            </a:r>
          </a:p>
          <a:p>
            <a:pPr marL="444500" lvl="1" indent="6350">
              <a:buNone/>
            </a:pPr>
            <a:r>
              <a:rPr lang="en-US" b="1" dirty="0"/>
              <a:t>Socio economic and cultural expectations</a:t>
            </a:r>
          </a:p>
          <a:p>
            <a:pPr marL="1200150" lvl="3" indent="-342900"/>
            <a:r>
              <a:rPr lang="en-US" sz="2600" dirty="0"/>
              <a:t>Jobs are nowadays becoming more employee centered rather than process centered.</a:t>
            </a:r>
          </a:p>
          <a:p>
            <a:pPr marL="1200150" lvl="3" indent="-342900"/>
            <a:r>
              <a:rPr lang="en-US" sz="2600" dirty="0"/>
              <a:t> They are therefore designed keeping the employees into consideration.</a:t>
            </a:r>
          </a:p>
          <a:p>
            <a:pPr marL="1200150" lvl="3" indent="-342900"/>
            <a:r>
              <a:rPr lang="en-US" sz="2600" dirty="0"/>
              <a:t> In addition the literacy level among the employees is also on the rise. </a:t>
            </a:r>
          </a:p>
          <a:p>
            <a:pPr marL="1200150" lvl="3" indent="-342900"/>
            <a:r>
              <a:rPr lang="en-US" sz="2600" dirty="0"/>
              <a:t>They now demand jobs that are to their liking and competency and which they </a:t>
            </a:r>
            <a:r>
              <a:rPr lang="en-US" dirty="0"/>
              <a:t>can perform the best.</a:t>
            </a:r>
          </a:p>
          <a:p>
            <a:pPr marL="444500" lvl="1" indent="6350">
              <a:buNone/>
            </a:pPr>
            <a:endParaRPr lang="en-US" b="1" dirty="0"/>
          </a:p>
          <a:p>
            <a:pPr marL="444500" lvl="1" indent="6350">
              <a:buNone/>
            </a:pPr>
            <a:endParaRPr lang="en-US" b="1" dirty="0"/>
          </a:p>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1011222"/>
          </a:xfrm>
        </p:spPr>
        <p:txBody>
          <a:bodyPr>
            <a:normAutofit fontScale="90000"/>
          </a:bodyPr>
          <a:lstStyle/>
          <a:p>
            <a:br>
              <a:rPr lang="en-US" b="1" dirty="0"/>
            </a:br>
            <a:r>
              <a:rPr lang="en-US" b="1" dirty="0" err="1"/>
              <a:t>Behavioural</a:t>
            </a:r>
            <a:r>
              <a:rPr lang="en-US" b="1" dirty="0"/>
              <a:t> Factors</a:t>
            </a:r>
            <a:br>
              <a:rPr lang="en-US" b="1" dirty="0"/>
            </a:br>
            <a:endParaRPr lang="en-US" dirty="0"/>
          </a:p>
        </p:txBody>
      </p:sp>
      <p:sp>
        <p:nvSpPr>
          <p:cNvPr id="3" name="Content Placeholder 2"/>
          <p:cNvSpPr>
            <a:spLocks noGrp="1"/>
          </p:cNvSpPr>
          <p:nvPr>
            <p:ph idx="1"/>
          </p:nvPr>
        </p:nvSpPr>
        <p:spPr/>
        <p:txBody>
          <a:bodyPr>
            <a:normAutofit fontScale="92500"/>
          </a:bodyPr>
          <a:lstStyle/>
          <a:p>
            <a:r>
              <a:rPr lang="en-US" dirty="0" err="1"/>
              <a:t>Behavioural</a:t>
            </a:r>
            <a:r>
              <a:rPr lang="en-US" dirty="0"/>
              <a:t> factors or human factors are those that pertain to the human need and that need to be satisfied for ensuring productivity at workplace. </a:t>
            </a:r>
          </a:p>
          <a:p>
            <a:r>
              <a:rPr lang="en-US" dirty="0"/>
              <a:t>They include the elements like autonomy, diversity, feedback etc. </a:t>
            </a:r>
          </a:p>
          <a:p>
            <a:pPr lvl="1"/>
            <a:r>
              <a:rPr lang="en-US" b="1" dirty="0"/>
              <a:t>Autonomy:</a:t>
            </a:r>
            <a:r>
              <a:rPr lang="en-US" dirty="0"/>
              <a:t> Employees should work in an open environment rather than one that contains fear. It promotes creativity, independence and leads to increased efficiency.</a:t>
            </a:r>
          </a:p>
          <a:p>
            <a:pPr lvl="1"/>
            <a:r>
              <a:rPr lang="en-US" b="1" dirty="0"/>
              <a:t>Feedback:</a:t>
            </a:r>
            <a:r>
              <a:rPr lang="en-US" dirty="0"/>
              <a:t> Feedback should be an integral part of work. Each employee should receive proper feedback about his work performance.</a:t>
            </a:r>
          </a:p>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lvl="1"/>
            <a:r>
              <a:rPr lang="en-US" b="1" dirty="0"/>
              <a:t>Diversity:</a:t>
            </a:r>
            <a:r>
              <a:rPr lang="en-US" dirty="0"/>
              <a:t> Repetitive jobs often make work monotonous which leads to boredom. A job should carry sufficient diversity and variety so that it remains as interesting with every passing day. Job variety / diversity should be given due importance while designing a job.</a:t>
            </a:r>
          </a:p>
          <a:p>
            <a:pPr lvl="1"/>
            <a:r>
              <a:rPr lang="en-US" b="1" dirty="0"/>
              <a:t>Use of Skills and abilities:</a:t>
            </a:r>
            <a:r>
              <a:rPr lang="en-US" dirty="0"/>
              <a:t> Jobs should be employee rather than process centered. Though due emphasis needs to be given to the latter but jobs should be designed in a manner such that an employee is able to make full use of his abilities and perform the job effectively.</a:t>
            </a:r>
          </a:p>
          <a:p>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Job Analysis</a:t>
            </a:r>
            <a:endParaRPr lang="en-US" dirty="0"/>
          </a:p>
        </p:txBody>
      </p:sp>
      <p:sp>
        <p:nvSpPr>
          <p:cNvPr id="3" name="Content Placeholder 2"/>
          <p:cNvSpPr>
            <a:spLocks noGrp="1"/>
          </p:cNvSpPr>
          <p:nvPr>
            <p:ph idx="1"/>
          </p:nvPr>
        </p:nvSpPr>
        <p:spPr/>
        <p:txBody>
          <a:bodyPr>
            <a:normAutofit lnSpcReduction="10000"/>
          </a:bodyPr>
          <a:lstStyle/>
          <a:p>
            <a:pPr algn="just"/>
            <a:r>
              <a:rPr lang="en-US" dirty="0"/>
              <a:t>Is a systematic exploration, study and recording the responsibilities, duties, skills, accountabilities, work environment and ability requirements of a specific job.</a:t>
            </a:r>
          </a:p>
          <a:p>
            <a:pPr algn="just"/>
            <a:r>
              <a:rPr lang="en-US" dirty="0"/>
              <a:t> It also involves determining the relative importance of the duties, responsibilities and physical and emotional skills for a given job.</a:t>
            </a:r>
          </a:p>
          <a:p>
            <a:pPr algn="just"/>
            <a:r>
              <a:rPr lang="en-US" dirty="0"/>
              <a:t>Job Analysis is a primary tool to collect job-related data. </a:t>
            </a:r>
          </a:p>
          <a:p>
            <a:pPr lvl="1" algn="just"/>
            <a:r>
              <a:rPr lang="en-US" dirty="0"/>
              <a:t>The process results in collecting and recording two data sets including job description and job specification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Job Description</a:t>
            </a:r>
            <a:br>
              <a:rPr lang="en-US" dirty="0"/>
            </a:br>
            <a:endParaRPr lang="en-US" dirty="0"/>
          </a:p>
        </p:txBody>
      </p:sp>
      <p:sp>
        <p:nvSpPr>
          <p:cNvPr id="3" name="Content Placeholder 2"/>
          <p:cNvSpPr>
            <a:spLocks noGrp="1"/>
          </p:cNvSpPr>
          <p:nvPr>
            <p:ph idx="1"/>
          </p:nvPr>
        </p:nvSpPr>
        <p:spPr>
          <a:xfrm>
            <a:off x="1981200" y="1285861"/>
            <a:ext cx="8229600" cy="4840303"/>
          </a:xfrm>
        </p:spPr>
        <p:txBody>
          <a:bodyPr>
            <a:normAutofit fontScale="92500" lnSpcReduction="20000"/>
          </a:bodyPr>
          <a:lstStyle/>
          <a:p>
            <a:pPr algn="just"/>
            <a:r>
              <a:rPr lang="en-US" dirty="0"/>
              <a:t>Job Description is a summary of job analysis findings that helps managers determine what an employee is supposed to do when onboard.</a:t>
            </a:r>
          </a:p>
          <a:p>
            <a:pPr algn="just"/>
            <a:r>
              <a:rPr lang="en-US" dirty="0"/>
              <a:t>Job description includes basic job-related data that is useful to advertise a specific job and attract a pool of talent.</a:t>
            </a:r>
          </a:p>
          <a:p>
            <a:pPr algn="just"/>
            <a:r>
              <a:rPr lang="en-US" dirty="0"/>
              <a:t>It includes information such as job title, job location, reporting to and of employees, job summary, nature and objectives of a job, tasks and duties to be performed, working conditions, machines, tools and equipments to be used by a prospective worker and hazards involved in it.</a:t>
            </a:r>
          </a:p>
          <a:p>
            <a:pPr algn="just"/>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Purpose of Job Description</a:t>
            </a:r>
            <a:br>
              <a:rPr lang="en-US" b="1" dirty="0"/>
            </a:br>
            <a:endParaRPr lang="en-US" dirty="0"/>
          </a:p>
        </p:txBody>
      </p:sp>
      <p:sp>
        <p:nvSpPr>
          <p:cNvPr id="3" name="Content Placeholder 2"/>
          <p:cNvSpPr>
            <a:spLocks noGrp="1"/>
          </p:cNvSpPr>
          <p:nvPr>
            <p:ph idx="1"/>
          </p:nvPr>
        </p:nvSpPr>
        <p:spPr/>
        <p:txBody>
          <a:bodyPr>
            <a:normAutofit fontScale="85000" lnSpcReduction="10000"/>
          </a:bodyPr>
          <a:lstStyle/>
          <a:p>
            <a:r>
              <a:rPr lang="en-US" dirty="0"/>
              <a:t>The main purpose of job description is to collect job-related data in order to advertise for a particular job. </a:t>
            </a:r>
          </a:p>
          <a:p>
            <a:r>
              <a:rPr lang="en-US" dirty="0"/>
              <a:t>It helps in attracting, targeting, recruiting and selecting the right candidate for the right job.</a:t>
            </a:r>
          </a:p>
          <a:p>
            <a:r>
              <a:rPr lang="en-US" dirty="0"/>
              <a:t>It is done to determine what needs to be delivered in a particular job.</a:t>
            </a:r>
          </a:p>
          <a:p>
            <a:r>
              <a:rPr lang="en-US" dirty="0"/>
              <a:t> It clarifies what employees are supposed to do if selected for that particular job opening.</a:t>
            </a:r>
          </a:p>
          <a:p>
            <a:r>
              <a:rPr lang="en-US" dirty="0"/>
              <a:t>It gives recruiting staff a clear view what kind of candidate is required by a particular department or division to perform a specific task or job.</a:t>
            </a:r>
          </a:p>
          <a:p>
            <a:r>
              <a:rPr lang="en-US" dirty="0"/>
              <a:t>It also clarifies who will report to whom.</a:t>
            </a:r>
          </a:p>
          <a:p>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Purpose of job description</a:t>
            </a:r>
            <a:endParaRPr lang="en-US" dirty="0"/>
          </a:p>
        </p:txBody>
      </p:sp>
      <p:pic>
        <p:nvPicPr>
          <p:cNvPr id="4" name="Content Placeholder 3" descr="Job Description Purpose"/>
          <p:cNvPicPr>
            <a:picLocks noGrp="1"/>
          </p:cNvPicPr>
          <p:nvPr>
            <p:ph idx="1"/>
          </p:nvPr>
        </p:nvPicPr>
        <p:blipFill>
          <a:blip r:embed="rId2" cstate="print"/>
          <a:srcRect/>
          <a:stretch>
            <a:fillRect/>
          </a:stretch>
        </p:blipFill>
        <p:spPr bwMode="auto">
          <a:xfrm>
            <a:off x="1343472" y="1340768"/>
            <a:ext cx="9721080" cy="4824536"/>
          </a:xfrm>
          <a:prstGeom prst="rect">
            <a:avLst/>
          </a:prstGeom>
          <a:noFill/>
          <a:ln w="9525">
            <a:noFill/>
            <a:miter lim="800000"/>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r>
              <a:rPr lang="en-US" dirty="0"/>
              <a:t>General Purpose of Job Description</a:t>
            </a:r>
            <a:br>
              <a:rPr lang="en-US" dirty="0"/>
            </a:br>
            <a:endParaRPr lang="en-US" dirty="0"/>
          </a:p>
        </p:txBody>
      </p:sp>
      <p:sp>
        <p:nvSpPr>
          <p:cNvPr id="3" name="Content Placeholder 2"/>
          <p:cNvSpPr>
            <a:spLocks noGrp="1"/>
          </p:cNvSpPr>
          <p:nvPr>
            <p:ph idx="1"/>
          </p:nvPr>
        </p:nvSpPr>
        <p:spPr>
          <a:xfrm>
            <a:off x="1981200" y="1357299"/>
            <a:ext cx="8229600" cy="4768865"/>
          </a:xfrm>
        </p:spPr>
        <p:txBody>
          <a:bodyPr>
            <a:normAutofit fontScale="62500" lnSpcReduction="20000"/>
          </a:bodyPr>
          <a:lstStyle/>
          <a:p>
            <a:r>
              <a:rPr lang="en-US" dirty="0"/>
              <a:t>General purpose job descriptions are used by organizations to find the very basic information about a particular job opening. Though data includes worker’s duties but does not contain sub tasks, performance standards and basis for evaluating jobs and establishing right compensation packages.</a:t>
            </a:r>
          </a:p>
          <a:p>
            <a:pPr>
              <a:buNone/>
            </a:pPr>
            <a:r>
              <a:rPr lang="en-US" b="1" dirty="0"/>
              <a:t>Advantages</a:t>
            </a:r>
            <a:endParaRPr lang="en-US" dirty="0"/>
          </a:p>
          <a:p>
            <a:pPr marL="712788" indent="-266700">
              <a:buFont typeface="Wingdings" pitchFamily="2" charset="2"/>
              <a:buChar char="§"/>
            </a:pPr>
            <a:r>
              <a:rPr lang="en-US" dirty="0"/>
              <a:t>It does not consume much time and quickly provides basic information to managers. </a:t>
            </a:r>
          </a:p>
          <a:p>
            <a:pPr marL="712788" indent="-266700">
              <a:buFont typeface="Wingdings" pitchFamily="2" charset="2"/>
              <a:buChar char="§"/>
            </a:pPr>
            <a:r>
              <a:rPr lang="en-US" dirty="0"/>
              <a:t>It does not require much human efforts and is very easy and convenient to carry out. </a:t>
            </a:r>
          </a:p>
          <a:p>
            <a:pPr marL="712788" indent="-266700">
              <a:buFont typeface="Wingdings" pitchFamily="2" charset="2"/>
              <a:buChar char="§"/>
            </a:pPr>
            <a:r>
              <a:rPr lang="en-US" dirty="0"/>
              <a:t>Additionally, a job analyst does not have to conduct deep research to gather the required details.</a:t>
            </a:r>
          </a:p>
          <a:p>
            <a:pPr>
              <a:buNone/>
            </a:pPr>
            <a:r>
              <a:rPr lang="en-US" b="1" dirty="0"/>
              <a:t>Disadvantages</a:t>
            </a:r>
          </a:p>
          <a:p>
            <a:pPr marL="712788" indent="-266700">
              <a:buFont typeface="Wingdings" pitchFamily="2" charset="2"/>
              <a:buChar char="§"/>
            </a:pPr>
            <a:r>
              <a:rPr lang="en-US" dirty="0"/>
              <a:t>It does not provide managers with full-fledged information about job context and sub tasks.</a:t>
            </a:r>
          </a:p>
          <a:p>
            <a:pPr marL="712788" indent="-266700">
              <a:buFont typeface="Wingdings" pitchFamily="2" charset="2"/>
              <a:buChar char="§"/>
            </a:pPr>
            <a:r>
              <a:rPr lang="en-US" dirty="0"/>
              <a:t> Sometimes, a manager may fail to extract correct information from such small amount of data.</a:t>
            </a:r>
          </a:p>
          <a:p>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r>
              <a:rPr lang="en-US" dirty="0"/>
              <a:t>Specific Purpose of Job Description</a:t>
            </a:r>
            <a:br>
              <a:rPr lang="en-US" dirty="0"/>
            </a:br>
            <a:endParaRPr lang="en-US" dirty="0"/>
          </a:p>
        </p:txBody>
      </p:sp>
      <p:sp>
        <p:nvSpPr>
          <p:cNvPr id="3" name="Content Placeholder 2"/>
          <p:cNvSpPr>
            <a:spLocks noGrp="1"/>
          </p:cNvSpPr>
          <p:nvPr>
            <p:ph idx="1"/>
          </p:nvPr>
        </p:nvSpPr>
        <p:spPr>
          <a:xfrm>
            <a:off x="1981200" y="1285861"/>
            <a:ext cx="8229600" cy="4840303"/>
          </a:xfrm>
        </p:spPr>
        <p:txBody>
          <a:bodyPr>
            <a:normAutofit fontScale="77500" lnSpcReduction="20000"/>
          </a:bodyPr>
          <a:lstStyle/>
          <a:p>
            <a:r>
              <a:rPr lang="en-US" dirty="0"/>
              <a:t>Specific purpose job description includes detailed information about job responsibilities of an employee. </a:t>
            </a:r>
          </a:p>
          <a:p>
            <a:r>
              <a:rPr lang="en-US" dirty="0"/>
              <a:t>It also covers sub tasks, essential functions and detailed job duties.</a:t>
            </a:r>
          </a:p>
          <a:p>
            <a:r>
              <a:rPr lang="en-US" dirty="0"/>
              <a:t> It involves huge amount of details such as what an employee needs to do, how it is to be done and what are the performance standards, etc.</a:t>
            </a:r>
          </a:p>
          <a:p>
            <a:pPr>
              <a:buNone/>
            </a:pPr>
            <a:r>
              <a:rPr lang="en-US" b="1" dirty="0"/>
              <a:t>Advantages</a:t>
            </a:r>
          </a:p>
          <a:p>
            <a:pPr marL="712788" indent="-350838">
              <a:buFont typeface="Wingdings" pitchFamily="2" charset="2"/>
              <a:buChar char="§"/>
            </a:pPr>
            <a:r>
              <a:rPr lang="en-US" dirty="0"/>
              <a:t>It offers ample information to evaluate job performance and determine training needs of employees. </a:t>
            </a:r>
          </a:p>
          <a:p>
            <a:pPr marL="712788" indent="-350838">
              <a:buFont typeface="Wingdings" pitchFamily="2" charset="2"/>
              <a:buChar char="§"/>
            </a:pPr>
            <a:r>
              <a:rPr lang="en-US" dirty="0"/>
              <a:t>It serves as a basis for all other HR processes including recruitment and selection, performance appraisal, compensation decision and many more.</a:t>
            </a:r>
            <a:br>
              <a:rPr lang="en-US" dirty="0"/>
            </a:b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buNone/>
            </a:pPr>
            <a:r>
              <a:rPr lang="en-US" b="1" dirty="0"/>
              <a:t>Disadvantages</a:t>
            </a:r>
          </a:p>
          <a:p>
            <a:pPr>
              <a:buFont typeface="Wingdings" pitchFamily="2" charset="2"/>
              <a:buChar char="§"/>
            </a:pPr>
            <a:r>
              <a:rPr lang="en-US" dirty="0"/>
              <a:t>The process, however, may take very long and consume lots of human efforts. Since, it involves collecting detailed information;</a:t>
            </a:r>
          </a:p>
          <a:p>
            <a:pPr>
              <a:buFont typeface="Wingdings" pitchFamily="2" charset="2"/>
              <a:buChar char="§"/>
            </a:pPr>
            <a:r>
              <a:rPr lang="en-US" dirty="0"/>
              <a:t>The biased nature of job analyst can cause severe problems.</a:t>
            </a:r>
          </a:p>
          <a:p>
            <a:pPr>
              <a:buFont typeface="Wingdings" pitchFamily="2" charset="2"/>
              <a:buChar char="§"/>
            </a:pPr>
            <a:r>
              <a:rPr lang="en-US" dirty="0"/>
              <a:t> The data collected may not be 100 percent genuine.</a:t>
            </a:r>
          </a:p>
          <a:p>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476672"/>
            <a:ext cx="10972800" cy="5760639"/>
          </a:xfrm>
        </p:spPr>
        <p:txBody>
          <a:bodyPr>
            <a:normAutofit/>
          </a:bodyPr>
          <a:lstStyle/>
          <a:p>
            <a:r>
              <a:rPr lang="en-US" i="1" dirty="0"/>
              <a:t>Intrinsic motivation</a:t>
            </a:r>
          </a:p>
          <a:p>
            <a:r>
              <a:rPr lang="en-US" dirty="0"/>
              <a:t>the self-generated factors that influence people to behave in a particular way or to move in a particular direction. </a:t>
            </a:r>
          </a:p>
          <a:p>
            <a:r>
              <a:rPr lang="en-US" dirty="0"/>
              <a:t>These factors include</a:t>
            </a:r>
          </a:p>
          <a:p>
            <a:pPr lvl="1"/>
            <a:r>
              <a:rPr lang="en-US" sz="3200" dirty="0"/>
              <a:t>responsibility (feeling that the work is important and having control over one’s own resources),</a:t>
            </a:r>
          </a:p>
          <a:p>
            <a:pPr lvl="1"/>
            <a:r>
              <a:rPr lang="en-US" sz="3200" dirty="0"/>
              <a:t> autonomy (freedom to act),</a:t>
            </a:r>
          </a:p>
          <a:p>
            <a:pPr lvl="1"/>
            <a:r>
              <a:rPr lang="en-US" sz="3200" dirty="0"/>
              <a:t> scope to use and develop skills and abilities, </a:t>
            </a:r>
          </a:p>
          <a:p>
            <a:pPr lvl="1"/>
            <a:r>
              <a:rPr lang="en-US" sz="3200" dirty="0"/>
              <a:t>interesting and challenging work and opportunities for advancement</a:t>
            </a:r>
            <a:r>
              <a:rPr lang="en-US" dirty="0"/>
              <a:t>.</a:t>
            </a:r>
          </a:p>
        </p:txBody>
      </p:sp>
    </p:spTree>
    <p:extLst>
      <p:ext uri="{BB962C8B-B14F-4D97-AF65-F5344CB8AC3E}">
        <p14:creationId xmlns:p14="http://schemas.microsoft.com/office/powerpoint/2010/main" val="6669070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868</TotalTime>
  <Words>1869</Words>
  <Application>Microsoft Office PowerPoint</Application>
  <PresentationFormat>Widescreen</PresentationFormat>
  <Paragraphs>151</Paragraphs>
  <Slides>27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Calibri</vt:lpstr>
      <vt:lpstr>Wingdings</vt:lpstr>
      <vt:lpstr>Office Theme</vt:lpstr>
      <vt:lpstr>Human resource management and information system</vt:lpstr>
      <vt:lpstr>PowerPoint Presentation</vt:lpstr>
      <vt:lpstr>Job design </vt:lpstr>
      <vt:lpstr>PowerPoint Presentation</vt:lpstr>
      <vt:lpstr>Objective  of Job design </vt:lpstr>
      <vt:lpstr> Principles of job design </vt:lpstr>
      <vt:lpstr>PowerPoint Presentation</vt:lpstr>
      <vt:lpstr>Features of “Good” Job Design </vt:lpstr>
      <vt:lpstr> Approaches to job design </vt:lpstr>
      <vt:lpstr>PowerPoint Presentation</vt:lpstr>
      <vt:lpstr> JOB ENRICHMENT </vt:lpstr>
      <vt:lpstr>Factors  affect a job design</vt:lpstr>
      <vt:lpstr>Organizational Factors</vt:lpstr>
      <vt:lpstr>PowerPoint Presentation</vt:lpstr>
      <vt:lpstr>PowerPoint Presentation</vt:lpstr>
      <vt:lpstr>Environmental Factors </vt:lpstr>
      <vt:lpstr>PowerPoint Presentation</vt:lpstr>
      <vt:lpstr> Behavioural Factors </vt:lpstr>
      <vt:lpstr>PowerPoint Presentation</vt:lpstr>
      <vt:lpstr>Job Analysis</vt:lpstr>
      <vt:lpstr>Job Description </vt:lpstr>
      <vt:lpstr>Purpose of Job Description </vt:lpstr>
      <vt:lpstr>Purpose of job description</vt:lpstr>
      <vt:lpstr> General Purpose of Job Description </vt:lpstr>
      <vt:lpstr> Specific Purpose of Job Description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Human resource management and information system</dc:title>
  <dc:creator>user</dc:creator>
  <cp:lastModifiedBy>Administrato</cp:lastModifiedBy>
  <cp:revision>28</cp:revision>
  <dcterms:created xsi:type="dcterms:W3CDTF">2022-04-27T18:13:50Z</dcterms:created>
  <dcterms:modified xsi:type="dcterms:W3CDTF">2024-05-29T07:19:43Z</dcterms:modified>
</cp:coreProperties>
</file>