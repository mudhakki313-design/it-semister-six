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70" d="100"/>
          <a:sy n="70" d="100"/>
        </p:scale>
        <p:origin x="4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5846D-D356-4A6F-8367-13B5EB813311}"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8E53A061-12BC-4BFA-A097-E2F8C97162BC}">
      <dgm:prSet phldrT="[Text]" custT="1"/>
      <dgm:spPr/>
      <dgm:t>
        <a:bodyPr/>
        <a:lstStyle/>
        <a:p>
          <a:r>
            <a:rPr lang="en-US" sz="2000" dirty="0">
              <a:solidFill>
                <a:schemeClr val="tx1"/>
              </a:solidFill>
            </a:rPr>
            <a:t>Criteria development</a:t>
          </a:r>
        </a:p>
      </dgm:t>
    </dgm:pt>
    <dgm:pt modelId="{71988CCF-57B7-40BE-998E-059A9E948498}" type="parTrans" cxnId="{8C689703-5EF1-4EE1-9318-5BA18D7FE180}">
      <dgm:prSet/>
      <dgm:spPr/>
      <dgm:t>
        <a:bodyPr/>
        <a:lstStyle/>
        <a:p>
          <a:endParaRPr lang="en-US"/>
        </a:p>
      </dgm:t>
    </dgm:pt>
    <dgm:pt modelId="{383450BF-D6C4-4393-9286-8B89DFBE7031}" type="sibTrans" cxnId="{8C689703-5EF1-4EE1-9318-5BA18D7FE180}">
      <dgm:prSet/>
      <dgm:spPr/>
      <dgm:t>
        <a:bodyPr/>
        <a:lstStyle/>
        <a:p>
          <a:endParaRPr lang="en-US"/>
        </a:p>
      </dgm:t>
    </dgm:pt>
    <dgm:pt modelId="{EB47AAD8-9BB7-40FC-B3C5-AA46C1B2C285}">
      <dgm:prSet phldrT="[Text]" custT="1"/>
      <dgm:spPr/>
      <dgm:t>
        <a:bodyPr/>
        <a:lstStyle/>
        <a:p>
          <a:r>
            <a:rPr lang="en-GB" sz="2000" dirty="0"/>
            <a:t>Understand  selection steps</a:t>
          </a:r>
          <a:endParaRPr lang="en-US" sz="2000" dirty="0"/>
        </a:p>
      </dgm:t>
    </dgm:pt>
    <dgm:pt modelId="{18BD03B8-EDC1-405A-8B35-5F926991843D}" type="parTrans" cxnId="{89B6BD7A-919C-4A10-BB80-A4AB0462C740}">
      <dgm:prSet/>
      <dgm:spPr/>
      <dgm:t>
        <a:bodyPr/>
        <a:lstStyle/>
        <a:p>
          <a:endParaRPr lang="en-US"/>
        </a:p>
      </dgm:t>
    </dgm:pt>
    <dgm:pt modelId="{794D809E-730D-464E-BC2B-63D04D5DC58D}" type="sibTrans" cxnId="{89B6BD7A-919C-4A10-BB80-A4AB0462C740}">
      <dgm:prSet/>
      <dgm:spPr/>
      <dgm:t>
        <a:bodyPr/>
        <a:lstStyle/>
        <a:p>
          <a:endParaRPr lang="en-US"/>
        </a:p>
      </dgm:t>
    </dgm:pt>
    <dgm:pt modelId="{A8998A02-69B3-49D4-A957-EB9FD074BC2F}">
      <dgm:prSet custScaleY="125657" custT="1"/>
      <dgm:spPr/>
      <dgm:t>
        <a:bodyPr/>
        <a:lstStyle/>
        <a:p>
          <a:r>
            <a:rPr lang="en-US" sz="2000" dirty="0"/>
            <a:t>determining which sources of information to be used</a:t>
          </a:r>
        </a:p>
      </dgm:t>
    </dgm:pt>
    <dgm:pt modelId="{61F272F8-0333-4636-8E6C-FD257895C4DB}" type="parTrans" cxnId="{FF88E000-C00C-4E10-BB53-C5B2553E91ED}">
      <dgm:prSet/>
      <dgm:spPr/>
      <dgm:t>
        <a:bodyPr/>
        <a:lstStyle/>
        <a:p>
          <a:endParaRPr lang="en-US"/>
        </a:p>
      </dgm:t>
    </dgm:pt>
    <dgm:pt modelId="{7E1160F6-951B-409B-80DD-34BBDBA8E579}" type="sibTrans" cxnId="{FF88E000-C00C-4E10-BB53-C5B2553E91ED}">
      <dgm:prSet/>
      <dgm:spPr/>
      <dgm:t>
        <a:bodyPr/>
        <a:lstStyle/>
        <a:p>
          <a:endParaRPr lang="en-US"/>
        </a:p>
      </dgm:t>
    </dgm:pt>
    <dgm:pt modelId="{4F62F575-F524-4CEB-A54C-FDF179D07EC9}">
      <dgm:prSet phldrT="[Text]" custT="1"/>
      <dgm:spPr/>
      <dgm:t>
        <a:bodyPr/>
        <a:lstStyle/>
        <a:p>
          <a:r>
            <a:rPr lang="en-US" sz="1800" dirty="0">
              <a:solidFill>
                <a:schemeClr val="tx1"/>
              </a:solidFill>
            </a:rPr>
            <a:t>Application and résumé review</a:t>
          </a:r>
        </a:p>
      </dgm:t>
    </dgm:pt>
    <dgm:pt modelId="{3E9E3BE3-1286-42A6-B25C-ECC0363047DB}" type="parTrans" cxnId="{8FD5B96A-75EB-4297-8520-B9CA771C6A12}">
      <dgm:prSet/>
      <dgm:spPr/>
      <dgm:t>
        <a:bodyPr/>
        <a:lstStyle/>
        <a:p>
          <a:endParaRPr lang="en-US"/>
        </a:p>
      </dgm:t>
    </dgm:pt>
    <dgm:pt modelId="{A19197A0-D5EE-4794-9962-50170CF938F9}" type="sibTrans" cxnId="{8FD5B96A-75EB-4297-8520-B9CA771C6A12}">
      <dgm:prSet/>
      <dgm:spPr/>
      <dgm:t>
        <a:bodyPr/>
        <a:lstStyle/>
        <a:p>
          <a:endParaRPr lang="en-US"/>
        </a:p>
      </dgm:t>
    </dgm:pt>
    <dgm:pt modelId="{03DD5DB8-A65A-449E-83A8-1D266499C3DF}">
      <dgm:prSet phldrT="[Text]" custT="1"/>
      <dgm:spPr/>
      <dgm:t>
        <a:bodyPr/>
        <a:lstStyle/>
        <a:p>
          <a:r>
            <a:rPr lang="en-GB" sz="2000" dirty="0"/>
            <a:t>Should be base on criteria develop in step one</a:t>
          </a:r>
          <a:endParaRPr lang="en-US" sz="2000" dirty="0"/>
        </a:p>
      </dgm:t>
    </dgm:pt>
    <dgm:pt modelId="{419B026C-FDCC-462B-A2CA-25BA5789CA3E}" type="parTrans" cxnId="{7649ED70-31D2-4BF4-8101-DCF471235FE6}">
      <dgm:prSet/>
      <dgm:spPr/>
      <dgm:t>
        <a:bodyPr/>
        <a:lstStyle/>
        <a:p>
          <a:endParaRPr lang="en-US"/>
        </a:p>
      </dgm:t>
    </dgm:pt>
    <dgm:pt modelId="{D03951F4-4C3B-4275-915D-DB87739208AA}" type="sibTrans" cxnId="{7649ED70-31D2-4BF4-8101-DCF471235FE6}">
      <dgm:prSet/>
      <dgm:spPr/>
      <dgm:t>
        <a:bodyPr/>
        <a:lstStyle/>
        <a:p>
          <a:endParaRPr lang="en-US"/>
        </a:p>
      </dgm:t>
    </dgm:pt>
    <dgm:pt modelId="{72545251-F541-4B74-8B85-697524B001D6}">
      <dgm:prSet custT="1"/>
      <dgm:spPr/>
      <dgm:t>
        <a:bodyPr/>
        <a:lstStyle/>
        <a:p>
          <a:r>
            <a:rPr lang="en-GB" sz="2000" dirty="0"/>
            <a:t>Consider internal VS external candidate</a:t>
          </a:r>
          <a:endParaRPr lang="en-US" sz="2000" dirty="0"/>
        </a:p>
      </dgm:t>
    </dgm:pt>
    <dgm:pt modelId="{65E733F2-C22B-46AB-917D-F3B724731A3D}" type="parTrans" cxnId="{19FA12FE-0D93-4CE9-88CE-FCEB38518918}">
      <dgm:prSet/>
      <dgm:spPr/>
      <dgm:t>
        <a:bodyPr/>
        <a:lstStyle/>
        <a:p>
          <a:endParaRPr lang="en-US"/>
        </a:p>
      </dgm:t>
    </dgm:pt>
    <dgm:pt modelId="{0A65972D-15BB-44D2-8EBD-EF39FE06CDAC}" type="sibTrans" cxnId="{19FA12FE-0D93-4CE9-88CE-FCEB38518918}">
      <dgm:prSet/>
      <dgm:spPr/>
      <dgm:t>
        <a:bodyPr/>
        <a:lstStyle/>
        <a:p>
          <a:endParaRPr lang="en-US"/>
        </a:p>
      </dgm:t>
    </dgm:pt>
    <dgm:pt modelId="{0440D144-57AB-4C94-9718-17B47EEE8A78}">
      <dgm:prSet phldrT="[Text]" custT="1"/>
      <dgm:spPr/>
      <dgm:t>
        <a:bodyPr/>
        <a:lstStyle/>
        <a:p>
          <a:r>
            <a:rPr lang="en-US" sz="2000" dirty="0">
              <a:solidFill>
                <a:schemeClr val="tx1"/>
              </a:solidFill>
            </a:rPr>
            <a:t>Interviewing</a:t>
          </a:r>
        </a:p>
      </dgm:t>
    </dgm:pt>
    <dgm:pt modelId="{987EA480-3BD2-41B8-8BB0-5A0F62F33DFB}" type="parTrans" cxnId="{BAFE080A-CF62-4AEB-BE7A-6CB92EDA8487}">
      <dgm:prSet/>
      <dgm:spPr/>
      <dgm:t>
        <a:bodyPr/>
        <a:lstStyle/>
        <a:p>
          <a:endParaRPr lang="en-US"/>
        </a:p>
      </dgm:t>
    </dgm:pt>
    <dgm:pt modelId="{DFEB36AC-57D4-4509-B0B7-FF2EF1A90414}" type="sibTrans" cxnId="{BAFE080A-CF62-4AEB-BE7A-6CB92EDA8487}">
      <dgm:prSet/>
      <dgm:spPr/>
      <dgm:t>
        <a:bodyPr/>
        <a:lstStyle/>
        <a:p>
          <a:endParaRPr lang="en-US"/>
        </a:p>
      </dgm:t>
    </dgm:pt>
    <dgm:pt modelId="{EA9573C8-6B69-4DDC-BA4D-DBD39D6974AF}">
      <dgm:prSet phldrT="[Text]" custT="1"/>
      <dgm:spPr/>
      <dgm:t>
        <a:bodyPr/>
        <a:lstStyle/>
        <a:p>
          <a:r>
            <a:rPr lang="en-GB" sz="2000" dirty="0"/>
            <a:t>Determine  type of interview</a:t>
          </a:r>
          <a:endParaRPr lang="en-US" sz="2000" dirty="0"/>
        </a:p>
      </dgm:t>
    </dgm:pt>
    <dgm:pt modelId="{6CFAAF6E-9E9D-4D1E-9537-DF9D2D61157C}" type="parTrans" cxnId="{98D47503-7392-4A83-8549-73AF7A53AA30}">
      <dgm:prSet/>
      <dgm:spPr/>
      <dgm:t>
        <a:bodyPr/>
        <a:lstStyle/>
        <a:p>
          <a:endParaRPr lang="en-US"/>
        </a:p>
      </dgm:t>
    </dgm:pt>
    <dgm:pt modelId="{31613E32-AB9B-4537-A671-A2ACED52ABA2}" type="sibTrans" cxnId="{98D47503-7392-4A83-8549-73AF7A53AA30}">
      <dgm:prSet/>
      <dgm:spPr/>
      <dgm:t>
        <a:bodyPr/>
        <a:lstStyle/>
        <a:p>
          <a:endParaRPr lang="en-US"/>
        </a:p>
      </dgm:t>
    </dgm:pt>
    <dgm:pt modelId="{1AF8EA78-5EAC-4D54-8F3C-DA8F71AEC6CE}">
      <dgm:prSet phldrT="[Text]" custT="1"/>
      <dgm:spPr/>
      <dgm:t>
        <a:bodyPr/>
        <a:lstStyle/>
        <a:p>
          <a:r>
            <a:rPr lang="en-GB" sz="2000" dirty="0"/>
            <a:t>Write an interview question</a:t>
          </a:r>
          <a:endParaRPr lang="en-US" sz="2000" dirty="0"/>
        </a:p>
      </dgm:t>
    </dgm:pt>
    <dgm:pt modelId="{1EE25CDA-12D2-4A08-951C-DCABDFDF5CD3}" type="parTrans" cxnId="{B60B17AC-7279-467A-937C-C6930039570E}">
      <dgm:prSet/>
      <dgm:spPr/>
      <dgm:t>
        <a:bodyPr/>
        <a:lstStyle/>
        <a:p>
          <a:endParaRPr lang="en-US"/>
        </a:p>
      </dgm:t>
    </dgm:pt>
    <dgm:pt modelId="{359327C9-108C-4532-93B3-E10A54BB688D}" type="sibTrans" cxnId="{B60B17AC-7279-467A-937C-C6930039570E}">
      <dgm:prSet/>
      <dgm:spPr/>
      <dgm:t>
        <a:bodyPr/>
        <a:lstStyle/>
        <a:p>
          <a:endParaRPr lang="en-US"/>
        </a:p>
      </dgm:t>
    </dgm:pt>
    <dgm:pt modelId="{25A488AF-C6A1-4C95-BCCD-4089A87D09DD}">
      <dgm:prSet custScaleY="125657" custT="1"/>
      <dgm:spPr/>
      <dgm:t>
        <a:bodyPr/>
        <a:lstStyle/>
        <a:p>
          <a:r>
            <a:rPr lang="en-GB" sz="2000" dirty="0"/>
            <a:t>Develop scoring system for each source of information</a:t>
          </a:r>
          <a:endParaRPr lang="en-US" sz="2000" dirty="0"/>
        </a:p>
      </dgm:t>
    </dgm:pt>
    <dgm:pt modelId="{CDB7F180-236F-4416-A9F6-15A2886BD980}" type="parTrans" cxnId="{F068B6B6-5B08-46F0-BC1E-C4F49C8A7A25}">
      <dgm:prSet/>
      <dgm:spPr/>
      <dgm:t>
        <a:bodyPr/>
        <a:lstStyle/>
        <a:p>
          <a:endParaRPr lang="en-US"/>
        </a:p>
      </dgm:t>
    </dgm:pt>
    <dgm:pt modelId="{11B8E5D2-B7F7-486E-81E1-884D91108294}" type="sibTrans" cxnId="{F068B6B6-5B08-46F0-BC1E-C4F49C8A7A25}">
      <dgm:prSet/>
      <dgm:spPr/>
      <dgm:t>
        <a:bodyPr/>
        <a:lstStyle/>
        <a:p>
          <a:endParaRPr lang="en-US"/>
        </a:p>
      </dgm:t>
    </dgm:pt>
    <dgm:pt modelId="{7757A8A0-946F-4107-82F6-1129D7E23B95}">
      <dgm:prSet custScaleY="125657" custT="1"/>
      <dgm:spPr/>
      <dgm:t>
        <a:bodyPr/>
        <a:lstStyle/>
        <a:p>
          <a:r>
            <a:rPr lang="en-GB" sz="2000" dirty="0"/>
            <a:t>Create an interview plan</a:t>
          </a:r>
          <a:endParaRPr lang="en-US" sz="2000" dirty="0"/>
        </a:p>
      </dgm:t>
    </dgm:pt>
    <dgm:pt modelId="{7655F0B2-AC2F-4686-83D3-D7DC22A2C0C4}" type="parTrans" cxnId="{7277F381-86C6-449E-BCD6-29FB922A8196}">
      <dgm:prSet/>
      <dgm:spPr/>
      <dgm:t>
        <a:bodyPr/>
        <a:lstStyle/>
        <a:p>
          <a:endParaRPr lang="en-US"/>
        </a:p>
      </dgm:t>
    </dgm:pt>
    <dgm:pt modelId="{FBF21CAA-0DE4-4D2C-9330-6D694ECBC92F}" type="sibTrans" cxnId="{7277F381-86C6-449E-BCD6-29FB922A8196}">
      <dgm:prSet/>
      <dgm:spPr/>
      <dgm:t>
        <a:bodyPr/>
        <a:lstStyle/>
        <a:p>
          <a:endParaRPr lang="en-US"/>
        </a:p>
      </dgm:t>
    </dgm:pt>
    <dgm:pt modelId="{9F266247-4EB3-4ECC-9C70-B15B87D0A74A}">
      <dgm:prSet phldrT="[Text]" custT="1"/>
      <dgm:spPr/>
      <dgm:t>
        <a:bodyPr/>
        <a:lstStyle/>
        <a:p>
          <a:r>
            <a:rPr lang="en-GB" sz="2000" dirty="0"/>
            <a:t>Be aware of interview bias</a:t>
          </a:r>
          <a:endParaRPr lang="en-US" sz="2000" dirty="0"/>
        </a:p>
      </dgm:t>
    </dgm:pt>
    <dgm:pt modelId="{C14E3B14-F08C-44CD-B489-981687A96A3A}" type="parTrans" cxnId="{F62CC401-5C92-48A4-BBEA-8135FBBB315D}">
      <dgm:prSet/>
      <dgm:spPr/>
      <dgm:t>
        <a:bodyPr/>
        <a:lstStyle/>
        <a:p>
          <a:endParaRPr lang="en-US"/>
        </a:p>
      </dgm:t>
    </dgm:pt>
    <dgm:pt modelId="{0E685D68-0577-48B2-932C-EEB1C520F036}" type="sibTrans" cxnId="{F62CC401-5C92-48A4-BBEA-8135FBBB315D}">
      <dgm:prSet/>
      <dgm:spPr/>
      <dgm:t>
        <a:bodyPr/>
        <a:lstStyle/>
        <a:p>
          <a:endParaRPr lang="en-US"/>
        </a:p>
      </dgm:t>
    </dgm:pt>
    <dgm:pt modelId="{69FE37CD-8D8B-4E58-8ED9-F6778BF628F7}" type="pres">
      <dgm:prSet presAssocID="{5755846D-D356-4A6F-8367-13B5EB813311}" presName="linearFlow" presStyleCnt="0">
        <dgm:presLayoutVars>
          <dgm:dir/>
          <dgm:animLvl val="lvl"/>
          <dgm:resizeHandles val="exact"/>
        </dgm:presLayoutVars>
      </dgm:prSet>
      <dgm:spPr/>
    </dgm:pt>
    <dgm:pt modelId="{BFC41404-F29D-4616-B3A5-C4F72B52032B}" type="pres">
      <dgm:prSet presAssocID="{8E53A061-12BC-4BFA-A097-E2F8C97162BC}" presName="composite" presStyleCnt="0"/>
      <dgm:spPr/>
    </dgm:pt>
    <dgm:pt modelId="{EE4BF710-4088-41A1-86A5-2E8A19E51F72}" type="pres">
      <dgm:prSet presAssocID="{8E53A061-12BC-4BFA-A097-E2F8C97162BC}" presName="parentText" presStyleLbl="alignNode1" presStyleIdx="0" presStyleCnt="3">
        <dgm:presLayoutVars>
          <dgm:chMax val="1"/>
          <dgm:bulletEnabled val="1"/>
        </dgm:presLayoutVars>
      </dgm:prSet>
      <dgm:spPr/>
    </dgm:pt>
    <dgm:pt modelId="{CCAD2B81-560C-4894-B08B-0F86A47E08B1}" type="pres">
      <dgm:prSet presAssocID="{8E53A061-12BC-4BFA-A097-E2F8C97162BC}" presName="descendantText" presStyleLbl="alignAcc1" presStyleIdx="0" presStyleCnt="3" custScaleY="125657">
        <dgm:presLayoutVars>
          <dgm:bulletEnabled val="1"/>
        </dgm:presLayoutVars>
      </dgm:prSet>
      <dgm:spPr/>
    </dgm:pt>
    <dgm:pt modelId="{DBC2E326-0425-43A3-90AA-FA27479CDC36}" type="pres">
      <dgm:prSet presAssocID="{383450BF-D6C4-4393-9286-8B89DFBE7031}" presName="sp" presStyleCnt="0"/>
      <dgm:spPr/>
    </dgm:pt>
    <dgm:pt modelId="{F33F31F2-2B88-41A6-BBA9-545727413C41}" type="pres">
      <dgm:prSet presAssocID="{4F62F575-F524-4CEB-A54C-FDF179D07EC9}" presName="composite" presStyleCnt="0"/>
      <dgm:spPr/>
    </dgm:pt>
    <dgm:pt modelId="{DAD8453C-595F-416E-BAC8-8321915D8643}" type="pres">
      <dgm:prSet presAssocID="{4F62F575-F524-4CEB-A54C-FDF179D07EC9}" presName="parentText" presStyleLbl="alignNode1" presStyleIdx="1" presStyleCnt="3">
        <dgm:presLayoutVars>
          <dgm:chMax val="1"/>
          <dgm:bulletEnabled val="1"/>
        </dgm:presLayoutVars>
      </dgm:prSet>
      <dgm:spPr/>
    </dgm:pt>
    <dgm:pt modelId="{929F9458-7313-4D80-88F0-AC829571CC54}" type="pres">
      <dgm:prSet presAssocID="{4F62F575-F524-4CEB-A54C-FDF179D07EC9}" presName="descendantText" presStyleLbl="alignAcc1" presStyleIdx="1" presStyleCnt="3">
        <dgm:presLayoutVars>
          <dgm:bulletEnabled val="1"/>
        </dgm:presLayoutVars>
      </dgm:prSet>
      <dgm:spPr/>
    </dgm:pt>
    <dgm:pt modelId="{7D72DEC8-1ACC-4D5E-85FE-4F56C5ECA7B0}" type="pres">
      <dgm:prSet presAssocID="{A19197A0-D5EE-4794-9962-50170CF938F9}" presName="sp" presStyleCnt="0"/>
      <dgm:spPr/>
    </dgm:pt>
    <dgm:pt modelId="{C4E655FA-C015-4FC0-9E21-8BB97A2932A8}" type="pres">
      <dgm:prSet presAssocID="{0440D144-57AB-4C94-9718-17B47EEE8A78}" presName="composite" presStyleCnt="0"/>
      <dgm:spPr/>
    </dgm:pt>
    <dgm:pt modelId="{52EB4A88-C44D-4DD7-9582-DB3D4169A394}" type="pres">
      <dgm:prSet presAssocID="{0440D144-57AB-4C94-9718-17B47EEE8A78}" presName="parentText" presStyleLbl="alignNode1" presStyleIdx="2" presStyleCnt="3" custScaleX="101813" custLinFactNeighborX="0" custLinFactNeighborY="2891">
        <dgm:presLayoutVars>
          <dgm:chMax val="1"/>
          <dgm:bulletEnabled val="1"/>
        </dgm:presLayoutVars>
      </dgm:prSet>
      <dgm:spPr/>
    </dgm:pt>
    <dgm:pt modelId="{299C1A05-2059-4312-83FA-4F621B973B2B}" type="pres">
      <dgm:prSet presAssocID="{0440D144-57AB-4C94-9718-17B47EEE8A78}" presName="descendantText" presStyleLbl="alignAcc1" presStyleIdx="2" presStyleCnt="3">
        <dgm:presLayoutVars>
          <dgm:bulletEnabled val="1"/>
        </dgm:presLayoutVars>
      </dgm:prSet>
      <dgm:spPr/>
    </dgm:pt>
  </dgm:ptLst>
  <dgm:cxnLst>
    <dgm:cxn modelId="{FF88E000-C00C-4E10-BB53-C5B2553E91ED}" srcId="{8E53A061-12BC-4BFA-A097-E2F8C97162BC}" destId="{A8998A02-69B3-49D4-A957-EB9FD074BC2F}" srcOrd="1" destOrd="0" parTransId="{61F272F8-0333-4636-8E6C-FD257895C4DB}" sibTransId="{7E1160F6-951B-409B-80DD-34BBDBA8E579}"/>
    <dgm:cxn modelId="{F62CC401-5C92-48A4-BBEA-8135FBBB315D}" srcId="{0440D144-57AB-4C94-9718-17B47EEE8A78}" destId="{9F266247-4EB3-4ECC-9C70-B15B87D0A74A}" srcOrd="2" destOrd="0" parTransId="{C14E3B14-F08C-44CD-B489-981687A96A3A}" sibTransId="{0E685D68-0577-48B2-932C-EEB1C520F036}"/>
    <dgm:cxn modelId="{98D47503-7392-4A83-8549-73AF7A53AA30}" srcId="{0440D144-57AB-4C94-9718-17B47EEE8A78}" destId="{EA9573C8-6B69-4DDC-BA4D-DBD39D6974AF}" srcOrd="0" destOrd="0" parTransId="{6CFAAF6E-9E9D-4D1E-9537-DF9D2D61157C}" sibTransId="{31613E32-AB9B-4537-A671-A2ACED52ABA2}"/>
    <dgm:cxn modelId="{8C689703-5EF1-4EE1-9318-5BA18D7FE180}" srcId="{5755846D-D356-4A6F-8367-13B5EB813311}" destId="{8E53A061-12BC-4BFA-A097-E2F8C97162BC}" srcOrd="0" destOrd="0" parTransId="{71988CCF-57B7-40BE-998E-059A9E948498}" sibTransId="{383450BF-D6C4-4393-9286-8B89DFBE7031}"/>
    <dgm:cxn modelId="{BAFE080A-CF62-4AEB-BE7A-6CB92EDA8487}" srcId="{5755846D-D356-4A6F-8367-13B5EB813311}" destId="{0440D144-57AB-4C94-9718-17B47EEE8A78}" srcOrd="2" destOrd="0" parTransId="{987EA480-3BD2-41B8-8BB0-5A0F62F33DFB}" sibTransId="{DFEB36AC-57D4-4509-B0B7-FF2EF1A90414}"/>
    <dgm:cxn modelId="{8BC30F20-E7DA-4C3B-8B3E-010C34B4570B}" type="presOf" srcId="{A8998A02-69B3-49D4-A957-EB9FD074BC2F}" destId="{CCAD2B81-560C-4894-B08B-0F86A47E08B1}" srcOrd="0" destOrd="1" presId="urn:microsoft.com/office/officeart/2005/8/layout/chevron2"/>
    <dgm:cxn modelId="{55717829-5246-4FF7-9291-116408D259E4}" type="presOf" srcId="{8E53A061-12BC-4BFA-A097-E2F8C97162BC}" destId="{EE4BF710-4088-41A1-86A5-2E8A19E51F72}" srcOrd="0" destOrd="0" presId="urn:microsoft.com/office/officeart/2005/8/layout/chevron2"/>
    <dgm:cxn modelId="{5AA3E22D-4096-4B55-B9C6-25C62F29E955}" type="presOf" srcId="{5755846D-D356-4A6F-8367-13B5EB813311}" destId="{69FE37CD-8D8B-4E58-8ED9-F6778BF628F7}" srcOrd="0" destOrd="0" presId="urn:microsoft.com/office/officeart/2005/8/layout/chevron2"/>
    <dgm:cxn modelId="{C35F7360-987E-4971-A5FA-4B037FDDEC8D}" type="presOf" srcId="{EB47AAD8-9BB7-40FC-B3C5-AA46C1B2C285}" destId="{CCAD2B81-560C-4894-B08B-0F86A47E08B1}" srcOrd="0" destOrd="0" presId="urn:microsoft.com/office/officeart/2005/8/layout/chevron2"/>
    <dgm:cxn modelId="{A9E50C65-AE3A-460C-97D4-2C407C0A12BF}" type="presOf" srcId="{25A488AF-C6A1-4C95-BCCD-4089A87D09DD}" destId="{CCAD2B81-560C-4894-B08B-0F86A47E08B1}" srcOrd="0" destOrd="2" presId="urn:microsoft.com/office/officeart/2005/8/layout/chevron2"/>
    <dgm:cxn modelId="{8FD5B96A-75EB-4297-8520-B9CA771C6A12}" srcId="{5755846D-D356-4A6F-8367-13B5EB813311}" destId="{4F62F575-F524-4CEB-A54C-FDF179D07EC9}" srcOrd="1" destOrd="0" parTransId="{3E9E3BE3-1286-42A6-B25C-ECC0363047DB}" sibTransId="{A19197A0-D5EE-4794-9962-50170CF938F9}"/>
    <dgm:cxn modelId="{7649ED70-31D2-4BF4-8101-DCF471235FE6}" srcId="{4F62F575-F524-4CEB-A54C-FDF179D07EC9}" destId="{03DD5DB8-A65A-449E-83A8-1D266499C3DF}" srcOrd="0" destOrd="0" parTransId="{419B026C-FDCC-462B-A2CA-25BA5789CA3E}" sibTransId="{D03951F4-4C3B-4275-915D-DB87739208AA}"/>
    <dgm:cxn modelId="{58DC4E53-0EA0-4EE3-91F5-B96FA59E236E}" type="presOf" srcId="{7757A8A0-946F-4107-82F6-1129D7E23B95}" destId="{CCAD2B81-560C-4894-B08B-0F86A47E08B1}" srcOrd="0" destOrd="3" presId="urn:microsoft.com/office/officeart/2005/8/layout/chevron2"/>
    <dgm:cxn modelId="{1BDDA879-6EA0-4958-BA19-91B99AB51DE9}" type="presOf" srcId="{EA9573C8-6B69-4DDC-BA4D-DBD39D6974AF}" destId="{299C1A05-2059-4312-83FA-4F621B973B2B}" srcOrd="0" destOrd="0" presId="urn:microsoft.com/office/officeart/2005/8/layout/chevron2"/>
    <dgm:cxn modelId="{89B6BD7A-919C-4A10-BB80-A4AB0462C740}" srcId="{8E53A061-12BC-4BFA-A097-E2F8C97162BC}" destId="{EB47AAD8-9BB7-40FC-B3C5-AA46C1B2C285}" srcOrd="0" destOrd="0" parTransId="{18BD03B8-EDC1-405A-8B35-5F926991843D}" sibTransId="{794D809E-730D-464E-BC2B-63D04D5DC58D}"/>
    <dgm:cxn modelId="{7277F381-86C6-449E-BCD6-29FB922A8196}" srcId="{8E53A061-12BC-4BFA-A097-E2F8C97162BC}" destId="{7757A8A0-946F-4107-82F6-1129D7E23B95}" srcOrd="3" destOrd="0" parTransId="{7655F0B2-AC2F-4686-83D3-D7DC22A2C0C4}" sibTransId="{FBF21CAA-0DE4-4D2C-9330-6D694ECBC92F}"/>
    <dgm:cxn modelId="{5F787194-E1C6-4AE8-B658-9641BC89B205}" type="presOf" srcId="{72545251-F541-4B74-8B85-697524B001D6}" destId="{929F9458-7313-4D80-88F0-AC829571CC54}" srcOrd="0" destOrd="1" presId="urn:microsoft.com/office/officeart/2005/8/layout/chevron2"/>
    <dgm:cxn modelId="{29D6069D-54ED-442A-8B56-1A2A6A19CE55}" type="presOf" srcId="{03DD5DB8-A65A-449E-83A8-1D266499C3DF}" destId="{929F9458-7313-4D80-88F0-AC829571CC54}" srcOrd="0" destOrd="0" presId="urn:microsoft.com/office/officeart/2005/8/layout/chevron2"/>
    <dgm:cxn modelId="{40B6E4A0-BC09-4164-A4DA-7F93369AF2A3}" type="presOf" srcId="{1AF8EA78-5EAC-4D54-8F3C-DA8F71AEC6CE}" destId="{299C1A05-2059-4312-83FA-4F621B973B2B}" srcOrd="0" destOrd="1" presId="urn:microsoft.com/office/officeart/2005/8/layout/chevron2"/>
    <dgm:cxn modelId="{02A5E0A5-684B-4966-9AF4-5D0D1CCFEFEE}" type="presOf" srcId="{9F266247-4EB3-4ECC-9C70-B15B87D0A74A}" destId="{299C1A05-2059-4312-83FA-4F621B973B2B}" srcOrd="0" destOrd="2" presId="urn:microsoft.com/office/officeart/2005/8/layout/chevron2"/>
    <dgm:cxn modelId="{B60B17AC-7279-467A-937C-C6930039570E}" srcId="{0440D144-57AB-4C94-9718-17B47EEE8A78}" destId="{1AF8EA78-5EAC-4D54-8F3C-DA8F71AEC6CE}" srcOrd="1" destOrd="0" parTransId="{1EE25CDA-12D2-4A08-951C-DCABDFDF5CD3}" sibTransId="{359327C9-108C-4532-93B3-E10A54BB688D}"/>
    <dgm:cxn modelId="{F068B6B6-5B08-46F0-BC1E-C4F49C8A7A25}" srcId="{8E53A061-12BC-4BFA-A097-E2F8C97162BC}" destId="{25A488AF-C6A1-4C95-BCCD-4089A87D09DD}" srcOrd="2" destOrd="0" parTransId="{CDB7F180-236F-4416-A9F6-15A2886BD980}" sibTransId="{11B8E5D2-B7F7-486E-81E1-884D91108294}"/>
    <dgm:cxn modelId="{ACDBC0C1-3F66-4ED7-A458-38F735BAE255}" type="presOf" srcId="{0440D144-57AB-4C94-9718-17B47EEE8A78}" destId="{52EB4A88-C44D-4DD7-9582-DB3D4169A394}" srcOrd="0" destOrd="0" presId="urn:microsoft.com/office/officeart/2005/8/layout/chevron2"/>
    <dgm:cxn modelId="{7C78DAEC-0E5E-4694-B0AB-1ADB4309CA30}" type="presOf" srcId="{4F62F575-F524-4CEB-A54C-FDF179D07EC9}" destId="{DAD8453C-595F-416E-BAC8-8321915D8643}" srcOrd="0" destOrd="0" presId="urn:microsoft.com/office/officeart/2005/8/layout/chevron2"/>
    <dgm:cxn modelId="{19FA12FE-0D93-4CE9-88CE-FCEB38518918}" srcId="{4F62F575-F524-4CEB-A54C-FDF179D07EC9}" destId="{72545251-F541-4B74-8B85-697524B001D6}" srcOrd="1" destOrd="0" parTransId="{65E733F2-C22B-46AB-917D-F3B724731A3D}" sibTransId="{0A65972D-15BB-44D2-8EBD-EF39FE06CDAC}"/>
    <dgm:cxn modelId="{838612D8-87C8-4DFC-96FE-DE128FACBBD2}" type="presParOf" srcId="{69FE37CD-8D8B-4E58-8ED9-F6778BF628F7}" destId="{BFC41404-F29D-4616-B3A5-C4F72B52032B}" srcOrd="0" destOrd="0" presId="urn:microsoft.com/office/officeart/2005/8/layout/chevron2"/>
    <dgm:cxn modelId="{BE2F9D9B-715A-44EB-B7CB-5045EDB60D8B}" type="presParOf" srcId="{BFC41404-F29D-4616-B3A5-C4F72B52032B}" destId="{EE4BF710-4088-41A1-86A5-2E8A19E51F72}" srcOrd="0" destOrd="0" presId="urn:microsoft.com/office/officeart/2005/8/layout/chevron2"/>
    <dgm:cxn modelId="{8ADC925E-3AB5-48D0-BD28-CE973BF8D086}" type="presParOf" srcId="{BFC41404-F29D-4616-B3A5-C4F72B52032B}" destId="{CCAD2B81-560C-4894-B08B-0F86A47E08B1}" srcOrd="1" destOrd="0" presId="urn:microsoft.com/office/officeart/2005/8/layout/chevron2"/>
    <dgm:cxn modelId="{4897404D-E49F-496B-B1E1-2886C08B677F}" type="presParOf" srcId="{69FE37CD-8D8B-4E58-8ED9-F6778BF628F7}" destId="{DBC2E326-0425-43A3-90AA-FA27479CDC36}" srcOrd="1" destOrd="0" presId="urn:microsoft.com/office/officeart/2005/8/layout/chevron2"/>
    <dgm:cxn modelId="{EC421FB4-9948-4B61-BD70-7EE2EE67C54B}" type="presParOf" srcId="{69FE37CD-8D8B-4E58-8ED9-F6778BF628F7}" destId="{F33F31F2-2B88-41A6-BBA9-545727413C41}" srcOrd="2" destOrd="0" presId="urn:microsoft.com/office/officeart/2005/8/layout/chevron2"/>
    <dgm:cxn modelId="{01F84791-4693-4187-90EC-944E0D41A902}" type="presParOf" srcId="{F33F31F2-2B88-41A6-BBA9-545727413C41}" destId="{DAD8453C-595F-416E-BAC8-8321915D8643}" srcOrd="0" destOrd="0" presId="urn:microsoft.com/office/officeart/2005/8/layout/chevron2"/>
    <dgm:cxn modelId="{30170BD0-ACAC-4A1E-BD21-4CB0D3865F9E}" type="presParOf" srcId="{F33F31F2-2B88-41A6-BBA9-545727413C41}" destId="{929F9458-7313-4D80-88F0-AC829571CC54}" srcOrd="1" destOrd="0" presId="urn:microsoft.com/office/officeart/2005/8/layout/chevron2"/>
    <dgm:cxn modelId="{DB39C58E-8C9F-4804-9967-91E05F9A10EF}" type="presParOf" srcId="{69FE37CD-8D8B-4E58-8ED9-F6778BF628F7}" destId="{7D72DEC8-1ACC-4D5E-85FE-4F56C5ECA7B0}" srcOrd="3" destOrd="0" presId="urn:microsoft.com/office/officeart/2005/8/layout/chevron2"/>
    <dgm:cxn modelId="{A1FF9B04-F8B0-456B-BD28-7FC09B6AE64B}" type="presParOf" srcId="{69FE37CD-8D8B-4E58-8ED9-F6778BF628F7}" destId="{C4E655FA-C015-4FC0-9E21-8BB97A2932A8}" srcOrd="4" destOrd="0" presId="urn:microsoft.com/office/officeart/2005/8/layout/chevron2"/>
    <dgm:cxn modelId="{3F2F97BD-5778-4FDE-B18E-9D558A85C8BC}" type="presParOf" srcId="{C4E655FA-C015-4FC0-9E21-8BB97A2932A8}" destId="{52EB4A88-C44D-4DD7-9582-DB3D4169A394}" srcOrd="0" destOrd="0" presId="urn:microsoft.com/office/officeart/2005/8/layout/chevron2"/>
    <dgm:cxn modelId="{E805FDB0-C6CF-49AB-8C2D-77B5A4CCEED3}" type="presParOf" srcId="{C4E655FA-C015-4FC0-9E21-8BB97A2932A8}" destId="{299C1A05-2059-4312-83FA-4F621B973B2B}"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606158-9C5A-43E5-B67B-765FD8BBE07A}"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25D36D54-CE64-42AB-B2E6-D9EEE0C5DF1C}">
      <dgm:prSet phldrT="[Text]"/>
      <dgm:spPr/>
      <dgm:t>
        <a:bodyPr/>
        <a:lstStyle/>
        <a:p>
          <a:r>
            <a:rPr lang="en-US" dirty="0"/>
            <a:t>Test administration</a:t>
          </a:r>
        </a:p>
      </dgm:t>
    </dgm:pt>
    <dgm:pt modelId="{4F09C988-25A1-46A9-9971-5A2A4506E46D}" type="parTrans" cxnId="{0DE9F2BF-B8E7-40AB-A07C-52EC8E378BF1}">
      <dgm:prSet/>
      <dgm:spPr/>
      <dgm:t>
        <a:bodyPr/>
        <a:lstStyle/>
        <a:p>
          <a:endParaRPr lang="en-US"/>
        </a:p>
      </dgm:t>
    </dgm:pt>
    <dgm:pt modelId="{19CCA564-60F5-4ABF-9CB3-0DC4EFB69F36}" type="sibTrans" cxnId="{0DE9F2BF-B8E7-40AB-A07C-52EC8E378BF1}">
      <dgm:prSet/>
      <dgm:spPr/>
      <dgm:t>
        <a:bodyPr/>
        <a:lstStyle/>
        <a:p>
          <a:endParaRPr lang="en-US"/>
        </a:p>
      </dgm:t>
    </dgm:pt>
    <dgm:pt modelId="{93532B5B-43BD-4AC8-B137-0B29C09DA62F}">
      <dgm:prSet/>
      <dgm:spPr/>
      <dgm:t>
        <a:bodyPr/>
        <a:lstStyle/>
        <a:p>
          <a:r>
            <a:rPr lang="en-GB" dirty="0"/>
            <a:t>Performed test as outline in criteria development</a:t>
          </a:r>
          <a:endParaRPr lang="en-US" dirty="0"/>
        </a:p>
      </dgm:t>
    </dgm:pt>
    <dgm:pt modelId="{3B384437-6905-4856-B5EB-8F68B8374C69}" type="parTrans" cxnId="{64F1CB19-BCEB-4C7C-86E0-2BD096FA8ABA}">
      <dgm:prSet/>
      <dgm:spPr/>
      <dgm:t>
        <a:bodyPr/>
        <a:lstStyle/>
        <a:p>
          <a:endParaRPr lang="en-US"/>
        </a:p>
      </dgm:t>
    </dgm:pt>
    <dgm:pt modelId="{B4442AE2-072A-4F92-ACFC-FB01DED94D7A}" type="sibTrans" cxnId="{64F1CB19-BCEB-4C7C-86E0-2BD096FA8ABA}">
      <dgm:prSet/>
      <dgm:spPr/>
      <dgm:t>
        <a:bodyPr/>
        <a:lstStyle/>
        <a:p>
          <a:endParaRPr lang="en-US"/>
        </a:p>
      </dgm:t>
    </dgm:pt>
    <dgm:pt modelId="{46BA4234-18D6-455F-A988-0E2BCB720463}">
      <dgm:prSet phldrT="[Text]"/>
      <dgm:spPr/>
      <dgm:t>
        <a:bodyPr/>
        <a:lstStyle/>
        <a:p>
          <a:r>
            <a:rPr lang="en-GB" dirty="0"/>
            <a:t>Selection</a:t>
          </a:r>
          <a:endParaRPr lang="en-US" dirty="0"/>
        </a:p>
      </dgm:t>
    </dgm:pt>
    <dgm:pt modelId="{77081C04-32DD-40E4-8CFA-6961F6F10917}" type="parTrans" cxnId="{737D695F-D439-4D8B-AEFD-7773279B0FC2}">
      <dgm:prSet/>
      <dgm:spPr/>
      <dgm:t>
        <a:bodyPr/>
        <a:lstStyle/>
        <a:p>
          <a:endParaRPr lang="en-US"/>
        </a:p>
      </dgm:t>
    </dgm:pt>
    <dgm:pt modelId="{E3923E99-5C3D-480A-AD24-960963F722E1}" type="sibTrans" cxnId="{737D695F-D439-4D8B-AEFD-7773279B0FC2}">
      <dgm:prSet/>
      <dgm:spPr/>
      <dgm:t>
        <a:bodyPr/>
        <a:lstStyle/>
        <a:p>
          <a:endParaRPr lang="en-US"/>
        </a:p>
      </dgm:t>
    </dgm:pt>
    <dgm:pt modelId="{AA042F84-BA04-496F-8F6D-4BBADAFD6907}">
      <dgm:prSet/>
      <dgm:spPr/>
      <dgm:t>
        <a:bodyPr/>
        <a:lstStyle/>
        <a:p>
          <a:r>
            <a:rPr lang="en-GB" dirty="0"/>
            <a:t>Determine which selection method to  be used</a:t>
          </a:r>
          <a:endParaRPr lang="en-US" dirty="0"/>
        </a:p>
      </dgm:t>
    </dgm:pt>
    <dgm:pt modelId="{EB6D6CC6-6E72-4EB8-AAD8-C6A9A97BFE2F}" type="parTrans" cxnId="{A4396CE0-8B2C-4B70-B4F1-44B956A0E8CE}">
      <dgm:prSet/>
      <dgm:spPr/>
      <dgm:t>
        <a:bodyPr/>
        <a:lstStyle/>
        <a:p>
          <a:endParaRPr lang="en-US"/>
        </a:p>
      </dgm:t>
    </dgm:pt>
    <dgm:pt modelId="{D6565856-91D1-46ED-BFAC-1FEBF473114E}" type="sibTrans" cxnId="{A4396CE0-8B2C-4B70-B4F1-44B956A0E8CE}">
      <dgm:prSet/>
      <dgm:spPr/>
      <dgm:t>
        <a:bodyPr/>
        <a:lstStyle/>
        <a:p>
          <a:endParaRPr lang="en-US"/>
        </a:p>
      </dgm:t>
    </dgm:pt>
    <dgm:pt modelId="{83390640-6A4A-4A90-9914-C154EC51E007}">
      <dgm:prSet custLinFactNeighborX="-191" custLinFactNeighborY="-4044"/>
      <dgm:spPr/>
      <dgm:t>
        <a:bodyPr/>
        <a:lstStyle/>
        <a:p>
          <a:r>
            <a:rPr lang="en-GB" dirty="0"/>
            <a:t>Compare selection method criteria </a:t>
          </a:r>
          <a:endParaRPr lang="en-US" dirty="0"/>
        </a:p>
      </dgm:t>
    </dgm:pt>
    <dgm:pt modelId="{F27BF688-C55C-4960-A308-4630C3B736E8}" type="parTrans" cxnId="{FBEAD10D-4937-4EB9-90E9-B1A19E11B937}">
      <dgm:prSet/>
      <dgm:spPr/>
      <dgm:t>
        <a:bodyPr/>
        <a:lstStyle/>
        <a:p>
          <a:endParaRPr lang="en-US"/>
        </a:p>
      </dgm:t>
    </dgm:pt>
    <dgm:pt modelId="{B94C956F-87F1-4472-BD89-A115E025A40D}" type="sibTrans" cxnId="{FBEAD10D-4937-4EB9-90E9-B1A19E11B937}">
      <dgm:prSet/>
      <dgm:spPr/>
      <dgm:t>
        <a:bodyPr/>
        <a:lstStyle/>
        <a:p>
          <a:endParaRPr lang="en-US"/>
        </a:p>
      </dgm:t>
    </dgm:pt>
    <dgm:pt modelId="{61C143CF-1432-4C46-BCD4-844126E20DB5}">
      <dgm:prSet phldrT="[Text]"/>
      <dgm:spPr/>
      <dgm:t>
        <a:bodyPr/>
        <a:lstStyle/>
        <a:p>
          <a:r>
            <a:rPr lang="en-GB" dirty="0"/>
            <a:t>Making offer</a:t>
          </a:r>
          <a:endParaRPr lang="en-US" dirty="0"/>
        </a:p>
      </dgm:t>
    </dgm:pt>
    <dgm:pt modelId="{C4F25162-C97E-42E8-B8E5-FFE5108631C1}" type="parTrans" cxnId="{15E51F83-4C61-46D1-8B58-6B8AD76F16CA}">
      <dgm:prSet/>
      <dgm:spPr/>
      <dgm:t>
        <a:bodyPr/>
        <a:lstStyle/>
        <a:p>
          <a:endParaRPr lang="en-US"/>
        </a:p>
      </dgm:t>
    </dgm:pt>
    <dgm:pt modelId="{17491E06-9764-4090-B371-3320AF3ABC35}" type="sibTrans" cxnId="{15E51F83-4C61-46D1-8B58-6B8AD76F16CA}">
      <dgm:prSet/>
      <dgm:spPr/>
      <dgm:t>
        <a:bodyPr/>
        <a:lstStyle/>
        <a:p>
          <a:endParaRPr lang="en-US"/>
        </a:p>
      </dgm:t>
    </dgm:pt>
    <dgm:pt modelId="{F88E3C5D-3A28-4341-B5DD-013EB662EF35}">
      <dgm:prSet phldrT="[Text]"/>
      <dgm:spPr/>
      <dgm:t>
        <a:bodyPr/>
        <a:lstStyle/>
        <a:p>
          <a:r>
            <a:rPr lang="en-GB" dirty="0"/>
            <a:t>Use negotiation technique</a:t>
          </a:r>
          <a:endParaRPr lang="en-US" dirty="0"/>
        </a:p>
      </dgm:t>
    </dgm:pt>
    <dgm:pt modelId="{AFF99B59-DF20-459A-9F13-1326895C80B3}" type="parTrans" cxnId="{F02F6F4A-249D-4507-B16F-664FA8A770E9}">
      <dgm:prSet/>
      <dgm:spPr/>
      <dgm:t>
        <a:bodyPr/>
        <a:lstStyle/>
        <a:p>
          <a:endParaRPr lang="en-US"/>
        </a:p>
      </dgm:t>
    </dgm:pt>
    <dgm:pt modelId="{2CD39BA5-699A-47BD-80B6-8FBBD4F8B42D}" type="sibTrans" cxnId="{F02F6F4A-249D-4507-B16F-664FA8A770E9}">
      <dgm:prSet/>
      <dgm:spPr/>
      <dgm:t>
        <a:bodyPr/>
        <a:lstStyle/>
        <a:p>
          <a:endParaRPr lang="en-US"/>
        </a:p>
      </dgm:t>
    </dgm:pt>
    <dgm:pt modelId="{CA5AE29A-5079-4AA3-87BC-05B43BE4DDF8}">
      <dgm:prSet phldrT="[Text]"/>
      <dgm:spPr/>
      <dgm:t>
        <a:bodyPr/>
        <a:lstStyle/>
        <a:p>
          <a:r>
            <a:rPr lang="en-GB" dirty="0"/>
            <a:t>Write the offer letter/ employment agreement</a:t>
          </a:r>
          <a:endParaRPr lang="en-US" dirty="0"/>
        </a:p>
      </dgm:t>
    </dgm:pt>
    <dgm:pt modelId="{832A0B19-F0A9-4B1A-91E5-8B632494090B}" type="parTrans" cxnId="{3BE7E488-8524-4C13-A88D-9FFB37B440C4}">
      <dgm:prSet/>
      <dgm:spPr/>
      <dgm:t>
        <a:bodyPr/>
        <a:lstStyle/>
        <a:p>
          <a:endParaRPr lang="en-US"/>
        </a:p>
      </dgm:t>
    </dgm:pt>
    <dgm:pt modelId="{E0207953-8E78-43E4-8FDB-6AEE606B67E7}" type="sibTrans" cxnId="{3BE7E488-8524-4C13-A88D-9FFB37B440C4}">
      <dgm:prSet/>
      <dgm:spPr/>
      <dgm:t>
        <a:bodyPr/>
        <a:lstStyle/>
        <a:p>
          <a:endParaRPr lang="en-US"/>
        </a:p>
      </dgm:t>
    </dgm:pt>
    <dgm:pt modelId="{00D7F4B8-91D1-4EF2-BDE2-B2BA2F971604}" type="pres">
      <dgm:prSet presAssocID="{A9606158-9C5A-43E5-B67B-765FD8BBE07A}" presName="linearFlow" presStyleCnt="0">
        <dgm:presLayoutVars>
          <dgm:dir/>
          <dgm:animLvl val="lvl"/>
          <dgm:resizeHandles val="exact"/>
        </dgm:presLayoutVars>
      </dgm:prSet>
      <dgm:spPr/>
    </dgm:pt>
    <dgm:pt modelId="{15546FF2-E239-49D2-9478-4CAC4A61EB14}" type="pres">
      <dgm:prSet presAssocID="{25D36D54-CE64-42AB-B2E6-D9EEE0C5DF1C}" presName="composite" presStyleCnt="0"/>
      <dgm:spPr/>
    </dgm:pt>
    <dgm:pt modelId="{AFA18B99-4C20-40A1-9FA1-0A5F6F628EA9}" type="pres">
      <dgm:prSet presAssocID="{25D36D54-CE64-42AB-B2E6-D9EEE0C5DF1C}" presName="parentText" presStyleLbl="alignNode1" presStyleIdx="0" presStyleCnt="3" custLinFactNeighborX="12719" custLinFactNeighborY="-8616">
        <dgm:presLayoutVars>
          <dgm:chMax val="1"/>
          <dgm:bulletEnabled val="1"/>
        </dgm:presLayoutVars>
      </dgm:prSet>
      <dgm:spPr/>
    </dgm:pt>
    <dgm:pt modelId="{E1224527-E1E8-4F5B-A1E0-61F500E8DF51}" type="pres">
      <dgm:prSet presAssocID="{25D36D54-CE64-42AB-B2E6-D9EEE0C5DF1C}" presName="descendantText" presStyleLbl="alignAcc1" presStyleIdx="0" presStyleCnt="3">
        <dgm:presLayoutVars>
          <dgm:bulletEnabled val="1"/>
        </dgm:presLayoutVars>
      </dgm:prSet>
      <dgm:spPr/>
    </dgm:pt>
    <dgm:pt modelId="{B78B9A08-B49D-47CC-94FA-8CAF7694EA7C}" type="pres">
      <dgm:prSet presAssocID="{19CCA564-60F5-4ABF-9CB3-0DC4EFB69F36}" presName="sp" presStyleCnt="0"/>
      <dgm:spPr/>
    </dgm:pt>
    <dgm:pt modelId="{B53EBF0F-01F8-48CB-A2F5-97951CB7C784}" type="pres">
      <dgm:prSet presAssocID="{46BA4234-18D6-455F-A988-0E2BCB720463}" presName="composite" presStyleCnt="0"/>
      <dgm:spPr/>
    </dgm:pt>
    <dgm:pt modelId="{F456A033-7076-4403-AA78-9C68CA3EBBEB}" type="pres">
      <dgm:prSet presAssocID="{46BA4234-18D6-455F-A988-0E2BCB720463}" presName="parentText" presStyleLbl="alignNode1" presStyleIdx="1" presStyleCnt="3">
        <dgm:presLayoutVars>
          <dgm:chMax val="1"/>
          <dgm:bulletEnabled val="1"/>
        </dgm:presLayoutVars>
      </dgm:prSet>
      <dgm:spPr/>
    </dgm:pt>
    <dgm:pt modelId="{3E6022CA-6C1E-49F0-923B-BAD6DF0FA5E2}" type="pres">
      <dgm:prSet presAssocID="{46BA4234-18D6-455F-A988-0E2BCB720463}" presName="descendantText" presStyleLbl="alignAcc1" presStyleIdx="1" presStyleCnt="3" custLinFactNeighborX="-191" custLinFactNeighborY="-4044">
        <dgm:presLayoutVars>
          <dgm:bulletEnabled val="1"/>
        </dgm:presLayoutVars>
      </dgm:prSet>
      <dgm:spPr/>
    </dgm:pt>
    <dgm:pt modelId="{1A6B2486-7FE8-4131-8F11-4007F8DFBE0B}" type="pres">
      <dgm:prSet presAssocID="{E3923E99-5C3D-480A-AD24-960963F722E1}" presName="sp" presStyleCnt="0"/>
      <dgm:spPr/>
    </dgm:pt>
    <dgm:pt modelId="{76119FBD-B431-4A51-87BC-F6FBDF6D8960}" type="pres">
      <dgm:prSet presAssocID="{61C143CF-1432-4C46-BCD4-844126E20DB5}" presName="composite" presStyleCnt="0"/>
      <dgm:spPr/>
    </dgm:pt>
    <dgm:pt modelId="{DDDC8E69-B307-415E-8B79-4137CFA57973}" type="pres">
      <dgm:prSet presAssocID="{61C143CF-1432-4C46-BCD4-844126E20DB5}" presName="parentText" presStyleLbl="alignNode1" presStyleIdx="2" presStyleCnt="3">
        <dgm:presLayoutVars>
          <dgm:chMax val="1"/>
          <dgm:bulletEnabled val="1"/>
        </dgm:presLayoutVars>
      </dgm:prSet>
      <dgm:spPr/>
    </dgm:pt>
    <dgm:pt modelId="{CD55452C-CAD2-40F6-98AD-D526501867B4}" type="pres">
      <dgm:prSet presAssocID="{61C143CF-1432-4C46-BCD4-844126E20DB5}" presName="descendantText" presStyleLbl="alignAcc1" presStyleIdx="2" presStyleCnt="3">
        <dgm:presLayoutVars>
          <dgm:bulletEnabled val="1"/>
        </dgm:presLayoutVars>
      </dgm:prSet>
      <dgm:spPr/>
    </dgm:pt>
  </dgm:ptLst>
  <dgm:cxnLst>
    <dgm:cxn modelId="{FBEAD10D-4937-4EB9-90E9-B1A19E11B937}" srcId="{46BA4234-18D6-455F-A988-0E2BCB720463}" destId="{83390640-6A4A-4A90-9914-C154EC51E007}" srcOrd="1" destOrd="0" parTransId="{F27BF688-C55C-4960-A308-4630C3B736E8}" sibTransId="{B94C956F-87F1-4472-BD89-A115E025A40D}"/>
    <dgm:cxn modelId="{B466B20E-7CA0-434A-ACBA-BE6464F3F8D9}" type="presOf" srcId="{93532B5B-43BD-4AC8-B137-0B29C09DA62F}" destId="{E1224527-E1E8-4F5B-A1E0-61F500E8DF51}" srcOrd="0" destOrd="0" presId="urn:microsoft.com/office/officeart/2005/8/layout/chevron2"/>
    <dgm:cxn modelId="{64F1CB19-BCEB-4C7C-86E0-2BD096FA8ABA}" srcId="{25D36D54-CE64-42AB-B2E6-D9EEE0C5DF1C}" destId="{93532B5B-43BD-4AC8-B137-0B29C09DA62F}" srcOrd="0" destOrd="0" parTransId="{3B384437-6905-4856-B5EB-8F68B8374C69}" sibTransId="{B4442AE2-072A-4F92-ACFC-FB01DED94D7A}"/>
    <dgm:cxn modelId="{2C878336-3DEF-467A-90F7-B06040BF9966}" type="presOf" srcId="{A9606158-9C5A-43E5-B67B-765FD8BBE07A}" destId="{00D7F4B8-91D1-4EF2-BDE2-B2BA2F971604}" srcOrd="0" destOrd="0" presId="urn:microsoft.com/office/officeart/2005/8/layout/chevron2"/>
    <dgm:cxn modelId="{737D695F-D439-4D8B-AEFD-7773279B0FC2}" srcId="{A9606158-9C5A-43E5-B67B-765FD8BBE07A}" destId="{46BA4234-18D6-455F-A988-0E2BCB720463}" srcOrd="1" destOrd="0" parTransId="{77081C04-32DD-40E4-8CFA-6961F6F10917}" sibTransId="{E3923E99-5C3D-480A-AD24-960963F722E1}"/>
    <dgm:cxn modelId="{F02F6F4A-249D-4507-B16F-664FA8A770E9}" srcId="{61C143CF-1432-4C46-BCD4-844126E20DB5}" destId="{F88E3C5D-3A28-4341-B5DD-013EB662EF35}" srcOrd="0" destOrd="0" parTransId="{AFF99B59-DF20-459A-9F13-1326895C80B3}" sibTransId="{2CD39BA5-699A-47BD-80B6-8FBBD4F8B42D}"/>
    <dgm:cxn modelId="{B7C3576A-A39F-453C-AA45-48A31AE0EB0A}" type="presOf" srcId="{25D36D54-CE64-42AB-B2E6-D9EEE0C5DF1C}" destId="{AFA18B99-4C20-40A1-9FA1-0A5F6F628EA9}" srcOrd="0" destOrd="0" presId="urn:microsoft.com/office/officeart/2005/8/layout/chevron2"/>
    <dgm:cxn modelId="{15E51F83-4C61-46D1-8B58-6B8AD76F16CA}" srcId="{A9606158-9C5A-43E5-B67B-765FD8BBE07A}" destId="{61C143CF-1432-4C46-BCD4-844126E20DB5}" srcOrd="2" destOrd="0" parTransId="{C4F25162-C97E-42E8-B8E5-FFE5108631C1}" sibTransId="{17491E06-9764-4090-B371-3320AF3ABC35}"/>
    <dgm:cxn modelId="{3BE7E488-8524-4C13-A88D-9FFB37B440C4}" srcId="{61C143CF-1432-4C46-BCD4-844126E20DB5}" destId="{CA5AE29A-5079-4AA3-87BC-05B43BE4DDF8}" srcOrd="1" destOrd="0" parTransId="{832A0B19-F0A9-4B1A-91E5-8B632494090B}" sibTransId="{E0207953-8E78-43E4-8FDB-6AEE606B67E7}"/>
    <dgm:cxn modelId="{08A339A6-69CE-4A9C-BEB0-069FE66D3282}" type="presOf" srcId="{F88E3C5D-3A28-4341-B5DD-013EB662EF35}" destId="{CD55452C-CAD2-40F6-98AD-D526501867B4}" srcOrd="0" destOrd="0" presId="urn:microsoft.com/office/officeart/2005/8/layout/chevron2"/>
    <dgm:cxn modelId="{1BD4C8A8-F196-42E8-A9E5-F85B2121BC8F}" type="presOf" srcId="{61C143CF-1432-4C46-BCD4-844126E20DB5}" destId="{DDDC8E69-B307-415E-8B79-4137CFA57973}" srcOrd="0" destOrd="0" presId="urn:microsoft.com/office/officeart/2005/8/layout/chevron2"/>
    <dgm:cxn modelId="{771260BC-98EB-4885-BD26-331D561ACBC2}" type="presOf" srcId="{46BA4234-18D6-455F-A988-0E2BCB720463}" destId="{F456A033-7076-4403-AA78-9C68CA3EBBEB}" srcOrd="0" destOrd="0" presId="urn:microsoft.com/office/officeart/2005/8/layout/chevron2"/>
    <dgm:cxn modelId="{0DE9F2BF-B8E7-40AB-A07C-52EC8E378BF1}" srcId="{A9606158-9C5A-43E5-B67B-765FD8BBE07A}" destId="{25D36D54-CE64-42AB-B2E6-D9EEE0C5DF1C}" srcOrd="0" destOrd="0" parTransId="{4F09C988-25A1-46A9-9971-5A2A4506E46D}" sibTransId="{19CCA564-60F5-4ABF-9CB3-0DC4EFB69F36}"/>
    <dgm:cxn modelId="{A19B40C6-E58D-4A46-A320-48A520E71D3F}" type="presOf" srcId="{AA042F84-BA04-496F-8F6D-4BBADAFD6907}" destId="{3E6022CA-6C1E-49F0-923B-BAD6DF0FA5E2}" srcOrd="0" destOrd="0" presId="urn:microsoft.com/office/officeart/2005/8/layout/chevron2"/>
    <dgm:cxn modelId="{A4396CE0-8B2C-4B70-B4F1-44B956A0E8CE}" srcId="{46BA4234-18D6-455F-A988-0E2BCB720463}" destId="{AA042F84-BA04-496F-8F6D-4BBADAFD6907}" srcOrd="0" destOrd="0" parTransId="{EB6D6CC6-6E72-4EB8-AAD8-C6A9A97BFE2F}" sibTransId="{D6565856-91D1-46ED-BFAC-1FEBF473114E}"/>
    <dgm:cxn modelId="{AAB089E2-0F67-4328-A3D2-8B5A5720B272}" type="presOf" srcId="{CA5AE29A-5079-4AA3-87BC-05B43BE4DDF8}" destId="{CD55452C-CAD2-40F6-98AD-D526501867B4}" srcOrd="0" destOrd="1" presId="urn:microsoft.com/office/officeart/2005/8/layout/chevron2"/>
    <dgm:cxn modelId="{4153E6E5-0341-4258-B357-EAA5D9BE2C93}" type="presOf" srcId="{83390640-6A4A-4A90-9914-C154EC51E007}" destId="{3E6022CA-6C1E-49F0-923B-BAD6DF0FA5E2}" srcOrd="0" destOrd="1" presId="urn:microsoft.com/office/officeart/2005/8/layout/chevron2"/>
    <dgm:cxn modelId="{3CE885F0-076A-41BF-BBE4-0988C3643CD3}" type="presParOf" srcId="{00D7F4B8-91D1-4EF2-BDE2-B2BA2F971604}" destId="{15546FF2-E239-49D2-9478-4CAC4A61EB14}" srcOrd="0" destOrd="0" presId="urn:microsoft.com/office/officeart/2005/8/layout/chevron2"/>
    <dgm:cxn modelId="{5A7C2F14-8B9A-4D65-BDE7-D4CE239FAA14}" type="presParOf" srcId="{15546FF2-E239-49D2-9478-4CAC4A61EB14}" destId="{AFA18B99-4C20-40A1-9FA1-0A5F6F628EA9}" srcOrd="0" destOrd="0" presId="urn:microsoft.com/office/officeart/2005/8/layout/chevron2"/>
    <dgm:cxn modelId="{A1AD43B0-503B-4583-9B59-FD7E6E8E8845}" type="presParOf" srcId="{15546FF2-E239-49D2-9478-4CAC4A61EB14}" destId="{E1224527-E1E8-4F5B-A1E0-61F500E8DF51}" srcOrd="1" destOrd="0" presId="urn:microsoft.com/office/officeart/2005/8/layout/chevron2"/>
    <dgm:cxn modelId="{86BC95EE-4051-41B5-9007-5D4F8787C86A}" type="presParOf" srcId="{00D7F4B8-91D1-4EF2-BDE2-B2BA2F971604}" destId="{B78B9A08-B49D-47CC-94FA-8CAF7694EA7C}" srcOrd="1" destOrd="0" presId="urn:microsoft.com/office/officeart/2005/8/layout/chevron2"/>
    <dgm:cxn modelId="{1494021B-FC7C-4A2B-8008-D422D0F5CFFA}" type="presParOf" srcId="{00D7F4B8-91D1-4EF2-BDE2-B2BA2F971604}" destId="{B53EBF0F-01F8-48CB-A2F5-97951CB7C784}" srcOrd="2" destOrd="0" presId="urn:microsoft.com/office/officeart/2005/8/layout/chevron2"/>
    <dgm:cxn modelId="{1AE79BC7-2A6B-4E46-A50D-C94AF3C32513}" type="presParOf" srcId="{B53EBF0F-01F8-48CB-A2F5-97951CB7C784}" destId="{F456A033-7076-4403-AA78-9C68CA3EBBEB}" srcOrd="0" destOrd="0" presId="urn:microsoft.com/office/officeart/2005/8/layout/chevron2"/>
    <dgm:cxn modelId="{7B4A4404-879C-4ED6-B9D7-E07EA406C1B3}" type="presParOf" srcId="{B53EBF0F-01F8-48CB-A2F5-97951CB7C784}" destId="{3E6022CA-6C1E-49F0-923B-BAD6DF0FA5E2}" srcOrd="1" destOrd="0" presId="urn:microsoft.com/office/officeart/2005/8/layout/chevron2"/>
    <dgm:cxn modelId="{EE8E6955-48A1-4BBA-B32F-E4BA9C5748EF}" type="presParOf" srcId="{00D7F4B8-91D1-4EF2-BDE2-B2BA2F971604}" destId="{1A6B2486-7FE8-4131-8F11-4007F8DFBE0B}" srcOrd="3" destOrd="0" presId="urn:microsoft.com/office/officeart/2005/8/layout/chevron2"/>
    <dgm:cxn modelId="{BEEA9E63-3F86-4C84-833B-AA02C4584534}" type="presParOf" srcId="{00D7F4B8-91D1-4EF2-BDE2-B2BA2F971604}" destId="{76119FBD-B431-4A51-87BC-F6FBDF6D8960}" srcOrd="4" destOrd="0" presId="urn:microsoft.com/office/officeart/2005/8/layout/chevron2"/>
    <dgm:cxn modelId="{C28C803A-F23E-4B07-86AB-EBDB2C0CACEA}" type="presParOf" srcId="{76119FBD-B431-4A51-87BC-F6FBDF6D8960}" destId="{DDDC8E69-B307-415E-8B79-4137CFA57973}" srcOrd="0" destOrd="0" presId="urn:microsoft.com/office/officeart/2005/8/layout/chevron2"/>
    <dgm:cxn modelId="{DCCBDCC8-5812-4952-94C0-B41AFA4A8B04}" type="presParOf" srcId="{76119FBD-B431-4A51-87BC-F6FBDF6D8960}" destId="{CD55452C-CAD2-40F6-98AD-D526501867B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4BF710-4088-41A1-86A5-2E8A19E51F72}">
      <dsp:nvSpPr>
        <dsp:cNvPr id="0" name=""/>
        <dsp:cNvSpPr/>
      </dsp:nvSpPr>
      <dsp:spPr>
        <a:xfrm rot="5400000">
          <a:off x="-243145" y="374092"/>
          <a:ext cx="1587397" cy="111117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Criteria development</a:t>
          </a:r>
        </a:p>
      </dsp:txBody>
      <dsp:txXfrm rot="-5400000">
        <a:off x="-5035" y="691571"/>
        <a:ext cx="1111178" cy="476219"/>
      </dsp:txXfrm>
    </dsp:sp>
    <dsp:sp modelId="{CCAD2B81-560C-4894-B08B-0F86A47E08B1}">
      <dsp:nvSpPr>
        <dsp:cNvPr id="0" name=""/>
        <dsp:cNvSpPr/>
      </dsp:nvSpPr>
      <dsp:spPr>
        <a:xfrm rot="5400000">
          <a:off x="4016742" y="-2907052"/>
          <a:ext cx="1297220" cy="71184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t>Understand  selection steps</a:t>
          </a:r>
          <a:endParaRPr lang="en-US" sz="2000" kern="1200" dirty="0"/>
        </a:p>
        <a:p>
          <a:pPr marL="228600" lvl="1" indent="-228600" algn="l" defTabSz="889000">
            <a:lnSpc>
              <a:spcPct val="90000"/>
            </a:lnSpc>
            <a:spcBef>
              <a:spcPct val="0"/>
            </a:spcBef>
            <a:spcAft>
              <a:spcPct val="15000"/>
            </a:spcAft>
            <a:buChar char="•"/>
          </a:pPr>
          <a:r>
            <a:rPr lang="en-US" sz="2000" kern="1200" dirty="0"/>
            <a:t>determining which sources of information to be used</a:t>
          </a:r>
        </a:p>
        <a:p>
          <a:pPr marL="228600" lvl="1" indent="-228600" algn="l" defTabSz="889000">
            <a:lnSpc>
              <a:spcPct val="90000"/>
            </a:lnSpc>
            <a:spcBef>
              <a:spcPct val="0"/>
            </a:spcBef>
            <a:spcAft>
              <a:spcPct val="15000"/>
            </a:spcAft>
            <a:buChar char="•"/>
          </a:pPr>
          <a:r>
            <a:rPr lang="en-GB" sz="2000" kern="1200" dirty="0"/>
            <a:t>Develop scoring system for each source of information</a:t>
          </a:r>
          <a:endParaRPr lang="en-US" sz="2000" kern="1200" dirty="0"/>
        </a:p>
        <a:p>
          <a:pPr marL="228600" lvl="1" indent="-228600" algn="l" defTabSz="889000">
            <a:lnSpc>
              <a:spcPct val="90000"/>
            </a:lnSpc>
            <a:spcBef>
              <a:spcPct val="0"/>
            </a:spcBef>
            <a:spcAft>
              <a:spcPct val="15000"/>
            </a:spcAft>
            <a:buChar char="•"/>
          </a:pPr>
          <a:r>
            <a:rPr lang="en-GB" sz="2000" kern="1200" dirty="0"/>
            <a:t>Create an interview plan</a:t>
          </a:r>
          <a:endParaRPr lang="en-US" sz="2000" kern="1200" dirty="0"/>
        </a:p>
      </dsp:txBody>
      <dsp:txXfrm rot="-5400000">
        <a:off x="1106142" y="66873"/>
        <a:ext cx="7055096" cy="1170570"/>
      </dsp:txXfrm>
    </dsp:sp>
    <dsp:sp modelId="{DAD8453C-595F-416E-BAC8-8321915D8643}">
      <dsp:nvSpPr>
        <dsp:cNvPr id="0" name=""/>
        <dsp:cNvSpPr/>
      </dsp:nvSpPr>
      <dsp:spPr>
        <a:xfrm rot="5400000">
          <a:off x="-243145" y="1773610"/>
          <a:ext cx="1587397" cy="1111178"/>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Application and résumé review</a:t>
          </a:r>
        </a:p>
      </dsp:txBody>
      <dsp:txXfrm rot="-5400000">
        <a:off x="-5035" y="2091089"/>
        <a:ext cx="1111178" cy="476219"/>
      </dsp:txXfrm>
    </dsp:sp>
    <dsp:sp modelId="{929F9458-7313-4D80-88F0-AC829571CC54}">
      <dsp:nvSpPr>
        <dsp:cNvPr id="0" name=""/>
        <dsp:cNvSpPr/>
      </dsp:nvSpPr>
      <dsp:spPr>
        <a:xfrm rot="5400000">
          <a:off x="4149448" y="-1507806"/>
          <a:ext cx="1031808" cy="71184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t>Should be base on criteria develop in step one</a:t>
          </a:r>
          <a:endParaRPr lang="en-US" sz="2000" kern="1200" dirty="0"/>
        </a:p>
        <a:p>
          <a:pPr marL="228600" lvl="1" indent="-228600" algn="l" defTabSz="889000">
            <a:lnSpc>
              <a:spcPct val="90000"/>
            </a:lnSpc>
            <a:spcBef>
              <a:spcPct val="0"/>
            </a:spcBef>
            <a:spcAft>
              <a:spcPct val="15000"/>
            </a:spcAft>
            <a:buChar char="•"/>
          </a:pPr>
          <a:r>
            <a:rPr lang="en-GB" sz="2000" kern="1200" dirty="0"/>
            <a:t>Consider internal VS external candidate</a:t>
          </a:r>
          <a:endParaRPr lang="en-US" sz="2000" kern="1200" dirty="0"/>
        </a:p>
      </dsp:txBody>
      <dsp:txXfrm rot="-5400000">
        <a:off x="1106142" y="1585869"/>
        <a:ext cx="7068052" cy="931070"/>
      </dsp:txXfrm>
    </dsp:sp>
    <dsp:sp modelId="{52EB4A88-C44D-4DD7-9582-DB3D4169A394}">
      <dsp:nvSpPr>
        <dsp:cNvPr id="0" name=""/>
        <dsp:cNvSpPr/>
      </dsp:nvSpPr>
      <dsp:spPr>
        <a:xfrm rot="5400000">
          <a:off x="-233073" y="3166602"/>
          <a:ext cx="1587397" cy="1131323"/>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rPr>
            <a:t>Interviewing</a:t>
          </a:r>
        </a:p>
      </dsp:txBody>
      <dsp:txXfrm rot="-5400000">
        <a:off x="-5035" y="3504227"/>
        <a:ext cx="1131323" cy="456074"/>
      </dsp:txXfrm>
    </dsp:sp>
    <dsp:sp modelId="{299C1A05-2059-4312-83FA-4F621B973B2B}">
      <dsp:nvSpPr>
        <dsp:cNvPr id="0" name=""/>
        <dsp:cNvSpPr/>
      </dsp:nvSpPr>
      <dsp:spPr>
        <a:xfrm rot="5400000">
          <a:off x="4159521" y="-108288"/>
          <a:ext cx="1031808" cy="7118421"/>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GB" sz="2000" kern="1200" dirty="0"/>
            <a:t>Determine  type of interview</a:t>
          </a:r>
          <a:endParaRPr lang="en-US" sz="2000" kern="1200" dirty="0"/>
        </a:p>
        <a:p>
          <a:pPr marL="228600" lvl="1" indent="-228600" algn="l" defTabSz="889000">
            <a:lnSpc>
              <a:spcPct val="90000"/>
            </a:lnSpc>
            <a:spcBef>
              <a:spcPct val="0"/>
            </a:spcBef>
            <a:spcAft>
              <a:spcPct val="15000"/>
            </a:spcAft>
            <a:buChar char="•"/>
          </a:pPr>
          <a:r>
            <a:rPr lang="en-GB" sz="2000" kern="1200" dirty="0"/>
            <a:t>Write an interview question</a:t>
          </a:r>
          <a:endParaRPr lang="en-US" sz="2000" kern="1200" dirty="0"/>
        </a:p>
        <a:p>
          <a:pPr marL="228600" lvl="1" indent="-228600" algn="l" defTabSz="889000">
            <a:lnSpc>
              <a:spcPct val="90000"/>
            </a:lnSpc>
            <a:spcBef>
              <a:spcPct val="0"/>
            </a:spcBef>
            <a:spcAft>
              <a:spcPct val="15000"/>
            </a:spcAft>
            <a:buChar char="•"/>
          </a:pPr>
          <a:r>
            <a:rPr lang="en-GB" sz="2000" kern="1200" dirty="0"/>
            <a:t>Be aware of interview bias</a:t>
          </a:r>
          <a:endParaRPr lang="en-US" sz="2000" kern="1200" dirty="0"/>
        </a:p>
      </dsp:txBody>
      <dsp:txXfrm rot="-5400000">
        <a:off x="1116215" y="2985387"/>
        <a:ext cx="7068052" cy="9310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A18B99-4C20-40A1-9FA1-0A5F6F628EA9}">
      <dsp:nvSpPr>
        <dsp:cNvPr id="0" name=""/>
        <dsp:cNvSpPr/>
      </dsp:nvSpPr>
      <dsp:spPr>
        <a:xfrm rot="5400000">
          <a:off x="-99837" y="245635"/>
          <a:ext cx="1637567" cy="114629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Test administration</a:t>
          </a:r>
        </a:p>
      </dsp:txBody>
      <dsp:txXfrm rot="-5400000">
        <a:off x="145799" y="573149"/>
        <a:ext cx="1146297" cy="491270"/>
      </dsp:txXfrm>
    </dsp:sp>
    <dsp:sp modelId="{E1224527-E1E8-4F5B-A1E0-61F500E8DF51}">
      <dsp:nvSpPr>
        <dsp:cNvPr id="0" name=""/>
        <dsp:cNvSpPr/>
      </dsp:nvSpPr>
      <dsp:spPr>
        <a:xfrm rot="5400000">
          <a:off x="4155739" y="-3008994"/>
          <a:ext cx="1064418" cy="708330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GB" sz="2700" kern="1200" dirty="0"/>
            <a:t>Performed test as outline in criteria development</a:t>
          </a:r>
          <a:endParaRPr lang="en-US" sz="2700" kern="1200" dirty="0"/>
        </a:p>
      </dsp:txBody>
      <dsp:txXfrm rot="-5400000">
        <a:off x="1146298" y="52408"/>
        <a:ext cx="7031341" cy="960496"/>
      </dsp:txXfrm>
    </dsp:sp>
    <dsp:sp modelId="{F456A033-7076-4403-AA78-9C68CA3EBBEB}">
      <dsp:nvSpPr>
        <dsp:cNvPr id="0" name=""/>
        <dsp:cNvSpPr/>
      </dsp:nvSpPr>
      <dsp:spPr>
        <a:xfrm rot="5400000">
          <a:off x="-245635" y="1689832"/>
          <a:ext cx="1637567" cy="114629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Selection</a:t>
          </a:r>
          <a:endParaRPr lang="en-US" sz="1500" kern="1200" dirty="0"/>
        </a:p>
      </dsp:txBody>
      <dsp:txXfrm rot="-5400000">
        <a:off x="1" y="2017346"/>
        <a:ext cx="1146297" cy="491270"/>
      </dsp:txXfrm>
    </dsp:sp>
    <dsp:sp modelId="{3E6022CA-6C1E-49F0-923B-BAD6DF0FA5E2}">
      <dsp:nvSpPr>
        <dsp:cNvPr id="0" name=""/>
        <dsp:cNvSpPr/>
      </dsp:nvSpPr>
      <dsp:spPr>
        <a:xfrm rot="5400000">
          <a:off x="4142210" y="-1608289"/>
          <a:ext cx="1064418" cy="708330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GB" sz="2700" kern="1200" dirty="0"/>
            <a:t>Determine which selection method to  be used</a:t>
          </a:r>
          <a:endParaRPr lang="en-US" sz="2700" kern="1200" dirty="0"/>
        </a:p>
        <a:p>
          <a:pPr marL="228600" lvl="1" indent="-228600" algn="l" defTabSz="1200150">
            <a:lnSpc>
              <a:spcPct val="90000"/>
            </a:lnSpc>
            <a:spcBef>
              <a:spcPct val="0"/>
            </a:spcBef>
            <a:spcAft>
              <a:spcPct val="15000"/>
            </a:spcAft>
            <a:buChar char="•"/>
          </a:pPr>
          <a:r>
            <a:rPr lang="en-GB" sz="2700" kern="1200" dirty="0"/>
            <a:t>Compare selection method criteria </a:t>
          </a:r>
          <a:endParaRPr lang="en-US" sz="2700" kern="1200" dirty="0"/>
        </a:p>
      </dsp:txBody>
      <dsp:txXfrm rot="-5400000">
        <a:off x="1132769" y="1453113"/>
        <a:ext cx="7031341" cy="960496"/>
      </dsp:txXfrm>
    </dsp:sp>
    <dsp:sp modelId="{DDDC8E69-B307-415E-8B79-4137CFA57973}">
      <dsp:nvSpPr>
        <dsp:cNvPr id="0" name=""/>
        <dsp:cNvSpPr/>
      </dsp:nvSpPr>
      <dsp:spPr>
        <a:xfrm rot="5400000">
          <a:off x="-245635" y="3133582"/>
          <a:ext cx="1637567" cy="114629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Making offer</a:t>
          </a:r>
          <a:endParaRPr lang="en-US" sz="1500" kern="1200" dirty="0"/>
        </a:p>
      </dsp:txBody>
      <dsp:txXfrm rot="-5400000">
        <a:off x="1" y="3461096"/>
        <a:ext cx="1146297" cy="491270"/>
      </dsp:txXfrm>
    </dsp:sp>
    <dsp:sp modelId="{CD55452C-CAD2-40F6-98AD-D526501867B4}">
      <dsp:nvSpPr>
        <dsp:cNvPr id="0" name=""/>
        <dsp:cNvSpPr/>
      </dsp:nvSpPr>
      <dsp:spPr>
        <a:xfrm rot="5400000">
          <a:off x="4155739" y="-121494"/>
          <a:ext cx="1064418" cy="7083302"/>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2024" tIns="17145" rIns="17145" bIns="17145" numCol="1" spcCol="1270" anchor="ctr" anchorCtr="0">
          <a:noAutofit/>
        </a:bodyPr>
        <a:lstStyle/>
        <a:p>
          <a:pPr marL="228600" lvl="1" indent="-228600" algn="l" defTabSz="1200150">
            <a:lnSpc>
              <a:spcPct val="90000"/>
            </a:lnSpc>
            <a:spcBef>
              <a:spcPct val="0"/>
            </a:spcBef>
            <a:spcAft>
              <a:spcPct val="15000"/>
            </a:spcAft>
            <a:buChar char="•"/>
          </a:pPr>
          <a:r>
            <a:rPr lang="en-GB" sz="2700" kern="1200" dirty="0"/>
            <a:t>Use negotiation technique</a:t>
          </a:r>
          <a:endParaRPr lang="en-US" sz="2700" kern="1200" dirty="0"/>
        </a:p>
        <a:p>
          <a:pPr marL="228600" lvl="1" indent="-228600" algn="l" defTabSz="1200150">
            <a:lnSpc>
              <a:spcPct val="90000"/>
            </a:lnSpc>
            <a:spcBef>
              <a:spcPct val="0"/>
            </a:spcBef>
            <a:spcAft>
              <a:spcPct val="15000"/>
            </a:spcAft>
            <a:buChar char="•"/>
          </a:pPr>
          <a:r>
            <a:rPr lang="en-GB" sz="2700" kern="1200" dirty="0"/>
            <a:t>Write the offer letter/ employment agreement</a:t>
          </a:r>
          <a:endParaRPr lang="en-US" sz="2700" kern="1200" dirty="0"/>
        </a:p>
      </dsp:txBody>
      <dsp:txXfrm rot="-5400000">
        <a:off x="1146298" y="2939908"/>
        <a:ext cx="7031341" cy="960496"/>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AA053FC-B417-4AB0-B9D3-CAFDD8EA72AC}"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1748221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A053FC-B417-4AB0-B9D3-CAFDD8EA72AC}"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870958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AA053FC-B417-4AB0-B9D3-CAFDD8EA72AC}"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395406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AA053FC-B417-4AB0-B9D3-CAFDD8EA72AC}"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2840968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A053FC-B417-4AB0-B9D3-CAFDD8EA72AC}" type="datetimeFigureOut">
              <a:rPr lang="en-US" smtClean="0"/>
              <a:t>7/24/2026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2343949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AA053FC-B417-4AB0-B9D3-CAFDD8EA72AC}" type="datetimeFigureOut">
              <a:rPr lang="en-US" smtClean="0"/>
              <a:t>7/24/2026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4245095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A053FC-B417-4AB0-B9D3-CAFDD8EA72AC}" type="datetimeFigureOut">
              <a:rPr lang="en-US" smtClean="0"/>
              <a:t>7/24/2026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17761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A053FC-B417-4AB0-B9D3-CAFDD8EA72AC}"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2076171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A053FC-B417-4AB0-B9D3-CAFDD8EA72AC}" type="datetimeFigureOut">
              <a:rPr lang="en-US" smtClean="0"/>
              <a:t>7/24/2026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33890784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A053FC-B417-4AB0-B9D3-CAFDD8EA72AC}"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13726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A053FC-B417-4AB0-B9D3-CAFDD8EA72AC}" type="datetimeFigureOut">
              <a:rPr lang="en-US" smtClean="0"/>
              <a:t>7/24/2026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F92E23-4BA7-4318-A79C-2706304B7262}" type="slidenum">
              <a:rPr lang="en-US" smtClean="0"/>
              <a:t>‹#›</a:t>
            </a:fld>
            <a:endParaRPr lang="en-US"/>
          </a:p>
        </p:txBody>
      </p:sp>
    </p:spTree>
    <p:extLst>
      <p:ext uri="{BB962C8B-B14F-4D97-AF65-F5344CB8AC3E}">
        <p14:creationId xmlns:p14="http://schemas.microsoft.com/office/powerpoint/2010/main" val="33673201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053FC-B417-4AB0-B9D3-CAFDD8EA72AC}" type="datetimeFigureOut">
              <a:rPr lang="en-US" smtClean="0"/>
              <a:t>7/24/2026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F92E23-4BA7-4318-A79C-2706304B7262}" type="slidenum">
              <a:rPr lang="en-US" smtClean="0"/>
              <a:t>‹#›</a:t>
            </a:fld>
            <a:endParaRPr lang="en-US"/>
          </a:p>
        </p:txBody>
      </p:sp>
    </p:spTree>
    <p:extLst>
      <p:ext uri="{BB962C8B-B14F-4D97-AF65-F5344CB8AC3E}">
        <p14:creationId xmlns:p14="http://schemas.microsoft.com/office/powerpoint/2010/main" val="4165768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image.slidesharecdn.com/e-recruitmentpptbyskt2019-190426160011/95/erecruitment-or-online-recruitment-ppt-2019-10-638.jpg?cb=1556294629"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ctr"/>
            <a:endParaRPr lang="en-GB" sz="3600" dirty="0"/>
          </a:p>
          <a:p>
            <a:pPr algn="ctr"/>
            <a:endParaRPr lang="en-GB" sz="3600" dirty="0"/>
          </a:p>
          <a:p>
            <a:pPr marL="0" indent="0" algn="ctr">
              <a:buNone/>
            </a:pPr>
            <a:r>
              <a:rPr lang="en-GB" sz="6600" dirty="0"/>
              <a:t>Recruitment and selection</a:t>
            </a:r>
          </a:p>
        </p:txBody>
      </p:sp>
    </p:spTree>
    <p:extLst>
      <p:ext uri="{BB962C8B-B14F-4D97-AF65-F5344CB8AC3E}">
        <p14:creationId xmlns:p14="http://schemas.microsoft.com/office/powerpoint/2010/main" val="42126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dirty="0"/>
            </a:br>
            <a:r>
              <a:rPr lang="en-GB" dirty="0"/>
              <a:t>Recruitment and selection</a:t>
            </a:r>
            <a:br>
              <a:rPr lang="en-GB" dirty="0"/>
            </a:br>
            <a:endParaRPr lang="en-US" dirty="0"/>
          </a:p>
        </p:txBody>
      </p:sp>
      <p:sp>
        <p:nvSpPr>
          <p:cNvPr id="3" name="Content Placeholder 2"/>
          <p:cNvSpPr>
            <a:spLocks noGrp="1"/>
          </p:cNvSpPr>
          <p:nvPr>
            <p:ph idx="1"/>
          </p:nvPr>
        </p:nvSpPr>
        <p:spPr>
          <a:xfrm>
            <a:off x="1981200" y="1285860"/>
            <a:ext cx="8229600" cy="5000660"/>
          </a:xfrm>
        </p:spPr>
        <p:txBody>
          <a:bodyPr>
            <a:normAutofit fontScale="92500"/>
          </a:bodyPr>
          <a:lstStyle/>
          <a:p>
            <a:pPr algn="just"/>
            <a:r>
              <a:rPr lang="en-US" dirty="0"/>
              <a:t>Recruitment and Selection is an important operation in HRM, designed to maximize employee strength in order to meet the employer's strategic goals and objectives. </a:t>
            </a:r>
          </a:p>
          <a:p>
            <a:pPr algn="just"/>
            <a:r>
              <a:rPr lang="en-US" dirty="0"/>
              <a:t>Recruitment and Selection is the process of sourcing, screening, short listing and selecting the right candidates for the filling the required vacant positions</a:t>
            </a:r>
          </a:p>
          <a:p>
            <a:pPr algn="just"/>
            <a:r>
              <a:rPr lang="en-US" dirty="0"/>
              <a:t>They are integrated activities, and ‘where  recruitment stops and selection begins is a moot point</a:t>
            </a:r>
          </a:p>
          <a:p>
            <a:pPr algn="just"/>
            <a:r>
              <a:rPr lang="en-US" dirty="0"/>
              <a:t>The overall aim of the recruitment and selection process should be to obtain at minimum cost the number and quality of employees required to satisfy the human resource needs of the company </a:t>
            </a:r>
          </a:p>
        </p:txBody>
      </p:sp>
    </p:spTree>
    <p:extLst>
      <p:ext uri="{BB962C8B-B14F-4D97-AF65-F5344CB8AC3E}">
        <p14:creationId xmlns:p14="http://schemas.microsoft.com/office/powerpoint/2010/main" val="2797256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Recruitment</a:t>
            </a:r>
            <a:endParaRPr lang="en-US" dirty="0"/>
          </a:p>
        </p:txBody>
      </p:sp>
      <p:sp>
        <p:nvSpPr>
          <p:cNvPr id="3" name="Content Placeholder 2"/>
          <p:cNvSpPr>
            <a:spLocks noGrp="1"/>
          </p:cNvSpPr>
          <p:nvPr>
            <p:ph idx="1"/>
          </p:nvPr>
        </p:nvSpPr>
        <p:spPr>
          <a:xfrm>
            <a:off x="1981200" y="1285860"/>
            <a:ext cx="8229600" cy="4929222"/>
          </a:xfrm>
        </p:spPr>
        <p:txBody>
          <a:bodyPr>
            <a:noAutofit/>
          </a:bodyPr>
          <a:lstStyle/>
          <a:p>
            <a:pPr algn="just"/>
            <a:r>
              <a:rPr lang="en-US" dirty="0"/>
              <a:t>Recruitment means an activity which refers to the discovery and development of workers and employees in the enterprise at the time they are required.</a:t>
            </a:r>
          </a:p>
          <a:p>
            <a:pPr algn="just"/>
            <a:r>
              <a:rPr lang="en-US" dirty="0"/>
              <a:t>Recruitment involves estimating the available vacancies and making suitable arrangements for their selection and appointment.</a:t>
            </a:r>
          </a:p>
          <a:p>
            <a:pPr algn="just"/>
            <a:r>
              <a:rPr lang="en-US" dirty="0"/>
              <a:t>It involves locating, evaluation, maintaining and contacting the sources of man power and stimulating the prospective candidates to apply for the job so that right candidates may be obtained for right job.</a:t>
            </a:r>
          </a:p>
        </p:txBody>
      </p:sp>
    </p:spTree>
    <p:extLst>
      <p:ext uri="{BB962C8B-B14F-4D97-AF65-F5344CB8AC3E}">
        <p14:creationId xmlns:p14="http://schemas.microsoft.com/office/powerpoint/2010/main" val="161852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Importance of recruitment</a:t>
            </a:r>
            <a:endParaRPr lang="en-US" dirty="0"/>
          </a:p>
        </p:txBody>
      </p:sp>
      <p:sp>
        <p:nvSpPr>
          <p:cNvPr id="3" name="Content Placeholder 2"/>
          <p:cNvSpPr>
            <a:spLocks noGrp="1"/>
          </p:cNvSpPr>
          <p:nvPr>
            <p:ph idx="1"/>
          </p:nvPr>
        </p:nvSpPr>
        <p:spPr>
          <a:xfrm>
            <a:off x="1981200" y="1428737"/>
            <a:ext cx="8229600" cy="4697427"/>
          </a:xfrm>
        </p:spPr>
        <p:txBody>
          <a:bodyPr>
            <a:normAutofit fontScale="92500" lnSpcReduction="10000"/>
          </a:bodyPr>
          <a:lstStyle/>
          <a:p>
            <a:pPr algn="just">
              <a:buFont typeface="Wingdings" pitchFamily="2" charset="2"/>
              <a:buChar char="§"/>
            </a:pPr>
            <a:r>
              <a:rPr lang="en-US" dirty="0"/>
              <a:t>Determine the present and future requirements of the  Organization in conjunction with its personnel-planning and job-analysis activities.</a:t>
            </a:r>
          </a:p>
          <a:p>
            <a:pPr algn="just">
              <a:buFont typeface="Wingdings" pitchFamily="2" charset="2"/>
              <a:buChar char="§"/>
            </a:pPr>
            <a:r>
              <a:rPr lang="en-US" dirty="0"/>
              <a:t>Increase the pool of job candidates at minimum cost.</a:t>
            </a:r>
          </a:p>
          <a:p>
            <a:pPr algn="just">
              <a:buFont typeface="Wingdings" pitchFamily="2" charset="2"/>
              <a:buChar char="§"/>
            </a:pPr>
            <a:r>
              <a:rPr lang="en-US" dirty="0"/>
              <a:t>Help increase the success rate of the selection process by reducing the number of visibly under qualified or overqualified job applicants.</a:t>
            </a:r>
          </a:p>
          <a:p>
            <a:pPr algn="just">
              <a:buFont typeface="Wingdings" pitchFamily="2" charset="2"/>
              <a:buChar char="§"/>
            </a:pPr>
            <a:r>
              <a:rPr lang="en-US" dirty="0"/>
              <a:t>Help reduce the probability that job applicants, once recruited and selected, will leave the organization only after a short period of time.</a:t>
            </a:r>
          </a:p>
          <a:p>
            <a:pPr algn="just">
              <a:buFont typeface="Wingdings" pitchFamily="2" charset="2"/>
              <a:buChar char="§"/>
            </a:pPr>
            <a:r>
              <a:rPr lang="en-US" dirty="0"/>
              <a:t>Begin identifying and preparing potential job applicants who will be appropriate candidates.</a:t>
            </a:r>
          </a:p>
        </p:txBody>
      </p:sp>
    </p:spTree>
    <p:extLst>
      <p:ext uri="{BB962C8B-B14F-4D97-AF65-F5344CB8AC3E}">
        <p14:creationId xmlns:p14="http://schemas.microsoft.com/office/powerpoint/2010/main" val="4125355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Sources of recruitment</a:t>
            </a:r>
            <a:endParaRPr lang="en-US" dirty="0"/>
          </a:p>
        </p:txBody>
      </p:sp>
      <p:sp>
        <p:nvSpPr>
          <p:cNvPr id="3" name="Content Placeholder 2"/>
          <p:cNvSpPr>
            <a:spLocks noGrp="1"/>
          </p:cNvSpPr>
          <p:nvPr>
            <p:ph idx="1"/>
          </p:nvPr>
        </p:nvSpPr>
        <p:spPr/>
        <p:txBody>
          <a:bodyPr/>
          <a:lstStyle/>
          <a:p>
            <a:pPr algn="just"/>
            <a:r>
              <a:rPr lang="en-US" dirty="0"/>
              <a:t>The sources of recruitment may be broadly divided into two categories:</a:t>
            </a:r>
          </a:p>
          <a:p>
            <a:pPr marL="993775" indent="-552450" algn="just">
              <a:buFont typeface="Wingdings" pitchFamily="2" charset="2"/>
              <a:buChar char="§"/>
            </a:pPr>
            <a:r>
              <a:rPr lang="en-US" dirty="0"/>
              <a:t>Internal sources and</a:t>
            </a:r>
          </a:p>
          <a:p>
            <a:pPr marL="993775" indent="-552450" algn="just">
              <a:buFont typeface="Wingdings" pitchFamily="2" charset="2"/>
              <a:buChar char="§"/>
            </a:pPr>
            <a:r>
              <a:rPr lang="en-US" dirty="0"/>
              <a:t>External sources</a:t>
            </a:r>
          </a:p>
        </p:txBody>
      </p:sp>
    </p:spTree>
    <p:extLst>
      <p:ext uri="{BB962C8B-B14F-4D97-AF65-F5344CB8AC3E}">
        <p14:creationId xmlns:p14="http://schemas.microsoft.com/office/powerpoint/2010/main" val="54760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sources of recruitment</a:t>
            </a:r>
          </a:p>
        </p:txBody>
      </p:sp>
      <p:sp>
        <p:nvSpPr>
          <p:cNvPr id="3" name="Content Placeholder 2"/>
          <p:cNvSpPr>
            <a:spLocks noGrp="1"/>
          </p:cNvSpPr>
          <p:nvPr>
            <p:ph idx="1"/>
          </p:nvPr>
        </p:nvSpPr>
        <p:spPr/>
        <p:txBody>
          <a:bodyPr>
            <a:normAutofit/>
          </a:bodyPr>
          <a:lstStyle/>
          <a:p>
            <a:r>
              <a:rPr lang="en-US" b="1" dirty="0"/>
              <a:t>Present Employee</a:t>
            </a:r>
            <a:r>
              <a:rPr lang="en-US" dirty="0"/>
              <a:t> (Promotions and transfers from present employees are example of internal sources of recruitment)</a:t>
            </a:r>
          </a:p>
          <a:p>
            <a:r>
              <a:rPr lang="en-US" b="1" dirty="0"/>
              <a:t>Employees Referrals</a:t>
            </a:r>
          </a:p>
          <a:p>
            <a:r>
              <a:rPr lang="en-US" b="1" dirty="0"/>
              <a:t>Former Employees</a:t>
            </a:r>
            <a:endParaRPr lang="en-US" dirty="0"/>
          </a:p>
        </p:txBody>
      </p:sp>
    </p:spTree>
    <p:extLst>
      <p:ext uri="{BB962C8B-B14F-4D97-AF65-F5344CB8AC3E}">
        <p14:creationId xmlns:p14="http://schemas.microsoft.com/office/powerpoint/2010/main" val="2172581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39784"/>
          </a:xfrm>
        </p:spPr>
        <p:txBody>
          <a:bodyPr/>
          <a:lstStyle/>
          <a:p>
            <a:r>
              <a:rPr lang="en-GB" dirty="0"/>
              <a:t>Advantage of internal sources</a:t>
            </a:r>
            <a:endParaRPr lang="en-US" dirty="0"/>
          </a:p>
        </p:txBody>
      </p:sp>
      <p:sp>
        <p:nvSpPr>
          <p:cNvPr id="3" name="Content Placeholder 2"/>
          <p:cNvSpPr>
            <a:spLocks noGrp="1"/>
          </p:cNvSpPr>
          <p:nvPr>
            <p:ph idx="1"/>
          </p:nvPr>
        </p:nvSpPr>
        <p:spPr>
          <a:xfrm>
            <a:off x="1981200" y="1214422"/>
            <a:ext cx="8229600" cy="5143536"/>
          </a:xfrm>
        </p:spPr>
        <p:txBody>
          <a:bodyPr>
            <a:noAutofit/>
          </a:bodyPr>
          <a:lstStyle/>
          <a:p>
            <a:pPr algn="just"/>
            <a:r>
              <a:rPr lang="en-US" sz="2400" b="1" dirty="0"/>
              <a:t>Economical: </a:t>
            </a:r>
            <a:r>
              <a:rPr lang="en-US" sz="2400" dirty="0"/>
              <a:t>The cost of recruiting internal candidates is minimal. No expenses are incurred on advertising.</a:t>
            </a:r>
          </a:p>
          <a:p>
            <a:pPr algn="just"/>
            <a:r>
              <a:rPr lang="en-US" sz="2400" b="1" dirty="0"/>
              <a:t>Suitable: </a:t>
            </a:r>
            <a:r>
              <a:rPr lang="en-US" sz="2400" dirty="0"/>
              <a:t>The Organization can pick the right candidates having the requisite skills. </a:t>
            </a:r>
          </a:p>
          <a:p>
            <a:pPr marL="630238" indent="-361950" algn="just">
              <a:buFont typeface="Wingdings" pitchFamily="2" charset="2"/>
              <a:buChar char="Ø"/>
            </a:pPr>
            <a:r>
              <a:rPr lang="en-US" sz="2400" dirty="0"/>
              <a:t> The candidate can choose a right vacancy where their talents can be fully utilized.</a:t>
            </a:r>
          </a:p>
          <a:p>
            <a:pPr algn="just"/>
            <a:r>
              <a:rPr lang="en-US" sz="2400" b="1" dirty="0"/>
              <a:t>Reliable: </a:t>
            </a:r>
            <a:r>
              <a:rPr lang="en-US" sz="2400" dirty="0"/>
              <a:t>The Organization has the knowledge about suitability of a candidate for a position.</a:t>
            </a:r>
          </a:p>
          <a:p>
            <a:pPr algn="just"/>
            <a:r>
              <a:rPr lang="en-US" sz="2400" b="1" dirty="0"/>
              <a:t>Satisfying: </a:t>
            </a:r>
            <a:r>
              <a:rPr lang="en-US" sz="2400" dirty="0"/>
              <a:t>A policy of preferring people from within offers regular promotional avenues for employees. </a:t>
            </a:r>
          </a:p>
          <a:p>
            <a:pPr marL="725488" indent="-363538" algn="just">
              <a:buFont typeface="Wingdings" pitchFamily="2" charset="2"/>
              <a:buChar char="Ø"/>
            </a:pPr>
            <a:r>
              <a:rPr lang="en-US" sz="2400" dirty="0"/>
              <a:t>It motivates them to work hard and earn promotions.</a:t>
            </a:r>
          </a:p>
          <a:p>
            <a:pPr marL="725488" indent="-363538" algn="just">
              <a:buFont typeface="Wingdings" pitchFamily="2" charset="2"/>
              <a:buChar char="Ø"/>
            </a:pPr>
            <a:r>
              <a:rPr lang="en-US" sz="2400" dirty="0"/>
              <a:t>It increase loyalty, commitment and enthusiasm </a:t>
            </a:r>
          </a:p>
          <a:p>
            <a:endParaRPr lang="en-US" sz="2400" dirty="0"/>
          </a:p>
        </p:txBody>
      </p:sp>
    </p:spTree>
    <p:extLst>
      <p:ext uri="{BB962C8B-B14F-4D97-AF65-F5344CB8AC3E}">
        <p14:creationId xmlns:p14="http://schemas.microsoft.com/office/powerpoint/2010/main" val="398024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Disadvantage of internal sources</a:t>
            </a:r>
            <a:endParaRPr lang="en-US" dirty="0"/>
          </a:p>
        </p:txBody>
      </p:sp>
      <p:sp>
        <p:nvSpPr>
          <p:cNvPr id="3" name="Content Placeholder 2"/>
          <p:cNvSpPr>
            <a:spLocks noGrp="1"/>
          </p:cNvSpPr>
          <p:nvPr>
            <p:ph idx="1"/>
          </p:nvPr>
        </p:nvSpPr>
        <p:spPr>
          <a:xfrm>
            <a:off x="1981200" y="1357299"/>
            <a:ext cx="8229600" cy="4768865"/>
          </a:xfrm>
        </p:spPr>
        <p:txBody>
          <a:bodyPr>
            <a:normAutofit/>
          </a:bodyPr>
          <a:lstStyle/>
          <a:p>
            <a:pPr>
              <a:buNone/>
            </a:pPr>
            <a:r>
              <a:rPr lang="en-US" b="1" dirty="0"/>
              <a:t>Limited Choice: </a:t>
            </a:r>
            <a:r>
              <a:rPr lang="en-US" dirty="0"/>
              <a:t>The Organization is forced to select candidates from a limited pool. </a:t>
            </a:r>
          </a:p>
          <a:p>
            <a:pPr>
              <a:buFont typeface="Wingdings" pitchFamily="2" charset="2"/>
              <a:buChar char="Ø"/>
            </a:pPr>
            <a:r>
              <a:rPr lang="en-US" dirty="0"/>
              <a:t>It may have to sacrifice quality and settle down for less qualified candidates.</a:t>
            </a:r>
          </a:p>
          <a:p>
            <a:pPr>
              <a:buNone/>
            </a:pPr>
            <a:r>
              <a:rPr lang="en-US" b="1" dirty="0"/>
              <a:t>Inbreeding: </a:t>
            </a:r>
            <a:r>
              <a:rPr lang="en-US" dirty="0"/>
              <a:t>It discourages entry of talented people available outside the  Organization. </a:t>
            </a:r>
          </a:p>
          <a:p>
            <a:pPr algn="just">
              <a:buFont typeface="Wingdings" pitchFamily="2" charset="2"/>
              <a:buChar char="Ø"/>
            </a:pPr>
            <a:r>
              <a:rPr lang="en-US" dirty="0"/>
              <a:t>Existing employees may fail to explore innovative ways and inject necessary dynamism to enterprise activities.</a:t>
            </a:r>
          </a:p>
        </p:txBody>
      </p:sp>
    </p:spTree>
    <p:extLst>
      <p:ext uri="{BB962C8B-B14F-4D97-AF65-F5344CB8AC3E}">
        <p14:creationId xmlns:p14="http://schemas.microsoft.com/office/powerpoint/2010/main" val="5332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None/>
            </a:pPr>
            <a:r>
              <a:rPr lang="en-US" b="1" dirty="0"/>
              <a:t>Inefficiency: </a:t>
            </a:r>
            <a:r>
              <a:rPr lang="en-US" dirty="0"/>
              <a:t>Promotions based on length of service rather than merit, may prove to be a blessing for inefficient candidates.</a:t>
            </a:r>
          </a:p>
          <a:p>
            <a:pPr algn="just">
              <a:buFont typeface="Wingdings" pitchFamily="2" charset="2"/>
              <a:buChar char="Ø"/>
            </a:pPr>
            <a:r>
              <a:rPr lang="en-US" dirty="0"/>
              <a:t>They do not work hard and prove their worth.</a:t>
            </a:r>
          </a:p>
          <a:p>
            <a:pPr algn="just">
              <a:buNone/>
            </a:pPr>
            <a:r>
              <a:rPr lang="en-US" b="1" dirty="0"/>
              <a:t>Bone of contention: </a:t>
            </a:r>
            <a:r>
              <a:rPr lang="en-US" dirty="0"/>
              <a:t>Recruitment from within may lead to infighting among employees aspiring for limited, higher level positions in an organization</a:t>
            </a:r>
          </a:p>
          <a:p>
            <a:endParaRPr lang="en-US" dirty="0"/>
          </a:p>
        </p:txBody>
      </p:sp>
    </p:spTree>
    <p:extLst>
      <p:ext uri="{BB962C8B-B14F-4D97-AF65-F5344CB8AC3E}">
        <p14:creationId xmlns:p14="http://schemas.microsoft.com/office/powerpoint/2010/main" val="2687112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External sources</a:t>
            </a:r>
            <a:br>
              <a:rPr lang="en-US" b="1" dirty="0"/>
            </a:br>
            <a:endParaRPr lang="en-US" dirty="0"/>
          </a:p>
        </p:txBody>
      </p:sp>
      <p:sp>
        <p:nvSpPr>
          <p:cNvPr id="3" name="Content Placeholder 2"/>
          <p:cNvSpPr>
            <a:spLocks noGrp="1"/>
          </p:cNvSpPr>
          <p:nvPr>
            <p:ph idx="1"/>
          </p:nvPr>
        </p:nvSpPr>
        <p:spPr>
          <a:xfrm>
            <a:off x="1981200" y="1214422"/>
            <a:ext cx="8229600" cy="5072098"/>
          </a:xfrm>
        </p:spPr>
        <p:txBody>
          <a:bodyPr>
            <a:noAutofit/>
          </a:bodyPr>
          <a:lstStyle/>
          <a:p>
            <a:pPr algn="just">
              <a:buNone/>
            </a:pPr>
            <a:r>
              <a:rPr lang="en-US" sz="2700" dirty="0"/>
              <a:t>External sources lie outside an Organization. The Organization can have the services of:</a:t>
            </a:r>
          </a:p>
          <a:p>
            <a:pPr marL="361950" indent="-188913" algn="just">
              <a:buFont typeface="Wingdings" pitchFamily="2" charset="2"/>
              <a:buChar char="§"/>
            </a:pPr>
            <a:r>
              <a:rPr lang="en-US" sz="2700" dirty="0"/>
              <a:t>Job aspirants registered with employment exchanges;</a:t>
            </a:r>
          </a:p>
          <a:p>
            <a:pPr marL="361950" indent="-188913" algn="just">
              <a:buFont typeface="Wingdings" pitchFamily="2" charset="2"/>
              <a:buChar char="§"/>
            </a:pPr>
            <a:r>
              <a:rPr lang="en-US" sz="2700" dirty="0"/>
              <a:t>Students from reputed educational institutions;</a:t>
            </a:r>
          </a:p>
          <a:p>
            <a:pPr marL="361950" indent="-188913" algn="just">
              <a:buFont typeface="Wingdings" pitchFamily="2" charset="2"/>
              <a:buChar char="§"/>
            </a:pPr>
            <a:r>
              <a:rPr lang="en-US" sz="2700" dirty="0"/>
              <a:t>Candidates referred by unions, friends, relatives and existing employees;</a:t>
            </a:r>
          </a:p>
          <a:p>
            <a:pPr marL="361950" indent="-188913" algn="just">
              <a:buFont typeface="Wingdings" pitchFamily="2" charset="2"/>
              <a:buChar char="§"/>
            </a:pPr>
            <a:r>
              <a:rPr lang="en-US" sz="2700" dirty="0"/>
              <a:t>Candidates forwarded by search firms and contractors;</a:t>
            </a:r>
          </a:p>
          <a:p>
            <a:pPr marL="361950" indent="-188913" algn="just">
              <a:buFont typeface="Wingdings" pitchFamily="2" charset="2"/>
              <a:buChar char="§"/>
            </a:pPr>
            <a:r>
              <a:rPr lang="en-US" sz="2700" dirty="0"/>
              <a:t>Candidates responding to the advertisements, issued by the Organization; and</a:t>
            </a:r>
          </a:p>
          <a:p>
            <a:pPr marL="361950" indent="-188913" algn="just">
              <a:buFont typeface="Wingdings" pitchFamily="2" charset="2"/>
              <a:buChar char="§"/>
            </a:pPr>
            <a:r>
              <a:rPr lang="en-US" sz="2700" dirty="0"/>
              <a:t>Unsolicited applications/ walk-ins.</a:t>
            </a:r>
          </a:p>
        </p:txBody>
      </p:sp>
    </p:spTree>
    <p:extLst>
      <p:ext uri="{BB962C8B-B14F-4D97-AF65-F5344CB8AC3E}">
        <p14:creationId xmlns:p14="http://schemas.microsoft.com/office/powerpoint/2010/main" val="2027932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 of External sources</a:t>
            </a:r>
            <a:endParaRPr lang="en-US" dirty="0"/>
          </a:p>
        </p:txBody>
      </p:sp>
      <p:sp>
        <p:nvSpPr>
          <p:cNvPr id="3" name="Content Placeholder 2"/>
          <p:cNvSpPr>
            <a:spLocks noGrp="1"/>
          </p:cNvSpPr>
          <p:nvPr>
            <p:ph idx="1"/>
          </p:nvPr>
        </p:nvSpPr>
        <p:spPr>
          <a:xfrm>
            <a:off x="1981200" y="1285860"/>
            <a:ext cx="8229600" cy="5286412"/>
          </a:xfrm>
        </p:spPr>
        <p:txBody>
          <a:bodyPr>
            <a:normAutofit lnSpcReduction="10000"/>
          </a:bodyPr>
          <a:lstStyle/>
          <a:p>
            <a:pPr algn="just"/>
            <a:r>
              <a:rPr lang="en-US" b="1" dirty="0"/>
              <a:t>Wide Choice: </a:t>
            </a:r>
            <a:r>
              <a:rPr lang="en-US" dirty="0"/>
              <a:t>The Organization has the freedom to select candidates from a large  pool. </a:t>
            </a:r>
          </a:p>
          <a:p>
            <a:pPr algn="just"/>
            <a:r>
              <a:rPr lang="en-US" b="1" dirty="0"/>
              <a:t>Injection of fresh blood: </a:t>
            </a:r>
            <a:r>
              <a:rPr lang="en-US" dirty="0"/>
              <a:t>People with special skills and knowledge could be hired to stir up the existing employees and pave the way for innovative ways of working.</a:t>
            </a:r>
          </a:p>
          <a:p>
            <a:pPr algn="just"/>
            <a:r>
              <a:rPr lang="en-US" b="1" dirty="0"/>
              <a:t>Motivational force: </a:t>
            </a:r>
            <a:r>
              <a:rPr lang="en-US" dirty="0"/>
              <a:t>It helps in motivating internal employees to work hard and compete with external  candidates while seeking career growth.</a:t>
            </a:r>
          </a:p>
          <a:p>
            <a:pPr algn="just"/>
            <a:r>
              <a:rPr lang="en-US" b="1" dirty="0"/>
              <a:t>Long term benefits: </a:t>
            </a:r>
            <a:r>
              <a:rPr lang="en-US" dirty="0"/>
              <a:t>Talented people could join the ranks, new ideas could find meaningful expression, a competitive atmosphere would compel people to give out their best and earn rewards, etc.</a:t>
            </a:r>
          </a:p>
          <a:p>
            <a:endParaRPr lang="en-US" dirty="0"/>
          </a:p>
        </p:txBody>
      </p:sp>
    </p:spTree>
    <p:extLst>
      <p:ext uri="{BB962C8B-B14F-4D97-AF65-F5344CB8AC3E}">
        <p14:creationId xmlns:p14="http://schemas.microsoft.com/office/powerpoint/2010/main" val="2816229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Disadvantage of External sources</a:t>
            </a:r>
            <a:endParaRPr lang="en-US" dirty="0"/>
          </a:p>
        </p:txBody>
      </p:sp>
      <p:sp>
        <p:nvSpPr>
          <p:cNvPr id="3" name="Content Placeholder 2"/>
          <p:cNvSpPr>
            <a:spLocks noGrp="1"/>
          </p:cNvSpPr>
          <p:nvPr>
            <p:ph idx="1"/>
          </p:nvPr>
        </p:nvSpPr>
        <p:spPr>
          <a:xfrm>
            <a:off x="1981200" y="1428737"/>
            <a:ext cx="8229600" cy="4697427"/>
          </a:xfrm>
        </p:spPr>
        <p:txBody>
          <a:bodyPr>
            <a:normAutofit/>
          </a:bodyPr>
          <a:lstStyle/>
          <a:p>
            <a:pPr algn="just"/>
            <a:r>
              <a:rPr lang="en-US" b="1" dirty="0"/>
              <a:t>Expensive: </a:t>
            </a:r>
            <a:r>
              <a:rPr lang="en-US" dirty="0"/>
              <a:t>Hiring costs could go up substantially</a:t>
            </a:r>
          </a:p>
          <a:p>
            <a:pPr algn="just"/>
            <a:r>
              <a:rPr lang="en-US" b="1" dirty="0"/>
              <a:t>Time consuming: </a:t>
            </a:r>
            <a:r>
              <a:rPr lang="en-US" dirty="0"/>
              <a:t>It takes time to advertise, screen and test, to select suitable employees. Where suitable ones are not available, the process has to be repeated</a:t>
            </a:r>
          </a:p>
          <a:p>
            <a:pPr algn="just"/>
            <a:r>
              <a:rPr lang="en-US" b="1" dirty="0"/>
              <a:t>De-motivating: </a:t>
            </a:r>
            <a:r>
              <a:rPr lang="en-US" dirty="0"/>
              <a:t>Existing employees who have put in considerable service may resist the process of filling up vacancies from outside. </a:t>
            </a:r>
          </a:p>
          <a:p>
            <a:pPr algn="just"/>
            <a:r>
              <a:rPr lang="en-US" b="1" dirty="0"/>
              <a:t>Uncertainty: </a:t>
            </a:r>
            <a:r>
              <a:rPr lang="en-US" dirty="0"/>
              <a:t>There is no guarantee that the Organization will ultimately be able to hire the services of suitable candidates. </a:t>
            </a:r>
          </a:p>
        </p:txBody>
      </p:sp>
    </p:spTree>
    <p:extLst>
      <p:ext uri="{BB962C8B-B14F-4D97-AF65-F5344CB8AC3E}">
        <p14:creationId xmlns:p14="http://schemas.microsoft.com/office/powerpoint/2010/main" val="3183479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Recruitment process</a:t>
            </a:r>
          </a:p>
        </p:txBody>
      </p:sp>
      <p:sp>
        <p:nvSpPr>
          <p:cNvPr id="3" name="Content Placeholder 2"/>
          <p:cNvSpPr>
            <a:spLocks noGrp="1"/>
          </p:cNvSpPr>
          <p:nvPr>
            <p:ph idx="1"/>
          </p:nvPr>
        </p:nvSpPr>
        <p:spPr>
          <a:xfrm>
            <a:off x="1981200" y="1214423"/>
            <a:ext cx="8229600" cy="4911741"/>
          </a:xfrm>
        </p:spPr>
        <p:txBody>
          <a:bodyPr>
            <a:normAutofit fontScale="92500" lnSpcReduction="20000"/>
          </a:bodyPr>
          <a:lstStyle/>
          <a:p>
            <a:pPr algn="just"/>
            <a:r>
              <a:rPr lang="en-US" dirty="0"/>
              <a:t>Recruitment process involves a systematic procedure from sourcing the candidates to arranging and conducting the interviews and requires many resources and time</a:t>
            </a:r>
          </a:p>
          <a:p>
            <a:pPr algn="just"/>
            <a:r>
              <a:rPr lang="en-US" dirty="0"/>
              <a:t>Individuals responsible for the recruitment process must know:</a:t>
            </a:r>
          </a:p>
          <a:p>
            <a:pPr marL="536575" indent="-268288" algn="just">
              <a:buFont typeface="Wingdings" pitchFamily="2" charset="2"/>
              <a:buChar char="§"/>
            </a:pPr>
            <a:r>
              <a:rPr lang="en-US" dirty="0"/>
              <a:t> how many and what types of employees are needed, </a:t>
            </a:r>
          </a:p>
          <a:p>
            <a:pPr marL="536575" indent="-268288" algn="just">
              <a:buFont typeface="Wingdings" pitchFamily="2" charset="2"/>
              <a:buChar char="§"/>
            </a:pPr>
            <a:r>
              <a:rPr lang="en-US" dirty="0"/>
              <a:t>where and how to look for individuals with the appropriate qualification and interests,</a:t>
            </a:r>
          </a:p>
          <a:p>
            <a:pPr marL="536575" indent="-268288" algn="just">
              <a:buFont typeface="Wingdings" pitchFamily="2" charset="2"/>
              <a:buChar char="§"/>
            </a:pPr>
            <a:r>
              <a:rPr lang="en-US" dirty="0"/>
              <a:t> what inducements to use or to avoid for various types of applicant groups, </a:t>
            </a:r>
          </a:p>
          <a:p>
            <a:pPr marL="536575" indent="-268288" algn="just">
              <a:buFont typeface="Wingdings" pitchFamily="2" charset="2"/>
              <a:buChar char="§"/>
            </a:pPr>
            <a:r>
              <a:rPr lang="en-US" dirty="0"/>
              <a:t>how to distinguish applicants who are unqualified from those who have a reasonable chance of success</a:t>
            </a:r>
          </a:p>
          <a:p>
            <a:pPr marL="536575" indent="-268288" algn="just">
              <a:buFont typeface="Wingdings" pitchFamily="2" charset="2"/>
              <a:buChar char="§"/>
            </a:pPr>
            <a:r>
              <a:rPr lang="en-US" dirty="0"/>
              <a:t>and how to evaluate their work</a:t>
            </a:r>
          </a:p>
        </p:txBody>
      </p:sp>
    </p:spTree>
    <p:extLst>
      <p:ext uri="{BB962C8B-B14F-4D97-AF65-F5344CB8AC3E}">
        <p14:creationId xmlns:p14="http://schemas.microsoft.com/office/powerpoint/2010/main" val="2935508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Therefore  the following question  will help to the individual in recruitment process.</a:t>
            </a:r>
          </a:p>
          <a:p>
            <a:r>
              <a:rPr lang="en-US" dirty="0"/>
              <a:t>Who do we want?</a:t>
            </a:r>
          </a:p>
          <a:p>
            <a:r>
              <a:rPr lang="en-US" dirty="0"/>
              <a:t>How can we attract them?</a:t>
            </a:r>
          </a:p>
          <a:p>
            <a:r>
              <a:rPr lang="en-US" dirty="0"/>
              <a:t>How can we identify them?</a:t>
            </a:r>
          </a:p>
          <a:p>
            <a:r>
              <a:rPr lang="en-US" dirty="0"/>
              <a:t>How do we know we have got it right?</a:t>
            </a:r>
          </a:p>
          <a:p>
            <a:r>
              <a:rPr lang="en-US" dirty="0"/>
              <a:t>Who should be involved in the process?.</a:t>
            </a:r>
          </a:p>
        </p:txBody>
      </p:sp>
    </p:spTree>
    <p:extLst>
      <p:ext uri="{BB962C8B-B14F-4D97-AF65-F5344CB8AC3E}">
        <p14:creationId xmlns:p14="http://schemas.microsoft.com/office/powerpoint/2010/main" val="202120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half" idx="2"/>
          </p:nvPr>
        </p:nvSpPr>
        <p:spPr>
          <a:xfrm>
            <a:off x="4095736" y="5357826"/>
            <a:ext cx="5486400" cy="804862"/>
          </a:xfrm>
        </p:spPr>
        <p:txBody>
          <a:bodyPr>
            <a:normAutofit/>
          </a:bodyPr>
          <a:lstStyle/>
          <a:p>
            <a:r>
              <a:rPr lang="en-GB" sz="2800" dirty="0"/>
              <a:t>         Recruitment process</a:t>
            </a:r>
            <a:endParaRPr lang="en-US" sz="2800" dirty="0"/>
          </a:p>
        </p:txBody>
      </p:sp>
      <p:pic>
        <p:nvPicPr>
          <p:cNvPr id="10" name="Picture 9"/>
          <p:cNvPicPr/>
          <p:nvPr/>
        </p:nvPicPr>
        <p:blipFill>
          <a:blip r:embed="rId2" cstate="print"/>
          <a:srcRect/>
          <a:stretch>
            <a:fillRect/>
          </a:stretch>
        </p:blipFill>
        <p:spPr bwMode="auto">
          <a:xfrm>
            <a:off x="3095604" y="642918"/>
            <a:ext cx="6786610" cy="4714908"/>
          </a:xfrm>
          <a:prstGeom prst="rect">
            <a:avLst/>
          </a:prstGeom>
          <a:noFill/>
          <a:ln w="9525">
            <a:noFill/>
            <a:miter lim="800000"/>
            <a:headEnd/>
            <a:tailEnd/>
          </a:ln>
        </p:spPr>
      </p:pic>
    </p:spTree>
    <p:extLst>
      <p:ext uri="{BB962C8B-B14F-4D97-AF65-F5344CB8AC3E}">
        <p14:creationId xmlns:p14="http://schemas.microsoft.com/office/powerpoint/2010/main" val="845747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br>
              <a:rPr lang="en-US" dirty="0"/>
            </a:br>
            <a:br>
              <a:rPr lang="en-US" dirty="0"/>
            </a:br>
            <a:r>
              <a:rPr lang="en-US" dirty="0"/>
              <a:t>Factors Affecting Recruitment </a:t>
            </a:r>
            <a:br>
              <a:rPr lang="en-US" dirty="0"/>
            </a:br>
            <a:br>
              <a:rPr lang="en-US" dirty="0"/>
            </a:br>
            <a:endParaRPr lang="en-US" dirty="0"/>
          </a:p>
        </p:txBody>
      </p:sp>
      <p:sp>
        <p:nvSpPr>
          <p:cNvPr id="6" name="Content Placeholder 5"/>
          <p:cNvSpPr>
            <a:spLocks noGrp="1"/>
          </p:cNvSpPr>
          <p:nvPr>
            <p:ph idx="1"/>
          </p:nvPr>
        </p:nvSpPr>
        <p:spPr/>
        <p:txBody>
          <a:bodyPr/>
          <a:lstStyle/>
          <a:p>
            <a:pPr>
              <a:buNone/>
            </a:pPr>
            <a:r>
              <a:rPr lang="en-US" dirty="0"/>
              <a:t>Factors that influence the recruitment process are categories into two groups:</a:t>
            </a:r>
          </a:p>
          <a:p>
            <a:pPr marL="1071563" indent="-346075">
              <a:buFont typeface="Wingdings" pitchFamily="2" charset="2"/>
              <a:buChar char="§"/>
            </a:pPr>
            <a:r>
              <a:rPr lang="en-US" dirty="0"/>
              <a:t> Internal Factors</a:t>
            </a:r>
          </a:p>
          <a:p>
            <a:pPr marL="1071563" indent="-346075">
              <a:buFont typeface="Wingdings" pitchFamily="2" charset="2"/>
              <a:buChar char="§"/>
            </a:pPr>
            <a:r>
              <a:rPr lang="en-US" dirty="0"/>
              <a:t> External Factors </a:t>
            </a:r>
          </a:p>
        </p:txBody>
      </p:sp>
    </p:spTree>
    <p:extLst>
      <p:ext uri="{BB962C8B-B14F-4D97-AF65-F5344CB8AC3E}">
        <p14:creationId xmlns:p14="http://schemas.microsoft.com/office/powerpoint/2010/main" val="3579002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Factors</a:t>
            </a:r>
          </a:p>
        </p:txBody>
      </p:sp>
      <p:sp>
        <p:nvSpPr>
          <p:cNvPr id="3" name="Content Placeholder 2"/>
          <p:cNvSpPr>
            <a:spLocks noGrp="1"/>
          </p:cNvSpPr>
          <p:nvPr>
            <p:ph idx="1"/>
          </p:nvPr>
        </p:nvSpPr>
        <p:spPr/>
        <p:txBody>
          <a:bodyPr/>
          <a:lstStyle/>
          <a:p>
            <a:pPr algn="just"/>
            <a:r>
              <a:rPr lang="en-US" dirty="0"/>
              <a:t>These are the factors that that affect the recruitment functions but are within the control of the Organizations .</a:t>
            </a:r>
          </a:p>
          <a:p>
            <a:pPr algn="just"/>
            <a:r>
              <a:rPr lang="en-US" dirty="0"/>
              <a:t>The internal factors are: </a:t>
            </a:r>
          </a:p>
          <a:p>
            <a:pPr marL="803275" indent="-173038" algn="just">
              <a:buFont typeface="Wingdings" pitchFamily="2" charset="2"/>
              <a:buChar char="§"/>
            </a:pPr>
            <a:r>
              <a:rPr lang="en-US" dirty="0"/>
              <a:t>Size of organization </a:t>
            </a:r>
          </a:p>
          <a:p>
            <a:pPr marL="803275" indent="-173038" algn="just">
              <a:buFont typeface="Wingdings" pitchFamily="2" charset="2"/>
              <a:buChar char="§"/>
            </a:pPr>
            <a:r>
              <a:rPr lang="en-US" dirty="0"/>
              <a:t>Recruiting policy </a:t>
            </a:r>
          </a:p>
          <a:p>
            <a:pPr marL="803275" indent="-173038" algn="just">
              <a:buFont typeface="Wingdings" pitchFamily="2" charset="2"/>
              <a:buChar char="§"/>
            </a:pPr>
            <a:r>
              <a:rPr lang="en-US" dirty="0"/>
              <a:t>Image of organization </a:t>
            </a:r>
          </a:p>
          <a:p>
            <a:pPr marL="803275" indent="-173038" algn="just">
              <a:buFont typeface="Wingdings" pitchFamily="2" charset="2"/>
              <a:buChar char="§"/>
            </a:pPr>
            <a:r>
              <a:rPr lang="en-US" dirty="0"/>
              <a:t>Image of job </a:t>
            </a:r>
          </a:p>
          <a:p>
            <a:endParaRPr lang="en-US" dirty="0"/>
          </a:p>
        </p:txBody>
      </p:sp>
    </p:spTree>
    <p:extLst>
      <p:ext uri="{BB962C8B-B14F-4D97-AF65-F5344CB8AC3E}">
        <p14:creationId xmlns:p14="http://schemas.microsoft.com/office/powerpoint/2010/main" val="3631528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85795"/>
            <a:ext cx="8229600" cy="5340369"/>
          </a:xfrm>
        </p:spPr>
        <p:txBody>
          <a:bodyPr>
            <a:normAutofit lnSpcReduction="10000"/>
          </a:bodyPr>
          <a:lstStyle/>
          <a:p>
            <a:pPr algn="just"/>
            <a:r>
              <a:rPr lang="en-US" b="1" dirty="0"/>
              <a:t>Size of Organization </a:t>
            </a:r>
          </a:p>
          <a:p>
            <a:pPr algn="just">
              <a:buNone/>
            </a:pPr>
            <a:r>
              <a:rPr lang="en-US" dirty="0"/>
              <a:t>The size of the organization is one of the most important factors affecting the recruitment process. To expand the business, recruitment planning is mandatory for hiring more resources, which will be handling the future operations.</a:t>
            </a:r>
          </a:p>
          <a:p>
            <a:pPr algn="just"/>
            <a:r>
              <a:rPr lang="en-US" b="1" dirty="0"/>
              <a:t>Recruiting Policy </a:t>
            </a:r>
          </a:p>
          <a:p>
            <a:pPr algn="just">
              <a:buNone/>
            </a:pPr>
            <a:r>
              <a:rPr lang="en-US" dirty="0"/>
              <a:t>Recruitment policy of an organization, i.e., hiring from internal or external sources of organization is also a factor, which affects the recruitment process. It specifies the objectives of the recruitment and provides a framework for the implementation of recruitment programs.</a:t>
            </a:r>
          </a:p>
        </p:txBody>
      </p:sp>
    </p:spTree>
    <p:extLst>
      <p:ext uri="{BB962C8B-B14F-4D97-AF65-F5344CB8AC3E}">
        <p14:creationId xmlns:p14="http://schemas.microsoft.com/office/powerpoint/2010/main" val="2089675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14357"/>
            <a:ext cx="8229600" cy="5411807"/>
          </a:xfrm>
        </p:spPr>
        <p:txBody>
          <a:bodyPr>
            <a:normAutofit lnSpcReduction="10000"/>
          </a:bodyPr>
          <a:lstStyle/>
          <a:p>
            <a:r>
              <a:rPr lang="en-US" b="1" dirty="0"/>
              <a:t>Image of Organization </a:t>
            </a:r>
          </a:p>
          <a:p>
            <a:pPr algn="just">
              <a:buNone/>
            </a:pPr>
            <a:r>
              <a:rPr lang="en-US" dirty="0"/>
              <a:t>Organizations having a good positive image in the market can easily attract competent resources. </a:t>
            </a:r>
          </a:p>
          <a:p>
            <a:pPr algn="just">
              <a:buNone/>
            </a:pPr>
            <a:r>
              <a:rPr lang="en-US" dirty="0"/>
              <a:t>Maintaining good public relations, providing public services, etc., definitely helps an organization in enhancing its reputation in the market, and thereby attract the best possible resources. </a:t>
            </a:r>
          </a:p>
          <a:p>
            <a:pPr algn="just"/>
            <a:r>
              <a:rPr lang="en-US" b="1" dirty="0"/>
              <a:t>Image of Job </a:t>
            </a:r>
          </a:p>
          <a:p>
            <a:pPr algn="just">
              <a:buNone/>
            </a:pPr>
            <a:r>
              <a:rPr lang="en-US" dirty="0"/>
              <a:t>Jobs having a positive image in terms of better remuneration, promotions, recognition, good work environment with career development opportunities are considered to be the characteristics to attract qualified candidates.</a:t>
            </a:r>
          </a:p>
        </p:txBody>
      </p:sp>
    </p:spTree>
    <p:extLst>
      <p:ext uri="{BB962C8B-B14F-4D97-AF65-F5344CB8AC3E}">
        <p14:creationId xmlns:p14="http://schemas.microsoft.com/office/powerpoint/2010/main" val="101048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External factors </a:t>
            </a:r>
            <a:br>
              <a:rPr lang="en-US" b="1" dirty="0"/>
            </a:br>
            <a:endParaRPr lang="en-US" dirty="0"/>
          </a:p>
        </p:txBody>
      </p:sp>
      <p:sp>
        <p:nvSpPr>
          <p:cNvPr id="3" name="Content Placeholder 2"/>
          <p:cNvSpPr>
            <a:spLocks noGrp="1"/>
          </p:cNvSpPr>
          <p:nvPr>
            <p:ph idx="1"/>
          </p:nvPr>
        </p:nvSpPr>
        <p:spPr/>
        <p:txBody>
          <a:bodyPr>
            <a:normAutofit fontScale="92500"/>
          </a:bodyPr>
          <a:lstStyle/>
          <a:p>
            <a:pPr algn="just"/>
            <a:r>
              <a:rPr lang="en-US" dirty="0"/>
              <a:t>External factors are those that cannot be controlled by an organization. </a:t>
            </a:r>
          </a:p>
          <a:p>
            <a:pPr algn="just"/>
            <a:r>
              <a:rPr lang="en-US" dirty="0"/>
              <a:t>The external factors that affect the recruitment process include the following: </a:t>
            </a:r>
          </a:p>
          <a:p>
            <a:pPr marL="725488" indent="-457200" algn="just">
              <a:buFont typeface="Wingdings" pitchFamily="2" charset="2"/>
              <a:buChar char="§"/>
            </a:pPr>
            <a:r>
              <a:rPr lang="en-US" dirty="0"/>
              <a:t>Demographic factors</a:t>
            </a:r>
          </a:p>
          <a:p>
            <a:pPr marL="725488" indent="-457200" algn="just">
              <a:buFont typeface="Wingdings" pitchFamily="2" charset="2"/>
              <a:buChar char="§"/>
            </a:pPr>
            <a:r>
              <a:rPr lang="en-US" dirty="0"/>
              <a:t>Labor market</a:t>
            </a:r>
          </a:p>
          <a:p>
            <a:pPr marL="725488" indent="-457200" algn="just">
              <a:buFont typeface="Wingdings" pitchFamily="2" charset="2"/>
              <a:buChar char="§"/>
            </a:pPr>
            <a:r>
              <a:rPr lang="en-US" dirty="0"/>
              <a:t>Unemployment rate</a:t>
            </a:r>
          </a:p>
          <a:p>
            <a:pPr marL="725488" indent="-457200" algn="just">
              <a:buFont typeface="Wingdings" pitchFamily="2" charset="2"/>
              <a:buChar char="§"/>
            </a:pPr>
            <a:r>
              <a:rPr lang="en-US" dirty="0"/>
              <a:t>Labor laws </a:t>
            </a:r>
          </a:p>
          <a:p>
            <a:pPr marL="725488" indent="-457200" algn="just">
              <a:buFont typeface="Wingdings" pitchFamily="2" charset="2"/>
              <a:buChar char="§"/>
            </a:pPr>
            <a:r>
              <a:rPr lang="en-US" dirty="0"/>
              <a:t>Legal considerations </a:t>
            </a:r>
          </a:p>
          <a:p>
            <a:pPr marL="725488" indent="-457200" algn="just">
              <a:buFont typeface="Wingdings" pitchFamily="2" charset="2"/>
              <a:buChar char="§"/>
            </a:pPr>
            <a:r>
              <a:rPr lang="en-US" dirty="0"/>
              <a:t>Competitors</a:t>
            </a:r>
          </a:p>
          <a:p>
            <a:endParaRPr lang="en-US" dirty="0"/>
          </a:p>
        </p:txBody>
      </p:sp>
    </p:spTree>
    <p:extLst>
      <p:ext uri="{BB962C8B-B14F-4D97-AF65-F5344CB8AC3E}">
        <p14:creationId xmlns:p14="http://schemas.microsoft.com/office/powerpoint/2010/main" val="1648177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14357"/>
            <a:ext cx="8229600" cy="5411807"/>
          </a:xfrm>
        </p:spPr>
        <p:txBody>
          <a:bodyPr>
            <a:normAutofit fontScale="70000" lnSpcReduction="20000"/>
          </a:bodyPr>
          <a:lstStyle/>
          <a:p>
            <a:endParaRPr lang="en-US" dirty="0"/>
          </a:p>
          <a:p>
            <a:pPr algn="just"/>
            <a:r>
              <a:rPr lang="en-US" sz="3400" b="1" dirty="0"/>
              <a:t>Demographic factors </a:t>
            </a:r>
            <a:r>
              <a:rPr lang="en-US" sz="3400" dirty="0"/>
              <a:t>– Demographic factors are related to the attributes of potential employees such as their age, religion, literacy level, gender, occupation, economic status, etc. </a:t>
            </a:r>
          </a:p>
          <a:p>
            <a:pPr algn="just"/>
            <a:endParaRPr lang="en-US" sz="3400" dirty="0"/>
          </a:p>
          <a:p>
            <a:pPr algn="just"/>
            <a:r>
              <a:rPr lang="en-US" sz="3400" b="1" dirty="0"/>
              <a:t>Labor market </a:t>
            </a:r>
            <a:r>
              <a:rPr lang="en-US" sz="3400" dirty="0"/>
              <a:t>– Labor market controls the demand and supply of labor. For example, if the supply of people having a specific skill is less than the demand, then the hiring will need more efforts. On the other hand, if the demand is less than the supply, the hiring will be relative easier. </a:t>
            </a:r>
          </a:p>
          <a:p>
            <a:pPr algn="just"/>
            <a:endParaRPr lang="en-US" sz="3400" dirty="0"/>
          </a:p>
          <a:p>
            <a:pPr algn="just"/>
            <a:r>
              <a:rPr lang="en-US" sz="3400" b="1" dirty="0"/>
              <a:t>Unemployment rate </a:t>
            </a:r>
            <a:r>
              <a:rPr lang="en-US" sz="3400" dirty="0"/>
              <a:t>– If the unemployment rate is high in a specific area, hiring of resources will be simple and easier, as the number of applicants is very high. In contrast, if the unemployment rate is low, then recruiting tends to be very difficult due to less number of resources. </a:t>
            </a:r>
          </a:p>
          <a:p>
            <a:endParaRPr lang="en-US" dirty="0"/>
          </a:p>
        </p:txBody>
      </p:sp>
    </p:spTree>
    <p:extLst>
      <p:ext uri="{BB962C8B-B14F-4D97-AF65-F5344CB8AC3E}">
        <p14:creationId xmlns:p14="http://schemas.microsoft.com/office/powerpoint/2010/main" val="4053045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71480"/>
            <a:ext cx="8229600" cy="5786478"/>
          </a:xfrm>
        </p:spPr>
        <p:txBody>
          <a:bodyPr>
            <a:normAutofit fontScale="62500" lnSpcReduction="20000"/>
          </a:bodyPr>
          <a:lstStyle/>
          <a:p>
            <a:endParaRPr lang="en-US" dirty="0"/>
          </a:p>
          <a:p>
            <a:pPr algn="just"/>
            <a:r>
              <a:rPr lang="en-US" sz="3800" b="1" dirty="0"/>
              <a:t>Labor laws </a:t>
            </a:r>
            <a:r>
              <a:rPr lang="en-US" sz="3800" dirty="0"/>
              <a:t>– Labor laws reflect the social and political environment of a market, which are created by the central and state governments. These laws dictate the compensation, working environment, safety and health regulations, etc., for different types of employments. As the government changes, the laws too change. </a:t>
            </a:r>
          </a:p>
          <a:p>
            <a:pPr algn="just"/>
            <a:endParaRPr lang="en-US" sz="3800" dirty="0"/>
          </a:p>
          <a:p>
            <a:pPr algn="just"/>
            <a:r>
              <a:rPr lang="en-US" sz="3800" b="1" dirty="0"/>
              <a:t>Legal considerations </a:t>
            </a:r>
            <a:r>
              <a:rPr lang="en-US" sz="3800" dirty="0"/>
              <a:t>– Job reservations for different castes needs different considerations. These considerations, passed by government, will have a positive or negative impact on the recruitment policies of the organizations. </a:t>
            </a:r>
          </a:p>
          <a:p>
            <a:pPr algn="just"/>
            <a:endParaRPr lang="en-US" sz="3800" dirty="0"/>
          </a:p>
          <a:p>
            <a:pPr algn="just"/>
            <a:r>
              <a:rPr lang="en-US" sz="3800" dirty="0"/>
              <a:t> </a:t>
            </a:r>
            <a:r>
              <a:rPr lang="en-US" sz="3800" b="1" dirty="0"/>
              <a:t>Competitors </a:t>
            </a:r>
            <a:r>
              <a:rPr lang="en-US" sz="3800" dirty="0"/>
              <a:t>– When organizations in the same industry are competing for the best qualified resources, there is a need to analyze the competition and offer the resources packages that are best in terms of industry standards. </a:t>
            </a:r>
          </a:p>
          <a:p>
            <a:endParaRPr lang="en-US" dirty="0"/>
          </a:p>
        </p:txBody>
      </p:sp>
    </p:spTree>
    <p:extLst>
      <p:ext uri="{BB962C8B-B14F-4D97-AF65-F5344CB8AC3E}">
        <p14:creationId xmlns:p14="http://schemas.microsoft.com/office/powerpoint/2010/main" val="2477828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a:t>
            </a:r>
          </a:p>
        </p:txBody>
      </p:sp>
      <p:sp>
        <p:nvSpPr>
          <p:cNvPr id="3" name="Content Placeholder 2"/>
          <p:cNvSpPr>
            <a:spLocks noGrp="1"/>
          </p:cNvSpPr>
          <p:nvPr>
            <p:ph idx="1"/>
          </p:nvPr>
        </p:nvSpPr>
        <p:spPr>
          <a:xfrm>
            <a:off x="1981200" y="1285861"/>
            <a:ext cx="8229600" cy="4840303"/>
          </a:xfrm>
        </p:spPr>
        <p:txBody>
          <a:bodyPr>
            <a:normAutofit/>
          </a:bodyPr>
          <a:lstStyle/>
          <a:p>
            <a:pPr algn="just"/>
            <a:r>
              <a:rPr lang="en-US" dirty="0"/>
              <a:t>Selection is the process of carefully screening the candidates who offer themselves for appointment so as to choose the most  suitable persons for the jobs that are to be filled.</a:t>
            </a:r>
          </a:p>
          <a:p>
            <a:pPr algn="just"/>
            <a:r>
              <a:rPr lang="en-US" dirty="0"/>
              <a:t> It is the process of matching the qualifications of candidates with the requirements of jobs to be filled.</a:t>
            </a:r>
          </a:p>
          <a:p>
            <a:pPr algn="just"/>
            <a:r>
              <a:rPr lang="en-US" dirty="0"/>
              <a:t>The basic purpose of the selection process is choosing right type of candidates to man various positions in the organization.</a:t>
            </a:r>
          </a:p>
        </p:txBody>
      </p:sp>
    </p:spTree>
    <p:extLst>
      <p:ext uri="{BB962C8B-B14F-4D97-AF65-F5344CB8AC3E}">
        <p14:creationId xmlns:p14="http://schemas.microsoft.com/office/powerpoint/2010/main" val="3196865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Selection  criteria</a:t>
            </a:r>
          </a:p>
        </p:txBody>
      </p:sp>
      <p:sp>
        <p:nvSpPr>
          <p:cNvPr id="3" name="Content Placeholder 2"/>
          <p:cNvSpPr>
            <a:spLocks noGrp="1"/>
          </p:cNvSpPr>
          <p:nvPr>
            <p:ph idx="1"/>
          </p:nvPr>
        </p:nvSpPr>
        <p:spPr/>
        <p:txBody>
          <a:bodyPr/>
          <a:lstStyle/>
          <a:p>
            <a:r>
              <a:rPr lang="en-US" dirty="0"/>
              <a:t>Three perspectives can be used to determine selection criteria </a:t>
            </a:r>
          </a:p>
          <a:p>
            <a:pPr marL="898525" indent="-268288">
              <a:buFont typeface="Wingdings" pitchFamily="2" charset="2"/>
              <a:buChar char="§"/>
            </a:pPr>
            <a:r>
              <a:rPr lang="en-US" dirty="0"/>
              <a:t>Organizational fit,</a:t>
            </a:r>
          </a:p>
          <a:p>
            <a:pPr marL="898525" indent="-268288">
              <a:buFont typeface="Wingdings" pitchFamily="2" charset="2"/>
              <a:buChar char="§"/>
            </a:pPr>
            <a:r>
              <a:rPr lang="en-US" dirty="0"/>
              <a:t>Team/functional fit </a:t>
            </a:r>
          </a:p>
          <a:p>
            <a:pPr marL="898525" indent="-268288">
              <a:buFont typeface="Wingdings" pitchFamily="2" charset="2"/>
              <a:buChar char="§"/>
            </a:pPr>
            <a:r>
              <a:rPr lang="en-US" dirty="0"/>
              <a:t>Job fit.</a:t>
            </a:r>
          </a:p>
        </p:txBody>
      </p:sp>
    </p:spTree>
    <p:extLst>
      <p:ext uri="{BB962C8B-B14F-4D97-AF65-F5344CB8AC3E}">
        <p14:creationId xmlns:p14="http://schemas.microsoft.com/office/powerpoint/2010/main" val="4016029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Organizational fit</a:t>
            </a:r>
          </a:p>
        </p:txBody>
      </p:sp>
      <p:sp>
        <p:nvSpPr>
          <p:cNvPr id="3" name="Content Placeholder 2"/>
          <p:cNvSpPr>
            <a:spLocks noGrp="1"/>
          </p:cNvSpPr>
          <p:nvPr>
            <p:ph idx="1"/>
          </p:nvPr>
        </p:nvSpPr>
        <p:spPr/>
        <p:txBody>
          <a:bodyPr>
            <a:normAutofit/>
          </a:bodyPr>
          <a:lstStyle/>
          <a:p>
            <a:pPr algn="just"/>
            <a:r>
              <a:rPr lang="en-US" dirty="0"/>
              <a:t>The organizational criteria are those attributes that an organization considers valuable in its employees and that affect judgments about a candidate’s potential to be successful within an organization.</a:t>
            </a:r>
          </a:p>
          <a:p>
            <a:pPr algn="just"/>
            <a:r>
              <a:rPr lang="en-US" dirty="0"/>
              <a:t>Fit with the organization is often expressed in  terms of personality, attitudes, flexibility, commitment and goals, rather than the ability to do the specific job for which the person is being recruited.</a:t>
            </a:r>
          </a:p>
        </p:txBody>
      </p:sp>
    </p:spTree>
    <p:extLst>
      <p:ext uri="{BB962C8B-B14F-4D97-AF65-F5344CB8AC3E}">
        <p14:creationId xmlns:p14="http://schemas.microsoft.com/office/powerpoint/2010/main" val="16881399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Functional and team fit</a:t>
            </a:r>
            <a:br>
              <a:rPr lang="en-US" b="1" dirty="0"/>
            </a:br>
            <a:endParaRPr lang="en-US" dirty="0"/>
          </a:p>
        </p:txBody>
      </p:sp>
      <p:sp>
        <p:nvSpPr>
          <p:cNvPr id="3" name="Content Placeholder 2"/>
          <p:cNvSpPr>
            <a:spLocks noGrp="1"/>
          </p:cNvSpPr>
          <p:nvPr>
            <p:ph idx="1"/>
          </p:nvPr>
        </p:nvSpPr>
        <p:spPr/>
        <p:txBody>
          <a:bodyPr>
            <a:normAutofit/>
          </a:bodyPr>
          <a:lstStyle/>
          <a:p>
            <a:pPr algn="just"/>
            <a:r>
              <a:rPr lang="en-US" dirty="0"/>
              <a:t>Between the generality of the organizational criteria and the preciseness of job criteria, there are functional criteria, such as the definition of appropriate interpersonal skills for all members of the HR department. </a:t>
            </a:r>
          </a:p>
          <a:p>
            <a:pPr algn="just"/>
            <a:r>
              <a:rPr lang="en-US" dirty="0"/>
              <a:t>Criteria may also be important when the new appointee will have to fit into a pre-existing work team.</a:t>
            </a:r>
          </a:p>
        </p:txBody>
      </p:sp>
    </p:spTree>
    <p:extLst>
      <p:ext uri="{BB962C8B-B14F-4D97-AF65-F5344CB8AC3E}">
        <p14:creationId xmlns:p14="http://schemas.microsoft.com/office/powerpoint/2010/main" val="3337143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fit</a:t>
            </a:r>
          </a:p>
        </p:txBody>
      </p:sp>
      <p:sp>
        <p:nvSpPr>
          <p:cNvPr id="3" name="Content Placeholder 2"/>
          <p:cNvSpPr>
            <a:spLocks noGrp="1"/>
          </p:cNvSpPr>
          <p:nvPr>
            <p:ph idx="1"/>
          </p:nvPr>
        </p:nvSpPr>
        <p:spPr>
          <a:xfrm>
            <a:off x="1981200" y="1285860"/>
            <a:ext cx="8229600" cy="5143536"/>
          </a:xfrm>
        </p:spPr>
        <p:txBody>
          <a:bodyPr>
            <a:normAutofit fontScale="92500"/>
          </a:bodyPr>
          <a:lstStyle/>
          <a:p>
            <a:pPr algn="just"/>
            <a:r>
              <a:rPr lang="en-US" dirty="0"/>
              <a:t>Individual job criteria contained in job  descriptions and person specifications are derived from the process of job analysis.</a:t>
            </a:r>
          </a:p>
          <a:p>
            <a:pPr algn="just"/>
            <a:r>
              <a:rPr lang="en-US" dirty="0"/>
              <a:t>Under this criteria, HR first starts with analyzing the task to be done, presenting this in the form of a job description and from this deriving the personal qualities and attributes or competencies that are necessary to do the task.</a:t>
            </a:r>
          </a:p>
          <a:p>
            <a:pPr algn="just"/>
            <a:r>
              <a:rPr lang="en-US" dirty="0"/>
              <a:t>Competencies profile  also can be used to set this criteria.</a:t>
            </a:r>
          </a:p>
          <a:p>
            <a:pPr marL="441325" indent="-268288" algn="just">
              <a:buFont typeface="Wingdings" pitchFamily="2" charset="2"/>
              <a:buChar char="Ø"/>
            </a:pPr>
            <a:r>
              <a:rPr lang="en-US" dirty="0"/>
              <a:t>Competency  have been defined as underlying  characteristics of a person which result in effective or superior performance; they include personal skills, knowledge, motives, traits, self-image and social role</a:t>
            </a:r>
          </a:p>
        </p:txBody>
      </p:sp>
    </p:spTree>
    <p:extLst>
      <p:ext uri="{BB962C8B-B14F-4D97-AF65-F5344CB8AC3E}">
        <p14:creationId xmlns:p14="http://schemas.microsoft.com/office/powerpoint/2010/main" val="801142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Selection process</a:t>
            </a:r>
            <a:endParaRPr lang="en-US" dirty="0"/>
          </a:p>
        </p:txBody>
      </p:sp>
      <p:graphicFrame>
        <p:nvGraphicFramePr>
          <p:cNvPr id="5" name="Content Placeholder 4"/>
          <p:cNvGraphicFramePr>
            <a:graphicFrameLocks noGrp="1"/>
          </p:cNvGraphicFramePr>
          <p:nvPr>
            <p:ph idx="1"/>
          </p:nvPr>
        </p:nvGraphicFramePr>
        <p:xfrm>
          <a:off x="1952596" y="1714489"/>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5187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39784"/>
          </a:xfrm>
        </p:spPr>
        <p:txBody>
          <a:bodyPr/>
          <a:lstStyle/>
          <a:p>
            <a:r>
              <a:rPr lang="en-GB" dirty="0"/>
              <a:t>Selection process....</a:t>
            </a:r>
            <a:endParaRPr lang="en-US" dirty="0"/>
          </a:p>
        </p:txBody>
      </p:sp>
      <p:graphicFrame>
        <p:nvGraphicFramePr>
          <p:cNvPr id="4" name="Content Placeholder 3"/>
          <p:cNvGraphicFramePr>
            <a:graphicFrameLocks noGrp="1"/>
          </p:cNvGraphicFramePr>
          <p:nvPr>
            <p:ph idx="1"/>
          </p:nvPr>
        </p:nvGraphicFramePr>
        <p:xfrm>
          <a:off x="1981200" y="1600201"/>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12641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RECRUITMENT VS. SELECTION</a:t>
            </a:r>
            <a:endParaRPr lang="en-US" dirty="0"/>
          </a:p>
        </p:txBody>
      </p:sp>
      <p:sp>
        <p:nvSpPr>
          <p:cNvPr id="3" name="Content Placeholder 2"/>
          <p:cNvSpPr>
            <a:spLocks noGrp="1"/>
          </p:cNvSpPr>
          <p:nvPr>
            <p:ph idx="1"/>
          </p:nvPr>
        </p:nvSpPr>
        <p:spPr>
          <a:xfrm>
            <a:off x="1981200" y="1357299"/>
            <a:ext cx="8229600" cy="4768865"/>
          </a:xfrm>
        </p:spPr>
        <p:txBody>
          <a:bodyPr>
            <a:normAutofit fontScale="92500" lnSpcReduction="10000"/>
          </a:bodyPr>
          <a:lstStyle/>
          <a:p>
            <a:pPr marL="514350" indent="-514350" algn="just">
              <a:buFont typeface="+mj-lt"/>
              <a:buAutoNum type="arabicPeriod"/>
            </a:pPr>
            <a:r>
              <a:rPr lang="en-US" dirty="0"/>
              <a:t>The recruitment is the process of searching the candidates for employment and motivating them to apply for jobs in the Organization; </a:t>
            </a:r>
          </a:p>
          <a:p>
            <a:pPr marL="725488" indent="-284163" algn="just">
              <a:buFont typeface="Wingdings" pitchFamily="2" charset="2"/>
              <a:buChar char="Ø"/>
            </a:pPr>
            <a:r>
              <a:rPr lang="en-US" dirty="0"/>
              <a:t>whereas selection involves the series of steps by which the candidates are screened for choosing the most suitable persons for vacant posts.</a:t>
            </a:r>
          </a:p>
          <a:p>
            <a:pPr marL="514350" indent="-514350" algn="just">
              <a:buFont typeface="+mj-lt"/>
              <a:buAutoNum type="arabicPeriod" startAt="2"/>
            </a:pPr>
            <a:r>
              <a:rPr lang="en-US" dirty="0"/>
              <a:t>The basic purpose of recruitments is to create a talent pool of candidates to enable the selection of best candidates for the Organization, by attracting more and more employees to apply in the Organization </a:t>
            </a:r>
          </a:p>
          <a:p>
            <a:pPr marL="725488" indent="-363538" algn="just">
              <a:buFont typeface="Wingdings" pitchFamily="2" charset="2"/>
              <a:buChar char="Ø"/>
              <a:tabLst>
                <a:tab pos="630238" algn="l"/>
              </a:tabLst>
            </a:pPr>
            <a:r>
              <a:rPr lang="en-US" dirty="0"/>
              <a:t>whereas the basic purpose of selection process is to choose the right candidate to fill the various positions in the Organization.</a:t>
            </a:r>
          </a:p>
        </p:txBody>
      </p:sp>
    </p:spTree>
    <p:extLst>
      <p:ext uri="{BB962C8B-B14F-4D97-AF65-F5344CB8AC3E}">
        <p14:creationId xmlns:p14="http://schemas.microsoft.com/office/powerpoint/2010/main" val="3835877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071547"/>
            <a:ext cx="8229600" cy="5054617"/>
          </a:xfrm>
        </p:spPr>
        <p:txBody>
          <a:bodyPr>
            <a:normAutofit fontScale="92500"/>
          </a:bodyPr>
          <a:lstStyle/>
          <a:p>
            <a:pPr marL="514350" indent="-514350" algn="just">
              <a:buFont typeface="+mj-lt"/>
              <a:buAutoNum type="arabicPeriod" startAt="3"/>
            </a:pPr>
            <a:r>
              <a:rPr lang="en-US" dirty="0"/>
              <a:t>Recruitment encourages more and more candidates to apply </a:t>
            </a:r>
          </a:p>
          <a:p>
            <a:pPr marL="725488" indent="-284163" algn="just">
              <a:buFont typeface="Wingdings" pitchFamily="2" charset="2"/>
              <a:buChar char="Ø"/>
            </a:pPr>
            <a:r>
              <a:rPr lang="en-US" dirty="0"/>
              <a:t>whereas selection involves rejection of the unsuitable candidates.</a:t>
            </a:r>
          </a:p>
          <a:p>
            <a:pPr marL="514350" indent="-514350" algn="just">
              <a:buFont typeface="+mj-lt"/>
              <a:buAutoNum type="arabicPeriod" startAt="4"/>
            </a:pPr>
            <a:r>
              <a:rPr lang="en-US" dirty="0"/>
              <a:t> Recruitment is concerned with collecting the sources of human resources</a:t>
            </a:r>
          </a:p>
          <a:p>
            <a:pPr marL="630238" indent="-188913" algn="just">
              <a:buFont typeface="Wingdings" pitchFamily="2" charset="2"/>
              <a:buChar char="Ø"/>
            </a:pPr>
            <a:r>
              <a:rPr lang="en-US" dirty="0"/>
              <a:t>whereas selection is concerned with selecting the most suitable candidates through various interviews and tests.</a:t>
            </a:r>
          </a:p>
          <a:p>
            <a:pPr marL="571500" indent="-571500" algn="just">
              <a:buFont typeface="+mj-lt"/>
              <a:buAutoNum type="arabicPeriod" startAt="5"/>
            </a:pPr>
            <a:r>
              <a:rPr lang="en-US" dirty="0"/>
              <a:t> There is no contract of recruitment</a:t>
            </a:r>
          </a:p>
          <a:p>
            <a:pPr marL="725488" indent="-284163" algn="just">
              <a:buFont typeface="Wingdings" pitchFamily="2" charset="2"/>
              <a:buChar char="Ø"/>
            </a:pPr>
            <a:r>
              <a:rPr lang="en-US" dirty="0"/>
              <a:t> whereas selection results in a contract of service between the employer and the selected candidate.</a:t>
            </a:r>
          </a:p>
        </p:txBody>
      </p:sp>
    </p:spTree>
    <p:extLst>
      <p:ext uri="{BB962C8B-B14F-4D97-AF65-F5344CB8AC3E}">
        <p14:creationId xmlns:p14="http://schemas.microsoft.com/office/powerpoint/2010/main" val="4066384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Electronic recruitment</a:t>
            </a:r>
            <a:endParaRPr lang="en-US" dirty="0"/>
          </a:p>
        </p:txBody>
      </p:sp>
      <p:sp>
        <p:nvSpPr>
          <p:cNvPr id="3" name="Content Placeholder 2"/>
          <p:cNvSpPr>
            <a:spLocks noGrp="1"/>
          </p:cNvSpPr>
          <p:nvPr>
            <p:ph idx="1"/>
          </p:nvPr>
        </p:nvSpPr>
        <p:spPr/>
        <p:txBody>
          <a:bodyPr/>
          <a:lstStyle/>
          <a:p>
            <a:endParaRPr lang="en-GB" dirty="0"/>
          </a:p>
          <a:p>
            <a:endParaRPr lang="en-GB" dirty="0"/>
          </a:p>
          <a:p>
            <a:r>
              <a:rPr lang="en-GB" dirty="0"/>
              <a:t>Electronic recruitment  and application blanks </a:t>
            </a:r>
          </a:p>
          <a:p>
            <a:endParaRPr lang="en-US" dirty="0"/>
          </a:p>
        </p:txBody>
      </p:sp>
    </p:spTree>
    <p:extLst>
      <p:ext uri="{BB962C8B-B14F-4D97-AF65-F5344CB8AC3E}">
        <p14:creationId xmlns:p14="http://schemas.microsoft.com/office/powerpoint/2010/main" val="1189700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E-Recruitment is the latest trend in recruitment. It is also known as online</a:t>
            </a:r>
          </a:p>
          <a:p>
            <a:r>
              <a:rPr lang="en-US" dirty="0"/>
              <a:t>recruitment. Internet is the back bone for E-Recruitment. Companies advertise job</a:t>
            </a:r>
          </a:p>
          <a:p>
            <a:r>
              <a:rPr lang="en-US" dirty="0"/>
              <a:t>vacancies on different websites.</a:t>
            </a:r>
          </a:p>
          <a:p>
            <a:r>
              <a:rPr lang="en-US" dirty="0"/>
              <a:t>E-recruitment or online recruitment uses web-based tools such as a firm’s public</a:t>
            </a:r>
          </a:p>
          <a:p>
            <a:r>
              <a:rPr lang="en-US" dirty="0"/>
              <a:t>internet site or its own intranet to recruit staff.</a:t>
            </a:r>
          </a:p>
        </p:txBody>
      </p:sp>
    </p:spTree>
    <p:extLst>
      <p:ext uri="{BB962C8B-B14F-4D97-AF65-F5344CB8AC3E}">
        <p14:creationId xmlns:p14="http://schemas.microsoft.com/office/powerpoint/2010/main" val="1507182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E-Recruitment</a:t>
            </a:r>
          </a:p>
        </p:txBody>
      </p:sp>
      <p:sp>
        <p:nvSpPr>
          <p:cNvPr id="3" name="Content Placeholder 2"/>
          <p:cNvSpPr>
            <a:spLocks noGrp="1"/>
          </p:cNvSpPr>
          <p:nvPr>
            <p:ph idx="1"/>
          </p:nvPr>
        </p:nvSpPr>
        <p:spPr/>
        <p:txBody>
          <a:bodyPr>
            <a:normAutofit/>
          </a:bodyPr>
          <a:lstStyle/>
          <a:p>
            <a:pPr algn="just"/>
            <a:r>
              <a:rPr lang="en-US" dirty="0"/>
              <a:t>E-Recruitment : Selecting Candidates through Internet. </a:t>
            </a:r>
          </a:p>
          <a:p>
            <a:pPr algn="just"/>
            <a:r>
              <a:rPr lang="en-US" dirty="0"/>
              <a:t>E-recruitment, also non as online recruitment, is the practice of using technology and in particular Web-based resources for tasks involved with finding, attracting, assessing, interviewing and hiring new personnel.</a:t>
            </a:r>
          </a:p>
          <a:p>
            <a:pPr algn="just"/>
            <a:r>
              <a:rPr lang="en-US" dirty="0"/>
              <a:t> Online recruitment can reach a larger pool of potential employees and facilitate the selection process. </a:t>
            </a:r>
          </a:p>
          <a:p>
            <a:pPr algn="just"/>
            <a:r>
              <a:rPr lang="en-US" dirty="0"/>
              <a:t> Main Purpose of e-recruitment is to make the processes involved more efficient and effective, as well as less expensive.</a:t>
            </a:r>
          </a:p>
        </p:txBody>
      </p:sp>
    </p:spTree>
    <p:extLst>
      <p:ext uri="{BB962C8B-B14F-4D97-AF65-F5344CB8AC3E}">
        <p14:creationId xmlns:p14="http://schemas.microsoft.com/office/powerpoint/2010/main" val="42372579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85795"/>
            <a:ext cx="8229600" cy="5340369"/>
          </a:xfrm>
        </p:spPr>
        <p:txBody>
          <a:bodyPr>
            <a:normAutofit/>
          </a:bodyPr>
          <a:lstStyle/>
          <a:p>
            <a:pPr algn="just"/>
            <a:r>
              <a:rPr lang="en-US" dirty="0"/>
              <a:t>E-Recruitment includes the entire process of finding the prospective candidates, assessing, interviewing and hiring them, as per the job requirement. </a:t>
            </a:r>
          </a:p>
          <a:p>
            <a:pPr algn="just"/>
            <a:r>
              <a:rPr lang="en-US" dirty="0"/>
              <a:t>Through this, the recruitment is done more effectively and efficiently.</a:t>
            </a:r>
          </a:p>
          <a:p>
            <a:pPr algn="just"/>
            <a:r>
              <a:rPr lang="en-US" dirty="0"/>
              <a:t>The motivation behind e-recruitment is to make the procedures included more productive and powerful, and in addition more affordable. </a:t>
            </a:r>
          </a:p>
          <a:p>
            <a:pPr algn="just"/>
            <a:r>
              <a:rPr lang="en-US" dirty="0"/>
              <a:t>Online  recruitment can achieve a bigger pool of potential representatives and encourage the determination procedure</a:t>
            </a:r>
          </a:p>
        </p:txBody>
      </p:sp>
    </p:spTree>
    <p:extLst>
      <p:ext uri="{BB962C8B-B14F-4D97-AF65-F5344CB8AC3E}">
        <p14:creationId xmlns:p14="http://schemas.microsoft.com/office/powerpoint/2010/main" val="1027806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e-Recruitment </a:t>
            </a:r>
          </a:p>
        </p:txBody>
      </p:sp>
      <p:sp>
        <p:nvSpPr>
          <p:cNvPr id="3" name="Content Placeholder 2"/>
          <p:cNvSpPr>
            <a:spLocks noGrp="1"/>
          </p:cNvSpPr>
          <p:nvPr>
            <p:ph idx="1"/>
          </p:nvPr>
        </p:nvSpPr>
        <p:spPr>
          <a:xfrm>
            <a:off x="1981200" y="1214423"/>
            <a:ext cx="8229600" cy="4911741"/>
          </a:xfrm>
        </p:spPr>
        <p:txBody>
          <a:bodyPr>
            <a:normAutofit fontScale="55000" lnSpcReduction="20000"/>
          </a:bodyPr>
          <a:lstStyle/>
          <a:p>
            <a:pPr marL="514350" indent="-514350">
              <a:buFont typeface="+mj-lt"/>
              <a:buAutoNum type="arabicPeriod"/>
            </a:pPr>
            <a:r>
              <a:rPr lang="en-US" dirty="0">
                <a:hlinkClick r:id="rId2" tooltip="Advantages of e-Recruitment&#10;Usually free to use! Not only i..."/>
              </a:rPr>
              <a:t> </a:t>
            </a:r>
            <a:r>
              <a:rPr lang="en-US" sz="3800" dirty="0"/>
              <a:t>Usually free to use: Not only is it cost effective since  most platforms allow to post job openings for free but it al so minimizes labor cost. </a:t>
            </a:r>
          </a:p>
          <a:p>
            <a:pPr marL="514350" indent="-514350">
              <a:buFont typeface="+mj-lt"/>
              <a:buAutoNum type="arabicPeriod"/>
            </a:pPr>
            <a:endParaRPr lang="en-US" sz="3800" dirty="0"/>
          </a:p>
          <a:p>
            <a:pPr marL="514350" indent="-514350">
              <a:buFont typeface="+mj-lt"/>
              <a:buAutoNum type="arabicPeriod"/>
            </a:pPr>
            <a:r>
              <a:rPr lang="en-US" sz="3800" dirty="0"/>
              <a:t>Cost Effective :Most posts and replies appear in real time. allows the candidate to access the advert  anytime me and anywhere with internet access.</a:t>
            </a:r>
          </a:p>
          <a:p>
            <a:pPr marL="514350" indent="-514350">
              <a:buFont typeface="+mj-lt"/>
              <a:buAutoNum type="arabicPeriod"/>
            </a:pPr>
            <a:r>
              <a:rPr lang="en-US" sz="3800" dirty="0"/>
              <a:t> Immediacy Online job ads can be quickly shared on multiple platforms. </a:t>
            </a:r>
          </a:p>
          <a:p>
            <a:pPr marL="514350" indent="-514350">
              <a:buFont typeface="+mj-lt"/>
              <a:buAutoNum type="arabicPeriod"/>
            </a:pPr>
            <a:r>
              <a:rPr lang="en-US" sz="3800" dirty="0"/>
              <a:t>More Effective Internet gives much more flexibility with r regards to controlling posts and the applications receive. </a:t>
            </a:r>
          </a:p>
          <a:p>
            <a:pPr marL="514350" indent="-514350">
              <a:buFont typeface="+mj-lt"/>
              <a:buAutoNum type="arabicPeriod"/>
            </a:pPr>
            <a:r>
              <a:rPr lang="en-US" sz="3800" dirty="0"/>
              <a:t>Platform allows to edit, update &amp; Post removal option. </a:t>
            </a:r>
          </a:p>
          <a:p>
            <a:pPr marL="514350" indent="-514350">
              <a:buFont typeface="+mj-lt"/>
              <a:buAutoNum type="arabicPeriod"/>
            </a:pPr>
            <a:r>
              <a:rPr lang="en-US" sz="3800" dirty="0"/>
              <a:t>Flexibility Newspapers or other forms of printed media has a very limited lifetime, dependent on their publishing cycle. </a:t>
            </a:r>
          </a:p>
          <a:p>
            <a:pPr marL="514350" indent="-514350">
              <a:buFont typeface="+mj-lt"/>
              <a:buAutoNum type="arabicPeriod"/>
            </a:pPr>
            <a:r>
              <a:rPr lang="en-US" sz="3800" dirty="0"/>
              <a:t>Longevity Using online portals for job posting we can reach huge and reliable applicants. </a:t>
            </a:r>
          </a:p>
          <a:p>
            <a:pPr marL="514350" indent="-514350">
              <a:buFont typeface="+mj-lt"/>
              <a:buAutoNum type="arabicPeriod"/>
            </a:pPr>
            <a:r>
              <a:rPr lang="en-US" sz="3800" dirty="0"/>
              <a:t>Reach a Bigger Audience most posts and replies appear in real time</a:t>
            </a:r>
          </a:p>
        </p:txBody>
      </p:sp>
    </p:spTree>
    <p:extLst>
      <p:ext uri="{BB962C8B-B14F-4D97-AF65-F5344CB8AC3E}">
        <p14:creationId xmlns:p14="http://schemas.microsoft.com/office/powerpoint/2010/main" val="3347408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Disadvantages of e-Recruitment </a:t>
            </a:r>
          </a:p>
        </p:txBody>
      </p:sp>
      <p:sp>
        <p:nvSpPr>
          <p:cNvPr id="3" name="Content Placeholder 2"/>
          <p:cNvSpPr>
            <a:spLocks noGrp="1"/>
          </p:cNvSpPr>
          <p:nvPr>
            <p:ph idx="1"/>
          </p:nvPr>
        </p:nvSpPr>
        <p:spPr>
          <a:xfrm>
            <a:off x="1981200" y="1071547"/>
            <a:ext cx="8229600" cy="5054617"/>
          </a:xfrm>
        </p:spPr>
        <p:txBody>
          <a:bodyPr>
            <a:noAutofit/>
          </a:bodyPr>
          <a:lstStyle/>
          <a:p>
            <a:pPr marL="514350" indent="-514350" algn="just">
              <a:buFont typeface="+mj-lt"/>
              <a:buAutoNum type="arabicPeriod"/>
            </a:pPr>
            <a:r>
              <a:rPr lang="en-US" sz="2400" dirty="0"/>
              <a:t>Lack of knowledge about systems and usage of software. </a:t>
            </a:r>
          </a:p>
          <a:p>
            <a:pPr marL="514350" indent="-514350" algn="just">
              <a:buFont typeface="+mj-lt"/>
              <a:buAutoNum type="arabicPeriod"/>
            </a:pPr>
            <a:r>
              <a:rPr lang="en-US" sz="2400" dirty="0"/>
              <a:t>Lack of confidentiality and security of information discourages the posting of job applications by job seekers.</a:t>
            </a:r>
          </a:p>
          <a:p>
            <a:pPr marL="514350" indent="-514350" algn="just">
              <a:buFont typeface="+mj-lt"/>
              <a:buAutoNum type="arabicPeriod"/>
            </a:pPr>
            <a:r>
              <a:rPr lang="en-US" sz="2400" dirty="0"/>
              <a:t>Technical/Security issues. </a:t>
            </a:r>
          </a:p>
          <a:p>
            <a:pPr marL="514350" indent="-514350" algn="just">
              <a:buFont typeface="+mj-lt"/>
              <a:buAutoNum type="arabicPeriod"/>
            </a:pPr>
            <a:r>
              <a:rPr lang="en-US" sz="2400" dirty="0"/>
              <a:t>Large Response rate. Posting online will increase the chances of getting hundreds of job applications, many of which will not be relevant.</a:t>
            </a:r>
          </a:p>
          <a:p>
            <a:pPr marL="514350" indent="-514350" algn="just">
              <a:buFont typeface="+mj-lt"/>
              <a:buAutoNum type="arabicPeriod"/>
            </a:pPr>
            <a:r>
              <a:rPr lang="en-US" sz="2400" dirty="0"/>
              <a:t>With regards to social media recruitment, some companies find that it gives off the wrong image about them as it is an informal recruiting method Informal </a:t>
            </a:r>
          </a:p>
          <a:p>
            <a:pPr marL="514350" indent="-514350" algn="just">
              <a:buFont typeface="+mj-lt"/>
              <a:buAutoNum type="arabicPeriod"/>
            </a:pPr>
            <a:r>
              <a:rPr lang="en-US" sz="2400" dirty="0"/>
              <a:t>Some applications might be fake to get information about the company or hiring officer. </a:t>
            </a:r>
          </a:p>
        </p:txBody>
      </p:sp>
    </p:spTree>
    <p:extLst>
      <p:ext uri="{BB962C8B-B14F-4D97-AF65-F5344CB8AC3E}">
        <p14:creationId xmlns:p14="http://schemas.microsoft.com/office/powerpoint/2010/main" val="39463212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46"/>
          </a:xfrm>
        </p:spPr>
        <p:txBody>
          <a:bodyPr>
            <a:normAutofit fontScale="90000"/>
          </a:bodyPr>
          <a:lstStyle/>
          <a:p>
            <a:br>
              <a:rPr lang="en-US" i="1" dirty="0"/>
            </a:br>
            <a:r>
              <a:rPr lang="en-US" dirty="0"/>
              <a:t>Sites</a:t>
            </a:r>
            <a:br>
              <a:rPr lang="en-US" dirty="0"/>
            </a:br>
            <a:endParaRPr lang="en-US" dirty="0"/>
          </a:p>
        </p:txBody>
      </p:sp>
      <p:sp>
        <p:nvSpPr>
          <p:cNvPr id="3" name="Content Placeholder 2"/>
          <p:cNvSpPr>
            <a:spLocks noGrp="1"/>
          </p:cNvSpPr>
          <p:nvPr>
            <p:ph idx="1"/>
          </p:nvPr>
        </p:nvSpPr>
        <p:spPr>
          <a:xfrm>
            <a:off x="1981200" y="1142984"/>
            <a:ext cx="8229600" cy="5143536"/>
          </a:xfrm>
        </p:spPr>
        <p:txBody>
          <a:bodyPr>
            <a:noAutofit/>
          </a:bodyPr>
          <a:lstStyle/>
          <a:p>
            <a:pPr algn="just"/>
            <a:r>
              <a:rPr lang="en-US" sz="2400" dirty="0"/>
              <a:t>The main types of online recruitment sites are:</a:t>
            </a:r>
          </a:p>
          <a:p>
            <a:pPr algn="just">
              <a:buFont typeface="Courier New" pitchFamily="49" charset="0"/>
              <a:buChar char="o"/>
            </a:pPr>
            <a:r>
              <a:rPr lang="en-US" sz="2400" b="1" i="1" dirty="0"/>
              <a:t>Job sites </a:t>
            </a:r>
            <a:r>
              <a:rPr lang="en-US" sz="2400" i="1" dirty="0"/>
              <a:t>– these are operated by specialized firms and can contain over 100,000 </a:t>
            </a:r>
            <a:r>
              <a:rPr lang="en-US" sz="2400" dirty="0"/>
              <a:t>vacancies with 6 or 7 million ‘hits’ a month. Companies pay to have their jobs listed on the sites, which are not usually linked to agencies.</a:t>
            </a:r>
          </a:p>
          <a:p>
            <a:pPr algn="just">
              <a:buFont typeface="Courier New" pitchFamily="49" charset="0"/>
              <a:buChar char="o"/>
            </a:pPr>
            <a:r>
              <a:rPr lang="en-US" sz="2400" b="1" i="1" dirty="0"/>
              <a:t>Agency sites </a:t>
            </a:r>
            <a:r>
              <a:rPr lang="en-US" sz="2400" i="1" dirty="0"/>
              <a:t>– are run by established recruitment agencies. Candidates register </a:t>
            </a:r>
            <a:r>
              <a:rPr lang="en-US" sz="2400" dirty="0"/>
              <a:t>online but may be expected to discuss their details in person before their details are forwarded to a prospective employer.</a:t>
            </a:r>
          </a:p>
          <a:p>
            <a:pPr algn="just">
              <a:buFont typeface="Courier New" pitchFamily="49" charset="0"/>
              <a:buChar char="o"/>
            </a:pPr>
            <a:r>
              <a:rPr lang="en-US" sz="2400" dirty="0"/>
              <a:t> </a:t>
            </a:r>
            <a:r>
              <a:rPr lang="en-US" sz="2400" b="1" i="1" dirty="0"/>
              <a:t>Media sites </a:t>
            </a:r>
            <a:r>
              <a:rPr lang="en-US" sz="2400" i="1" dirty="0"/>
              <a:t>– which may simply contain a copy of an advertisement appearing in </a:t>
            </a:r>
            <a:r>
              <a:rPr lang="en-US" sz="2400" dirty="0"/>
              <a:t>the press, but may include an external description of the vacancy and the company and provide a link to the company’s website</a:t>
            </a:r>
          </a:p>
        </p:txBody>
      </p:sp>
    </p:spTree>
    <p:extLst>
      <p:ext uri="{BB962C8B-B14F-4D97-AF65-F5344CB8AC3E}">
        <p14:creationId xmlns:p14="http://schemas.microsoft.com/office/powerpoint/2010/main" val="11469386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Cautions while using e-recruiting	</a:t>
            </a:r>
          </a:p>
        </p:txBody>
      </p:sp>
      <p:sp>
        <p:nvSpPr>
          <p:cNvPr id="3" name="Content Placeholder 2"/>
          <p:cNvSpPr>
            <a:spLocks noGrp="1"/>
          </p:cNvSpPr>
          <p:nvPr>
            <p:ph idx="1"/>
          </p:nvPr>
        </p:nvSpPr>
        <p:spPr>
          <a:xfrm>
            <a:off x="2133600" y="1447800"/>
            <a:ext cx="8324088" cy="5181600"/>
          </a:xfrm>
        </p:spPr>
        <p:txBody>
          <a:bodyPr>
            <a:normAutofit fontScale="92500" lnSpcReduction="10000"/>
          </a:bodyPr>
          <a:lstStyle/>
          <a:p>
            <a:pPr algn="just"/>
            <a:r>
              <a:rPr lang="en-US" dirty="0"/>
              <a:t>It needs to be aligned with the organization’s strategic goals</a:t>
            </a:r>
          </a:p>
          <a:p>
            <a:pPr algn="just"/>
            <a:r>
              <a:rPr lang="en-US" dirty="0"/>
              <a:t>May be used as one of the sources of recruiting along with other sources</a:t>
            </a:r>
          </a:p>
          <a:p>
            <a:pPr algn="just"/>
            <a:r>
              <a:rPr lang="en-US" dirty="0"/>
              <a:t>May attract frequent job hoppers</a:t>
            </a:r>
          </a:p>
          <a:p>
            <a:pPr algn="just"/>
            <a:r>
              <a:rPr lang="en-US" dirty="0"/>
              <a:t>May develop online screening process</a:t>
            </a:r>
          </a:p>
          <a:p>
            <a:pPr algn="just"/>
            <a:r>
              <a:rPr lang="en-US" dirty="0"/>
              <a:t>Should give enough information about the company</a:t>
            </a:r>
          </a:p>
          <a:p>
            <a:pPr algn="just"/>
            <a:r>
              <a:rPr lang="en-US" dirty="0"/>
              <a:t>Collect feedback from job applicants on the direct and indirect messages</a:t>
            </a:r>
          </a:p>
          <a:p>
            <a:pPr algn="just"/>
            <a:r>
              <a:rPr lang="en-US" dirty="0"/>
              <a:t>Should protect the privacy of the individual</a:t>
            </a:r>
          </a:p>
          <a:p>
            <a:pPr algn="just"/>
            <a:r>
              <a:rPr lang="en-US" dirty="0"/>
              <a:t>Should meet all the legal requirements and without any bias based on caste and religion</a:t>
            </a:r>
          </a:p>
          <a:p>
            <a:pPr algn="just"/>
            <a:endParaRPr lang="en-US" dirty="0"/>
          </a:p>
        </p:txBody>
      </p:sp>
    </p:spTree>
    <p:extLst>
      <p:ext uri="{BB962C8B-B14F-4D97-AF65-F5344CB8AC3E}">
        <p14:creationId xmlns:p14="http://schemas.microsoft.com/office/powerpoint/2010/main" val="3863875290"/>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blank </a:t>
            </a:r>
          </a:p>
        </p:txBody>
      </p:sp>
      <p:sp>
        <p:nvSpPr>
          <p:cNvPr id="3" name="Content Placeholder 2"/>
          <p:cNvSpPr>
            <a:spLocks noGrp="1"/>
          </p:cNvSpPr>
          <p:nvPr>
            <p:ph idx="1"/>
          </p:nvPr>
        </p:nvSpPr>
        <p:spPr/>
        <p:txBody>
          <a:bodyPr>
            <a:normAutofit/>
          </a:bodyPr>
          <a:lstStyle/>
          <a:p>
            <a:pPr algn="just"/>
            <a:r>
              <a:rPr lang="en-US" dirty="0"/>
              <a:t>It is a form or collection of forms that an individual seeking employment  must fill out as part of the process of informing an  employer of the applicant’s availability and desire to be employed</a:t>
            </a:r>
          </a:p>
          <a:p>
            <a:pPr algn="just"/>
            <a:r>
              <a:rPr lang="en-US" dirty="0"/>
              <a:t>It provide an opportunity for an employer to gather a good deal of information about an applicant in a short period of time</a:t>
            </a:r>
          </a:p>
        </p:txBody>
      </p:sp>
    </p:spTree>
    <p:extLst>
      <p:ext uri="{BB962C8B-B14F-4D97-AF65-F5344CB8AC3E}">
        <p14:creationId xmlns:p14="http://schemas.microsoft.com/office/powerpoint/2010/main" val="28012838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095472" y="1571613"/>
            <a:ext cx="8229600" cy="4525963"/>
          </a:xfrm>
        </p:spPr>
        <p:txBody>
          <a:bodyPr>
            <a:normAutofit fontScale="92500" lnSpcReduction="20000"/>
          </a:bodyPr>
          <a:lstStyle/>
          <a:p>
            <a:pPr algn="just"/>
            <a:r>
              <a:rPr lang="en-US" dirty="0"/>
              <a:t>Application blank is a highly structured interview in which the questions have been standardized and determined in advance.</a:t>
            </a:r>
          </a:p>
          <a:p>
            <a:pPr algn="just"/>
            <a:r>
              <a:rPr lang="en-GB" dirty="0"/>
              <a:t>It aims are :</a:t>
            </a:r>
          </a:p>
          <a:p>
            <a:pPr marL="536575" indent="-174625" algn="just">
              <a:buFont typeface="Wingdings" pitchFamily="2" charset="2"/>
              <a:buChar char="§"/>
            </a:pPr>
            <a:r>
              <a:rPr lang="en-US" dirty="0"/>
              <a:t>To provide pertinent information about the employee which the company will need if the individual is hired. </a:t>
            </a:r>
          </a:p>
          <a:p>
            <a:pPr marL="536575" indent="-174625" algn="just">
              <a:buFont typeface="Wingdings" pitchFamily="2" charset="2"/>
              <a:buChar char="§"/>
            </a:pPr>
            <a:r>
              <a:rPr lang="en-US" dirty="0"/>
              <a:t>To gather information about job applicants which the personnel officer feels are pertinent to the hiring process</a:t>
            </a:r>
          </a:p>
          <a:p>
            <a:pPr marL="536575" indent="-174625" algn="just">
              <a:buNone/>
            </a:pPr>
            <a:endParaRPr lang="en-US" u="sng" dirty="0"/>
          </a:p>
          <a:p>
            <a:pPr marL="173038" indent="-77788" algn="just"/>
            <a:r>
              <a:rPr lang="en-US" dirty="0"/>
              <a:t>It can be used as an aid to selection, the application blank can be and sometimes is one of the better selection devices at the disposal of the personnel technician</a:t>
            </a:r>
            <a:endParaRPr lang="en-US" b="1" dirty="0"/>
          </a:p>
        </p:txBody>
      </p:sp>
    </p:spTree>
    <p:extLst>
      <p:ext uri="{BB962C8B-B14F-4D97-AF65-F5344CB8AC3E}">
        <p14:creationId xmlns:p14="http://schemas.microsoft.com/office/powerpoint/2010/main" val="3111658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Weighted Application Blank </a:t>
            </a:r>
          </a:p>
        </p:txBody>
      </p:sp>
      <p:sp>
        <p:nvSpPr>
          <p:cNvPr id="3" name="Content Placeholder 2"/>
          <p:cNvSpPr>
            <a:spLocks noGrp="1"/>
          </p:cNvSpPr>
          <p:nvPr>
            <p:ph idx="1"/>
          </p:nvPr>
        </p:nvSpPr>
        <p:spPr>
          <a:xfrm>
            <a:off x="1981200" y="1500175"/>
            <a:ext cx="8229600" cy="4625989"/>
          </a:xfrm>
        </p:spPr>
        <p:txBody>
          <a:bodyPr>
            <a:normAutofit fontScale="92500" lnSpcReduction="10000"/>
          </a:bodyPr>
          <a:lstStyle/>
          <a:p>
            <a:r>
              <a:rPr lang="en-US" dirty="0"/>
              <a:t>A weighted application is a form whose responses are assigned a numerical value that correlates to the skills, knowledge, and abilities needed to perform the job</a:t>
            </a:r>
          </a:p>
          <a:p>
            <a:r>
              <a:rPr lang="en-US" dirty="0"/>
              <a:t>Individual items of information are validated against performance and turnover measures and given appropriate weights. </a:t>
            </a:r>
          </a:p>
          <a:p>
            <a:pPr lvl="0"/>
            <a:r>
              <a:rPr lang="en-US" dirty="0"/>
              <a:t>The primary purpose of using weighted application forms is to reduce employee turnover. </a:t>
            </a:r>
          </a:p>
          <a:p>
            <a:pPr marL="441325" indent="-268288">
              <a:buFont typeface="Wingdings" pitchFamily="2" charset="2"/>
              <a:buChar char="Ø"/>
            </a:pPr>
            <a:r>
              <a:rPr lang="en-US" dirty="0"/>
              <a:t> Employers conduct weighted application evaluations by assigning numeric values to key position requirements and then producing a list of qualified applicants ranked by their score</a:t>
            </a:r>
          </a:p>
          <a:p>
            <a:endParaRPr lang="en-US" dirty="0"/>
          </a:p>
        </p:txBody>
      </p:sp>
    </p:spTree>
    <p:extLst>
      <p:ext uri="{BB962C8B-B14F-4D97-AF65-F5344CB8AC3E}">
        <p14:creationId xmlns:p14="http://schemas.microsoft.com/office/powerpoint/2010/main" val="3063517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3008</Words>
  <Application>Microsoft Office PowerPoint</Application>
  <PresentationFormat>Widescreen</PresentationFormat>
  <Paragraphs>232</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Courier New</vt:lpstr>
      <vt:lpstr>Wingdings</vt:lpstr>
      <vt:lpstr>Office Theme</vt:lpstr>
      <vt:lpstr>PowerPoint Presentation</vt:lpstr>
      <vt:lpstr> Recruitment and selection </vt:lpstr>
      <vt:lpstr>Recruitment</vt:lpstr>
      <vt:lpstr>Importance of recruitment</vt:lpstr>
      <vt:lpstr>Sources of recruitment</vt:lpstr>
      <vt:lpstr>Internal sources of recruitment</vt:lpstr>
      <vt:lpstr>Advantage of internal sources</vt:lpstr>
      <vt:lpstr>Disadvantage of internal sources</vt:lpstr>
      <vt:lpstr>PowerPoint Presentation</vt:lpstr>
      <vt:lpstr> External sources </vt:lpstr>
      <vt:lpstr>Advantage of External sources</vt:lpstr>
      <vt:lpstr>Disadvantage of External sources</vt:lpstr>
      <vt:lpstr>Recruitment process</vt:lpstr>
      <vt:lpstr>PowerPoint Presentation</vt:lpstr>
      <vt:lpstr>PowerPoint Presentation</vt:lpstr>
      <vt:lpstr>  Factors Affecting Recruitment   </vt:lpstr>
      <vt:lpstr>Internal Factors</vt:lpstr>
      <vt:lpstr>PowerPoint Presentation</vt:lpstr>
      <vt:lpstr>PowerPoint Presentation</vt:lpstr>
      <vt:lpstr> External factors  </vt:lpstr>
      <vt:lpstr>PowerPoint Presentation</vt:lpstr>
      <vt:lpstr>PowerPoint Presentation</vt:lpstr>
      <vt:lpstr>Selection</vt:lpstr>
      <vt:lpstr>Selection  criteria</vt:lpstr>
      <vt:lpstr>Organizational fit</vt:lpstr>
      <vt:lpstr> Functional and team fit </vt:lpstr>
      <vt:lpstr>Job fit</vt:lpstr>
      <vt:lpstr>Selection process</vt:lpstr>
      <vt:lpstr>Selection process....</vt:lpstr>
      <vt:lpstr>RECRUITMENT VS. SELECTION</vt:lpstr>
      <vt:lpstr>PowerPoint Presentation</vt:lpstr>
      <vt:lpstr>Electronic recruitment</vt:lpstr>
      <vt:lpstr>PowerPoint Presentation</vt:lpstr>
      <vt:lpstr>E-Recruitment</vt:lpstr>
      <vt:lpstr>PowerPoint Presentation</vt:lpstr>
      <vt:lpstr>Advantages of e-Recruitment </vt:lpstr>
      <vt:lpstr>Disadvantages of e-Recruitment </vt:lpstr>
      <vt:lpstr> Sites </vt:lpstr>
      <vt:lpstr>Cautions while using e-recruiting </vt:lpstr>
      <vt:lpstr>Application blank </vt:lpstr>
      <vt:lpstr>PowerPoint Presentation</vt:lpstr>
      <vt:lpstr>Weighted Application Blank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MUDHAKKIR-313</cp:lastModifiedBy>
  <cp:revision>1</cp:revision>
  <dcterms:created xsi:type="dcterms:W3CDTF">2023-05-02T10:00:32Z</dcterms:created>
  <dcterms:modified xsi:type="dcterms:W3CDTF">2026-07-24T12:07:26Z</dcterms:modified>
</cp:coreProperties>
</file>