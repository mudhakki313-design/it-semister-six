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63" r:id="rId3"/>
    <p:sldId id="300" r:id="rId4"/>
    <p:sldId id="264" r:id="rId5"/>
    <p:sldId id="270" r:id="rId6"/>
    <p:sldId id="269" r:id="rId7"/>
    <p:sldId id="307" r:id="rId8"/>
    <p:sldId id="303" r:id="rId9"/>
    <p:sldId id="304" r:id="rId10"/>
    <p:sldId id="322" r:id="rId11"/>
    <p:sldId id="306" r:id="rId12"/>
    <p:sldId id="275" r:id="rId13"/>
    <p:sldId id="276" r:id="rId14"/>
    <p:sldId id="277" r:id="rId15"/>
    <p:sldId id="279" r:id="rId16"/>
    <p:sldId id="280" r:id="rId17"/>
    <p:sldId id="281" r:id="rId18"/>
    <p:sldId id="323" r:id="rId19"/>
    <p:sldId id="326" r:id="rId20"/>
    <p:sldId id="324" r:id="rId21"/>
    <p:sldId id="325" r:id="rId22"/>
    <p:sldId id="308" r:id="rId23"/>
    <p:sldId id="282" r:id="rId24"/>
    <p:sldId id="283" r:id="rId25"/>
    <p:sldId id="284" r:id="rId26"/>
    <p:sldId id="285" r:id="rId27"/>
    <p:sldId id="321" r:id="rId28"/>
    <p:sldId id="286" r:id="rId29"/>
    <p:sldId id="287" r:id="rId30"/>
    <p:sldId id="288" r:id="rId31"/>
    <p:sldId id="289" r:id="rId32"/>
    <p:sldId id="290" r:id="rId33"/>
    <p:sldId id="291" r:id="rId34"/>
    <p:sldId id="292" r:id="rId35"/>
    <p:sldId id="293" r:id="rId36"/>
    <p:sldId id="309" r:id="rId37"/>
    <p:sldId id="310" r:id="rId38"/>
    <p:sldId id="311" r:id="rId39"/>
    <p:sldId id="312" r:id="rId40"/>
    <p:sldId id="313" r:id="rId41"/>
    <p:sldId id="314" r:id="rId42"/>
    <p:sldId id="319" r:id="rId43"/>
    <p:sldId id="320" r:id="rId44"/>
    <p:sldId id="315" r:id="rId45"/>
    <p:sldId id="316" r:id="rId46"/>
    <p:sldId id="317" r:id="rId47"/>
    <p:sldId id="31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0C38F52-D504-4BAC-AA70-5A6156847B46}" type="doc">
      <dgm:prSet loTypeId="urn:microsoft.com/office/officeart/2005/8/layout/process4" loCatId="list" qsTypeId="urn:microsoft.com/office/officeart/2005/8/quickstyle/simple1#1" qsCatId="simple" csTypeId="urn:microsoft.com/office/officeart/2005/8/colors/accent1_2#1" csCatId="accent1" phldr="1"/>
      <dgm:spPr/>
      <dgm:t>
        <a:bodyPr/>
        <a:lstStyle/>
        <a:p>
          <a:endParaRPr lang="en-US"/>
        </a:p>
      </dgm:t>
    </dgm:pt>
    <dgm:pt modelId="{83CFDDCE-AC1E-4403-BB70-20AB8EC31C61}">
      <dgm:prSet phldrT="[Text]"/>
      <dgm:spPr/>
      <dgm:t>
        <a:bodyPr/>
        <a:lstStyle/>
        <a:p>
          <a:r>
            <a:rPr lang="en-GB" dirty="0">
              <a:solidFill>
                <a:schemeClr val="tx1"/>
              </a:solidFill>
            </a:rPr>
            <a:t>Job review agreement </a:t>
          </a:r>
          <a:endParaRPr lang="en-US" dirty="0">
            <a:solidFill>
              <a:schemeClr val="tx1"/>
            </a:solidFill>
          </a:endParaRPr>
        </a:p>
      </dgm:t>
    </dgm:pt>
    <dgm:pt modelId="{896148FA-22F0-4F8F-8BD4-1B53ED5EDE6D}" type="parTrans" cxnId="{249C48B2-492B-41A0-86B6-109142FB8D1E}">
      <dgm:prSet/>
      <dgm:spPr/>
      <dgm:t>
        <a:bodyPr/>
        <a:lstStyle/>
        <a:p>
          <a:endParaRPr lang="en-US"/>
        </a:p>
      </dgm:t>
    </dgm:pt>
    <dgm:pt modelId="{C8F0A24F-A4C5-41EC-B89C-899B529A023C}" type="sibTrans" cxnId="{249C48B2-492B-41A0-86B6-109142FB8D1E}">
      <dgm:prSet/>
      <dgm:spPr/>
      <dgm:t>
        <a:bodyPr/>
        <a:lstStyle/>
        <a:p>
          <a:endParaRPr lang="en-US"/>
        </a:p>
      </dgm:t>
    </dgm:pt>
    <dgm:pt modelId="{85287D5E-E3AB-416A-AE62-314230CA4A9D}">
      <dgm:prSet phldrT="[Text]"/>
      <dgm:spPr/>
      <dgm:t>
        <a:bodyPr/>
        <a:lstStyle/>
        <a:p>
          <a:r>
            <a:rPr lang="en-US" dirty="0">
              <a:solidFill>
                <a:schemeClr val="tx1"/>
              </a:solidFill>
            </a:rPr>
            <a:t>Development of performance standards</a:t>
          </a:r>
        </a:p>
      </dgm:t>
    </dgm:pt>
    <dgm:pt modelId="{242881C4-02F0-443B-B945-E58BDAA750F7}" type="parTrans" cxnId="{59E099A5-9934-43AF-9E0A-5283E1B45550}">
      <dgm:prSet/>
      <dgm:spPr/>
      <dgm:t>
        <a:bodyPr/>
        <a:lstStyle/>
        <a:p>
          <a:endParaRPr lang="en-US"/>
        </a:p>
      </dgm:t>
    </dgm:pt>
    <dgm:pt modelId="{9A15A42F-0DA4-456E-80ED-D6F0E72F9CBB}" type="sibTrans" cxnId="{59E099A5-9934-43AF-9E0A-5283E1B45550}">
      <dgm:prSet/>
      <dgm:spPr/>
      <dgm:t>
        <a:bodyPr/>
        <a:lstStyle/>
        <a:p>
          <a:endParaRPr lang="en-US"/>
        </a:p>
      </dgm:t>
    </dgm:pt>
    <dgm:pt modelId="{459E63DC-E1D4-4DAC-82A8-23E21E78B87F}">
      <dgm:prSet phldrT="[Text]"/>
      <dgm:spPr/>
      <dgm:t>
        <a:bodyPr/>
        <a:lstStyle/>
        <a:p>
          <a:r>
            <a:rPr lang="en-GB" dirty="0">
              <a:solidFill>
                <a:schemeClr val="tx1"/>
              </a:solidFill>
            </a:rPr>
            <a:t>Objective setting </a:t>
          </a:r>
          <a:endParaRPr lang="en-US" dirty="0">
            <a:solidFill>
              <a:schemeClr val="tx1"/>
            </a:solidFill>
          </a:endParaRPr>
        </a:p>
      </dgm:t>
    </dgm:pt>
    <dgm:pt modelId="{A880BCF0-D6D4-44B3-BA78-86B1DA292ED6}" type="sibTrans" cxnId="{AA774181-AB75-43C2-88E8-D09119F044C1}">
      <dgm:prSet/>
      <dgm:spPr/>
      <dgm:t>
        <a:bodyPr/>
        <a:lstStyle/>
        <a:p>
          <a:endParaRPr lang="en-US"/>
        </a:p>
      </dgm:t>
    </dgm:pt>
    <dgm:pt modelId="{5881FBB1-3540-48E7-84EF-7DEAB6C2BF4F}" type="parTrans" cxnId="{AA774181-AB75-43C2-88E8-D09119F044C1}">
      <dgm:prSet/>
      <dgm:spPr/>
      <dgm:t>
        <a:bodyPr/>
        <a:lstStyle/>
        <a:p>
          <a:endParaRPr lang="en-US"/>
        </a:p>
      </dgm:t>
    </dgm:pt>
    <dgm:pt modelId="{A176D45F-BA4B-4768-BF9C-4D71AA93F16D}">
      <dgm:prSet phldrT="[Text]"/>
      <dgm:spPr/>
      <dgm:t>
        <a:bodyPr/>
        <a:lstStyle/>
        <a:p>
          <a:r>
            <a:rPr lang="en-GB" dirty="0">
              <a:solidFill>
                <a:schemeClr val="tx1"/>
              </a:solidFill>
            </a:rPr>
            <a:t>Continuing performance discussion</a:t>
          </a:r>
          <a:endParaRPr lang="en-US" dirty="0">
            <a:solidFill>
              <a:schemeClr val="tx1"/>
            </a:solidFill>
          </a:endParaRPr>
        </a:p>
      </dgm:t>
    </dgm:pt>
    <dgm:pt modelId="{B2EDE16E-B75D-4B39-A969-F8935CD7F3A4}" type="parTrans" cxnId="{A600CF19-009B-4739-BEE3-9C6B436C220C}">
      <dgm:prSet/>
      <dgm:spPr/>
      <dgm:t>
        <a:bodyPr/>
        <a:lstStyle/>
        <a:p>
          <a:endParaRPr lang="en-US"/>
        </a:p>
      </dgm:t>
    </dgm:pt>
    <dgm:pt modelId="{51F82373-AECD-4D9B-8E8A-4694F8B211E3}" type="sibTrans" cxnId="{A600CF19-009B-4739-BEE3-9C6B436C220C}">
      <dgm:prSet/>
      <dgm:spPr/>
      <dgm:t>
        <a:bodyPr/>
        <a:lstStyle/>
        <a:p>
          <a:endParaRPr lang="en-US"/>
        </a:p>
      </dgm:t>
    </dgm:pt>
    <dgm:pt modelId="{B429D149-AE64-4E9C-ACB8-8579FED7CF69}" type="pres">
      <dgm:prSet presAssocID="{D0C38F52-D504-4BAC-AA70-5A6156847B46}" presName="Name0" presStyleCnt="0">
        <dgm:presLayoutVars>
          <dgm:dir/>
          <dgm:animLvl val="lvl"/>
          <dgm:resizeHandles val="exact"/>
        </dgm:presLayoutVars>
      </dgm:prSet>
      <dgm:spPr/>
    </dgm:pt>
    <dgm:pt modelId="{BD7B456B-9BB1-4AA5-85C5-90C54A073CCC}" type="pres">
      <dgm:prSet presAssocID="{A176D45F-BA4B-4768-BF9C-4D71AA93F16D}" presName="boxAndChildren" presStyleCnt="0"/>
      <dgm:spPr/>
    </dgm:pt>
    <dgm:pt modelId="{74BC462E-34CC-430D-9764-22C9FEA70C68}" type="pres">
      <dgm:prSet presAssocID="{A176D45F-BA4B-4768-BF9C-4D71AA93F16D}" presName="parentTextBox" presStyleLbl="node1" presStyleIdx="0" presStyleCnt="4"/>
      <dgm:spPr/>
    </dgm:pt>
    <dgm:pt modelId="{DF60B23B-321B-4571-99CA-98587FFE64AE}" type="pres">
      <dgm:prSet presAssocID="{A880BCF0-D6D4-44B3-BA78-86B1DA292ED6}" presName="sp" presStyleCnt="0"/>
      <dgm:spPr/>
    </dgm:pt>
    <dgm:pt modelId="{707CEF8F-DEFF-4E91-932C-DA8C38DBAA1E}" type="pres">
      <dgm:prSet presAssocID="{459E63DC-E1D4-4DAC-82A8-23E21E78B87F}" presName="arrowAndChildren" presStyleCnt="0"/>
      <dgm:spPr/>
    </dgm:pt>
    <dgm:pt modelId="{270CB044-DBD3-49FF-B0B2-DD65363F44AF}" type="pres">
      <dgm:prSet presAssocID="{459E63DC-E1D4-4DAC-82A8-23E21E78B87F}" presName="parentTextArrow" presStyleLbl="node1" presStyleIdx="1" presStyleCnt="4"/>
      <dgm:spPr/>
    </dgm:pt>
    <dgm:pt modelId="{C792F480-BFBA-47BB-BF04-692F85880C95}" type="pres">
      <dgm:prSet presAssocID="{9A15A42F-0DA4-456E-80ED-D6F0E72F9CBB}" presName="sp" presStyleCnt="0"/>
      <dgm:spPr/>
    </dgm:pt>
    <dgm:pt modelId="{574972E2-31F1-4418-AA22-3A6BA2589EAA}" type="pres">
      <dgm:prSet presAssocID="{85287D5E-E3AB-416A-AE62-314230CA4A9D}" presName="arrowAndChildren" presStyleCnt="0"/>
      <dgm:spPr/>
    </dgm:pt>
    <dgm:pt modelId="{C77519A7-18C5-4C8E-A341-2F131C19096B}" type="pres">
      <dgm:prSet presAssocID="{85287D5E-E3AB-416A-AE62-314230CA4A9D}" presName="parentTextArrow" presStyleLbl="node1" presStyleIdx="2" presStyleCnt="4"/>
      <dgm:spPr/>
    </dgm:pt>
    <dgm:pt modelId="{46B7BCAE-111F-4E72-B493-279F6052711F}" type="pres">
      <dgm:prSet presAssocID="{C8F0A24F-A4C5-41EC-B89C-899B529A023C}" presName="sp" presStyleCnt="0"/>
      <dgm:spPr/>
    </dgm:pt>
    <dgm:pt modelId="{EDDAAD6A-4C64-47CD-8515-857383C56D1B}" type="pres">
      <dgm:prSet presAssocID="{83CFDDCE-AC1E-4403-BB70-20AB8EC31C61}" presName="arrowAndChildren" presStyleCnt="0"/>
      <dgm:spPr/>
    </dgm:pt>
    <dgm:pt modelId="{CE40A4EE-4D66-4809-8765-785C3A2C7C8C}" type="pres">
      <dgm:prSet presAssocID="{83CFDDCE-AC1E-4403-BB70-20AB8EC31C61}" presName="parentTextArrow" presStyleLbl="node1" presStyleIdx="3" presStyleCnt="4" custLinFactNeighborX="520" custLinFactNeighborY="-34939"/>
      <dgm:spPr/>
    </dgm:pt>
  </dgm:ptLst>
  <dgm:cxnLst>
    <dgm:cxn modelId="{5C82020C-8DE3-40DE-BBB3-813A477BF04E}" type="presOf" srcId="{83CFDDCE-AC1E-4403-BB70-20AB8EC31C61}" destId="{CE40A4EE-4D66-4809-8765-785C3A2C7C8C}" srcOrd="0" destOrd="0" presId="urn:microsoft.com/office/officeart/2005/8/layout/process4"/>
    <dgm:cxn modelId="{A600CF19-009B-4739-BEE3-9C6B436C220C}" srcId="{D0C38F52-D504-4BAC-AA70-5A6156847B46}" destId="{A176D45F-BA4B-4768-BF9C-4D71AA93F16D}" srcOrd="3" destOrd="0" parTransId="{B2EDE16E-B75D-4B39-A969-F8935CD7F3A4}" sibTransId="{51F82373-AECD-4D9B-8E8A-4694F8B211E3}"/>
    <dgm:cxn modelId="{ED08C761-219E-4DAA-9517-645BF8B822C7}" type="presOf" srcId="{A176D45F-BA4B-4768-BF9C-4D71AA93F16D}" destId="{74BC462E-34CC-430D-9764-22C9FEA70C68}" srcOrd="0" destOrd="0" presId="urn:microsoft.com/office/officeart/2005/8/layout/process4"/>
    <dgm:cxn modelId="{AA774181-AB75-43C2-88E8-D09119F044C1}" srcId="{D0C38F52-D504-4BAC-AA70-5A6156847B46}" destId="{459E63DC-E1D4-4DAC-82A8-23E21E78B87F}" srcOrd="2" destOrd="0" parTransId="{5881FBB1-3540-48E7-84EF-7DEAB6C2BF4F}" sibTransId="{A880BCF0-D6D4-44B3-BA78-86B1DA292ED6}"/>
    <dgm:cxn modelId="{02E0FE98-F556-4E3A-AACA-7F67C76E66DC}" type="presOf" srcId="{85287D5E-E3AB-416A-AE62-314230CA4A9D}" destId="{C77519A7-18C5-4C8E-A341-2F131C19096B}" srcOrd="0" destOrd="0" presId="urn:microsoft.com/office/officeart/2005/8/layout/process4"/>
    <dgm:cxn modelId="{653958A0-BCDA-4A8B-959F-13CFDF2F0D6B}" type="presOf" srcId="{D0C38F52-D504-4BAC-AA70-5A6156847B46}" destId="{B429D149-AE64-4E9C-ACB8-8579FED7CF69}" srcOrd="0" destOrd="0" presId="urn:microsoft.com/office/officeart/2005/8/layout/process4"/>
    <dgm:cxn modelId="{59E099A5-9934-43AF-9E0A-5283E1B45550}" srcId="{D0C38F52-D504-4BAC-AA70-5A6156847B46}" destId="{85287D5E-E3AB-416A-AE62-314230CA4A9D}" srcOrd="1" destOrd="0" parTransId="{242881C4-02F0-443B-B945-E58BDAA750F7}" sibTransId="{9A15A42F-0DA4-456E-80ED-D6F0E72F9CBB}"/>
    <dgm:cxn modelId="{249C48B2-492B-41A0-86B6-109142FB8D1E}" srcId="{D0C38F52-D504-4BAC-AA70-5A6156847B46}" destId="{83CFDDCE-AC1E-4403-BB70-20AB8EC31C61}" srcOrd="0" destOrd="0" parTransId="{896148FA-22F0-4F8F-8BD4-1B53ED5EDE6D}" sibTransId="{C8F0A24F-A4C5-41EC-B89C-899B529A023C}"/>
    <dgm:cxn modelId="{D7C73DB8-719F-43CF-AE56-C3B40693F101}" type="presOf" srcId="{459E63DC-E1D4-4DAC-82A8-23E21E78B87F}" destId="{270CB044-DBD3-49FF-B0B2-DD65363F44AF}" srcOrd="0" destOrd="0" presId="urn:microsoft.com/office/officeart/2005/8/layout/process4"/>
    <dgm:cxn modelId="{CDD42BBA-8426-40B5-A6B4-44CFA25274E9}" type="presParOf" srcId="{B429D149-AE64-4E9C-ACB8-8579FED7CF69}" destId="{BD7B456B-9BB1-4AA5-85C5-90C54A073CCC}" srcOrd="0" destOrd="0" presId="urn:microsoft.com/office/officeart/2005/8/layout/process4"/>
    <dgm:cxn modelId="{731F3196-216B-4555-AAA6-2AE20E049A97}" type="presParOf" srcId="{BD7B456B-9BB1-4AA5-85C5-90C54A073CCC}" destId="{74BC462E-34CC-430D-9764-22C9FEA70C68}" srcOrd="0" destOrd="0" presId="urn:microsoft.com/office/officeart/2005/8/layout/process4"/>
    <dgm:cxn modelId="{1B1001CE-2FD8-4DEB-959C-9F0A72C4B841}" type="presParOf" srcId="{B429D149-AE64-4E9C-ACB8-8579FED7CF69}" destId="{DF60B23B-321B-4571-99CA-98587FFE64AE}" srcOrd="1" destOrd="0" presId="urn:microsoft.com/office/officeart/2005/8/layout/process4"/>
    <dgm:cxn modelId="{B0AA6677-FD61-4BCE-8361-9D8344FD952F}" type="presParOf" srcId="{B429D149-AE64-4E9C-ACB8-8579FED7CF69}" destId="{707CEF8F-DEFF-4E91-932C-DA8C38DBAA1E}" srcOrd="2" destOrd="0" presId="urn:microsoft.com/office/officeart/2005/8/layout/process4"/>
    <dgm:cxn modelId="{752AE38B-86ED-45BF-AD5C-873F2CBA8DA3}" type="presParOf" srcId="{707CEF8F-DEFF-4E91-932C-DA8C38DBAA1E}" destId="{270CB044-DBD3-49FF-B0B2-DD65363F44AF}" srcOrd="0" destOrd="0" presId="urn:microsoft.com/office/officeart/2005/8/layout/process4"/>
    <dgm:cxn modelId="{54DC8D38-272D-491B-B5DD-3033B51DC0E8}" type="presParOf" srcId="{B429D149-AE64-4E9C-ACB8-8579FED7CF69}" destId="{C792F480-BFBA-47BB-BF04-692F85880C95}" srcOrd="3" destOrd="0" presId="urn:microsoft.com/office/officeart/2005/8/layout/process4"/>
    <dgm:cxn modelId="{0F98499A-307D-40BA-B4E7-50B376936B77}" type="presParOf" srcId="{B429D149-AE64-4E9C-ACB8-8579FED7CF69}" destId="{574972E2-31F1-4418-AA22-3A6BA2589EAA}" srcOrd="4" destOrd="0" presId="urn:microsoft.com/office/officeart/2005/8/layout/process4"/>
    <dgm:cxn modelId="{0B82545C-706E-4FFA-9949-C293F8B411A1}" type="presParOf" srcId="{574972E2-31F1-4418-AA22-3A6BA2589EAA}" destId="{C77519A7-18C5-4C8E-A341-2F131C19096B}" srcOrd="0" destOrd="0" presId="urn:microsoft.com/office/officeart/2005/8/layout/process4"/>
    <dgm:cxn modelId="{E2C3B036-7956-40D4-B932-53A3345F165C}" type="presParOf" srcId="{B429D149-AE64-4E9C-ACB8-8579FED7CF69}" destId="{46B7BCAE-111F-4E72-B493-279F6052711F}" srcOrd="5" destOrd="0" presId="urn:microsoft.com/office/officeart/2005/8/layout/process4"/>
    <dgm:cxn modelId="{C41A771A-508E-493A-96FF-68736756243B}" type="presParOf" srcId="{B429D149-AE64-4E9C-ACB8-8579FED7CF69}" destId="{EDDAAD6A-4C64-47CD-8515-857383C56D1B}" srcOrd="6" destOrd="0" presId="urn:microsoft.com/office/officeart/2005/8/layout/process4"/>
    <dgm:cxn modelId="{5D7921E5-5437-43E1-83DB-B2B092038749}" type="presParOf" srcId="{EDDAAD6A-4C64-47CD-8515-857383C56D1B}" destId="{CE40A4EE-4D66-4809-8765-785C3A2C7C8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C462E-34CC-430D-9764-22C9FEA70C68}">
      <dsp:nvSpPr>
        <dsp:cNvPr id="0" name=""/>
        <dsp:cNvSpPr/>
      </dsp:nvSpPr>
      <dsp:spPr>
        <a:xfrm>
          <a:off x="0" y="3712270"/>
          <a:ext cx="8229600" cy="81215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solidFill>
                <a:schemeClr val="tx1"/>
              </a:solidFill>
            </a:rPr>
            <a:t>Continuing performance discussion</a:t>
          </a:r>
          <a:endParaRPr lang="en-US" sz="2800" kern="1200" dirty="0">
            <a:solidFill>
              <a:schemeClr val="tx1"/>
            </a:solidFill>
          </a:endParaRPr>
        </a:p>
      </dsp:txBody>
      <dsp:txXfrm>
        <a:off x="0" y="3712270"/>
        <a:ext cx="8229600" cy="812154"/>
      </dsp:txXfrm>
    </dsp:sp>
    <dsp:sp modelId="{270CB044-DBD3-49FF-B0B2-DD65363F44AF}">
      <dsp:nvSpPr>
        <dsp:cNvPr id="0" name=""/>
        <dsp:cNvSpPr/>
      </dsp:nvSpPr>
      <dsp:spPr>
        <a:xfrm rot="10800000">
          <a:off x="0" y="2475359"/>
          <a:ext cx="8229600" cy="124909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solidFill>
                <a:schemeClr val="tx1"/>
              </a:solidFill>
            </a:rPr>
            <a:t>Objective setting </a:t>
          </a:r>
          <a:endParaRPr lang="en-US" sz="2800" kern="1200" dirty="0">
            <a:solidFill>
              <a:schemeClr val="tx1"/>
            </a:solidFill>
          </a:endParaRPr>
        </a:p>
      </dsp:txBody>
      <dsp:txXfrm rot="10800000">
        <a:off x="0" y="2475359"/>
        <a:ext cx="8229600" cy="811623"/>
      </dsp:txXfrm>
    </dsp:sp>
    <dsp:sp modelId="{C77519A7-18C5-4C8E-A341-2F131C19096B}">
      <dsp:nvSpPr>
        <dsp:cNvPr id="0" name=""/>
        <dsp:cNvSpPr/>
      </dsp:nvSpPr>
      <dsp:spPr>
        <a:xfrm rot="10800000">
          <a:off x="0" y="1238449"/>
          <a:ext cx="8229600" cy="124909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Development of performance standards</a:t>
          </a:r>
        </a:p>
      </dsp:txBody>
      <dsp:txXfrm rot="10800000">
        <a:off x="0" y="1238449"/>
        <a:ext cx="8229600" cy="811623"/>
      </dsp:txXfrm>
    </dsp:sp>
    <dsp:sp modelId="{CE40A4EE-4D66-4809-8765-785C3A2C7C8C}">
      <dsp:nvSpPr>
        <dsp:cNvPr id="0" name=""/>
        <dsp:cNvSpPr/>
      </dsp:nvSpPr>
      <dsp:spPr>
        <a:xfrm rot="10800000">
          <a:off x="0" y="0"/>
          <a:ext cx="8229600" cy="1249092"/>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GB" sz="2800" kern="1200" dirty="0">
              <a:solidFill>
                <a:schemeClr val="tx1"/>
              </a:solidFill>
            </a:rPr>
            <a:t>Job review agreement </a:t>
          </a:r>
          <a:endParaRPr lang="en-US" sz="2800" kern="1200" dirty="0">
            <a:solidFill>
              <a:schemeClr val="tx1"/>
            </a:solidFill>
          </a:endParaRPr>
        </a:p>
      </dsp:txBody>
      <dsp:txXfrm rot="10800000">
        <a:off x="0" y="0"/>
        <a:ext cx="8229600" cy="81162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6C6C89-6CDA-4F01-B818-9994BE005E7E}" type="datetimeFigureOut">
              <a:rPr lang="en-US" smtClean="0"/>
              <a:t>7/16/2026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36239D-2A38-4260-90BA-BAED6A1AFB7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FFC3529-ED42-4AB8-87CE-FCC41C79D83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FC3529-ED42-4AB8-87CE-FCC41C79D83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FC3529-ED42-4AB8-87CE-FCC41C79D83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FFC3529-ED42-4AB8-87CE-FCC41C79D83B}"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FFC3529-ED42-4AB8-87CE-FCC41C79D83B}"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FFC3529-ED42-4AB8-87CE-FCC41C79D83B}"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FC3529-ED42-4AB8-87CE-FCC41C79D83B}"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FC3529-ED42-4AB8-87CE-FCC41C79D83B}"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FC3529-ED42-4AB8-87CE-FCC41C79D83B}"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FC3529-ED42-4AB8-87CE-FCC41C79D83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FC3529-ED42-4AB8-87CE-FCC41C79D83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FA7F85-E862-4919-8238-6E9CA8D464F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FC3529-ED42-4AB8-87CE-FCC41C79D83B}" type="datetimeFigureOut">
              <a:rPr lang="en-US" smtClean="0"/>
              <a:t>7/16/2026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FA7F85-E862-4919-8238-6E9CA8D464F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GB" dirty="0"/>
            </a:br>
            <a:r>
              <a:rPr lang="en-GB" dirty="0"/>
              <a:t>PERFORMANCE AND POTENTIAL APPRAISAL</a:t>
            </a:r>
            <a:br>
              <a:rPr lang="en-US" dirty="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normAutofit fontScale="90000"/>
          </a:bodyPr>
          <a:lstStyle/>
          <a:p>
            <a:r>
              <a:rPr lang="en-US" dirty="0"/>
              <a:t>Nature of Performance Management</a:t>
            </a:r>
          </a:p>
        </p:txBody>
      </p:sp>
      <p:sp>
        <p:nvSpPr>
          <p:cNvPr id="3" name="Content Placeholder 2"/>
          <p:cNvSpPr>
            <a:spLocks noGrp="1"/>
          </p:cNvSpPr>
          <p:nvPr>
            <p:ph idx="1"/>
          </p:nvPr>
        </p:nvSpPr>
        <p:spPr>
          <a:xfrm>
            <a:off x="457200" y="1142984"/>
            <a:ext cx="8229600" cy="5429288"/>
          </a:xfrm>
        </p:spPr>
        <p:txBody>
          <a:bodyPr>
            <a:normAutofit fontScale="85000" lnSpcReduction="10000"/>
          </a:bodyPr>
          <a:lstStyle/>
          <a:p>
            <a:r>
              <a:rPr lang="en-US" dirty="0"/>
              <a:t>Performance Management </a:t>
            </a:r>
          </a:p>
          <a:p>
            <a:pPr marL="539750" indent="-269875">
              <a:buFont typeface="Wingdings" panose="05000000000000000000" pitchFamily="2" charset="2"/>
              <a:buChar char="Ø"/>
            </a:pPr>
            <a:r>
              <a:rPr lang="en-US" dirty="0"/>
              <a:t> Processes used to identify, encourage, measure, evaluate, improve, and reward employee performance</a:t>
            </a:r>
          </a:p>
          <a:p>
            <a:pPr marL="900430" indent="-269875">
              <a:buFont typeface="Wingdings" panose="05000000000000000000" pitchFamily="2" charset="2"/>
              <a:buChar char="§"/>
            </a:pPr>
            <a:r>
              <a:rPr lang="en-US" dirty="0"/>
              <a:t> Provide information to employees about their performance. </a:t>
            </a:r>
          </a:p>
          <a:p>
            <a:pPr marL="900430" indent="-269875">
              <a:buFont typeface="Wingdings" panose="05000000000000000000" pitchFamily="2" charset="2"/>
              <a:buChar char="§"/>
            </a:pPr>
            <a:r>
              <a:rPr lang="en-US" dirty="0"/>
              <a:t> Clarify organizational performance expectations. </a:t>
            </a:r>
          </a:p>
          <a:p>
            <a:pPr marL="900430" indent="-269875">
              <a:buFont typeface="Wingdings" panose="05000000000000000000" pitchFamily="2" charset="2"/>
              <a:buChar char="§"/>
            </a:pPr>
            <a:r>
              <a:rPr lang="en-US" dirty="0"/>
              <a:t> Identify the development steps that are needed to enhance employee performance. </a:t>
            </a:r>
          </a:p>
          <a:p>
            <a:pPr marL="900430" indent="-269875">
              <a:buFont typeface="Wingdings" panose="05000000000000000000" pitchFamily="2" charset="2"/>
              <a:buChar char="§"/>
            </a:pPr>
            <a:r>
              <a:rPr lang="en-US" dirty="0"/>
              <a:t> Document performance for personnel actions. </a:t>
            </a:r>
          </a:p>
          <a:p>
            <a:pPr marL="900430" indent="-269875">
              <a:buFont typeface="Wingdings" panose="05000000000000000000" pitchFamily="2" charset="2"/>
              <a:buChar char="§"/>
            </a:pPr>
            <a:r>
              <a:rPr lang="en-US" dirty="0"/>
              <a:t> Provide rewards for achieving performance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cstate="print"/>
          <a:srcRect/>
          <a:stretch>
            <a:fillRect/>
          </a:stretch>
        </p:blipFill>
        <p:spPr bwMode="auto">
          <a:xfrm>
            <a:off x="500034" y="285728"/>
            <a:ext cx="8286808" cy="6143668"/>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Difference Between Performance Management Performance Appraisals</a:t>
            </a:r>
          </a:p>
        </p:txBody>
      </p:sp>
      <p:sp>
        <p:nvSpPr>
          <p:cNvPr id="4" name="Content Placeholder 3"/>
          <p:cNvSpPr>
            <a:spLocks noGrp="1"/>
          </p:cNvSpPr>
          <p:nvPr>
            <p:ph sz="half" idx="1"/>
          </p:nvPr>
        </p:nvSpPr>
        <p:spPr>
          <a:xfrm>
            <a:off x="457200" y="1600201"/>
            <a:ext cx="4186238" cy="3471874"/>
          </a:xfrm>
        </p:spPr>
        <p:txBody>
          <a:bodyPr/>
          <a:lstStyle/>
          <a:p>
            <a:pPr>
              <a:buNone/>
            </a:pPr>
            <a:r>
              <a:rPr lang="en-US" b="1" dirty="0"/>
              <a:t>Performance Management</a:t>
            </a:r>
          </a:p>
          <a:p>
            <a:pPr>
              <a:buFont typeface="Wingdings" panose="05000000000000000000" pitchFamily="2" charset="2"/>
              <a:buChar char="q"/>
            </a:pPr>
            <a:r>
              <a:rPr lang="en-US" dirty="0"/>
              <a:t> Processes used to identify, encourage, measure, evaluate, improve, and reward employee performance</a:t>
            </a:r>
          </a:p>
        </p:txBody>
      </p:sp>
      <p:sp>
        <p:nvSpPr>
          <p:cNvPr id="5" name="Content Placeholder 4"/>
          <p:cNvSpPr>
            <a:spLocks noGrp="1"/>
          </p:cNvSpPr>
          <p:nvPr>
            <p:ph sz="half" idx="2"/>
          </p:nvPr>
        </p:nvSpPr>
        <p:spPr>
          <a:xfrm>
            <a:off x="4648200" y="1600201"/>
            <a:ext cx="4038600" cy="3686188"/>
          </a:xfrm>
        </p:spPr>
        <p:txBody>
          <a:bodyPr/>
          <a:lstStyle/>
          <a:p>
            <a:pPr>
              <a:buNone/>
            </a:pPr>
            <a:r>
              <a:rPr lang="en-US" b="1" dirty="0"/>
              <a:t>Performance Appraisal </a:t>
            </a:r>
          </a:p>
          <a:p>
            <a:pPr>
              <a:buFont typeface="Wingdings" panose="05000000000000000000" pitchFamily="2" charset="2"/>
              <a:buChar char="q"/>
            </a:pPr>
            <a:r>
              <a:rPr lang="en-US" dirty="0"/>
              <a:t> The process of evaluating how well employees perform their jobs and then communicating that information to the employees. </a:t>
            </a:r>
          </a:p>
        </p:txBody>
      </p:sp>
      <p:pic>
        <p:nvPicPr>
          <p:cNvPr id="1026" name="Picture 2"/>
          <p:cNvPicPr>
            <a:picLocks noChangeAspect="1" noChangeArrowheads="1"/>
          </p:cNvPicPr>
          <p:nvPr/>
        </p:nvPicPr>
        <p:blipFill>
          <a:blip r:embed="rId2" cstate="print"/>
          <a:srcRect/>
          <a:stretch>
            <a:fillRect/>
          </a:stretch>
        </p:blipFill>
        <p:spPr bwMode="auto">
          <a:xfrm>
            <a:off x="285720" y="5214950"/>
            <a:ext cx="8215370" cy="137636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868346"/>
          </a:xfrm>
        </p:spPr>
        <p:txBody>
          <a:bodyPr>
            <a:noAutofit/>
          </a:bodyPr>
          <a:lstStyle/>
          <a:p>
            <a:r>
              <a:rPr lang="en-US" sz="3200" b="1" dirty="0"/>
              <a:t>Identifying and Measuring Employee Performance</a:t>
            </a:r>
            <a:endParaRPr lang="en-US" sz="3200" dirty="0"/>
          </a:p>
        </p:txBody>
      </p:sp>
      <p:sp>
        <p:nvSpPr>
          <p:cNvPr id="5" name="Content Placeholder 4"/>
          <p:cNvSpPr>
            <a:spLocks noGrp="1"/>
          </p:cNvSpPr>
          <p:nvPr>
            <p:ph sz="half" idx="1"/>
          </p:nvPr>
        </p:nvSpPr>
        <p:spPr>
          <a:xfrm>
            <a:off x="500034" y="2143116"/>
            <a:ext cx="4038600" cy="1714512"/>
          </a:xfrm>
        </p:spPr>
        <p:txBody>
          <a:bodyPr>
            <a:normAutofit/>
          </a:bodyPr>
          <a:lstStyle/>
          <a:p>
            <a:r>
              <a:rPr lang="en-US" dirty="0"/>
              <a:t>Quantity of output</a:t>
            </a:r>
          </a:p>
          <a:p>
            <a:r>
              <a:rPr lang="en-US" dirty="0"/>
              <a:t>Timeliness of output</a:t>
            </a:r>
          </a:p>
          <a:p>
            <a:r>
              <a:rPr lang="en-US" dirty="0"/>
              <a:t>Cooperativeness </a:t>
            </a:r>
          </a:p>
        </p:txBody>
      </p:sp>
      <p:sp>
        <p:nvSpPr>
          <p:cNvPr id="6" name="Content Placeholder 5"/>
          <p:cNvSpPr>
            <a:spLocks noGrp="1"/>
          </p:cNvSpPr>
          <p:nvPr>
            <p:ph sz="half" idx="2"/>
          </p:nvPr>
        </p:nvSpPr>
        <p:spPr>
          <a:xfrm>
            <a:off x="4643438" y="2143116"/>
            <a:ext cx="4038600" cy="1285884"/>
          </a:xfrm>
        </p:spPr>
        <p:txBody>
          <a:bodyPr>
            <a:normAutofit/>
          </a:bodyPr>
          <a:lstStyle/>
          <a:p>
            <a:pPr>
              <a:buNone/>
            </a:pPr>
            <a:r>
              <a:rPr lang="en-US" dirty="0"/>
              <a:t>Quality of output  Presence at work</a:t>
            </a:r>
          </a:p>
          <a:p>
            <a:endParaRPr lang="en-US" dirty="0"/>
          </a:p>
        </p:txBody>
      </p:sp>
      <p:pic>
        <p:nvPicPr>
          <p:cNvPr id="7" name="Picture 2"/>
          <p:cNvPicPr>
            <a:picLocks noChangeAspect="1" noChangeArrowheads="1"/>
          </p:cNvPicPr>
          <p:nvPr/>
        </p:nvPicPr>
        <p:blipFill>
          <a:blip r:embed="rId2" cstate="print"/>
          <a:srcRect/>
          <a:stretch>
            <a:fillRect/>
          </a:stretch>
        </p:blipFill>
        <p:spPr bwMode="auto">
          <a:xfrm>
            <a:off x="571472" y="4572008"/>
            <a:ext cx="7858180" cy="2071702"/>
          </a:xfrm>
          <a:prstGeom prst="rect">
            <a:avLst/>
          </a:prstGeom>
          <a:noFill/>
          <a:ln w="9525">
            <a:noFill/>
            <a:miter lim="800000"/>
            <a:headEnd/>
            <a:tailEnd/>
          </a:ln>
          <a:effectLst/>
        </p:spPr>
      </p:pic>
      <p:sp>
        <p:nvSpPr>
          <p:cNvPr id="8" name="TextBox 7"/>
          <p:cNvSpPr txBox="1"/>
          <p:nvPr/>
        </p:nvSpPr>
        <p:spPr>
          <a:xfrm>
            <a:off x="642910" y="1214422"/>
            <a:ext cx="7858180" cy="954107"/>
          </a:xfrm>
          <a:prstGeom prst="rect">
            <a:avLst/>
          </a:prstGeom>
          <a:noFill/>
        </p:spPr>
        <p:txBody>
          <a:bodyPr wrap="square" rtlCol="0">
            <a:spAutoFit/>
          </a:bodyPr>
          <a:lstStyle/>
          <a:p>
            <a:pPr>
              <a:buFont typeface="Wingdings" panose="05000000000000000000" pitchFamily="2" charset="2"/>
              <a:buChar char="§"/>
            </a:pPr>
            <a:r>
              <a:rPr lang="en-US" sz="2800" dirty="0"/>
              <a:t>Performance</a:t>
            </a:r>
          </a:p>
          <a:p>
            <a:pPr>
              <a:buFont typeface="Wingdings" panose="05000000000000000000" pitchFamily="2" charset="2"/>
              <a:buChar char="Ø"/>
            </a:pPr>
            <a:r>
              <a:rPr lang="en-US" sz="2800" dirty="0"/>
              <a:t>What an employee does and does not do.</a:t>
            </a:r>
          </a:p>
        </p:txBody>
      </p:sp>
      <p:sp>
        <p:nvSpPr>
          <p:cNvPr id="9" name="TextBox 8"/>
          <p:cNvSpPr txBox="1"/>
          <p:nvPr/>
        </p:nvSpPr>
        <p:spPr>
          <a:xfrm>
            <a:off x="714348" y="3643314"/>
            <a:ext cx="7500990" cy="954107"/>
          </a:xfrm>
          <a:prstGeom prst="rect">
            <a:avLst/>
          </a:prstGeom>
          <a:noFill/>
        </p:spPr>
        <p:txBody>
          <a:bodyPr wrap="square" rtlCol="0">
            <a:spAutoFit/>
          </a:bodyPr>
          <a:lstStyle/>
          <a:p>
            <a:pPr>
              <a:buFont typeface="Wingdings" panose="05000000000000000000" pitchFamily="2" charset="2"/>
              <a:buChar char="§"/>
            </a:pPr>
            <a:r>
              <a:rPr lang="en-US" sz="2800" dirty="0"/>
              <a:t>Job Criteria </a:t>
            </a:r>
          </a:p>
          <a:p>
            <a:pPr>
              <a:buFont typeface="Wingdings" panose="05000000000000000000" pitchFamily="2" charset="2"/>
              <a:buChar char="Ø"/>
            </a:pPr>
            <a:r>
              <a:rPr lang="en-US" sz="2800" dirty="0"/>
              <a:t>Important elements in a given job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Performance Standards </a:t>
            </a:r>
          </a:p>
        </p:txBody>
      </p:sp>
      <p:sp>
        <p:nvSpPr>
          <p:cNvPr id="3" name="Content Placeholder 2"/>
          <p:cNvSpPr>
            <a:spLocks noGrp="1"/>
          </p:cNvSpPr>
          <p:nvPr>
            <p:ph idx="1"/>
          </p:nvPr>
        </p:nvSpPr>
        <p:spPr/>
        <p:txBody>
          <a:bodyPr/>
          <a:lstStyle/>
          <a:p>
            <a:r>
              <a:rPr lang="en-US" dirty="0"/>
              <a:t>Performance Standards</a:t>
            </a:r>
          </a:p>
          <a:p>
            <a:pPr>
              <a:buFont typeface="Wingdings" panose="05000000000000000000" pitchFamily="2" charset="2"/>
              <a:buChar char="v"/>
            </a:pPr>
            <a:r>
              <a:rPr lang="en-US" dirty="0"/>
              <a:t>Expected levels of performance</a:t>
            </a:r>
          </a:p>
          <a:p>
            <a:pPr marL="719455" indent="-358775">
              <a:buFont typeface="Wingdings" panose="05000000000000000000" pitchFamily="2" charset="2"/>
              <a:buChar char="Ø"/>
            </a:pPr>
            <a:r>
              <a:rPr lang="en-US" dirty="0"/>
              <a:t>Benchmarks, goals, and targets</a:t>
            </a:r>
          </a:p>
          <a:p>
            <a:r>
              <a:rPr lang="en-US" dirty="0"/>
              <a:t>Characteristics of well-defined standards</a:t>
            </a:r>
          </a:p>
          <a:p>
            <a:pPr indent="466725">
              <a:buFont typeface="Wingdings" panose="05000000000000000000" pitchFamily="2" charset="2"/>
              <a:buChar char="Ø"/>
            </a:pPr>
            <a:r>
              <a:rPr lang="en-US" dirty="0"/>
              <a:t>Realistic</a:t>
            </a:r>
          </a:p>
          <a:p>
            <a:pPr indent="466725">
              <a:buFont typeface="Wingdings" panose="05000000000000000000" pitchFamily="2" charset="2"/>
              <a:buChar char="Ø"/>
            </a:pPr>
            <a:r>
              <a:rPr lang="en-US" dirty="0"/>
              <a:t>Measurable</a:t>
            </a:r>
          </a:p>
          <a:p>
            <a:pPr indent="466725">
              <a:buFont typeface="Wingdings" panose="05000000000000000000" pitchFamily="2" charset="2"/>
              <a:buChar char="Ø"/>
            </a:pPr>
            <a:r>
              <a:rPr lang="en-US" dirty="0"/>
              <a:t>Clearly understood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Performance Appraisal </a:t>
            </a:r>
          </a:p>
        </p:txBody>
      </p:sp>
      <p:sp>
        <p:nvSpPr>
          <p:cNvPr id="3" name="Content Placeholder 2"/>
          <p:cNvSpPr>
            <a:spLocks noGrp="1"/>
          </p:cNvSpPr>
          <p:nvPr>
            <p:ph idx="1"/>
          </p:nvPr>
        </p:nvSpPr>
        <p:spPr/>
        <p:txBody>
          <a:bodyPr>
            <a:normAutofit fontScale="92500" lnSpcReduction="20000"/>
          </a:bodyPr>
          <a:lstStyle/>
          <a:p>
            <a:r>
              <a:rPr lang="en-US" dirty="0"/>
              <a:t>Performance Appraisal (PA)</a:t>
            </a:r>
          </a:p>
          <a:p>
            <a:pPr>
              <a:buFont typeface="Wingdings" panose="05000000000000000000" pitchFamily="2" charset="2"/>
              <a:buChar char="v"/>
            </a:pPr>
            <a:r>
              <a:rPr lang="en-US" dirty="0"/>
              <a:t>The process of evaluating how well employees perform their jobs when compared to a set of standards, and then communicating the information to employees.</a:t>
            </a:r>
          </a:p>
          <a:p>
            <a:pPr>
              <a:buFont typeface="Wingdings" panose="05000000000000000000" pitchFamily="2" charset="2"/>
              <a:buChar char="v"/>
            </a:pPr>
            <a:r>
              <a:rPr lang="en-US" dirty="0"/>
              <a:t>Informal Appraisal</a:t>
            </a:r>
          </a:p>
          <a:p>
            <a:pPr marL="539750" indent="-269875">
              <a:buFont typeface="Wingdings" panose="05000000000000000000" pitchFamily="2" charset="2"/>
              <a:buChar char="q"/>
              <a:tabLst>
                <a:tab pos="179070" algn="l"/>
              </a:tabLst>
            </a:pPr>
            <a:r>
              <a:rPr lang="en-US" dirty="0"/>
              <a:t>Day-to-day contacts, largely undocumented</a:t>
            </a:r>
          </a:p>
          <a:p>
            <a:pPr marL="539750" indent="-539750">
              <a:buFont typeface="Wingdings" panose="05000000000000000000" pitchFamily="2" charset="2"/>
              <a:buChar char="v"/>
              <a:tabLst>
                <a:tab pos="179070" algn="l"/>
              </a:tabLst>
            </a:pPr>
            <a:r>
              <a:rPr lang="en-US" dirty="0"/>
              <a:t>Systematic Appraisal</a:t>
            </a:r>
          </a:p>
          <a:p>
            <a:pPr marL="539750" indent="-269875">
              <a:buFont typeface="Wingdings" panose="05000000000000000000" pitchFamily="2" charset="2"/>
              <a:buChar char="q"/>
              <a:tabLst>
                <a:tab pos="179070" algn="l"/>
              </a:tabLst>
            </a:pPr>
            <a:r>
              <a:rPr lang="en-US" dirty="0"/>
              <a:t>Formal contact at regular time intervals, usually documented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Performance Appraisal Process</a:t>
            </a:r>
            <a:endParaRPr lang="en-US" dirty="0"/>
          </a:p>
        </p:txBody>
      </p:sp>
      <p:pic>
        <p:nvPicPr>
          <p:cNvPr id="14339" name="Picture 3"/>
          <p:cNvPicPr>
            <a:picLocks noGrp="1" noChangeAspect="1" noChangeArrowheads="1"/>
          </p:cNvPicPr>
          <p:nvPr>
            <p:ph idx="1"/>
          </p:nvPr>
        </p:nvPicPr>
        <p:blipFill>
          <a:blip r:embed="rId2" cstate="print"/>
          <a:srcRect/>
          <a:stretch>
            <a:fillRect/>
          </a:stretch>
        </p:blipFill>
        <p:spPr bwMode="auto">
          <a:xfrm>
            <a:off x="990600" y="1677194"/>
            <a:ext cx="7162800" cy="43719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Why Do We Conduct Performance Appraisals? </a:t>
            </a:r>
            <a:br>
              <a:rPr lang="en-US" dirty="0"/>
            </a:br>
            <a:endParaRPr lang="en-US" dirty="0"/>
          </a:p>
        </p:txBody>
      </p:sp>
      <p:sp>
        <p:nvSpPr>
          <p:cNvPr id="3" name="Content Placeholder 2"/>
          <p:cNvSpPr>
            <a:spLocks noGrp="1"/>
          </p:cNvSpPr>
          <p:nvPr>
            <p:ph idx="1"/>
          </p:nvPr>
        </p:nvSpPr>
        <p:spPr/>
        <p:txBody>
          <a:bodyPr/>
          <a:lstStyle/>
          <a:p>
            <a:r>
              <a:rPr lang="en-US" dirty="0"/>
              <a:t>Communicating</a:t>
            </a:r>
          </a:p>
          <a:p>
            <a:r>
              <a:rPr lang="en-US" dirty="0"/>
              <a:t>Decision Making (Evaluating) </a:t>
            </a:r>
          </a:p>
          <a:p>
            <a:r>
              <a:rPr lang="en-US" dirty="0"/>
              <a:t>Motivating (Developing) </a:t>
            </a:r>
          </a:p>
          <a:p>
            <a:r>
              <a:rPr lang="en-US" dirty="0"/>
              <a:t>Evaluating and Motivating (Development)</a:t>
            </a:r>
          </a:p>
          <a:p>
            <a:pPr marL="628650" indent="1905">
              <a:buNone/>
            </a:pPr>
            <a:r>
              <a:rPr lang="en-US" i="1" dirty="0"/>
              <a:t>Evaluating is about assessing past performance, and motivating is about developing employees to improve their future performance.</a:t>
            </a: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Performance appraisal has three basic functions: (1) to provide adequate feedback to each person on his or her performance; (2) to serve as a basis for modifying or changing behavior toward more effective working habits; and (3) to provide data to managers with which they may judge future job assignments and compensation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82660"/>
          </a:xfrm>
        </p:spPr>
        <p:txBody>
          <a:bodyPr>
            <a:normAutofit/>
          </a:bodyPr>
          <a:lstStyle/>
          <a:p>
            <a:r>
              <a:rPr lang="en-US" dirty="0"/>
              <a:t>Types of Information evaluated</a:t>
            </a:r>
          </a:p>
        </p:txBody>
      </p:sp>
      <p:pic>
        <p:nvPicPr>
          <p:cNvPr id="12290" name="Picture 2"/>
          <p:cNvPicPr>
            <a:picLocks noGrp="1" noChangeAspect="1" noChangeArrowheads="1"/>
          </p:cNvPicPr>
          <p:nvPr>
            <p:ph idx="1"/>
          </p:nvPr>
        </p:nvPicPr>
        <p:blipFill>
          <a:blip r:embed="rId2" cstate="print"/>
          <a:srcRect/>
          <a:stretch>
            <a:fillRect/>
          </a:stretch>
        </p:blipFill>
        <p:spPr bwMode="auto">
          <a:xfrm>
            <a:off x="571472" y="1142984"/>
            <a:ext cx="7786742" cy="2643206"/>
          </a:xfrm>
          <a:prstGeom prst="rect">
            <a:avLst/>
          </a:prstGeom>
          <a:noFill/>
          <a:ln w="9525">
            <a:noFill/>
            <a:miter lim="800000"/>
            <a:headEnd/>
            <a:tailEnd/>
          </a:ln>
          <a:effectLst/>
        </p:spPr>
      </p:pic>
      <p:sp>
        <p:nvSpPr>
          <p:cNvPr id="4" name="TextBox 3"/>
          <p:cNvSpPr txBox="1"/>
          <p:nvPr/>
        </p:nvSpPr>
        <p:spPr>
          <a:xfrm>
            <a:off x="285720" y="3857628"/>
            <a:ext cx="7786742" cy="2677656"/>
          </a:xfrm>
          <a:prstGeom prst="rect">
            <a:avLst/>
          </a:prstGeom>
          <a:noFill/>
        </p:spPr>
        <p:txBody>
          <a:bodyPr wrap="square" rtlCol="0">
            <a:spAutoFit/>
          </a:bodyPr>
          <a:lstStyle/>
          <a:p>
            <a:pPr marL="269875" indent="-269875">
              <a:buFont typeface="Arial" panose="020B0604020202020204" pitchFamily="34" charset="0"/>
              <a:buChar char="•"/>
            </a:pPr>
            <a:r>
              <a:rPr lang="en-US" sz="2800" b="1" dirty="0"/>
              <a:t>Traits </a:t>
            </a:r>
            <a:r>
              <a:rPr lang="en-US" sz="2800" dirty="0"/>
              <a:t>: identify the physical or psychological characteristics of a person </a:t>
            </a:r>
          </a:p>
          <a:p>
            <a:pPr marL="269875" indent="-269875">
              <a:buFont typeface="Arial" panose="020B0604020202020204" pitchFamily="34" charset="0"/>
              <a:buChar char="•"/>
            </a:pPr>
            <a:r>
              <a:rPr lang="en-US" sz="2800" b="1" dirty="0"/>
              <a:t>Behaviors</a:t>
            </a:r>
            <a:r>
              <a:rPr lang="en-US" sz="2800" dirty="0"/>
              <a:t>  are the actions taken by individuals (the things that they do and say ).</a:t>
            </a:r>
          </a:p>
          <a:p>
            <a:pPr marL="269875" indent="-269875">
              <a:buFont typeface="Arial" panose="020B0604020202020204" pitchFamily="34" charset="0"/>
              <a:buChar char="•"/>
            </a:pPr>
            <a:r>
              <a:rPr lang="en-US" sz="2800" dirty="0"/>
              <a:t>Results are measure of the goals achieved through a work process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Criticisms of Performance Appraisal</a:t>
            </a:r>
            <a:br>
              <a:rPr lang="en-US" dirty="0"/>
            </a:b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Focus is too much on the individual and does little to develop employees.</a:t>
            </a:r>
          </a:p>
          <a:p>
            <a:pPr>
              <a:buFont typeface="Wingdings" panose="05000000000000000000" pitchFamily="2" charset="2"/>
              <a:buChar char="§"/>
            </a:pPr>
            <a:r>
              <a:rPr lang="en-US" dirty="0"/>
              <a:t>Employees and supervisors believe the appraisal process is seriously flawed.</a:t>
            </a:r>
          </a:p>
          <a:p>
            <a:pPr>
              <a:buFont typeface="Wingdings" panose="05000000000000000000" pitchFamily="2" charset="2"/>
              <a:buChar char="§"/>
            </a:pPr>
            <a:r>
              <a:rPr lang="en-US" dirty="0"/>
              <a:t>Appraisals are inconsistent, short-term oriented, subjective, and useful only at the extremes of performance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Typical Division of HR Responsibilities:</a:t>
            </a:r>
            <a:br>
              <a:rPr lang="en-US" dirty="0"/>
            </a:br>
            <a:r>
              <a:rPr lang="en-US" dirty="0"/>
              <a:t>Performance Appraisal</a:t>
            </a:r>
          </a:p>
        </p:txBody>
      </p:sp>
      <p:pic>
        <p:nvPicPr>
          <p:cNvPr id="5122" name="Picture 2"/>
          <p:cNvPicPr>
            <a:picLocks noGrp="1" noChangeAspect="1" noChangeArrowheads="1"/>
          </p:cNvPicPr>
          <p:nvPr>
            <p:ph idx="1"/>
          </p:nvPr>
        </p:nvPicPr>
        <p:blipFill>
          <a:blip r:embed="rId2" cstate="print"/>
          <a:srcRect/>
          <a:stretch>
            <a:fillRect/>
          </a:stretch>
        </p:blipFill>
        <p:spPr bwMode="auto">
          <a:xfrm>
            <a:off x="714348" y="1714488"/>
            <a:ext cx="8429652" cy="285752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14290"/>
            <a:ext cx="8229600" cy="1143000"/>
          </a:xfrm>
        </p:spPr>
        <p:txBody>
          <a:bodyPr>
            <a:normAutofit/>
          </a:bodyPr>
          <a:lstStyle/>
          <a:p>
            <a:r>
              <a:rPr lang="en-US" dirty="0"/>
              <a:t>Who conducts appraisal </a:t>
            </a:r>
          </a:p>
        </p:txBody>
      </p:sp>
      <p:sp>
        <p:nvSpPr>
          <p:cNvPr id="3" name="Content Placeholder 2"/>
          <p:cNvSpPr>
            <a:spLocks noGrp="1"/>
          </p:cNvSpPr>
          <p:nvPr>
            <p:ph idx="1"/>
          </p:nvPr>
        </p:nvSpPr>
        <p:spPr/>
        <p:txBody>
          <a:bodyPr/>
          <a:lstStyle/>
          <a:p>
            <a:r>
              <a:rPr lang="en-US" dirty="0"/>
              <a:t>Supervisors who rate their subordinates</a:t>
            </a:r>
          </a:p>
          <a:p>
            <a:r>
              <a:rPr lang="en-US" dirty="0"/>
              <a:t>Employees who rate their supervisors</a:t>
            </a:r>
          </a:p>
          <a:p>
            <a:r>
              <a:rPr lang="en-US" dirty="0"/>
              <a:t> Team members who rate each other</a:t>
            </a:r>
          </a:p>
          <a:p>
            <a:r>
              <a:rPr lang="en-US" dirty="0"/>
              <a:t>Employees’ self-appraisal</a:t>
            </a:r>
          </a:p>
          <a:p>
            <a:r>
              <a:rPr lang="en-US" dirty="0"/>
              <a:t> Outside sources rating employees</a:t>
            </a:r>
          </a:p>
          <a:p>
            <a:r>
              <a:rPr lang="en-US" dirty="0"/>
              <a:t>Multisource (360° feedback) appraisal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Employee rating managers </a:t>
            </a:r>
            <a:endParaRPr lang="en-US" dirty="0"/>
          </a:p>
        </p:txBody>
      </p:sp>
      <p:sp>
        <p:nvSpPr>
          <p:cNvPr id="4" name="Content Placeholder 3"/>
          <p:cNvSpPr>
            <a:spLocks noGrp="1"/>
          </p:cNvSpPr>
          <p:nvPr>
            <p:ph sz="half" idx="1"/>
          </p:nvPr>
        </p:nvSpPr>
        <p:spPr/>
        <p:txBody>
          <a:bodyPr>
            <a:normAutofit fontScale="92500" lnSpcReduction="10000"/>
          </a:bodyPr>
          <a:lstStyle/>
          <a:p>
            <a:r>
              <a:rPr lang="en-US" sz="3000" b="1" dirty="0"/>
              <a:t>Advantages</a:t>
            </a:r>
          </a:p>
          <a:p>
            <a:pPr>
              <a:buFont typeface="Wingdings" panose="05000000000000000000" pitchFamily="2" charset="2"/>
              <a:buChar char="§"/>
            </a:pPr>
            <a:r>
              <a:rPr lang="en-US" dirty="0"/>
              <a:t>Helps in identifying competent managers</a:t>
            </a:r>
          </a:p>
          <a:p>
            <a:pPr>
              <a:buFont typeface="Wingdings" panose="05000000000000000000" pitchFamily="2" charset="2"/>
              <a:buChar char="§"/>
            </a:pPr>
            <a:r>
              <a:rPr lang="en-US" dirty="0"/>
              <a:t>Serves to make managers more responsive to employees</a:t>
            </a:r>
          </a:p>
          <a:p>
            <a:pPr>
              <a:buFont typeface="Wingdings" panose="05000000000000000000" pitchFamily="2" charset="2"/>
              <a:buChar char="§"/>
            </a:pPr>
            <a:r>
              <a:rPr lang="en-US" dirty="0"/>
              <a:t>Can contribute to the career development of managers</a:t>
            </a:r>
          </a:p>
        </p:txBody>
      </p:sp>
      <p:sp>
        <p:nvSpPr>
          <p:cNvPr id="5" name="Content Placeholder 4"/>
          <p:cNvSpPr>
            <a:spLocks noGrp="1"/>
          </p:cNvSpPr>
          <p:nvPr>
            <p:ph sz="half" idx="2"/>
          </p:nvPr>
        </p:nvSpPr>
        <p:spPr/>
        <p:txBody>
          <a:bodyPr>
            <a:normAutofit fontScale="92500" lnSpcReduction="10000"/>
          </a:bodyPr>
          <a:lstStyle/>
          <a:p>
            <a:r>
              <a:rPr lang="en-US" sz="3000" b="1" dirty="0"/>
              <a:t>Disadvantages</a:t>
            </a:r>
          </a:p>
          <a:p>
            <a:pPr>
              <a:buFont typeface="Wingdings" panose="05000000000000000000" pitchFamily="2" charset="2"/>
              <a:buChar char="§"/>
            </a:pPr>
            <a:r>
              <a:rPr lang="en-US" dirty="0"/>
              <a:t>Negative reactions by managers to employee ratings</a:t>
            </a:r>
          </a:p>
          <a:p>
            <a:pPr>
              <a:buFont typeface="Wingdings" panose="05000000000000000000" pitchFamily="2" charset="2"/>
              <a:buChar char="§"/>
            </a:pPr>
            <a:r>
              <a:rPr lang="en-US" dirty="0"/>
              <a:t> Subordinates’ fear of reprisals may inhibit them from giving realistic (negative) ratings</a:t>
            </a:r>
          </a:p>
          <a:p>
            <a:pPr>
              <a:buFont typeface="Wingdings" panose="05000000000000000000" pitchFamily="2" charset="2"/>
              <a:buChar char="§"/>
            </a:pPr>
            <a:r>
              <a:rPr lang="en-US" dirty="0"/>
              <a:t>Ratings are useful only for self-improvement purposes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Team/peer rating </a:t>
            </a:r>
            <a:endParaRPr lang="en-US" dirty="0"/>
          </a:p>
        </p:txBody>
      </p:sp>
      <p:sp>
        <p:nvSpPr>
          <p:cNvPr id="3" name="Content Placeholder 2"/>
          <p:cNvSpPr>
            <a:spLocks noGrp="1"/>
          </p:cNvSpPr>
          <p:nvPr>
            <p:ph sz="half" idx="1"/>
          </p:nvPr>
        </p:nvSpPr>
        <p:spPr/>
        <p:txBody>
          <a:bodyPr>
            <a:normAutofit fontScale="92500" lnSpcReduction="10000"/>
          </a:bodyPr>
          <a:lstStyle/>
          <a:p>
            <a:r>
              <a:rPr lang="en-US" b="1" dirty="0"/>
              <a:t>Advantages</a:t>
            </a:r>
          </a:p>
          <a:p>
            <a:pPr>
              <a:buFont typeface="Wingdings" panose="05000000000000000000" pitchFamily="2" charset="2"/>
              <a:buChar char="§"/>
            </a:pPr>
            <a:r>
              <a:rPr lang="en-US" dirty="0"/>
              <a:t>Helps improve the performance of lower-rated individuals</a:t>
            </a:r>
          </a:p>
          <a:p>
            <a:pPr>
              <a:buFont typeface="Wingdings" panose="05000000000000000000" pitchFamily="2" charset="2"/>
              <a:buChar char="§"/>
            </a:pPr>
            <a:r>
              <a:rPr lang="en-US" dirty="0"/>
              <a:t>Peers have opportunity to observe other peers.</a:t>
            </a:r>
          </a:p>
          <a:p>
            <a:pPr>
              <a:buFont typeface="Wingdings" panose="05000000000000000000" pitchFamily="2" charset="2"/>
              <a:buChar char="§"/>
            </a:pPr>
            <a:r>
              <a:rPr lang="en-US" dirty="0"/>
              <a:t>Peer appraisals focus on individual contributions to teamwork and team performance.</a:t>
            </a:r>
          </a:p>
        </p:txBody>
      </p:sp>
      <p:sp>
        <p:nvSpPr>
          <p:cNvPr id="4" name="Content Placeholder 3"/>
          <p:cNvSpPr>
            <a:spLocks noGrp="1"/>
          </p:cNvSpPr>
          <p:nvPr>
            <p:ph sz="half" idx="2"/>
          </p:nvPr>
        </p:nvSpPr>
        <p:spPr/>
        <p:txBody>
          <a:bodyPr>
            <a:normAutofit fontScale="92500" lnSpcReduction="10000"/>
          </a:bodyPr>
          <a:lstStyle/>
          <a:p>
            <a:r>
              <a:rPr lang="en-US" b="1" dirty="0"/>
              <a:t>Disadvantages</a:t>
            </a:r>
          </a:p>
          <a:p>
            <a:pPr>
              <a:buFont typeface="Wingdings" panose="05000000000000000000" pitchFamily="2" charset="2"/>
              <a:buChar char="§"/>
            </a:pPr>
            <a:r>
              <a:rPr lang="en-US" dirty="0"/>
              <a:t>Can negatively affect working relationships.</a:t>
            </a:r>
          </a:p>
          <a:p>
            <a:pPr>
              <a:buFont typeface="Wingdings" panose="05000000000000000000" pitchFamily="2" charset="2"/>
              <a:buChar char="§"/>
            </a:pPr>
            <a:r>
              <a:rPr lang="en-US" dirty="0"/>
              <a:t>Can create difficulties for managers in determining individual performance.</a:t>
            </a:r>
          </a:p>
          <a:p>
            <a:pPr>
              <a:buFont typeface="Wingdings" panose="05000000000000000000" pitchFamily="2" charset="2"/>
              <a:buChar char="§"/>
            </a:pPr>
            <a:r>
              <a:rPr lang="en-US" dirty="0"/>
              <a:t>Organizational use of individual performance appraisals can hinder the development of teamwork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Multisource appraisal </a:t>
            </a:r>
          </a:p>
        </p:txBody>
      </p:sp>
      <p:pic>
        <p:nvPicPr>
          <p:cNvPr id="6146" name="Picture 2"/>
          <p:cNvPicPr>
            <a:picLocks noGrp="1" noChangeAspect="1" noChangeArrowheads="1"/>
          </p:cNvPicPr>
          <p:nvPr>
            <p:ph idx="1"/>
          </p:nvPr>
        </p:nvPicPr>
        <p:blipFill>
          <a:blip r:embed="rId2" cstate="print"/>
          <a:srcRect/>
          <a:stretch>
            <a:fillRect/>
          </a:stretch>
        </p:blipFill>
        <p:spPr bwMode="auto">
          <a:xfrm>
            <a:off x="1076325" y="1762919"/>
            <a:ext cx="6991350" cy="420052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Advantages of Multi-Source Appraisal</a:t>
            </a:r>
            <a:br>
              <a:rPr lang="en-US" altLang="en-US" dirty="0"/>
            </a:br>
            <a:endParaRPr lang="en-US" dirty="0"/>
          </a:p>
        </p:txBody>
      </p:sp>
      <p:sp>
        <p:nvSpPr>
          <p:cNvPr id="3" name="Content Placeholder 2"/>
          <p:cNvSpPr>
            <a:spLocks noGrp="1"/>
          </p:cNvSpPr>
          <p:nvPr>
            <p:ph idx="1"/>
          </p:nvPr>
        </p:nvSpPr>
        <p:spPr/>
        <p:txBody>
          <a:bodyPr>
            <a:noAutofit/>
          </a:bodyPr>
          <a:lstStyle/>
          <a:p>
            <a:pPr algn="just"/>
            <a:r>
              <a:rPr lang="en-US" altLang="en-US" dirty="0"/>
              <a:t>Improved Self-Awareness</a:t>
            </a:r>
          </a:p>
          <a:p>
            <a:pPr algn="just"/>
            <a:r>
              <a:rPr lang="en-US" altLang="en-US" dirty="0"/>
              <a:t>Enhanced Development and Growth</a:t>
            </a:r>
          </a:p>
          <a:p>
            <a:pPr algn="just"/>
            <a:r>
              <a:rPr lang="en-US" altLang="en-US" dirty="0"/>
              <a:t>Reduced Bias and Increased Fairness</a:t>
            </a:r>
          </a:p>
          <a:p>
            <a:pPr algn="just"/>
            <a:r>
              <a:rPr lang="en-US" altLang="en-US" dirty="0"/>
              <a:t>Increased Accountability and Engagement</a:t>
            </a:r>
          </a:p>
          <a:p>
            <a:pPr algn="just"/>
            <a:r>
              <a:rPr lang="en-US" altLang="en-US" dirty="0"/>
              <a:t>Improved Communication and Collaboration</a:t>
            </a:r>
          </a:p>
          <a:p>
            <a:pPr algn="just"/>
            <a:r>
              <a:rPr lang="en-US" altLang="en-US" dirty="0"/>
              <a:t>Identification of High-Potential Employees</a:t>
            </a:r>
          </a:p>
          <a:p>
            <a:pPr algn="just"/>
            <a:r>
              <a:rPr lang="en-US" altLang="en-US" dirty="0"/>
              <a:t>Alignment with Organizational Goals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728BA-B08E-1BCC-DAB9-C934331C9033}"/>
              </a:ext>
            </a:extLst>
          </p:cNvPr>
          <p:cNvSpPr>
            <a:spLocks noGrp="1"/>
          </p:cNvSpPr>
          <p:nvPr>
            <p:ph type="title"/>
          </p:nvPr>
        </p:nvSpPr>
        <p:spPr/>
        <p:txBody>
          <a:bodyPr>
            <a:normAutofit fontScale="90000"/>
          </a:bodyPr>
          <a:lstStyle/>
          <a:p>
            <a:br>
              <a:rPr lang="en-GB" dirty="0"/>
            </a:br>
            <a:r>
              <a:rPr lang="en-GB" dirty="0"/>
              <a:t>Disadvantages of Multi-Source Appraisal:</a:t>
            </a:r>
            <a:br>
              <a:rPr lang="en-GB" dirty="0"/>
            </a:br>
            <a:endParaRPr lang="en-GB" dirty="0"/>
          </a:p>
        </p:txBody>
      </p:sp>
      <p:sp>
        <p:nvSpPr>
          <p:cNvPr id="3" name="Content Placeholder 2">
            <a:extLst>
              <a:ext uri="{FF2B5EF4-FFF2-40B4-BE49-F238E27FC236}">
                <a16:creationId xmlns:a16="http://schemas.microsoft.com/office/drawing/2014/main" id="{77A0FA1B-1419-1E74-5547-EADB59766644}"/>
              </a:ext>
            </a:extLst>
          </p:cNvPr>
          <p:cNvSpPr>
            <a:spLocks noGrp="1"/>
          </p:cNvSpPr>
          <p:nvPr>
            <p:ph idx="1"/>
          </p:nvPr>
        </p:nvSpPr>
        <p:spPr/>
        <p:txBody>
          <a:bodyPr>
            <a:normAutofit fontScale="77500" lnSpcReduction="20000"/>
          </a:bodyPr>
          <a:lstStyle/>
          <a:p>
            <a:r>
              <a:rPr lang="en-GB" sz="4000" dirty="0"/>
              <a:t>Time-Consuming and Resource-Intensive</a:t>
            </a:r>
          </a:p>
          <a:p>
            <a:r>
              <a:rPr lang="en-GB" sz="4000" dirty="0"/>
              <a:t>Potential for Biased or Conflicting Feedback</a:t>
            </a:r>
          </a:p>
          <a:p>
            <a:r>
              <a:rPr lang="en-GB" sz="4000" dirty="0"/>
              <a:t>Anonymity Concerns</a:t>
            </a:r>
          </a:p>
          <a:p>
            <a:r>
              <a:rPr lang="en-GB" sz="4000" dirty="0"/>
              <a:t>Information Overload and Misinterpretation</a:t>
            </a:r>
          </a:p>
          <a:p>
            <a:r>
              <a:rPr lang="en-GB" sz="4000" dirty="0"/>
              <a:t>Lack of Actionable Steps</a:t>
            </a:r>
          </a:p>
          <a:p>
            <a:r>
              <a:rPr lang="en-GB" sz="4000" dirty="0"/>
              <a:t>Negative Impact on Morale</a:t>
            </a:r>
          </a:p>
          <a:p>
            <a:r>
              <a:rPr lang="en-GB" sz="4000" dirty="0"/>
              <a:t>Requires Training and Proper Implementation</a:t>
            </a:r>
          </a:p>
          <a:p>
            <a:r>
              <a:rPr lang="en-GB" sz="4000" dirty="0"/>
              <a:t>Costly to Implement</a:t>
            </a:r>
            <a:endParaRPr lang="en-GB" dirty="0"/>
          </a:p>
        </p:txBody>
      </p:sp>
    </p:spTree>
    <p:extLst>
      <p:ext uri="{BB962C8B-B14F-4D97-AF65-F5344CB8AC3E}">
        <p14:creationId xmlns:p14="http://schemas.microsoft.com/office/powerpoint/2010/main" val="184088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a:sym typeface="+mn-ea"/>
              </a:rPr>
              <a:t>Advantages of Multi-Source Appraisal:</a:t>
            </a:r>
            <a:br>
              <a:rPr lang="en-US" altLang="en-US"/>
            </a:br>
            <a:endParaRPr lang="en-US" altLang="en-US"/>
          </a:p>
        </p:txBody>
      </p:sp>
      <p:sp>
        <p:nvSpPr>
          <p:cNvPr id="3" name="Content Placeholder 2"/>
          <p:cNvSpPr>
            <a:spLocks noGrp="1"/>
          </p:cNvSpPr>
          <p:nvPr>
            <p:ph idx="1"/>
          </p:nvPr>
        </p:nvSpPr>
        <p:spPr/>
        <p:txBody>
          <a:bodyPr/>
          <a:lstStyle/>
          <a:p>
            <a:r>
              <a:rPr lang="en-US" altLang="en-US">
                <a:sym typeface="+mn-ea"/>
              </a:rPr>
              <a:t>Improved Self-Awarenes</a:t>
            </a:r>
            <a:endParaRPr lang="en-US" altLang="en-US"/>
          </a:p>
          <a:p>
            <a:r>
              <a:rPr lang="en-US" altLang="en-US">
                <a:sym typeface="+mn-ea"/>
              </a:rPr>
              <a:t>Enhanced Development and Growth</a:t>
            </a:r>
          </a:p>
          <a:p>
            <a:r>
              <a:rPr lang="en-US" altLang="en-US">
                <a:sym typeface="+mn-ea"/>
              </a:rPr>
              <a:t>Reduced Bias and Increased Fairness</a:t>
            </a:r>
            <a:endParaRPr lang="en-US" altLang="en-US"/>
          </a:p>
          <a:p>
            <a:r>
              <a:rPr lang="en-US" altLang="en-US">
                <a:sym typeface="+mn-ea"/>
              </a:rPr>
              <a:t>Increased Accountability and Engagement</a:t>
            </a:r>
            <a:endParaRPr lang="en-US" altLang="en-US"/>
          </a:p>
          <a:p>
            <a:r>
              <a:rPr lang="en-US" altLang="en-US">
                <a:sym typeface="+mn-ea"/>
              </a:rPr>
              <a:t>Improved Communication and Collaboration</a:t>
            </a:r>
            <a:endParaRPr lang="en-US" altLang="en-US"/>
          </a:p>
          <a:p>
            <a:r>
              <a:rPr lang="en-US" altLang="en-US">
                <a:sym typeface="+mn-ea"/>
              </a:rPr>
              <a:t>Identification of High-Potential Employee</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a:sym typeface="+mn-ea"/>
              </a:rPr>
              <a:t>Disadvantages of Multi-Source Appraisal</a:t>
            </a:r>
            <a:br>
              <a:rPr lang="en-US" altLang="en-US"/>
            </a:br>
            <a:endParaRPr lang="en-US" altLang="en-US"/>
          </a:p>
        </p:txBody>
      </p:sp>
      <p:sp>
        <p:nvSpPr>
          <p:cNvPr id="3" name="Content Placeholder 2"/>
          <p:cNvSpPr>
            <a:spLocks noGrp="1"/>
          </p:cNvSpPr>
          <p:nvPr>
            <p:ph idx="1"/>
          </p:nvPr>
        </p:nvSpPr>
        <p:spPr/>
        <p:txBody>
          <a:bodyPr/>
          <a:lstStyle/>
          <a:p>
            <a:r>
              <a:rPr lang="en-US" altLang="en-US">
                <a:sym typeface="+mn-ea"/>
              </a:rPr>
              <a:t>Potential for Biased or Conflicting Feedback</a:t>
            </a:r>
            <a:endParaRPr lang="en-US" altLang="en-US"/>
          </a:p>
          <a:p>
            <a:r>
              <a:rPr lang="en-US" altLang="en-US">
                <a:sym typeface="+mn-ea"/>
              </a:rPr>
              <a:t>Anonymity Concerns</a:t>
            </a:r>
            <a:endParaRPr lang="en-US" altLang="en-US"/>
          </a:p>
          <a:p>
            <a:r>
              <a:rPr lang="en-US" altLang="en-US">
                <a:sym typeface="+mn-ea"/>
              </a:rPr>
              <a:t>Information Overload and Misinterpretation</a:t>
            </a:r>
          </a:p>
          <a:p>
            <a:r>
              <a:rPr lang="en-US" altLang="en-US">
                <a:sym typeface="+mn-ea"/>
              </a:rPr>
              <a:t>Lack of Actionable Steps</a:t>
            </a:r>
            <a:endParaRPr lang="en-US" altLang="en-US"/>
          </a:p>
          <a:p>
            <a:r>
              <a:rPr lang="en-US" altLang="en-US">
                <a:sym typeface="+mn-ea"/>
              </a:rPr>
              <a:t>Negative Impact on Morale</a:t>
            </a:r>
            <a:endParaRPr lang="en-US" altLang="en-US"/>
          </a:p>
          <a:p>
            <a:r>
              <a:rPr lang="en-US" altLang="en-US">
                <a:sym typeface="+mn-ea"/>
              </a:rPr>
              <a:t>Requires Training and Proper Implementation</a:t>
            </a:r>
          </a:p>
          <a:p>
            <a:r>
              <a:rPr lang="en-US"/>
              <a:t>costly to impliment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Performance Appraisal Measurement Methods and Forms </a:t>
            </a:r>
            <a:endParaRPr lang="en-US" dirty="0"/>
          </a:p>
        </p:txBody>
      </p:sp>
      <p:pic>
        <p:nvPicPr>
          <p:cNvPr id="15362" name="Picture 2"/>
          <p:cNvPicPr>
            <a:picLocks noGrp="1" noChangeAspect="1" noChangeArrowheads="1"/>
          </p:cNvPicPr>
          <p:nvPr>
            <p:ph idx="1"/>
          </p:nvPr>
        </p:nvPicPr>
        <p:blipFill>
          <a:blip r:embed="rId2" cstate="print"/>
          <a:srcRect/>
          <a:stretch>
            <a:fillRect/>
          </a:stretch>
        </p:blipFill>
        <p:spPr bwMode="auto">
          <a:xfrm>
            <a:off x="428596" y="1928802"/>
            <a:ext cx="8501122" cy="378621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Category scaling method</a:t>
            </a:r>
            <a:endParaRPr lang="en-US" dirty="0"/>
          </a:p>
        </p:txBody>
      </p:sp>
      <p:sp>
        <p:nvSpPr>
          <p:cNvPr id="3" name="Content Placeholder 2"/>
          <p:cNvSpPr>
            <a:spLocks noGrp="1"/>
          </p:cNvSpPr>
          <p:nvPr>
            <p:ph idx="1"/>
          </p:nvPr>
        </p:nvSpPr>
        <p:spPr/>
        <p:txBody>
          <a:bodyPr>
            <a:normAutofit/>
          </a:bodyPr>
          <a:lstStyle/>
          <a:p>
            <a:pPr>
              <a:buNone/>
            </a:pPr>
            <a:r>
              <a:rPr lang="en-US" b="1" dirty="0"/>
              <a:t>Graphic Rating Scale</a:t>
            </a:r>
          </a:p>
          <a:p>
            <a:r>
              <a:rPr lang="en-US" dirty="0"/>
              <a:t>A scale that allows the rater to indicate an employee’s performance on a continuum of job behaviors.</a:t>
            </a:r>
          </a:p>
          <a:p>
            <a:r>
              <a:rPr lang="en-US" dirty="0"/>
              <a:t>Aspects of performance measured:</a:t>
            </a:r>
          </a:p>
          <a:p>
            <a:pPr marL="719455" indent="-358775">
              <a:buFont typeface="Wingdings" panose="05000000000000000000" pitchFamily="2" charset="2"/>
              <a:buChar char="§"/>
            </a:pPr>
            <a:r>
              <a:rPr lang="en-US" dirty="0"/>
              <a:t> Descriptive categories, job duties, and behavioral dimensions</a:t>
            </a:r>
          </a:p>
          <a:p>
            <a:pPr marL="719455" indent="-358775">
              <a:buFont typeface="Wingdings" panose="05000000000000000000" pitchFamily="2" charset="2"/>
              <a:buChar char="§"/>
            </a:pPr>
            <a:r>
              <a:rPr lang="en-US" dirty="0"/>
              <a:t> Behavioral rating scales (e.g., BARS)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Drawbacks</a:t>
            </a:r>
          </a:p>
          <a:p>
            <a:pPr marL="630555" indent="-269875">
              <a:buFont typeface="Wingdings" panose="05000000000000000000" pitchFamily="2" charset="2"/>
              <a:buChar char="§"/>
              <a:tabLst>
                <a:tab pos="448945" algn="l"/>
              </a:tabLst>
            </a:pPr>
            <a:r>
              <a:rPr lang="en-US" dirty="0"/>
              <a:t> Restrictions on the range of possible rater responses</a:t>
            </a:r>
          </a:p>
          <a:p>
            <a:pPr marL="630555" indent="-269875">
              <a:buFont typeface="Wingdings" panose="05000000000000000000" pitchFamily="2" charset="2"/>
              <a:buChar char="§"/>
              <a:tabLst>
                <a:tab pos="448945" algn="l"/>
              </a:tabLst>
            </a:pPr>
            <a:r>
              <a:rPr lang="en-US" dirty="0"/>
              <a:t> Differences in the interpretations of the meanings of scale items and scale ranges by raters</a:t>
            </a:r>
          </a:p>
          <a:p>
            <a:pPr marL="630555" indent="-269875">
              <a:buFont typeface="Wingdings" panose="05000000000000000000" pitchFamily="2" charset="2"/>
              <a:buChar char="§"/>
              <a:tabLst>
                <a:tab pos="448945" algn="l"/>
              </a:tabLst>
            </a:pPr>
            <a:r>
              <a:rPr lang="en-US" dirty="0"/>
              <a:t> Poorly designed scales that encourage rater errors</a:t>
            </a:r>
          </a:p>
          <a:p>
            <a:pPr marL="630555" indent="-269875">
              <a:buFont typeface="Wingdings" panose="05000000000000000000" pitchFamily="2" charset="2"/>
              <a:buChar char="§"/>
              <a:tabLst>
                <a:tab pos="448945" algn="l"/>
              </a:tabLst>
            </a:pPr>
            <a:r>
              <a:rPr lang="en-US" dirty="0"/>
              <a:t> Rating form deficiencies limit effectiveness of the appraisal</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fontScale="90000"/>
          </a:bodyPr>
          <a:lstStyle/>
          <a:p>
            <a:br>
              <a:rPr lang="en-US" dirty="0"/>
            </a:br>
            <a:r>
              <a:rPr lang="en-US" dirty="0"/>
              <a:t>Behavioral / objective method</a:t>
            </a:r>
            <a:br>
              <a:rPr lang="en-US" dirty="0"/>
            </a:br>
            <a:endParaRPr lang="en-US" dirty="0"/>
          </a:p>
        </p:txBody>
      </p:sp>
      <p:sp>
        <p:nvSpPr>
          <p:cNvPr id="3" name="Content Placeholder 2"/>
          <p:cNvSpPr>
            <a:spLocks noGrp="1"/>
          </p:cNvSpPr>
          <p:nvPr>
            <p:ph idx="1"/>
          </p:nvPr>
        </p:nvSpPr>
        <p:spPr>
          <a:xfrm>
            <a:off x="457200" y="1285860"/>
            <a:ext cx="8229600" cy="4840303"/>
          </a:xfrm>
        </p:spPr>
        <p:txBody>
          <a:bodyPr>
            <a:normAutofit fontScale="85000" lnSpcReduction="10000"/>
          </a:bodyPr>
          <a:lstStyle/>
          <a:p>
            <a:pPr>
              <a:buNone/>
            </a:pPr>
            <a:r>
              <a:rPr lang="en-US" dirty="0"/>
              <a:t>Behavioral Rating Approach</a:t>
            </a:r>
          </a:p>
          <a:p>
            <a:pPr>
              <a:buFont typeface="Wingdings" panose="05000000000000000000" pitchFamily="2" charset="2"/>
              <a:buChar char="Ø"/>
            </a:pPr>
            <a:r>
              <a:rPr lang="en-US" dirty="0"/>
              <a:t>Assesses employees’ behaviors instead of other characteristics</a:t>
            </a:r>
          </a:p>
          <a:p>
            <a:pPr>
              <a:buFont typeface="Wingdings" panose="05000000000000000000" pitchFamily="2" charset="2"/>
              <a:buChar char="Ø"/>
            </a:pPr>
            <a:r>
              <a:rPr lang="en-US" dirty="0"/>
              <a:t>Consists of a series of scales created by:</a:t>
            </a:r>
          </a:p>
          <a:p>
            <a:pPr marL="630555" indent="-360680">
              <a:buFont typeface="Wingdings" panose="05000000000000000000" pitchFamily="2" charset="2"/>
              <a:buChar char="v"/>
            </a:pPr>
            <a:r>
              <a:rPr lang="en-US" dirty="0"/>
              <a:t>Identifying important job dimensions</a:t>
            </a:r>
          </a:p>
          <a:p>
            <a:pPr marL="630555" indent="-360680">
              <a:buFont typeface="Wingdings" panose="05000000000000000000" pitchFamily="2" charset="2"/>
              <a:buChar char="v"/>
            </a:pPr>
            <a:r>
              <a:rPr lang="en-US" dirty="0"/>
              <a:t>Creating statements describing a range of desired and undesirable behaviors (anchors)</a:t>
            </a:r>
          </a:p>
          <a:p>
            <a:pPr>
              <a:buNone/>
            </a:pPr>
            <a:r>
              <a:rPr lang="en-US" dirty="0"/>
              <a:t>Types of behavioral scales</a:t>
            </a:r>
          </a:p>
          <a:p>
            <a:pPr indent="196850">
              <a:buFont typeface="Wingdings" panose="05000000000000000000" pitchFamily="2" charset="2"/>
              <a:buChar char="q"/>
              <a:tabLst>
                <a:tab pos="629920" algn="l"/>
              </a:tabLst>
            </a:pPr>
            <a:r>
              <a:rPr lang="en-US" dirty="0"/>
              <a:t>Behaviorally anchored rating scales (BARS)</a:t>
            </a:r>
          </a:p>
          <a:p>
            <a:pPr indent="196850">
              <a:buFont typeface="Wingdings" panose="05000000000000000000" pitchFamily="2" charset="2"/>
              <a:buChar char="q"/>
              <a:tabLst>
                <a:tab pos="629920" algn="l"/>
              </a:tabLst>
            </a:pPr>
            <a:r>
              <a:rPr lang="en-US" dirty="0"/>
              <a:t>Behavioral observation scales (BOS)</a:t>
            </a:r>
          </a:p>
          <a:p>
            <a:pPr indent="196850">
              <a:buFont typeface="Wingdings" panose="05000000000000000000" pitchFamily="2" charset="2"/>
              <a:buChar char="q"/>
              <a:tabLst>
                <a:tab pos="629920" algn="l"/>
              </a:tabLst>
            </a:pPr>
            <a:r>
              <a:rPr lang="en-US" dirty="0"/>
              <a:t>Behavioral expectation scales (BES)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Behaviorally-Anchored Rating Scale</a:t>
            </a:r>
            <a:br>
              <a:rPr lang="en-US" dirty="0"/>
            </a:br>
            <a:r>
              <a:rPr lang="en-US" dirty="0"/>
              <a:t>for Customer Service Skills</a:t>
            </a:r>
          </a:p>
        </p:txBody>
      </p:sp>
      <p:pic>
        <p:nvPicPr>
          <p:cNvPr id="7170" name="Picture 2"/>
          <p:cNvPicPr>
            <a:picLocks noGrp="1" noChangeAspect="1" noChangeArrowheads="1"/>
          </p:cNvPicPr>
          <p:nvPr>
            <p:ph idx="1"/>
          </p:nvPr>
        </p:nvPicPr>
        <p:blipFill>
          <a:blip r:embed="rId2" cstate="print"/>
          <a:srcRect/>
          <a:stretch>
            <a:fillRect/>
          </a:stretch>
        </p:blipFill>
        <p:spPr bwMode="auto">
          <a:xfrm>
            <a:off x="500034" y="1571613"/>
            <a:ext cx="8429684" cy="492922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the BARS technique begins by selecting a job that can be described in observable behaviors. Managers and personnel specialists then identify these behaviors as they relate to superior or inferior performance.</a:t>
            </a:r>
          </a:p>
          <a:p>
            <a:r>
              <a:rPr lang="en-US" dirty="0"/>
              <a:t>The BARS technique has several purported advantages. In particular, many of the sources of error discussed earlier (central tendency, leniency, halo) should be significantly reduced because raters are considering verbal descriptions of specific behaviors instead of general categories of behaviors, such as those used in graphic rating scales.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92500" lnSpcReduction="20000"/>
          </a:bodyPr>
          <a:lstStyle/>
          <a:p>
            <a:pPr>
              <a:buNone/>
            </a:pPr>
            <a:r>
              <a:rPr lang="en-US" b="1" dirty="0"/>
              <a:t>Checklists</a:t>
            </a:r>
          </a:p>
          <a:p>
            <a:pPr>
              <a:buFont typeface="Wingdings" panose="05000000000000000000" pitchFamily="2" charset="2"/>
              <a:buChar char="§"/>
            </a:pPr>
            <a:r>
              <a:rPr lang="en-US" dirty="0"/>
              <a:t>A performance appraisal tool that uses a list of statements or work behaviors that are checked by raters.</a:t>
            </a:r>
          </a:p>
          <a:p>
            <a:pPr>
              <a:buFont typeface="Wingdings" panose="05000000000000000000" pitchFamily="2" charset="2"/>
              <a:buChar char="§"/>
            </a:pPr>
            <a:r>
              <a:rPr lang="en-US" dirty="0"/>
              <a:t>Can be quantified by applying weights to individual checklist items.</a:t>
            </a:r>
          </a:p>
          <a:p>
            <a:pPr>
              <a:buNone/>
            </a:pPr>
            <a:r>
              <a:rPr lang="en-US" b="1" dirty="0"/>
              <a:t>Drawbacks</a:t>
            </a:r>
          </a:p>
          <a:p>
            <a:pPr indent="-163830">
              <a:buFont typeface="Wingdings" panose="05000000000000000000" pitchFamily="2" charset="2"/>
              <a:buChar char="§"/>
            </a:pPr>
            <a:r>
              <a:rPr lang="en-US" dirty="0"/>
              <a:t>Interpretation of item meanings by raters</a:t>
            </a:r>
          </a:p>
          <a:p>
            <a:pPr indent="-163830">
              <a:buFont typeface="Wingdings" panose="05000000000000000000" pitchFamily="2" charset="2"/>
              <a:buChar char="§"/>
            </a:pPr>
            <a:r>
              <a:rPr lang="en-US" dirty="0"/>
              <a:t>Weighting creates problems in appraisal interpretation</a:t>
            </a:r>
          </a:p>
          <a:p>
            <a:pPr indent="-163830">
              <a:buFont typeface="Wingdings" panose="05000000000000000000" pitchFamily="2" charset="2"/>
              <a:buChar char="§"/>
            </a:pPr>
            <a:r>
              <a:rPr lang="en-US" dirty="0"/>
              <a:t>Assignment of weights to items by persons other than the raters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Comparative method </a:t>
            </a:r>
            <a:endParaRPr lang="en-US" dirty="0"/>
          </a:p>
        </p:txBody>
      </p:sp>
      <p:sp>
        <p:nvSpPr>
          <p:cNvPr id="3" name="Content Placeholder 2"/>
          <p:cNvSpPr>
            <a:spLocks noGrp="1"/>
          </p:cNvSpPr>
          <p:nvPr>
            <p:ph idx="1"/>
          </p:nvPr>
        </p:nvSpPr>
        <p:spPr>
          <a:xfrm>
            <a:off x="457200" y="1500174"/>
            <a:ext cx="8229600" cy="4625989"/>
          </a:xfrm>
        </p:spPr>
        <p:txBody>
          <a:bodyPr>
            <a:normAutofit fontScale="85000" lnSpcReduction="10000"/>
          </a:bodyPr>
          <a:lstStyle/>
          <a:p>
            <a:pPr>
              <a:buNone/>
            </a:pPr>
            <a:r>
              <a:rPr lang="en-US" b="1" dirty="0"/>
              <a:t>Ranking</a:t>
            </a:r>
          </a:p>
          <a:p>
            <a:pPr>
              <a:buFont typeface="Wingdings" panose="05000000000000000000" pitchFamily="2" charset="2"/>
              <a:buChar char="Ø"/>
            </a:pPr>
            <a:r>
              <a:rPr lang="en-US" dirty="0"/>
              <a:t>A listing of all employees from highest to lowest in</a:t>
            </a:r>
          </a:p>
          <a:p>
            <a:pPr>
              <a:buNone/>
            </a:pPr>
            <a:r>
              <a:rPr lang="en-US" dirty="0"/>
              <a:t>performance.</a:t>
            </a:r>
            <a:endParaRPr lang="en-US" b="1" dirty="0"/>
          </a:p>
          <a:p>
            <a:pPr>
              <a:buFont typeface="Wingdings" panose="05000000000000000000" pitchFamily="2" charset="2"/>
              <a:buChar char="Ø"/>
            </a:pPr>
            <a:r>
              <a:rPr lang="en-US" b="1" dirty="0"/>
              <a:t>Drawbacks</a:t>
            </a:r>
          </a:p>
          <a:p>
            <a:pPr>
              <a:buFont typeface="Wingdings" panose="05000000000000000000" pitchFamily="2" charset="2"/>
              <a:buChar char="v"/>
            </a:pPr>
            <a:r>
              <a:rPr lang="en-US" dirty="0"/>
              <a:t> Does not show size of differences in performance between employees</a:t>
            </a:r>
          </a:p>
          <a:p>
            <a:pPr>
              <a:buFont typeface="Wingdings" panose="05000000000000000000" pitchFamily="2" charset="2"/>
              <a:buChar char="v"/>
            </a:pPr>
            <a:r>
              <a:rPr lang="en-US" dirty="0"/>
              <a:t>Implies that lowest-ranked employees are unsatisfactory performers.</a:t>
            </a:r>
          </a:p>
          <a:p>
            <a:pPr>
              <a:buFont typeface="Wingdings" panose="05000000000000000000" pitchFamily="2" charset="2"/>
              <a:buChar char="v"/>
            </a:pPr>
            <a:r>
              <a:rPr lang="en-US" dirty="0"/>
              <a:t>Becomes an unwieldy process if the group to be ranked is large.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92500" lnSpcReduction="20000"/>
          </a:bodyPr>
          <a:lstStyle/>
          <a:p>
            <a:pPr>
              <a:buNone/>
            </a:pPr>
            <a:r>
              <a:rPr lang="en-US" b="1" dirty="0"/>
              <a:t>Forced Distribution</a:t>
            </a:r>
          </a:p>
          <a:p>
            <a:pPr>
              <a:buFont typeface="Wingdings" panose="05000000000000000000" pitchFamily="2" charset="2"/>
              <a:buChar char="Ø"/>
            </a:pPr>
            <a:r>
              <a:rPr lang="en-US" dirty="0"/>
              <a:t>Performance appraisal method in which ratings of</a:t>
            </a:r>
          </a:p>
          <a:p>
            <a:pPr>
              <a:buNone/>
            </a:pPr>
            <a:r>
              <a:rPr lang="en-US" dirty="0"/>
              <a:t>employees are distributed along a bell-shaped curve.</a:t>
            </a:r>
          </a:p>
          <a:p>
            <a:pPr>
              <a:buFont typeface="Wingdings" panose="05000000000000000000" pitchFamily="2" charset="2"/>
              <a:buChar char="Ø"/>
            </a:pPr>
            <a:r>
              <a:rPr lang="en-US" b="1" dirty="0"/>
              <a:t>Drawbacks</a:t>
            </a:r>
          </a:p>
          <a:p>
            <a:pPr>
              <a:buFont typeface="Wingdings" panose="05000000000000000000" pitchFamily="2" charset="2"/>
              <a:buChar char="v"/>
            </a:pPr>
            <a:r>
              <a:rPr lang="en-US" dirty="0"/>
              <a:t>Assumes a normal distribution of performance.</a:t>
            </a:r>
          </a:p>
          <a:p>
            <a:pPr>
              <a:buFont typeface="Wingdings" panose="05000000000000000000" pitchFamily="2" charset="2"/>
              <a:buChar char="v"/>
            </a:pPr>
            <a:r>
              <a:rPr lang="en-US" dirty="0"/>
              <a:t>Resistance by managers to placing individuals in the lowest or highest groups.</a:t>
            </a:r>
          </a:p>
          <a:p>
            <a:pPr>
              <a:buFont typeface="Wingdings" panose="05000000000000000000" pitchFamily="2" charset="2"/>
              <a:buChar char="v"/>
            </a:pPr>
            <a:r>
              <a:rPr lang="en-US" dirty="0"/>
              <a:t>Providing explanation for placement in a higher or lower grouping can be difficult.</a:t>
            </a:r>
          </a:p>
          <a:p>
            <a:pPr>
              <a:buFont typeface="Wingdings" panose="05000000000000000000" pitchFamily="2" charset="2"/>
              <a:buChar char="v"/>
            </a:pPr>
            <a:r>
              <a:rPr lang="en-US" dirty="0"/>
              <a:t> Is not readily applicable to small groups of employees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Forced Distribution a Bell -Shaped Curve</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428596" y="1629569"/>
            <a:ext cx="8001055" cy="446722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Narrative method</a:t>
            </a:r>
            <a:endParaRPr lang="en-US" dirty="0"/>
          </a:p>
        </p:txBody>
      </p:sp>
      <p:sp>
        <p:nvSpPr>
          <p:cNvPr id="3" name="Content Placeholder 2"/>
          <p:cNvSpPr>
            <a:spLocks noGrp="1"/>
          </p:cNvSpPr>
          <p:nvPr>
            <p:ph idx="1"/>
          </p:nvPr>
        </p:nvSpPr>
        <p:spPr>
          <a:xfrm>
            <a:off x="457200" y="1357298"/>
            <a:ext cx="8229600" cy="4768865"/>
          </a:xfrm>
        </p:spPr>
        <p:txBody>
          <a:bodyPr>
            <a:normAutofit fontScale="85000" lnSpcReduction="10000"/>
          </a:bodyPr>
          <a:lstStyle/>
          <a:p>
            <a:pPr>
              <a:buNone/>
            </a:pPr>
            <a:r>
              <a:rPr lang="en-US" b="1" dirty="0"/>
              <a:t>Critical Incident</a:t>
            </a:r>
          </a:p>
          <a:p>
            <a:pPr>
              <a:buFont typeface="Wingdings" panose="05000000000000000000" pitchFamily="2" charset="2"/>
              <a:buChar char="Ø"/>
            </a:pPr>
            <a:r>
              <a:rPr lang="en-US" dirty="0"/>
              <a:t>Manager keeps a written record of highly favorable and unfavorable employee actions (</a:t>
            </a:r>
            <a:r>
              <a:rPr lang="en-US" i="1" dirty="0"/>
              <a:t>positive and negative performance )</a:t>
            </a:r>
            <a:endParaRPr lang="en-US" dirty="0"/>
          </a:p>
          <a:p>
            <a:pPr>
              <a:buNone/>
            </a:pPr>
            <a:r>
              <a:rPr lang="en-US" b="1" dirty="0"/>
              <a:t>Drawbacks</a:t>
            </a:r>
          </a:p>
          <a:p>
            <a:pPr>
              <a:buFont typeface="Wingdings" panose="05000000000000000000" pitchFamily="2" charset="2"/>
              <a:buChar char="v"/>
            </a:pPr>
            <a:r>
              <a:rPr lang="en-US" dirty="0"/>
              <a:t>Variations in how managers define a “critical incident”</a:t>
            </a:r>
          </a:p>
          <a:p>
            <a:pPr>
              <a:buFont typeface="Wingdings" panose="05000000000000000000" pitchFamily="2" charset="2"/>
              <a:buChar char="v"/>
            </a:pPr>
            <a:r>
              <a:rPr lang="en-US" dirty="0"/>
              <a:t>Time involved in documenting employee actions</a:t>
            </a:r>
          </a:p>
          <a:p>
            <a:pPr>
              <a:buFont typeface="Wingdings" panose="05000000000000000000" pitchFamily="2" charset="2"/>
              <a:buChar char="v"/>
            </a:pPr>
            <a:r>
              <a:rPr lang="en-US" dirty="0"/>
              <a:t>Most employee actions are not observed and may become different if observed</a:t>
            </a:r>
          </a:p>
          <a:p>
            <a:pPr>
              <a:buFont typeface="Wingdings" panose="05000000000000000000" pitchFamily="2" charset="2"/>
              <a:buChar char="v"/>
            </a:pPr>
            <a:r>
              <a:rPr lang="en-US" dirty="0"/>
              <a:t>Employee concerns about manager’s “black books”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b="1" dirty="0"/>
              <a:t>Essay</a:t>
            </a:r>
          </a:p>
          <a:p>
            <a:pPr>
              <a:buFont typeface="Wingdings" panose="05000000000000000000" pitchFamily="2" charset="2"/>
              <a:buChar char="Ø"/>
            </a:pPr>
            <a:r>
              <a:rPr lang="en-US" dirty="0"/>
              <a:t>Manager writes a short essay describing an</a:t>
            </a:r>
          </a:p>
          <a:p>
            <a:pPr>
              <a:buNone/>
            </a:pPr>
            <a:r>
              <a:rPr lang="en-US" dirty="0"/>
              <a:t>employee’s performance.</a:t>
            </a:r>
          </a:p>
          <a:p>
            <a:pPr>
              <a:buFont typeface="Wingdings" panose="05000000000000000000" pitchFamily="2" charset="2"/>
              <a:buChar char="Ø"/>
            </a:pPr>
            <a:r>
              <a:rPr lang="en-US" b="1" dirty="0"/>
              <a:t>Drawback</a:t>
            </a:r>
          </a:p>
          <a:p>
            <a:pPr>
              <a:buFont typeface="Wingdings" panose="05000000000000000000" pitchFamily="2" charset="2"/>
              <a:buChar char="v"/>
            </a:pPr>
            <a:r>
              <a:rPr lang="en-US" dirty="0"/>
              <a:t>Depends on the managers’ writing skills and their ability to express themselves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Management by Objectives</a:t>
            </a:r>
            <a:br>
              <a:rPr lang="en-US" dirty="0"/>
            </a:br>
            <a:endParaRPr lang="en-US" dirty="0"/>
          </a:p>
        </p:txBody>
      </p:sp>
      <p:sp>
        <p:nvSpPr>
          <p:cNvPr id="3" name="Content Placeholder 2"/>
          <p:cNvSpPr>
            <a:spLocks noGrp="1"/>
          </p:cNvSpPr>
          <p:nvPr>
            <p:ph idx="1"/>
          </p:nvPr>
        </p:nvSpPr>
        <p:spPr>
          <a:xfrm>
            <a:off x="457200" y="1285860"/>
            <a:ext cx="8229600" cy="4840303"/>
          </a:xfrm>
        </p:spPr>
        <p:txBody>
          <a:bodyPr>
            <a:normAutofit fontScale="92500" lnSpcReduction="20000"/>
          </a:bodyPr>
          <a:lstStyle/>
          <a:p>
            <a:pPr>
              <a:buFont typeface="Wingdings" panose="05000000000000000000" pitchFamily="2" charset="2"/>
              <a:buChar char="Ø"/>
            </a:pPr>
            <a:r>
              <a:rPr lang="en-US" dirty="0"/>
              <a:t>Specifying the performance goals that an  individual and his or her manager agree the employee will to try to attain within an appropriate length of time.</a:t>
            </a:r>
          </a:p>
          <a:p>
            <a:pPr>
              <a:buNone/>
            </a:pPr>
            <a:r>
              <a:rPr lang="en-US" dirty="0"/>
              <a:t>• </a:t>
            </a:r>
            <a:r>
              <a:rPr lang="en-US" b="1" dirty="0"/>
              <a:t>Key MBO Ideas</a:t>
            </a:r>
          </a:p>
          <a:p>
            <a:pPr marL="449580" indent="-269875">
              <a:buFont typeface="Wingdings" panose="05000000000000000000" pitchFamily="2" charset="2"/>
              <a:buChar char="v"/>
            </a:pPr>
            <a:r>
              <a:rPr lang="en-US" dirty="0"/>
              <a:t>Employee involvement creates higher levels of commitment and performance.</a:t>
            </a:r>
          </a:p>
          <a:p>
            <a:pPr marL="449580" indent="-269875">
              <a:buFont typeface="Wingdings" panose="05000000000000000000" pitchFamily="2" charset="2"/>
              <a:buChar char="v"/>
            </a:pPr>
            <a:r>
              <a:rPr lang="en-US" dirty="0"/>
              <a:t>Encourages employees to work effectively toward achieving desired results.</a:t>
            </a:r>
          </a:p>
          <a:p>
            <a:pPr marL="449580" indent="-269875">
              <a:buFont typeface="Wingdings" panose="05000000000000000000" pitchFamily="2" charset="2"/>
              <a:buChar char="v"/>
            </a:pPr>
            <a:r>
              <a:rPr lang="en-US" dirty="0"/>
              <a:t>Performance measures should be measurable and should define results.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MBO Process</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Problems With the Performance Appraisal Process </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v"/>
            </a:pPr>
            <a:r>
              <a:rPr lang="en-US" b="1" dirty="0"/>
              <a:t>Bias </a:t>
            </a:r>
            <a:r>
              <a:rPr lang="en-US" dirty="0"/>
              <a:t>: Bias is simply </a:t>
            </a:r>
            <a:r>
              <a:rPr lang="en-US" i="1" dirty="0"/>
              <a:t>a personality-based tendency, either toward or against something. </a:t>
            </a:r>
          </a:p>
          <a:p>
            <a:pPr marL="719455" indent="-179705"/>
            <a:r>
              <a:rPr lang="en-GB" sz="2800" i="1" dirty="0"/>
              <a:t>It resulted in </a:t>
            </a:r>
            <a:r>
              <a:rPr lang="en-US" sz="2800" dirty="0"/>
              <a:t>subjective evaluation rather than</a:t>
            </a:r>
            <a:r>
              <a:rPr lang="en-US" sz="2800" i="1" dirty="0"/>
              <a:t> </a:t>
            </a:r>
            <a:r>
              <a:rPr lang="en-US" sz="2800" dirty="0"/>
              <a:t>objective.</a:t>
            </a:r>
          </a:p>
          <a:p>
            <a:pPr marL="719455" indent="-179705"/>
            <a:r>
              <a:rPr lang="en-US" sz="2800" dirty="0"/>
              <a:t>It provide the opportunity for a lack of consistency in effect on different groups of employees</a:t>
            </a:r>
          </a:p>
          <a:p>
            <a:pPr marL="179705" indent="-88900">
              <a:buFont typeface="Wingdings" panose="05000000000000000000" pitchFamily="2" charset="2"/>
              <a:buChar char="v"/>
            </a:pPr>
            <a:r>
              <a:rPr lang="en-US" sz="2800" b="1" dirty="0"/>
              <a:t> Stereotyping: </a:t>
            </a:r>
            <a:r>
              <a:rPr lang="en-US" sz="2800" dirty="0"/>
              <a:t>Stereotyping is mentally classifying a person into an affinity group, and then identifying the person as having the same assumed characteristics as the group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lstStyle/>
          <a:p>
            <a:pPr algn="just"/>
            <a:r>
              <a:rPr lang="en-US" b="1" dirty="0"/>
              <a:t>Halo error. </a:t>
            </a:r>
            <a:r>
              <a:rPr lang="en-US" dirty="0"/>
              <a:t>This error occurs when the evaluator has a generally positive or negative (negative halo error is sometimes called “horns error”) impression of an individual, and the evaluator then artificially extends that general impression to many individual categories of performance to create an overall evaluation of the individual that is either positive or negative</a:t>
            </a:r>
            <a:r>
              <a:rPr lang="en-US" i="1" dirty="0"/>
              <a:t>.</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fontScale="92500" lnSpcReduction="10000"/>
          </a:bodyPr>
          <a:lstStyle/>
          <a:p>
            <a:r>
              <a:rPr lang="en-US" b="1" dirty="0"/>
              <a:t>Distributional errors. </a:t>
            </a:r>
            <a:r>
              <a:rPr lang="en-US" dirty="0"/>
              <a:t>These errors occur in three forms: </a:t>
            </a:r>
          </a:p>
          <a:p>
            <a:pPr marL="808355">
              <a:buFont typeface="Wingdings" panose="05000000000000000000" pitchFamily="2" charset="2"/>
              <a:buChar char="§"/>
            </a:pPr>
            <a:r>
              <a:rPr lang="en-US" dirty="0"/>
              <a:t>severity or strictness, </a:t>
            </a:r>
          </a:p>
          <a:p>
            <a:pPr marL="808355">
              <a:buFont typeface="Wingdings" panose="05000000000000000000" pitchFamily="2" charset="2"/>
              <a:buChar char="§"/>
            </a:pPr>
            <a:r>
              <a:rPr lang="en-US" dirty="0"/>
              <a:t>central tendency, and </a:t>
            </a:r>
          </a:p>
          <a:p>
            <a:pPr marL="808355">
              <a:buFont typeface="Wingdings" panose="05000000000000000000" pitchFamily="2" charset="2"/>
              <a:buChar char="§"/>
            </a:pPr>
            <a:r>
              <a:rPr lang="en-US" dirty="0"/>
              <a:t>leniency. </a:t>
            </a:r>
          </a:p>
          <a:p>
            <a:pPr>
              <a:buFont typeface="Wingdings" panose="05000000000000000000" pitchFamily="2" charset="2"/>
              <a:buChar char="Ø"/>
            </a:pPr>
            <a:r>
              <a:rPr lang="en-US" dirty="0"/>
              <a:t>They are based on a standard normal distribution, or the bell curve that we are all so familiar with.</a:t>
            </a:r>
          </a:p>
          <a:p>
            <a:pPr marL="630555" indent="-90805">
              <a:buFont typeface="Wingdings" panose="05000000000000000000" pitchFamily="2" charset="2"/>
              <a:buChar char="q"/>
            </a:pPr>
            <a:r>
              <a:rPr lang="en-US" dirty="0"/>
              <a:t> In </a:t>
            </a:r>
            <a:r>
              <a:rPr lang="en-US" i="1" dirty="0"/>
              <a:t>severity or strictness error,</a:t>
            </a:r>
          </a:p>
          <a:p>
            <a:r>
              <a:rPr lang="en-US" i="1" dirty="0"/>
              <a:t> The rater evaluates everyone, or nearly everyone, as below average.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92500"/>
          </a:bodyPr>
          <a:lstStyle/>
          <a:p>
            <a:pPr marL="630555" indent="-180975">
              <a:buFont typeface="Wingdings" panose="05000000000000000000" pitchFamily="2" charset="2"/>
              <a:buChar char="q"/>
            </a:pPr>
            <a:r>
              <a:rPr lang="en-US" b="1" dirty="0"/>
              <a:t>Central tendency error:  </a:t>
            </a:r>
            <a:r>
              <a:rPr lang="en-US" dirty="0"/>
              <a:t>occurs when raters evaluate everyone under their control as average (nobody is either really good or really bad). </a:t>
            </a:r>
          </a:p>
          <a:p>
            <a:pPr marL="630555" indent="-269875">
              <a:buFont typeface="Wingdings" panose="05000000000000000000" pitchFamily="2" charset="2"/>
              <a:buChar char="q"/>
            </a:pPr>
            <a:r>
              <a:rPr lang="en-US" b="1" dirty="0"/>
              <a:t>Leniency error: </a:t>
            </a:r>
            <a:r>
              <a:rPr lang="en-US" dirty="0"/>
              <a:t>occurs when the rater evaluates all others as above average</a:t>
            </a:r>
          </a:p>
          <a:p>
            <a:r>
              <a:rPr lang="en-US" b="1" dirty="0"/>
              <a:t>Similarity error</a:t>
            </a:r>
            <a:r>
              <a:rPr lang="en-US" dirty="0"/>
              <a:t>. This error occurs when raters evaluate subordinates that they consider more similar to themselves as better employees, and subordinates that they consider different from themselves as poorer employees.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a:t>Recently error</a:t>
            </a:r>
            <a:r>
              <a:rPr lang="en-US" dirty="0"/>
              <a:t>. This error occurs when raters use only the last few weeks or month of a rating period as evidence of their ratings of others. </a:t>
            </a:r>
          </a:p>
          <a:p>
            <a:r>
              <a:rPr lang="en-US" b="1" dirty="0"/>
              <a:t>Contrast error</a:t>
            </a:r>
            <a:r>
              <a:rPr lang="en-US" dirty="0"/>
              <a:t>. In contrast error, the rater compares and contrasts performance between two employees, rather than using absolute measures of performance to measure each employee.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noAutofit/>
          </a:bodyPr>
          <a:lstStyle/>
          <a:p>
            <a:r>
              <a:rPr lang="en-US" sz="3600" dirty="0"/>
              <a:t>Avoiding Performance Appraisal Process Problems </a:t>
            </a:r>
          </a:p>
        </p:txBody>
      </p:sp>
      <p:sp>
        <p:nvSpPr>
          <p:cNvPr id="3" name="Content Placeholder 2"/>
          <p:cNvSpPr>
            <a:spLocks noGrp="1"/>
          </p:cNvSpPr>
          <p:nvPr>
            <p:ph idx="1"/>
          </p:nvPr>
        </p:nvSpPr>
        <p:spPr>
          <a:xfrm>
            <a:off x="457200" y="1428736"/>
            <a:ext cx="8229600" cy="4697427"/>
          </a:xfrm>
        </p:spPr>
        <p:txBody>
          <a:bodyPr>
            <a:normAutofit fontScale="92500" lnSpcReduction="10000"/>
          </a:bodyPr>
          <a:lstStyle/>
          <a:p>
            <a:pPr>
              <a:buFont typeface="Wingdings" panose="05000000000000000000" pitchFamily="2" charset="2"/>
              <a:buChar char="v"/>
            </a:pPr>
            <a:r>
              <a:rPr lang="en-US" dirty="0"/>
              <a:t>Develop Accurate Performance Measures </a:t>
            </a:r>
          </a:p>
          <a:p>
            <a:pPr marL="630555" indent="-269875">
              <a:buFont typeface="Wingdings" panose="05000000000000000000" pitchFamily="2" charset="2"/>
              <a:buChar char="§"/>
            </a:pPr>
            <a:r>
              <a:rPr lang="en-US" dirty="0"/>
              <a:t>Use multiple criteria.</a:t>
            </a:r>
          </a:p>
          <a:p>
            <a:pPr marL="630555" indent="-269875">
              <a:buFont typeface="Wingdings" panose="05000000000000000000" pitchFamily="2" charset="2"/>
              <a:buChar char="§"/>
            </a:pPr>
            <a:r>
              <a:rPr lang="en-US" dirty="0"/>
              <a:t>Minimize the use of trait-based evaluations </a:t>
            </a:r>
          </a:p>
          <a:p>
            <a:pPr marL="269875" indent="-269875">
              <a:buFont typeface="Wingdings" panose="05000000000000000000" pitchFamily="2" charset="2"/>
              <a:buChar char="v"/>
            </a:pPr>
            <a:r>
              <a:rPr lang="en-US" dirty="0"/>
              <a:t>Train Evaluators </a:t>
            </a:r>
          </a:p>
          <a:p>
            <a:pPr marL="539750" indent="-179705">
              <a:buFont typeface="Wingdings" panose="05000000000000000000" pitchFamily="2" charset="2"/>
              <a:buChar char="§"/>
              <a:tabLst>
                <a:tab pos="539750" algn="l"/>
              </a:tabLst>
            </a:pPr>
            <a:r>
              <a:rPr lang="en-US" dirty="0"/>
              <a:t>Train evaluators to overcome the common problems of assessment </a:t>
            </a:r>
          </a:p>
          <a:p>
            <a:pPr marL="539750" indent="-179705">
              <a:buFont typeface="Wingdings" panose="05000000000000000000" pitchFamily="2" charset="2"/>
              <a:buChar char="§"/>
              <a:tabLst>
                <a:tab pos="539750" algn="l"/>
              </a:tabLst>
            </a:pPr>
            <a:r>
              <a:rPr lang="en-US" dirty="0"/>
              <a:t>Train evaluators to use the measurement methods and forms. </a:t>
            </a:r>
          </a:p>
          <a:p>
            <a:pPr marL="360680" indent="-269875">
              <a:buFont typeface="Wingdings" panose="05000000000000000000" pitchFamily="2" charset="2"/>
              <a:buChar char="v"/>
              <a:tabLst>
                <a:tab pos="90170" algn="l"/>
                <a:tab pos="179070" algn="l"/>
              </a:tabLst>
            </a:pPr>
            <a:r>
              <a:rPr lang="en-US" dirty="0"/>
              <a:t>Use Multiple Raters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Requirement for effective performance appraisal system</a:t>
            </a:r>
            <a:endParaRPr lang="en-US" dirty="0"/>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
            </a:pPr>
            <a:r>
              <a:rPr lang="en-US" b="1" dirty="0"/>
              <a:t>Relevance</a:t>
            </a:r>
            <a:endParaRPr lang="en-US" dirty="0"/>
          </a:p>
          <a:p>
            <a:pPr marL="809625" indent="-360680">
              <a:buFont typeface="Wingdings" panose="05000000000000000000" pitchFamily="2" charset="2"/>
              <a:buChar char="§"/>
              <a:tabLst>
                <a:tab pos="629920" algn="l"/>
                <a:tab pos="718820" algn="l"/>
              </a:tabLst>
            </a:pPr>
            <a:r>
              <a:rPr lang="en-US" dirty="0"/>
              <a:t>Clear links between the performance standards for a particular job and organizational objectives and</a:t>
            </a:r>
          </a:p>
          <a:p>
            <a:pPr marL="809625" indent="-360680">
              <a:buFont typeface="Wingdings" panose="05000000000000000000" pitchFamily="2" charset="2"/>
              <a:buChar char="§"/>
              <a:tabLst>
                <a:tab pos="629920" algn="l"/>
                <a:tab pos="718820" algn="l"/>
              </a:tabLst>
            </a:pPr>
            <a:r>
              <a:rPr lang="en-US" dirty="0"/>
              <a:t>Clear links between the critical job elements identified through a job analysis and the dimensions to be rated on an appraisal form.</a:t>
            </a:r>
          </a:p>
          <a:p>
            <a:pPr marL="809625" indent="-360680">
              <a:buFont typeface="Wingdings" panose="05000000000000000000" pitchFamily="2" charset="2"/>
              <a:buChar char="§"/>
              <a:tabLst>
                <a:tab pos="629920" algn="l"/>
                <a:tab pos="718820" algn="l"/>
              </a:tabLst>
            </a:pPr>
            <a:r>
              <a:rPr lang="en-US" b="1" dirty="0"/>
              <a:t>It should base on performance standards</a:t>
            </a:r>
            <a:r>
              <a:rPr lang="en-US" dirty="0"/>
              <a:t> translate job requirements into levels of acceptable or unacceptable employee behavior.</a:t>
            </a:r>
          </a:p>
          <a:p>
            <a:pPr marL="809625" indent="-360680">
              <a:buFont typeface="Wingdings" panose="05000000000000000000" pitchFamily="2" charset="2"/>
              <a:buChar char="§"/>
              <a:tabLst>
                <a:tab pos="629920" algn="l"/>
                <a:tab pos="718820" algn="l"/>
              </a:tabLst>
            </a:pPr>
            <a:r>
              <a:rPr lang="en-US" dirty="0"/>
              <a:t>Job analysis identifies what is to be done. </a:t>
            </a:r>
          </a:p>
          <a:p>
            <a:pPr marL="809625" indent="-360680">
              <a:buFont typeface="Wingdings" panose="05000000000000000000" pitchFamily="2" charset="2"/>
              <a:buChar char="§"/>
              <a:tabLst>
                <a:tab pos="629920" algn="l"/>
                <a:tab pos="718820" algn="l"/>
              </a:tabLst>
            </a:pPr>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a:t>Sensitivity</a:t>
            </a:r>
            <a:endParaRPr lang="en-US" dirty="0"/>
          </a:p>
          <a:p>
            <a:r>
              <a:rPr lang="en-US" dirty="0"/>
              <a:t>The system should be capable of distinguishing effective from in effective performers.</a:t>
            </a:r>
          </a:p>
          <a:p>
            <a:pPr lvl="0"/>
            <a:r>
              <a:rPr lang="en-US" b="1" dirty="0"/>
              <a:t>Reliability </a:t>
            </a:r>
            <a:r>
              <a:rPr lang="en-US" dirty="0"/>
              <a:t>(consistency of judgment).</a:t>
            </a:r>
          </a:p>
          <a:p>
            <a:r>
              <a:rPr lang="en-US" b="1" dirty="0"/>
              <a:t>Acceptability</a:t>
            </a:r>
            <a:endParaRPr lang="en-US" dirty="0"/>
          </a:p>
          <a:p>
            <a:pPr lvl="0"/>
            <a:r>
              <a:rPr lang="en-US" b="1" dirty="0"/>
              <a:t>Practicality</a:t>
            </a:r>
            <a:r>
              <a:rPr lang="en-US"/>
              <a:t>: Appraisal </a:t>
            </a:r>
            <a:r>
              <a:rPr lang="en-US" dirty="0"/>
              <a:t>instruments are easy for managers and employees to understand and use.</a:t>
            </a:r>
          </a:p>
          <a:p>
            <a:pPr>
              <a:buNone/>
            </a:pPr>
            <a:br>
              <a:rPr lang="en-US" dirty="0"/>
            </a:br>
            <a:endParaRPr lang="en-US" dirty="0"/>
          </a:p>
          <a:p>
            <a:endParaRPr lang="en-US" dirty="0"/>
          </a:p>
          <a:p>
            <a:endParaRPr lang="en-US" dirty="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600" dirty="0"/>
              <a:t>Characteristics  for effective performance appraisal system</a:t>
            </a:r>
            <a:endParaRPr lang="en-US" sz="3600" dirty="0"/>
          </a:p>
        </p:txBody>
      </p:sp>
      <p:sp>
        <p:nvSpPr>
          <p:cNvPr id="3" name="Content Placeholder 2"/>
          <p:cNvSpPr>
            <a:spLocks noGrp="1"/>
          </p:cNvSpPr>
          <p:nvPr>
            <p:ph idx="1"/>
          </p:nvPr>
        </p:nvSpPr>
        <p:spPr/>
        <p:txBody>
          <a:bodyPr>
            <a:normAutofit fontScale="77500" lnSpcReduction="20000"/>
          </a:bodyPr>
          <a:lstStyle/>
          <a:p>
            <a:pPr fontAlgn="base"/>
            <a:r>
              <a:rPr lang="en-US" dirty="0"/>
              <a:t> </a:t>
            </a:r>
            <a:r>
              <a:rPr lang="en-US" b="1" dirty="0"/>
              <a:t>Clear Objectives:</a:t>
            </a:r>
            <a:endParaRPr lang="en-US" dirty="0"/>
          </a:p>
          <a:p>
            <a:pPr fontAlgn="base"/>
            <a:r>
              <a:rPr lang="en-US" dirty="0"/>
              <a:t>The objectives of performance appraisal should be clear, specific, timely and open. The appraisal system should be fair and beneficial to both the individual employee and the organization should be linked with other subsystems of personnel management.</a:t>
            </a:r>
          </a:p>
          <a:p>
            <a:pPr fontAlgn="base"/>
            <a:r>
              <a:rPr lang="en-US" dirty="0"/>
              <a:t> </a:t>
            </a:r>
            <a:r>
              <a:rPr lang="en-US" b="1" dirty="0"/>
              <a:t>Reliable and Valid:</a:t>
            </a:r>
            <a:endParaRPr lang="en-US" dirty="0"/>
          </a:p>
          <a:p>
            <a:pPr fontAlgn="base"/>
            <a:r>
              <a:rPr lang="en-US" dirty="0"/>
              <a:t>Appraisal system should provide consistent, reliable and valid information and date. Appraisals should measure </a:t>
            </a:r>
            <a:r>
              <a:rPr lang="en-US" dirty="0" err="1"/>
              <a:t>wat</a:t>
            </a:r>
            <a:r>
              <a:rPr lang="en-US" dirty="0"/>
              <a:t> they are supposed to measure. For example, if the objective of appraisal is to show potential of an employee for promotion, it should supply the date relating to potentialities of the employee.</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857916"/>
          </a:xfrm>
        </p:spPr>
        <p:txBody>
          <a:bodyPr>
            <a:normAutofit fontScale="85000" lnSpcReduction="20000"/>
          </a:bodyPr>
          <a:lstStyle/>
          <a:p>
            <a:pPr fontAlgn="base">
              <a:buNone/>
            </a:pPr>
            <a:r>
              <a:rPr lang="en-US" dirty="0"/>
              <a:t>3.  </a:t>
            </a:r>
            <a:r>
              <a:rPr lang="en-US" b="1" dirty="0"/>
              <a:t>Standardization:</a:t>
            </a:r>
            <a:endParaRPr lang="en-US" dirty="0"/>
          </a:p>
          <a:p>
            <a:pPr fontAlgn="base"/>
            <a:r>
              <a:rPr lang="en-US" dirty="0"/>
              <a:t>The appraisal form, procedures and rules should be </a:t>
            </a:r>
            <a:r>
              <a:rPr lang="en-US" dirty="0" err="1"/>
              <a:t>standardised</a:t>
            </a:r>
            <a:r>
              <a:rPr lang="en-US" dirty="0"/>
              <a:t>. their should be well-defined performance criteria and standards. Employees should be made fully aware of these standards as appraisal decisions affect all employees of the group.</a:t>
            </a:r>
          </a:p>
          <a:p>
            <a:pPr fontAlgn="base">
              <a:buNone/>
            </a:pPr>
            <a:r>
              <a:rPr lang="en-US" b="1" dirty="0"/>
              <a:t>4. Training:</a:t>
            </a:r>
            <a:endParaRPr lang="en-US" dirty="0"/>
          </a:p>
          <a:p>
            <a:pPr fontAlgn="base"/>
            <a:r>
              <a:rPr lang="en-US" dirty="0"/>
              <a:t>Evaluators should be given training in procedures and principals of appraisal. They should be provided with knowledge and skills in designing appraisals, conducting post appraisal interviews and correcting rating errors.</a:t>
            </a:r>
          </a:p>
          <a:p>
            <a:pPr fontAlgn="base">
              <a:buNone/>
            </a:pPr>
            <a:r>
              <a:rPr lang="en-US" b="1" dirty="0"/>
              <a:t>5. Job Relatedness:</a:t>
            </a:r>
            <a:endParaRPr lang="en-US" dirty="0"/>
          </a:p>
          <a:p>
            <a:pPr fontAlgn="base"/>
            <a:r>
              <a:rPr lang="en-US" dirty="0"/>
              <a:t>The appraisal system should focus attention on job-related </a:t>
            </a:r>
            <a:r>
              <a:rPr lang="en-US" dirty="0" err="1"/>
              <a:t>behaviour</a:t>
            </a:r>
            <a:r>
              <a:rPr lang="en-US" dirty="0"/>
              <a:t> and performance. It should provide information on job related activities and areas </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715040"/>
          </a:xfrm>
        </p:spPr>
        <p:txBody>
          <a:bodyPr>
            <a:normAutofit fontScale="77500" lnSpcReduction="20000"/>
          </a:bodyPr>
          <a:lstStyle/>
          <a:p>
            <a:pPr fontAlgn="base">
              <a:buNone/>
            </a:pPr>
            <a:r>
              <a:rPr lang="en-US" b="1" dirty="0"/>
              <a:t>6. Mutual Trust:</a:t>
            </a:r>
            <a:endParaRPr lang="en-US" dirty="0"/>
          </a:p>
          <a:p>
            <a:pPr fontAlgn="base"/>
            <a:r>
              <a:rPr lang="en-US" dirty="0"/>
              <a:t>Before introducing the appraisal system, a climate of mutual trust, cooperation and confidence should be created in the organization. Under the system, the employees should be treated in a supportive manner.</a:t>
            </a:r>
          </a:p>
          <a:p>
            <a:pPr fontAlgn="base">
              <a:buNone/>
            </a:pPr>
            <a:r>
              <a:rPr lang="en-US" b="1" dirty="0"/>
              <a:t>7. Feedback and Participation:</a:t>
            </a:r>
            <a:endParaRPr lang="en-US" dirty="0"/>
          </a:p>
          <a:p>
            <a:pPr fontAlgn="base"/>
            <a:r>
              <a:rPr lang="en-US" dirty="0"/>
              <a:t>The ratings should be communicated to both the employees and the raters. The appraisal r system should be open and participative. The employees should get information on their performance. The system should involve employees in the goal setting process.</a:t>
            </a:r>
          </a:p>
          <a:p>
            <a:pPr fontAlgn="base">
              <a:buNone/>
            </a:pPr>
            <a:r>
              <a:rPr lang="en-US" b="1" dirty="0"/>
              <a:t>8. Help Focus:</a:t>
            </a:r>
            <a:endParaRPr lang="en-US" dirty="0"/>
          </a:p>
          <a:p>
            <a:pPr fontAlgn="base"/>
            <a:r>
              <a:rPr lang="en-US" dirty="0"/>
              <a:t>Appraisal should not judgmental. It should not be purely control- oriented. The evaluator should also play the role of coach and counselor. He should- help people reach their full potential. The overall purpose of appraisals should be developmental.</a:t>
            </a:r>
          </a:p>
          <a:p>
            <a:pPr fontAlgn="base"/>
            <a:endParaRPr lang="en-US" dirty="0"/>
          </a:p>
          <a:p>
            <a:pPr fontAlgn="base">
              <a:buNone/>
            </a:pPr>
            <a:endParaRPr lang="en-US" dirty="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92500" lnSpcReduction="10000"/>
          </a:bodyPr>
          <a:lstStyle/>
          <a:p>
            <a:pPr fontAlgn="base">
              <a:buNone/>
            </a:pPr>
            <a:r>
              <a:rPr lang="en-US" dirty="0"/>
              <a:t>9. </a:t>
            </a:r>
            <a:r>
              <a:rPr lang="en-US" b="1" dirty="0"/>
              <a:t>Recognition of Differences:</a:t>
            </a:r>
            <a:endParaRPr lang="en-US" dirty="0"/>
          </a:p>
          <a:p>
            <a:pPr fontAlgn="base"/>
            <a:r>
              <a:rPr lang="en-US" dirty="0"/>
              <a:t>Organization differs in terms of work, size, resources, needs and environment. Hence, the appraisal system must be designed to meet the needs of particular organization. </a:t>
            </a:r>
          </a:p>
          <a:p>
            <a:pPr fontAlgn="base">
              <a:buNone/>
            </a:pPr>
            <a:r>
              <a:rPr lang="en-US" dirty="0"/>
              <a:t>10. </a:t>
            </a:r>
            <a:r>
              <a:rPr lang="en-US" b="1" dirty="0"/>
              <a:t>Post Appraisal Interview:</a:t>
            </a:r>
            <a:endParaRPr lang="en-US" dirty="0"/>
          </a:p>
          <a:p>
            <a:pPr fontAlgn="base"/>
            <a:r>
              <a:rPr lang="en-US" dirty="0"/>
              <a:t>An appraisal system is only as effective as there is  communications. Hence, an interview with the employee should be arranged after appraising his performance. It will help to know the difficulties of work and training needs of employees. </a:t>
            </a:r>
          </a:p>
          <a:p>
            <a:pPr fontAlgn="base"/>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2236</Words>
  <Application>Microsoft Office PowerPoint</Application>
  <PresentationFormat>On-screen Show (4:3)</PresentationFormat>
  <Paragraphs>247</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Wingdings</vt:lpstr>
      <vt:lpstr>Office Theme</vt:lpstr>
      <vt:lpstr> PERFORMANCE AND POTENTIAL APPRAISAL </vt:lpstr>
      <vt:lpstr>Nature of Performance Management</vt:lpstr>
      <vt:lpstr>PowerPoint Presentation</vt:lpstr>
      <vt:lpstr>Difference Between Performance Management Performance Appraisals</vt:lpstr>
      <vt:lpstr>Identifying and Measuring Employee Performance</vt:lpstr>
      <vt:lpstr>Performance Standards </vt:lpstr>
      <vt:lpstr>Performance Appraisal </vt:lpstr>
      <vt:lpstr>The Performance Appraisal Process</vt:lpstr>
      <vt:lpstr> Why Do We Conduct Performance Appraisals?  </vt:lpstr>
      <vt:lpstr>PowerPoint Presentation</vt:lpstr>
      <vt:lpstr>Types of Information evaluated</vt:lpstr>
      <vt:lpstr> Criticisms of Performance Appraisal </vt:lpstr>
      <vt:lpstr>Typical Division of HR Responsibilities: Performance Appraisal</vt:lpstr>
      <vt:lpstr>Who conducts appraisal </vt:lpstr>
      <vt:lpstr>Employee rating managers </vt:lpstr>
      <vt:lpstr>Team/peer rating </vt:lpstr>
      <vt:lpstr>Multisource appraisal </vt:lpstr>
      <vt:lpstr>Advantages of Multi-Source Appraisal </vt:lpstr>
      <vt:lpstr> Disadvantages of Multi-Source Appraisal: </vt:lpstr>
      <vt:lpstr>Advantages of Multi-Source Appraisal: </vt:lpstr>
      <vt:lpstr>Disadvantages of Multi-Source Appraisal </vt:lpstr>
      <vt:lpstr>Performance Appraisal Measurement Methods and Forms </vt:lpstr>
      <vt:lpstr>Category scaling method</vt:lpstr>
      <vt:lpstr>PowerPoint Presentation</vt:lpstr>
      <vt:lpstr> Behavioral / objective method </vt:lpstr>
      <vt:lpstr>Behaviorally-Anchored Rating Scale for Customer Service Skills</vt:lpstr>
      <vt:lpstr>PowerPoint Presentation</vt:lpstr>
      <vt:lpstr>PowerPoint Presentation</vt:lpstr>
      <vt:lpstr>Comparative method </vt:lpstr>
      <vt:lpstr>PowerPoint Presentation</vt:lpstr>
      <vt:lpstr>Forced Distribution a Bell -Shaped Curve</vt:lpstr>
      <vt:lpstr>Narrative method</vt:lpstr>
      <vt:lpstr>PowerPoint Presentation</vt:lpstr>
      <vt:lpstr>Management by Objectives </vt:lpstr>
      <vt:lpstr>The MBO Process</vt:lpstr>
      <vt:lpstr>Common Problems With the Performance Appraisal Process </vt:lpstr>
      <vt:lpstr>PowerPoint Presentation</vt:lpstr>
      <vt:lpstr>PowerPoint Presentation</vt:lpstr>
      <vt:lpstr>PowerPoint Presentation</vt:lpstr>
      <vt:lpstr>PowerPoint Presentation</vt:lpstr>
      <vt:lpstr>Avoiding Performance Appraisal Process Problems </vt:lpstr>
      <vt:lpstr>Requirement for effective performance appraisal system</vt:lpstr>
      <vt:lpstr>PowerPoint Presentation</vt:lpstr>
      <vt:lpstr>Characteristics  for effective performance appraisal system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AND POTENTIAL APPRAISAL</dc:title>
  <dc:creator>user</dc:creator>
  <cp:lastModifiedBy>ashura haji</cp:lastModifiedBy>
  <cp:revision>33</cp:revision>
  <dcterms:created xsi:type="dcterms:W3CDTF">2022-05-23T11:06:00Z</dcterms:created>
  <dcterms:modified xsi:type="dcterms:W3CDTF">2026-07-16T07:37:44Z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71109A92AE594874A367F00059A98968_12</vt:lpwstr>
  </property>
  <property fmtid="{D5CDD505-2E9C-101B-9397-08002B2CF9AE}" pid="3" name="KSOProductBuildVer">
    <vt:lpwstr>1033-12.2.0.21546</vt:lpwstr>
  </property>
</Properties>
</file>