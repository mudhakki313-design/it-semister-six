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83" r:id="rId4"/>
    <p:sldId id="284" r:id="rId5"/>
    <p:sldId id="258" r:id="rId6"/>
    <p:sldId id="263" r:id="rId7"/>
    <p:sldId id="269" r:id="rId8"/>
    <p:sldId id="285" r:id="rId9"/>
    <p:sldId id="272" r:id="rId10"/>
    <p:sldId id="276" r:id="rId11"/>
    <p:sldId id="266" r:id="rId12"/>
    <p:sldId id="268" r:id="rId13"/>
    <p:sldId id="274" r:id="rId14"/>
    <p:sldId id="277" r:id="rId15"/>
    <p:sldId id="278" r:id="rId16"/>
    <p:sldId id="281" r:id="rId17"/>
    <p:sldId id="279" r:id="rId18"/>
    <p:sldId id="280" r:id="rId19"/>
    <p:sldId id="325" r:id="rId20"/>
    <p:sldId id="290" r:id="rId21"/>
    <p:sldId id="291" r:id="rId22"/>
    <p:sldId id="293" r:id="rId23"/>
    <p:sldId id="294" r:id="rId24"/>
    <p:sldId id="295" r:id="rId25"/>
    <p:sldId id="296" r:id="rId26"/>
    <p:sldId id="297" r:id="rId27"/>
    <p:sldId id="305" r:id="rId28"/>
    <p:sldId id="300" r:id="rId29"/>
    <p:sldId id="299" r:id="rId30"/>
    <p:sldId id="301" r:id="rId31"/>
    <p:sldId id="302" r:id="rId32"/>
    <p:sldId id="303"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0" r:id="rId47"/>
    <p:sldId id="321" r:id="rId48"/>
    <p:sldId id="322" r:id="rId49"/>
    <p:sldId id="323" r:id="rId50"/>
    <p:sldId id="324" r:id="rId51"/>
  </p:sldIdLst>
  <p:sldSz cx="9180513" cy="6911975"/>
  <p:notesSz cx="6858000" cy="9144000"/>
  <p:defaultTextStyle>
    <a:defPPr>
      <a:defRPr lang="en-US"/>
    </a:defPPr>
    <a:lvl1pPr marL="0" algn="l" defTabSz="919480" rtl="0" eaLnBrk="1" latinLnBrk="0" hangingPunct="1">
      <a:defRPr sz="1800" kern="1200">
        <a:solidFill>
          <a:schemeClr val="tx1"/>
        </a:solidFill>
        <a:latin typeface="+mn-lt"/>
        <a:ea typeface="+mn-ea"/>
        <a:cs typeface="+mn-cs"/>
      </a:defRPr>
    </a:lvl1pPr>
    <a:lvl2pPr marL="459740" algn="l" defTabSz="919480" rtl="0" eaLnBrk="1" latinLnBrk="0" hangingPunct="1">
      <a:defRPr sz="1800" kern="1200">
        <a:solidFill>
          <a:schemeClr val="tx1"/>
        </a:solidFill>
        <a:latin typeface="+mn-lt"/>
        <a:ea typeface="+mn-ea"/>
        <a:cs typeface="+mn-cs"/>
      </a:defRPr>
    </a:lvl2pPr>
    <a:lvl3pPr marL="919480" algn="l" defTabSz="919480" rtl="0" eaLnBrk="1" latinLnBrk="0" hangingPunct="1">
      <a:defRPr sz="1800" kern="1200">
        <a:solidFill>
          <a:schemeClr val="tx1"/>
        </a:solidFill>
        <a:latin typeface="+mn-lt"/>
        <a:ea typeface="+mn-ea"/>
        <a:cs typeface="+mn-cs"/>
      </a:defRPr>
    </a:lvl3pPr>
    <a:lvl4pPr marL="1379220" algn="l" defTabSz="919480" rtl="0" eaLnBrk="1" latinLnBrk="0" hangingPunct="1">
      <a:defRPr sz="1800" kern="1200">
        <a:solidFill>
          <a:schemeClr val="tx1"/>
        </a:solidFill>
        <a:latin typeface="+mn-lt"/>
        <a:ea typeface="+mn-ea"/>
        <a:cs typeface="+mn-cs"/>
      </a:defRPr>
    </a:lvl4pPr>
    <a:lvl5pPr marL="1838960" algn="l" defTabSz="919480" rtl="0" eaLnBrk="1" latinLnBrk="0" hangingPunct="1">
      <a:defRPr sz="1800" kern="1200">
        <a:solidFill>
          <a:schemeClr val="tx1"/>
        </a:solidFill>
        <a:latin typeface="+mn-lt"/>
        <a:ea typeface="+mn-ea"/>
        <a:cs typeface="+mn-cs"/>
      </a:defRPr>
    </a:lvl5pPr>
    <a:lvl6pPr marL="2298700" algn="l" defTabSz="919480" rtl="0" eaLnBrk="1" latinLnBrk="0" hangingPunct="1">
      <a:defRPr sz="1800" kern="1200">
        <a:solidFill>
          <a:schemeClr val="tx1"/>
        </a:solidFill>
        <a:latin typeface="+mn-lt"/>
        <a:ea typeface="+mn-ea"/>
        <a:cs typeface="+mn-cs"/>
      </a:defRPr>
    </a:lvl6pPr>
    <a:lvl7pPr marL="2758440" algn="l" defTabSz="919480" rtl="0" eaLnBrk="1" latinLnBrk="0" hangingPunct="1">
      <a:defRPr sz="1800" kern="1200">
        <a:solidFill>
          <a:schemeClr val="tx1"/>
        </a:solidFill>
        <a:latin typeface="+mn-lt"/>
        <a:ea typeface="+mn-ea"/>
        <a:cs typeface="+mn-cs"/>
      </a:defRPr>
    </a:lvl7pPr>
    <a:lvl8pPr marL="3218180" algn="l" defTabSz="919480" rtl="0" eaLnBrk="1" latinLnBrk="0" hangingPunct="1">
      <a:defRPr sz="1800" kern="1200">
        <a:solidFill>
          <a:schemeClr val="tx1"/>
        </a:solidFill>
        <a:latin typeface="+mn-lt"/>
        <a:ea typeface="+mn-ea"/>
        <a:cs typeface="+mn-cs"/>
      </a:defRPr>
    </a:lvl8pPr>
    <a:lvl9pPr marL="3677920" algn="l" defTabSz="91948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7" userDrawn="1">
          <p15:clr>
            <a:srgbClr val="A4A3A4"/>
          </p15:clr>
        </p15:guide>
        <p15:guide id="2" pos="2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7" autoAdjust="0"/>
    <p:restoredTop sz="94624" autoAdjust="0"/>
  </p:normalViewPr>
  <p:slideViewPr>
    <p:cSldViewPr showGuides="1">
      <p:cViewPr varScale="1">
        <p:scale>
          <a:sx n="61" d="100"/>
          <a:sy n="61" d="100"/>
        </p:scale>
        <p:origin x="1436" y="64"/>
      </p:cViewPr>
      <p:guideLst>
        <p:guide orient="horz" pos="2177"/>
        <p:guide pos="2892"/>
      </p:guideLst>
    </p:cSldViewPr>
  </p:slideViewPr>
  <p:outlineViewPr>
    <p:cViewPr>
      <p:scale>
        <a:sx n="33" d="100"/>
        <a:sy n="33" d="100"/>
      </p:scale>
      <p:origin x="0" y="426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8A1818A-F03C-447B-97CF-9CBDF2019B55}" type="doc">
      <dgm:prSet loTypeId="urn:microsoft.com/office/officeart/2005/8/layout/pyramid2#1" loCatId="list" qsTypeId="urn:microsoft.com/office/officeart/2005/8/quickstyle/simple1#1" qsCatId="simple" csTypeId="urn:microsoft.com/office/officeart/2005/8/colors/accent1_2#1" csCatId="accent1" phldr="1"/>
      <dgm:spPr/>
      <dgm:t>
        <a:bodyPr/>
        <a:lstStyle/>
        <a:p>
          <a:endParaRPr lang="en-US"/>
        </a:p>
      </dgm:t>
    </dgm:pt>
    <dgm:pt modelId="{024306B3-FFE5-4A7E-949B-A927C898B65B}">
      <dgm:prSet phldrT="[Text]"/>
      <dgm:spPr/>
      <dgm:t>
        <a:bodyPr/>
        <a:lstStyle/>
        <a:p>
          <a:r>
            <a:rPr lang="en-US" b="1" i="1" dirty="0"/>
            <a:t>HR Transformational Practices:</a:t>
          </a:r>
          <a:endParaRPr lang="en-US" dirty="0"/>
        </a:p>
      </dgm:t>
    </dgm:pt>
    <dgm:pt modelId="{51727028-EABE-4D99-AB1F-B4535E0B60A5}" type="parTrans" cxnId="{14F187E0-A03D-41D8-BD14-4EAB7AB7865C}">
      <dgm:prSet/>
      <dgm:spPr/>
      <dgm:t>
        <a:bodyPr/>
        <a:lstStyle/>
        <a:p>
          <a:endParaRPr lang="en-US"/>
        </a:p>
      </dgm:t>
    </dgm:pt>
    <dgm:pt modelId="{B35F5F6F-49CC-48D4-99A8-6BED7E105D8E}" type="sibTrans" cxnId="{14F187E0-A03D-41D8-BD14-4EAB7AB7865C}">
      <dgm:prSet/>
      <dgm:spPr/>
      <dgm:t>
        <a:bodyPr/>
        <a:lstStyle/>
        <a:p>
          <a:endParaRPr lang="en-US"/>
        </a:p>
      </dgm:t>
    </dgm:pt>
    <dgm:pt modelId="{B5B10FBB-F8F8-4528-A5F1-63865B396568}">
      <dgm:prSet/>
      <dgm:spPr/>
      <dgm:t>
        <a:bodyPr/>
        <a:lstStyle/>
        <a:p>
          <a:r>
            <a:rPr lang="en-US" b="1" i="1" dirty="0"/>
            <a:t>HR Transactional Practices</a:t>
          </a:r>
          <a:endParaRPr lang="en-US" dirty="0"/>
        </a:p>
      </dgm:t>
    </dgm:pt>
    <dgm:pt modelId="{B7D66DE3-1FE4-4EA2-B475-EC663FEA0C5B}" type="parTrans" cxnId="{AD7844EF-5D42-4480-BDB5-4F1F55EB7292}">
      <dgm:prSet/>
      <dgm:spPr/>
      <dgm:t>
        <a:bodyPr/>
        <a:lstStyle/>
        <a:p>
          <a:endParaRPr lang="en-US"/>
        </a:p>
      </dgm:t>
    </dgm:pt>
    <dgm:pt modelId="{AE04CADE-7DF2-47A0-9B6C-3DAA087BF90B}" type="sibTrans" cxnId="{AD7844EF-5D42-4480-BDB5-4F1F55EB7292}">
      <dgm:prSet/>
      <dgm:spPr/>
      <dgm:t>
        <a:bodyPr/>
        <a:lstStyle/>
        <a:p>
          <a:endParaRPr lang="en-US"/>
        </a:p>
      </dgm:t>
    </dgm:pt>
    <dgm:pt modelId="{17CC09E2-4C4C-49E0-BB21-03400C7028B8}">
      <dgm:prSet/>
      <dgm:spPr/>
      <dgm:t>
        <a:bodyPr/>
        <a:lstStyle/>
        <a:p>
          <a:r>
            <a:rPr lang="en-US" b="1" i="1" dirty="0"/>
            <a:t>HR Traditional Practices:</a:t>
          </a:r>
          <a:endParaRPr lang="en-US" dirty="0"/>
        </a:p>
      </dgm:t>
    </dgm:pt>
    <dgm:pt modelId="{3CD9FBDC-F723-439C-8A90-63E6976526F2}" type="parTrans" cxnId="{E4F8A15A-57C4-4E22-BD60-D80386AA85F3}">
      <dgm:prSet/>
      <dgm:spPr/>
      <dgm:t>
        <a:bodyPr/>
        <a:lstStyle/>
        <a:p>
          <a:endParaRPr lang="en-US"/>
        </a:p>
      </dgm:t>
    </dgm:pt>
    <dgm:pt modelId="{CFA0CE24-CD82-46E7-A749-80EFFCA6CEC8}" type="sibTrans" cxnId="{E4F8A15A-57C4-4E22-BD60-D80386AA85F3}">
      <dgm:prSet/>
      <dgm:spPr/>
      <dgm:t>
        <a:bodyPr/>
        <a:lstStyle/>
        <a:p>
          <a:endParaRPr lang="en-US"/>
        </a:p>
      </dgm:t>
    </dgm:pt>
    <dgm:pt modelId="{1672C186-ED12-4DDF-AB9E-46582B256662}" type="pres">
      <dgm:prSet presAssocID="{28A1818A-F03C-447B-97CF-9CBDF2019B55}" presName="compositeShape" presStyleCnt="0">
        <dgm:presLayoutVars>
          <dgm:dir/>
          <dgm:resizeHandles/>
        </dgm:presLayoutVars>
      </dgm:prSet>
      <dgm:spPr/>
    </dgm:pt>
    <dgm:pt modelId="{244A9CF8-2840-408B-92D0-BCA968EF2740}" type="pres">
      <dgm:prSet presAssocID="{28A1818A-F03C-447B-97CF-9CBDF2019B55}" presName="pyramid" presStyleLbl="node1" presStyleIdx="0" presStyleCnt="1"/>
      <dgm:spPr/>
    </dgm:pt>
    <dgm:pt modelId="{8E76A654-FDE7-41C6-9637-195FB849E89A}" type="pres">
      <dgm:prSet presAssocID="{28A1818A-F03C-447B-97CF-9CBDF2019B55}" presName="theList" presStyleCnt="0"/>
      <dgm:spPr/>
    </dgm:pt>
    <dgm:pt modelId="{2B97FD57-4E54-4CB5-A2E5-6DA74040DF2D}" type="pres">
      <dgm:prSet presAssocID="{B5B10FBB-F8F8-4528-A5F1-63865B396568}" presName="aNode" presStyleLbl="fgAcc1" presStyleIdx="0" presStyleCnt="3" custLinFactY="220359" custLinFactNeighborX="-96635" custLinFactNeighborY="300000">
        <dgm:presLayoutVars>
          <dgm:bulletEnabled val="1"/>
        </dgm:presLayoutVars>
      </dgm:prSet>
      <dgm:spPr/>
    </dgm:pt>
    <dgm:pt modelId="{605E9D52-2CE8-4C4D-A842-8F332ACFAF4D}" type="pres">
      <dgm:prSet presAssocID="{B5B10FBB-F8F8-4528-A5F1-63865B396568}" presName="aSpace" presStyleCnt="0"/>
      <dgm:spPr/>
    </dgm:pt>
    <dgm:pt modelId="{963C6860-7DBC-425A-9698-9213DC0B8D08}" type="pres">
      <dgm:prSet presAssocID="{17CC09E2-4C4C-49E0-BB21-03400C7028B8}" presName="aNode" presStyleLbl="fgAcc1" presStyleIdx="1" presStyleCnt="3" custLinFactNeighborX="-99340" custLinFactNeighborY="34156">
        <dgm:presLayoutVars>
          <dgm:bulletEnabled val="1"/>
        </dgm:presLayoutVars>
      </dgm:prSet>
      <dgm:spPr/>
    </dgm:pt>
    <dgm:pt modelId="{912C6B48-D3A0-4F39-843F-1C8EB2635752}" type="pres">
      <dgm:prSet presAssocID="{17CC09E2-4C4C-49E0-BB21-03400C7028B8}" presName="aSpace" presStyleCnt="0"/>
      <dgm:spPr/>
    </dgm:pt>
    <dgm:pt modelId="{227CD093-F09A-4AAA-B9FD-BCB7879E63D1}" type="pres">
      <dgm:prSet presAssocID="{024306B3-FFE5-4A7E-949B-A927C898B65B}" presName="aNode" presStyleLbl="fgAcc1" presStyleIdx="2" presStyleCnt="3" custLinFactX="-4748" custLinFactY="-204395" custLinFactNeighborX="-100000" custLinFactNeighborY="-300000">
        <dgm:presLayoutVars>
          <dgm:bulletEnabled val="1"/>
        </dgm:presLayoutVars>
      </dgm:prSet>
      <dgm:spPr/>
    </dgm:pt>
    <dgm:pt modelId="{7A6B7906-B2F5-46AD-81D3-3B515D0849ED}" type="pres">
      <dgm:prSet presAssocID="{024306B3-FFE5-4A7E-949B-A927C898B65B}" presName="aSpace" presStyleCnt="0"/>
      <dgm:spPr/>
    </dgm:pt>
  </dgm:ptLst>
  <dgm:cxnLst>
    <dgm:cxn modelId="{E330D95C-C09D-4E0E-995E-D01029F18160}" type="presOf" srcId="{B5B10FBB-F8F8-4528-A5F1-63865B396568}" destId="{2B97FD57-4E54-4CB5-A2E5-6DA74040DF2D}" srcOrd="0" destOrd="0" presId="urn:microsoft.com/office/officeart/2005/8/layout/pyramid2#1"/>
    <dgm:cxn modelId="{E4F8A15A-57C4-4E22-BD60-D80386AA85F3}" srcId="{28A1818A-F03C-447B-97CF-9CBDF2019B55}" destId="{17CC09E2-4C4C-49E0-BB21-03400C7028B8}" srcOrd="1" destOrd="0" parTransId="{3CD9FBDC-F723-439C-8A90-63E6976526F2}" sibTransId="{CFA0CE24-CD82-46E7-A749-80EFFCA6CEC8}"/>
    <dgm:cxn modelId="{780EBA7C-AF35-4D72-AF12-B30D1E16A16E}" type="presOf" srcId="{17CC09E2-4C4C-49E0-BB21-03400C7028B8}" destId="{963C6860-7DBC-425A-9698-9213DC0B8D08}" srcOrd="0" destOrd="0" presId="urn:microsoft.com/office/officeart/2005/8/layout/pyramid2#1"/>
    <dgm:cxn modelId="{13CC677E-C006-4699-8FEE-BFCC05890686}" type="presOf" srcId="{024306B3-FFE5-4A7E-949B-A927C898B65B}" destId="{227CD093-F09A-4AAA-B9FD-BCB7879E63D1}" srcOrd="0" destOrd="0" presId="urn:microsoft.com/office/officeart/2005/8/layout/pyramid2#1"/>
    <dgm:cxn modelId="{8D73B0D2-0A01-4813-826E-97C60A2BF2A3}" type="presOf" srcId="{28A1818A-F03C-447B-97CF-9CBDF2019B55}" destId="{1672C186-ED12-4DDF-AB9E-46582B256662}" srcOrd="0" destOrd="0" presId="urn:microsoft.com/office/officeart/2005/8/layout/pyramid2#1"/>
    <dgm:cxn modelId="{14F187E0-A03D-41D8-BD14-4EAB7AB7865C}" srcId="{28A1818A-F03C-447B-97CF-9CBDF2019B55}" destId="{024306B3-FFE5-4A7E-949B-A927C898B65B}" srcOrd="2" destOrd="0" parTransId="{51727028-EABE-4D99-AB1F-B4535E0B60A5}" sibTransId="{B35F5F6F-49CC-48D4-99A8-6BED7E105D8E}"/>
    <dgm:cxn modelId="{AD7844EF-5D42-4480-BDB5-4F1F55EB7292}" srcId="{28A1818A-F03C-447B-97CF-9CBDF2019B55}" destId="{B5B10FBB-F8F8-4528-A5F1-63865B396568}" srcOrd="0" destOrd="0" parTransId="{B7D66DE3-1FE4-4EA2-B475-EC663FEA0C5B}" sibTransId="{AE04CADE-7DF2-47A0-9B6C-3DAA087BF90B}"/>
    <dgm:cxn modelId="{50C81E40-A653-46B5-955D-AF0221E66FA6}" type="presParOf" srcId="{1672C186-ED12-4DDF-AB9E-46582B256662}" destId="{244A9CF8-2840-408B-92D0-BCA968EF2740}" srcOrd="0" destOrd="0" presId="urn:microsoft.com/office/officeart/2005/8/layout/pyramid2#1"/>
    <dgm:cxn modelId="{ED3C8966-0596-49C1-A073-8485EB1E32C1}" type="presParOf" srcId="{1672C186-ED12-4DDF-AB9E-46582B256662}" destId="{8E76A654-FDE7-41C6-9637-195FB849E89A}" srcOrd="1" destOrd="0" presId="urn:microsoft.com/office/officeart/2005/8/layout/pyramid2#1"/>
    <dgm:cxn modelId="{5BA2106C-90B2-4E77-9E97-5016D3E44D21}" type="presParOf" srcId="{8E76A654-FDE7-41C6-9637-195FB849E89A}" destId="{2B97FD57-4E54-4CB5-A2E5-6DA74040DF2D}" srcOrd="0" destOrd="0" presId="urn:microsoft.com/office/officeart/2005/8/layout/pyramid2#1"/>
    <dgm:cxn modelId="{BAEF9613-2D1D-4863-BD10-C153784E754E}" type="presParOf" srcId="{8E76A654-FDE7-41C6-9637-195FB849E89A}" destId="{605E9D52-2CE8-4C4D-A842-8F332ACFAF4D}" srcOrd="1" destOrd="0" presId="urn:microsoft.com/office/officeart/2005/8/layout/pyramid2#1"/>
    <dgm:cxn modelId="{4D0E148A-835F-4EA5-80F1-2606288DF635}" type="presParOf" srcId="{8E76A654-FDE7-41C6-9637-195FB849E89A}" destId="{963C6860-7DBC-425A-9698-9213DC0B8D08}" srcOrd="2" destOrd="0" presId="urn:microsoft.com/office/officeart/2005/8/layout/pyramid2#1"/>
    <dgm:cxn modelId="{8C6E914C-B11E-4B77-88E1-6B84134DD912}" type="presParOf" srcId="{8E76A654-FDE7-41C6-9637-195FB849E89A}" destId="{912C6B48-D3A0-4F39-843F-1C8EB2635752}" srcOrd="3" destOrd="0" presId="urn:microsoft.com/office/officeart/2005/8/layout/pyramid2#1"/>
    <dgm:cxn modelId="{BCCF8890-F181-4A8A-BD9A-448F00E6E501}" type="presParOf" srcId="{8E76A654-FDE7-41C6-9637-195FB849E89A}" destId="{227CD093-F09A-4AAA-B9FD-BCB7879E63D1}" srcOrd="4" destOrd="0" presId="urn:microsoft.com/office/officeart/2005/8/layout/pyramid2#1"/>
    <dgm:cxn modelId="{1344BE93-2F5E-474B-868E-33FCA2406140}" type="presParOf" srcId="{8E76A654-FDE7-41C6-9637-195FB849E89A}" destId="{7A6B7906-B2F5-46AD-81D3-3B515D0849ED}" srcOrd="5" destOrd="0" presId="urn:microsoft.com/office/officeart/2005/8/layout/pyramid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A9CF8-2840-408B-92D0-BCA968EF2740}">
      <dsp:nvSpPr>
        <dsp:cNvPr id="0" name=""/>
        <dsp:cNvSpPr/>
      </dsp:nvSpPr>
      <dsp:spPr>
        <a:xfrm>
          <a:off x="704979" y="0"/>
          <a:ext cx="4095985" cy="4095985"/>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97FD57-4E54-4CB5-A2E5-6DA74040DF2D}">
      <dsp:nvSpPr>
        <dsp:cNvPr id="0" name=""/>
        <dsp:cNvSpPr/>
      </dsp:nvSpPr>
      <dsp:spPr bwMode="white">
        <a:xfrm>
          <a:off x="180171" y="2911990"/>
          <a:ext cx="2662390" cy="96959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1" kern="1200" dirty="0"/>
            <a:t>HR Transactional Practices</a:t>
          </a:r>
          <a:endParaRPr lang="en-US" sz="2100" kern="1200" dirty="0"/>
        </a:p>
      </dsp:txBody>
      <dsp:txXfrm>
        <a:off x="227503" y="2959322"/>
        <a:ext cx="2567726" cy="874932"/>
      </dsp:txXfrm>
    </dsp:sp>
    <dsp:sp modelId="{963C6860-7DBC-425A-9698-9213DC0B8D08}">
      <dsp:nvSpPr>
        <dsp:cNvPr id="0" name=""/>
        <dsp:cNvSpPr/>
      </dsp:nvSpPr>
      <dsp:spPr bwMode="white">
        <a:xfrm>
          <a:off x="108153" y="1543991"/>
          <a:ext cx="2662390" cy="96959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1" kern="1200" dirty="0"/>
            <a:t>HR Traditional Practices:</a:t>
          </a:r>
          <a:endParaRPr lang="en-US" sz="2100" kern="1200" dirty="0"/>
        </a:p>
      </dsp:txBody>
      <dsp:txXfrm>
        <a:off x="155485" y="1591323"/>
        <a:ext cx="2567726" cy="874932"/>
      </dsp:txXfrm>
    </dsp:sp>
    <dsp:sp modelId="{227CD093-F09A-4AAA-B9FD-BCB7879E63D1}">
      <dsp:nvSpPr>
        <dsp:cNvPr id="0" name=""/>
        <dsp:cNvSpPr/>
      </dsp:nvSpPr>
      <dsp:spPr bwMode="white">
        <a:xfrm>
          <a:off x="0" y="247985"/>
          <a:ext cx="2662390" cy="96959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1" kern="1200" dirty="0"/>
            <a:t>HR Transformational Practices:</a:t>
          </a:r>
          <a:endParaRPr lang="en-US" sz="2100" kern="1200" dirty="0"/>
        </a:p>
      </dsp:txBody>
      <dsp:txXfrm>
        <a:off x="47332" y="295317"/>
        <a:ext cx="2567726" cy="874932"/>
      </dsp:txXfrm>
    </dsp:sp>
  </dsp:spTree>
</dsp:drawing>
</file>

<file path=ppt/diagrams/layout1.xml><?xml version="1.0" encoding="utf-8"?>
<dgm:layoutDef xmlns:dgm="http://schemas.openxmlformats.org/drawingml/2006/diagram" xmlns:a="http://schemas.openxmlformats.org/drawingml/2006/main" uniqueId="urn:microsoft.com/office/officeart/2005/8/layout/pyramid2#1">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9BCE30-C0E0-4E43-A3AF-90F020B30D57}" type="datetimeFigureOut">
              <a:rPr lang="en-US" smtClean="0"/>
              <a:t>5/6/2026</a:t>
            </a:fld>
            <a:endParaRPr lang="en-US"/>
          </a:p>
        </p:txBody>
      </p:sp>
      <p:sp>
        <p:nvSpPr>
          <p:cNvPr id="4" name="Slide Image Placeholder 3"/>
          <p:cNvSpPr>
            <a:spLocks noGrp="1" noRot="1" noChangeAspect="1"/>
          </p:cNvSpPr>
          <p:nvPr>
            <p:ph type="sldImg" idx="2"/>
          </p:nvPr>
        </p:nvSpPr>
        <p:spPr>
          <a:xfrm>
            <a:off x="1152525" y="685800"/>
            <a:ext cx="45529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F579AB-A990-4997-92B2-E88ACFFAFEA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9480" rtl="0" eaLnBrk="1" latinLnBrk="0" hangingPunct="1">
      <a:defRPr sz="1200" kern="1200">
        <a:solidFill>
          <a:schemeClr val="tx1"/>
        </a:solidFill>
        <a:latin typeface="+mn-lt"/>
        <a:ea typeface="+mn-ea"/>
        <a:cs typeface="+mn-cs"/>
      </a:defRPr>
    </a:lvl1pPr>
    <a:lvl2pPr marL="459740" algn="l" defTabSz="919480" rtl="0" eaLnBrk="1" latinLnBrk="0" hangingPunct="1">
      <a:defRPr sz="1200" kern="1200">
        <a:solidFill>
          <a:schemeClr val="tx1"/>
        </a:solidFill>
        <a:latin typeface="+mn-lt"/>
        <a:ea typeface="+mn-ea"/>
        <a:cs typeface="+mn-cs"/>
      </a:defRPr>
    </a:lvl2pPr>
    <a:lvl3pPr marL="919480" algn="l" defTabSz="919480" rtl="0" eaLnBrk="1" latinLnBrk="0" hangingPunct="1">
      <a:defRPr sz="1200" kern="1200">
        <a:solidFill>
          <a:schemeClr val="tx1"/>
        </a:solidFill>
        <a:latin typeface="+mn-lt"/>
        <a:ea typeface="+mn-ea"/>
        <a:cs typeface="+mn-cs"/>
      </a:defRPr>
    </a:lvl3pPr>
    <a:lvl4pPr marL="1379220" algn="l" defTabSz="919480" rtl="0" eaLnBrk="1" latinLnBrk="0" hangingPunct="1">
      <a:defRPr sz="1200" kern="1200">
        <a:solidFill>
          <a:schemeClr val="tx1"/>
        </a:solidFill>
        <a:latin typeface="+mn-lt"/>
        <a:ea typeface="+mn-ea"/>
        <a:cs typeface="+mn-cs"/>
      </a:defRPr>
    </a:lvl4pPr>
    <a:lvl5pPr marL="1838960" algn="l" defTabSz="919480" rtl="0" eaLnBrk="1" latinLnBrk="0" hangingPunct="1">
      <a:defRPr sz="1200" kern="1200">
        <a:solidFill>
          <a:schemeClr val="tx1"/>
        </a:solidFill>
        <a:latin typeface="+mn-lt"/>
        <a:ea typeface="+mn-ea"/>
        <a:cs typeface="+mn-cs"/>
      </a:defRPr>
    </a:lvl5pPr>
    <a:lvl6pPr marL="2298700" algn="l" defTabSz="919480" rtl="0" eaLnBrk="1" latinLnBrk="0" hangingPunct="1">
      <a:defRPr sz="1200" kern="1200">
        <a:solidFill>
          <a:schemeClr val="tx1"/>
        </a:solidFill>
        <a:latin typeface="+mn-lt"/>
        <a:ea typeface="+mn-ea"/>
        <a:cs typeface="+mn-cs"/>
      </a:defRPr>
    </a:lvl6pPr>
    <a:lvl7pPr marL="2758440" algn="l" defTabSz="919480" rtl="0" eaLnBrk="1" latinLnBrk="0" hangingPunct="1">
      <a:defRPr sz="1200" kern="1200">
        <a:solidFill>
          <a:schemeClr val="tx1"/>
        </a:solidFill>
        <a:latin typeface="+mn-lt"/>
        <a:ea typeface="+mn-ea"/>
        <a:cs typeface="+mn-cs"/>
      </a:defRPr>
    </a:lvl7pPr>
    <a:lvl8pPr marL="3218180" algn="l" defTabSz="919480" rtl="0" eaLnBrk="1" latinLnBrk="0" hangingPunct="1">
      <a:defRPr sz="1200" kern="1200">
        <a:solidFill>
          <a:schemeClr val="tx1"/>
        </a:solidFill>
        <a:latin typeface="+mn-lt"/>
        <a:ea typeface="+mn-ea"/>
        <a:cs typeface="+mn-cs"/>
      </a:defRPr>
    </a:lvl8pPr>
    <a:lvl9pPr marL="3677920" algn="l" defTabSz="91948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8539" y="2147193"/>
            <a:ext cx="7803436" cy="1481595"/>
          </a:xfrm>
        </p:spPr>
        <p:txBody>
          <a:bodyPr/>
          <a:lstStyle/>
          <a:p>
            <a:r>
              <a:rPr lang="en-US"/>
              <a:t>Click to edit Master title style</a:t>
            </a:r>
          </a:p>
        </p:txBody>
      </p:sp>
      <p:sp>
        <p:nvSpPr>
          <p:cNvPr id="3" name="Subtitle 2"/>
          <p:cNvSpPr>
            <a:spLocks noGrp="1"/>
          </p:cNvSpPr>
          <p:nvPr>
            <p:ph type="subTitle" idx="1"/>
          </p:nvPr>
        </p:nvSpPr>
        <p:spPr>
          <a:xfrm>
            <a:off x="1377077" y="3916786"/>
            <a:ext cx="6426359" cy="1766394"/>
          </a:xfrm>
        </p:spPr>
        <p:txBody>
          <a:bodyPr/>
          <a:lstStyle>
            <a:lvl1pPr marL="0" indent="0" algn="ctr">
              <a:buNone/>
              <a:defRPr>
                <a:solidFill>
                  <a:schemeClr val="tx1">
                    <a:tint val="75000"/>
                  </a:schemeClr>
                </a:solidFill>
              </a:defRPr>
            </a:lvl1pPr>
            <a:lvl2pPr marL="459740" indent="0" algn="ctr">
              <a:buNone/>
              <a:defRPr>
                <a:solidFill>
                  <a:schemeClr val="tx1">
                    <a:tint val="75000"/>
                  </a:schemeClr>
                </a:solidFill>
              </a:defRPr>
            </a:lvl2pPr>
            <a:lvl3pPr marL="919480" indent="0" algn="ctr">
              <a:buNone/>
              <a:defRPr>
                <a:solidFill>
                  <a:schemeClr val="tx1">
                    <a:tint val="75000"/>
                  </a:schemeClr>
                </a:solidFill>
              </a:defRPr>
            </a:lvl3pPr>
            <a:lvl4pPr marL="1379220" indent="0" algn="ctr">
              <a:buNone/>
              <a:defRPr>
                <a:solidFill>
                  <a:schemeClr val="tx1">
                    <a:tint val="75000"/>
                  </a:schemeClr>
                </a:solidFill>
              </a:defRPr>
            </a:lvl4pPr>
            <a:lvl5pPr marL="1838960" indent="0" algn="ctr">
              <a:buNone/>
              <a:defRPr>
                <a:solidFill>
                  <a:schemeClr val="tx1">
                    <a:tint val="75000"/>
                  </a:schemeClr>
                </a:solidFill>
              </a:defRPr>
            </a:lvl5pPr>
            <a:lvl6pPr marL="2298700" indent="0" algn="ctr">
              <a:buNone/>
              <a:defRPr>
                <a:solidFill>
                  <a:schemeClr val="tx1">
                    <a:tint val="75000"/>
                  </a:schemeClr>
                </a:solidFill>
              </a:defRPr>
            </a:lvl6pPr>
            <a:lvl7pPr marL="2758440" indent="0" algn="ctr">
              <a:buNone/>
              <a:defRPr>
                <a:solidFill>
                  <a:schemeClr val="tx1">
                    <a:tint val="75000"/>
                  </a:schemeClr>
                </a:solidFill>
              </a:defRPr>
            </a:lvl7pPr>
            <a:lvl8pPr marL="3218180" indent="0" algn="ctr">
              <a:buNone/>
              <a:defRPr>
                <a:solidFill>
                  <a:schemeClr val="tx1">
                    <a:tint val="75000"/>
                  </a:schemeClr>
                </a:solidFill>
              </a:defRPr>
            </a:lvl8pPr>
            <a:lvl9pPr marL="367792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5197" y="4441584"/>
            <a:ext cx="7803436" cy="137279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5197" y="2929590"/>
            <a:ext cx="7803436" cy="1511994"/>
          </a:xfrm>
        </p:spPr>
        <p:txBody>
          <a:bodyPr anchor="b"/>
          <a:lstStyle>
            <a:lvl1pPr marL="0" indent="0">
              <a:buNone/>
              <a:defRPr sz="2000">
                <a:solidFill>
                  <a:schemeClr val="tx1">
                    <a:tint val="75000"/>
                  </a:schemeClr>
                </a:solidFill>
              </a:defRPr>
            </a:lvl1pPr>
            <a:lvl2pPr marL="459740" indent="0">
              <a:buNone/>
              <a:defRPr sz="1800">
                <a:solidFill>
                  <a:schemeClr val="tx1">
                    <a:tint val="75000"/>
                  </a:schemeClr>
                </a:solidFill>
              </a:defRPr>
            </a:lvl2pPr>
            <a:lvl3pPr marL="919480" indent="0">
              <a:buNone/>
              <a:defRPr sz="1600">
                <a:solidFill>
                  <a:schemeClr val="tx1">
                    <a:tint val="75000"/>
                  </a:schemeClr>
                </a:solidFill>
              </a:defRPr>
            </a:lvl3pPr>
            <a:lvl4pPr marL="1379220" indent="0">
              <a:buNone/>
              <a:defRPr sz="1400">
                <a:solidFill>
                  <a:schemeClr val="tx1">
                    <a:tint val="75000"/>
                  </a:schemeClr>
                </a:solidFill>
              </a:defRPr>
            </a:lvl4pPr>
            <a:lvl5pPr marL="1838960" indent="0">
              <a:buNone/>
              <a:defRPr sz="1400">
                <a:solidFill>
                  <a:schemeClr val="tx1">
                    <a:tint val="75000"/>
                  </a:schemeClr>
                </a:solidFill>
              </a:defRPr>
            </a:lvl5pPr>
            <a:lvl6pPr marL="2298700" indent="0">
              <a:buNone/>
              <a:defRPr sz="1400">
                <a:solidFill>
                  <a:schemeClr val="tx1">
                    <a:tint val="75000"/>
                  </a:schemeClr>
                </a:solidFill>
              </a:defRPr>
            </a:lvl6pPr>
            <a:lvl7pPr marL="2758440" indent="0">
              <a:buNone/>
              <a:defRPr sz="1400">
                <a:solidFill>
                  <a:schemeClr val="tx1">
                    <a:tint val="75000"/>
                  </a:schemeClr>
                </a:solidFill>
              </a:defRPr>
            </a:lvl7pPr>
            <a:lvl8pPr marL="3218180" indent="0">
              <a:buNone/>
              <a:defRPr sz="1400">
                <a:solidFill>
                  <a:schemeClr val="tx1">
                    <a:tint val="75000"/>
                  </a:schemeClr>
                </a:solidFill>
              </a:defRPr>
            </a:lvl8pPr>
            <a:lvl9pPr marL="367792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9025" y="1612795"/>
            <a:ext cx="4054727" cy="45615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6761" y="1612795"/>
            <a:ext cx="4054727" cy="45615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9026" y="1547195"/>
            <a:ext cx="4056321" cy="644797"/>
          </a:xfrm>
        </p:spPr>
        <p:txBody>
          <a:bodyPr anchor="b"/>
          <a:lstStyle>
            <a:lvl1pPr marL="0" indent="0">
              <a:buNone/>
              <a:defRPr sz="2400" b="1"/>
            </a:lvl1pPr>
            <a:lvl2pPr marL="459740" indent="0">
              <a:buNone/>
              <a:defRPr sz="2000" b="1"/>
            </a:lvl2pPr>
            <a:lvl3pPr marL="919480" indent="0">
              <a:buNone/>
              <a:defRPr sz="1800" b="1"/>
            </a:lvl3pPr>
            <a:lvl4pPr marL="1379220" indent="0">
              <a:buNone/>
              <a:defRPr sz="1600" b="1"/>
            </a:lvl4pPr>
            <a:lvl5pPr marL="1838960" indent="0">
              <a:buNone/>
              <a:defRPr sz="1600" b="1"/>
            </a:lvl5pPr>
            <a:lvl6pPr marL="2298700" indent="0">
              <a:buNone/>
              <a:defRPr sz="1600" b="1"/>
            </a:lvl6pPr>
            <a:lvl7pPr marL="2758440" indent="0">
              <a:buNone/>
              <a:defRPr sz="1600" b="1"/>
            </a:lvl7pPr>
            <a:lvl8pPr marL="3218180" indent="0">
              <a:buNone/>
              <a:defRPr sz="1600" b="1"/>
            </a:lvl8pPr>
            <a:lvl9pPr marL="3677920" indent="0">
              <a:buNone/>
              <a:defRPr sz="1600" b="1"/>
            </a:lvl9pPr>
          </a:lstStyle>
          <a:p>
            <a:pPr lvl="0"/>
            <a:r>
              <a:rPr lang="en-US"/>
              <a:t>Click to edit Master text styles</a:t>
            </a:r>
          </a:p>
        </p:txBody>
      </p:sp>
      <p:sp>
        <p:nvSpPr>
          <p:cNvPr id="4" name="Content Placeholder 3"/>
          <p:cNvSpPr>
            <a:spLocks noGrp="1"/>
          </p:cNvSpPr>
          <p:nvPr>
            <p:ph sz="half" idx="2"/>
          </p:nvPr>
        </p:nvSpPr>
        <p:spPr>
          <a:xfrm>
            <a:off x="459026" y="2191992"/>
            <a:ext cx="4056321" cy="398238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574" y="1547195"/>
            <a:ext cx="4057914" cy="644797"/>
          </a:xfrm>
        </p:spPr>
        <p:txBody>
          <a:bodyPr anchor="b"/>
          <a:lstStyle>
            <a:lvl1pPr marL="0" indent="0">
              <a:buNone/>
              <a:defRPr sz="2400" b="1"/>
            </a:lvl1pPr>
            <a:lvl2pPr marL="459740" indent="0">
              <a:buNone/>
              <a:defRPr sz="2000" b="1"/>
            </a:lvl2pPr>
            <a:lvl3pPr marL="919480" indent="0">
              <a:buNone/>
              <a:defRPr sz="1800" b="1"/>
            </a:lvl3pPr>
            <a:lvl4pPr marL="1379220" indent="0">
              <a:buNone/>
              <a:defRPr sz="1600" b="1"/>
            </a:lvl4pPr>
            <a:lvl5pPr marL="1838960" indent="0">
              <a:buNone/>
              <a:defRPr sz="1600" b="1"/>
            </a:lvl5pPr>
            <a:lvl6pPr marL="2298700" indent="0">
              <a:buNone/>
              <a:defRPr sz="1600" b="1"/>
            </a:lvl6pPr>
            <a:lvl7pPr marL="2758440" indent="0">
              <a:buNone/>
              <a:defRPr sz="1600" b="1"/>
            </a:lvl7pPr>
            <a:lvl8pPr marL="3218180" indent="0">
              <a:buNone/>
              <a:defRPr sz="1600" b="1"/>
            </a:lvl8pPr>
            <a:lvl9pPr marL="367792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574" y="2191992"/>
            <a:ext cx="4057914" cy="398238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9026" y="275199"/>
            <a:ext cx="3020326" cy="117119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89325" y="275200"/>
            <a:ext cx="5132162" cy="589917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9026" y="1446395"/>
            <a:ext cx="3020326" cy="4727983"/>
          </a:xfrm>
        </p:spPr>
        <p:txBody>
          <a:bodyPr/>
          <a:lstStyle>
            <a:lvl1pPr marL="0" indent="0">
              <a:buNone/>
              <a:defRPr sz="1400"/>
            </a:lvl1pPr>
            <a:lvl2pPr marL="459740" indent="0">
              <a:buNone/>
              <a:defRPr sz="1200"/>
            </a:lvl2pPr>
            <a:lvl3pPr marL="919480" indent="0">
              <a:buNone/>
              <a:defRPr sz="1000"/>
            </a:lvl3pPr>
            <a:lvl4pPr marL="1379220" indent="0">
              <a:buNone/>
              <a:defRPr sz="900"/>
            </a:lvl4pPr>
            <a:lvl5pPr marL="1838960" indent="0">
              <a:buNone/>
              <a:defRPr sz="900"/>
            </a:lvl5pPr>
            <a:lvl6pPr marL="2298700" indent="0">
              <a:buNone/>
              <a:defRPr sz="900"/>
            </a:lvl6pPr>
            <a:lvl7pPr marL="2758440" indent="0">
              <a:buNone/>
              <a:defRPr sz="900"/>
            </a:lvl7pPr>
            <a:lvl8pPr marL="3218180" indent="0">
              <a:buNone/>
              <a:defRPr sz="900"/>
            </a:lvl8pPr>
            <a:lvl9pPr marL="367792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9445" y="4838383"/>
            <a:ext cx="5508308" cy="57119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9445" y="617598"/>
            <a:ext cx="5508308" cy="4147185"/>
          </a:xfrm>
        </p:spPr>
        <p:txBody>
          <a:bodyPr/>
          <a:lstStyle>
            <a:lvl1pPr marL="0" indent="0">
              <a:buNone/>
              <a:defRPr sz="3200"/>
            </a:lvl1pPr>
            <a:lvl2pPr marL="459740" indent="0">
              <a:buNone/>
              <a:defRPr sz="2800"/>
            </a:lvl2pPr>
            <a:lvl3pPr marL="919480" indent="0">
              <a:buNone/>
              <a:defRPr sz="2400"/>
            </a:lvl3pPr>
            <a:lvl4pPr marL="1379220" indent="0">
              <a:buNone/>
              <a:defRPr sz="2000"/>
            </a:lvl4pPr>
            <a:lvl5pPr marL="1838960" indent="0">
              <a:buNone/>
              <a:defRPr sz="2000"/>
            </a:lvl5pPr>
            <a:lvl6pPr marL="2298700" indent="0">
              <a:buNone/>
              <a:defRPr sz="2000"/>
            </a:lvl6pPr>
            <a:lvl7pPr marL="2758440" indent="0">
              <a:buNone/>
              <a:defRPr sz="2000"/>
            </a:lvl7pPr>
            <a:lvl8pPr marL="3218180" indent="0">
              <a:buNone/>
              <a:defRPr sz="2000"/>
            </a:lvl8pPr>
            <a:lvl9pPr marL="3677920" indent="0">
              <a:buNone/>
              <a:defRPr sz="2000"/>
            </a:lvl9pPr>
          </a:lstStyle>
          <a:p>
            <a:endParaRPr lang="en-US" dirty="0"/>
          </a:p>
        </p:txBody>
      </p:sp>
      <p:sp>
        <p:nvSpPr>
          <p:cNvPr id="4" name="Text Placeholder 3"/>
          <p:cNvSpPr>
            <a:spLocks noGrp="1"/>
          </p:cNvSpPr>
          <p:nvPr>
            <p:ph type="body" sz="half" idx="2"/>
          </p:nvPr>
        </p:nvSpPr>
        <p:spPr>
          <a:xfrm>
            <a:off x="1799445" y="5409581"/>
            <a:ext cx="5508308" cy="811197"/>
          </a:xfrm>
        </p:spPr>
        <p:txBody>
          <a:bodyPr/>
          <a:lstStyle>
            <a:lvl1pPr marL="0" indent="0">
              <a:buNone/>
              <a:defRPr sz="1400"/>
            </a:lvl1pPr>
            <a:lvl2pPr marL="459740" indent="0">
              <a:buNone/>
              <a:defRPr sz="1200"/>
            </a:lvl2pPr>
            <a:lvl3pPr marL="919480" indent="0">
              <a:buNone/>
              <a:defRPr sz="1000"/>
            </a:lvl3pPr>
            <a:lvl4pPr marL="1379220" indent="0">
              <a:buNone/>
              <a:defRPr sz="900"/>
            </a:lvl4pPr>
            <a:lvl5pPr marL="1838960" indent="0">
              <a:buNone/>
              <a:defRPr sz="900"/>
            </a:lvl5pPr>
            <a:lvl6pPr marL="2298700" indent="0">
              <a:buNone/>
              <a:defRPr sz="900"/>
            </a:lvl6pPr>
            <a:lvl7pPr marL="2758440" indent="0">
              <a:buNone/>
              <a:defRPr sz="900"/>
            </a:lvl7pPr>
            <a:lvl8pPr marL="3218180" indent="0">
              <a:buNone/>
              <a:defRPr sz="900"/>
            </a:lvl8pPr>
            <a:lvl9pPr marL="367792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5872" y="276800"/>
            <a:ext cx="2065615" cy="58975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9026" y="276800"/>
            <a:ext cx="6043838" cy="58975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EAF095-BBF4-4D53-99D0-5549384D8BB5}"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9F48F8-32F9-4E6D-B8F7-BEF9D3DF2D00}" type="slidenum">
              <a:rPr lang="en-US" smtClean="0"/>
              <a:t>‹#›</a:t>
            </a:fld>
            <a:endParaRPr lang="en-US" dirty="0"/>
          </a:p>
        </p:txBody>
      </p:sp>
    </p:spTree>
  </p:cSld>
  <p:clrMapOvr>
    <a:masterClrMapping/>
  </p:clrMapOvr>
  <p:transition advTm="300000">
    <p:strips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9026" y="276799"/>
            <a:ext cx="8262462" cy="1151996"/>
          </a:xfrm>
          <a:prstGeom prst="rect">
            <a:avLst/>
          </a:prstGeom>
        </p:spPr>
        <p:txBody>
          <a:bodyPr vert="horz" lIns="91952" tIns="45976" rIns="91952" bIns="45976" rtlCol="0" anchor="ctr">
            <a:normAutofit/>
          </a:bodyPr>
          <a:lstStyle/>
          <a:p>
            <a:r>
              <a:rPr lang="en-US"/>
              <a:t>Click to edit Master title style</a:t>
            </a:r>
          </a:p>
        </p:txBody>
      </p:sp>
      <p:sp>
        <p:nvSpPr>
          <p:cNvPr id="3" name="Text Placeholder 2"/>
          <p:cNvSpPr>
            <a:spLocks noGrp="1"/>
          </p:cNvSpPr>
          <p:nvPr>
            <p:ph type="body" idx="1"/>
          </p:nvPr>
        </p:nvSpPr>
        <p:spPr>
          <a:xfrm>
            <a:off x="459026" y="1612795"/>
            <a:ext cx="8262462" cy="4561584"/>
          </a:xfrm>
          <a:prstGeom prst="rect">
            <a:avLst/>
          </a:prstGeom>
        </p:spPr>
        <p:txBody>
          <a:bodyPr vert="horz" lIns="91952" tIns="45976" rIns="91952" bIns="4597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9026" y="6406377"/>
            <a:ext cx="2142120" cy="367999"/>
          </a:xfrm>
          <a:prstGeom prst="rect">
            <a:avLst/>
          </a:prstGeom>
        </p:spPr>
        <p:txBody>
          <a:bodyPr vert="horz" lIns="91952" tIns="45976" rIns="91952" bIns="45976" rtlCol="0" anchor="ctr"/>
          <a:lstStyle>
            <a:lvl1pPr algn="l">
              <a:defRPr sz="1200">
                <a:solidFill>
                  <a:schemeClr val="tx1">
                    <a:tint val="75000"/>
                  </a:schemeClr>
                </a:solidFill>
              </a:defRPr>
            </a:lvl1pPr>
          </a:lstStyle>
          <a:p>
            <a:fld id="{31EAF095-BBF4-4D53-99D0-5549384D8BB5}" type="datetimeFigureOut">
              <a:rPr lang="en-US" smtClean="0"/>
              <a:t>5/6/2026</a:t>
            </a:fld>
            <a:endParaRPr lang="en-US" dirty="0"/>
          </a:p>
        </p:txBody>
      </p:sp>
      <p:sp>
        <p:nvSpPr>
          <p:cNvPr id="5" name="Footer Placeholder 4"/>
          <p:cNvSpPr>
            <a:spLocks noGrp="1"/>
          </p:cNvSpPr>
          <p:nvPr>
            <p:ph type="ftr" sz="quarter" idx="3"/>
          </p:nvPr>
        </p:nvSpPr>
        <p:spPr>
          <a:xfrm>
            <a:off x="3136676" y="6406377"/>
            <a:ext cx="2907162" cy="367999"/>
          </a:xfrm>
          <a:prstGeom prst="rect">
            <a:avLst/>
          </a:prstGeom>
        </p:spPr>
        <p:txBody>
          <a:bodyPr vert="horz" lIns="91952" tIns="45976" rIns="91952" bIns="45976"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79368" y="6406377"/>
            <a:ext cx="2142120" cy="367999"/>
          </a:xfrm>
          <a:prstGeom prst="rect">
            <a:avLst/>
          </a:prstGeom>
        </p:spPr>
        <p:txBody>
          <a:bodyPr vert="horz" lIns="91952" tIns="45976" rIns="91952" bIns="45976" rtlCol="0" anchor="ctr"/>
          <a:lstStyle>
            <a:lvl1pPr algn="r">
              <a:defRPr sz="1200">
                <a:solidFill>
                  <a:schemeClr val="tx1">
                    <a:tint val="75000"/>
                  </a:schemeClr>
                </a:solidFill>
              </a:defRPr>
            </a:lvl1pPr>
          </a:lstStyle>
          <a:p>
            <a:fld id="{5A9F48F8-32F9-4E6D-B8F7-BEF9D3DF2D0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advTm="300000">
    <p:strips dir="ru"/>
  </p:transition>
  <p:txStyles>
    <p:titleStyle>
      <a:lvl1pPr algn="ctr" defTabSz="919480" rtl="0" eaLnBrk="1" latinLnBrk="0" hangingPunct="1">
        <a:spcBef>
          <a:spcPct val="0"/>
        </a:spcBef>
        <a:buNone/>
        <a:defRPr sz="4400" kern="1200">
          <a:solidFill>
            <a:schemeClr val="tx1"/>
          </a:solidFill>
          <a:latin typeface="+mj-lt"/>
          <a:ea typeface="+mj-ea"/>
          <a:cs typeface="+mj-cs"/>
        </a:defRPr>
      </a:lvl1pPr>
    </p:titleStyle>
    <p:bodyStyle>
      <a:lvl1pPr marL="344805" indent="-344805" algn="l" defTabSz="91948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7395" indent="-287655" algn="l" defTabSz="91948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9350" indent="-229870" algn="l" defTabSz="91948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9090" indent="-229870" algn="l" defTabSz="91948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68830" indent="-229870" algn="l" defTabSz="91948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28570" indent="-229870" algn="l" defTabSz="91948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88310" indent="-229870" algn="l" defTabSz="91948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48050" indent="-229870" algn="l" defTabSz="91948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07790" indent="-229870" algn="l" defTabSz="91948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9480" rtl="0" eaLnBrk="1" latinLnBrk="0" hangingPunct="1">
        <a:defRPr sz="1800" kern="1200">
          <a:solidFill>
            <a:schemeClr val="tx1"/>
          </a:solidFill>
          <a:latin typeface="+mn-lt"/>
          <a:ea typeface="+mn-ea"/>
          <a:cs typeface="+mn-cs"/>
        </a:defRPr>
      </a:lvl1pPr>
      <a:lvl2pPr marL="459740" algn="l" defTabSz="919480" rtl="0" eaLnBrk="1" latinLnBrk="0" hangingPunct="1">
        <a:defRPr sz="1800" kern="1200">
          <a:solidFill>
            <a:schemeClr val="tx1"/>
          </a:solidFill>
          <a:latin typeface="+mn-lt"/>
          <a:ea typeface="+mn-ea"/>
          <a:cs typeface="+mn-cs"/>
        </a:defRPr>
      </a:lvl2pPr>
      <a:lvl3pPr marL="919480" algn="l" defTabSz="919480" rtl="0" eaLnBrk="1" latinLnBrk="0" hangingPunct="1">
        <a:defRPr sz="1800" kern="1200">
          <a:solidFill>
            <a:schemeClr val="tx1"/>
          </a:solidFill>
          <a:latin typeface="+mn-lt"/>
          <a:ea typeface="+mn-ea"/>
          <a:cs typeface="+mn-cs"/>
        </a:defRPr>
      </a:lvl3pPr>
      <a:lvl4pPr marL="1379220" algn="l" defTabSz="919480" rtl="0" eaLnBrk="1" latinLnBrk="0" hangingPunct="1">
        <a:defRPr sz="1800" kern="1200">
          <a:solidFill>
            <a:schemeClr val="tx1"/>
          </a:solidFill>
          <a:latin typeface="+mn-lt"/>
          <a:ea typeface="+mn-ea"/>
          <a:cs typeface="+mn-cs"/>
        </a:defRPr>
      </a:lvl4pPr>
      <a:lvl5pPr marL="1838960" algn="l" defTabSz="919480" rtl="0" eaLnBrk="1" latinLnBrk="0" hangingPunct="1">
        <a:defRPr sz="1800" kern="1200">
          <a:solidFill>
            <a:schemeClr val="tx1"/>
          </a:solidFill>
          <a:latin typeface="+mn-lt"/>
          <a:ea typeface="+mn-ea"/>
          <a:cs typeface="+mn-cs"/>
        </a:defRPr>
      </a:lvl5pPr>
      <a:lvl6pPr marL="2298700" algn="l" defTabSz="919480" rtl="0" eaLnBrk="1" latinLnBrk="0" hangingPunct="1">
        <a:defRPr sz="1800" kern="1200">
          <a:solidFill>
            <a:schemeClr val="tx1"/>
          </a:solidFill>
          <a:latin typeface="+mn-lt"/>
          <a:ea typeface="+mn-ea"/>
          <a:cs typeface="+mn-cs"/>
        </a:defRPr>
      </a:lvl6pPr>
      <a:lvl7pPr marL="2758440" algn="l" defTabSz="919480" rtl="0" eaLnBrk="1" latinLnBrk="0" hangingPunct="1">
        <a:defRPr sz="1800" kern="1200">
          <a:solidFill>
            <a:schemeClr val="tx1"/>
          </a:solidFill>
          <a:latin typeface="+mn-lt"/>
          <a:ea typeface="+mn-ea"/>
          <a:cs typeface="+mn-cs"/>
        </a:defRPr>
      </a:lvl7pPr>
      <a:lvl8pPr marL="3218180" algn="l" defTabSz="919480" rtl="0" eaLnBrk="1" latinLnBrk="0" hangingPunct="1">
        <a:defRPr sz="1800" kern="1200">
          <a:solidFill>
            <a:schemeClr val="tx1"/>
          </a:solidFill>
          <a:latin typeface="+mn-lt"/>
          <a:ea typeface="+mn-ea"/>
          <a:cs typeface="+mn-cs"/>
        </a:defRPr>
      </a:lvl8pPr>
      <a:lvl9pPr marL="3677920" algn="l" defTabSz="91948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8539" y="2147193"/>
            <a:ext cx="7803436" cy="3108801"/>
          </a:xfrm>
        </p:spPr>
        <p:txBody>
          <a:bodyPr/>
          <a:lstStyle/>
          <a:p>
            <a:r>
              <a:rPr lang="en-GB" dirty="0"/>
              <a:t>Human resource information system (HRIS)</a:t>
            </a:r>
            <a:endParaRPr lang="en-US" dirty="0"/>
          </a:p>
        </p:txBody>
      </p:sp>
    </p:spTree>
  </p:cSld>
  <p:clrMapOvr>
    <a:masterClrMapping/>
  </p:clrMapOvr>
  <p:transition advTm="300000">
    <p:strips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026" y="575978"/>
            <a:ext cx="8262462" cy="5598400"/>
          </a:xfrm>
        </p:spPr>
        <p:txBody>
          <a:bodyPr/>
          <a:lstStyle/>
          <a:p>
            <a:r>
              <a:rPr lang="en-GB" dirty="0"/>
              <a:t>Content:</a:t>
            </a:r>
          </a:p>
          <a:p>
            <a:r>
              <a:rPr lang="en-GB" dirty="0"/>
              <a:t>concept of HRIS</a:t>
            </a:r>
            <a:endParaRPr lang="en-US" dirty="0"/>
          </a:p>
          <a:p>
            <a:r>
              <a:rPr lang="en-GB" dirty="0"/>
              <a:t>Benefit of HIRS</a:t>
            </a:r>
            <a:endParaRPr lang="en-US" dirty="0"/>
          </a:p>
          <a:p>
            <a:r>
              <a:rPr lang="en-GB" dirty="0"/>
              <a:t>Limitation</a:t>
            </a:r>
          </a:p>
          <a:p>
            <a:r>
              <a:rPr lang="en-US" dirty="0"/>
              <a:t>Data and Information Needs for HR Manager</a:t>
            </a:r>
          </a:p>
          <a:p>
            <a:pPr lvl="0"/>
            <a:r>
              <a:rPr lang="en-GB" dirty="0"/>
              <a:t>Type and nature of information recorded</a:t>
            </a:r>
            <a:endParaRPr lang="en-US" dirty="0"/>
          </a:p>
          <a:p>
            <a:pPr>
              <a:buNone/>
            </a:pPr>
            <a:r>
              <a:rPr lang="en-GB" dirty="0"/>
              <a:t> </a:t>
            </a:r>
            <a:endParaRPr lang="en-US" dirty="0"/>
          </a:p>
          <a:p>
            <a:endParaRPr lang="en-US" dirty="0"/>
          </a:p>
        </p:txBody>
      </p:sp>
    </p:spTree>
  </p:cSld>
  <p:clrMapOvr>
    <a:masterClrMapping/>
  </p:clrMapOvr>
  <p:transition advTm="300000">
    <p:strips dir="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Introduction</a:t>
            </a:r>
          </a:p>
        </p:txBody>
      </p:sp>
      <p:sp>
        <p:nvSpPr>
          <p:cNvPr id="3" name="Content Placeholder 2"/>
          <p:cNvSpPr>
            <a:spLocks noGrp="1"/>
          </p:cNvSpPr>
          <p:nvPr>
            <p:ph idx="1"/>
          </p:nvPr>
        </p:nvSpPr>
        <p:spPr/>
        <p:txBody>
          <a:bodyPr/>
          <a:lstStyle/>
          <a:p>
            <a:r>
              <a:rPr lang="en-GB" dirty="0"/>
              <a:t>Organization  depends on HRM</a:t>
            </a:r>
          </a:p>
          <a:p>
            <a:r>
              <a:rPr lang="en-US" dirty="0"/>
              <a:t>The HR professional should have ability  to analyze and consider the environment, social, economic, political-legal, and technological</a:t>
            </a:r>
          </a:p>
          <a:p>
            <a:pPr>
              <a:buFont typeface="Wingdings" panose="05000000000000000000" pitchFamily="2" charset="2"/>
              <a:buChar char="Ø"/>
            </a:pPr>
            <a:r>
              <a:rPr lang="en-US" dirty="0"/>
              <a:t>help organizations to define their strategies and build programs to develop their human capital.</a:t>
            </a:r>
          </a:p>
        </p:txBody>
      </p:sp>
    </p:spTree>
  </p:cSld>
  <p:clrMapOvr>
    <a:masterClrMapping/>
  </p:clrMapOvr>
  <p:transition advTm="300000">
    <p:strips dir="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026" y="1027095"/>
            <a:ext cx="8262462" cy="5147284"/>
          </a:xfrm>
        </p:spPr>
        <p:txBody>
          <a:bodyPr>
            <a:normAutofit lnSpcReduction="10000"/>
          </a:bodyPr>
          <a:lstStyle/>
          <a:p>
            <a:pPr>
              <a:buNone/>
            </a:pPr>
            <a:r>
              <a:rPr lang="en-US" dirty="0"/>
              <a:t>The principal goals of HR in organizations are to attract, select, motivate, and retain talented employees in their roles.</a:t>
            </a:r>
          </a:p>
          <a:p>
            <a:pPr>
              <a:buNone/>
            </a:pPr>
            <a:r>
              <a:rPr lang="en-US" dirty="0"/>
              <a:t> “the way HR processes and managed currently has transformed by  </a:t>
            </a:r>
            <a:r>
              <a:rPr lang="en-US" i="1" dirty="0"/>
              <a:t>technology</a:t>
            </a:r>
            <a:r>
              <a:rPr lang="en-US" dirty="0"/>
              <a:t> , essentially on how organizations collect, store, use, and disseminate information about their HR</a:t>
            </a:r>
          </a:p>
          <a:p>
            <a:pPr>
              <a:buNone/>
            </a:pPr>
            <a:endParaRPr lang="en-US" dirty="0"/>
          </a:p>
          <a:p>
            <a:pPr>
              <a:buFont typeface="Wingdings" panose="05000000000000000000" pitchFamily="2" charset="2"/>
              <a:buChar char="Ø"/>
            </a:pPr>
            <a:r>
              <a:rPr lang="en-US" dirty="0"/>
              <a:t>HRIS shapes an integration between HRM and information technology</a:t>
            </a:r>
          </a:p>
        </p:txBody>
      </p:sp>
    </p:spTree>
  </p:cSld>
  <p:clrMapOvr>
    <a:masterClrMapping/>
  </p:clrMapOvr>
  <p:transition advTm="300000">
    <p:strips dir="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HIRS Concept</a:t>
            </a:r>
            <a:endParaRPr lang="en-US" dirty="0"/>
          </a:p>
        </p:txBody>
      </p:sp>
      <p:sp>
        <p:nvSpPr>
          <p:cNvPr id="3" name="Content Placeholder 2"/>
          <p:cNvSpPr>
            <a:spLocks noGrp="1"/>
          </p:cNvSpPr>
          <p:nvPr>
            <p:ph idx="1"/>
          </p:nvPr>
        </p:nvSpPr>
        <p:spPr/>
        <p:txBody>
          <a:bodyPr>
            <a:normAutofit fontScale="25000" lnSpcReduction="20000"/>
          </a:bodyPr>
          <a:lstStyle/>
          <a:p>
            <a:r>
              <a:rPr lang="en-GB" sz="9600" dirty="0"/>
              <a:t>HRIS = HRM + IT </a:t>
            </a:r>
          </a:p>
          <a:p>
            <a:r>
              <a:rPr lang="en-GB" sz="9600" dirty="0"/>
              <a:t>Why integration of HRM and IT</a:t>
            </a:r>
            <a:r>
              <a:rPr lang="en-GB" sz="8000" dirty="0"/>
              <a:t>?</a:t>
            </a:r>
          </a:p>
          <a:p>
            <a:pPr lvl="1"/>
            <a:r>
              <a:rPr lang="en-GB" sz="9600" dirty="0"/>
              <a:t>HRM </a:t>
            </a:r>
            <a:r>
              <a:rPr lang="en-US" sz="9600" dirty="0"/>
              <a:t>needs to be</a:t>
            </a:r>
          </a:p>
          <a:p>
            <a:pPr lvl="2"/>
            <a:r>
              <a:rPr lang="en-US" sz="9600" dirty="0"/>
              <a:t>comprehensive, </a:t>
            </a:r>
          </a:p>
          <a:p>
            <a:pPr lvl="2"/>
            <a:r>
              <a:rPr lang="en-US" sz="9600" dirty="0"/>
              <a:t>high in quality, </a:t>
            </a:r>
          </a:p>
          <a:p>
            <a:pPr lvl="2"/>
            <a:r>
              <a:rPr lang="en-US" sz="9600" dirty="0"/>
              <a:t>fast, </a:t>
            </a:r>
          </a:p>
          <a:p>
            <a:pPr lvl="2"/>
            <a:r>
              <a:rPr lang="en-US" sz="9600" dirty="0"/>
              <a:t>flexible and in line with upcoming trends</a:t>
            </a:r>
            <a:endParaRPr lang="en-GB" sz="9600" dirty="0"/>
          </a:p>
          <a:p>
            <a:pPr lvl="1"/>
            <a:r>
              <a:rPr lang="en-US" sz="9600" i="1" dirty="0"/>
              <a:t>IT can be </a:t>
            </a:r>
          </a:p>
          <a:p>
            <a:pPr lvl="1"/>
            <a:r>
              <a:rPr lang="en-US" sz="9600" i="1" dirty="0"/>
              <a:t>an initiator, </a:t>
            </a:r>
          </a:p>
          <a:p>
            <a:pPr lvl="1"/>
            <a:r>
              <a:rPr lang="en-US" sz="9600" i="1" dirty="0"/>
              <a:t>a facilitator, and </a:t>
            </a:r>
          </a:p>
          <a:p>
            <a:pPr lvl="1"/>
            <a:r>
              <a:rPr lang="en-US" sz="9600" i="1" dirty="0"/>
              <a:t>an enabler in a business process</a:t>
            </a:r>
          </a:p>
          <a:p>
            <a:pPr marL="459740" lvl="1" indent="0">
              <a:buNone/>
            </a:pPr>
            <a:r>
              <a:rPr lang="en-GB" sz="9600" dirty="0"/>
              <a:t>With aim to support managerial decision making</a:t>
            </a:r>
            <a:endParaRPr lang="en-US" sz="9600" i="1" dirty="0"/>
          </a:p>
          <a:p>
            <a:endParaRPr lang="en-US" sz="9600" i="1" dirty="0"/>
          </a:p>
          <a:p>
            <a:endParaRPr lang="en-GB" sz="8000" dirty="0"/>
          </a:p>
          <a:p>
            <a:pPr>
              <a:buNone/>
            </a:pPr>
            <a:r>
              <a:rPr lang="en-GB" dirty="0"/>
              <a:t> </a:t>
            </a:r>
          </a:p>
        </p:txBody>
      </p:sp>
    </p:spTree>
  </p:cSld>
  <p:clrMapOvr>
    <a:masterClrMapping/>
  </p:clrMapOvr>
  <p:transition advTm="300000">
    <p:strips dir="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026" y="647979"/>
            <a:ext cx="8262462" cy="5526400"/>
          </a:xfrm>
        </p:spPr>
        <p:txBody>
          <a:bodyPr>
            <a:normAutofit fontScale="92500" lnSpcReduction="20000"/>
          </a:bodyPr>
          <a:lstStyle/>
          <a:p>
            <a:r>
              <a:rPr lang="en-GB" dirty="0"/>
              <a:t>What is HIRS</a:t>
            </a:r>
          </a:p>
          <a:p>
            <a:r>
              <a:rPr lang="en-US" dirty="0"/>
              <a:t>HRIS is defined as an information system that is focused on supporting HR functions and activities, as well as broader organizational “people” processes</a:t>
            </a:r>
            <a:endParaRPr lang="en-GB" dirty="0"/>
          </a:p>
          <a:p>
            <a:r>
              <a:rPr lang="en-US" dirty="0"/>
              <a:t>Is an integrated system used to gather, store, and analyze information regarding an organization’s human resources</a:t>
            </a:r>
          </a:p>
          <a:p>
            <a:r>
              <a:rPr lang="en-US" dirty="0"/>
              <a:t>Is the system of collecting, recording, classifying, presenting, processing, storing and disseminating various information, required for efficient and effective management of human resources in an organization</a:t>
            </a:r>
          </a:p>
        </p:txBody>
      </p:sp>
    </p:spTree>
  </p:cSld>
  <p:clrMapOvr>
    <a:masterClrMapping/>
  </p:clrMapOvr>
  <p:transition advTm="300000">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HRIS structure </a:t>
            </a:r>
          </a:p>
        </p:txBody>
      </p:sp>
      <p:sp>
        <p:nvSpPr>
          <p:cNvPr id="3" name="Content Placeholder 2"/>
          <p:cNvSpPr>
            <a:spLocks noGrp="1"/>
          </p:cNvSpPr>
          <p:nvPr>
            <p:ph idx="1"/>
          </p:nvPr>
        </p:nvSpPr>
        <p:spPr/>
        <p:txBody>
          <a:bodyPr>
            <a:normAutofit/>
          </a:bodyPr>
          <a:lstStyle/>
          <a:p>
            <a:r>
              <a:rPr lang="en-US" dirty="0"/>
              <a:t>HRIS is the composite of </a:t>
            </a:r>
          </a:p>
          <a:p>
            <a:r>
              <a:rPr lang="en-US" dirty="0"/>
              <a:t>databases,  computer applications, hardware and software, the people, policies, procedures, and  data required to manage the human resources function </a:t>
            </a:r>
          </a:p>
          <a:p>
            <a:pPr>
              <a:buFont typeface="Wingdings" panose="05000000000000000000" pitchFamily="2" charset="2"/>
              <a:buChar char="Ø"/>
            </a:pPr>
            <a:r>
              <a:rPr lang="en-US" dirty="0"/>
              <a:t>All element are necessary to be able to collect, record, store, manage, deliver, manipulate, and present data for human resources.</a:t>
            </a:r>
          </a:p>
          <a:p>
            <a:endParaRPr lang="en-US" dirty="0"/>
          </a:p>
        </p:txBody>
      </p:sp>
    </p:spTree>
  </p:cSld>
  <p:clrMapOvr>
    <a:masterClrMapping/>
  </p:clrMapOvr>
  <p:transition advTm="300000">
    <p:strips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026" y="276799"/>
            <a:ext cx="8262462" cy="874932"/>
          </a:xfrm>
        </p:spPr>
        <p:txBody>
          <a:bodyPr/>
          <a:lstStyle/>
          <a:p>
            <a:r>
              <a:rPr lang="en-GB" dirty="0"/>
              <a:t>Objective of HIRS</a:t>
            </a:r>
            <a:endParaRPr lang="en-US" dirty="0"/>
          </a:p>
        </p:txBody>
      </p:sp>
      <p:sp>
        <p:nvSpPr>
          <p:cNvPr id="3" name="Content Placeholder 2"/>
          <p:cNvSpPr>
            <a:spLocks noGrp="1"/>
          </p:cNvSpPr>
          <p:nvPr>
            <p:ph idx="1"/>
          </p:nvPr>
        </p:nvSpPr>
        <p:spPr>
          <a:xfrm>
            <a:off x="459026" y="1367755"/>
            <a:ext cx="8262462" cy="4806624"/>
          </a:xfrm>
        </p:spPr>
        <p:txBody>
          <a:bodyPr>
            <a:normAutofit/>
          </a:bodyPr>
          <a:lstStyle/>
          <a:p>
            <a:r>
              <a:rPr lang="en-US" dirty="0"/>
              <a:t>To provide accurate information about human resource and their functioning and relevant environmental factors. ( Internal and external information)</a:t>
            </a:r>
          </a:p>
          <a:p>
            <a:r>
              <a:rPr lang="en-US" dirty="0"/>
              <a:t>To provide relevant information.</a:t>
            </a:r>
          </a:p>
          <a:p>
            <a:r>
              <a:rPr lang="en-US" dirty="0"/>
              <a:t>To provide timely information. </a:t>
            </a:r>
          </a:p>
          <a:p>
            <a:endParaRPr lang="en-US" dirty="0"/>
          </a:p>
        </p:txBody>
      </p:sp>
    </p:spTree>
  </p:cSld>
  <p:clrMapOvr>
    <a:masterClrMapping/>
  </p:clrMapOvr>
  <p:transition advTm="300000">
    <p:strips dir="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Why  organization implement HIRS</a:t>
            </a:r>
            <a:br>
              <a:rPr lang="en-GB" dirty="0"/>
            </a:br>
            <a:endParaRPr lang="en-US" dirty="0"/>
          </a:p>
        </p:txBody>
      </p:sp>
      <p:sp>
        <p:nvSpPr>
          <p:cNvPr id="3" name="Content Placeholder 2"/>
          <p:cNvSpPr>
            <a:spLocks noGrp="1"/>
          </p:cNvSpPr>
          <p:nvPr>
            <p:ph idx="1"/>
          </p:nvPr>
        </p:nvSpPr>
        <p:spPr>
          <a:xfrm>
            <a:off x="459026" y="1241409"/>
            <a:ext cx="8262462" cy="4932970"/>
          </a:xfrm>
        </p:spPr>
        <p:txBody>
          <a:bodyPr>
            <a:normAutofit/>
          </a:bodyPr>
          <a:lstStyle/>
          <a:p>
            <a:r>
              <a:rPr lang="en-US" dirty="0"/>
              <a:t>Planning human resource requirements of organization</a:t>
            </a:r>
          </a:p>
          <a:p>
            <a:r>
              <a:rPr lang="en-US" dirty="0"/>
              <a:t> Employee training &amp; development to increase efficiency</a:t>
            </a:r>
          </a:p>
          <a:p>
            <a:r>
              <a:rPr lang="en-US" dirty="0"/>
              <a:t> Formulation of policies and program relating to human resource</a:t>
            </a:r>
          </a:p>
          <a:p>
            <a:pPr>
              <a:buFont typeface="Wingdings" panose="05000000000000000000" pitchFamily="2" charset="2"/>
              <a:buChar char="Ø"/>
            </a:pPr>
            <a:r>
              <a:rPr lang="en-GB" dirty="0"/>
              <a:t>The idea is to manage organization effectively to improve its performance, making profit and survive in the competitive environment</a:t>
            </a:r>
            <a:endParaRPr lang="en-US" dirty="0"/>
          </a:p>
          <a:p>
            <a:endParaRPr lang="en-US" dirty="0"/>
          </a:p>
          <a:p>
            <a:endParaRPr lang="en-US" dirty="0"/>
          </a:p>
        </p:txBody>
      </p:sp>
    </p:spTree>
  </p:cSld>
  <p:clrMapOvr>
    <a:masterClrMapping/>
  </p:clrMapOvr>
  <p:transition advTm="300000">
    <p:strips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GB" dirty="0"/>
              <a:t>Why Organization cannot survive and be competitive by using only HR without integrated them with technology?</a:t>
            </a:r>
          </a:p>
          <a:p>
            <a:r>
              <a:rPr lang="en-US" dirty="0"/>
              <a:t>Does technology is the only key to being successful at managing human resource information</a:t>
            </a:r>
            <a:endParaRPr lang="en-GB" dirty="0"/>
          </a:p>
          <a:p>
            <a:endParaRPr lang="en-US" dirty="0"/>
          </a:p>
        </p:txBody>
      </p:sp>
    </p:spTree>
  </p:cSld>
  <p:clrMapOvr>
    <a:masterClrMapping/>
  </p:clrMapOvr>
  <p:transition advTm="300000">
    <p:strips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026" y="935980"/>
            <a:ext cx="8262462" cy="5238399"/>
          </a:xfrm>
        </p:spPr>
        <p:txBody>
          <a:bodyPr>
            <a:normAutofit/>
          </a:bodyPr>
          <a:lstStyle/>
          <a:p>
            <a:r>
              <a:rPr lang="en-US" dirty="0"/>
              <a:t>HRIS is to reduce the amount of time HR employees have to spend on transactional activities, allowing the staff to spend more time on traditional and transformational activities and  to focus on outcomes and capabilities that align with the broader organizational goals</a:t>
            </a:r>
          </a:p>
          <a:p>
            <a:pPr>
              <a:buNone/>
            </a:pPr>
            <a:endParaRPr lang="en-US" dirty="0"/>
          </a:p>
          <a:p>
            <a:endParaRPr lang="en-US" dirty="0"/>
          </a:p>
          <a:p>
            <a:endParaRPr lang="en-US" dirty="0"/>
          </a:p>
        </p:txBody>
      </p:sp>
    </p:spTree>
  </p:cSld>
  <p:clrMapOvr>
    <a:masterClrMapping/>
  </p:clrMapOvr>
  <p:transition advTm="300000">
    <p:strips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HR Activities</a:t>
            </a:r>
            <a:endParaRPr lang="en-US" dirty="0"/>
          </a:p>
        </p:txBody>
      </p:sp>
      <p:sp>
        <p:nvSpPr>
          <p:cNvPr id="3" name="Content Placeholder 2"/>
          <p:cNvSpPr>
            <a:spLocks noGrp="1"/>
          </p:cNvSpPr>
          <p:nvPr>
            <p:ph idx="1"/>
          </p:nvPr>
        </p:nvSpPr>
        <p:spPr>
          <a:xfrm>
            <a:off x="459026" y="1367981"/>
            <a:ext cx="8262462" cy="4806398"/>
          </a:xfrm>
        </p:spPr>
        <p:txBody>
          <a:bodyPr>
            <a:normAutofit fontScale="25000" lnSpcReduction="20000"/>
          </a:bodyPr>
          <a:lstStyle/>
          <a:p>
            <a:pPr>
              <a:buNone/>
            </a:pPr>
            <a:r>
              <a:rPr lang="en-US" sz="9700" b="1" dirty="0"/>
              <a:t>HR Transactional activities:</a:t>
            </a:r>
            <a:endParaRPr lang="en-US" sz="9700" dirty="0"/>
          </a:p>
          <a:p>
            <a:r>
              <a:rPr lang="en-US" sz="9700" dirty="0"/>
              <a:t>These activities involve the day-to-day transactions that deal mostly with  record keeping and bookkeeping – for example, entering payroll information, employee status changes, and the administration of employee benefits.</a:t>
            </a:r>
          </a:p>
          <a:p>
            <a:pPr>
              <a:buNone/>
            </a:pPr>
            <a:r>
              <a:rPr lang="en-US" sz="9700" b="1" dirty="0"/>
              <a:t>HR Traditional activities:</a:t>
            </a:r>
            <a:endParaRPr lang="en-US" sz="9700" dirty="0"/>
          </a:p>
          <a:p>
            <a:r>
              <a:rPr lang="en-US" sz="9700" dirty="0"/>
              <a:t>These activities involve HR programs such as planning, recruiting, selection, training, compensation, and performance management.</a:t>
            </a:r>
          </a:p>
          <a:p>
            <a:pPr>
              <a:buNone/>
            </a:pPr>
            <a:r>
              <a:rPr lang="en-US" sz="9700" b="1" dirty="0"/>
              <a:t>HR Transformational activities:</a:t>
            </a:r>
            <a:endParaRPr lang="en-US" sz="9700" dirty="0"/>
          </a:p>
          <a:p>
            <a:r>
              <a:rPr lang="en-US" sz="9700" dirty="0"/>
              <a:t>The</a:t>
            </a:r>
            <a:r>
              <a:rPr lang="en-US" sz="9700" b="1" dirty="0"/>
              <a:t> </a:t>
            </a:r>
            <a:r>
              <a:rPr lang="en-US" sz="9700" dirty="0"/>
              <a:t>activities</a:t>
            </a:r>
            <a:r>
              <a:rPr lang="en-US" sz="9700" b="1" dirty="0"/>
              <a:t> </a:t>
            </a:r>
            <a:r>
              <a:rPr lang="en-US" sz="9700" dirty="0"/>
              <a:t>are those actions of an organization that “add value” to the  consumption of the firm’s product or service, such as cultural or organizational change, structural realignment, strategic redirection, and increasing innovation</a:t>
            </a:r>
            <a:r>
              <a:rPr lang="en-US" i="1" dirty="0"/>
              <a:t>. </a:t>
            </a:r>
            <a:endParaRPr lang="en-US" dirty="0"/>
          </a:p>
        </p:txBody>
      </p:sp>
    </p:spTree>
  </p:cSld>
  <p:clrMapOvr>
    <a:masterClrMapping/>
  </p:clrMapOvr>
  <p:transition advTm="300000">
    <p:strips dir="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026" y="935980"/>
            <a:ext cx="8262462" cy="5238399"/>
          </a:xfrm>
        </p:spPr>
        <p:txBody>
          <a:bodyPr/>
          <a:lstStyle/>
          <a:p>
            <a:r>
              <a:rPr lang="en-GB" dirty="0"/>
              <a:t>HR activities and time for accomplishment</a:t>
            </a:r>
          </a:p>
          <a:p>
            <a:endParaRPr lang="en-US" dirty="0"/>
          </a:p>
        </p:txBody>
      </p:sp>
      <p:graphicFrame>
        <p:nvGraphicFramePr>
          <p:cNvPr id="4" name="Diagram 3"/>
          <p:cNvGraphicFramePr/>
          <p:nvPr/>
        </p:nvGraphicFramePr>
        <p:xfrm>
          <a:off x="1530086" y="1407995"/>
          <a:ext cx="6120342" cy="40959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0" name="Straight Arrow Connector 9"/>
          <p:cNvCxnSpPr/>
          <p:nvPr/>
        </p:nvCxnSpPr>
        <p:spPr>
          <a:xfrm rot="10800000">
            <a:off x="4303363" y="2231984"/>
            <a:ext cx="1004126" cy="1600"/>
          </a:xfrm>
          <a:prstGeom prst="straightConnector1">
            <a:avLst/>
          </a:prstGeom>
          <a:ln w="38100">
            <a:solidFill>
              <a:schemeClr val="tx1"/>
            </a:solidFill>
            <a:tailEnd type="arrow"/>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a:off x="4303364" y="3383988"/>
            <a:ext cx="1219295" cy="1600"/>
          </a:xfrm>
          <a:prstGeom prst="straightConnector1">
            <a:avLst/>
          </a:prstGeom>
          <a:ln w="38100">
            <a:solidFill>
              <a:schemeClr val="tx1"/>
            </a:solidFill>
            <a:tailEnd type="arrow"/>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a:off x="4375087" y="4751992"/>
            <a:ext cx="1649635" cy="1600"/>
          </a:xfrm>
          <a:prstGeom prst="straightConnector1">
            <a:avLst/>
          </a:prstGeom>
          <a:ln w="38100">
            <a:solidFill>
              <a:schemeClr val="tx1"/>
            </a:solidFill>
            <a:tailEnd type="arrow"/>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024722" y="4535992"/>
            <a:ext cx="1649635" cy="465298"/>
          </a:xfrm>
          <a:prstGeom prst="rect">
            <a:avLst/>
          </a:prstGeom>
          <a:noFill/>
        </p:spPr>
        <p:txBody>
          <a:bodyPr wrap="square" lIns="91952" tIns="45976" rIns="91952" bIns="45976" rtlCol="0">
            <a:spAutoFit/>
          </a:bodyPr>
          <a:lstStyle/>
          <a:p>
            <a:r>
              <a:rPr lang="en-GB" sz="2400" b="1" dirty="0"/>
              <a:t>   65-75%</a:t>
            </a:r>
            <a:endParaRPr lang="en-US" sz="2400" b="1" dirty="0"/>
          </a:p>
        </p:txBody>
      </p:sp>
      <p:sp>
        <p:nvSpPr>
          <p:cNvPr id="8" name="TextBox 7"/>
          <p:cNvSpPr txBox="1"/>
          <p:nvPr/>
        </p:nvSpPr>
        <p:spPr>
          <a:xfrm>
            <a:off x="5737828" y="3167987"/>
            <a:ext cx="1291019" cy="465298"/>
          </a:xfrm>
          <a:prstGeom prst="rect">
            <a:avLst/>
          </a:prstGeom>
          <a:noFill/>
        </p:spPr>
        <p:txBody>
          <a:bodyPr wrap="square" lIns="91952" tIns="45976" rIns="91952" bIns="45976" rtlCol="0">
            <a:spAutoFit/>
          </a:bodyPr>
          <a:lstStyle/>
          <a:p>
            <a:r>
              <a:rPr lang="en-GB" sz="2400" b="1" dirty="0"/>
              <a:t>15-30</a:t>
            </a:r>
            <a:r>
              <a:rPr lang="en-GB" b="1" dirty="0"/>
              <a:t>%</a:t>
            </a:r>
            <a:endParaRPr lang="en-US" b="1" dirty="0"/>
          </a:p>
        </p:txBody>
      </p:sp>
      <p:sp>
        <p:nvSpPr>
          <p:cNvPr id="11" name="TextBox 10"/>
          <p:cNvSpPr txBox="1"/>
          <p:nvPr/>
        </p:nvSpPr>
        <p:spPr>
          <a:xfrm>
            <a:off x="5379213" y="2015983"/>
            <a:ext cx="1288038" cy="465298"/>
          </a:xfrm>
          <a:prstGeom prst="rect">
            <a:avLst/>
          </a:prstGeom>
          <a:noFill/>
        </p:spPr>
        <p:txBody>
          <a:bodyPr wrap="none" lIns="91952" tIns="45976" rIns="91952" bIns="45976" rtlCol="0">
            <a:spAutoFit/>
          </a:bodyPr>
          <a:lstStyle/>
          <a:p>
            <a:r>
              <a:rPr lang="en-GB" sz="2400" b="1" dirty="0"/>
              <a:t>5 to 15%</a:t>
            </a:r>
            <a:endParaRPr lang="en-US" sz="2400" b="1" dirty="0"/>
          </a:p>
        </p:txBody>
      </p:sp>
    </p:spTree>
  </p:cSld>
  <p:clrMapOvr>
    <a:masterClrMapping/>
  </p:clrMapOvr>
  <p:transition advTm="300000">
    <p:strips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Ways that an HRIS can add value to HR and the organization</a:t>
            </a:r>
          </a:p>
        </p:txBody>
      </p:sp>
      <p:sp>
        <p:nvSpPr>
          <p:cNvPr id="3" name="Content Placeholder 2"/>
          <p:cNvSpPr>
            <a:spLocks noGrp="1"/>
          </p:cNvSpPr>
          <p:nvPr>
            <p:ph idx="1"/>
          </p:nvPr>
        </p:nvSpPr>
        <p:spPr/>
        <p:txBody>
          <a:bodyPr>
            <a:normAutofit fontScale="85000" lnSpcReduction="20000"/>
          </a:bodyPr>
          <a:lstStyle/>
          <a:p>
            <a:r>
              <a:rPr lang="en-US" dirty="0"/>
              <a:t>By automating processes or transactions, it provides information to help HR conduct their transactional activities more efficient</a:t>
            </a:r>
          </a:p>
          <a:p>
            <a:r>
              <a:rPr lang="en-US" dirty="0"/>
              <a:t>By providing </a:t>
            </a:r>
            <a:r>
              <a:rPr lang="en-US" i="1" dirty="0"/>
              <a:t>accurate and timely information to the HR personnel </a:t>
            </a:r>
            <a:r>
              <a:rPr lang="en-US" dirty="0"/>
              <a:t>and managers, it can help them make better decisions. </a:t>
            </a:r>
          </a:p>
          <a:p>
            <a:r>
              <a:rPr lang="en-US" dirty="0"/>
              <a:t>By providing more information, by helping HR reshape practices, and by freeing up HR employees’ time, HRIS can help HR more fully support the strategic mission of the firm</a:t>
            </a:r>
          </a:p>
          <a:p>
            <a:r>
              <a:rPr lang="en-US" dirty="0"/>
              <a:t>Improving HR monitoring, track trend, analyze data and make decision </a:t>
            </a:r>
          </a:p>
        </p:txBody>
      </p:sp>
    </p:spTree>
  </p:cSld>
  <p:clrMapOvr>
    <a:masterClrMapping/>
  </p:clrMapOvr>
  <p:transition advTm="300000">
    <p:strips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Benefit of HIRS</a:t>
            </a:r>
            <a:endParaRPr lang="en-US" dirty="0"/>
          </a:p>
        </p:txBody>
      </p:sp>
      <p:sp>
        <p:nvSpPr>
          <p:cNvPr id="3" name="Content Placeholder 2"/>
          <p:cNvSpPr>
            <a:spLocks noGrp="1"/>
          </p:cNvSpPr>
          <p:nvPr>
            <p:ph idx="1"/>
          </p:nvPr>
        </p:nvSpPr>
        <p:spPr>
          <a:xfrm>
            <a:off x="459026" y="1169971"/>
            <a:ext cx="8262462" cy="5004408"/>
          </a:xfrm>
        </p:spPr>
        <p:txBody>
          <a:bodyPr>
            <a:normAutofit fontScale="92500" lnSpcReduction="20000"/>
          </a:bodyPr>
          <a:lstStyle/>
          <a:p>
            <a:r>
              <a:rPr lang="en-US" dirty="0"/>
              <a:t>Providing a comprehensive information picture as a single, integrated database; </a:t>
            </a:r>
          </a:p>
          <a:p>
            <a:r>
              <a:rPr lang="en-US" dirty="0"/>
              <a:t>Increasing competitiveness by improving HR operations and  management processes; </a:t>
            </a:r>
          </a:p>
          <a:p>
            <a:r>
              <a:rPr lang="en-US" dirty="0"/>
              <a:t>Improved timeliness and quality of decision making</a:t>
            </a:r>
          </a:p>
          <a:p>
            <a:r>
              <a:rPr lang="en-US" dirty="0"/>
              <a:t>Streamlining and enhancing the efficiency and effectiveness of HR administrative functions </a:t>
            </a:r>
          </a:p>
          <a:p>
            <a:r>
              <a:rPr lang="en-US" dirty="0"/>
              <a:t>Shifting the focus of HR from the processing of transactions to strategic HRM; </a:t>
            </a:r>
          </a:p>
          <a:p>
            <a:r>
              <a:rPr lang="en-US" dirty="0"/>
              <a:t>Improving employee satisfaction by delivering HR services more quickly and accurately </a:t>
            </a:r>
          </a:p>
        </p:txBody>
      </p:sp>
    </p:spTree>
  </p:cSld>
  <p:clrMapOvr>
    <a:masterClrMapping/>
  </p:clrMapOvr>
  <p:transition advTm="300000">
    <p:strips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t>Accuracy, efficiency  and competitiveness</a:t>
            </a:r>
          </a:p>
          <a:p>
            <a:r>
              <a:rPr lang="en-GB" dirty="0"/>
              <a:t>Re engineering HR function</a:t>
            </a:r>
          </a:p>
          <a:p>
            <a:r>
              <a:rPr lang="en-GB" dirty="0"/>
              <a:t>Focus on strategic HRM</a:t>
            </a:r>
          </a:p>
          <a:p>
            <a:r>
              <a:rPr lang="en-GB" dirty="0"/>
              <a:t>Saving cost</a:t>
            </a:r>
            <a:endParaRPr lang="en-US" dirty="0"/>
          </a:p>
        </p:txBody>
      </p:sp>
    </p:spTree>
  </p:cSld>
  <p:clrMapOvr>
    <a:masterClrMapping/>
  </p:clrMapOvr>
  <p:transition advTm="300000">
    <p:strips dir="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Limitation</a:t>
            </a:r>
            <a:endParaRPr lang="en-US" dirty="0"/>
          </a:p>
        </p:txBody>
      </p:sp>
      <p:sp>
        <p:nvSpPr>
          <p:cNvPr id="3" name="Content Placeholder 2"/>
          <p:cNvSpPr>
            <a:spLocks noGrp="1"/>
          </p:cNvSpPr>
          <p:nvPr>
            <p:ph idx="1"/>
          </p:nvPr>
        </p:nvSpPr>
        <p:spPr>
          <a:xfrm>
            <a:off x="459026" y="1384285"/>
            <a:ext cx="8262462" cy="4790094"/>
          </a:xfrm>
        </p:spPr>
        <p:txBody>
          <a:bodyPr>
            <a:normAutofit/>
          </a:bodyPr>
          <a:lstStyle/>
          <a:p>
            <a:r>
              <a:rPr lang="en-GB" dirty="0"/>
              <a:t>In adequate information</a:t>
            </a:r>
            <a:endParaRPr lang="en-US" dirty="0"/>
          </a:p>
          <a:p>
            <a:r>
              <a:rPr lang="en-GB" dirty="0"/>
              <a:t>Security</a:t>
            </a:r>
            <a:endParaRPr lang="en-US" dirty="0"/>
          </a:p>
          <a:p>
            <a:r>
              <a:rPr lang="en-GB" dirty="0"/>
              <a:t>inadequate development program</a:t>
            </a:r>
            <a:endParaRPr lang="en-US" dirty="0"/>
          </a:p>
          <a:p>
            <a:r>
              <a:rPr lang="en-GB" dirty="0"/>
              <a:t>Lack of support of top management</a:t>
            </a:r>
            <a:endParaRPr lang="en-US" dirty="0"/>
          </a:p>
          <a:p>
            <a:r>
              <a:rPr lang="en-GB" dirty="0"/>
              <a:t>Improper actualization</a:t>
            </a:r>
          </a:p>
          <a:p>
            <a:r>
              <a:rPr lang="en-US" dirty="0"/>
              <a:t>Cost </a:t>
            </a:r>
          </a:p>
          <a:p>
            <a:r>
              <a:rPr lang="en-US" dirty="0"/>
              <a:t>Resistance to change</a:t>
            </a:r>
          </a:p>
        </p:txBody>
      </p:sp>
    </p:spTree>
  </p:cSld>
  <p:clrMapOvr>
    <a:masterClrMapping/>
  </p:clrMapOvr>
  <p:transition advTm="300000">
    <p:strips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026" y="276799"/>
            <a:ext cx="8262462" cy="1018948"/>
          </a:xfrm>
        </p:spPr>
        <p:txBody>
          <a:bodyPr>
            <a:normAutofit fontScale="90000"/>
          </a:bodyPr>
          <a:lstStyle/>
          <a:p>
            <a:r>
              <a:rPr lang="en-US" b="1" dirty="0"/>
              <a:t>Data and Information Needs for HR Manager</a:t>
            </a:r>
            <a:endParaRPr lang="en-US" dirty="0"/>
          </a:p>
        </p:txBody>
      </p:sp>
      <p:sp>
        <p:nvSpPr>
          <p:cNvPr id="3" name="Content Placeholder 2"/>
          <p:cNvSpPr>
            <a:spLocks noGrp="1"/>
          </p:cNvSpPr>
          <p:nvPr>
            <p:ph idx="1"/>
          </p:nvPr>
        </p:nvSpPr>
        <p:spPr>
          <a:xfrm>
            <a:off x="459026" y="1428795"/>
            <a:ext cx="8451710" cy="4979520"/>
          </a:xfrm>
        </p:spPr>
        <p:txBody>
          <a:bodyPr>
            <a:noAutofit/>
          </a:bodyPr>
          <a:lstStyle/>
          <a:p>
            <a:pPr>
              <a:buFont typeface="Wingdings" panose="05000000000000000000" pitchFamily="2" charset="2"/>
              <a:buChar char="q"/>
            </a:pPr>
            <a:r>
              <a:rPr lang="en-US" sz="2300" dirty="0"/>
              <a:t>The Data is considered as Raw Facts</a:t>
            </a:r>
          </a:p>
          <a:p>
            <a:pPr>
              <a:buFont typeface="Wingdings" panose="05000000000000000000" pitchFamily="2" charset="2"/>
              <a:buChar char="q"/>
            </a:pPr>
            <a:r>
              <a:rPr lang="en-US" sz="2300" dirty="0"/>
              <a:t> Information is a processed data output.</a:t>
            </a:r>
          </a:p>
          <a:p>
            <a:pPr>
              <a:buFont typeface="Wingdings" panose="05000000000000000000" pitchFamily="2" charset="2"/>
              <a:buChar char="q"/>
            </a:pPr>
            <a:r>
              <a:rPr lang="en-US" sz="2300" dirty="0"/>
              <a:t>Data is information such as facts and numbers used to analyze something or make decision</a:t>
            </a:r>
          </a:p>
          <a:p>
            <a:pPr>
              <a:buFont typeface="Wingdings" panose="05000000000000000000" pitchFamily="2" charset="2"/>
              <a:buChar char="q"/>
            </a:pPr>
            <a:r>
              <a:rPr lang="en-GB" sz="2300" dirty="0"/>
              <a:t>Types of data collected by HR</a:t>
            </a:r>
            <a:endParaRPr lang="en-US" sz="2300" dirty="0"/>
          </a:p>
          <a:p>
            <a:pPr marL="633730" indent="-279400">
              <a:buFont typeface="Wingdings" panose="05000000000000000000" pitchFamily="2" charset="2"/>
              <a:buChar char="ü"/>
            </a:pPr>
            <a:r>
              <a:rPr lang="en-US" sz="2300" dirty="0"/>
              <a:t>Hiring statistics (acceptance rate, hiring rate, hiring projections)</a:t>
            </a:r>
          </a:p>
          <a:p>
            <a:pPr marL="633730" indent="-368300">
              <a:buFont typeface="Wingdings" panose="05000000000000000000" pitchFamily="2" charset="2"/>
              <a:buChar char="ü"/>
            </a:pPr>
            <a:r>
              <a:rPr lang="en-US" sz="2300" dirty="0"/>
              <a:t>Turnover</a:t>
            </a:r>
          </a:p>
          <a:p>
            <a:pPr marL="633730" indent="-368300">
              <a:buFont typeface="Wingdings" panose="05000000000000000000" pitchFamily="2" charset="2"/>
              <a:buChar char="ü"/>
            </a:pPr>
            <a:r>
              <a:rPr lang="en-US" sz="2300" dirty="0"/>
              <a:t>Compensation and benefits philosophy and practice</a:t>
            </a:r>
          </a:p>
          <a:p>
            <a:pPr marL="633730" indent="-368300">
              <a:buFont typeface="Wingdings" panose="05000000000000000000" pitchFamily="2" charset="2"/>
              <a:buChar char="ü"/>
            </a:pPr>
            <a:r>
              <a:rPr lang="en-US" sz="2300" dirty="0"/>
              <a:t>Exit interview summaries</a:t>
            </a:r>
          </a:p>
          <a:p>
            <a:pPr marL="633730" indent="-368300">
              <a:buFont typeface="Wingdings" panose="05000000000000000000" pitchFamily="2" charset="2"/>
              <a:buChar char="ü"/>
            </a:pPr>
            <a:r>
              <a:rPr lang="en-US" sz="2300" dirty="0"/>
              <a:t>Employee complaints (discrimination, harassment, safety, other)</a:t>
            </a:r>
          </a:p>
          <a:p>
            <a:pPr marL="633730" indent="-368300">
              <a:buFont typeface="Wingdings" panose="05000000000000000000" pitchFamily="2" charset="2"/>
              <a:buChar char="ü"/>
            </a:pPr>
            <a:r>
              <a:rPr lang="en-US" sz="2300" dirty="0"/>
              <a:t>Promotion and advancement practices and trends</a:t>
            </a:r>
          </a:p>
          <a:p>
            <a:pPr marL="633730" indent="-368300">
              <a:buFont typeface="Wingdings" panose="05000000000000000000" pitchFamily="2" charset="2"/>
              <a:buChar char="ü"/>
            </a:pPr>
            <a:r>
              <a:rPr lang="en-US" sz="2300" dirty="0"/>
              <a:t>Human Resources budget and expenditures</a:t>
            </a:r>
          </a:p>
        </p:txBody>
      </p:sp>
    </p:spTree>
  </p:cSld>
  <p:clrMapOvr>
    <a:masterClrMapping/>
  </p:clrMapOvr>
  <p:transition advTm="300000">
    <p:strips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Sources of HR Data</a:t>
            </a:r>
            <a:br>
              <a:rPr lang="en-US" b="1" dirty="0"/>
            </a:br>
            <a:endParaRPr lang="en-US" dirty="0"/>
          </a:p>
        </p:txBody>
      </p:sp>
      <p:sp>
        <p:nvSpPr>
          <p:cNvPr id="3" name="Content Placeholder 2"/>
          <p:cNvSpPr>
            <a:spLocks noGrp="1"/>
          </p:cNvSpPr>
          <p:nvPr>
            <p:ph idx="1"/>
          </p:nvPr>
        </p:nvSpPr>
        <p:spPr/>
        <p:txBody>
          <a:bodyPr>
            <a:normAutofit/>
          </a:bodyPr>
          <a:lstStyle/>
          <a:p>
            <a:r>
              <a:rPr lang="en-US" dirty="0"/>
              <a:t>HR Department has 3 sources of data collection in general:</a:t>
            </a:r>
          </a:p>
          <a:p>
            <a:pPr marL="514350" indent="-514350">
              <a:buFont typeface="+mj-lt"/>
              <a:buAutoNum type="arabicPeriod"/>
            </a:pPr>
            <a:r>
              <a:rPr lang="en-US" dirty="0"/>
              <a:t>Analytical data from various departments (e.g. Finance, Marketing etc.)</a:t>
            </a:r>
          </a:p>
          <a:p>
            <a:pPr marL="514350" indent="-514350">
              <a:buFont typeface="+mj-lt"/>
              <a:buAutoNum type="arabicPeriod"/>
            </a:pPr>
            <a:r>
              <a:rPr lang="en-US" dirty="0"/>
              <a:t>By survey methods.</a:t>
            </a:r>
          </a:p>
          <a:p>
            <a:pPr marL="514350" indent="-514350">
              <a:buFont typeface="+mj-lt"/>
              <a:buAutoNum type="arabicPeriod"/>
            </a:pPr>
            <a:r>
              <a:rPr lang="en-US" dirty="0"/>
              <a:t>From external sources (e.g. Outsourcing the data collection or from external data warehouses)</a:t>
            </a:r>
          </a:p>
        </p:txBody>
      </p:sp>
    </p:spTree>
  </p:cSld>
  <p:clrMapOvr>
    <a:masterClrMapping/>
  </p:clrMapOvr>
  <p:transition advTm="300000">
    <p:strips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GB" dirty="0"/>
            </a:br>
            <a:r>
              <a:rPr lang="en-GB" b="1" dirty="0"/>
              <a:t>Files to be stored in HRIS</a:t>
            </a:r>
            <a:br>
              <a:rPr lang="en-US" b="1" dirty="0"/>
            </a:br>
            <a:endParaRPr lang="en-US" b="1" dirty="0"/>
          </a:p>
        </p:txBody>
      </p:sp>
      <p:sp>
        <p:nvSpPr>
          <p:cNvPr id="3" name="Content Placeholder 2"/>
          <p:cNvSpPr>
            <a:spLocks noGrp="1"/>
          </p:cNvSpPr>
          <p:nvPr>
            <p:ph idx="1"/>
          </p:nvPr>
        </p:nvSpPr>
        <p:spPr/>
        <p:txBody>
          <a:bodyPr>
            <a:normAutofit fontScale="92500" lnSpcReduction="10000"/>
          </a:bodyPr>
          <a:lstStyle/>
          <a:p>
            <a:r>
              <a:rPr lang="en-GB" dirty="0"/>
              <a:t>HRIS has resulted in an integrated database  that store different  human resource files such as:</a:t>
            </a:r>
          </a:p>
          <a:p>
            <a:r>
              <a:rPr lang="en-GB" dirty="0"/>
              <a:t>Employee files</a:t>
            </a:r>
          </a:p>
          <a:p>
            <a:r>
              <a:rPr lang="en-GB" dirty="0"/>
              <a:t>Position, </a:t>
            </a:r>
          </a:p>
          <a:p>
            <a:r>
              <a:rPr lang="en-GB" dirty="0"/>
              <a:t>Skills inventory files,</a:t>
            </a:r>
          </a:p>
          <a:p>
            <a:r>
              <a:rPr lang="en-GB" dirty="0"/>
              <a:t>Affirmative action files,</a:t>
            </a:r>
          </a:p>
          <a:p>
            <a:r>
              <a:rPr lang="en-GB" dirty="0"/>
              <a:t>Job analysis and design files, </a:t>
            </a:r>
          </a:p>
          <a:p>
            <a:r>
              <a:rPr lang="en-GB" dirty="0"/>
              <a:t>Occupational health and safety files, and many other human resource files </a:t>
            </a:r>
            <a:endParaRPr lang="en-US" dirty="0"/>
          </a:p>
        </p:txBody>
      </p:sp>
    </p:spTree>
  </p:cSld>
  <p:clrMapOvr>
    <a:masterClrMapping/>
  </p:clrMapOvr>
  <p:transition advTm="300000">
    <p:strips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HRIS Data Sources</a:t>
            </a:r>
            <a:endParaRPr lang="en-US" dirty="0"/>
          </a:p>
        </p:txBody>
      </p:sp>
      <p:sp>
        <p:nvSpPr>
          <p:cNvPr id="3" name="Content Placeholder 2"/>
          <p:cNvSpPr>
            <a:spLocks noGrp="1"/>
          </p:cNvSpPr>
          <p:nvPr>
            <p:ph idx="1"/>
          </p:nvPr>
        </p:nvSpPr>
        <p:spPr/>
        <p:txBody>
          <a:bodyPr>
            <a:normAutofit lnSpcReduction="10000"/>
          </a:bodyPr>
          <a:lstStyle/>
          <a:p>
            <a:r>
              <a:rPr lang="en-US" dirty="0"/>
              <a:t>The company’s HRIS contains data on the most common HR functions including:</a:t>
            </a:r>
          </a:p>
          <a:p>
            <a:r>
              <a:rPr lang="en-US" dirty="0"/>
              <a:t>Recruitment,</a:t>
            </a:r>
          </a:p>
          <a:p>
            <a:r>
              <a:rPr lang="en-US" dirty="0"/>
              <a:t>Performance management, and</a:t>
            </a:r>
          </a:p>
          <a:p>
            <a:r>
              <a:rPr lang="en-US" dirty="0"/>
              <a:t>Talent management.</a:t>
            </a:r>
          </a:p>
          <a:p>
            <a:pPr>
              <a:buNone/>
            </a:pPr>
            <a:r>
              <a:rPr lang="en-US" dirty="0"/>
              <a:t> Although the modules in the HRIS differ from company to company, their is often a common group of modules that contain data useful for people analytics.</a:t>
            </a:r>
          </a:p>
          <a:p>
            <a:endParaRPr lang="en-US" dirty="0"/>
          </a:p>
        </p:txBody>
      </p:sp>
    </p:spTree>
  </p:cSld>
  <p:clrMapOvr>
    <a:masterClrMapping/>
  </p:clrMapOvr>
  <p:transition advTm="300000">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HRIS Modules</a:t>
            </a:r>
          </a:p>
        </p:txBody>
      </p:sp>
      <p:sp>
        <p:nvSpPr>
          <p:cNvPr id="5" name="Content Placeholder 4"/>
          <p:cNvSpPr>
            <a:spLocks noGrp="1"/>
          </p:cNvSpPr>
          <p:nvPr>
            <p:ph idx="1"/>
          </p:nvPr>
        </p:nvSpPr>
        <p:spPr/>
        <p:txBody>
          <a:bodyPr>
            <a:normAutofit lnSpcReduction="10000"/>
          </a:bodyPr>
          <a:lstStyle/>
          <a:p>
            <a:pPr marL="514350" indent="-514350">
              <a:buFont typeface="+mj-lt"/>
              <a:buAutoNum type="arabicPeriod"/>
            </a:pPr>
            <a:r>
              <a:rPr lang="en-US" b="1" dirty="0"/>
              <a:t>Applicant Tracking System (ATS)  </a:t>
            </a:r>
            <a:r>
              <a:rPr lang="en-US" dirty="0"/>
              <a:t>is the data source that store recruiting data. </a:t>
            </a:r>
          </a:p>
          <a:p>
            <a:pPr marL="514350" indent="-514350">
              <a:buNone/>
            </a:pPr>
            <a:r>
              <a:rPr lang="en-GB" dirty="0"/>
              <a:t>The data stored includes:</a:t>
            </a:r>
          </a:p>
          <a:p>
            <a:pPr marL="514350" indent="-158750">
              <a:buFont typeface="Wingdings" panose="05000000000000000000" pitchFamily="2" charset="2"/>
              <a:buChar char="§"/>
            </a:pPr>
            <a:r>
              <a:rPr lang="en-GB" dirty="0"/>
              <a:t>The </a:t>
            </a:r>
            <a:r>
              <a:rPr lang="en-US" dirty="0"/>
              <a:t>number of candidates who applied, </a:t>
            </a:r>
          </a:p>
          <a:p>
            <a:pPr marL="514350" indent="-158750">
              <a:buFont typeface="Wingdings" panose="05000000000000000000" pitchFamily="2" charset="2"/>
              <a:buChar char="§"/>
            </a:pPr>
            <a:r>
              <a:rPr lang="en-US" dirty="0"/>
              <a:t>Their CVs and other characteristics</a:t>
            </a:r>
          </a:p>
          <a:p>
            <a:pPr marL="514350" indent="-158750">
              <a:buFont typeface="Wingdings" panose="05000000000000000000" pitchFamily="2" charset="2"/>
              <a:buChar char="§"/>
            </a:pPr>
            <a:r>
              <a:rPr lang="en-US" dirty="0"/>
              <a:t>Data about the recruitment funnel</a:t>
            </a:r>
          </a:p>
          <a:p>
            <a:pPr marL="514350" indent="-158750">
              <a:buFont typeface="Wingdings" panose="05000000000000000000" pitchFamily="2" charset="2"/>
              <a:buChar char="§"/>
            </a:pPr>
            <a:r>
              <a:rPr lang="en-US" dirty="0"/>
              <a:t>Recruitment sources, selection, and so on. </a:t>
            </a:r>
          </a:p>
          <a:p>
            <a:pPr marL="514350" indent="-158750">
              <a:buNone/>
            </a:pPr>
            <a:r>
              <a:rPr lang="en-GB" dirty="0"/>
              <a:t>It used as an input for  recruiting metric </a:t>
            </a:r>
            <a:endParaRPr lang="en-US" dirty="0"/>
          </a:p>
        </p:txBody>
      </p:sp>
    </p:spTree>
  </p:cSld>
  <p:clrMapOvr>
    <a:masterClrMapping/>
  </p:clrMapOvr>
  <p:transition advTm="300000">
    <p:strips dir="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414" y="312715"/>
            <a:ext cx="8346074" cy="1071570"/>
          </a:xfrm>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pPr>
              <a:buNone/>
            </a:pPr>
            <a:r>
              <a:rPr lang="en-GB" dirty="0"/>
              <a:t>2.</a:t>
            </a:r>
            <a:r>
              <a:rPr lang="en-US" dirty="0"/>
              <a:t> </a:t>
            </a:r>
            <a:r>
              <a:rPr lang="en-US" b="1" dirty="0"/>
              <a:t>Employee records </a:t>
            </a:r>
            <a:r>
              <a:rPr lang="en-US" dirty="0"/>
              <a:t>is the data source that store demographic data.</a:t>
            </a:r>
          </a:p>
          <a:p>
            <a:pPr>
              <a:buNone/>
            </a:pPr>
            <a:r>
              <a:rPr lang="en-GB" dirty="0"/>
              <a:t>The data stored includes</a:t>
            </a:r>
          </a:p>
          <a:p>
            <a:pPr marL="344805" indent="11430">
              <a:buFont typeface="Wingdings" panose="05000000000000000000" pitchFamily="2" charset="2"/>
              <a:buChar char="§"/>
            </a:pPr>
            <a:r>
              <a:rPr lang="en-US" dirty="0"/>
              <a:t>Employee ID</a:t>
            </a:r>
          </a:p>
          <a:p>
            <a:pPr marL="344805" indent="11430">
              <a:buFont typeface="Wingdings" panose="05000000000000000000" pitchFamily="2" charset="2"/>
              <a:buChar char="§"/>
            </a:pPr>
            <a:r>
              <a:rPr lang="en-US" dirty="0"/>
              <a:t>Name</a:t>
            </a:r>
          </a:p>
          <a:p>
            <a:pPr marL="344805" indent="11430">
              <a:buFont typeface="Wingdings" panose="05000000000000000000" pitchFamily="2" charset="2"/>
              <a:buChar char="§"/>
            </a:pPr>
            <a:r>
              <a:rPr lang="en-US" dirty="0"/>
              <a:t>Gender</a:t>
            </a:r>
          </a:p>
          <a:p>
            <a:pPr marL="344805" indent="11430">
              <a:buFont typeface="Wingdings" panose="05000000000000000000" pitchFamily="2" charset="2"/>
              <a:buChar char="§"/>
            </a:pPr>
            <a:r>
              <a:rPr lang="en-US" dirty="0"/>
              <a:t>Date of birth </a:t>
            </a:r>
          </a:p>
          <a:p>
            <a:pPr marL="344805" indent="11430">
              <a:buFont typeface="Wingdings" panose="05000000000000000000" pitchFamily="2" charset="2"/>
              <a:buChar char="§"/>
            </a:pPr>
            <a:r>
              <a:rPr lang="en-US" dirty="0"/>
              <a:t>Residence</a:t>
            </a:r>
          </a:p>
          <a:p>
            <a:pPr marL="344805" indent="11430">
              <a:buFont typeface="Wingdings" panose="05000000000000000000" pitchFamily="2" charset="2"/>
              <a:buChar char="§"/>
            </a:pPr>
            <a:r>
              <a:rPr lang="en-US" dirty="0"/>
              <a:t>Position</a:t>
            </a:r>
          </a:p>
          <a:p>
            <a:pPr marL="344805" indent="11430">
              <a:buFont typeface="Wingdings" panose="05000000000000000000" pitchFamily="2" charset="2"/>
              <a:buChar char="§"/>
            </a:pPr>
            <a:r>
              <a:rPr lang="en-US" dirty="0"/>
              <a:t>Department, and so on.</a:t>
            </a:r>
            <a:endParaRPr lang="en-GB" dirty="0"/>
          </a:p>
          <a:p>
            <a:pPr marL="514350" indent="-514350">
              <a:buFont typeface="+mj-lt"/>
              <a:buAutoNum type="arabicPeriod"/>
            </a:pPr>
            <a:endParaRPr lang="en-GB" dirty="0"/>
          </a:p>
        </p:txBody>
      </p:sp>
    </p:spTree>
  </p:cSld>
  <p:clrMapOvr>
    <a:masterClrMapping/>
  </p:clrMapOvr>
  <p:transition advTm="300000">
    <p:strips dir="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3. </a:t>
            </a:r>
            <a:r>
              <a:rPr lang="en-US" b="1" dirty="0"/>
              <a:t>Performance management system (PMS) </a:t>
            </a:r>
            <a:r>
              <a:rPr lang="en-US" dirty="0"/>
              <a:t>is the data source that store performance management data.</a:t>
            </a:r>
          </a:p>
          <a:p>
            <a:pPr>
              <a:buNone/>
            </a:pPr>
            <a:r>
              <a:rPr lang="en-GB" dirty="0"/>
              <a:t>The data stored includes:</a:t>
            </a:r>
          </a:p>
          <a:p>
            <a:pPr marL="344805" indent="-71755">
              <a:buFont typeface="Wingdings" panose="05000000000000000000" pitchFamily="2" charset="2"/>
              <a:buChar char="§"/>
            </a:pPr>
            <a:r>
              <a:rPr lang="en-US" dirty="0"/>
              <a:t>Employee reviews and </a:t>
            </a:r>
          </a:p>
          <a:p>
            <a:pPr marL="344805" indent="-71755">
              <a:buFont typeface="Wingdings" panose="05000000000000000000" pitchFamily="2" charset="2"/>
              <a:buChar char="§"/>
            </a:pPr>
            <a:r>
              <a:rPr lang="en-US" dirty="0"/>
              <a:t>Performance ratings</a:t>
            </a:r>
            <a:endParaRPr lang="en-GB" dirty="0"/>
          </a:p>
        </p:txBody>
      </p:sp>
    </p:spTree>
  </p:cSld>
  <p:clrMapOvr>
    <a:masterClrMapping/>
  </p:clrMapOvr>
  <p:transition advTm="300000">
    <p:strips dir="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026" y="669905"/>
            <a:ext cx="8262462" cy="5504474"/>
          </a:xfrm>
        </p:spPr>
        <p:txBody>
          <a:bodyPr>
            <a:normAutofit fontScale="92500" lnSpcReduction="10000"/>
          </a:bodyPr>
          <a:lstStyle/>
          <a:p>
            <a:pPr>
              <a:buNone/>
            </a:pPr>
            <a:r>
              <a:rPr lang="en-GB" dirty="0"/>
              <a:t>4.</a:t>
            </a:r>
            <a:r>
              <a:rPr lang="en-US" b="1" dirty="0"/>
              <a:t>Learning management system (LMS) </a:t>
            </a:r>
            <a:r>
              <a:rPr lang="en-US" dirty="0"/>
              <a:t>is the data source that store  learning data</a:t>
            </a:r>
          </a:p>
          <a:p>
            <a:r>
              <a:rPr lang="en-US" dirty="0"/>
              <a:t>It contains a course offering and registers employee’s progress through different programs</a:t>
            </a:r>
          </a:p>
          <a:p>
            <a:pPr>
              <a:buNone/>
            </a:pPr>
            <a:r>
              <a:rPr lang="en-US" b="1" dirty="0"/>
              <a:t>5. Succession planning</a:t>
            </a:r>
            <a:r>
              <a:rPr lang="en-US" dirty="0"/>
              <a:t> is the data source that store</a:t>
            </a:r>
          </a:p>
          <a:p>
            <a:pPr>
              <a:buNone/>
            </a:pPr>
            <a:r>
              <a:rPr lang="en-US" dirty="0"/>
              <a:t> leadership development data, managerial bench strength, and data about which people are next in line for positions.</a:t>
            </a:r>
          </a:p>
          <a:p>
            <a:pPr>
              <a:buNone/>
            </a:pPr>
            <a:r>
              <a:rPr lang="en-US" b="1" dirty="0"/>
              <a:t>6. Compensation and benefits</a:t>
            </a:r>
            <a:r>
              <a:rPr lang="en-US" dirty="0"/>
              <a:t> is the data source that store compensation and benefits data </a:t>
            </a:r>
          </a:p>
          <a:p>
            <a:pPr>
              <a:buNone/>
            </a:pPr>
            <a:r>
              <a:rPr lang="en-US" dirty="0"/>
              <a:t>It contain remuneration details but also secondary benefits</a:t>
            </a:r>
            <a:endParaRPr lang="en-US" b="1" dirty="0"/>
          </a:p>
        </p:txBody>
      </p:sp>
    </p:spTree>
  </p:cSld>
  <p:clrMapOvr>
    <a:masterClrMapping/>
  </p:clrMapOvr>
  <p:transition advTm="300000">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GB" dirty="0"/>
            </a:br>
            <a:r>
              <a:rPr lang="en-GB" dirty="0"/>
              <a:t>DATA CAPTURING FOR MONITORING AND REVIEW</a:t>
            </a:r>
            <a:br>
              <a:rPr lang="en-US" dirty="0"/>
            </a:br>
            <a:endParaRPr lang="en-US" dirty="0"/>
          </a:p>
        </p:txBody>
      </p:sp>
      <p:sp>
        <p:nvSpPr>
          <p:cNvPr id="3" name="Content Placeholder 2"/>
          <p:cNvSpPr>
            <a:spLocks noGrp="1"/>
          </p:cNvSpPr>
          <p:nvPr>
            <p:ph idx="1"/>
          </p:nvPr>
        </p:nvSpPr>
        <p:spPr/>
        <p:txBody>
          <a:bodyPr>
            <a:noAutofit/>
          </a:bodyPr>
          <a:lstStyle/>
          <a:p>
            <a:r>
              <a:rPr lang="en-GB" sz="2400" dirty="0"/>
              <a:t>Monitoring and review help to identify gaps that needs to be filled  to ensure the effectiveness of the system</a:t>
            </a:r>
          </a:p>
          <a:p>
            <a:r>
              <a:rPr lang="en-GB" sz="2400" dirty="0"/>
              <a:t>The data  needed includes:</a:t>
            </a:r>
          </a:p>
          <a:p>
            <a:pPr marL="900430" indent="-368300">
              <a:buFont typeface="Wingdings" panose="05000000000000000000" pitchFamily="2" charset="2"/>
              <a:buChar char="Ø"/>
            </a:pPr>
            <a:r>
              <a:rPr lang="en-GB" sz="2400" dirty="0"/>
              <a:t>Usage statistics of software: This is the routine data collection of the day to day activities entered in the system</a:t>
            </a:r>
            <a:endParaRPr lang="en-US" sz="2400" dirty="0"/>
          </a:p>
          <a:p>
            <a:pPr marL="900430" indent="-368300">
              <a:buFont typeface="Wingdings" panose="05000000000000000000" pitchFamily="2" charset="2"/>
              <a:buChar char="Ø"/>
            </a:pPr>
            <a:r>
              <a:rPr lang="en-GB" sz="2400" dirty="0"/>
              <a:t>Monthly data  on support  statistic and issue of the  system</a:t>
            </a:r>
            <a:endParaRPr lang="en-US" sz="2400" dirty="0"/>
          </a:p>
          <a:p>
            <a:pPr marL="900430" indent="-368300">
              <a:buFont typeface="Wingdings" panose="05000000000000000000" pitchFamily="2" charset="2"/>
              <a:buChar char="Ø"/>
            </a:pPr>
            <a:r>
              <a:rPr lang="en-GB" sz="2400" b="1" dirty="0"/>
              <a:t>B</a:t>
            </a:r>
            <a:r>
              <a:rPr lang="en-GB" sz="2400" dirty="0"/>
              <a:t>enchmarking data against  other system and latest trend and development</a:t>
            </a:r>
            <a:endParaRPr lang="en-US" sz="2400" dirty="0"/>
          </a:p>
          <a:p>
            <a:pPr marL="900430" indent="-368300">
              <a:buFont typeface="Wingdings" panose="05000000000000000000" pitchFamily="2" charset="2"/>
              <a:buChar char="Ø"/>
            </a:pPr>
            <a:r>
              <a:rPr lang="en-GB" sz="2400" dirty="0"/>
              <a:t>Performance gap</a:t>
            </a:r>
            <a:endParaRPr lang="en-US" sz="2400" dirty="0"/>
          </a:p>
          <a:p>
            <a:endParaRPr lang="en-GB" sz="2400" dirty="0"/>
          </a:p>
          <a:p>
            <a:r>
              <a:rPr lang="en-GB" sz="2400" dirty="0"/>
              <a:t> </a:t>
            </a:r>
            <a:endParaRPr lang="en-US" sz="2400" dirty="0"/>
          </a:p>
        </p:txBody>
      </p:sp>
    </p:spTree>
  </p:cSld>
  <p:clrMapOvr>
    <a:masterClrMapping/>
  </p:clrMapOvr>
  <p:transition advTm="300000">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HIRS</a:t>
            </a:r>
            <a:endParaRPr lang="en-US" dirty="0"/>
          </a:p>
        </p:txBody>
      </p:sp>
      <p:sp>
        <p:nvSpPr>
          <p:cNvPr id="3" name="Content Placeholder 2"/>
          <p:cNvSpPr>
            <a:spLocks noGrp="1"/>
          </p:cNvSpPr>
          <p:nvPr>
            <p:ph idx="1"/>
          </p:nvPr>
        </p:nvSpPr>
        <p:spPr/>
        <p:txBody>
          <a:bodyPr/>
          <a:lstStyle/>
          <a:p>
            <a:r>
              <a:rPr lang="en-US" b="1" dirty="0"/>
              <a:t>Operational HRIS</a:t>
            </a:r>
            <a:endParaRPr lang="en-US" dirty="0"/>
          </a:p>
          <a:p>
            <a:r>
              <a:rPr lang="en-US" b="1" dirty="0"/>
              <a:t>Tactical HRIS</a:t>
            </a:r>
          </a:p>
          <a:p>
            <a:r>
              <a:rPr lang="en-US" b="1" dirty="0"/>
              <a:t>Strategic HRIS</a:t>
            </a:r>
          </a:p>
          <a:p>
            <a:r>
              <a:rPr lang="en-US" b="1"/>
              <a:t>Comprehensive HRIS</a:t>
            </a:r>
          </a:p>
          <a:p>
            <a:endParaRPr lang="en-US" dirty="0"/>
          </a:p>
        </p:txBody>
      </p:sp>
    </p:spTree>
  </p:cSld>
  <p:clrMapOvr>
    <a:masterClrMapping/>
  </p:clrMapOvr>
  <p:transition advTm="300000">
    <p:strips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HIRS</a:t>
            </a:r>
            <a:endParaRPr lang="en-US" dirty="0"/>
          </a:p>
        </p:txBody>
      </p:sp>
      <p:sp>
        <p:nvSpPr>
          <p:cNvPr id="3" name="Content Placeholder 2"/>
          <p:cNvSpPr>
            <a:spLocks noGrp="1"/>
          </p:cNvSpPr>
          <p:nvPr>
            <p:ph idx="1"/>
          </p:nvPr>
        </p:nvSpPr>
        <p:spPr/>
        <p:txBody>
          <a:bodyPr>
            <a:normAutofit/>
          </a:bodyPr>
          <a:lstStyle/>
          <a:p>
            <a:pPr fontAlgn="base"/>
            <a:r>
              <a:rPr lang="en-US" b="1" dirty="0"/>
              <a:t>Operational HRIS</a:t>
            </a:r>
            <a:endParaRPr lang="en-US" dirty="0"/>
          </a:p>
          <a:p>
            <a:pPr fontAlgn="base"/>
            <a:r>
              <a:rPr lang="en-US" dirty="0"/>
              <a:t>Operational HRIS it provides the manager with all the required data to support routine and repetitive human resource decisions. </a:t>
            </a:r>
          </a:p>
          <a:p>
            <a:pPr fontAlgn="base"/>
            <a:r>
              <a:rPr lang="en-US" dirty="0"/>
              <a:t>These systems usually include information about the organization’s employees and position and also about governmental regulations. </a:t>
            </a:r>
          </a:p>
          <a:p>
            <a:endParaRPr lang="en-US" dirty="0"/>
          </a:p>
        </p:txBody>
      </p:sp>
    </p:spTree>
  </p:cSld>
  <p:clrMapOvr>
    <a:masterClrMapping/>
  </p:clrMapOvr>
  <p:transition advTm="300000">
    <p:strips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Two major sub-divisions under operational HRIS comprise the following:</a:t>
            </a:r>
          </a:p>
          <a:p>
            <a:pPr marL="805180" lvl="0" indent="-354330" fontAlgn="base">
              <a:buFont typeface="Wingdings" panose="05000000000000000000" pitchFamily="2" charset="2"/>
              <a:buChar char="ü"/>
            </a:pPr>
            <a:r>
              <a:rPr lang="en-US" dirty="0"/>
              <a:t>Employee Information Systems</a:t>
            </a:r>
          </a:p>
          <a:p>
            <a:pPr marL="805180" indent="-354330" fontAlgn="base">
              <a:buFont typeface="Wingdings" panose="05000000000000000000" pitchFamily="2" charset="2"/>
              <a:buChar char="ü"/>
            </a:pPr>
            <a:r>
              <a:rPr lang="en-US" dirty="0"/>
              <a:t>Position Control Systems</a:t>
            </a:r>
          </a:p>
          <a:p>
            <a:pPr marL="805180" indent="-354330" fontAlgn="base">
              <a:buFont typeface="Wingdings" panose="05000000000000000000" pitchFamily="2" charset="2"/>
              <a:buChar char="ü"/>
            </a:pPr>
            <a:r>
              <a:rPr lang="en-US" dirty="0"/>
              <a:t>Performance Management Information Systems</a:t>
            </a:r>
          </a:p>
          <a:p>
            <a:pPr marL="805180" indent="-354330" fontAlgn="base">
              <a:buFont typeface="Wingdings" panose="05000000000000000000" pitchFamily="2" charset="2"/>
              <a:buChar char="ü"/>
            </a:pPr>
            <a:endParaRPr lang="en-US" dirty="0"/>
          </a:p>
          <a:p>
            <a:endParaRPr lang="en-US" dirty="0"/>
          </a:p>
        </p:txBody>
      </p:sp>
    </p:spTree>
  </p:cSld>
  <p:clrMapOvr>
    <a:masterClrMapping/>
  </p:clrMapOvr>
  <p:transition advTm="300000">
    <p:strips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US" b="1" dirty="0"/>
            </a:br>
            <a:r>
              <a:rPr lang="en-US" sz="3600" b="1" dirty="0"/>
              <a:t>Employee Information Systems</a:t>
            </a:r>
            <a:br>
              <a:rPr lang="en-US" dirty="0"/>
            </a:br>
            <a:endParaRPr lang="en-US" dirty="0"/>
          </a:p>
        </p:txBody>
      </p:sp>
      <p:sp>
        <p:nvSpPr>
          <p:cNvPr id="3" name="Content Placeholder 2"/>
          <p:cNvSpPr>
            <a:spLocks noGrp="1"/>
          </p:cNvSpPr>
          <p:nvPr>
            <p:ph idx="1"/>
          </p:nvPr>
        </p:nvSpPr>
        <p:spPr/>
        <p:txBody>
          <a:bodyPr/>
          <a:lstStyle/>
          <a:p>
            <a:pPr fontAlgn="base">
              <a:buNone/>
            </a:pPr>
            <a:r>
              <a:rPr lang="en-US" dirty="0"/>
              <a:t>Employee information systems is a major part of operational HRIS.</a:t>
            </a:r>
          </a:p>
          <a:p>
            <a:pPr fontAlgn="base">
              <a:buNone/>
            </a:pPr>
            <a:r>
              <a:rPr lang="en-US" dirty="0"/>
              <a:t> Organizations need to keep a track of an employee’s records and details pertaining to all kinds of personal and professional details including name, address, sex, minority status, citizenship, education, past professional experiences and much more.</a:t>
            </a:r>
          </a:p>
        </p:txBody>
      </p:sp>
    </p:spTree>
  </p:cSld>
  <p:clrMapOvr>
    <a:masterClrMapping/>
  </p:clrMapOvr>
  <p:transition advTm="300000">
    <p:strips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sz="3600" b="1" dirty="0"/>
              <a:t>Position Control Systems</a:t>
            </a:r>
            <a:br>
              <a:rPr lang="en-US" sz="3600" dirty="0"/>
            </a:br>
            <a:endParaRPr lang="en-US" dirty="0"/>
          </a:p>
        </p:txBody>
      </p:sp>
      <p:sp>
        <p:nvSpPr>
          <p:cNvPr id="3" name="Content Placeholder 2"/>
          <p:cNvSpPr>
            <a:spLocks noGrp="1"/>
          </p:cNvSpPr>
          <p:nvPr>
            <p:ph idx="1"/>
          </p:nvPr>
        </p:nvSpPr>
        <p:spPr/>
        <p:txBody>
          <a:bodyPr>
            <a:normAutofit/>
          </a:bodyPr>
          <a:lstStyle/>
          <a:p>
            <a:pPr fontAlgn="base">
              <a:buNone/>
            </a:pPr>
            <a:r>
              <a:rPr lang="en-US" dirty="0"/>
              <a:t>The concept of position control systems is introduced in an organization in order to identify each position within the organization; the job title within which the position is classified; and the employee currently assigned to the position.</a:t>
            </a:r>
          </a:p>
          <a:p>
            <a:pPr fontAlgn="base">
              <a:buNone/>
            </a:pPr>
            <a:r>
              <a:rPr lang="en-US" dirty="0"/>
              <a:t>Through this HR manager can identify the details about and unfilled position.</a:t>
            </a:r>
          </a:p>
          <a:p>
            <a:endParaRPr lang="en-US" dirty="0"/>
          </a:p>
        </p:txBody>
      </p:sp>
    </p:spTree>
  </p:cSld>
  <p:clrMapOvr>
    <a:masterClrMapping/>
  </p:clrMapOvr>
  <p:transition advTm="300000">
    <p:strips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sz="3100" b="1" dirty="0"/>
              <a:t>Performance Management Information Systems</a:t>
            </a:r>
            <a:br>
              <a:rPr lang="en-US" sz="3100" dirty="0"/>
            </a:br>
            <a:endParaRPr lang="en-US" dirty="0"/>
          </a:p>
        </p:txBody>
      </p:sp>
      <p:sp>
        <p:nvSpPr>
          <p:cNvPr id="3" name="Content Placeholder 2"/>
          <p:cNvSpPr>
            <a:spLocks noGrp="1"/>
          </p:cNvSpPr>
          <p:nvPr>
            <p:ph idx="1"/>
          </p:nvPr>
        </p:nvSpPr>
        <p:spPr>
          <a:xfrm>
            <a:off x="459026" y="1169971"/>
            <a:ext cx="8262462" cy="5004408"/>
          </a:xfrm>
        </p:spPr>
        <p:txBody>
          <a:bodyPr>
            <a:normAutofit fontScale="85000" lnSpcReduction="10000"/>
          </a:bodyPr>
          <a:lstStyle/>
          <a:p>
            <a:pPr fontAlgn="base">
              <a:buNone/>
            </a:pPr>
            <a:r>
              <a:rPr lang="en-US" dirty="0"/>
              <a:t> Performance Management Information Systems include performance appraisal data and productivity information data.</a:t>
            </a:r>
          </a:p>
          <a:p>
            <a:pPr fontAlgn="base">
              <a:buNone/>
            </a:pPr>
            <a:r>
              <a:rPr lang="en-US" dirty="0"/>
              <a:t> This system is frequently used as an evidence in employee grievance matters. </a:t>
            </a:r>
          </a:p>
          <a:p>
            <a:pPr fontAlgn="base">
              <a:buNone/>
            </a:pPr>
            <a:r>
              <a:rPr lang="en-US" dirty="0"/>
              <a:t>Careful documentation of employee performance and of how the performance was measured and reported in critical to acceptance of appraisal information in grievance hearing. </a:t>
            </a:r>
          </a:p>
          <a:p>
            <a:pPr fontAlgn="base">
              <a:buNone/>
            </a:pPr>
            <a:r>
              <a:rPr lang="en-US" dirty="0"/>
              <a:t>Performance management systems can lead to a number of decisions beyond merely the decisions to retain, promote, transfer or terminate an employee.</a:t>
            </a:r>
          </a:p>
          <a:p>
            <a:endParaRPr lang="en-US" dirty="0"/>
          </a:p>
        </p:txBody>
      </p:sp>
    </p:spTree>
  </p:cSld>
  <p:clrMapOvr>
    <a:masterClrMapping/>
  </p:clrMapOvr>
  <p:transition advTm="300000">
    <p:strips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026" y="289030"/>
            <a:ext cx="8262461" cy="747410"/>
          </a:xfrm>
        </p:spPr>
        <p:txBody>
          <a:bodyPr>
            <a:normAutofit fontScale="90000"/>
          </a:bodyPr>
          <a:lstStyle/>
          <a:p>
            <a:br>
              <a:rPr lang="en-US" b="1" dirty="0"/>
            </a:br>
            <a:r>
              <a:rPr lang="en-US" sz="4015" b="1" dirty="0"/>
              <a:t>Tactical HRIS</a:t>
            </a:r>
            <a:br>
              <a:rPr lang="en-US" dirty="0"/>
            </a:br>
            <a:endParaRPr lang="en-US" dirty="0"/>
          </a:p>
        </p:txBody>
      </p:sp>
      <p:sp>
        <p:nvSpPr>
          <p:cNvPr id="3" name="Content Placeholder 2"/>
          <p:cNvSpPr>
            <a:spLocks noGrp="1"/>
          </p:cNvSpPr>
          <p:nvPr>
            <p:ph idx="1"/>
          </p:nvPr>
        </p:nvSpPr>
        <p:spPr>
          <a:xfrm>
            <a:off x="459026" y="1249929"/>
            <a:ext cx="8262461" cy="4913993"/>
          </a:xfrm>
        </p:spPr>
        <p:txBody>
          <a:bodyPr>
            <a:normAutofit/>
          </a:bodyPr>
          <a:lstStyle/>
          <a:p>
            <a:pPr algn="just"/>
            <a:r>
              <a:rPr lang="en-US" dirty="0"/>
              <a:t>Tactical human resource information systems provide managers with support for decisions that emphasize the allocation of resources. </a:t>
            </a:r>
          </a:p>
          <a:p>
            <a:pPr algn="just"/>
            <a:r>
              <a:rPr lang="en-US" dirty="0"/>
              <a:t>Within the domain of HR, these include: </a:t>
            </a:r>
          </a:p>
          <a:p>
            <a:pPr marL="812800" indent="-271145" algn="just">
              <a:buFont typeface="Wingdings" panose="05000000000000000000" pitchFamily="2" charset="2"/>
              <a:buChar char="§"/>
            </a:pPr>
            <a:r>
              <a:rPr lang="en-US" dirty="0"/>
              <a:t>Recruitment decisions,</a:t>
            </a:r>
          </a:p>
          <a:p>
            <a:pPr marL="812800" indent="-271145" algn="just">
              <a:buFont typeface="Wingdings" panose="05000000000000000000" pitchFamily="2" charset="2"/>
              <a:buChar char="§"/>
            </a:pPr>
            <a:r>
              <a:rPr lang="en-US" dirty="0"/>
              <a:t> Job analysis, and design decisions, </a:t>
            </a:r>
          </a:p>
          <a:p>
            <a:pPr marL="812800" indent="-271145" algn="just">
              <a:buFont typeface="Wingdings" panose="05000000000000000000" pitchFamily="2" charset="2"/>
              <a:buChar char="§"/>
            </a:pPr>
            <a:r>
              <a:rPr lang="en-US" dirty="0"/>
              <a:t>Training and development and</a:t>
            </a:r>
          </a:p>
          <a:p>
            <a:pPr marL="812800" indent="-271145" algn="just">
              <a:buFont typeface="Wingdings" panose="05000000000000000000" pitchFamily="2" charset="2"/>
              <a:buChar char="§"/>
            </a:pPr>
            <a:r>
              <a:rPr lang="en-US" dirty="0"/>
              <a:t>Employee compensation plans. </a:t>
            </a:r>
          </a:p>
        </p:txBody>
      </p:sp>
    </p:spTree>
  </p:cSld>
  <p:clrMapOvr>
    <a:masterClrMapping/>
  </p:clrMapOvr>
  <p:transition advTm="300000">
    <p:strips dir="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sz="3615" b="1" dirty="0"/>
              <a:t>Recruiting information systems</a:t>
            </a:r>
            <a:br>
              <a:rPr lang="en-US" dirty="0"/>
            </a:br>
            <a:endParaRPr lang="en-US" dirty="0"/>
          </a:p>
        </p:txBody>
      </p:sp>
      <p:sp>
        <p:nvSpPr>
          <p:cNvPr id="3" name="Content Placeholder 2"/>
          <p:cNvSpPr>
            <a:spLocks noGrp="1"/>
          </p:cNvSpPr>
          <p:nvPr>
            <p:ph idx="1"/>
          </p:nvPr>
        </p:nvSpPr>
        <p:spPr>
          <a:xfrm>
            <a:off x="459026" y="1304290"/>
            <a:ext cx="8262461" cy="4859631"/>
          </a:xfrm>
        </p:spPr>
        <p:txBody>
          <a:bodyPr>
            <a:normAutofit fontScale="92500" lnSpcReduction="20000"/>
          </a:bodyPr>
          <a:lstStyle/>
          <a:p>
            <a:pPr algn="just" fontAlgn="base"/>
            <a:r>
              <a:rPr lang="en-US" sz="3515" dirty="0"/>
              <a:t>In order to direct the recruiting function, the organization needs to develop a proper recruiting plan. </a:t>
            </a:r>
          </a:p>
          <a:p>
            <a:pPr algn="just" fontAlgn="base"/>
            <a:r>
              <a:rPr lang="en-US" sz="3515" dirty="0"/>
              <a:t>The plan is designed in order to address gaps such as vacant positions to be filled and skills required for the employees for these positions. </a:t>
            </a:r>
          </a:p>
          <a:p>
            <a:pPr algn="just" fontAlgn="base"/>
            <a:r>
              <a:rPr lang="en-US" sz="3515" dirty="0"/>
              <a:t>If this plan is to be executed, a proper recruiting information system is much required, so that everything is executed with proper ease.</a:t>
            </a:r>
          </a:p>
          <a:p>
            <a:pPr algn="just" fontAlgn="base"/>
            <a:endParaRPr lang="en-US" dirty="0"/>
          </a:p>
        </p:txBody>
      </p:sp>
    </p:spTree>
  </p:cSld>
  <p:clrMapOvr>
    <a:masterClrMapping/>
  </p:clrMapOvr>
  <p:transition advTm="300000">
    <p:strips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15" b="1" dirty="0"/>
              <a:t>Compensation and benefits information systems</a:t>
            </a:r>
            <a:endParaRPr lang="en-US" dirty="0"/>
          </a:p>
        </p:txBody>
      </p:sp>
      <p:sp>
        <p:nvSpPr>
          <p:cNvPr id="3" name="Content Placeholder 2"/>
          <p:cNvSpPr>
            <a:spLocks noGrp="1"/>
          </p:cNvSpPr>
          <p:nvPr>
            <p:ph idx="1"/>
          </p:nvPr>
        </p:nvSpPr>
        <p:spPr/>
        <p:txBody>
          <a:bodyPr/>
          <a:lstStyle/>
          <a:p>
            <a:pPr fontAlgn="base"/>
            <a:r>
              <a:rPr lang="en-US" dirty="0"/>
              <a:t> This particular information systems may support a variety of tactical HR decisions, especially when it comes to compensation and benefits systems. </a:t>
            </a:r>
          </a:p>
          <a:p>
            <a:pPr fontAlgn="base">
              <a:buFont typeface="Wingdings" panose="05000000000000000000" pitchFamily="2" charset="2"/>
              <a:buChar char="Ø"/>
            </a:pPr>
            <a:r>
              <a:rPr lang="en-US" dirty="0"/>
              <a:t>Compensation and benefits plan an important role in the overall productivity of the organization</a:t>
            </a:r>
          </a:p>
        </p:txBody>
      </p:sp>
    </p:spTree>
  </p:cSld>
  <p:clrMapOvr>
    <a:masterClrMapping/>
  </p:clrMapOvr>
  <p:transition advTm="300000">
    <p:strips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Employee training and development systems</a:t>
            </a:r>
            <a:br>
              <a:rPr lang="en-US" dirty="0"/>
            </a:br>
            <a:endParaRPr lang="en-US" dirty="0"/>
          </a:p>
        </p:txBody>
      </p:sp>
      <p:sp>
        <p:nvSpPr>
          <p:cNvPr id="3" name="Content Placeholder 2"/>
          <p:cNvSpPr>
            <a:spLocks noGrp="1"/>
          </p:cNvSpPr>
          <p:nvPr>
            <p:ph idx="1"/>
          </p:nvPr>
        </p:nvSpPr>
        <p:spPr/>
        <p:txBody>
          <a:bodyPr/>
          <a:lstStyle/>
          <a:p>
            <a:pPr fontAlgn="base"/>
            <a:r>
              <a:rPr lang="en-US" dirty="0"/>
              <a:t>Another major aspect where HRIS is extensively implemented is the domain of employee training and development.</a:t>
            </a:r>
          </a:p>
          <a:p>
            <a:pPr fontAlgn="base"/>
            <a:r>
              <a:rPr lang="en-US" dirty="0"/>
              <a:t> The training must be directed at those individuals who are not only interested but also capable of benefiting from it.</a:t>
            </a:r>
          </a:p>
          <a:p>
            <a:endParaRPr lang="en-US" dirty="0"/>
          </a:p>
        </p:txBody>
      </p:sp>
    </p:spTree>
  </p:cSld>
  <p:clrMapOvr>
    <a:masterClrMapping/>
  </p:clrMapOvr>
  <p:transition advTm="300000">
    <p:strips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Strategic HRIS</a:t>
            </a:r>
            <a:br>
              <a:rPr lang="en-US" dirty="0"/>
            </a:br>
            <a:endParaRPr lang="en-US" dirty="0"/>
          </a:p>
        </p:txBody>
      </p:sp>
      <p:sp>
        <p:nvSpPr>
          <p:cNvPr id="3" name="Content Placeholder 2"/>
          <p:cNvSpPr>
            <a:spLocks noGrp="1"/>
          </p:cNvSpPr>
          <p:nvPr>
            <p:ph idx="1"/>
          </p:nvPr>
        </p:nvSpPr>
        <p:spPr/>
        <p:txBody>
          <a:bodyPr/>
          <a:lstStyle/>
          <a:p>
            <a:pPr algn="just" fontAlgn="base"/>
            <a:r>
              <a:rPr lang="en-US" dirty="0"/>
              <a:t>Strategic HRIS focuses on supporting </a:t>
            </a:r>
            <a:r>
              <a:rPr lang="en-US" dirty="0" err="1"/>
              <a:t>labour</a:t>
            </a:r>
            <a:r>
              <a:rPr lang="en-US" dirty="0"/>
              <a:t> negotiations, workforce planning, and certain specialized human resources software. </a:t>
            </a:r>
          </a:p>
          <a:p>
            <a:pPr algn="just" fontAlgn="base"/>
            <a:r>
              <a:rPr lang="en-US" dirty="0"/>
              <a:t>The main purpose of this is to have an overall good idea about </a:t>
            </a:r>
            <a:r>
              <a:rPr lang="en-US" dirty="0" err="1"/>
              <a:t>labour</a:t>
            </a:r>
            <a:r>
              <a:rPr lang="en-US" dirty="0"/>
              <a:t> resources and workforce planning. </a:t>
            </a:r>
          </a:p>
          <a:p>
            <a:pPr algn="just"/>
            <a:r>
              <a:rPr lang="en-US" dirty="0"/>
              <a:t>It help organizations align HR activities more effectively with their strategic plan.</a:t>
            </a:r>
          </a:p>
        </p:txBody>
      </p:sp>
    </p:spTree>
  </p:cSld>
  <p:clrMapOvr>
    <a:masterClrMapping/>
  </p:clrMapOvr>
  <p:transition advTm="300000">
    <p:strips dir="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Major types of strategic HRIS comprise the following:</a:t>
            </a:r>
          </a:p>
          <a:p>
            <a:pPr lvl="0" algn="just" fontAlgn="base"/>
            <a:r>
              <a:rPr lang="en-US" dirty="0"/>
              <a:t>Information systems supporting workforce planning</a:t>
            </a:r>
          </a:p>
          <a:p>
            <a:pPr algn="just" fontAlgn="base"/>
            <a:r>
              <a:rPr lang="en-US" dirty="0"/>
              <a:t>Specialized human resource information systems software</a:t>
            </a:r>
          </a:p>
          <a:p>
            <a:endParaRPr lang="en-US" dirty="0"/>
          </a:p>
        </p:txBody>
      </p:sp>
    </p:spTree>
  </p:cSld>
  <p:clrMapOvr>
    <a:masterClrMapping/>
  </p:clrMapOvr>
  <p:transition advTm="300000">
    <p:strips dir="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US" b="1" dirty="0"/>
            </a:br>
            <a:r>
              <a:rPr lang="en-US" sz="4015" b="1" dirty="0"/>
              <a:t>Information systems supporting workforce planning</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fontAlgn="base"/>
            <a:r>
              <a:rPr lang="en-US" dirty="0"/>
              <a:t>Organization that are involved in long-term strategic planning, such as those planning to expand into new market areas, construct factories or offices in new locations, or add new products, will need information about the quantity and quality of the available workforce to achieve their goals.</a:t>
            </a:r>
          </a:p>
          <a:p>
            <a:pPr algn="just" fontAlgn="base">
              <a:buFont typeface="Wingdings" panose="05000000000000000000" pitchFamily="2" charset="2"/>
              <a:buChar char="Ø"/>
            </a:pPr>
            <a:r>
              <a:rPr lang="en-US" dirty="0"/>
              <a:t> Information systems that support workforce planning serve this purpose.</a:t>
            </a:r>
          </a:p>
          <a:p>
            <a:endParaRPr lang="en-US" dirty="0"/>
          </a:p>
        </p:txBody>
      </p:sp>
    </p:spTree>
  </p:cSld>
  <p:clrMapOvr>
    <a:masterClrMapping/>
  </p:clrMapOvr>
  <p:transition advTm="300000">
    <p:strips dir="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15" b="1" dirty="0"/>
              <a:t>Specialized human resource information systems software</a:t>
            </a:r>
            <a:endParaRPr lang="en-US" sz="3615" dirty="0"/>
          </a:p>
        </p:txBody>
      </p:sp>
      <p:sp>
        <p:nvSpPr>
          <p:cNvPr id="3" name="Content Placeholder 2"/>
          <p:cNvSpPr>
            <a:spLocks noGrp="1"/>
          </p:cNvSpPr>
          <p:nvPr>
            <p:ph idx="1"/>
          </p:nvPr>
        </p:nvSpPr>
        <p:spPr/>
        <p:txBody>
          <a:bodyPr>
            <a:normAutofit fontScale="92500" lnSpcReduction="10000"/>
          </a:bodyPr>
          <a:lstStyle/>
          <a:p>
            <a:pPr fontAlgn="base"/>
            <a:r>
              <a:rPr lang="en-US" dirty="0"/>
              <a:t>There has been a great deal of software that has been designed for the proper functioning of the human resources</a:t>
            </a:r>
            <a:r>
              <a:rPr lang="en-US" b="1" dirty="0"/>
              <a:t>.</a:t>
            </a:r>
          </a:p>
          <a:p>
            <a:pPr fontAlgn="base"/>
            <a:r>
              <a:rPr lang="en-US" b="1" dirty="0"/>
              <a:t> </a:t>
            </a:r>
            <a:r>
              <a:rPr lang="en-US" dirty="0"/>
              <a:t>Software that is specifically designed for the human resource management function can be divided into two basic categories:</a:t>
            </a:r>
          </a:p>
          <a:p>
            <a:pPr fontAlgn="base"/>
            <a:r>
              <a:rPr lang="en-US" dirty="0"/>
              <a:t> Comprehensive human resource information systems software and</a:t>
            </a:r>
          </a:p>
          <a:p>
            <a:pPr fontAlgn="base"/>
            <a:r>
              <a:rPr lang="en-US" dirty="0"/>
              <a:t> Limited-function packages that support one or a few human resource activities.</a:t>
            </a:r>
          </a:p>
          <a:p>
            <a:endParaRPr lang="en-US" dirty="0"/>
          </a:p>
        </p:txBody>
      </p:sp>
    </p:spTree>
  </p:cSld>
  <p:clrMapOvr>
    <a:masterClrMapping/>
  </p:clrMapOvr>
  <p:transition advTm="300000">
    <p:strips dir="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Comprehensive HRIS</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algn="just" fontAlgn="base"/>
            <a:r>
              <a:rPr lang="en-US" dirty="0"/>
              <a:t>The computerization of HRIS has resulted in an integrated database of human resource files., employee files, position, skills inventory files, job analysis and design files, occupational health and safety files, and many other human resource files are constructed in a coordinated manner using database management systems software so that application programs can produce reports from any or all of the files.</a:t>
            </a:r>
          </a:p>
          <a:p>
            <a:pPr algn="just" fontAlgn="base"/>
            <a:r>
              <a:rPr lang="en-US" dirty="0"/>
              <a:t>HRIS was introduced so that the overall human resources domain is able to function in a much easier and simpler way. </a:t>
            </a:r>
          </a:p>
          <a:p>
            <a:endParaRPr lang="en-US" dirty="0"/>
          </a:p>
        </p:txBody>
      </p:sp>
    </p:spTree>
  </p:cSld>
  <p:clrMapOvr>
    <a:masterClrMapping/>
  </p:clrMapOvr>
  <p:transition advTm="300000">
    <p:strips dir="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GB" dirty="0"/>
            </a:br>
            <a:r>
              <a:rPr lang="en-GB" b="1" dirty="0"/>
              <a:t>Element of information system</a:t>
            </a:r>
            <a:br>
              <a:rPr lang="en-US" b="1" dirty="0"/>
            </a:br>
            <a:endParaRPr lang="en-US" b="1" dirty="0"/>
          </a:p>
        </p:txBody>
      </p:sp>
      <p:sp>
        <p:nvSpPr>
          <p:cNvPr id="3" name="Content Placeholder 2"/>
          <p:cNvSpPr>
            <a:spLocks noGrp="1"/>
          </p:cNvSpPr>
          <p:nvPr>
            <p:ph idx="1"/>
          </p:nvPr>
        </p:nvSpPr>
        <p:spPr/>
        <p:txBody>
          <a:bodyPr>
            <a:normAutofit fontScale="85000" lnSpcReduction="10000"/>
          </a:bodyPr>
          <a:lstStyle/>
          <a:p>
            <a:pPr algn="just"/>
            <a:r>
              <a:rPr lang="en-GB" sz="3415" b="1" dirty="0"/>
              <a:t>Data base</a:t>
            </a:r>
            <a:r>
              <a:rPr lang="en-GB" dirty="0"/>
              <a:t>: This is a place where all organization data about employees  and HR procedure can be stored. </a:t>
            </a:r>
            <a:endParaRPr lang="en-US" dirty="0"/>
          </a:p>
          <a:p>
            <a:pPr algn="just"/>
            <a:r>
              <a:rPr lang="en-GB" sz="3415" b="1" dirty="0"/>
              <a:t>Financial HIRS: </a:t>
            </a:r>
            <a:r>
              <a:rPr lang="en-GB" dirty="0"/>
              <a:t>This concerns with handling  payroll, benefits and employees recognition program. </a:t>
            </a:r>
            <a:endParaRPr lang="en-US" dirty="0"/>
          </a:p>
          <a:p>
            <a:pPr algn="just"/>
            <a:r>
              <a:rPr lang="en-GB" sz="3415" b="1" dirty="0"/>
              <a:t>Time and attendants tool: </a:t>
            </a:r>
            <a:r>
              <a:rPr lang="en-GB" sz="3315" dirty="0"/>
              <a:t>This concern with </a:t>
            </a:r>
            <a:r>
              <a:rPr lang="en-GB" dirty="0"/>
              <a:t>keeping track of the time employees work and any incidents of the tardiness or absence</a:t>
            </a:r>
            <a:endParaRPr lang="en-US" dirty="0"/>
          </a:p>
          <a:p>
            <a:pPr algn="just"/>
            <a:r>
              <a:rPr lang="en-GB" sz="3415" b="1" dirty="0"/>
              <a:t>Recruitment and on boarding tool: </a:t>
            </a:r>
            <a:r>
              <a:rPr lang="en-GB" sz="3315" dirty="0"/>
              <a:t>This provide help </a:t>
            </a:r>
            <a:r>
              <a:rPr lang="en-GB" dirty="0"/>
              <a:t>in recruitment of employees, job application post, send interview request, track applicant</a:t>
            </a:r>
            <a:endParaRPr lang="en-US" dirty="0"/>
          </a:p>
          <a:p>
            <a:endParaRPr lang="en-US" dirty="0"/>
          </a:p>
        </p:txBody>
      </p:sp>
    </p:spTree>
  </p:cSld>
  <p:clrMapOvr>
    <a:masterClrMapping/>
  </p:clrMapOvr>
  <p:transition advTm="300000">
    <p:strips dir="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pPr algn="just"/>
            <a:r>
              <a:rPr lang="en-GB" sz="3415" b="1" dirty="0"/>
              <a:t>Employees management: </a:t>
            </a:r>
            <a:r>
              <a:rPr lang="en-GB" dirty="0"/>
              <a:t>This help to track employee information/performance</a:t>
            </a:r>
            <a:endParaRPr lang="en-US" dirty="0"/>
          </a:p>
          <a:p>
            <a:pPr algn="just"/>
            <a:r>
              <a:rPr lang="en-GB" sz="3415" b="1" dirty="0"/>
              <a:t>Training and development: </a:t>
            </a:r>
            <a:r>
              <a:rPr lang="en-GB" dirty="0"/>
              <a:t>This helps to identify </a:t>
            </a:r>
            <a:r>
              <a:rPr lang="en-US" dirty="0"/>
              <a:t>skills and competencies, training courses taken, costs of courses, developmental activities, and career planning in terms of which positions might be most appropriate for an employee based on skills and competencies</a:t>
            </a:r>
          </a:p>
          <a:p>
            <a:pPr algn="just"/>
            <a:r>
              <a:rPr lang="en-GB" sz="3415" b="1" dirty="0"/>
              <a:t>Employee interface</a:t>
            </a:r>
            <a:r>
              <a:rPr lang="en-GB" dirty="0"/>
              <a:t>: This tool  enabling employees to access a part of the data where they can update their personal information</a:t>
            </a:r>
            <a:endParaRPr lang="en-US" dirty="0"/>
          </a:p>
          <a:p>
            <a:endParaRPr lang="en-US" dirty="0"/>
          </a:p>
        </p:txBody>
      </p:sp>
    </p:spTree>
  </p:cSld>
  <p:clrMapOvr>
    <a:masterClrMapping/>
  </p:clrMapOvr>
  <p:transition advTm="300000">
    <p:strips dir="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dirty="0"/>
            </a:br>
            <a:r>
              <a:rPr lang="en-GB" b="1" dirty="0"/>
              <a:t>Quality of information</a:t>
            </a:r>
            <a:br>
              <a:rPr lang="en-GB" dirty="0"/>
            </a:br>
            <a:r>
              <a:rPr lang="en-GB" dirty="0"/>
              <a:t> </a:t>
            </a:r>
            <a:endParaRPr lang="en-US" dirty="0"/>
          </a:p>
        </p:txBody>
      </p:sp>
      <p:sp>
        <p:nvSpPr>
          <p:cNvPr id="3" name="Content Placeholder 2"/>
          <p:cNvSpPr>
            <a:spLocks noGrp="1"/>
          </p:cNvSpPr>
          <p:nvPr>
            <p:ph idx="1"/>
          </p:nvPr>
        </p:nvSpPr>
        <p:spPr>
          <a:xfrm>
            <a:off x="459026" y="1304290"/>
            <a:ext cx="8262461" cy="4859631"/>
          </a:xfrm>
        </p:spPr>
        <p:txBody>
          <a:bodyPr>
            <a:normAutofit/>
          </a:bodyPr>
          <a:lstStyle/>
          <a:p>
            <a:pPr algn="just"/>
            <a:r>
              <a:rPr lang="en-US" dirty="0"/>
              <a:t>According to Davis and Olson: "Information is a data that has been processed into a form that is meaningful to recipient and is of real or perceived value in the current or the prospective action or decision of recipient</a:t>
            </a:r>
          </a:p>
          <a:p>
            <a:pPr algn="just"/>
            <a:r>
              <a:rPr lang="en-GB" dirty="0"/>
              <a:t>It  has been derived from data and is a results of the data process</a:t>
            </a:r>
          </a:p>
          <a:p>
            <a:pPr algn="just"/>
            <a:r>
              <a:rPr lang="en-US" dirty="0"/>
              <a:t>Information is a vital resource for the success of any organization</a:t>
            </a:r>
          </a:p>
          <a:p>
            <a:endParaRPr lang="en-US" dirty="0"/>
          </a:p>
        </p:txBody>
      </p:sp>
    </p:spTree>
  </p:cSld>
  <p:clrMapOvr>
    <a:masterClrMapping/>
  </p:clrMapOvr>
  <p:transition advTm="300000">
    <p:strips dir="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Information qualities play a crucial role to process data and making effective decisions in Human Resource Information System</a:t>
            </a:r>
          </a:p>
          <a:p>
            <a:pPr algn="just"/>
            <a:r>
              <a:rPr lang="en-US" dirty="0"/>
              <a:t>It focus on the output produced by a system and the value usefulness or relative importance attributed to it by the user.</a:t>
            </a:r>
          </a:p>
          <a:p>
            <a:pPr algn="just"/>
            <a:r>
              <a:rPr lang="en-US" dirty="0"/>
              <a:t>It has been to influence continued system usage and user satisfaction</a:t>
            </a:r>
          </a:p>
          <a:p>
            <a:endParaRPr lang="en-US" dirty="0"/>
          </a:p>
        </p:txBody>
      </p:sp>
    </p:spTree>
  </p:cSld>
  <p:clrMapOvr>
    <a:masterClrMapping/>
  </p:clrMapOvr>
  <p:transition advTm="300000">
    <p:strips dir="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3010" b="1" i="1" dirty="0"/>
              <a:t>It refers to the quality of outputs the information system produces</a:t>
            </a:r>
          </a:p>
          <a:p>
            <a:pPr algn="just"/>
            <a:r>
              <a:rPr lang="en-US" dirty="0"/>
              <a:t>The value of Information is directly linked to how it helps decision makers achieve their organization’s goals</a:t>
            </a:r>
          </a:p>
          <a:p>
            <a:pPr algn="just"/>
            <a:r>
              <a:rPr lang="en-US" dirty="0"/>
              <a:t>Good quality information placed in right context in right time tells us about opportunities and problems well in advance</a:t>
            </a:r>
          </a:p>
          <a:p>
            <a:endParaRPr lang="en-US" dirty="0"/>
          </a:p>
        </p:txBody>
      </p:sp>
    </p:spTree>
  </p:cSld>
  <p:clrMapOvr>
    <a:masterClrMapping/>
  </p:clrMapOvr>
  <p:transition advTm="300000">
    <p:strips dir="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According to Wang and Strong, Information Quality has four dimensions or elements:</a:t>
            </a:r>
          </a:p>
          <a:p>
            <a:r>
              <a:rPr lang="en-US" b="1" i="1" dirty="0"/>
              <a:t>Intrinsic: </a:t>
            </a:r>
            <a:r>
              <a:rPr lang="en-US" dirty="0"/>
              <a:t>Accuracy, Objectivity, Believability, Reputation.</a:t>
            </a:r>
          </a:p>
          <a:p>
            <a:r>
              <a:rPr lang="en-US" b="1" i="1" dirty="0"/>
              <a:t> Contextual</a:t>
            </a:r>
            <a:r>
              <a:rPr lang="en-US" dirty="0"/>
              <a:t>: Relevancy, Value-Added, Timeliness, Completeness, Amount of information.</a:t>
            </a:r>
          </a:p>
          <a:p>
            <a:r>
              <a:rPr lang="en-US" b="1" i="1" dirty="0"/>
              <a:t>Representational</a:t>
            </a:r>
            <a:r>
              <a:rPr lang="en-US" dirty="0"/>
              <a:t>: Interpretability, Format, Coherence, Compatibility. </a:t>
            </a:r>
          </a:p>
          <a:p>
            <a:r>
              <a:rPr lang="en-US" b="1" i="1" dirty="0"/>
              <a:t>Accessibility: </a:t>
            </a:r>
            <a:r>
              <a:rPr lang="en-US" dirty="0"/>
              <a:t>Accessibility, Access security</a:t>
            </a:r>
          </a:p>
        </p:txBody>
      </p:sp>
    </p:spTree>
  </p:cSld>
  <p:clrMapOvr>
    <a:masterClrMapping/>
  </p:clrMapOvr>
  <p:transition advTm="300000">
    <p:strips dir="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t>Most essential characteristic features for information quality are: </a:t>
            </a:r>
          </a:p>
          <a:p>
            <a:pPr>
              <a:buFont typeface="Wingdings" panose="05000000000000000000" pitchFamily="2" charset="2"/>
              <a:buChar char="Ø"/>
            </a:pPr>
            <a:r>
              <a:rPr lang="en-US" dirty="0"/>
              <a:t> </a:t>
            </a:r>
            <a:r>
              <a:rPr lang="en-US" b="1" dirty="0"/>
              <a:t>Reliability</a:t>
            </a:r>
            <a:r>
              <a:rPr lang="en-US" dirty="0"/>
              <a:t> - It should be verifiable and dependable. </a:t>
            </a:r>
          </a:p>
          <a:p>
            <a:pPr>
              <a:buFont typeface="Wingdings" panose="05000000000000000000" pitchFamily="2" charset="2"/>
              <a:buChar char="Ø"/>
            </a:pPr>
            <a:r>
              <a:rPr lang="en-US" b="1" dirty="0"/>
              <a:t>Timely</a:t>
            </a:r>
            <a:r>
              <a:rPr lang="en-US" dirty="0"/>
              <a:t> - It must be current and it must reach the users well in time, so that important decisions can be made in time. </a:t>
            </a:r>
          </a:p>
          <a:p>
            <a:pPr>
              <a:buFont typeface="Wingdings" panose="05000000000000000000" pitchFamily="2" charset="2"/>
              <a:buChar char="Ø"/>
            </a:pPr>
            <a:r>
              <a:rPr lang="en-US" dirty="0"/>
              <a:t> </a:t>
            </a:r>
            <a:r>
              <a:rPr lang="en-US" b="1" dirty="0"/>
              <a:t>Relevant</a:t>
            </a:r>
            <a:r>
              <a:rPr lang="en-US" dirty="0"/>
              <a:t> - It should be current and valid information and it should reduce uncertainties. </a:t>
            </a:r>
          </a:p>
        </p:txBody>
      </p:sp>
    </p:spTree>
  </p:cSld>
  <p:clrMapOvr>
    <a:masterClrMapping/>
  </p:clrMapOvr>
  <p:transition advTm="300000">
    <p:strips dir="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Ø"/>
            </a:pPr>
            <a:r>
              <a:rPr lang="en-US" b="1" dirty="0"/>
              <a:t>Accurate</a:t>
            </a:r>
            <a:r>
              <a:rPr lang="en-US" dirty="0"/>
              <a:t> - It should be free of errors and mistakes, true, and not deceptive</a:t>
            </a:r>
          </a:p>
          <a:p>
            <a:pPr>
              <a:buFont typeface="Wingdings" panose="05000000000000000000" pitchFamily="2" charset="2"/>
              <a:buChar char="Ø"/>
            </a:pPr>
            <a:endParaRPr lang="en-US" b="1" dirty="0"/>
          </a:p>
          <a:p>
            <a:pPr>
              <a:buFont typeface="Wingdings" panose="05000000000000000000" pitchFamily="2" charset="2"/>
              <a:buChar char="Ø"/>
            </a:pPr>
            <a:r>
              <a:rPr lang="en-US" b="1" dirty="0"/>
              <a:t>Sufficient </a:t>
            </a:r>
            <a:r>
              <a:rPr lang="en-US" dirty="0"/>
              <a:t>- It should be adequate in quantity, so that decisions can be made on its basis. </a:t>
            </a:r>
          </a:p>
          <a:p>
            <a:pPr>
              <a:buFont typeface="Wingdings" panose="05000000000000000000" pitchFamily="2" charset="2"/>
              <a:buChar char="Ø"/>
            </a:pPr>
            <a:r>
              <a:rPr lang="en-US" dirty="0"/>
              <a:t> </a:t>
            </a:r>
            <a:r>
              <a:rPr lang="en-US" b="1" dirty="0"/>
              <a:t>Unambiguous</a:t>
            </a:r>
            <a:r>
              <a:rPr lang="en-US" dirty="0"/>
              <a:t> - It should be expressed in clear terms. In other words, it should be comprehensive. </a:t>
            </a:r>
          </a:p>
          <a:p>
            <a:pPr>
              <a:buFont typeface="Wingdings" panose="05000000000000000000" pitchFamily="2" charset="2"/>
              <a:buChar char="Ø"/>
            </a:pPr>
            <a:r>
              <a:rPr lang="en-US" dirty="0"/>
              <a:t> </a:t>
            </a:r>
            <a:r>
              <a:rPr lang="en-US" b="1" dirty="0"/>
              <a:t>Complete</a:t>
            </a:r>
            <a:r>
              <a:rPr lang="en-US" dirty="0"/>
              <a:t> - It should meet all the needs in the current context</a:t>
            </a:r>
          </a:p>
          <a:p>
            <a:pPr>
              <a:buFont typeface="Wingdings" panose="05000000000000000000" pitchFamily="2" charset="2"/>
              <a:buChar char="Ø"/>
            </a:pPr>
            <a:endParaRPr lang="en-US" dirty="0"/>
          </a:p>
        </p:txBody>
      </p:sp>
    </p:spTree>
  </p:cSld>
  <p:clrMapOvr>
    <a:masterClrMapping/>
  </p:clrMapOvr>
  <p:transition advTm="300000">
    <p:strips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buFont typeface="Wingdings" panose="05000000000000000000" pitchFamily="2" charset="2"/>
              <a:buChar char="Ø"/>
            </a:pPr>
            <a:r>
              <a:rPr lang="en-US" b="1" dirty="0"/>
              <a:t>Unbiased</a:t>
            </a:r>
            <a:r>
              <a:rPr lang="en-US" dirty="0"/>
              <a:t> - It should be impartial, free from any bias. In other words, it should has integrity. </a:t>
            </a:r>
            <a:endParaRPr lang="en-US" b="1" dirty="0"/>
          </a:p>
          <a:p>
            <a:pPr>
              <a:buFont typeface="Wingdings" panose="05000000000000000000" pitchFamily="2" charset="2"/>
              <a:buChar char="Ø"/>
            </a:pPr>
            <a:r>
              <a:rPr lang="en-US" b="1" dirty="0"/>
              <a:t>Explicit</a:t>
            </a:r>
            <a:r>
              <a:rPr lang="en-US" dirty="0"/>
              <a:t> - It should not need any further explanation. </a:t>
            </a:r>
          </a:p>
          <a:p>
            <a:pPr>
              <a:buFont typeface="Wingdings" panose="05000000000000000000" pitchFamily="2" charset="2"/>
              <a:buChar char="Ø"/>
            </a:pPr>
            <a:r>
              <a:rPr lang="en-US" dirty="0"/>
              <a:t> </a:t>
            </a:r>
            <a:r>
              <a:rPr lang="en-US" b="1" dirty="0"/>
              <a:t>Comparable</a:t>
            </a:r>
            <a:r>
              <a:rPr lang="en-US" dirty="0"/>
              <a:t> - It should be of uniform collection, analysis, content, and format. </a:t>
            </a:r>
          </a:p>
          <a:p>
            <a:pPr>
              <a:buFont typeface="Wingdings" panose="05000000000000000000" pitchFamily="2" charset="2"/>
              <a:buChar char="Ø"/>
            </a:pPr>
            <a:r>
              <a:rPr lang="en-US" dirty="0"/>
              <a:t> </a:t>
            </a:r>
            <a:r>
              <a:rPr lang="en-US" b="1" dirty="0"/>
              <a:t>Reproducible</a:t>
            </a:r>
            <a:r>
              <a:rPr lang="en-US" dirty="0"/>
              <a:t> - It could be used by documented methods on the same data set to achieve a consistent result</a:t>
            </a:r>
          </a:p>
        </p:txBody>
      </p:sp>
    </p:spTree>
  </p:cSld>
  <p:clrMapOvr>
    <a:masterClrMapping/>
  </p:clrMapOvr>
  <p:transition advTm="300000">
    <p:strips dir="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936</TotalTime>
  <Words>2719</Words>
  <Application>Microsoft Office PowerPoint</Application>
  <PresentationFormat>Custom</PresentationFormat>
  <Paragraphs>253</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Wingdings</vt:lpstr>
      <vt:lpstr>Office Theme</vt:lpstr>
      <vt:lpstr>Human resource information system (HRIS)</vt:lpstr>
      <vt:lpstr>PowerPoint Presentation</vt:lpstr>
      <vt:lpstr>Introduction</vt:lpstr>
      <vt:lpstr>PowerPoint Presentation</vt:lpstr>
      <vt:lpstr>HIRS Concept</vt:lpstr>
      <vt:lpstr>PowerPoint Presentation</vt:lpstr>
      <vt:lpstr>HRIS structure </vt:lpstr>
      <vt:lpstr>Objective of HIRS</vt:lpstr>
      <vt:lpstr>Why  organization implement HIRS </vt:lpstr>
      <vt:lpstr>PowerPoint Presentation</vt:lpstr>
      <vt:lpstr>PowerPoint Presentation</vt:lpstr>
      <vt:lpstr>HR Activities</vt:lpstr>
      <vt:lpstr>PowerPoint Presentation</vt:lpstr>
      <vt:lpstr>Ways that an HRIS can add value to HR and the organization</vt:lpstr>
      <vt:lpstr>Benefit of HIRS</vt:lpstr>
      <vt:lpstr>PowerPoint Presentation</vt:lpstr>
      <vt:lpstr>Limitation</vt:lpstr>
      <vt:lpstr>Data and Information Needs for HR Manager</vt:lpstr>
      <vt:lpstr> Sources of HR Data </vt:lpstr>
      <vt:lpstr> Files to be stored in HRIS </vt:lpstr>
      <vt:lpstr>HRIS Data Sources</vt:lpstr>
      <vt:lpstr>HRIS Modules</vt:lpstr>
      <vt:lpstr>PowerPoint Presentation</vt:lpstr>
      <vt:lpstr>PowerPoint Presentation</vt:lpstr>
      <vt:lpstr>PowerPoint Presentation</vt:lpstr>
      <vt:lpstr> DATA CAPTURING FOR MONITORING AND REVIEW </vt:lpstr>
      <vt:lpstr>Types of HIRS</vt:lpstr>
      <vt:lpstr>Types of HIRS</vt:lpstr>
      <vt:lpstr>PowerPoint Presentation</vt:lpstr>
      <vt:lpstr> Employee Information Systems </vt:lpstr>
      <vt:lpstr> Position Control Systems </vt:lpstr>
      <vt:lpstr> Performance Management Information Systems </vt:lpstr>
      <vt:lpstr> Tactical HRIS </vt:lpstr>
      <vt:lpstr> Recruiting information systems </vt:lpstr>
      <vt:lpstr>Compensation and benefits information systems</vt:lpstr>
      <vt:lpstr> Employee training and development systems </vt:lpstr>
      <vt:lpstr> Strategic HRIS </vt:lpstr>
      <vt:lpstr>PowerPoint Presentation</vt:lpstr>
      <vt:lpstr> Information systems supporting workforce planning </vt:lpstr>
      <vt:lpstr>Specialized human resource information systems software</vt:lpstr>
      <vt:lpstr> Comprehensive HRIS </vt:lpstr>
      <vt:lpstr> Element of information system </vt:lpstr>
      <vt:lpstr>PowerPoint Presentation</vt:lpstr>
      <vt:lpstr> Quality of information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 information system (HIRS)</dc:title>
  <dc:creator>user</dc:creator>
  <cp:lastModifiedBy>user</cp:lastModifiedBy>
  <cp:revision>36</cp:revision>
  <dcterms:created xsi:type="dcterms:W3CDTF">2022-04-07T11:50:00Z</dcterms:created>
  <dcterms:modified xsi:type="dcterms:W3CDTF">2026-05-07T01:34:56Z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A7817CACAEB7424994C8C3E011FA6D77_12</vt:lpwstr>
  </property>
  <property fmtid="{D5CDD505-2E9C-101B-9397-08002B2CF9AE}" pid="3" name="KSOProductBuildVer">
    <vt:lpwstr>1033-12.2.0.18607</vt:lpwstr>
  </property>
</Properties>
</file>