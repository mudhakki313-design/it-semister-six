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5" r:id="rId9"/>
    <p:sldId id="266" r:id="rId10"/>
  </p:sldIdLst>
  <p:sldSz cx="1080135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152" y="-102"/>
      </p:cViewPr>
      <p:guideLst>
        <p:guide orient="horz" pos="2160"/>
        <p:guide pos="3402"/>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36421B-90FD-48DA-8F6C-6CB8E51AE51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EB7CBAA4-BF4D-4493-BF01-16BB2D9271AA}">
      <dgm:prSet phldrT="[Text]" custT="1"/>
      <dgm:spPr/>
      <dgm:t>
        <a:bodyPr/>
        <a:lstStyle/>
        <a:p>
          <a:r>
            <a:rPr lang="en-US" sz="2800" dirty="0" smtClean="0"/>
            <a:t>Personal</a:t>
          </a:r>
          <a:endParaRPr lang="en-US" sz="2800" dirty="0"/>
        </a:p>
      </dgm:t>
    </dgm:pt>
    <dgm:pt modelId="{B00B9791-40C8-4A3A-BDD9-B82C70FA326B}" type="parTrans" cxnId="{3E2CF762-2F5B-43CB-BBAB-B6E9246B7698}">
      <dgm:prSet/>
      <dgm:spPr/>
      <dgm:t>
        <a:bodyPr/>
        <a:lstStyle/>
        <a:p>
          <a:endParaRPr lang="en-US"/>
        </a:p>
      </dgm:t>
    </dgm:pt>
    <dgm:pt modelId="{07F88003-C4A4-4610-91F1-9B2AD52C033D}" type="sibTrans" cxnId="{3E2CF762-2F5B-43CB-BBAB-B6E9246B7698}">
      <dgm:prSet/>
      <dgm:spPr/>
      <dgm:t>
        <a:bodyPr/>
        <a:lstStyle/>
        <a:p>
          <a:endParaRPr lang="en-US"/>
        </a:p>
      </dgm:t>
    </dgm:pt>
    <dgm:pt modelId="{EBB73EBD-D31A-4740-A873-DC26704213E7}">
      <dgm:prSet phldrT="[Text]" custT="1"/>
      <dgm:spPr/>
      <dgm:t>
        <a:bodyPr/>
        <a:lstStyle/>
        <a:p>
          <a:r>
            <a:rPr lang="en-US" sz="2800" dirty="0" smtClean="0"/>
            <a:t>Functional</a:t>
          </a:r>
          <a:endParaRPr lang="en-US" sz="2800" dirty="0"/>
        </a:p>
      </dgm:t>
    </dgm:pt>
    <dgm:pt modelId="{4103FDE4-5B90-470F-B7EE-DB3C948F4333}" type="parTrans" cxnId="{CA944F67-C25C-4989-B413-A2F01886F02B}">
      <dgm:prSet/>
      <dgm:spPr/>
      <dgm:t>
        <a:bodyPr/>
        <a:lstStyle/>
        <a:p>
          <a:endParaRPr lang="en-US"/>
        </a:p>
      </dgm:t>
    </dgm:pt>
    <dgm:pt modelId="{8FF3BE83-086C-434A-BBCB-22419973CBCA}" type="sibTrans" cxnId="{CA944F67-C25C-4989-B413-A2F01886F02B}">
      <dgm:prSet/>
      <dgm:spPr/>
      <dgm:t>
        <a:bodyPr/>
        <a:lstStyle/>
        <a:p>
          <a:endParaRPr lang="en-US"/>
        </a:p>
      </dgm:t>
    </dgm:pt>
    <dgm:pt modelId="{B3917CA2-A4DE-4609-801C-99EC8F123016}">
      <dgm:prSet phldrT="[Text]" custT="1"/>
      <dgm:spPr/>
      <dgm:t>
        <a:bodyPr/>
        <a:lstStyle/>
        <a:p>
          <a:r>
            <a:rPr lang="en-US" sz="2800" dirty="0" smtClean="0"/>
            <a:t>Organization</a:t>
          </a:r>
          <a:endParaRPr lang="en-US" sz="2800" dirty="0"/>
        </a:p>
      </dgm:t>
    </dgm:pt>
    <dgm:pt modelId="{B6F8386C-49B5-433F-99A5-C8590B9B6431}" type="parTrans" cxnId="{86C2736D-EA4B-4331-B04C-25CAB24C111F}">
      <dgm:prSet/>
      <dgm:spPr/>
      <dgm:t>
        <a:bodyPr/>
        <a:lstStyle/>
        <a:p>
          <a:endParaRPr lang="en-US"/>
        </a:p>
      </dgm:t>
    </dgm:pt>
    <dgm:pt modelId="{4ABADD28-897A-414B-8B12-94CD6833ABEC}" type="sibTrans" cxnId="{86C2736D-EA4B-4331-B04C-25CAB24C111F}">
      <dgm:prSet/>
      <dgm:spPr/>
      <dgm:t>
        <a:bodyPr/>
        <a:lstStyle/>
        <a:p>
          <a:endParaRPr lang="en-US"/>
        </a:p>
      </dgm:t>
    </dgm:pt>
    <dgm:pt modelId="{AACF82D6-7BA3-4674-A670-3C0E6091F9BB}">
      <dgm:prSet phldrT="[Text]" custT="1"/>
      <dgm:spPr/>
      <dgm:t>
        <a:bodyPr/>
        <a:lstStyle/>
        <a:p>
          <a:r>
            <a:rPr lang="en-GB" sz="2800" dirty="0" smtClean="0"/>
            <a:t>Societal</a:t>
          </a:r>
          <a:endParaRPr lang="en-US" sz="2800" dirty="0"/>
        </a:p>
      </dgm:t>
    </dgm:pt>
    <dgm:pt modelId="{2D7EEEF7-290D-40AE-A4DD-FA585C5BA1A8}" type="parTrans" cxnId="{3DCD3C87-5CE9-4574-9928-635A74C8F6A7}">
      <dgm:prSet/>
      <dgm:spPr/>
      <dgm:t>
        <a:bodyPr/>
        <a:lstStyle/>
        <a:p>
          <a:endParaRPr lang="en-US"/>
        </a:p>
      </dgm:t>
    </dgm:pt>
    <dgm:pt modelId="{3ED9991F-4D4D-423A-B49B-430259AABF8D}" type="sibTrans" cxnId="{3DCD3C87-5CE9-4574-9928-635A74C8F6A7}">
      <dgm:prSet/>
      <dgm:spPr/>
      <dgm:t>
        <a:bodyPr/>
        <a:lstStyle/>
        <a:p>
          <a:endParaRPr lang="en-US"/>
        </a:p>
      </dgm:t>
    </dgm:pt>
    <dgm:pt modelId="{CB1E61C4-8AA7-4E61-9AC8-76706B658903}" type="pres">
      <dgm:prSet presAssocID="{6536421B-90FD-48DA-8F6C-6CB8E51AE51E}" presName="Name0" presStyleCnt="0">
        <dgm:presLayoutVars>
          <dgm:chMax val="7"/>
          <dgm:resizeHandles val="exact"/>
        </dgm:presLayoutVars>
      </dgm:prSet>
      <dgm:spPr/>
    </dgm:pt>
    <dgm:pt modelId="{5DBB3FE1-6CF4-49AE-AB2C-244EE5D1C9E4}" type="pres">
      <dgm:prSet presAssocID="{6536421B-90FD-48DA-8F6C-6CB8E51AE51E}" presName="comp1" presStyleCnt="0"/>
      <dgm:spPr/>
    </dgm:pt>
    <dgm:pt modelId="{B4E3AA32-EF01-45E0-9234-10022AB8EDB2}" type="pres">
      <dgm:prSet presAssocID="{6536421B-90FD-48DA-8F6C-6CB8E51AE51E}" presName="circle1" presStyleLbl="node1" presStyleIdx="0" presStyleCnt="4" custScaleX="154684"/>
      <dgm:spPr/>
      <dgm:t>
        <a:bodyPr/>
        <a:lstStyle/>
        <a:p>
          <a:endParaRPr lang="en-US"/>
        </a:p>
      </dgm:t>
    </dgm:pt>
    <dgm:pt modelId="{95FBB6F8-8C3F-4C11-9E26-260A17D6E3FC}" type="pres">
      <dgm:prSet presAssocID="{6536421B-90FD-48DA-8F6C-6CB8E51AE51E}" presName="c1text" presStyleLbl="node1" presStyleIdx="0" presStyleCnt="4">
        <dgm:presLayoutVars>
          <dgm:bulletEnabled val="1"/>
        </dgm:presLayoutVars>
      </dgm:prSet>
      <dgm:spPr/>
      <dgm:t>
        <a:bodyPr/>
        <a:lstStyle/>
        <a:p>
          <a:endParaRPr lang="en-US"/>
        </a:p>
      </dgm:t>
    </dgm:pt>
    <dgm:pt modelId="{AC4B5C11-D919-472E-A6BE-2069A443C0E5}" type="pres">
      <dgm:prSet presAssocID="{6536421B-90FD-48DA-8F6C-6CB8E51AE51E}" presName="comp2" presStyleCnt="0"/>
      <dgm:spPr/>
    </dgm:pt>
    <dgm:pt modelId="{3F23BDF5-571D-4EB8-8937-1418B3BD212E}" type="pres">
      <dgm:prSet presAssocID="{6536421B-90FD-48DA-8F6C-6CB8E51AE51E}" presName="circle2" presStyleLbl="node1" presStyleIdx="1" presStyleCnt="4" custScaleX="161787" custScaleY="101982"/>
      <dgm:spPr/>
      <dgm:t>
        <a:bodyPr/>
        <a:lstStyle/>
        <a:p>
          <a:endParaRPr lang="en-US"/>
        </a:p>
      </dgm:t>
    </dgm:pt>
    <dgm:pt modelId="{76A5775A-2F56-4F96-B13F-2787AFE0D527}" type="pres">
      <dgm:prSet presAssocID="{6536421B-90FD-48DA-8F6C-6CB8E51AE51E}" presName="c2text" presStyleLbl="node1" presStyleIdx="1" presStyleCnt="4">
        <dgm:presLayoutVars>
          <dgm:bulletEnabled val="1"/>
        </dgm:presLayoutVars>
      </dgm:prSet>
      <dgm:spPr/>
      <dgm:t>
        <a:bodyPr/>
        <a:lstStyle/>
        <a:p>
          <a:endParaRPr lang="en-US"/>
        </a:p>
      </dgm:t>
    </dgm:pt>
    <dgm:pt modelId="{1654CDE4-A1DA-4952-9180-5B542247149A}" type="pres">
      <dgm:prSet presAssocID="{6536421B-90FD-48DA-8F6C-6CB8E51AE51E}" presName="comp3" presStyleCnt="0"/>
      <dgm:spPr/>
    </dgm:pt>
    <dgm:pt modelId="{6B6D7234-BBA5-4E0E-A42C-FA373109C7BE}" type="pres">
      <dgm:prSet presAssocID="{6536421B-90FD-48DA-8F6C-6CB8E51AE51E}" presName="circle3" presStyleLbl="node1" presStyleIdx="2" presStyleCnt="4" custScaleX="172265" custLinFactNeighborX="250" custLinFactNeighborY="-4167"/>
      <dgm:spPr/>
      <dgm:t>
        <a:bodyPr/>
        <a:lstStyle/>
        <a:p>
          <a:endParaRPr lang="en-US"/>
        </a:p>
      </dgm:t>
    </dgm:pt>
    <dgm:pt modelId="{DDB86C54-D03B-4B84-9067-0CA1A9506598}" type="pres">
      <dgm:prSet presAssocID="{6536421B-90FD-48DA-8F6C-6CB8E51AE51E}" presName="c3text" presStyleLbl="node1" presStyleIdx="2" presStyleCnt="4">
        <dgm:presLayoutVars>
          <dgm:bulletEnabled val="1"/>
        </dgm:presLayoutVars>
      </dgm:prSet>
      <dgm:spPr/>
      <dgm:t>
        <a:bodyPr/>
        <a:lstStyle/>
        <a:p>
          <a:endParaRPr lang="en-US"/>
        </a:p>
      </dgm:t>
    </dgm:pt>
    <dgm:pt modelId="{B59B0903-CB59-4EE2-8165-77F89CE1AB4B}" type="pres">
      <dgm:prSet presAssocID="{6536421B-90FD-48DA-8F6C-6CB8E51AE51E}" presName="comp4" presStyleCnt="0"/>
      <dgm:spPr/>
    </dgm:pt>
    <dgm:pt modelId="{373740FD-A020-4CA4-9505-A2A4AAFA18A2}" type="pres">
      <dgm:prSet presAssocID="{6536421B-90FD-48DA-8F6C-6CB8E51AE51E}" presName="circle4" presStyleLbl="node1" presStyleIdx="3" presStyleCnt="4" custScaleX="128660" custLinFactNeighborX="457" custLinFactNeighborY="-6708"/>
      <dgm:spPr/>
      <dgm:t>
        <a:bodyPr/>
        <a:lstStyle/>
        <a:p>
          <a:endParaRPr lang="en-US"/>
        </a:p>
      </dgm:t>
    </dgm:pt>
    <dgm:pt modelId="{42289395-630A-4B9A-8E82-FF3157F276C1}" type="pres">
      <dgm:prSet presAssocID="{6536421B-90FD-48DA-8F6C-6CB8E51AE51E}" presName="c4text" presStyleLbl="node1" presStyleIdx="3" presStyleCnt="4">
        <dgm:presLayoutVars>
          <dgm:bulletEnabled val="1"/>
        </dgm:presLayoutVars>
      </dgm:prSet>
      <dgm:spPr/>
      <dgm:t>
        <a:bodyPr/>
        <a:lstStyle/>
        <a:p>
          <a:endParaRPr lang="en-US"/>
        </a:p>
      </dgm:t>
    </dgm:pt>
  </dgm:ptLst>
  <dgm:cxnLst>
    <dgm:cxn modelId="{5BF728F0-6DFD-4951-BA45-5AE164414D8B}" type="presOf" srcId="{EB7CBAA4-BF4D-4493-BF01-16BB2D9271AA}" destId="{95FBB6F8-8C3F-4C11-9E26-260A17D6E3FC}" srcOrd="1" destOrd="0" presId="urn:microsoft.com/office/officeart/2005/8/layout/venn2"/>
    <dgm:cxn modelId="{E252788C-66A1-43A0-94BA-55BFBD055026}" type="presOf" srcId="{B3917CA2-A4DE-4609-801C-99EC8F123016}" destId="{6B6D7234-BBA5-4E0E-A42C-FA373109C7BE}" srcOrd="0" destOrd="0" presId="urn:microsoft.com/office/officeart/2005/8/layout/venn2"/>
    <dgm:cxn modelId="{F4B1BE6D-EF7E-4020-9D0D-B2FD47BF9829}" type="presOf" srcId="{6536421B-90FD-48DA-8F6C-6CB8E51AE51E}" destId="{CB1E61C4-8AA7-4E61-9AC8-76706B658903}" srcOrd="0" destOrd="0" presId="urn:microsoft.com/office/officeart/2005/8/layout/venn2"/>
    <dgm:cxn modelId="{5AA458E6-D854-4A89-B827-B2429ABC6569}" type="presOf" srcId="{EBB73EBD-D31A-4740-A873-DC26704213E7}" destId="{76A5775A-2F56-4F96-B13F-2787AFE0D527}" srcOrd="1" destOrd="0" presId="urn:microsoft.com/office/officeart/2005/8/layout/venn2"/>
    <dgm:cxn modelId="{5FF83FB0-78AC-4B9E-96E5-79425DA0A9DC}" type="presOf" srcId="{AACF82D6-7BA3-4674-A670-3C0E6091F9BB}" destId="{42289395-630A-4B9A-8E82-FF3157F276C1}" srcOrd="1" destOrd="0" presId="urn:microsoft.com/office/officeart/2005/8/layout/venn2"/>
    <dgm:cxn modelId="{4DE9C65D-F380-470A-9749-84B7A931AEB8}" type="presOf" srcId="{B3917CA2-A4DE-4609-801C-99EC8F123016}" destId="{DDB86C54-D03B-4B84-9067-0CA1A9506598}" srcOrd="1" destOrd="0" presId="urn:microsoft.com/office/officeart/2005/8/layout/venn2"/>
    <dgm:cxn modelId="{3E2CF762-2F5B-43CB-BBAB-B6E9246B7698}" srcId="{6536421B-90FD-48DA-8F6C-6CB8E51AE51E}" destId="{EB7CBAA4-BF4D-4493-BF01-16BB2D9271AA}" srcOrd="0" destOrd="0" parTransId="{B00B9791-40C8-4A3A-BDD9-B82C70FA326B}" sibTransId="{07F88003-C4A4-4610-91F1-9B2AD52C033D}"/>
    <dgm:cxn modelId="{3DCD3C87-5CE9-4574-9928-635A74C8F6A7}" srcId="{6536421B-90FD-48DA-8F6C-6CB8E51AE51E}" destId="{AACF82D6-7BA3-4674-A670-3C0E6091F9BB}" srcOrd="3" destOrd="0" parTransId="{2D7EEEF7-290D-40AE-A4DD-FA585C5BA1A8}" sibTransId="{3ED9991F-4D4D-423A-B49B-430259AABF8D}"/>
    <dgm:cxn modelId="{FF7EA679-3FDF-4F1E-8287-1A584317306F}" type="presOf" srcId="{EBB73EBD-D31A-4740-A873-DC26704213E7}" destId="{3F23BDF5-571D-4EB8-8937-1418B3BD212E}" srcOrd="0" destOrd="0" presId="urn:microsoft.com/office/officeart/2005/8/layout/venn2"/>
    <dgm:cxn modelId="{0FE3ED35-7BAC-4DC9-B959-0EBA7B1D8FA9}" type="presOf" srcId="{EB7CBAA4-BF4D-4493-BF01-16BB2D9271AA}" destId="{B4E3AA32-EF01-45E0-9234-10022AB8EDB2}" srcOrd="0" destOrd="0" presId="urn:microsoft.com/office/officeart/2005/8/layout/venn2"/>
    <dgm:cxn modelId="{808312E2-8B89-41EC-8258-2D5FF264E84A}" type="presOf" srcId="{AACF82D6-7BA3-4674-A670-3C0E6091F9BB}" destId="{373740FD-A020-4CA4-9505-A2A4AAFA18A2}" srcOrd="0" destOrd="0" presId="urn:microsoft.com/office/officeart/2005/8/layout/venn2"/>
    <dgm:cxn modelId="{CA944F67-C25C-4989-B413-A2F01886F02B}" srcId="{6536421B-90FD-48DA-8F6C-6CB8E51AE51E}" destId="{EBB73EBD-D31A-4740-A873-DC26704213E7}" srcOrd="1" destOrd="0" parTransId="{4103FDE4-5B90-470F-B7EE-DB3C948F4333}" sibTransId="{8FF3BE83-086C-434A-BBCB-22419973CBCA}"/>
    <dgm:cxn modelId="{86C2736D-EA4B-4331-B04C-25CAB24C111F}" srcId="{6536421B-90FD-48DA-8F6C-6CB8E51AE51E}" destId="{B3917CA2-A4DE-4609-801C-99EC8F123016}" srcOrd="2" destOrd="0" parTransId="{B6F8386C-49B5-433F-99A5-C8590B9B6431}" sibTransId="{4ABADD28-897A-414B-8B12-94CD6833ABEC}"/>
    <dgm:cxn modelId="{D93D4B61-AF61-428E-BFEB-29FED5E83944}" type="presParOf" srcId="{CB1E61C4-8AA7-4E61-9AC8-76706B658903}" destId="{5DBB3FE1-6CF4-49AE-AB2C-244EE5D1C9E4}" srcOrd="0" destOrd="0" presId="urn:microsoft.com/office/officeart/2005/8/layout/venn2"/>
    <dgm:cxn modelId="{4E3C2CAD-E761-4404-8D7E-FAC1CF948FCD}" type="presParOf" srcId="{5DBB3FE1-6CF4-49AE-AB2C-244EE5D1C9E4}" destId="{B4E3AA32-EF01-45E0-9234-10022AB8EDB2}" srcOrd="0" destOrd="0" presId="urn:microsoft.com/office/officeart/2005/8/layout/venn2"/>
    <dgm:cxn modelId="{C0FA1D4B-E549-454D-BC50-B93C2BC12AF5}" type="presParOf" srcId="{5DBB3FE1-6CF4-49AE-AB2C-244EE5D1C9E4}" destId="{95FBB6F8-8C3F-4C11-9E26-260A17D6E3FC}" srcOrd="1" destOrd="0" presId="urn:microsoft.com/office/officeart/2005/8/layout/venn2"/>
    <dgm:cxn modelId="{94D2A82C-539B-4C4A-BFE4-20B2CFC55A3A}" type="presParOf" srcId="{CB1E61C4-8AA7-4E61-9AC8-76706B658903}" destId="{AC4B5C11-D919-472E-A6BE-2069A443C0E5}" srcOrd="1" destOrd="0" presId="urn:microsoft.com/office/officeart/2005/8/layout/venn2"/>
    <dgm:cxn modelId="{D40A3FC5-ECC3-4C87-BBB4-FDC3EAB38F85}" type="presParOf" srcId="{AC4B5C11-D919-472E-A6BE-2069A443C0E5}" destId="{3F23BDF5-571D-4EB8-8937-1418B3BD212E}" srcOrd="0" destOrd="0" presId="urn:microsoft.com/office/officeart/2005/8/layout/venn2"/>
    <dgm:cxn modelId="{540E8BAC-6700-4998-888F-A63880A264BE}" type="presParOf" srcId="{AC4B5C11-D919-472E-A6BE-2069A443C0E5}" destId="{76A5775A-2F56-4F96-B13F-2787AFE0D527}" srcOrd="1" destOrd="0" presId="urn:microsoft.com/office/officeart/2005/8/layout/venn2"/>
    <dgm:cxn modelId="{4D67420D-C6B9-410B-8A67-F0AA95F1BEE6}" type="presParOf" srcId="{CB1E61C4-8AA7-4E61-9AC8-76706B658903}" destId="{1654CDE4-A1DA-4952-9180-5B542247149A}" srcOrd="2" destOrd="0" presId="urn:microsoft.com/office/officeart/2005/8/layout/venn2"/>
    <dgm:cxn modelId="{B02E14D4-5F7F-4C79-BAE4-EE2497C3E527}" type="presParOf" srcId="{1654CDE4-A1DA-4952-9180-5B542247149A}" destId="{6B6D7234-BBA5-4E0E-A42C-FA373109C7BE}" srcOrd="0" destOrd="0" presId="urn:microsoft.com/office/officeart/2005/8/layout/venn2"/>
    <dgm:cxn modelId="{5EC7F3AC-DAE1-43B7-B0FA-B0EE0671EC0C}" type="presParOf" srcId="{1654CDE4-A1DA-4952-9180-5B542247149A}" destId="{DDB86C54-D03B-4B84-9067-0CA1A9506598}" srcOrd="1" destOrd="0" presId="urn:microsoft.com/office/officeart/2005/8/layout/venn2"/>
    <dgm:cxn modelId="{D0E18A54-6C18-4055-ABAD-DC631C13C80A}" type="presParOf" srcId="{CB1E61C4-8AA7-4E61-9AC8-76706B658903}" destId="{B59B0903-CB59-4EE2-8165-77F89CE1AB4B}" srcOrd="3" destOrd="0" presId="urn:microsoft.com/office/officeart/2005/8/layout/venn2"/>
    <dgm:cxn modelId="{07B476F0-0C9F-4285-B06D-6E4B8D363591}" type="presParOf" srcId="{B59B0903-CB59-4EE2-8165-77F89CE1AB4B}" destId="{373740FD-A020-4CA4-9505-A2A4AAFA18A2}" srcOrd="0" destOrd="0" presId="urn:microsoft.com/office/officeart/2005/8/layout/venn2"/>
    <dgm:cxn modelId="{C96946F4-9EB3-4456-881C-BC9CCAD8AFE3}" type="presParOf" srcId="{B59B0903-CB59-4EE2-8165-77F89CE1AB4B}" destId="{42289395-630A-4B9A-8E82-FF3157F276C1}" srcOrd="1" destOrd="0" presId="urn:microsoft.com/office/officeart/2005/8/layout/ven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4E3AA32-EF01-45E0-9234-10022AB8EDB2}">
      <dsp:nvSpPr>
        <dsp:cNvPr id="0" name=""/>
        <dsp:cNvSpPr/>
      </dsp:nvSpPr>
      <dsp:spPr>
        <a:xfrm>
          <a:off x="1236114" y="-18576"/>
          <a:ext cx="7248985" cy="468631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Personal</a:t>
          </a:r>
          <a:endParaRPr lang="en-US" sz="2800" kern="1200" dirty="0"/>
        </a:p>
      </dsp:txBody>
      <dsp:txXfrm>
        <a:off x="3847199" y="215739"/>
        <a:ext cx="2026816" cy="702947"/>
      </dsp:txXfrm>
    </dsp:sp>
    <dsp:sp modelId="{3F23BDF5-571D-4EB8-8937-1418B3BD212E}">
      <dsp:nvSpPr>
        <dsp:cNvPr id="0" name=""/>
        <dsp:cNvSpPr/>
      </dsp:nvSpPr>
      <dsp:spPr>
        <a:xfrm>
          <a:off x="1827865" y="881534"/>
          <a:ext cx="6065483" cy="382336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Functional</a:t>
          </a:r>
          <a:endParaRPr lang="en-US" sz="2800" kern="1200" dirty="0"/>
        </a:p>
      </dsp:txBody>
      <dsp:txXfrm>
        <a:off x="3800664" y="1110935"/>
        <a:ext cx="2119886" cy="688205"/>
      </dsp:txXfrm>
    </dsp:sp>
    <dsp:sp modelId="{6B6D7234-BBA5-4E0E-A42C-FA373109C7BE}">
      <dsp:nvSpPr>
        <dsp:cNvPr id="0" name=""/>
        <dsp:cNvSpPr/>
      </dsp:nvSpPr>
      <dsp:spPr>
        <a:xfrm>
          <a:off x="2445770" y="1738783"/>
          <a:ext cx="4843732" cy="2811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Organization</a:t>
          </a:r>
          <a:endParaRPr lang="en-US" sz="2800" kern="1200" dirty="0"/>
        </a:p>
      </dsp:txBody>
      <dsp:txXfrm>
        <a:off x="3739047" y="1949668"/>
        <a:ext cx="2257179" cy="632653"/>
      </dsp:txXfrm>
    </dsp:sp>
    <dsp:sp modelId="{373740FD-A020-4CA4-9505-A2A4AAFA18A2}">
      <dsp:nvSpPr>
        <dsp:cNvPr id="0" name=""/>
        <dsp:cNvSpPr/>
      </dsp:nvSpPr>
      <dsp:spPr>
        <a:xfrm>
          <a:off x="3663290" y="2667471"/>
          <a:ext cx="2411767" cy="18745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GB" sz="2800" kern="1200" dirty="0" smtClean="0"/>
            <a:t>Societal</a:t>
          </a:r>
          <a:endParaRPr lang="en-US" sz="2800" kern="1200" dirty="0"/>
        </a:p>
      </dsp:txBody>
      <dsp:txXfrm>
        <a:off x="4016485" y="3136103"/>
        <a:ext cx="1705376" cy="937263"/>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0101" y="2130426"/>
            <a:ext cx="9181148"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620203" y="3886200"/>
            <a:ext cx="756094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F3AE3ED-7476-4F8D-A262-E1A8734BA834}"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3AE3ED-7476-4F8D-A262-E1A8734BA834}"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232" y="4406901"/>
            <a:ext cx="9181148"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53232" y="2906713"/>
            <a:ext cx="9181148"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F3AE3ED-7476-4F8D-A262-E1A8734BA834}"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40068" y="1600201"/>
            <a:ext cx="477059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90686" y="1600201"/>
            <a:ext cx="477059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F3AE3ED-7476-4F8D-A262-E1A8734BA834}"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40068" y="1535113"/>
            <a:ext cx="477247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0068" y="2174875"/>
            <a:ext cx="477247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86936" y="1535113"/>
            <a:ext cx="477434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86936" y="2174875"/>
            <a:ext cx="477434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3AE3ED-7476-4F8D-A262-E1A8734BA834}" type="datetimeFigureOut">
              <a:rPr lang="en-US" smtClean="0"/>
              <a:t>3/27/2023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F3AE3ED-7476-4F8D-A262-E1A8734BA834}" type="datetimeFigureOut">
              <a:rPr lang="en-US" smtClean="0"/>
              <a:t>3/27/2023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3AE3ED-7476-4F8D-A262-E1A8734BA834}" type="datetimeFigureOut">
              <a:rPr lang="en-US" smtClean="0"/>
              <a:t>3/27/2023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0068" y="273050"/>
            <a:ext cx="3553570"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223028" y="273051"/>
            <a:ext cx="603825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40068" y="1435101"/>
            <a:ext cx="355357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3AE3ED-7476-4F8D-A262-E1A8734BA834}"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17140" y="4800600"/>
            <a:ext cx="648081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117140" y="612775"/>
            <a:ext cx="648081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117140" y="5367338"/>
            <a:ext cx="648081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3AE3ED-7476-4F8D-A262-E1A8734BA834}"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3AE3ED-7476-4F8D-A262-E1A8734BA834}"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30979" y="274639"/>
            <a:ext cx="2430304"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40067" y="274639"/>
            <a:ext cx="711088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3AE3ED-7476-4F8D-A262-E1A8734BA834}"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71945-C46B-426A-8852-05B334561B6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68" y="274638"/>
            <a:ext cx="972121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68" y="1600201"/>
            <a:ext cx="972121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68" y="6356351"/>
            <a:ext cx="252031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AE3ED-7476-4F8D-A262-E1A8734BA834}" type="datetimeFigureOut">
              <a:rPr lang="en-US" smtClean="0"/>
              <a:t>3/27/2023</a:t>
            </a:fld>
            <a:endParaRPr lang="en-US"/>
          </a:p>
        </p:txBody>
      </p:sp>
      <p:sp>
        <p:nvSpPr>
          <p:cNvPr id="5" name="Footer Placeholder 4"/>
          <p:cNvSpPr>
            <a:spLocks noGrp="1"/>
          </p:cNvSpPr>
          <p:nvPr>
            <p:ph type="ftr" sz="quarter" idx="3"/>
          </p:nvPr>
        </p:nvSpPr>
        <p:spPr>
          <a:xfrm>
            <a:off x="3690461" y="6356351"/>
            <a:ext cx="34204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40968" y="6356351"/>
            <a:ext cx="252031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E71945-C46B-426A-8852-05B334561B6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Topic 1:  Introduction to HRM</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nature of HRM</a:t>
            </a:r>
            <a:endParaRPr lang="en-US" dirty="0"/>
          </a:p>
          <a:p>
            <a:r>
              <a:rPr lang="en-GB" dirty="0"/>
              <a:t>definition of HRM</a:t>
            </a:r>
            <a:endParaRPr lang="en-US" dirty="0"/>
          </a:p>
          <a:p>
            <a:r>
              <a:rPr lang="en-GB" dirty="0"/>
              <a:t>need for HRM</a:t>
            </a:r>
            <a:endParaRPr lang="en-US" dirty="0"/>
          </a:p>
          <a:p>
            <a:r>
              <a:rPr lang="en-GB" dirty="0"/>
              <a:t>Human resource functions</a:t>
            </a:r>
            <a:endParaRPr lang="en-US" dirty="0"/>
          </a:p>
          <a:p>
            <a:r>
              <a:rPr lang="en-GB" dirty="0"/>
              <a:t>Managerial functions</a:t>
            </a:r>
            <a:endParaRPr lang="en-US" dirty="0"/>
          </a:p>
          <a:p>
            <a:r>
              <a:rPr lang="en-GB" dirty="0"/>
              <a:t>Operative function</a:t>
            </a:r>
            <a:endParaRPr lang="en-US" dirty="0"/>
          </a:p>
          <a:p>
            <a:r>
              <a:rPr lang="en-GB" dirty="0"/>
              <a:t>role of HRM in strategic management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68" y="274638"/>
            <a:ext cx="9721215" cy="796908"/>
          </a:xfrm>
        </p:spPr>
        <p:txBody>
          <a:bodyPr>
            <a:normAutofit/>
          </a:bodyPr>
          <a:lstStyle/>
          <a:p>
            <a:r>
              <a:rPr lang="en-GB" sz="3600" dirty="0" smtClean="0"/>
              <a:t>Introduction </a:t>
            </a:r>
            <a:endParaRPr lang="en-GB" sz="3600" dirty="0" smtClean="0"/>
          </a:p>
        </p:txBody>
      </p:sp>
      <p:sp>
        <p:nvSpPr>
          <p:cNvPr id="3" name="Content Placeholder 2"/>
          <p:cNvSpPr>
            <a:spLocks noGrp="1"/>
          </p:cNvSpPr>
          <p:nvPr>
            <p:ph idx="1"/>
          </p:nvPr>
        </p:nvSpPr>
        <p:spPr>
          <a:xfrm>
            <a:off x="540068" y="1214423"/>
            <a:ext cx="9721215" cy="4911741"/>
          </a:xfrm>
        </p:spPr>
        <p:txBody>
          <a:bodyPr>
            <a:normAutofit fontScale="92500"/>
          </a:bodyPr>
          <a:lstStyle/>
          <a:p>
            <a:r>
              <a:rPr lang="en-US" dirty="0" smtClean="0"/>
              <a:t>Human Resource Management (HRM) is a relatively new approach to managing people in any organization which come to replace the term ‘personnel management.’ it concern with managing people in the organization.</a:t>
            </a:r>
          </a:p>
          <a:p>
            <a:r>
              <a:rPr lang="en-GB" dirty="0" smtClean="0"/>
              <a:t>People are the most valuable resource in the organization. However, their mental abilities, skills, behaviour etc are differ and thus make the job of managing them to be important and challenging.</a:t>
            </a:r>
          </a:p>
          <a:p>
            <a:r>
              <a:rPr lang="en-US" dirty="0" smtClean="0"/>
              <a:t>HRM deals with acquisition, development motivation and attainments of that people in organization .</a:t>
            </a:r>
            <a:endParaRPr lang="en-GB"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68" y="274638"/>
            <a:ext cx="9721215" cy="939784"/>
          </a:xfrm>
        </p:spPr>
        <p:txBody>
          <a:bodyPr/>
          <a:lstStyle/>
          <a:p>
            <a:r>
              <a:rPr lang="en-GB" dirty="0" smtClean="0"/>
              <a:t>definition of HRM</a:t>
            </a:r>
            <a:endParaRPr lang="en-US" dirty="0"/>
          </a:p>
        </p:txBody>
      </p:sp>
      <p:sp>
        <p:nvSpPr>
          <p:cNvPr id="3" name="Content Placeholder 2"/>
          <p:cNvSpPr>
            <a:spLocks noGrp="1"/>
          </p:cNvSpPr>
          <p:nvPr>
            <p:ph idx="1"/>
          </p:nvPr>
        </p:nvSpPr>
        <p:spPr>
          <a:xfrm>
            <a:off x="540068" y="1071546"/>
            <a:ext cx="9721215" cy="5143536"/>
          </a:xfrm>
        </p:spPr>
        <p:txBody>
          <a:bodyPr>
            <a:normAutofit fontScale="85000" lnSpcReduction="20000"/>
          </a:bodyPr>
          <a:lstStyle/>
          <a:p>
            <a:pPr algn="just"/>
            <a:r>
              <a:rPr lang="en-US" dirty="0" smtClean="0"/>
              <a:t>Human Resource Management is a process, which consists of four main activities, namely, acquisition, development, motivation, as well as maintenance of human resources. </a:t>
            </a:r>
          </a:p>
          <a:p>
            <a:pPr algn="just"/>
            <a:r>
              <a:rPr lang="en-US" dirty="0" smtClean="0"/>
              <a:t>Human resource management is the recruitment, selection, development, utilization, compensation and motivation of human resources by the organization</a:t>
            </a:r>
          </a:p>
          <a:p>
            <a:pPr algn="just"/>
            <a:r>
              <a:rPr lang="en-US" dirty="0" smtClean="0"/>
              <a:t>is the aspect of management, which deals with the planning, organizing, directing and controlling the personnel functions of the enterprise</a:t>
            </a:r>
          </a:p>
          <a:p>
            <a:pPr algn="just"/>
            <a:r>
              <a:rPr lang="en-US" dirty="0" smtClean="0"/>
              <a:t>is a strategic and coherent approach to the management of an organization’s most valued assets</a:t>
            </a:r>
          </a:p>
          <a:p>
            <a:pPr algn="just"/>
            <a:r>
              <a:rPr lang="en-US" dirty="0" smtClean="0"/>
              <a:t>is a process of making the efficient and effective use of human resources so that the set goals are achieved</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Nature of Human Resource Management </a:t>
            </a:r>
            <a:endParaRPr lang="en-US" dirty="0"/>
          </a:p>
        </p:txBody>
      </p:sp>
      <p:sp>
        <p:nvSpPr>
          <p:cNvPr id="3" name="Content Placeholder 2"/>
          <p:cNvSpPr>
            <a:spLocks noGrp="1"/>
          </p:cNvSpPr>
          <p:nvPr>
            <p:ph idx="1"/>
          </p:nvPr>
        </p:nvSpPr>
        <p:spPr>
          <a:xfrm>
            <a:off x="540068" y="1600200"/>
            <a:ext cx="9721215" cy="4757758"/>
          </a:xfrm>
        </p:spPr>
        <p:txBody>
          <a:bodyPr>
            <a:normAutofit lnSpcReduction="10000"/>
          </a:bodyPr>
          <a:lstStyle/>
          <a:p>
            <a:r>
              <a:rPr lang="en-US" dirty="0" smtClean="0"/>
              <a:t>The nature of the HRM has been highlighted in its following features:</a:t>
            </a:r>
          </a:p>
          <a:p>
            <a:pPr marL="971550" lvl="1" indent="-571500">
              <a:buFont typeface="+mj-lt"/>
              <a:buAutoNum type="romanLcPeriod"/>
            </a:pPr>
            <a:r>
              <a:rPr lang="en-US" dirty="0" smtClean="0"/>
              <a:t>Inherent part of Management—process of mgt</a:t>
            </a:r>
          </a:p>
          <a:p>
            <a:pPr marL="900113" lvl="1" indent="-500063">
              <a:buFont typeface="+mj-lt"/>
              <a:buAutoNum type="romanLcPeriod"/>
            </a:pPr>
            <a:r>
              <a:rPr lang="en-US" dirty="0" smtClean="0"/>
              <a:t>Pervasive Function --performed in all level of mgt</a:t>
            </a:r>
          </a:p>
          <a:p>
            <a:pPr marL="971550" lvl="1" indent="-571500">
              <a:buFont typeface="+mj-lt"/>
              <a:buAutoNum type="romanLcPeriod"/>
            </a:pPr>
            <a:r>
              <a:rPr lang="en-US" dirty="0" smtClean="0"/>
              <a:t>Basic to all Functional Areas- all mgr in org has to perform  personnel function</a:t>
            </a:r>
          </a:p>
          <a:p>
            <a:pPr marL="971550" lvl="1" indent="-571500">
              <a:buFont typeface="+mj-lt"/>
              <a:buAutoNum type="romanLcPeriod"/>
            </a:pPr>
            <a:r>
              <a:rPr lang="en-US" dirty="0" smtClean="0"/>
              <a:t>People Center</a:t>
            </a:r>
          </a:p>
          <a:p>
            <a:pPr marL="971550" lvl="1" indent="-571500">
              <a:buFont typeface="+mj-lt"/>
              <a:buAutoNum type="romanLcPeriod"/>
            </a:pPr>
            <a:r>
              <a:rPr lang="en-US" dirty="0" smtClean="0"/>
              <a:t>Personnel Activities or Functions</a:t>
            </a:r>
          </a:p>
          <a:p>
            <a:pPr marL="971550" lvl="1" indent="-571500">
              <a:buFont typeface="+mj-lt"/>
              <a:buAutoNum type="romanLcPeriod"/>
            </a:pPr>
            <a:r>
              <a:rPr lang="en-US" dirty="0" smtClean="0"/>
              <a:t>Continuous Process</a:t>
            </a:r>
          </a:p>
          <a:p>
            <a:pPr marL="971550" lvl="1" indent="-571500">
              <a:buFont typeface="+mj-lt"/>
              <a:buAutoNum type="romanLcPeriod"/>
            </a:pPr>
            <a:r>
              <a:rPr lang="en-US" dirty="0" smtClean="0"/>
              <a:t>Based on Human Relations</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Objective/ need of HRM</a:t>
            </a:r>
            <a:endParaRPr lang="en-US" dirty="0"/>
          </a:p>
        </p:txBody>
      </p:sp>
      <p:graphicFrame>
        <p:nvGraphicFramePr>
          <p:cNvPr id="4" name="Content Placeholder 3"/>
          <p:cNvGraphicFramePr>
            <a:graphicFrameLocks noGrp="1"/>
          </p:cNvGraphicFramePr>
          <p:nvPr>
            <p:ph idx="1"/>
          </p:nvPr>
        </p:nvGraphicFramePr>
        <p:xfrm>
          <a:off x="540068" y="1600200"/>
          <a:ext cx="9721215" cy="4686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objective </a:t>
            </a:r>
            <a:endParaRPr lang="en-US" dirty="0"/>
          </a:p>
        </p:txBody>
      </p:sp>
      <p:sp>
        <p:nvSpPr>
          <p:cNvPr id="3" name="Content Placeholder 2"/>
          <p:cNvSpPr>
            <a:spLocks noGrp="1"/>
          </p:cNvSpPr>
          <p:nvPr>
            <p:ph idx="1"/>
          </p:nvPr>
        </p:nvSpPr>
        <p:spPr>
          <a:xfrm>
            <a:off x="540068" y="1285860"/>
            <a:ext cx="9721215" cy="5072098"/>
          </a:xfrm>
        </p:spPr>
        <p:txBody>
          <a:bodyPr>
            <a:normAutofit fontScale="92500" lnSpcReduction="20000"/>
          </a:bodyPr>
          <a:lstStyle/>
          <a:p>
            <a:r>
              <a:rPr lang="en-US" dirty="0" smtClean="0"/>
              <a:t>Accomplish the basic organizational goals by creating and utilizing an able and motivated workforce.</a:t>
            </a:r>
          </a:p>
          <a:p>
            <a:r>
              <a:rPr lang="en-US" dirty="0" smtClean="0"/>
              <a:t> To establish and maintain organizational structure and desirable working relationships among all the members of the organization. </a:t>
            </a:r>
          </a:p>
          <a:p>
            <a:r>
              <a:rPr lang="en-US" dirty="0" smtClean="0"/>
              <a:t> Develop co-ordination among individual and group within organization to secure the integration of organization. </a:t>
            </a:r>
          </a:p>
          <a:p>
            <a:r>
              <a:rPr lang="en-US" dirty="0" smtClean="0"/>
              <a:t> To create facilities and opportunities for individual or group development so as to match it with the growth of the organization. </a:t>
            </a:r>
          </a:p>
          <a:p>
            <a:r>
              <a:rPr lang="en-US" dirty="0" smtClean="0"/>
              <a:t> To attain an effective utilization of human resources in the achievement of organizational goals.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68" y="274638"/>
            <a:ext cx="9721215" cy="868346"/>
          </a:xfrm>
        </p:spPr>
        <p:txBody>
          <a:bodyPr/>
          <a:lstStyle/>
          <a:p>
            <a:r>
              <a:rPr lang="en-GB" dirty="0" smtClean="0"/>
              <a:t>Functions of HRM</a:t>
            </a:r>
            <a:endParaRPr lang="en-US" dirty="0"/>
          </a:p>
        </p:txBody>
      </p:sp>
      <p:sp>
        <p:nvSpPr>
          <p:cNvPr id="3" name="Content Placeholder 2"/>
          <p:cNvSpPr>
            <a:spLocks noGrp="1"/>
          </p:cNvSpPr>
          <p:nvPr>
            <p:ph idx="1"/>
          </p:nvPr>
        </p:nvSpPr>
        <p:spPr>
          <a:xfrm>
            <a:off x="540068" y="1357299"/>
            <a:ext cx="9721215" cy="4768866"/>
          </a:xfrm>
        </p:spPr>
        <p:txBody>
          <a:bodyPr>
            <a:normAutofit fontScale="77500" lnSpcReduction="20000"/>
          </a:bodyPr>
          <a:lstStyle/>
          <a:p>
            <a:r>
              <a:rPr lang="en-GB" sz="3400" b="1" dirty="0" smtClean="0"/>
              <a:t>Managerial functions</a:t>
            </a:r>
          </a:p>
          <a:p>
            <a:pPr lvl="1"/>
            <a:r>
              <a:rPr lang="en-US" sz="3400" dirty="0" smtClean="0"/>
              <a:t>Planning</a:t>
            </a:r>
          </a:p>
          <a:p>
            <a:pPr lvl="1"/>
            <a:r>
              <a:rPr lang="en-US" sz="3400" dirty="0" smtClean="0"/>
              <a:t>Organization</a:t>
            </a:r>
          </a:p>
          <a:p>
            <a:pPr lvl="1"/>
            <a:r>
              <a:rPr lang="en-US" sz="3400" dirty="0" smtClean="0"/>
              <a:t>Directing</a:t>
            </a:r>
          </a:p>
          <a:p>
            <a:pPr lvl="1"/>
            <a:r>
              <a:rPr lang="en-US" sz="3400" dirty="0" smtClean="0"/>
              <a:t>Controlling</a:t>
            </a:r>
            <a:endParaRPr lang="en-GB" sz="3400" dirty="0" smtClean="0"/>
          </a:p>
          <a:p>
            <a:r>
              <a:rPr lang="en-GB" sz="3400" b="1" dirty="0" smtClean="0"/>
              <a:t>Operative functions</a:t>
            </a:r>
          </a:p>
          <a:p>
            <a:pPr lvl="1"/>
            <a:r>
              <a:rPr lang="en-US" sz="3400" dirty="0" smtClean="0"/>
              <a:t>Procurement of Personnel</a:t>
            </a:r>
          </a:p>
          <a:p>
            <a:pPr lvl="1"/>
            <a:r>
              <a:rPr lang="en-US" sz="3400" dirty="0" smtClean="0"/>
              <a:t>Development of Personnel</a:t>
            </a:r>
          </a:p>
          <a:p>
            <a:pPr lvl="1"/>
            <a:r>
              <a:rPr lang="en-US" sz="3400" dirty="0" smtClean="0"/>
              <a:t>Compensation to Personnel</a:t>
            </a:r>
          </a:p>
          <a:p>
            <a:pPr lvl="1"/>
            <a:r>
              <a:rPr lang="en-US" sz="3400" dirty="0" smtClean="0"/>
              <a:t> Maintaining Good Industrial Relation</a:t>
            </a:r>
          </a:p>
          <a:p>
            <a:pPr lvl="1"/>
            <a:r>
              <a:rPr lang="en-US" sz="3400" dirty="0" smtClean="0"/>
              <a:t>Record Keeping</a:t>
            </a:r>
          </a:p>
          <a:p>
            <a:pPr lvl="1"/>
            <a:r>
              <a:rPr lang="en-US" sz="3400" dirty="0" smtClean="0"/>
              <a:t>Personnel Planning and Evaluation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of HRM</a:t>
            </a:r>
            <a:endParaRPr lang="en-US" dirty="0"/>
          </a:p>
        </p:txBody>
      </p:sp>
      <p:sp>
        <p:nvSpPr>
          <p:cNvPr id="3" name="Content Placeholder 2"/>
          <p:cNvSpPr>
            <a:spLocks noGrp="1"/>
          </p:cNvSpPr>
          <p:nvPr>
            <p:ph idx="1"/>
          </p:nvPr>
        </p:nvSpPr>
        <p:spPr/>
        <p:txBody>
          <a:bodyPr/>
          <a:lstStyle/>
          <a:p>
            <a:r>
              <a:rPr lang="en-GB" dirty="0" smtClean="0"/>
              <a:t>Staffing </a:t>
            </a:r>
          </a:p>
          <a:p>
            <a:r>
              <a:rPr lang="en-US" dirty="0" smtClean="0"/>
              <a:t>Development of Workplace Policies</a:t>
            </a:r>
          </a:p>
          <a:p>
            <a:r>
              <a:rPr lang="en-US" dirty="0" smtClean="0"/>
              <a:t>Compensation and Benefits Administration</a:t>
            </a:r>
          </a:p>
          <a:p>
            <a:r>
              <a:rPr lang="en-US" dirty="0" smtClean="0"/>
              <a:t>Retention</a:t>
            </a:r>
          </a:p>
          <a:p>
            <a:r>
              <a:rPr lang="en-US" dirty="0" smtClean="0"/>
              <a:t>Training and Development </a:t>
            </a:r>
          </a:p>
          <a:p>
            <a:r>
              <a:rPr lang="en-US" dirty="0" smtClean="0"/>
              <a:t>Dealing with Laws Affecting Employment</a:t>
            </a:r>
          </a:p>
          <a:p>
            <a:r>
              <a:rPr lang="en-US" dirty="0" smtClean="0"/>
              <a:t>Worker Protection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1195</TotalTime>
  <Words>442</Words>
  <Application>Microsoft Office PowerPoint</Application>
  <PresentationFormat>Custom</PresentationFormat>
  <Paragraphs>59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Topic 1:  Introduction to HRM</vt:lpstr>
      <vt:lpstr>Slide 2</vt:lpstr>
      <vt:lpstr>Introduction </vt:lpstr>
      <vt:lpstr>definition of HRM</vt:lpstr>
      <vt:lpstr>Nature of Human Resource Management </vt:lpstr>
      <vt:lpstr>Objective/ need of HRM</vt:lpstr>
      <vt:lpstr>Other objective </vt:lpstr>
      <vt:lpstr>Functions of HRM</vt:lpstr>
      <vt:lpstr>Roles of HRM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  Introduction to HRM</dc:title>
  <dc:creator>user</dc:creator>
  <cp:lastModifiedBy>user</cp:lastModifiedBy>
  <cp:revision>6</cp:revision>
  <dcterms:created xsi:type="dcterms:W3CDTF">2023-03-27T12:43:25Z</dcterms:created>
  <dcterms:modified xsi:type="dcterms:W3CDTF">2023-03-28T08:38:39Z</dcterms:modified>
</cp:coreProperties>
</file>