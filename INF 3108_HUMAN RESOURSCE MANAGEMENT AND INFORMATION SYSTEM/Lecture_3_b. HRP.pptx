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8" r:id="rId4"/>
    <p:sldId id="263" r:id="rId5"/>
    <p:sldId id="264" r:id="rId6"/>
    <p:sldId id="259" r:id="rId7"/>
    <p:sldId id="260" r:id="rId8"/>
    <p:sldId id="261" r:id="rId9"/>
    <p:sldId id="262" r:id="rId10"/>
    <p:sldId id="270" r:id="rId11"/>
    <p:sldId id="271" r:id="rId12"/>
    <p:sldId id="272" r:id="rId13"/>
    <p:sldId id="273" r:id="rId14"/>
    <p:sldId id="275" r:id="rId15"/>
    <p:sldId id="276" r:id="rId16"/>
    <p:sldId id="277" r:id="rId17"/>
    <p:sldId id="265" r:id="rId18"/>
    <p:sldId id="266" r:id="rId19"/>
    <p:sldId id="267" r:id="rId20"/>
    <p:sldId id="268" r:id="rId21"/>
    <p:sldId id="269" r:id="rId22"/>
    <p:sldId id="278" r:id="rId23"/>
    <p:sldId id="279" r:id="rId24"/>
    <p:sldId id="280" r:id="rId25"/>
    <p:sldId id="281" r:id="rId26"/>
    <p:sldId id="282" r:id="rId27"/>
    <p:sldId id="283" r:id="rId28"/>
    <p:sldId id="284" r:id="rId29"/>
    <p:sldId id="285" r:id="rId30"/>
    <p:sldId id="286" r:id="rId31"/>
    <p:sldId id="287" r:id="rId32"/>
    <p:sldId id="288"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5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45A61EA-897B-4977-B962-C3EC0F08AABB}" type="datetimeFigureOut">
              <a:rPr lang="en-US" smtClean="0"/>
              <a:pPr/>
              <a:t>6/19/2024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429888-C744-4B34-A6B7-F4747DE6F0D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DEDA6FB-3FBC-4349-A5C4-B1879B1000F9}" type="datetimeFigureOut">
              <a:rPr lang="en-US" smtClean="0"/>
              <a:pPr/>
              <a:t>6/19/2024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10EAC1-86B1-4E84-8A22-3F8C9D825C5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EDA6FB-3FBC-4349-A5C4-B1879B1000F9}" type="datetimeFigureOut">
              <a:rPr lang="en-US" smtClean="0"/>
              <a:pPr/>
              <a:t>6/19/2024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10EAC1-86B1-4E84-8A22-3F8C9D825C5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EDA6FB-3FBC-4349-A5C4-B1879B1000F9}" type="datetimeFigureOut">
              <a:rPr lang="en-US" smtClean="0"/>
              <a:pPr/>
              <a:t>6/19/2024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10EAC1-86B1-4E84-8A22-3F8C9D825C5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DEDA6FB-3FBC-4349-A5C4-B1879B1000F9}" type="datetimeFigureOut">
              <a:rPr lang="en-US" smtClean="0"/>
              <a:pPr/>
              <a:t>6/19/2024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10EAC1-86B1-4E84-8A22-3F8C9D825C5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DEDA6FB-3FBC-4349-A5C4-B1879B1000F9}" type="datetimeFigureOut">
              <a:rPr lang="en-US" smtClean="0"/>
              <a:pPr/>
              <a:t>6/19/2024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C10EAC1-86B1-4E84-8A22-3F8C9D825C5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DEDA6FB-3FBC-4349-A5C4-B1879B1000F9}" type="datetimeFigureOut">
              <a:rPr lang="en-US" smtClean="0"/>
              <a:pPr/>
              <a:t>6/19/2024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C10EAC1-86B1-4E84-8A22-3F8C9D825C5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EDA6FB-3FBC-4349-A5C4-B1879B1000F9}" type="datetimeFigureOut">
              <a:rPr lang="en-US" smtClean="0"/>
              <a:pPr/>
              <a:t>6/19/2024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C10EAC1-86B1-4E84-8A22-3F8C9D825C5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EDA6FB-3FBC-4349-A5C4-B1879B1000F9}" type="datetimeFigureOut">
              <a:rPr lang="en-US" smtClean="0"/>
              <a:pPr/>
              <a:t>6/19/2024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10EAC1-86B1-4E84-8A22-3F8C9D825C5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EDA6FB-3FBC-4349-A5C4-B1879B1000F9}" type="datetimeFigureOut">
              <a:rPr lang="en-US" smtClean="0"/>
              <a:pPr/>
              <a:t>6/19/2024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10EAC1-86B1-4E84-8A22-3F8C9D825C5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EDA6FB-3FBC-4349-A5C4-B1879B1000F9}" type="datetimeFigureOut">
              <a:rPr lang="en-US" smtClean="0"/>
              <a:pPr/>
              <a:t>6/19/2024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10EAC1-86B1-4E84-8A22-3F8C9D825C5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EDA6FB-3FBC-4349-A5C4-B1879B1000F9}" type="datetimeFigureOut">
              <a:rPr lang="en-US" smtClean="0"/>
              <a:pPr/>
              <a:t>6/19/2024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10EAC1-86B1-4E84-8A22-3F8C9D825C5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EDA6FB-3FBC-4349-A5C4-B1879B1000F9}" type="datetimeFigureOut">
              <a:rPr lang="en-US" smtClean="0"/>
              <a:pPr/>
              <a:t>6/19/2024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10EAC1-86B1-4E84-8A22-3F8C9D825C5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Manpower planning / human resource planning </a:t>
            </a:r>
          </a:p>
        </p:txBody>
      </p:sp>
      <p:sp>
        <p:nvSpPr>
          <p:cNvPr id="3" name="Subtitle 2"/>
          <p:cNvSpPr>
            <a:spLocks noGrp="1"/>
          </p:cNvSpPr>
          <p:nvPr>
            <p:ph type="subTitle" idx="1"/>
          </p:nvPr>
        </p:nvSpPr>
        <p:spPr/>
        <p:txBody>
          <a:bodyPr/>
          <a:lstStyle/>
          <a:p>
            <a:r>
              <a:rPr lang="en-GB" dirty="0"/>
              <a:t>Guiding principle for HRP</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 </a:t>
            </a:r>
            <a:endParaRPr lang="en-US" dirty="0"/>
          </a:p>
        </p:txBody>
      </p:sp>
      <p:sp>
        <p:nvSpPr>
          <p:cNvPr id="3" name="Content Placeholder 2"/>
          <p:cNvSpPr>
            <a:spLocks noGrp="1"/>
          </p:cNvSpPr>
          <p:nvPr>
            <p:ph idx="1"/>
          </p:nvPr>
        </p:nvSpPr>
        <p:spPr>
          <a:xfrm>
            <a:off x="457200" y="1285860"/>
            <a:ext cx="8229600" cy="4840303"/>
          </a:xfrm>
        </p:spPr>
        <p:txBody>
          <a:bodyPr>
            <a:normAutofit/>
          </a:bodyPr>
          <a:lstStyle/>
          <a:p>
            <a:pPr algn="just"/>
            <a:r>
              <a:rPr lang="en-US" sz="2800" dirty="0"/>
              <a:t>Planning is one of the major tasks of any business organization. </a:t>
            </a:r>
          </a:p>
          <a:p>
            <a:pPr algn="just"/>
            <a:r>
              <a:rPr lang="en-US" sz="2800" dirty="0"/>
              <a:t>It defined as ‘the process for ensuring that the human resource requirements of an organization are identified and plans are made for satisfying those requirements. </a:t>
            </a:r>
          </a:p>
          <a:p>
            <a:pPr algn="just"/>
            <a:r>
              <a:rPr lang="en-US" sz="2800" dirty="0"/>
              <a:t>It ensures three main things:</a:t>
            </a:r>
          </a:p>
          <a:p>
            <a:pPr marL="630238" indent="-269875" algn="just">
              <a:buFont typeface="Wingdings" pitchFamily="2" charset="2"/>
              <a:buChar char="§"/>
            </a:pPr>
            <a:r>
              <a:rPr lang="en-US" sz="2800" dirty="0"/>
              <a:t> It ensures adequate supply of human resources.</a:t>
            </a:r>
          </a:p>
          <a:p>
            <a:pPr marL="630238" indent="-269875" algn="just">
              <a:buFont typeface="Wingdings" pitchFamily="2" charset="2"/>
              <a:buChar char="§"/>
            </a:pPr>
            <a:r>
              <a:rPr lang="en-US" sz="2800" dirty="0"/>
              <a:t> It ensures proper quality of human resources.</a:t>
            </a:r>
          </a:p>
          <a:p>
            <a:pPr marL="630238" indent="-269875" algn="just">
              <a:buFont typeface="Wingdings" pitchFamily="2" charset="2"/>
              <a:buChar char="§"/>
            </a:pPr>
            <a:r>
              <a:rPr lang="en-US" sz="2800" dirty="0"/>
              <a:t> It ensures effective utilization of human resources.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5554683"/>
          </a:xfrm>
        </p:spPr>
        <p:txBody>
          <a:bodyPr>
            <a:normAutofit fontScale="92500"/>
          </a:bodyPr>
          <a:lstStyle/>
          <a:p>
            <a:pPr algn="just"/>
            <a:r>
              <a:rPr lang="en-US" dirty="0"/>
              <a:t>The HR manager responsible for planning  must  ensure that there are right people in the right place for the right job.</a:t>
            </a:r>
          </a:p>
          <a:p>
            <a:pPr algn="just"/>
            <a:r>
              <a:rPr lang="en-US" dirty="0"/>
              <a:t>This implies:</a:t>
            </a:r>
          </a:p>
          <a:p>
            <a:pPr marL="514350" indent="-514350" algn="just">
              <a:buFont typeface="+mj-lt"/>
              <a:buAutoNum type="alphaLcPeriod"/>
            </a:pPr>
            <a:r>
              <a:rPr lang="en-US" dirty="0"/>
              <a:t>division of </a:t>
            </a:r>
            <a:r>
              <a:rPr lang="en-US" dirty="0" err="1"/>
              <a:t>labour</a:t>
            </a:r>
            <a:r>
              <a:rPr lang="en-US" dirty="0"/>
              <a:t>,</a:t>
            </a:r>
          </a:p>
          <a:p>
            <a:pPr marL="514350" indent="-514350" algn="just">
              <a:buFont typeface="+mj-lt"/>
              <a:buAutoNum type="alphaLcPeriod"/>
            </a:pPr>
            <a:r>
              <a:rPr lang="en-US" dirty="0"/>
              <a:t>specialization,</a:t>
            </a:r>
          </a:p>
          <a:p>
            <a:pPr marL="514350" indent="-514350" algn="just">
              <a:buFont typeface="+mj-lt"/>
              <a:buAutoNum type="alphaLcPeriod"/>
            </a:pPr>
            <a:r>
              <a:rPr lang="en-US" dirty="0"/>
              <a:t>organization of management into levels,</a:t>
            </a:r>
          </a:p>
          <a:p>
            <a:pPr marL="514350" indent="-514350" algn="just">
              <a:buFont typeface="+mj-lt"/>
              <a:buAutoNum type="alphaLcPeriod"/>
            </a:pPr>
            <a:r>
              <a:rPr lang="en-US" dirty="0"/>
              <a:t>job/work simplification,</a:t>
            </a:r>
          </a:p>
          <a:p>
            <a:pPr marL="514350" indent="-514350" algn="just">
              <a:buFont typeface="+mj-lt"/>
              <a:buAutoNum type="alphaLcPeriod"/>
            </a:pPr>
            <a:r>
              <a:rPr lang="en-US" dirty="0"/>
              <a:t>application of standards for selecting employees</a:t>
            </a:r>
          </a:p>
          <a:p>
            <a:pPr marL="514350" indent="-514350" algn="just">
              <a:buFont typeface="+mj-lt"/>
              <a:buAutoNum type="alphaLcPeriod"/>
            </a:pPr>
            <a:r>
              <a:rPr lang="en-US" dirty="0"/>
              <a:t>Measuring employee performance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Objectives of human resource planning</a:t>
            </a:r>
            <a:br>
              <a:rPr lang="en-US" b="1" dirty="0"/>
            </a:br>
            <a:endParaRPr lang="en-US" dirty="0"/>
          </a:p>
        </p:txBody>
      </p:sp>
      <p:sp>
        <p:nvSpPr>
          <p:cNvPr id="3" name="Content Placeholder 2"/>
          <p:cNvSpPr>
            <a:spLocks noGrp="1"/>
          </p:cNvSpPr>
          <p:nvPr>
            <p:ph idx="1"/>
          </p:nvPr>
        </p:nvSpPr>
        <p:spPr/>
        <p:txBody>
          <a:bodyPr>
            <a:normAutofit fontScale="92500" lnSpcReduction="10000"/>
          </a:bodyPr>
          <a:lstStyle/>
          <a:p>
            <a:pPr marL="514350" indent="-514350" algn="just">
              <a:buFont typeface="+mj-lt"/>
              <a:buAutoNum type="arabicPeriod"/>
            </a:pPr>
            <a:r>
              <a:rPr lang="en-US" dirty="0"/>
              <a:t>Assessing manpower needs for future and making plans for recruitment and selection.</a:t>
            </a:r>
          </a:p>
          <a:p>
            <a:pPr marL="514350" indent="-514350" algn="just">
              <a:buFont typeface="+mj-lt"/>
              <a:buAutoNum type="arabicPeriod"/>
            </a:pPr>
            <a:r>
              <a:rPr lang="en-US" dirty="0"/>
              <a:t>Assessing skill requirement in future for the organization.</a:t>
            </a:r>
          </a:p>
          <a:p>
            <a:pPr marL="514350" indent="-514350" algn="just">
              <a:buFont typeface="+mj-lt"/>
              <a:buAutoNum type="arabicPeriod"/>
            </a:pPr>
            <a:r>
              <a:rPr lang="en-US" dirty="0"/>
              <a:t>Determining training and the development needs of the organization.</a:t>
            </a:r>
          </a:p>
          <a:p>
            <a:pPr marL="514350" indent="-514350" algn="just">
              <a:buFont typeface="+mj-lt"/>
              <a:buAutoNum type="arabicPeriod"/>
            </a:pPr>
            <a:r>
              <a:rPr lang="en-US" dirty="0"/>
              <a:t>Anticipating surplus or shortage of staff and avoiding unnecessary detentions or dismissals.</a:t>
            </a:r>
          </a:p>
          <a:p>
            <a:pPr marL="514350" indent="-514350" algn="just">
              <a:buFont typeface="+mj-lt"/>
              <a:buAutoNum type="arabicPeriod"/>
            </a:pPr>
            <a:r>
              <a:rPr lang="en-US" dirty="0"/>
              <a:t>Controlling wage and salary costs.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514350" indent="-514350" algn="just">
              <a:buFont typeface="+mj-lt"/>
              <a:buAutoNum type="arabicPeriod" startAt="6"/>
            </a:pPr>
            <a:r>
              <a:rPr lang="en-US" dirty="0"/>
              <a:t>Ensuring optimum use of human resources in the organization.</a:t>
            </a:r>
          </a:p>
          <a:p>
            <a:pPr marL="514350" indent="-514350" algn="just">
              <a:buFont typeface="+mj-lt"/>
              <a:buAutoNum type="arabicPeriod" startAt="6"/>
            </a:pPr>
            <a:r>
              <a:rPr lang="en-US" dirty="0"/>
              <a:t>Helping the organization to cope with the technological development and modernization.</a:t>
            </a:r>
          </a:p>
          <a:p>
            <a:pPr marL="514350" indent="-514350" algn="just">
              <a:buFont typeface="+mj-lt"/>
              <a:buAutoNum type="arabicPeriod" startAt="6"/>
            </a:pPr>
            <a:r>
              <a:rPr lang="en-US" dirty="0"/>
              <a:t>Ensuring career planning of every employee of the organization and making succession </a:t>
            </a:r>
            <a:r>
              <a:rPr lang="en-US" dirty="0" err="1"/>
              <a:t>programmes</a:t>
            </a:r>
            <a:r>
              <a:rPr lang="en-US" dirty="0"/>
              <a:t>.</a:t>
            </a:r>
          </a:p>
          <a:p>
            <a:pPr marL="514350" indent="-514350" algn="just">
              <a:buFont typeface="+mj-lt"/>
              <a:buAutoNum type="arabicPeriod" startAt="6"/>
            </a:pPr>
            <a:r>
              <a:rPr lang="en-US" dirty="0"/>
              <a:t>Ensuring higher </a:t>
            </a:r>
            <a:r>
              <a:rPr lang="en-US" dirty="0" err="1"/>
              <a:t>labour</a:t>
            </a:r>
            <a:r>
              <a:rPr lang="en-US" dirty="0"/>
              <a:t> productivity.</a:t>
            </a:r>
          </a:p>
        </p:txBody>
      </p:sp>
      <p:sp>
        <p:nvSpPr>
          <p:cNvPr id="4" name="Slide Number Placeholder 3"/>
          <p:cNvSpPr>
            <a:spLocks noGrp="1"/>
          </p:cNvSpPr>
          <p:nvPr>
            <p:ph type="sldNum" sz="quarter" idx="12"/>
          </p:nvPr>
        </p:nvSpPr>
        <p:spPr/>
        <p:txBody>
          <a:bodyPr/>
          <a:lstStyle/>
          <a:p>
            <a:fld id="{FC10EAC1-86B1-4E84-8A22-3F8C9D825C5A}"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Human resource planning process</a:t>
            </a:r>
            <a:br>
              <a:rPr lang="en-US" b="1" dirty="0"/>
            </a:br>
            <a:endParaRPr lang="en-US" dirty="0"/>
          </a:p>
        </p:txBody>
      </p:sp>
      <p:sp>
        <p:nvSpPr>
          <p:cNvPr id="3" name="Content Placeholder 2"/>
          <p:cNvSpPr>
            <a:spLocks noGrp="1"/>
          </p:cNvSpPr>
          <p:nvPr>
            <p:ph idx="1"/>
          </p:nvPr>
        </p:nvSpPr>
        <p:spPr>
          <a:xfrm>
            <a:off x="357158" y="1214422"/>
            <a:ext cx="8229600" cy="4883153"/>
          </a:xfrm>
        </p:spPr>
        <p:txBody>
          <a:bodyPr>
            <a:noAutofit/>
          </a:bodyPr>
          <a:lstStyle/>
          <a:p>
            <a:pPr algn="just"/>
            <a:r>
              <a:rPr lang="en-US" sz="2800" dirty="0"/>
              <a:t>HR planning is a process of analyzing and identifying the need or and availability of human resources so that the organization can meet its objectives. </a:t>
            </a:r>
          </a:p>
          <a:p>
            <a:pPr algn="just"/>
            <a:r>
              <a:rPr lang="en-US" sz="2800" dirty="0"/>
              <a:t>The basis for HR planning is the organizational strategy. Strategic HR planning can be made:</a:t>
            </a:r>
          </a:p>
          <a:p>
            <a:pPr marL="900113" indent="-450850" algn="just">
              <a:buFont typeface="+mj-lt"/>
              <a:buAutoNum type="alphaLcPeriod"/>
            </a:pPr>
            <a:r>
              <a:rPr lang="en-US" sz="2800" dirty="0"/>
              <a:t>By participating in the organizational planning process</a:t>
            </a:r>
          </a:p>
          <a:p>
            <a:pPr marL="900113" indent="-450850" algn="just">
              <a:buFont typeface="+mj-lt"/>
              <a:buAutoNum type="alphaLcPeriod"/>
            </a:pPr>
            <a:r>
              <a:rPr lang="en-US" sz="2800" dirty="0"/>
              <a:t>Identify the HR strategies in line with the organizational strategy</a:t>
            </a:r>
          </a:p>
          <a:p>
            <a:pPr marL="900113" indent="-450850" algn="just">
              <a:buFont typeface="+mj-lt"/>
              <a:buAutoNum type="alphaLcPeriod"/>
            </a:pPr>
            <a:r>
              <a:rPr lang="en-US" sz="2800" dirty="0"/>
              <a:t> Design and develop HR information system</a:t>
            </a:r>
            <a:r>
              <a:rPr lang="en-US" sz="2400" dirty="0"/>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5840435"/>
          </a:xfrm>
        </p:spPr>
        <p:txBody>
          <a:bodyPr>
            <a:normAutofit fontScale="92500"/>
          </a:bodyPr>
          <a:lstStyle/>
          <a:p>
            <a:pPr marL="814388" indent="-454025" algn="just">
              <a:buFont typeface="+mj-lt"/>
              <a:buAutoNum type="alphaLcPeriod" startAt="4"/>
            </a:pPr>
            <a:r>
              <a:rPr lang="en-US" dirty="0"/>
              <a:t>Compile and analyze the available data on staffing needs of various departments.</a:t>
            </a:r>
          </a:p>
          <a:p>
            <a:pPr marL="814388" indent="-454025" algn="just">
              <a:buFont typeface="+mj-lt"/>
              <a:buAutoNum type="alphaLcPeriod" startAt="4"/>
            </a:pPr>
            <a:r>
              <a:rPr lang="en-US" dirty="0"/>
              <a:t>Identify supply and demand needs for each department in the organization</a:t>
            </a:r>
          </a:p>
          <a:p>
            <a:pPr marL="814388" indent="-454025" algn="just">
              <a:buFont typeface="+mj-lt"/>
              <a:buAutoNum type="alphaLcPeriod" startAt="4"/>
            </a:pPr>
            <a:r>
              <a:rPr lang="en-US" dirty="0"/>
              <a:t>Review HR planning with the different department</a:t>
            </a:r>
          </a:p>
          <a:p>
            <a:pPr marL="814388" indent="-454025" algn="just">
              <a:buFont typeface="+mj-lt"/>
              <a:buAutoNum type="alphaLcPeriod" startAt="4"/>
            </a:pPr>
            <a:r>
              <a:rPr lang="en-US" dirty="0"/>
              <a:t>Integrate HR plan with the organizational plan</a:t>
            </a:r>
          </a:p>
          <a:p>
            <a:pPr marL="814388" indent="-454025" algn="just">
              <a:buFont typeface="+mj-lt"/>
              <a:buAutoNum type="alphaLcPeriod" startAt="4"/>
            </a:pPr>
            <a:r>
              <a:rPr lang="en-US" dirty="0"/>
              <a:t>Monitor the HR plan to keep pace with the changes in the business environment</a:t>
            </a:r>
          </a:p>
          <a:p>
            <a:pPr marL="814388" indent="-454025" algn="just">
              <a:buFont typeface="+mj-lt"/>
              <a:buAutoNum type="alphaLcPeriod" startAt="4"/>
            </a:pPr>
            <a:r>
              <a:rPr lang="en-US" dirty="0"/>
              <a:t>Develop and review the employee succession plan</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endParaRPr lang="en-US"/>
          </a:p>
        </p:txBody>
      </p:sp>
      <p:sp>
        <p:nvSpPr>
          <p:cNvPr id="8" name="Text Placeholder 7"/>
          <p:cNvSpPr>
            <a:spLocks noGrp="1"/>
          </p:cNvSpPr>
          <p:nvPr>
            <p:ph type="body" sz="half" idx="2"/>
          </p:nvPr>
        </p:nvSpPr>
        <p:spPr/>
        <p:txBody>
          <a:bodyPr>
            <a:normAutofit lnSpcReduction="10000"/>
          </a:bodyPr>
          <a:lstStyle/>
          <a:p>
            <a:r>
              <a:rPr lang="en-GB" dirty="0"/>
              <a:t>HRH</a:t>
            </a:r>
          </a:p>
          <a:p>
            <a:pPr algn="ctr"/>
            <a:r>
              <a:rPr lang="en-GB" sz="2800" dirty="0"/>
              <a:t>HR planning process</a:t>
            </a:r>
            <a:endParaRPr lang="en-US" sz="2800" dirty="0"/>
          </a:p>
        </p:txBody>
      </p:sp>
      <p:pic>
        <p:nvPicPr>
          <p:cNvPr id="1027" name="Picture 3"/>
          <p:cNvPicPr>
            <a:picLocks noChangeAspect="1" noChangeArrowheads="1"/>
          </p:cNvPicPr>
          <p:nvPr/>
        </p:nvPicPr>
        <p:blipFill>
          <a:blip r:embed="rId2" cstate="print"/>
          <a:srcRect/>
          <a:stretch>
            <a:fillRect/>
          </a:stretch>
        </p:blipFill>
        <p:spPr bwMode="auto">
          <a:xfrm>
            <a:off x="0" y="0"/>
            <a:ext cx="9144000" cy="57531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dirty="0"/>
              <a:t>Significance of HRP</a:t>
            </a:r>
            <a:endParaRPr lang="en-US" dirty="0"/>
          </a:p>
        </p:txBody>
      </p:sp>
      <p:sp>
        <p:nvSpPr>
          <p:cNvPr id="6" name="Content Placeholder 5"/>
          <p:cNvSpPr>
            <a:spLocks noGrp="1"/>
          </p:cNvSpPr>
          <p:nvPr>
            <p:ph idx="1"/>
          </p:nvPr>
        </p:nvSpPr>
        <p:spPr/>
        <p:txBody>
          <a:bodyPr>
            <a:normAutofit fontScale="92500"/>
          </a:bodyPr>
          <a:lstStyle/>
          <a:p>
            <a:pPr algn="just"/>
            <a:r>
              <a:rPr lang="en-US" dirty="0"/>
              <a:t>HR planning is considered to be as important as production, finance and marketing planning. </a:t>
            </a:r>
          </a:p>
          <a:p>
            <a:pPr algn="just"/>
            <a:r>
              <a:rPr lang="en-US" dirty="0"/>
              <a:t>If used properly, it leads to:</a:t>
            </a:r>
          </a:p>
          <a:p>
            <a:pPr marL="809625" indent="-269875" algn="just"/>
            <a:r>
              <a:rPr lang="en-US" dirty="0"/>
              <a:t> the maximum utilization of human resources,</a:t>
            </a:r>
          </a:p>
          <a:p>
            <a:pPr marL="809625" indent="-269875" algn="just"/>
            <a:r>
              <a:rPr lang="en-US" dirty="0"/>
              <a:t> reduces excessive </a:t>
            </a:r>
            <a:r>
              <a:rPr lang="en-US" dirty="0" err="1"/>
              <a:t>labour</a:t>
            </a:r>
            <a:r>
              <a:rPr lang="en-US" dirty="0"/>
              <a:t> turnover and high absenteeism,</a:t>
            </a:r>
          </a:p>
          <a:p>
            <a:pPr marL="809625" indent="-269875" algn="just"/>
            <a:r>
              <a:rPr lang="en-US" dirty="0"/>
              <a:t> improves productivity and aids in achieving the objectives of an organization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14356"/>
            <a:ext cx="8229600" cy="5411807"/>
          </a:xfrm>
        </p:spPr>
        <p:txBody>
          <a:bodyPr>
            <a:normAutofit fontScale="77500" lnSpcReduction="20000"/>
          </a:bodyPr>
          <a:lstStyle/>
          <a:p>
            <a:pPr algn="just"/>
            <a:r>
              <a:rPr lang="en-US" dirty="0"/>
              <a:t>The importance of HRP in the organizations can be explained under the following heads:</a:t>
            </a:r>
          </a:p>
          <a:p>
            <a:pPr marL="514350" indent="-514350" algn="just">
              <a:buFont typeface="+mj-lt"/>
              <a:buAutoNum type="alphaLcPeriod"/>
            </a:pPr>
            <a:r>
              <a:rPr lang="en-US" b="1" dirty="0"/>
              <a:t>Obtaining the best employees : </a:t>
            </a:r>
          </a:p>
          <a:p>
            <a:pPr algn="just">
              <a:buNone/>
            </a:pPr>
            <a:r>
              <a:rPr lang="en-US" dirty="0"/>
              <a:t>HRP helps in getting the best employees and assigning them the right work so that efficiency and productivity can be maximized.</a:t>
            </a:r>
          </a:p>
          <a:p>
            <a:pPr marL="630238" indent="-269875" algn="just">
              <a:buFont typeface="Wingdings" pitchFamily="2" charset="2"/>
              <a:buChar char="Ø"/>
            </a:pPr>
            <a:r>
              <a:rPr lang="en-US" dirty="0"/>
              <a:t> A good HRP helps in identifying organizational needs, developing people and providing them growth opportunities.</a:t>
            </a:r>
          </a:p>
          <a:p>
            <a:pPr marL="514350" indent="-514350" algn="just">
              <a:buFont typeface="+mj-lt"/>
              <a:buAutoNum type="alphaLcPeriod" startAt="2"/>
            </a:pPr>
            <a:r>
              <a:rPr lang="en-US" b="1" dirty="0"/>
              <a:t>Defining future manpower need : </a:t>
            </a:r>
          </a:p>
          <a:p>
            <a:pPr algn="just">
              <a:buNone/>
            </a:pPr>
            <a:r>
              <a:rPr lang="en-US" dirty="0"/>
              <a:t>HRP enables to anticipate the changed requirements of manpower.</a:t>
            </a:r>
          </a:p>
          <a:p>
            <a:pPr marL="717550" indent="-73025" algn="just">
              <a:buFont typeface="Wingdings" pitchFamily="2" charset="2"/>
              <a:buChar char="Ø"/>
            </a:pPr>
            <a:r>
              <a:rPr lang="en-US" dirty="0"/>
              <a:t> It identifies future manpower need which becomes the basis of recruiting and developing personnel.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14356"/>
            <a:ext cx="8229600" cy="5411807"/>
          </a:xfrm>
        </p:spPr>
        <p:txBody>
          <a:bodyPr>
            <a:normAutofit fontScale="92500" lnSpcReduction="20000"/>
          </a:bodyPr>
          <a:lstStyle/>
          <a:p>
            <a:pPr marL="514350" indent="-514350" algn="just">
              <a:buFont typeface="+mj-lt"/>
              <a:buAutoNum type="alphaLcPeriod" startAt="3"/>
            </a:pPr>
            <a:r>
              <a:rPr lang="en-US" b="1" dirty="0"/>
              <a:t>Coping with changes :</a:t>
            </a:r>
          </a:p>
          <a:p>
            <a:pPr marL="0" indent="0" algn="just">
              <a:buNone/>
            </a:pPr>
            <a:r>
              <a:rPr lang="en-US" dirty="0"/>
              <a:t>In business environment  fast changes are taking place. Every organization is trying to compete on the basis of technology and managerial talents. </a:t>
            </a:r>
          </a:p>
          <a:p>
            <a:pPr marL="900113" indent="-360363" algn="just">
              <a:buFont typeface="Wingdings" pitchFamily="2" charset="2"/>
              <a:buChar char="Ø"/>
            </a:pPr>
            <a:r>
              <a:rPr lang="en-US" dirty="0"/>
              <a:t>In this war, only those companies will survive which adopt a proper human resource planning.</a:t>
            </a:r>
          </a:p>
          <a:p>
            <a:pPr marL="514350" indent="-514350" algn="just">
              <a:buFont typeface="+mj-lt"/>
              <a:buAutoNum type="alphaLcPeriod" startAt="3"/>
            </a:pPr>
            <a:r>
              <a:rPr lang="en-US" b="1" dirty="0"/>
              <a:t>Smooth conduct of work : </a:t>
            </a:r>
          </a:p>
          <a:p>
            <a:pPr marL="30163" indent="-30163" algn="just">
              <a:buNone/>
            </a:pPr>
            <a:r>
              <a:rPr lang="en-US" dirty="0"/>
              <a:t>To carry on its work, each organization needs personnel with the necessary qualifications and skills. </a:t>
            </a:r>
          </a:p>
          <a:p>
            <a:pPr marL="900113" indent="-269875" algn="just">
              <a:buFont typeface="Wingdings" pitchFamily="2" charset="2"/>
              <a:buChar char="Ø"/>
            </a:pPr>
            <a:r>
              <a:rPr lang="en-US" dirty="0"/>
              <a:t>These are provided through effective manpower planning.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14356"/>
            <a:ext cx="8229600" cy="5411807"/>
          </a:xfrm>
        </p:spPr>
        <p:txBody>
          <a:bodyPr>
            <a:normAutofit fontScale="92500" lnSpcReduction="10000"/>
          </a:bodyPr>
          <a:lstStyle/>
          <a:p>
            <a:pPr marL="514350" indent="-514350" algn="just">
              <a:buFont typeface="+mj-lt"/>
              <a:buAutoNum type="alphaLcPeriod" startAt="4"/>
            </a:pPr>
            <a:r>
              <a:rPr lang="en-US" b="1" dirty="0"/>
              <a:t>Replacement of personnel :</a:t>
            </a:r>
            <a:endParaRPr lang="en-US" dirty="0"/>
          </a:p>
          <a:p>
            <a:pPr marL="514350" indent="-514350" algn="just">
              <a:buFont typeface="+mj-lt"/>
              <a:buAutoNum type="alphaLcPeriod" startAt="4"/>
            </a:pPr>
            <a:r>
              <a:rPr lang="en-US" b="1" dirty="0"/>
              <a:t>Meeting the need of expansion </a:t>
            </a:r>
            <a:r>
              <a:rPr lang="en-US" b="1" dirty="0" err="1"/>
              <a:t>programmes</a:t>
            </a:r>
            <a:r>
              <a:rPr lang="en-US" b="1" dirty="0"/>
              <a:t> : </a:t>
            </a:r>
          </a:p>
          <a:p>
            <a:pPr marL="514350" indent="-514350" algn="just">
              <a:buNone/>
            </a:pPr>
            <a:r>
              <a:rPr lang="en-US" dirty="0"/>
              <a:t>In order to meet the needs of expansion </a:t>
            </a:r>
            <a:r>
              <a:rPr lang="en-US" dirty="0" err="1"/>
              <a:t>programmes</a:t>
            </a:r>
            <a:r>
              <a:rPr lang="en-US" dirty="0"/>
              <a:t> due to growing population, change in standard of living, change in technology, competitive position of the firm etc., human resource planning is unavoidable</a:t>
            </a:r>
          </a:p>
          <a:p>
            <a:pPr marL="514350" indent="-514350" algn="just">
              <a:buFont typeface="+mj-lt"/>
              <a:buAutoNum type="alphaLcPeriod" startAt="6"/>
            </a:pPr>
            <a:r>
              <a:rPr lang="en-US" b="1" dirty="0"/>
              <a:t>Strike a balance between surplus and shortage of personnel :</a:t>
            </a:r>
          </a:p>
          <a:p>
            <a:pPr marL="514350" indent="-514350" algn="just">
              <a:buNone/>
            </a:pPr>
            <a:r>
              <a:rPr lang="en-US" dirty="0"/>
              <a:t>Manpower planning is also needed in order to identify areas of surplus personnel or areas in which there is shortage of personnel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Essentials for successful HR planning</a:t>
            </a:r>
            <a:br>
              <a:rPr lang="en-US" b="1" dirty="0"/>
            </a:br>
            <a:endParaRPr lang="en-US" dirty="0"/>
          </a:p>
        </p:txBody>
      </p:sp>
      <p:sp>
        <p:nvSpPr>
          <p:cNvPr id="3" name="Content Placeholder 2"/>
          <p:cNvSpPr>
            <a:spLocks noGrp="1"/>
          </p:cNvSpPr>
          <p:nvPr>
            <p:ph idx="1"/>
          </p:nvPr>
        </p:nvSpPr>
        <p:spPr>
          <a:xfrm>
            <a:off x="457200" y="1285860"/>
            <a:ext cx="8229600" cy="4840303"/>
          </a:xfrm>
        </p:spPr>
        <p:txBody>
          <a:bodyPr>
            <a:noAutofit/>
          </a:bodyPr>
          <a:lstStyle/>
          <a:p>
            <a:pPr algn="just">
              <a:buNone/>
            </a:pPr>
            <a:r>
              <a:rPr lang="en-US" sz="2800" dirty="0"/>
              <a:t>There are certain fundamental principles that make human resource  planning effective. These are as follows :</a:t>
            </a:r>
          </a:p>
          <a:p>
            <a:pPr marL="514350" indent="-514350" algn="just">
              <a:buFont typeface="+mj-lt"/>
              <a:buAutoNum type="arabicPeriod"/>
            </a:pPr>
            <a:r>
              <a:rPr lang="en-US" sz="2800" b="1" dirty="0"/>
              <a:t>Integration with organizational plans : </a:t>
            </a:r>
          </a:p>
          <a:p>
            <a:pPr marL="630238" indent="-180975" algn="just">
              <a:buFont typeface="Wingdings" pitchFamily="2" charset="2"/>
              <a:buChar char="§"/>
            </a:pPr>
            <a:r>
              <a:rPr lang="en-US" sz="2800" dirty="0"/>
              <a:t>Human resource planning must be integrated with the organizational plans and objectives to be successful. </a:t>
            </a:r>
          </a:p>
          <a:p>
            <a:pPr marL="630238" indent="-180975" algn="just">
              <a:buFont typeface="Wingdings" pitchFamily="2" charset="2"/>
              <a:buChar char="§"/>
            </a:pPr>
            <a:r>
              <a:rPr lang="en-US" sz="2800" dirty="0"/>
              <a:t>There a good communication between the organizational planners and the HR planners for successful human resource planning is a must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5554683"/>
          </a:xfrm>
        </p:spPr>
        <p:txBody>
          <a:bodyPr>
            <a:normAutofit fontScale="85000" lnSpcReduction="20000"/>
          </a:bodyPr>
          <a:lstStyle/>
          <a:p>
            <a:pPr marL="514350" indent="-514350" algn="just">
              <a:buFont typeface="+mj-lt"/>
              <a:buAutoNum type="arabicPeriod" startAt="2"/>
            </a:pPr>
            <a:r>
              <a:rPr lang="en-US" b="1" dirty="0"/>
              <a:t>Period of manpower planning : </a:t>
            </a:r>
          </a:p>
          <a:p>
            <a:pPr marL="514350" indent="-65088" algn="just">
              <a:buFont typeface="Wingdings" pitchFamily="2" charset="2"/>
              <a:buChar char="§"/>
            </a:pPr>
            <a:r>
              <a:rPr lang="en-US" dirty="0"/>
              <a:t>The period of manpower planning should have a connection with the needs and circumstances of the enterprise. </a:t>
            </a:r>
          </a:p>
          <a:p>
            <a:pPr marL="514350" indent="-65088" algn="just">
              <a:buFont typeface="Wingdings" pitchFamily="2" charset="2"/>
              <a:buChar char="§"/>
            </a:pPr>
            <a:r>
              <a:rPr lang="en-US" dirty="0"/>
              <a:t>The size and structure of an enterprise as well as the anticipated changes must be taken into consideration while going for manpower planning.</a:t>
            </a:r>
          </a:p>
          <a:p>
            <a:pPr>
              <a:buNone/>
            </a:pPr>
            <a:endParaRPr lang="en-US" b="1" dirty="0"/>
          </a:p>
          <a:p>
            <a:pPr marL="514350" indent="-514350">
              <a:buFont typeface="+mj-lt"/>
              <a:buAutoNum type="arabicPeriod" startAt="3"/>
            </a:pPr>
            <a:r>
              <a:rPr lang="en-US" b="1" dirty="0"/>
              <a:t>Proper organization :</a:t>
            </a:r>
          </a:p>
          <a:p>
            <a:pPr marL="514350" indent="-334963">
              <a:buFont typeface="Wingdings" pitchFamily="2" charset="2"/>
              <a:buChar char="§"/>
            </a:pPr>
            <a:r>
              <a:rPr lang="en-US" b="1" dirty="0"/>
              <a:t> </a:t>
            </a:r>
            <a:r>
              <a:rPr lang="en-US" dirty="0"/>
              <a:t>It is necessary to organize the  planning  function properly in order to make it successful. </a:t>
            </a:r>
          </a:p>
          <a:p>
            <a:pPr marL="539750" indent="-360363">
              <a:buFont typeface="Wingdings" pitchFamily="2" charset="2"/>
              <a:buChar char="§"/>
            </a:pPr>
            <a:r>
              <a:rPr lang="en-US" dirty="0"/>
              <a:t>It is advisable to  have a separate cell or constitute a committee within the human resource department in order to provide adequate focus and to coordinate the planning work at various levels.</a:t>
            </a:r>
          </a:p>
          <a:p>
            <a:pPr>
              <a:buNone/>
            </a:pPr>
            <a:endParaRPr lang="en-US"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340369"/>
          </a:xfrm>
        </p:spPr>
        <p:txBody>
          <a:bodyPr>
            <a:normAutofit fontScale="85000" lnSpcReduction="20000"/>
          </a:bodyPr>
          <a:lstStyle/>
          <a:p>
            <a:pPr marL="514350" indent="-514350">
              <a:buFont typeface="+mj-lt"/>
              <a:buAutoNum type="arabicPeriod" startAt="4"/>
            </a:pPr>
            <a:r>
              <a:rPr lang="en-US" b="1" dirty="0"/>
              <a:t>Support of top management : </a:t>
            </a:r>
          </a:p>
          <a:p>
            <a:pPr marL="539750" indent="-269875">
              <a:buFont typeface="Wingdings" pitchFamily="2" charset="2"/>
              <a:buChar char="§"/>
            </a:pPr>
            <a:r>
              <a:rPr lang="en-US" dirty="0"/>
              <a:t>The top management should give full support and co-operation to make the manpower planning effective. </a:t>
            </a:r>
          </a:p>
          <a:p>
            <a:pPr marL="539750" indent="-269875">
              <a:buFont typeface="Wingdings" pitchFamily="2" charset="2"/>
              <a:buChar char="§"/>
            </a:pPr>
            <a:r>
              <a:rPr lang="en-US" dirty="0"/>
              <a:t>The support of top management facilitates the process of getting necessary resources,  cooperation and other things as per requirement to make the planning successful.</a:t>
            </a:r>
          </a:p>
          <a:p>
            <a:pPr marL="514350" indent="-514350">
              <a:buFont typeface="+mj-lt"/>
              <a:buAutoNum type="arabicPeriod" startAt="5"/>
            </a:pPr>
            <a:r>
              <a:rPr lang="en-US" b="1" dirty="0"/>
              <a:t>Involvement of operating executives : </a:t>
            </a:r>
          </a:p>
          <a:p>
            <a:pPr marL="539750" indent="-269875">
              <a:buFont typeface="Wingdings" pitchFamily="2" charset="2"/>
              <a:buChar char="§"/>
            </a:pPr>
            <a:r>
              <a:rPr lang="en-US" dirty="0"/>
              <a:t>Human resource planning is not a function of manpower planners only but also of the operating executives too. </a:t>
            </a:r>
          </a:p>
          <a:p>
            <a:pPr marL="539750" indent="-269875">
              <a:buFont typeface="Wingdings" pitchFamily="2" charset="2"/>
              <a:buChar char="§"/>
            </a:pPr>
            <a:r>
              <a:rPr lang="en-US" dirty="0"/>
              <a:t>Participation  of other executives make the process of manpower planning understandable to everyone so that chances of resistance can be rooted out in time.</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14356"/>
            <a:ext cx="8229600" cy="5411807"/>
          </a:xfrm>
        </p:spPr>
        <p:txBody>
          <a:bodyPr>
            <a:normAutofit fontScale="85000" lnSpcReduction="20000"/>
          </a:bodyPr>
          <a:lstStyle/>
          <a:p>
            <a:pPr marL="514350" indent="-514350">
              <a:buFont typeface="+mj-lt"/>
              <a:buAutoNum type="arabicPeriod" startAt="6"/>
            </a:pPr>
            <a:r>
              <a:rPr lang="en-US" b="1" dirty="0"/>
              <a:t>Efficient and reliable information system : </a:t>
            </a:r>
          </a:p>
          <a:p>
            <a:pPr marL="539750" indent="-179388">
              <a:buFont typeface="Wingdings" pitchFamily="2" charset="2"/>
              <a:buChar char="§"/>
            </a:pPr>
            <a:r>
              <a:rPr lang="en-US" dirty="0"/>
              <a:t>An adequate data base must be developed for the human resource of an organization to facilitate the process of human resource planning.</a:t>
            </a:r>
          </a:p>
          <a:p>
            <a:pPr marL="539750" indent="-539750">
              <a:buFont typeface="+mj-lt"/>
              <a:buAutoNum type="arabicPeriod" startAt="7"/>
            </a:pPr>
            <a:r>
              <a:rPr lang="en-US" dirty="0"/>
              <a:t> </a:t>
            </a:r>
            <a:r>
              <a:rPr lang="en-US" b="1" dirty="0"/>
              <a:t>Balanced Approach : </a:t>
            </a:r>
          </a:p>
          <a:p>
            <a:pPr marL="539750" indent="-179388">
              <a:buFont typeface="Wingdings" pitchFamily="2" charset="2"/>
              <a:buChar char="§"/>
            </a:pPr>
            <a:r>
              <a:rPr lang="en-US" dirty="0"/>
              <a:t>Both the qualitative and quantitative aspects of manpower should be given equal weight by the human resource experts. </a:t>
            </a:r>
          </a:p>
          <a:p>
            <a:pPr marL="539750" indent="-179388">
              <a:buFont typeface="Wingdings" pitchFamily="2" charset="2"/>
              <a:buChar char="§"/>
            </a:pPr>
            <a:r>
              <a:rPr lang="en-US" dirty="0"/>
              <a:t>Emphasis should be more on filling the future vacancies with right people rather than matching the existing jobs. </a:t>
            </a:r>
          </a:p>
          <a:p>
            <a:pPr marL="539750" indent="-179388">
              <a:buFont typeface="Wingdings" pitchFamily="2" charset="2"/>
              <a:buChar char="§"/>
            </a:pPr>
            <a:r>
              <a:rPr lang="en-US" dirty="0"/>
              <a:t>The matters of promotions, career planning and development, skill levels, morale etc. should also be given due importance by the planners.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Factor affecting HRP</a:t>
            </a:r>
            <a:endParaRPr lang="en-US" dirty="0"/>
          </a:p>
        </p:txBody>
      </p:sp>
      <p:sp>
        <p:nvSpPr>
          <p:cNvPr id="3" name="Content Placeholder 2"/>
          <p:cNvSpPr>
            <a:spLocks noGrp="1"/>
          </p:cNvSpPr>
          <p:nvPr>
            <p:ph idx="1"/>
          </p:nvPr>
        </p:nvSpPr>
        <p:spPr/>
        <p:txBody>
          <a:bodyPr/>
          <a:lstStyle/>
          <a:p>
            <a:r>
              <a:rPr lang="en-GB" dirty="0"/>
              <a:t>External factors </a:t>
            </a:r>
          </a:p>
          <a:p>
            <a:r>
              <a:rPr lang="en-GB" dirty="0"/>
              <a:t>Internal factors </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External Factors</a:t>
            </a:r>
            <a:br>
              <a:rPr lang="en-US" b="1" dirty="0"/>
            </a:br>
            <a:endParaRPr lang="en-US" dirty="0"/>
          </a:p>
        </p:txBody>
      </p:sp>
      <p:sp>
        <p:nvSpPr>
          <p:cNvPr id="3" name="Content Placeholder 2"/>
          <p:cNvSpPr>
            <a:spLocks noGrp="1"/>
          </p:cNvSpPr>
          <p:nvPr>
            <p:ph idx="1"/>
          </p:nvPr>
        </p:nvSpPr>
        <p:spPr/>
        <p:txBody>
          <a:bodyPr>
            <a:normAutofit/>
          </a:bodyPr>
          <a:lstStyle/>
          <a:p>
            <a:pPr algn="just"/>
            <a:r>
              <a:rPr lang="en-US" dirty="0"/>
              <a:t> </a:t>
            </a:r>
            <a:r>
              <a:rPr lang="en-US" b="1" dirty="0"/>
              <a:t>Government Policies: </a:t>
            </a:r>
            <a:r>
              <a:rPr lang="en-US" dirty="0"/>
              <a:t>Policies of the government like </a:t>
            </a:r>
            <a:r>
              <a:rPr lang="en-US" dirty="0" err="1"/>
              <a:t>labour</a:t>
            </a:r>
            <a:r>
              <a:rPr lang="en-US" dirty="0"/>
              <a:t> policy, industrial relations policy, policy towards reserving certain jobs for different communities </a:t>
            </a:r>
          </a:p>
          <a:p>
            <a:pPr algn="just"/>
            <a:r>
              <a:rPr lang="en-US" b="1" dirty="0"/>
              <a:t>Level of Economic Development: </a:t>
            </a:r>
            <a:r>
              <a:rPr lang="en-US" dirty="0"/>
              <a:t>Level of economic development determines the level of HRD in the country and thereby the supply of human resources in future in the country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340369"/>
          </a:xfrm>
        </p:spPr>
        <p:txBody>
          <a:bodyPr>
            <a:normAutofit/>
          </a:bodyPr>
          <a:lstStyle/>
          <a:p>
            <a:pPr algn="just"/>
            <a:r>
              <a:rPr lang="en-US" b="1" dirty="0"/>
              <a:t>Business Environment: </a:t>
            </a:r>
            <a:r>
              <a:rPr lang="en-US" dirty="0"/>
              <a:t>External business  environmental factors influences the volume and  mix of production and thereby the future  demand for human resources.</a:t>
            </a:r>
          </a:p>
          <a:p>
            <a:pPr algn="just"/>
            <a:r>
              <a:rPr lang="en-US" b="1" dirty="0"/>
              <a:t>Level of Technology</a:t>
            </a:r>
            <a:r>
              <a:rPr lang="en-US" dirty="0"/>
              <a:t>: Level of technology  determines the kind of human resources required.</a:t>
            </a:r>
          </a:p>
          <a:p>
            <a:pPr algn="just"/>
            <a:r>
              <a:rPr lang="en-US" dirty="0"/>
              <a:t> </a:t>
            </a:r>
            <a:r>
              <a:rPr lang="en-US" b="1" dirty="0"/>
              <a:t>International Factors</a:t>
            </a:r>
            <a:r>
              <a:rPr lang="en-US" dirty="0"/>
              <a:t>: International factors like  the demand for the resources and supply  of human resources in various countries.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Internal factors</a:t>
            </a:r>
            <a:endParaRPr lang="en-US" dirty="0"/>
          </a:p>
        </p:txBody>
      </p:sp>
      <p:sp>
        <p:nvSpPr>
          <p:cNvPr id="3" name="Content Placeholder 2"/>
          <p:cNvSpPr>
            <a:spLocks noGrp="1"/>
          </p:cNvSpPr>
          <p:nvPr>
            <p:ph idx="1"/>
          </p:nvPr>
        </p:nvSpPr>
        <p:spPr>
          <a:xfrm>
            <a:off x="457200" y="1357298"/>
            <a:ext cx="8229600" cy="4768865"/>
          </a:xfrm>
        </p:spPr>
        <p:txBody>
          <a:bodyPr>
            <a:normAutofit fontScale="92500" lnSpcReduction="10000"/>
          </a:bodyPr>
          <a:lstStyle/>
          <a:p>
            <a:pPr algn="just"/>
            <a:r>
              <a:rPr lang="en-US" b="1" dirty="0"/>
              <a:t>Company Policies and Strategies: </a:t>
            </a:r>
            <a:r>
              <a:rPr lang="en-US" dirty="0"/>
              <a:t>Company’s policies and strategies relating to expansion  diversification, alliances, etc. determines the human resource demand in terms of quality and quantity.</a:t>
            </a:r>
          </a:p>
          <a:p>
            <a:pPr algn="just"/>
            <a:endParaRPr lang="en-US" dirty="0"/>
          </a:p>
          <a:p>
            <a:pPr algn="just"/>
            <a:r>
              <a:rPr lang="en-US" b="1" dirty="0"/>
              <a:t>Human Resource Policies: </a:t>
            </a:r>
            <a:r>
              <a:rPr lang="en-US" dirty="0"/>
              <a:t>Human resources policies of the company regarding quality of human resource, compensation level, quality of work life, etc. influences human resource plan.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340369"/>
          </a:xfrm>
        </p:spPr>
        <p:txBody>
          <a:bodyPr>
            <a:normAutofit lnSpcReduction="10000"/>
          </a:bodyPr>
          <a:lstStyle/>
          <a:p>
            <a:endParaRPr lang="en-US" b="1" dirty="0"/>
          </a:p>
          <a:p>
            <a:pPr algn="just"/>
            <a:r>
              <a:rPr lang="en-US" b="1" dirty="0"/>
              <a:t>Job Analysis: </a:t>
            </a:r>
            <a:r>
              <a:rPr lang="en-US" dirty="0"/>
              <a:t>Fundamentally, human resource plan is based on job analysis. Job description and job specification determines the kind of employees required.</a:t>
            </a:r>
          </a:p>
          <a:p>
            <a:pPr algn="just"/>
            <a:endParaRPr lang="en-US" b="1" dirty="0"/>
          </a:p>
          <a:p>
            <a:pPr algn="just"/>
            <a:r>
              <a:rPr lang="en-US" b="1" dirty="0"/>
              <a:t>Time Horizons: </a:t>
            </a:r>
            <a:r>
              <a:rPr lang="en-US" dirty="0"/>
              <a:t>Companies with stable competitive environment can plan for the long run whereas the firms with unstable competitive environment can plan for only short-term range</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39784"/>
          </a:xfrm>
        </p:spPr>
        <p:txBody>
          <a:bodyPr>
            <a:normAutofit fontScale="90000"/>
          </a:bodyPr>
          <a:lstStyle/>
          <a:p>
            <a:br>
              <a:rPr lang="en-US" sz="4000" b="1" dirty="0"/>
            </a:br>
            <a:r>
              <a:rPr lang="en-US" sz="4000" b="1" dirty="0"/>
              <a:t>Techniques of forecasting human resources</a:t>
            </a:r>
            <a:br>
              <a:rPr lang="en-US" sz="4000" b="1" dirty="0"/>
            </a:br>
            <a:endParaRPr lang="en-US" dirty="0"/>
          </a:p>
        </p:txBody>
      </p:sp>
      <p:sp>
        <p:nvSpPr>
          <p:cNvPr id="3" name="Content Placeholder 2"/>
          <p:cNvSpPr>
            <a:spLocks noGrp="1"/>
          </p:cNvSpPr>
          <p:nvPr>
            <p:ph idx="1"/>
          </p:nvPr>
        </p:nvSpPr>
        <p:spPr>
          <a:xfrm>
            <a:off x="457200" y="1214422"/>
            <a:ext cx="8229600" cy="4911741"/>
          </a:xfrm>
        </p:spPr>
        <p:txBody>
          <a:bodyPr>
            <a:normAutofit fontScale="92500" lnSpcReduction="20000"/>
          </a:bodyPr>
          <a:lstStyle/>
          <a:p>
            <a:pPr algn="just"/>
            <a:r>
              <a:rPr lang="en-US" dirty="0"/>
              <a:t>Human resource forecasting is the determination of the demand for different categories of employees with appropriate skills for specified time periods in the future. </a:t>
            </a:r>
          </a:p>
          <a:p>
            <a:pPr algn="just"/>
            <a:r>
              <a:rPr lang="en-US" dirty="0"/>
              <a:t>The forecast also requires the preparation of an estimate of the availability of employees during the selected time periods.</a:t>
            </a:r>
          </a:p>
          <a:p>
            <a:pPr algn="just"/>
            <a:r>
              <a:rPr lang="en-US" dirty="0"/>
              <a:t>Generally, human resource planners make use of a variety of techniques to project future personnel needs. </a:t>
            </a:r>
          </a:p>
          <a:p>
            <a:pPr algn="just"/>
            <a:r>
              <a:rPr lang="en-US" dirty="0"/>
              <a:t>Major forecasting techniques are demand and supply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Demand forecast </a:t>
            </a:r>
            <a:endParaRPr lang="en-US" dirty="0"/>
          </a:p>
        </p:txBody>
      </p:sp>
      <p:sp>
        <p:nvSpPr>
          <p:cNvPr id="3" name="Content Placeholder 2"/>
          <p:cNvSpPr>
            <a:spLocks noGrp="1"/>
          </p:cNvSpPr>
          <p:nvPr>
            <p:ph idx="1"/>
          </p:nvPr>
        </p:nvSpPr>
        <p:spPr>
          <a:xfrm>
            <a:off x="457200" y="1285860"/>
            <a:ext cx="8229600" cy="4840303"/>
          </a:xfrm>
        </p:spPr>
        <p:txBody>
          <a:bodyPr>
            <a:normAutofit fontScale="85000" lnSpcReduction="10000"/>
          </a:bodyPr>
          <a:lstStyle/>
          <a:p>
            <a:pPr algn="just"/>
            <a:r>
              <a:rPr lang="en-US" sz="3300" dirty="0"/>
              <a:t>Demand forecasting is the process of  estimating the future requirements of  manpower, by function and by level of skills.</a:t>
            </a:r>
          </a:p>
          <a:p>
            <a:pPr algn="just"/>
            <a:r>
              <a:rPr lang="en-US" sz="3300" dirty="0"/>
              <a:t>It concerned with forecasting of the quality of human resources in addition to quantity of human resources.</a:t>
            </a:r>
          </a:p>
          <a:p>
            <a:pPr algn="just"/>
            <a:r>
              <a:rPr lang="en-US" sz="3300" dirty="0"/>
              <a:t>Two kinds of forecasting techniques are commonly used to determine the organization’s projected  demand for human resources. These are: </a:t>
            </a:r>
          </a:p>
          <a:p>
            <a:pPr marL="987425" algn="just">
              <a:buNone/>
            </a:pPr>
            <a:r>
              <a:rPr lang="en-US" sz="3300" dirty="0"/>
              <a:t>(</a:t>
            </a:r>
            <a:r>
              <a:rPr lang="en-US" sz="3300" dirty="0" err="1"/>
              <a:t>i</a:t>
            </a:r>
            <a:r>
              <a:rPr lang="en-US" sz="3300" dirty="0"/>
              <a:t>) Judgmental forecasts, and </a:t>
            </a:r>
          </a:p>
          <a:p>
            <a:pPr marL="987425" algn="just">
              <a:buNone/>
            </a:pPr>
            <a:r>
              <a:rPr lang="en-US" sz="3300" dirty="0"/>
              <a:t>(ii) Statistical projections</a:t>
            </a:r>
            <a:r>
              <a:rPr lang="en-US" dirty="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Judgmental Forecasts</a:t>
            </a:r>
            <a:endParaRPr lang="en-US" dirty="0"/>
          </a:p>
        </p:txBody>
      </p:sp>
      <p:sp>
        <p:nvSpPr>
          <p:cNvPr id="3" name="Content Placeholder 2"/>
          <p:cNvSpPr>
            <a:spLocks noGrp="1"/>
          </p:cNvSpPr>
          <p:nvPr>
            <p:ph idx="1"/>
          </p:nvPr>
        </p:nvSpPr>
        <p:spPr>
          <a:xfrm>
            <a:off x="457200" y="1357298"/>
            <a:ext cx="8229600" cy="4768865"/>
          </a:xfrm>
        </p:spPr>
        <p:txBody>
          <a:bodyPr>
            <a:normAutofit fontScale="25000" lnSpcReduction="20000"/>
          </a:bodyPr>
          <a:lstStyle/>
          <a:p>
            <a:pPr algn="just"/>
            <a:r>
              <a:rPr lang="en-US" sz="12800" dirty="0"/>
              <a:t>Judgmental forecasts are also known as the conventional method</a:t>
            </a:r>
          </a:p>
          <a:p>
            <a:pPr algn="just"/>
            <a:endParaRPr lang="en-US" sz="12800" dirty="0"/>
          </a:p>
          <a:p>
            <a:pPr algn="just"/>
            <a:r>
              <a:rPr lang="en-US" sz="12800" dirty="0"/>
              <a:t>The forecasts are based on the judgment of those managers and executives who have intensive and extensive knowledge of human resource requirement. </a:t>
            </a:r>
          </a:p>
          <a:p>
            <a:pPr algn="just"/>
            <a:r>
              <a:rPr lang="en-US" sz="12800" dirty="0"/>
              <a:t>Judgmental forecasts could be of two types:</a:t>
            </a:r>
          </a:p>
          <a:p>
            <a:pPr marL="1169988" indent="-630238" algn="just"/>
            <a:r>
              <a:rPr lang="en-US" sz="12800" dirty="0"/>
              <a:t>Managerial Estimate</a:t>
            </a:r>
          </a:p>
          <a:p>
            <a:pPr marL="1169988" indent="-630238" algn="just"/>
            <a:r>
              <a:rPr lang="en-US" sz="12800" dirty="0"/>
              <a:t>Delphi Method</a:t>
            </a:r>
          </a:p>
          <a:p>
            <a:pPr algn="just"/>
            <a:endParaRPr lang="en-US" sz="7400" dirty="0"/>
          </a:p>
          <a:p>
            <a:endParaRPr lang="en-GB" sz="4000" dirty="0"/>
          </a:p>
          <a:p>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Managerial Estimate</a:t>
            </a:r>
            <a:endParaRPr lang="en-US" dirty="0"/>
          </a:p>
        </p:txBody>
      </p:sp>
      <p:sp>
        <p:nvSpPr>
          <p:cNvPr id="3" name="Content Placeholder 2"/>
          <p:cNvSpPr>
            <a:spLocks noGrp="1"/>
          </p:cNvSpPr>
          <p:nvPr>
            <p:ph idx="1"/>
          </p:nvPr>
        </p:nvSpPr>
        <p:spPr/>
        <p:txBody>
          <a:bodyPr>
            <a:normAutofit fontScale="92500"/>
          </a:bodyPr>
          <a:lstStyle/>
          <a:p>
            <a:pPr algn="just"/>
            <a:r>
              <a:rPr lang="en-US" dirty="0"/>
              <a:t>Under this method, the managers or supervisors who are well-acquainted with the workload,  efficiency and ability of employees, think about their future workload, future capabilities of  employees and decide on the number and type of human resources to be required.</a:t>
            </a:r>
          </a:p>
          <a:p>
            <a:pPr algn="just"/>
            <a:r>
              <a:rPr lang="en-US" dirty="0"/>
              <a:t> An estimate of staffing needs is done by the lower level managers who make estimates and pass them up for further revision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Delphi Technique</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b="1" dirty="0"/>
              <a:t>The Delphi technique </a:t>
            </a:r>
            <a:r>
              <a:rPr lang="en-US" dirty="0"/>
              <a:t>It is a structured approach for reaching a consensus judgment among the experts regarding the number of employees. </a:t>
            </a:r>
          </a:p>
          <a:p>
            <a:pPr algn="just"/>
            <a:r>
              <a:rPr lang="en-US" dirty="0"/>
              <a:t>Delphi process requires a large number of experts who take turns to present their forecast statement and underlying assumptions to the others, who then make revisions in their forecasts</a:t>
            </a:r>
          </a:p>
          <a:p>
            <a:pPr algn="just"/>
            <a:r>
              <a:rPr lang="en-US" dirty="0"/>
              <a:t>The experts may be both from within or outside the organization. However, face-to-face contact among the experts is avoided</a:t>
            </a:r>
          </a:p>
          <a:p>
            <a:pPr algn="just"/>
            <a:r>
              <a:rPr lang="en-US" dirty="0"/>
              <a:t> The Delphi techniques has been found to be good for short duration (1 year) forecast.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Statistical Projection</a:t>
            </a:r>
            <a:endParaRPr lang="en-US" dirty="0"/>
          </a:p>
        </p:txBody>
      </p:sp>
      <p:sp>
        <p:nvSpPr>
          <p:cNvPr id="3" name="Content Placeholder 2"/>
          <p:cNvSpPr>
            <a:spLocks noGrp="1"/>
          </p:cNvSpPr>
          <p:nvPr>
            <p:ph idx="1"/>
          </p:nvPr>
        </p:nvSpPr>
        <p:spPr/>
        <p:txBody>
          <a:bodyPr/>
          <a:lstStyle/>
          <a:p>
            <a:pPr algn="just"/>
            <a:r>
              <a:rPr lang="en-US" dirty="0"/>
              <a:t>Some forecasting techniques are based on statistical methods. Such as </a:t>
            </a:r>
          </a:p>
          <a:p>
            <a:pPr marL="989013" indent="-539750" algn="just">
              <a:tabLst>
                <a:tab pos="719138" algn="l"/>
              </a:tabLst>
            </a:pPr>
            <a:r>
              <a:rPr lang="en-US" dirty="0"/>
              <a:t>Ratio-Trend Analysis</a:t>
            </a:r>
          </a:p>
          <a:p>
            <a:pPr marL="989013" indent="-539750" algn="just">
              <a:tabLst>
                <a:tab pos="719138" algn="l"/>
              </a:tabLst>
            </a:pPr>
            <a:r>
              <a:rPr lang="en-US" dirty="0"/>
              <a:t>Econometric Model</a:t>
            </a:r>
          </a:p>
          <a:p>
            <a:pPr marL="989013" indent="-539750" algn="just">
              <a:tabLst>
                <a:tab pos="719138" algn="l"/>
              </a:tabLst>
            </a:pPr>
            <a:r>
              <a:rPr lang="en-US" dirty="0"/>
              <a:t>Work-Study Techniques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Ratio-Trend Analysis </a:t>
            </a:r>
            <a:endParaRPr lang="en-US" dirty="0"/>
          </a:p>
        </p:txBody>
      </p:sp>
      <p:sp>
        <p:nvSpPr>
          <p:cNvPr id="3" name="Content Placeholder 2"/>
          <p:cNvSpPr>
            <a:spLocks noGrp="1"/>
          </p:cNvSpPr>
          <p:nvPr>
            <p:ph idx="1"/>
          </p:nvPr>
        </p:nvSpPr>
        <p:spPr>
          <a:xfrm>
            <a:off x="457200" y="1428736"/>
            <a:ext cx="8229600" cy="4697427"/>
          </a:xfrm>
        </p:spPr>
        <p:txBody>
          <a:bodyPr>
            <a:normAutofit fontScale="92500" lnSpcReduction="20000"/>
          </a:bodyPr>
          <a:lstStyle/>
          <a:p>
            <a:pPr algn="just"/>
            <a:r>
              <a:rPr lang="en-US" dirty="0"/>
              <a:t>The ratio-trend analysis is carried out by studying the past ratios and the forecasting ratios for the future.</a:t>
            </a:r>
          </a:p>
          <a:p>
            <a:pPr algn="just"/>
            <a:r>
              <a:rPr lang="en-US" dirty="0"/>
              <a:t> The components of internal environmental changes are considered while forecasting the future ratios. </a:t>
            </a:r>
          </a:p>
          <a:p>
            <a:pPr algn="just"/>
            <a:r>
              <a:rPr lang="en-US" dirty="0"/>
              <a:t>Activity level forecasts are used to determine the direct human resource requirements. </a:t>
            </a:r>
          </a:p>
          <a:p>
            <a:pPr algn="just"/>
            <a:r>
              <a:rPr lang="en-US" dirty="0"/>
              <a:t>This method depends on the availability of past records and the internal environmental changes likely to occur in future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Econometric Model </a:t>
            </a:r>
            <a:endParaRPr lang="en-US" dirty="0"/>
          </a:p>
        </p:txBody>
      </p:sp>
      <p:sp>
        <p:nvSpPr>
          <p:cNvPr id="3" name="Content Placeholder 2"/>
          <p:cNvSpPr>
            <a:spLocks noGrp="1"/>
          </p:cNvSpPr>
          <p:nvPr>
            <p:ph idx="1"/>
          </p:nvPr>
        </p:nvSpPr>
        <p:spPr>
          <a:xfrm>
            <a:off x="457200" y="1285860"/>
            <a:ext cx="8229600" cy="4840303"/>
          </a:xfrm>
        </p:spPr>
        <p:txBody>
          <a:bodyPr>
            <a:normAutofit fontScale="92500" lnSpcReduction="10000"/>
          </a:bodyPr>
          <a:lstStyle/>
          <a:p>
            <a:pPr algn="just"/>
            <a:r>
              <a:rPr lang="en-US" dirty="0"/>
              <a:t>Under the econometric model, the previous data is analyzed and the relationship between different variables in a mathematical formula is developed. </a:t>
            </a:r>
          </a:p>
          <a:p>
            <a:pPr algn="just"/>
            <a:r>
              <a:rPr lang="en-US" dirty="0"/>
              <a:t>The different variables affecting the human  resource requirements are identified.</a:t>
            </a:r>
          </a:p>
          <a:p>
            <a:pPr algn="just"/>
            <a:r>
              <a:rPr lang="en-US" dirty="0"/>
              <a:t> The mathematical formula so developed is then applied to the forecasts of movements in the identified variables to produce human resource requirements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Work-study techniques</a:t>
            </a:r>
          </a:p>
        </p:txBody>
      </p:sp>
      <p:sp>
        <p:nvSpPr>
          <p:cNvPr id="3" name="Content Placeholder 2"/>
          <p:cNvSpPr>
            <a:spLocks noGrp="1"/>
          </p:cNvSpPr>
          <p:nvPr>
            <p:ph idx="1"/>
          </p:nvPr>
        </p:nvSpPr>
        <p:spPr/>
        <p:txBody>
          <a:bodyPr>
            <a:noAutofit/>
          </a:bodyPr>
          <a:lstStyle/>
          <a:p>
            <a:pPr algn="just"/>
            <a:r>
              <a:rPr lang="en-US" sz="3600" dirty="0"/>
              <a:t>Work-study techniques are generally used to study work measurement. </a:t>
            </a:r>
          </a:p>
          <a:p>
            <a:pPr algn="just"/>
            <a:r>
              <a:rPr lang="en-US" sz="3600" dirty="0"/>
              <a:t>Under the workload analysis, the volume of workload in the coming years is analyzed. </a:t>
            </a:r>
          </a:p>
          <a:p>
            <a:pPr algn="just"/>
            <a:r>
              <a:rPr lang="en-US" sz="3600" dirty="0"/>
              <a:t>These techniques are more suitable where the volume of work is easily measurable.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Supply Forecasting </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Supply forecasting measures the number of people likely to be available from within and outside the organization after making allowance for absenteeism, internal movement, promotion, changes in hours and other conditions of work.</a:t>
            </a:r>
          </a:p>
          <a:p>
            <a:pPr algn="just"/>
            <a:r>
              <a:rPr lang="en-US" dirty="0"/>
              <a:t> Supply analysis covers :</a:t>
            </a:r>
          </a:p>
          <a:p>
            <a:pPr algn="just"/>
            <a:r>
              <a:rPr lang="en-US" dirty="0"/>
              <a:t>a) Existing human resource supply.</a:t>
            </a:r>
          </a:p>
          <a:p>
            <a:pPr algn="just"/>
            <a:r>
              <a:rPr lang="en-US" dirty="0"/>
              <a:t>b) Internal source of supply.</a:t>
            </a:r>
          </a:p>
          <a:p>
            <a:pPr algn="just"/>
            <a:r>
              <a:rPr lang="en-US" dirty="0"/>
              <a:t>c) External source of supply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28670"/>
            <a:ext cx="8229600" cy="5197493"/>
          </a:xfrm>
        </p:spPr>
        <p:txBody>
          <a:bodyPr>
            <a:normAutofit fontScale="92500"/>
          </a:bodyPr>
          <a:lstStyle/>
          <a:p>
            <a:r>
              <a:rPr lang="en-US" dirty="0"/>
              <a:t>Forecasting of human resources begins with the current human resource inventory, also called human resource audit.</a:t>
            </a:r>
          </a:p>
          <a:p>
            <a:r>
              <a:rPr lang="en-US" dirty="0"/>
              <a:t> Human resource inventory contains information about present human resources in the </a:t>
            </a:r>
            <a:r>
              <a:rPr lang="en-US" dirty="0" err="1"/>
              <a:t>organizatn</a:t>
            </a:r>
            <a:endParaRPr lang="en-US" dirty="0"/>
          </a:p>
          <a:p>
            <a:r>
              <a:rPr lang="en-US" dirty="0"/>
              <a:t>It reveals what is available in the stock of  manpower and what can be expected in future.</a:t>
            </a:r>
          </a:p>
          <a:p>
            <a:r>
              <a:rPr lang="en-US" dirty="0"/>
              <a:t>It can indicate whether the supply of human resources is less than its demand or more than its demand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3457</TotalTime>
  <Words>1950</Words>
  <Application>Microsoft Office PowerPoint</Application>
  <PresentationFormat>On-screen Show (4:3)</PresentationFormat>
  <Paragraphs>162</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Wingdings</vt:lpstr>
      <vt:lpstr>Office Theme</vt:lpstr>
      <vt:lpstr>Manpower planning / human resource planning </vt:lpstr>
      <vt:lpstr>Introduction </vt:lpstr>
      <vt:lpstr>PowerPoint Presentation</vt:lpstr>
      <vt:lpstr> Objectives of human resource planning </vt:lpstr>
      <vt:lpstr>PowerPoint Presentation</vt:lpstr>
      <vt:lpstr> Human resource planning process </vt:lpstr>
      <vt:lpstr>PowerPoint Presentation</vt:lpstr>
      <vt:lpstr>PowerPoint Presentation</vt:lpstr>
      <vt:lpstr>Significance of HRP</vt:lpstr>
      <vt:lpstr>PowerPoint Presentation</vt:lpstr>
      <vt:lpstr>PowerPoint Presentation</vt:lpstr>
      <vt:lpstr>PowerPoint Presentation</vt:lpstr>
      <vt:lpstr> Essentials for successful HR planning </vt:lpstr>
      <vt:lpstr>PowerPoint Presentation</vt:lpstr>
      <vt:lpstr>PowerPoint Presentation</vt:lpstr>
      <vt:lpstr>PowerPoint Presentation</vt:lpstr>
      <vt:lpstr>Factor affecting HRP</vt:lpstr>
      <vt:lpstr> External Factors </vt:lpstr>
      <vt:lpstr>PowerPoint Presentation</vt:lpstr>
      <vt:lpstr>Internal factors</vt:lpstr>
      <vt:lpstr>PowerPoint Presentation</vt:lpstr>
      <vt:lpstr> Techniques of forecasting human resources </vt:lpstr>
      <vt:lpstr>Demand forecast </vt:lpstr>
      <vt:lpstr>Judgmental Forecasts</vt:lpstr>
      <vt:lpstr>Managerial Estimate</vt:lpstr>
      <vt:lpstr>Delphi Technique</vt:lpstr>
      <vt:lpstr>Statistical Projection</vt:lpstr>
      <vt:lpstr>Ratio-Trend Analysis </vt:lpstr>
      <vt:lpstr>Econometric Model </vt:lpstr>
      <vt:lpstr>Work-study techniques</vt:lpstr>
      <vt:lpstr>Supply Forecasting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Administrato</cp:lastModifiedBy>
  <cp:revision>49</cp:revision>
  <dcterms:created xsi:type="dcterms:W3CDTF">2022-05-02T08:25:11Z</dcterms:created>
  <dcterms:modified xsi:type="dcterms:W3CDTF">2024-06-19T06:12:48Z</dcterms:modified>
</cp:coreProperties>
</file>