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9" r:id="rId4"/>
    <p:sldId id="257" r:id="rId5"/>
    <p:sldId id="259" r:id="rId6"/>
    <p:sldId id="260" r:id="rId7"/>
    <p:sldId id="261" r:id="rId8"/>
    <p:sldId id="262" r:id="rId9"/>
    <p:sldId id="263" r:id="rId10"/>
    <p:sldId id="264" r:id="rId11"/>
    <p:sldId id="265" r:id="rId12"/>
    <p:sldId id="266" r:id="rId13"/>
    <p:sldId id="270" r:id="rId14"/>
    <p:sldId id="271" r:id="rId15"/>
    <p:sldId id="272" r:id="rId16"/>
    <p:sldId id="280" r:id="rId17"/>
    <p:sldId id="281" r:id="rId18"/>
    <p:sldId id="282" r:id="rId19"/>
    <p:sldId id="283" r:id="rId20"/>
    <p:sldId id="284" r:id="rId21"/>
    <p:sldId id="285" r:id="rId22"/>
    <p:sldId id="303" r:id="rId23"/>
    <p:sldId id="286" r:id="rId24"/>
    <p:sldId id="287" r:id="rId25"/>
    <p:sldId id="288" r:id="rId26"/>
    <p:sldId id="289" r:id="rId27"/>
    <p:sldId id="290" r:id="rId28"/>
    <p:sldId id="291" r:id="rId29"/>
    <p:sldId id="292" r:id="rId30"/>
    <p:sldId id="293" r:id="rId31"/>
    <p:sldId id="294" r:id="rId32"/>
    <p:sldId id="295" r:id="rId33"/>
    <p:sldId id="296" r:id="rId34"/>
    <p:sldId id="298" r:id="rId35"/>
    <p:sldId id="299" r:id="rId36"/>
    <p:sldId id="305" r:id="rId37"/>
    <p:sldId id="306" r:id="rId38"/>
    <p:sldId id="308" r:id="rId39"/>
    <p:sldId id="309" r:id="rId40"/>
    <p:sldId id="310" r:id="rId41"/>
    <p:sldId id="311" r:id="rId42"/>
    <p:sldId id="312" r:id="rId43"/>
    <p:sldId id="313" r:id="rId44"/>
    <p:sldId id="314"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1E53694-17A6-4D6A-8F4D-F069305DA2E0}" type="datetimeFigureOut">
              <a:rPr lang="en-US" smtClean="0"/>
              <a:pPr/>
              <a:t>5/17/2022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4F810-91F7-4C3F-AFF8-3ECFED7E388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E53694-17A6-4D6A-8F4D-F069305DA2E0}" type="datetimeFigureOut">
              <a:rPr lang="en-US" smtClean="0"/>
              <a:pPr/>
              <a:t>5/17/2022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4F810-91F7-4C3F-AFF8-3ECFED7E388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1E53694-17A6-4D6A-8F4D-F069305DA2E0}" type="datetimeFigureOut">
              <a:rPr lang="en-US" smtClean="0"/>
              <a:pPr/>
              <a:t>5/17/2022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4F810-91F7-4C3F-AFF8-3ECFED7E388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1E53694-17A6-4D6A-8F4D-F069305DA2E0}" type="datetimeFigureOut">
              <a:rPr lang="en-US" smtClean="0"/>
              <a:pPr/>
              <a:t>5/17/2022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64F810-91F7-4C3F-AFF8-3ECFED7E388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1E53694-17A6-4D6A-8F4D-F069305DA2E0}" type="datetimeFigureOut">
              <a:rPr lang="en-US" smtClean="0"/>
              <a:pPr/>
              <a:t>5/17/2022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64F810-91F7-4C3F-AFF8-3ECFED7E388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1E53694-17A6-4D6A-8F4D-F069305DA2E0}" type="datetimeFigureOut">
              <a:rPr lang="en-US" smtClean="0"/>
              <a:pPr/>
              <a:t>5/17/2022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64F810-91F7-4C3F-AFF8-3ECFED7E388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E53694-17A6-4D6A-8F4D-F069305DA2E0}" type="datetimeFigureOut">
              <a:rPr lang="en-US" smtClean="0"/>
              <a:pPr/>
              <a:t>5/17/2022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64F810-91F7-4C3F-AFF8-3ECFED7E388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E53694-17A6-4D6A-8F4D-F069305DA2E0}" type="datetimeFigureOut">
              <a:rPr lang="en-US" smtClean="0"/>
              <a:pPr/>
              <a:t>5/17/2022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64F810-91F7-4C3F-AFF8-3ECFED7E388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E53694-17A6-4D6A-8F4D-F069305DA2E0}" type="datetimeFigureOut">
              <a:rPr lang="en-US" smtClean="0"/>
              <a:pPr/>
              <a:t>5/17/2022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64F810-91F7-4C3F-AFF8-3ECFED7E388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E53694-17A6-4D6A-8F4D-F069305DA2E0}" type="datetimeFigureOut">
              <a:rPr lang="en-US" smtClean="0"/>
              <a:pPr/>
              <a:t>5/17/2022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4F810-91F7-4C3F-AFF8-3ECFED7E388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E53694-17A6-4D6A-8F4D-F069305DA2E0}" type="datetimeFigureOut">
              <a:rPr lang="en-US" smtClean="0"/>
              <a:pPr/>
              <a:t>5/17/2022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64F810-91F7-4C3F-AFF8-3ECFED7E388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E53694-17A6-4D6A-8F4D-F069305DA2E0}" type="datetimeFigureOut">
              <a:rPr lang="en-US" smtClean="0"/>
              <a:pPr/>
              <a:t>5/17/2022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64F810-91F7-4C3F-AFF8-3ECFED7E388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image.slidesharecdn.com/jobsatisfaction-141209194448-conversion-gate02/95/job-satisfaction-19-638.jpg?cb=1418154407"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Compensation and </a:t>
            </a:r>
            <a:r>
              <a:rPr lang="en-GB" dirty="0" err="1" smtClean="0"/>
              <a:t>recongintion</a:t>
            </a:r>
            <a:r>
              <a:rPr lang="en-GB" dirty="0" smtClean="0"/>
              <a:t> </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Employee Compensation</a:t>
            </a:r>
            <a:r>
              <a:rPr lang="en-GB" dirty="0" smtClean="0"/>
              <a:t> </a:t>
            </a:r>
            <a:endParaRPr lang="en-US" dirty="0"/>
          </a:p>
        </p:txBody>
      </p:sp>
      <p:sp>
        <p:nvSpPr>
          <p:cNvPr id="3" name="Content Placeholder 2"/>
          <p:cNvSpPr>
            <a:spLocks noGrp="1"/>
          </p:cNvSpPr>
          <p:nvPr>
            <p:ph idx="1"/>
          </p:nvPr>
        </p:nvSpPr>
        <p:spPr/>
        <p:txBody>
          <a:bodyPr>
            <a:normAutofit/>
          </a:bodyPr>
          <a:lstStyle/>
          <a:p>
            <a:r>
              <a:rPr lang="en-US" dirty="0"/>
              <a:t>Compensation is a systematic approach to providing monetary value to employees in exchange for work performed. </a:t>
            </a:r>
            <a:endParaRPr lang="en-US" dirty="0" smtClean="0"/>
          </a:p>
          <a:p>
            <a:r>
              <a:rPr lang="en-US" dirty="0" smtClean="0"/>
              <a:t>Compensation </a:t>
            </a:r>
            <a:r>
              <a:rPr lang="en-US" dirty="0"/>
              <a:t>may achieve several purposes assisting in recruitment, job performance, and job </a:t>
            </a:r>
            <a:r>
              <a:rPr lang="en-US" dirty="0" smtClean="0"/>
              <a:t>satisfaction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normAutofit fontScale="85000" lnSpcReduction="10000"/>
          </a:bodyPr>
          <a:lstStyle/>
          <a:p>
            <a:pPr algn="just"/>
            <a:r>
              <a:rPr lang="en-US" dirty="0" smtClean="0"/>
              <a:t>Compensation is an important activity of Human Resource Management (HRM).</a:t>
            </a:r>
          </a:p>
          <a:p>
            <a:pPr algn="just"/>
            <a:r>
              <a:rPr lang="en-US" dirty="0" smtClean="0"/>
              <a:t> It plays a significant role for the employee as well as the employer. </a:t>
            </a:r>
          </a:p>
          <a:p>
            <a:pPr algn="just"/>
            <a:r>
              <a:rPr lang="en-US" b="1" dirty="0" smtClean="0"/>
              <a:t>For the employee:</a:t>
            </a:r>
          </a:p>
          <a:p>
            <a:pPr indent="17463" algn="just">
              <a:buNone/>
            </a:pPr>
            <a:r>
              <a:rPr lang="en-US" dirty="0" smtClean="0"/>
              <a:t>Compensation is the main source of livelihood and determines his/her standard of living, status in the society, motivation, loyalty, and pro­ductivity. </a:t>
            </a:r>
          </a:p>
          <a:p>
            <a:pPr algn="just"/>
            <a:r>
              <a:rPr lang="en-US" b="1" dirty="0" smtClean="0"/>
              <a:t>For the employer: </a:t>
            </a:r>
          </a:p>
          <a:p>
            <a:pPr marL="360363" indent="0" algn="just">
              <a:buNone/>
            </a:pPr>
            <a:r>
              <a:rPr lang="en-US" dirty="0" smtClean="0"/>
              <a:t>Compensation is an instrument of procuring (attracting), maintaining, devel­oping, promoting, and motivating the employees and getting effective results from them.</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Objective of compensation </a:t>
            </a:r>
            <a:endParaRPr lang="en-US" dirty="0"/>
          </a:p>
        </p:txBody>
      </p:sp>
      <p:sp>
        <p:nvSpPr>
          <p:cNvPr id="3" name="Content Placeholder 2"/>
          <p:cNvSpPr>
            <a:spLocks noGrp="1"/>
          </p:cNvSpPr>
          <p:nvPr>
            <p:ph idx="1"/>
          </p:nvPr>
        </p:nvSpPr>
        <p:spPr/>
        <p:txBody>
          <a:bodyPr/>
          <a:lstStyle/>
          <a:p>
            <a:r>
              <a:rPr lang="en-US" dirty="0"/>
              <a:t>To recruit &amp; retain qualified </a:t>
            </a:r>
            <a:r>
              <a:rPr lang="en-US" dirty="0" smtClean="0"/>
              <a:t>employees</a:t>
            </a:r>
          </a:p>
          <a:p>
            <a:r>
              <a:rPr lang="en-US" dirty="0" smtClean="0"/>
              <a:t> </a:t>
            </a:r>
            <a:r>
              <a:rPr lang="en-US" dirty="0"/>
              <a:t>To increase or maintain morale. </a:t>
            </a:r>
            <a:endParaRPr lang="en-US" dirty="0" smtClean="0"/>
          </a:p>
          <a:p>
            <a:r>
              <a:rPr lang="en-US" dirty="0" smtClean="0"/>
              <a:t> </a:t>
            </a:r>
            <a:r>
              <a:rPr lang="en-US" dirty="0"/>
              <a:t>To determine basic wage &amp; salary. </a:t>
            </a:r>
            <a:endParaRPr lang="en-US" dirty="0" smtClean="0"/>
          </a:p>
          <a:p>
            <a:r>
              <a:rPr lang="en-US" dirty="0" smtClean="0"/>
              <a:t>To </a:t>
            </a:r>
            <a:r>
              <a:rPr lang="en-US" dirty="0"/>
              <a:t>reward for job performance.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411807"/>
          </a:xfrm>
        </p:spPr>
        <p:txBody>
          <a:bodyPr>
            <a:normAutofit lnSpcReduction="10000"/>
          </a:bodyPr>
          <a:lstStyle/>
          <a:p>
            <a:r>
              <a:rPr lang="en-US" dirty="0"/>
              <a:t>Its importance </a:t>
            </a:r>
            <a:endParaRPr lang="en-US" dirty="0" smtClean="0"/>
          </a:p>
          <a:p>
            <a:pPr marL="630238" indent="-360363"/>
            <a:r>
              <a:rPr lang="en-US" dirty="0" smtClean="0"/>
              <a:t>Compensation </a:t>
            </a:r>
            <a:r>
              <a:rPr lang="en-US" dirty="0"/>
              <a:t>is an integral part of human resource management which helps in motivating </a:t>
            </a:r>
            <a:r>
              <a:rPr lang="en-US" dirty="0" smtClean="0"/>
              <a:t>the </a:t>
            </a:r>
            <a:r>
              <a:rPr lang="en-US" dirty="0"/>
              <a:t>employees and improving organizational effectiveness</a:t>
            </a:r>
            <a:r>
              <a:rPr lang="en-US" dirty="0" smtClean="0"/>
              <a:t>.</a:t>
            </a:r>
          </a:p>
          <a:p>
            <a:pPr marL="1169988" indent="-450850">
              <a:buNone/>
            </a:pPr>
            <a:r>
              <a:rPr lang="en-US" dirty="0" smtClean="0"/>
              <a:t> </a:t>
            </a:r>
            <a:r>
              <a:rPr lang="en-US" dirty="0"/>
              <a:t>Effectiveness in terms of: </a:t>
            </a:r>
            <a:endParaRPr lang="en-US" dirty="0" smtClean="0"/>
          </a:p>
          <a:p>
            <a:pPr marL="1258888" indent="-179388"/>
            <a:r>
              <a:rPr lang="en-US" dirty="0" smtClean="0"/>
              <a:t> </a:t>
            </a:r>
            <a:r>
              <a:rPr lang="en-US" dirty="0"/>
              <a:t>Attracting &amp; Retaining Talent </a:t>
            </a:r>
            <a:endParaRPr lang="en-US" dirty="0" smtClean="0"/>
          </a:p>
          <a:p>
            <a:pPr marL="1258888" indent="-179388"/>
            <a:r>
              <a:rPr lang="en-US" dirty="0" smtClean="0"/>
              <a:t> </a:t>
            </a:r>
            <a:r>
              <a:rPr lang="en-US" dirty="0"/>
              <a:t>Motivating talent for better performance </a:t>
            </a:r>
            <a:endParaRPr lang="en-US" dirty="0" smtClean="0"/>
          </a:p>
          <a:p>
            <a:pPr marL="1258888" indent="-179388"/>
            <a:r>
              <a:rPr lang="en-US" dirty="0" smtClean="0"/>
              <a:t>Cost </a:t>
            </a:r>
            <a:r>
              <a:rPr lang="en-US" dirty="0"/>
              <a:t>effectiveness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https://image.slidesharecdn.com/compensationppt-140507052426-phpapp02/95/compensation-ppt-5-638.jpg?cb=1399462604"/>
          <p:cNvPicPr>
            <a:picLocks noGrp="1"/>
          </p:cNvPicPr>
          <p:nvPr>
            <p:ph idx="1"/>
          </p:nvPr>
        </p:nvPicPr>
        <p:blipFill>
          <a:blip r:embed="rId2" cstate="print"/>
          <a:srcRect/>
          <a:stretch>
            <a:fillRect/>
          </a:stretch>
        </p:blipFill>
        <p:spPr bwMode="auto">
          <a:xfrm>
            <a:off x="1557841" y="1600200"/>
            <a:ext cx="6028318" cy="4525963"/>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 of compensation </a:t>
            </a:r>
            <a:endParaRPr lang="en-US" dirty="0"/>
          </a:p>
        </p:txBody>
      </p:sp>
      <p:pic>
        <p:nvPicPr>
          <p:cNvPr id="4" name="Content Placeholder 3" descr="https://image.slidesharecdn.com/compensationppt-140507052426-phpapp02/95/compensation-ppt-7-638.jpg?cb=1399462604"/>
          <p:cNvPicPr>
            <a:picLocks noGrp="1"/>
          </p:cNvPicPr>
          <p:nvPr>
            <p:ph idx="1"/>
          </p:nvPr>
        </p:nvPicPr>
        <p:blipFill>
          <a:blip r:embed="rId2" cstate="print"/>
          <a:srcRect/>
          <a:stretch>
            <a:fillRect/>
          </a:stretch>
        </p:blipFill>
        <p:spPr bwMode="auto">
          <a:xfrm>
            <a:off x="785786" y="1714488"/>
            <a:ext cx="7643866" cy="4525963"/>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 compensation </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It </a:t>
            </a:r>
            <a:r>
              <a:rPr lang="en-US" dirty="0"/>
              <a:t>refers to monetary benefits offered and provided to employees in return of the services they provide to the organization. </a:t>
            </a:r>
            <a:endParaRPr lang="en-US" dirty="0" smtClean="0"/>
          </a:p>
          <a:p>
            <a:pPr algn="just"/>
            <a:r>
              <a:rPr lang="en-US" dirty="0" smtClean="0"/>
              <a:t>The </a:t>
            </a:r>
            <a:r>
              <a:rPr lang="en-US" dirty="0"/>
              <a:t>monetary benefits include basic salary, house rent allowance, conveyance, leave travel allowance, medical reimbursements, special allowances, bonus, PF/Gratuity, etc. </a:t>
            </a:r>
            <a:endParaRPr lang="en-US" dirty="0" smtClean="0"/>
          </a:p>
          <a:p>
            <a:pPr algn="just"/>
            <a:r>
              <a:rPr lang="en-US" dirty="0" smtClean="0"/>
              <a:t>They </a:t>
            </a:r>
            <a:r>
              <a:rPr lang="en-US" dirty="0"/>
              <a:t>are given at a regular interval at a definite time.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Indirect compensation </a:t>
            </a:r>
            <a:endParaRPr lang="en-US" dirty="0"/>
          </a:p>
        </p:txBody>
      </p:sp>
      <p:sp>
        <p:nvSpPr>
          <p:cNvPr id="3" name="Content Placeholder 2"/>
          <p:cNvSpPr>
            <a:spLocks noGrp="1"/>
          </p:cNvSpPr>
          <p:nvPr>
            <p:ph idx="1"/>
          </p:nvPr>
        </p:nvSpPr>
        <p:spPr/>
        <p:txBody>
          <a:bodyPr/>
          <a:lstStyle/>
          <a:p>
            <a:pPr algn="just"/>
            <a:r>
              <a:rPr lang="en-US" dirty="0"/>
              <a:t> </a:t>
            </a:r>
            <a:r>
              <a:rPr lang="en-US" dirty="0" smtClean="0"/>
              <a:t>It </a:t>
            </a:r>
            <a:r>
              <a:rPr lang="en-US" dirty="0"/>
              <a:t>refers to non-monetary benefits offered and provided to employees in lieu of the services provided by them to the organization</a:t>
            </a:r>
            <a:r>
              <a:rPr lang="en-US" dirty="0" smtClean="0"/>
              <a:t>.</a:t>
            </a:r>
          </a:p>
          <a:p>
            <a:pPr algn="just"/>
            <a:r>
              <a:rPr lang="en-US" dirty="0" smtClean="0"/>
              <a:t> </a:t>
            </a:r>
            <a:r>
              <a:rPr lang="en-US" dirty="0"/>
              <a:t>They include Paid Leave, Car / transportation, Medical Aids and assistance, Insurance (for self and family), Leave travel Assistance, Retirement Benefits, Holiday Homes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normAutofit fontScale="90000"/>
          </a:bodyPr>
          <a:lstStyle/>
          <a:p>
            <a:r>
              <a:rPr lang="en-US" dirty="0" smtClean="0"/>
              <a:t>Constituents of Compensation</a:t>
            </a:r>
            <a:br>
              <a:rPr lang="en-US" dirty="0" smtClean="0"/>
            </a:br>
            <a:endParaRPr lang="en-US" dirty="0"/>
          </a:p>
        </p:txBody>
      </p:sp>
      <p:sp>
        <p:nvSpPr>
          <p:cNvPr id="3" name="Content Placeholder 2"/>
          <p:cNvSpPr>
            <a:spLocks noGrp="1"/>
          </p:cNvSpPr>
          <p:nvPr>
            <p:ph idx="1"/>
          </p:nvPr>
        </p:nvSpPr>
        <p:spPr>
          <a:xfrm>
            <a:off x="457200" y="857232"/>
            <a:ext cx="8229600" cy="5500726"/>
          </a:xfrm>
        </p:spPr>
        <p:txBody>
          <a:bodyPr>
            <a:noAutofit/>
          </a:bodyPr>
          <a:lstStyle/>
          <a:p>
            <a:pPr algn="just">
              <a:buNone/>
            </a:pPr>
            <a:r>
              <a:rPr lang="en-US" sz="2400" b="1" dirty="0" smtClean="0"/>
              <a:t>Wage </a:t>
            </a:r>
            <a:r>
              <a:rPr lang="en-US" sz="2400" b="1" dirty="0"/>
              <a:t>and Salary: </a:t>
            </a:r>
            <a:endParaRPr lang="en-US" sz="2400" b="1" dirty="0" smtClean="0"/>
          </a:p>
          <a:p>
            <a:pPr marL="719138" indent="-269875" algn="just"/>
            <a:r>
              <a:rPr lang="en-US" sz="2400" dirty="0" smtClean="0"/>
              <a:t>The </a:t>
            </a:r>
            <a:r>
              <a:rPr lang="en-US" sz="2400" dirty="0"/>
              <a:t>most important component of compensation and these are essential irrespective of </a:t>
            </a:r>
            <a:r>
              <a:rPr lang="en-US" sz="2400" dirty="0" smtClean="0"/>
              <a:t>the </a:t>
            </a:r>
            <a:r>
              <a:rPr lang="en-US" sz="2400" dirty="0"/>
              <a:t>type of </a:t>
            </a:r>
            <a:r>
              <a:rPr lang="en-US" sz="2400" dirty="0" smtClean="0"/>
              <a:t>organization.</a:t>
            </a:r>
          </a:p>
          <a:p>
            <a:pPr marL="719138" indent="-269875" algn="just"/>
            <a:r>
              <a:rPr lang="en-US" sz="2400" dirty="0" smtClean="0"/>
              <a:t> </a:t>
            </a:r>
            <a:r>
              <a:rPr lang="en-US" sz="2400" dirty="0"/>
              <a:t>Administered </a:t>
            </a:r>
            <a:r>
              <a:rPr lang="en-US" sz="2400" dirty="0" smtClean="0"/>
              <a:t>individually</a:t>
            </a:r>
          </a:p>
          <a:p>
            <a:pPr marL="719138" indent="-269875" algn="just"/>
            <a:r>
              <a:rPr lang="en-US" sz="2400" dirty="0" smtClean="0"/>
              <a:t> </a:t>
            </a:r>
            <a:r>
              <a:rPr lang="en-US" sz="2400" dirty="0"/>
              <a:t>Provides employee </a:t>
            </a:r>
            <a:r>
              <a:rPr lang="en-US" sz="2400" dirty="0" smtClean="0"/>
              <a:t>stable </a:t>
            </a:r>
            <a:r>
              <a:rPr lang="en-US" sz="2400" dirty="0"/>
              <a:t>income and can plan chores of daily life, budget </a:t>
            </a:r>
            <a:endParaRPr lang="en-US" sz="2000" dirty="0"/>
          </a:p>
          <a:p>
            <a:pPr algn="just">
              <a:buNone/>
            </a:pPr>
            <a:r>
              <a:rPr lang="en-US" sz="2400" b="1" dirty="0" smtClean="0"/>
              <a:t>Incentives</a:t>
            </a:r>
            <a:r>
              <a:rPr lang="en-US" sz="2400" b="1" dirty="0"/>
              <a:t>: </a:t>
            </a:r>
            <a:endParaRPr lang="en-US" sz="2400" b="1" dirty="0" smtClean="0"/>
          </a:p>
          <a:p>
            <a:pPr marL="630238" indent="-360363" algn="just"/>
            <a:r>
              <a:rPr lang="en-US" sz="2400" dirty="0" smtClean="0"/>
              <a:t>Incentives </a:t>
            </a:r>
            <a:r>
              <a:rPr lang="en-US" sz="2400" dirty="0"/>
              <a:t>are </a:t>
            </a:r>
            <a:r>
              <a:rPr lang="en-US" sz="2400" dirty="0" smtClean="0"/>
              <a:t>the </a:t>
            </a:r>
            <a:r>
              <a:rPr lang="en-US" sz="2400" dirty="0"/>
              <a:t>additional payment to employees besides </a:t>
            </a:r>
            <a:r>
              <a:rPr lang="en-US" sz="2400" dirty="0" smtClean="0"/>
              <a:t>the </a:t>
            </a:r>
            <a:r>
              <a:rPr lang="en-US" sz="2400" dirty="0"/>
              <a:t>payment of wages and salaries. </a:t>
            </a:r>
            <a:endParaRPr lang="en-US" sz="2400" dirty="0" smtClean="0"/>
          </a:p>
          <a:p>
            <a:pPr marL="630238" indent="-360363" algn="just"/>
            <a:r>
              <a:rPr lang="en-US" sz="2400" dirty="0" smtClean="0"/>
              <a:t>Often </a:t>
            </a:r>
            <a:r>
              <a:rPr lang="en-US" sz="2400" dirty="0"/>
              <a:t>these are linked with productivity, either in terms of higher production or cost saving or both</a:t>
            </a:r>
            <a:r>
              <a:rPr lang="en-US" sz="2400" dirty="0" smtClean="0"/>
              <a:t>.</a:t>
            </a:r>
          </a:p>
          <a:p>
            <a:pPr marL="630238" indent="-360363" algn="just"/>
            <a:r>
              <a:rPr lang="en-US" sz="2400" dirty="0" smtClean="0"/>
              <a:t> </a:t>
            </a:r>
            <a:r>
              <a:rPr lang="en-US" sz="2400" dirty="0"/>
              <a:t>Can be administered individually and for groups </a:t>
            </a:r>
            <a:endParaRPr lang="en-US" sz="2400" dirty="0" smtClean="0"/>
          </a:p>
          <a:p>
            <a:pPr marL="630238" indent="-360363" algn="just"/>
            <a:r>
              <a:rPr lang="en-US" sz="2400" dirty="0" smtClean="0"/>
              <a:t>Additional </a:t>
            </a:r>
            <a:r>
              <a:rPr lang="en-US" sz="2400" dirty="0"/>
              <a:t>compensation having immediate effect and no future liability.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28670"/>
            <a:ext cx="8229600" cy="5197493"/>
          </a:xfrm>
        </p:spPr>
        <p:txBody>
          <a:bodyPr>
            <a:normAutofit fontScale="77500" lnSpcReduction="20000"/>
          </a:bodyPr>
          <a:lstStyle/>
          <a:p>
            <a:pPr>
              <a:buNone/>
            </a:pPr>
            <a:r>
              <a:rPr lang="en-US" b="1" dirty="0" smtClean="0"/>
              <a:t>Fringe </a:t>
            </a:r>
            <a:r>
              <a:rPr lang="en-US" b="1" dirty="0"/>
              <a:t>Benefits: </a:t>
            </a:r>
            <a:endParaRPr lang="en-US" b="1" dirty="0" smtClean="0"/>
          </a:p>
          <a:p>
            <a:pPr algn="just"/>
            <a:r>
              <a:rPr lang="en-US" dirty="0" smtClean="0"/>
              <a:t>Fringe </a:t>
            </a:r>
            <a:r>
              <a:rPr lang="en-US" dirty="0"/>
              <a:t>benefits include such benefits which are provided to </a:t>
            </a:r>
            <a:r>
              <a:rPr lang="en-US" dirty="0" smtClean="0"/>
              <a:t>the </a:t>
            </a:r>
            <a:r>
              <a:rPr lang="en-US" dirty="0"/>
              <a:t>employees either having long-term impact </a:t>
            </a:r>
            <a:r>
              <a:rPr lang="en-US" dirty="0" smtClean="0"/>
              <a:t>gratuity</a:t>
            </a:r>
            <a:r>
              <a:rPr lang="en-US" dirty="0"/>
              <a:t>, pension; or occurrence of certain events like medical benefits, accident relief, health and life insurance; or facilitation in performance of job like uniforms, Canteens, recreation, etc. </a:t>
            </a:r>
            <a:endParaRPr lang="en-US" dirty="0" smtClean="0"/>
          </a:p>
          <a:p>
            <a:pPr algn="just"/>
            <a:r>
              <a:rPr lang="en-US" dirty="0" smtClean="0"/>
              <a:t>Administered </a:t>
            </a:r>
            <a:r>
              <a:rPr lang="en-US" dirty="0"/>
              <a:t>for a group </a:t>
            </a:r>
            <a:r>
              <a:rPr lang="en-US" dirty="0" smtClean="0"/>
              <a:t>mostly</a:t>
            </a:r>
          </a:p>
          <a:p>
            <a:pPr algn="just">
              <a:buNone/>
            </a:pPr>
            <a:r>
              <a:rPr lang="en-US" b="1" dirty="0" smtClean="0"/>
              <a:t>Perquisites</a:t>
            </a:r>
            <a:r>
              <a:rPr lang="en-US" b="1" dirty="0"/>
              <a:t>: </a:t>
            </a:r>
            <a:r>
              <a:rPr lang="en-US" dirty="0"/>
              <a:t>These are normally provided to managerial personnel either to facilitate their job performance or to retain them in </a:t>
            </a:r>
            <a:r>
              <a:rPr lang="en-US" dirty="0" smtClean="0"/>
              <a:t>the </a:t>
            </a:r>
            <a:r>
              <a:rPr lang="en-US" dirty="0"/>
              <a:t>organization</a:t>
            </a:r>
            <a:r>
              <a:rPr lang="en-US" dirty="0" smtClean="0"/>
              <a:t>.</a:t>
            </a:r>
          </a:p>
          <a:p>
            <a:pPr algn="just"/>
            <a:r>
              <a:rPr lang="en-US" dirty="0" smtClean="0"/>
              <a:t> </a:t>
            </a:r>
            <a:r>
              <a:rPr lang="en-US" dirty="0"/>
              <a:t>Such perquisites include company car, club membership, free residential accommodation, paid holiday trips, stock options, etc</a:t>
            </a:r>
            <a:r>
              <a:rPr lang="en-US" dirty="0" smtClean="0"/>
              <a:t>.</a:t>
            </a:r>
          </a:p>
          <a:p>
            <a:pPr algn="just"/>
            <a:r>
              <a:rPr lang="en-US" dirty="0" smtClean="0"/>
              <a:t> </a:t>
            </a:r>
            <a:r>
              <a:rPr lang="en-US" dirty="0"/>
              <a:t>Administered individually mostly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Employee Compensation- characteristics of</a:t>
            </a:r>
            <a:endParaRPr lang="en-US" dirty="0"/>
          </a:p>
        </p:txBody>
      </p:sp>
      <p:sp>
        <p:nvSpPr>
          <p:cNvPr id="3" name="Content Placeholder 2"/>
          <p:cNvSpPr>
            <a:spLocks noGrp="1"/>
          </p:cNvSpPr>
          <p:nvPr>
            <p:ph idx="1"/>
          </p:nvPr>
        </p:nvSpPr>
        <p:spPr/>
        <p:txBody>
          <a:bodyPr/>
          <a:lstStyle/>
          <a:p>
            <a:pPr>
              <a:buNone/>
            </a:pPr>
            <a:r>
              <a:rPr lang="en-US" dirty="0" smtClean="0"/>
              <a:t>There are  5 main employee compensation characteristics :</a:t>
            </a:r>
          </a:p>
          <a:p>
            <a:pPr marL="514350" indent="-514350">
              <a:buFont typeface="+mj-lt"/>
              <a:buAutoNum type="arabicPeriod"/>
            </a:pPr>
            <a:r>
              <a:rPr lang="en-US" dirty="0" smtClean="0"/>
              <a:t> Internal Equity,</a:t>
            </a:r>
          </a:p>
          <a:p>
            <a:pPr marL="514350" indent="-514350">
              <a:buFont typeface="+mj-lt"/>
              <a:buAutoNum type="arabicPeriod"/>
            </a:pPr>
            <a:r>
              <a:rPr lang="en-US" dirty="0" smtClean="0"/>
              <a:t>External Competitiveness, </a:t>
            </a:r>
          </a:p>
          <a:p>
            <a:pPr marL="514350" indent="-514350">
              <a:buFont typeface="+mj-lt"/>
              <a:buAutoNum type="arabicPeriod"/>
            </a:pPr>
            <a:r>
              <a:rPr lang="en-US" dirty="0" smtClean="0"/>
              <a:t>Affordability, </a:t>
            </a:r>
          </a:p>
          <a:p>
            <a:pPr marL="514350" indent="-514350">
              <a:buFont typeface="+mj-lt"/>
              <a:buAutoNum type="arabicPeriod"/>
            </a:pPr>
            <a:r>
              <a:rPr lang="en-US" dirty="0" smtClean="0"/>
              <a:t>Legal Obligations and </a:t>
            </a:r>
          </a:p>
          <a:p>
            <a:pPr marL="514350" indent="-514350">
              <a:buFont typeface="+mj-lt"/>
              <a:buAutoNum type="arabicPeriod"/>
            </a:pPr>
            <a:r>
              <a:rPr lang="en-US" dirty="0" smtClean="0"/>
              <a:t>Flexible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fontAlgn="base"/>
            <a:r>
              <a:rPr lang="en-US" b="1" dirty="0" smtClean="0"/>
              <a:t>Internal Equity:</a:t>
            </a:r>
            <a:endParaRPr lang="en-US" dirty="0" smtClean="0"/>
          </a:p>
          <a:p>
            <a:pPr fontAlgn="base">
              <a:buNone/>
            </a:pPr>
            <a:r>
              <a:rPr lang="en-US" dirty="0" smtClean="0"/>
              <a:t>It is a measure of how an organization values each of its jobs in relation to one another. Internal equity exists when an employer pays wages corresponding with the relative internal value of each job.</a:t>
            </a:r>
          </a:p>
          <a:p>
            <a:pPr fontAlgn="base"/>
            <a:r>
              <a:rPr lang="en-US" b="1" dirty="0" smtClean="0"/>
              <a:t>External Competitiveness:</a:t>
            </a:r>
            <a:endParaRPr lang="en-US" dirty="0" smtClean="0"/>
          </a:p>
          <a:p>
            <a:pPr fontAlgn="base">
              <a:buNone/>
            </a:pPr>
            <a:r>
              <a:rPr lang="en-US" dirty="0" smtClean="0"/>
              <a:t>It is a measure of an organization’s wage and salary structure compared to that of its competitors in the job market doing the similar or same type of business.</a:t>
            </a:r>
          </a:p>
          <a:p>
            <a:pPr fontAlgn="base">
              <a:buNone/>
            </a:pPr>
            <a:r>
              <a:rPr lang="en-US" dirty="0" smtClean="0"/>
              <a:t>External equity exists when an employer pays a wage rate equal to the prevailing wage rate in external </a:t>
            </a:r>
            <a:r>
              <a:rPr lang="en-US" dirty="0" err="1" smtClean="0"/>
              <a:t>labour</a:t>
            </a:r>
            <a:r>
              <a:rPr lang="en-US" dirty="0" smtClean="0"/>
              <a:t> markets</a:t>
            </a:r>
          </a:p>
          <a:p>
            <a:pPr fontAlgn="base">
              <a:buNone/>
            </a:pPr>
            <a:endParaRPr lang="en-US" dirty="0" smtClean="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normAutofit fontScale="92500" lnSpcReduction="20000"/>
          </a:bodyPr>
          <a:lstStyle/>
          <a:p>
            <a:pPr algn="just" fontAlgn="base"/>
            <a:r>
              <a:rPr lang="en-US" b="1" dirty="0" smtClean="0"/>
              <a:t>Affordability:</a:t>
            </a:r>
            <a:endParaRPr lang="en-US" dirty="0" smtClean="0"/>
          </a:p>
          <a:p>
            <a:pPr algn="just" fontAlgn="base">
              <a:buNone/>
            </a:pPr>
            <a:r>
              <a:rPr lang="en-US" dirty="0" smtClean="0"/>
              <a:t>If pay structures are not formulated responsibly then an organization could end up paying </a:t>
            </a:r>
            <a:r>
              <a:rPr lang="en-US" dirty="0" err="1" smtClean="0"/>
              <a:t>labour</a:t>
            </a:r>
            <a:r>
              <a:rPr lang="en-US" dirty="0" smtClean="0"/>
              <a:t> costs that exceed what it can afford to pay to its employees.</a:t>
            </a:r>
          </a:p>
          <a:p>
            <a:pPr algn="just" fontAlgn="base"/>
            <a:r>
              <a:rPr lang="en-US" b="1" dirty="0" smtClean="0"/>
              <a:t>Legal Obligations:</a:t>
            </a:r>
            <a:endParaRPr lang="en-US" dirty="0" smtClean="0"/>
          </a:p>
          <a:p>
            <a:pPr algn="just" fontAlgn="base">
              <a:buNone/>
            </a:pPr>
            <a:r>
              <a:rPr lang="en-US" dirty="0" smtClean="0"/>
              <a:t>Any compensation program should be in conformity with the existing wage related legislations to provide fairness in how employees are paid.</a:t>
            </a:r>
          </a:p>
          <a:p>
            <a:pPr algn="just" fontAlgn="base"/>
            <a:r>
              <a:rPr lang="en-US" b="1" dirty="0" smtClean="0"/>
              <a:t>Flexible:</a:t>
            </a:r>
            <a:endParaRPr lang="en-US" dirty="0" smtClean="0"/>
          </a:p>
          <a:p>
            <a:pPr algn="just" fontAlgn="base"/>
            <a:r>
              <a:rPr lang="en-US" dirty="0" smtClean="0"/>
              <a:t>Pay programs are necessary tools to fight for </a:t>
            </a:r>
            <a:r>
              <a:rPr lang="en-US" dirty="0" err="1" smtClean="0"/>
              <a:t>labour</a:t>
            </a:r>
            <a:r>
              <a:rPr lang="en-US" dirty="0" smtClean="0"/>
              <a:t> in the marketplace. It should be flexible enough and capable of changing as required</a:t>
            </a:r>
          </a:p>
          <a:p>
            <a:pPr fontAlgn="base">
              <a:buNone/>
            </a:pPr>
            <a:endParaRPr lang="en-US" dirty="0" smtClean="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Job evaluation</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heavy" spc="-5" dirty="0">
                <a:solidFill>
                  <a:srgbClr val="000000"/>
                </a:solidFill>
                <a:uFill>
                  <a:solidFill>
                    <a:srgbClr val="000000"/>
                  </a:solidFill>
                </a:uFill>
              </a:rPr>
              <a:t>Outli</a:t>
            </a:r>
            <a:r>
              <a:rPr lang="en-US" u="heavy" spc="-15" dirty="0">
                <a:solidFill>
                  <a:srgbClr val="000000"/>
                </a:solidFill>
                <a:uFill>
                  <a:solidFill>
                    <a:srgbClr val="000000"/>
                  </a:solidFill>
                </a:uFill>
              </a:rPr>
              <a:t>n</a:t>
            </a:r>
            <a:r>
              <a:rPr lang="en-US" u="heavy" spc="-5" dirty="0">
                <a:solidFill>
                  <a:srgbClr val="000000"/>
                </a:solidFill>
                <a:uFill>
                  <a:solidFill>
                    <a:srgbClr val="000000"/>
                  </a:solidFill>
                </a:uFill>
              </a:rPr>
              <a:t>e:</a:t>
            </a:r>
            <a:endParaRPr lang="en-US" dirty="0"/>
          </a:p>
        </p:txBody>
      </p:sp>
      <p:sp>
        <p:nvSpPr>
          <p:cNvPr id="3" name="Content Placeholder 2"/>
          <p:cNvSpPr>
            <a:spLocks noGrp="1"/>
          </p:cNvSpPr>
          <p:nvPr>
            <p:ph idx="1"/>
          </p:nvPr>
        </p:nvSpPr>
        <p:spPr/>
        <p:txBody>
          <a:bodyPr/>
          <a:lstStyle/>
          <a:p>
            <a:pPr marL="468313" indent="-198438">
              <a:spcBef>
                <a:spcPts val="105"/>
              </a:spcBef>
              <a:tabLst>
                <a:tab pos="467359" algn="l"/>
              </a:tabLst>
            </a:pPr>
            <a:r>
              <a:rPr lang="en-US" dirty="0">
                <a:latin typeface="Carlito"/>
                <a:cs typeface="Carlito"/>
              </a:rPr>
              <a:t>Basic </a:t>
            </a:r>
            <a:r>
              <a:rPr lang="en-US" spc="-10" dirty="0">
                <a:latin typeface="Carlito"/>
                <a:cs typeface="Carlito"/>
              </a:rPr>
              <a:t>approach </a:t>
            </a:r>
            <a:r>
              <a:rPr lang="en-US" spc="-25" dirty="0">
                <a:latin typeface="Carlito"/>
                <a:cs typeface="Carlito"/>
              </a:rPr>
              <a:t>to </a:t>
            </a:r>
            <a:r>
              <a:rPr lang="en-US" dirty="0">
                <a:latin typeface="Carlito"/>
                <a:cs typeface="Carlito"/>
              </a:rPr>
              <a:t>Job</a:t>
            </a:r>
            <a:r>
              <a:rPr lang="en-US" spc="50" dirty="0">
                <a:latin typeface="Carlito"/>
                <a:cs typeface="Carlito"/>
              </a:rPr>
              <a:t> </a:t>
            </a:r>
            <a:r>
              <a:rPr lang="en-US" spc="-15" dirty="0">
                <a:latin typeface="Carlito"/>
                <a:cs typeface="Carlito"/>
              </a:rPr>
              <a:t>Evaluation.</a:t>
            </a:r>
            <a:endParaRPr lang="en-US" dirty="0">
              <a:latin typeface="Carlito"/>
              <a:cs typeface="Carlito"/>
            </a:endParaRPr>
          </a:p>
          <a:p>
            <a:pPr marL="12066">
              <a:lnSpc>
                <a:spcPct val="100000"/>
              </a:lnSpc>
              <a:spcBef>
                <a:spcPts val="105"/>
              </a:spcBef>
              <a:tabLst>
                <a:tab pos="467359" algn="l"/>
              </a:tabLst>
            </a:pPr>
            <a:endParaRPr lang="en-US" sz="4100" dirty="0" smtClean="0">
              <a:solidFill>
                <a:schemeClr val="bg1"/>
              </a:solidFill>
              <a:latin typeface="Carlito"/>
              <a:cs typeface="Carlito"/>
            </a:endParaRPr>
          </a:p>
          <a:p>
            <a:pPr marL="355600" marR="5080">
              <a:lnSpc>
                <a:spcPts val="3460"/>
              </a:lnSpc>
              <a:tabLst>
                <a:tab pos="467359" algn="l"/>
                <a:tab pos="1334135" algn="l"/>
                <a:tab pos="3492500" algn="l"/>
                <a:tab pos="4083685" algn="l"/>
                <a:tab pos="4895850" algn="l"/>
              </a:tabLst>
            </a:pPr>
            <a:r>
              <a:rPr lang="en-US" spc="-5" dirty="0">
                <a:latin typeface="Carlito"/>
                <a:cs typeface="Carlito"/>
              </a:rPr>
              <a:t>Th</a:t>
            </a:r>
            <a:r>
              <a:rPr lang="en-US" dirty="0">
                <a:latin typeface="Carlito"/>
                <a:cs typeface="Carlito"/>
              </a:rPr>
              <a:t>e	i</a:t>
            </a:r>
            <a:r>
              <a:rPr lang="en-US" spc="10" dirty="0">
                <a:latin typeface="Carlito"/>
                <a:cs typeface="Carlito"/>
              </a:rPr>
              <a:t>m</a:t>
            </a:r>
            <a:r>
              <a:rPr lang="en-US" spc="-5" dirty="0">
                <a:latin typeface="Carlito"/>
                <a:cs typeface="Carlito"/>
              </a:rPr>
              <a:t>por</a:t>
            </a:r>
            <a:r>
              <a:rPr lang="en-US" spc="-45" dirty="0">
                <a:latin typeface="Carlito"/>
                <a:cs typeface="Carlito"/>
              </a:rPr>
              <a:t>t</a:t>
            </a:r>
            <a:r>
              <a:rPr lang="en-US" dirty="0">
                <a:latin typeface="Carlito"/>
                <a:cs typeface="Carlito"/>
              </a:rPr>
              <a:t>ance	of	Job </a:t>
            </a:r>
            <a:r>
              <a:rPr lang="en-US" spc="-80" dirty="0">
                <a:latin typeface="Carlito"/>
                <a:cs typeface="Carlito"/>
              </a:rPr>
              <a:t>E</a:t>
            </a:r>
            <a:r>
              <a:rPr lang="en-US" spc="-45" dirty="0">
                <a:latin typeface="Carlito"/>
                <a:cs typeface="Carlito"/>
              </a:rPr>
              <a:t>v</a:t>
            </a:r>
            <a:r>
              <a:rPr lang="en-US" dirty="0">
                <a:latin typeface="Carlito"/>
                <a:cs typeface="Carlito"/>
              </a:rPr>
              <a:t>alu</a:t>
            </a:r>
            <a:r>
              <a:rPr lang="en-US" spc="-30" dirty="0">
                <a:latin typeface="Carlito"/>
                <a:cs typeface="Carlito"/>
              </a:rPr>
              <a:t>a</a:t>
            </a:r>
            <a:r>
              <a:rPr lang="en-US" dirty="0">
                <a:latin typeface="Carlito"/>
                <a:cs typeface="Carlito"/>
              </a:rPr>
              <a:t>t</a:t>
            </a:r>
            <a:r>
              <a:rPr lang="en-US" spc="5" dirty="0">
                <a:latin typeface="Carlito"/>
                <a:cs typeface="Carlito"/>
              </a:rPr>
              <a:t>i</a:t>
            </a:r>
            <a:r>
              <a:rPr lang="en-US" spc="-5" dirty="0">
                <a:latin typeface="Carlito"/>
                <a:cs typeface="Carlito"/>
              </a:rPr>
              <a:t>on  </a:t>
            </a:r>
            <a:r>
              <a:rPr lang="en-US" spc="-15" dirty="0">
                <a:latin typeface="Carlito"/>
                <a:cs typeface="Carlito"/>
              </a:rPr>
              <a:t>effectiveness.</a:t>
            </a:r>
          </a:p>
          <a:p>
            <a:pPr marL="355600" marR="5080">
              <a:lnSpc>
                <a:spcPts val="3460"/>
              </a:lnSpc>
              <a:tabLst>
                <a:tab pos="467359" algn="l"/>
                <a:tab pos="1334135" algn="l"/>
                <a:tab pos="3492500" algn="l"/>
                <a:tab pos="4083685" algn="l"/>
                <a:tab pos="4895850" algn="l"/>
              </a:tabLst>
            </a:pPr>
            <a:endParaRPr lang="en-US" spc="-15" dirty="0">
              <a:latin typeface="Carlito"/>
              <a:cs typeface="Carlito"/>
            </a:endParaRPr>
          </a:p>
          <a:p>
            <a:pPr marL="355600" marR="5080">
              <a:lnSpc>
                <a:spcPts val="3460"/>
              </a:lnSpc>
              <a:tabLst>
                <a:tab pos="467359" algn="l"/>
                <a:tab pos="1334135" algn="l"/>
                <a:tab pos="3492500" algn="l"/>
                <a:tab pos="4083685" algn="l"/>
                <a:tab pos="4895850" algn="l"/>
              </a:tabLst>
            </a:pPr>
            <a:r>
              <a:rPr lang="en-US" dirty="0">
                <a:latin typeface="Carlito"/>
                <a:cs typeface="Carlito"/>
              </a:rPr>
              <a:t>Impor</a:t>
            </a:r>
            <a:r>
              <a:rPr lang="en-US" spc="-40" dirty="0">
                <a:latin typeface="Carlito"/>
                <a:cs typeface="Carlito"/>
              </a:rPr>
              <a:t>t</a:t>
            </a:r>
            <a:r>
              <a:rPr lang="en-US" dirty="0">
                <a:latin typeface="Carlito"/>
                <a:cs typeface="Carlito"/>
              </a:rPr>
              <a:t>a</a:t>
            </a:r>
            <a:r>
              <a:rPr lang="en-US" spc="-20" dirty="0">
                <a:latin typeface="Carlito"/>
                <a:cs typeface="Carlito"/>
              </a:rPr>
              <a:t>n</a:t>
            </a:r>
            <a:r>
              <a:rPr lang="en-US" dirty="0">
                <a:latin typeface="Carlito"/>
                <a:cs typeface="Carlito"/>
              </a:rPr>
              <a:t>t</a:t>
            </a:r>
            <a:r>
              <a:rPr lang="en-US" spc="5" dirty="0">
                <a:latin typeface="Carlito"/>
                <a:cs typeface="Carlito"/>
              </a:rPr>
              <a:t> </a:t>
            </a:r>
            <a:r>
              <a:rPr lang="en-US" dirty="0">
                <a:latin typeface="Carlito"/>
                <a:cs typeface="Carlito"/>
              </a:rPr>
              <a:t>m</a:t>
            </a:r>
            <a:r>
              <a:rPr lang="en-US" spc="-15" dirty="0">
                <a:latin typeface="Carlito"/>
                <a:cs typeface="Carlito"/>
              </a:rPr>
              <a:t>e</a:t>
            </a:r>
            <a:r>
              <a:rPr lang="en-US" dirty="0">
                <a:latin typeface="Carlito"/>
                <a:cs typeface="Carlito"/>
              </a:rPr>
              <a:t>thods</a:t>
            </a:r>
            <a:r>
              <a:rPr lang="en-US" spc="-10" dirty="0">
                <a:latin typeface="Carlito"/>
                <a:cs typeface="Carlito"/>
              </a:rPr>
              <a:t> </a:t>
            </a:r>
            <a:r>
              <a:rPr lang="en-US" dirty="0">
                <a:latin typeface="Carlito"/>
                <a:cs typeface="Carlito"/>
              </a:rPr>
              <a:t>of</a:t>
            </a:r>
            <a:r>
              <a:rPr lang="en-US" spc="-10" dirty="0">
                <a:latin typeface="Carlito"/>
                <a:cs typeface="Carlito"/>
              </a:rPr>
              <a:t> </a:t>
            </a:r>
            <a:r>
              <a:rPr lang="en-US" dirty="0">
                <a:latin typeface="Carlito"/>
                <a:cs typeface="Carlito"/>
              </a:rPr>
              <a:t>Job	</a:t>
            </a:r>
            <a:r>
              <a:rPr lang="en-US" spc="-80" dirty="0">
                <a:latin typeface="Carlito"/>
                <a:cs typeface="Carlito"/>
              </a:rPr>
              <a:t>E</a:t>
            </a:r>
            <a:r>
              <a:rPr lang="en-US" spc="-45" dirty="0">
                <a:latin typeface="Carlito"/>
                <a:cs typeface="Carlito"/>
              </a:rPr>
              <a:t>v</a:t>
            </a:r>
            <a:r>
              <a:rPr lang="en-US" dirty="0">
                <a:latin typeface="Carlito"/>
                <a:cs typeface="Carlito"/>
              </a:rPr>
              <a:t>alu</a:t>
            </a:r>
            <a:r>
              <a:rPr lang="en-US" spc="-30" dirty="0">
                <a:latin typeface="Carlito"/>
                <a:cs typeface="Carlito"/>
              </a:rPr>
              <a:t>a</a:t>
            </a:r>
            <a:r>
              <a:rPr lang="en-US" dirty="0">
                <a:latin typeface="Carlito"/>
                <a:cs typeface="Carlito"/>
              </a:rPr>
              <a:t>t</a:t>
            </a:r>
            <a:r>
              <a:rPr lang="en-US" spc="-10" dirty="0">
                <a:latin typeface="Carlito"/>
                <a:cs typeface="Carlito"/>
              </a:rPr>
              <a:t>i</a:t>
            </a:r>
            <a:r>
              <a:rPr lang="en-US" spc="-5" dirty="0">
                <a:latin typeface="Carlito"/>
                <a:cs typeface="Carlito"/>
              </a:rPr>
              <a:t>o</a:t>
            </a:r>
            <a:r>
              <a:rPr lang="en-US" spc="5" dirty="0">
                <a:latin typeface="Carlito"/>
                <a:cs typeface="Carlito"/>
              </a:rPr>
              <a:t>n</a:t>
            </a:r>
            <a:r>
              <a:rPr lang="en-US" dirty="0">
                <a:latin typeface="Carlito"/>
                <a:cs typeface="Carlito"/>
              </a:rPr>
              <a:t>.</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12700" algn="just">
              <a:lnSpc>
                <a:spcPct val="100000"/>
              </a:lnSpc>
              <a:spcBef>
                <a:spcPts val="820"/>
              </a:spcBef>
            </a:pPr>
            <a:r>
              <a:rPr lang="en-US" b="1" spc="-10" dirty="0" smtClean="0">
                <a:latin typeface="Carlito"/>
                <a:cs typeface="Carlito"/>
              </a:rPr>
              <a:t>What </a:t>
            </a:r>
            <a:r>
              <a:rPr lang="en-US" b="1" dirty="0" smtClean="0">
                <a:latin typeface="Carlito"/>
                <a:cs typeface="Carlito"/>
              </a:rPr>
              <a:t>is </a:t>
            </a:r>
            <a:r>
              <a:rPr lang="en-US" b="1" spc="-5" dirty="0" smtClean="0">
                <a:latin typeface="Carlito"/>
                <a:cs typeface="Carlito"/>
              </a:rPr>
              <a:t>job </a:t>
            </a:r>
            <a:r>
              <a:rPr lang="en-US" b="1" spc="-10" dirty="0" smtClean="0">
                <a:latin typeface="Carlito"/>
                <a:cs typeface="Carlito"/>
              </a:rPr>
              <a:t>evaluation?</a:t>
            </a:r>
            <a:endParaRPr lang="en-US" dirty="0" smtClean="0">
              <a:latin typeface="Carlito"/>
              <a:cs typeface="Carlito"/>
            </a:endParaRPr>
          </a:p>
          <a:p>
            <a:pPr marL="1438275" marR="5080" indent="0" algn="just">
              <a:lnSpc>
                <a:spcPct val="100000"/>
              </a:lnSpc>
              <a:spcBef>
                <a:spcPts val="720"/>
              </a:spcBef>
            </a:pPr>
            <a:r>
              <a:rPr lang="en-US" dirty="0" smtClean="0">
                <a:latin typeface="Carlito"/>
                <a:cs typeface="Carlito"/>
              </a:rPr>
              <a:t>Job </a:t>
            </a:r>
            <a:r>
              <a:rPr lang="en-US" spc="-10" dirty="0" smtClean="0">
                <a:latin typeface="Carlito"/>
                <a:cs typeface="Carlito"/>
              </a:rPr>
              <a:t>evaluation </a:t>
            </a:r>
            <a:r>
              <a:rPr lang="en-US" dirty="0" smtClean="0">
                <a:latin typeface="Carlito"/>
                <a:cs typeface="Carlito"/>
              </a:rPr>
              <a:t>is the </a:t>
            </a:r>
            <a:r>
              <a:rPr lang="en-US" spc="-10" dirty="0" smtClean="0">
                <a:latin typeface="Carlito"/>
                <a:cs typeface="Carlito"/>
              </a:rPr>
              <a:t>process </a:t>
            </a:r>
            <a:r>
              <a:rPr lang="en-US" spc="-5" dirty="0" smtClean="0">
                <a:latin typeface="Carlito"/>
                <a:cs typeface="Carlito"/>
              </a:rPr>
              <a:t>of analyzing  </a:t>
            </a:r>
            <a:r>
              <a:rPr lang="en-US" dirty="0" smtClean="0">
                <a:latin typeface="Carlito"/>
                <a:cs typeface="Carlito"/>
              </a:rPr>
              <a:t>and </a:t>
            </a:r>
            <a:r>
              <a:rPr lang="en-US" spc="-5" dirty="0" smtClean="0">
                <a:latin typeface="Carlito"/>
                <a:cs typeface="Carlito"/>
              </a:rPr>
              <a:t>assessing</a:t>
            </a:r>
            <a:r>
              <a:rPr lang="en-US" spc="530" dirty="0" smtClean="0">
                <a:latin typeface="Carlito"/>
                <a:cs typeface="Carlito"/>
              </a:rPr>
              <a:t> </a:t>
            </a:r>
            <a:r>
              <a:rPr lang="en-US" dirty="0" smtClean="0">
                <a:latin typeface="Carlito"/>
                <a:cs typeface="Carlito"/>
              </a:rPr>
              <a:t>the </a:t>
            </a:r>
            <a:r>
              <a:rPr lang="en-US" spc="-10" dirty="0" smtClean="0">
                <a:latin typeface="Carlito"/>
                <a:cs typeface="Carlito"/>
              </a:rPr>
              <a:t>various jobs  </a:t>
            </a:r>
            <a:r>
              <a:rPr lang="en-US" spc="-15" dirty="0" smtClean="0">
                <a:latin typeface="Carlito"/>
                <a:cs typeface="Carlito"/>
              </a:rPr>
              <a:t>systematically to </a:t>
            </a:r>
            <a:r>
              <a:rPr lang="en-US" spc="-5" dirty="0" smtClean="0">
                <a:latin typeface="Carlito"/>
                <a:cs typeface="Carlito"/>
              </a:rPr>
              <a:t>ascertain </a:t>
            </a:r>
            <a:r>
              <a:rPr lang="en-US" dirty="0" smtClean="0">
                <a:latin typeface="Carlito"/>
                <a:cs typeface="Carlito"/>
              </a:rPr>
              <a:t>their </a:t>
            </a:r>
            <a:r>
              <a:rPr lang="en-US" spc="-15" dirty="0" smtClean="0">
                <a:latin typeface="Carlito"/>
                <a:cs typeface="Carlito"/>
              </a:rPr>
              <a:t>relative  </a:t>
            </a:r>
            <a:r>
              <a:rPr lang="en-US" spc="-10" dirty="0" smtClean="0">
                <a:latin typeface="Carlito"/>
                <a:cs typeface="Carlito"/>
              </a:rPr>
              <a:t>worth </a:t>
            </a:r>
            <a:r>
              <a:rPr lang="en-US" dirty="0" smtClean="0">
                <a:latin typeface="Carlito"/>
                <a:cs typeface="Carlito"/>
              </a:rPr>
              <a:t>in an </a:t>
            </a:r>
            <a:r>
              <a:rPr lang="en-US" spc="-15" dirty="0" smtClean="0">
                <a:latin typeface="Carlito"/>
                <a:cs typeface="Carlito"/>
              </a:rPr>
              <a:t>organization. </a:t>
            </a:r>
            <a:r>
              <a:rPr lang="en-US" dirty="0" smtClean="0">
                <a:latin typeface="Carlito"/>
                <a:cs typeface="Carlito"/>
              </a:rPr>
              <a:t>Job is </a:t>
            </a:r>
            <a:r>
              <a:rPr lang="en-US" spc="-15" dirty="0" smtClean="0">
                <a:latin typeface="Carlito"/>
                <a:cs typeface="Carlito"/>
              </a:rPr>
              <a:t>evaluated  </a:t>
            </a:r>
            <a:r>
              <a:rPr lang="en-US" spc="-5" dirty="0" smtClean="0">
                <a:latin typeface="Carlito"/>
                <a:cs typeface="Carlito"/>
              </a:rPr>
              <a:t>on </a:t>
            </a:r>
            <a:r>
              <a:rPr lang="en-US" dirty="0" smtClean="0">
                <a:latin typeface="Carlito"/>
                <a:cs typeface="Carlito"/>
              </a:rPr>
              <a:t>the </a:t>
            </a:r>
            <a:r>
              <a:rPr lang="en-US" spc="-5" dirty="0" smtClean="0">
                <a:latin typeface="Carlito"/>
                <a:cs typeface="Carlito"/>
              </a:rPr>
              <a:t>basis of </a:t>
            </a:r>
            <a:r>
              <a:rPr lang="en-US" dirty="0" smtClean="0">
                <a:latin typeface="Carlito"/>
                <a:cs typeface="Carlito"/>
              </a:rPr>
              <a:t>their </a:t>
            </a:r>
            <a:r>
              <a:rPr lang="en-US" spc="-15" dirty="0" smtClean="0">
                <a:latin typeface="Carlito"/>
                <a:cs typeface="Carlito"/>
              </a:rPr>
              <a:t>content </a:t>
            </a:r>
            <a:r>
              <a:rPr lang="en-US" dirty="0" smtClean="0">
                <a:latin typeface="Carlito"/>
                <a:cs typeface="Carlito"/>
              </a:rPr>
              <a:t>and is </a:t>
            </a:r>
            <a:r>
              <a:rPr lang="en-US" spc="-5" dirty="0" smtClean="0">
                <a:latin typeface="Carlito"/>
                <a:cs typeface="Carlito"/>
              </a:rPr>
              <a:t>placed  </a:t>
            </a:r>
            <a:r>
              <a:rPr lang="en-US" dirty="0" smtClean="0">
                <a:latin typeface="Carlito"/>
                <a:cs typeface="Carlito"/>
              </a:rPr>
              <a:t>in the </a:t>
            </a:r>
            <a:r>
              <a:rPr lang="en-US" spc="-15" dirty="0" smtClean="0">
                <a:latin typeface="Carlito"/>
                <a:cs typeface="Carlito"/>
              </a:rPr>
              <a:t>order </a:t>
            </a:r>
            <a:r>
              <a:rPr lang="en-US" spc="-5" dirty="0" smtClean="0">
                <a:latin typeface="Carlito"/>
                <a:cs typeface="Carlito"/>
              </a:rPr>
              <a:t>of </a:t>
            </a:r>
            <a:r>
              <a:rPr lang="en-US" dirty="0" smtClean="0">
                <a:latin typeface="Carlito"/>
                <a:cs typeface="Carlito"/>
              </a:rPr>
              <a:t>their </a:t>
            </a:r>
            <a:r>
              <a:rPr lang="en-US" spc="-5" dirty="0" smtClean="0">
                <a:latin typeface="Carlito"/>
                <a:cs typeface="Carlito"/>
              </a:rPr>
              <a:t>importance.</a:t>
            </a:r>
            <a:endParaRPr lang="en-US" dirty="0" smtClean="0">
              <a:latin typeface="Carlito"/>
              <a:cs typeface="Carlito"/>
            </a:endParaRP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240617"/>
            <a:ext cx="8061959" cy="1120178"/>
          </a:xfrm>
          <a:prstGeom prst="rect">
            <a:avLst/>
          </a:prstGeom>
        </p:spPr>
        <p:txBody>
          <a:bodyPr vert="horz" wrap="square" lIns="0" tIns="12065" rIns="0" bIns="0" rtlCol="0">
            <a:spAutoFit/>
          </a:bodyPr>
          <a:lstStyle/>
          <a:p>
            <a:pPr marL="12700">
              <a:lnSpc>
                <a:spcPct val="100000"/>
              </a:lnSpc>
              <a:spcBef>
                <a:spcPts val="95"/>
              </a:spcBef>
              <a:tabLst>
                <a:tab pos="2174240" algn="l"/>
              </a:tabLst>
            </a:pPr>
            <a:r>
              <a:rPr sz="3600" spc="-10" dirty="0">
                <a:uFill>
                  <a:solidFill>
                    <a:srgbClr val="00AF50"/>
                  </a:solidFill>
                </a:uFill>
              </a:rPr>
              <a:t>The</a:t>
            </a:r>
            <a:r>
              <a:rPr sz="3600" spc="5" dirty="0">
                <a:uFill>
                  <a:solidFill>
                    <a:srgbClr val="00AF50"/>
                  </a:solidFill>
                </a:uFill>
              </a:rPr>
              <a:t> </a:t>
            </a:r>
            <a:r>
              <a:rPr sz="3600" spc="-10" dirty="0" smtClean="0">
                <a:uFill>
                  <a:solidFill>
                    <a:srgbClr val="00AF50"/>
                  </a:solidFill>
                </a:uFill>
              </a:rPr>
              <a:t>following</a:t>
            </a:r>
            <a:r>
              <a:rPr lang="en-IN" sz="3600" spc="-10" dirty="0" smtClean="0">
                <a:uFill>
                  <a:solidFill>
                    <a:srgbClr val="00AF50"/>
                  </a:solidFill>
                </a:uFill>
              </a:rPr>
              <a:t> </a:t>
            </a:r>
            <a:r>
              <a:rPr sz="3600" spc="-5" dirty="0" smtClean="0">
                <a:uFill>
                  <a:solidFill>
                    <a:srgbClr val="00AF50"/>
                  </a:solidFill>
                </a:uFill>
              </a:rPr>
              <a:t>objectives </a:t>
            </a:r>
            <a:r>
              <a:rPr sz="3600" spc="-15" dirty="0">
                <a:uFill>
                  <a:solidFill>
                    <a:srgbClr val="00AF50"/>
                  </a:solidFill>
                </a:uFill>
              </a:rPr>
              <a:t>are </a:t>
            </a:r>
            <a:r>
              <a:rPr sz="3600" spc="-10" dirty="0">
                <a:uFill>
                  <a:solidFill>
                    <a:srgbClr val="00AF50"/>
                  </a:solidFill>
                </a:uFill>
              </a:rPr>
              <a:t>derived </a:t>
            </a:r>
            <a:r>
              <a:rPr sz="3600" spc="-15" dirty="0">
                <a:uFill>
                  <a:solidFill>
                    <a:srgbClr val="00AF50"/>
                  </a:solidFill>
                </a:uFill>
              </a:rPr>
              <a:t>from </a:t>
            </a:r>
            <a:r>
              <a:rPr sz="3600" spc="-5" dirty="0">
                <a:uFill>
                  <a:solidFill>
                    <a:srgbClr val="00AF50"/>
                  </a:solidFill>
                </a:uFill>
              </a:rPr>
              <a:t>the</a:t>
            </a:r>
            <a:r>
              <a:rPr sz="3600" spc="80" dirty="0">
                <a:uFill>
                  <a:solidFill>
                    <a:srgbClr val="00AF50"/>
                  </a:solidFill>
                </a:uFill>
              </a:rPr>
              <a:t> </a:t>
            </a:r>
            <a:r>
              <a:rPr sz="3600" spc="-5" dirty="0">
                <a:uFill>
                  <a:solidFill>
                    <a:srgbClr val="00AF50"/>
                  </a:solidFill>
                </a:uFill>
              </a:rPr>
              <a:t>analysis</a:t>
            </a:r>
          </a:p>
        </p:txBody>
      </p:sp>
      <p:sp>
        <p:nvSpPr>
          <p:cNvPr id="3" name="object 3"/>
          <p:cNvSpPr txBox="1"/>
          <p:nvPr/>
        </p:nvSpPr>
        <p:spPr>
          <a:xfrm>
            <a:off x="529233" y="1371600"/>
            <a:ext cx="8129905" cy="4829527"/>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424180" algn="l"/>
              </a:tabLst>
            </a:pPr>
            <a:r>
              <a:rPr dirty="0"/>
              <a:t>	</a:t>
            </a:r>
            <a:r>
              <a:rPr sz="2400" spc="-114" dirty="0">
                <a:latin typeface="Carlito"/>
                <a:cs typeface="Carlito"/>
              </a:rPr>
              <a:t>To </a:t>
            </a:r>
            <a:r>
              <a:rPr sz="2400" spc="-15" dirty="0">
                <a:latin typeface="Carlito"/>
                <a:cs typeface="Carlito"/>
              </a:rPr>
              <a:t>gather data </a:t>
            </a:r>
            <a:r>
              <a:rPr sz="2400" dirty="0">
                <a:latin typeface="Carlito"/>
                <a:cs typeface="Carlito"/>
              </a:rPr>
              <a:t>and </a:t>
            </a:r>
            <a:r>
              <a:rPr sz="2400" spc="-10" dirty="0">
                <a:latin typeface="Carlito"/>
                <a:cs typeface="Carlito"/>
              </a:rPr>
              <a:t>information relating </a:t>
            </a:r>
            <a:r>
              <a:rPr sz="2400" spc="-15" dirty="0">
                <a:latin typeface="Carlito"/>
                <a:cs typeface="Carlito"/>
              </a:rPr>
              <a:t>to </a:t>
            </a:r>
            <a:r>
              <a:rPr sz="2400" spc="-5" dirty="0">
                <a:latin typeface="Carlito"/>
                <a:cs typeface="Carlito"/>
              </a:rPr>
              <a:t>job </a:t>
            </a:r>
            <a:r>
              <a:rPr sz="2400" spc="-10" dirty="0">
                <a:latin typeface="Carlito"/>
                <a:cs typeface="Carlito"/>
              </a:rPr>
              <a:t>description, </a:t>
            </a:r>
            <a:r>
              <a:rPr sz="2400" spc="-5" dirty="0">
                <a:latin typeface="Carlito"/>
                <a:cs typeface="Carlito"/>
              </a:rPr>
              <a:t>job  </a:t>
            </a:r>
            <a:r>
              <a:rPr sz="2400" spc="-10" dirty="0">
                <a:latin typeface="Carlito"/>
                <a:cs typeface="Carlito"/>
              </a:rPr>
              <a:t>specification </a:t>
            </a:r>
            <a:r>
              <a:rPr sz="2400" dirty="0">
                <a:latin typeface="Carlito"/>
                <a:cs typeface="Carlito"/>
              </a:rPr>
              <a:t>and </a:t>
            </a:r>
            <a:r>
              <a:rPr sz="2400" spc="-10" dirty="0">
                <a:latin typeface="Carlito"/>
                <a:cs typeface="Carlito"/>
              </a:rPr>
              <a:t>employee specifications </a:t>
            </a:r>
            <a:r>
              <a:rPr sz="2400" spc="-20" dirty="0">
                <a:latin typeface="Carlito"/>
                <a:cs typeface="Carlito"/>
              </a:rPr>
              <a:t>for </a:t>
            </a:r>
            <a:r>
              <a:rPr sz="2400" spc="-10" dirty="0">
                <a:latin typeface="Carlito"/>
                <a:cs typeface="Carlito"/>
              </a:rPr>
              <a:t>various </a:t>
            </a:r>
            <a:r>
              <a:rPr sz="2400" spc="-5" dirty="0">
                <a:latin typeface="Carlito"/>
                <a:cs typeface="Carlito"/>
              </a:rPr>
              <a:t>jobs </a:t>
            </a:r>
            <a:r>
              <a:rPr sz="2400" dirty="0">
                <a:latin typeface="Carlito"/>
                <a:cs typeface="Carlito"/>
              </a:rPr>
              <a:t>in an  </a:t>
            </a:r>
            <a:r>
              <a:rPr sz="2400" spc="-15" dirty="0">
                <a:latin typeface="Carlito"/>
                <a:cs typeface="Carlito"/>
              </a:rPr>
              <a:t>organization</a:t>
            </a:r>
            <a:endParaRPr sz="2400" dirty="0">
              <a:latin typeface="Carlito"/>
              <a:cs typeface="Carlito"/>
            </a:endParaRPr>
          </a:p>
          <a:p>
            <a:pPr marL="355600" marR="197485" indent="-342900">
              <a:lnSpc>
                <a:spcPct val="100000"/>
              </a:lnSpc>
              <a:spcBef>
                <a:spcPts val="580"/>
              </a:spcBef>
              <a:buFont typeface="Wingdings"/>
              <a:buChar char=""/>
              <a:tabLst>
                <a:tab pos="423545" algn="l"/>
                <a:tab pos="424180" algn="l"/>
              </a:tabLst>
            </a:pPr>
            <a:r>
              <a:rPr dirty="0"/>
              <a:t>	</a:t>
            </a:r>
            <a:r>
              <a:rPr sz="2400" spc="-114" dirty="0">
                <a:latin typeface="Carlito"/>
                <a:cs typeface="Carlito"/>
              </a:rPr>
              <a:t>To </a:t>
            </a:r>
            <a:r>
              <a:rPr sz="2400" spc="-10" dirty="0">
                <a:latin typeface="Carlito"/>
                <a:cs typeface="Carlito"/>
              </a:rPr>
              <a:t>compare </a:t>
            </a:r>
            <a:r>
              <a:rPr sz="2400" dirty="0">
                <a:latin typeface="Carlito"/>
                <a:cs typeface="Carlito"/>
              </a:rPr>
              <a:t>the </a:t>
            </a:r>
            <a:r>
              <a:rPr sz="2400" spc="-5" dirty="0">
                <a:latin typeface="Carlito"/>
                <a:cs typeface="Carlito"/>
              </a:rPr>
              <a:t>duties, responsibilities </a:t>
            </a:r>
            <a:r>
              <a:rPr sz="2400" dirty="0">
                <a:latin typeface="Carlito"/>
                <a:cs typeface="Carlito"/>
              </a:rPr>
              <a:t>and </a:t>
            </a:r>
            <a:r>
              <a:rPr sz="2400" spc="-5" dirty="0">
                <a:latin typeface="Carlito"/>
                <a:cs typeface="Carlito"/>
              </a:rPr>
              <a:t>demands of </a:t>
            </a:r>
            <a:r>
              <a:rPr sz="2400" dirty="0">
                <a:latin typeface="Carlito"/>
                <a:cs typeface="Carlito"/>
              </a:rPr>
              <a:t>a </a:t>
            </a:r>
            <a:r>
              <a:rPr sz="2400" spc="-10" dirty="0">
                <a:latin typeface="Carlito"/>
                <a:cs typeface="Carlito"/>
              </a:rPr>
              <a:t>job  </a:t>
            </a:r>
            <a:r>
              <a:rPr sz="2400" dirty="0">
                <a:latin typeface="Carlito"/>
                <a:cs typeface="Carlito"/>
              </a:rPr>
              <a:t>with </a:t>
            </a:r>
            <a:r>
              <a:rPr sz="2400" spc="-10" dirty="0">
                <a:latin typeface="Carlito"/>
                <a:cs typeface="Carlito"/>
              </a:rPr>
              <a:t>that </a:t>
            </a:r>
            <a:r>
              <a:rPr sz="2400" spc="-5" dirty="0">
                <a:latin typeface="Carlito"/>
                <a:cs typeface="Carlito"/>
              </a:rPr>
              <a:t>of other</a:t>
            </a:r>
            <a:r>
              <a:rPr sz="2400" spc="-15" dirty="0">
                <a:latin typeface="Carlito"/>
                <a:cs typeface="Carlito"/>
              </a:rPr>
              <a:t> </a:t>
            </a:r>
            <a:r>
              <a:rPr sz="2400" spc="-10" dirty="0">
                <a:latin typeface="Carlito"/>
                <a:cs typeface="Carlito"/>
              </a:rPr>
              <a:t>jobs</a:t>
            </a:r>
            <a:endParaRPr sz="2400" dirty="0">
              <a:latin typeface="Carlito"/>
              <a:cs typeface="Carlito"/>
            </a:endParaRPr>
          </a:p>
          <a:p>
            <a:pPr marL="355600" marR="552450" indent="-342900">
              <a:lnSpc>
                <a:spcPct val="100000"/>
              </a:lnSpc>
              <a:spcBef>
                <a:spcPts val="575"/>
              </a:spcBef>
              <a:buFont typeface="Wingdings"/>
              <a:buChar char=""/>
              <a:tabLst>
                <a:tab pos="423545" algn="l"/>
                <a:tab pos="424180" algn="l"/>
              </a:tabLst>
            </a:pPr>
            <a:r>
              <a:rPr dirty="0"/>
              <a:t>	</a:t>
            </a:r>
            <a:r>
              <a:rPr sz="2400" spc="-114" dirty="0">
                <a:latin typeface="Carlito"/>
                <a:cs typeface="Carlito"/>
              </a:rPr>
              <a:t>To </a:t>
            </a:r>
            <a:r>
              <a:rPr sz="2400" spc="-5" dirty="0">
                <a:latin typeface="Carlito"/>
                <a:cs typeface="Carlito"/>
              </a:rPr>
              <a:t>determine </a:t>
            </a:r>
            <a:r>
              <a:rPr sz="2400" dirty="0">
                <a:latin typeface="Carlito"/>
                <a:cs typeface="Carlito"/>
              </a:rPr>
              <a:t>the </a:t>
            </a:r>
            <a:r>
              <a:rPr sz="2400" spc="-20" dirty="0">
                <a:latin typeface="Carlito"/>
                <a:cs typeface="Carlito"/>
              </a:rPr>
              <a:t>hierarchy </a:t>
            </a:r>
            <a:r>
              <a:rPr sz="2400" dirty="0">
                <a:latin typeface="Carlito"/>
                <a:cs typeface="Carlito"/>
              </a:rPr>
              <a:t>and </a:t>
            </a:r>
            <a:r>
              <a:rPr sz="2400" spc="-5" dirty="0">
                <a:latin typeface="Carlito"/>
                <a:cs typeface="Carlito"/>
              </a:rPr>
              <a:t>place of </a:t>
            </a:r>
            <a:r>
              <a:rPr sz="2400" spc="-10" dirty="0">
                <a:latin typeface="Carlito"/>
                <a:cs typeface="Carlito"/>
              </a:rPr>
              <a:t>various jobs </a:t>
            </a:r>
            <a:r>
              <a:rPr sz="2400" dirty="0">
                <a:latin typeface="Carlito"/>
                <a:cs typeface="Carlito"/>
              </a:rPr>
              <a:t>in an  </a:t>
            </a:r>
            <a:r>
              <a:rPr sz="2400" spc="-15" dirty="0">
                <a:latin typeface="Carlito"/>
                <a:cs typeface="Carlito"/>
              </a:rPr>
              <a:t>organization.</a:t>
            </a:r>
            <a:endParaRPr sz="2400" dirty="0">
              <a:latin typeface="Carlito"/>
              <a:cs typeface="Carlito"/>
            </a:endParaRPr>
          </a:p>
          <a:p>
            <a:pPr marL="424180" indent="-411480">
              <a:lnSpc>
                <a:spcPct val="100000"/>
              </a:lnSpc>
              <a:spcBef>
                <a:spcPts val="575"/>
              </a:spcBef>
              <a:buFont typeface="Wingdings"/>
              <a:buChar char=""/>
              <a:tabLst>
                <a:tab pos="423545" algn="l"/>
                <a:tab pos="424180" algn="l"/>
              </a:tabLst>
            </a:pPr>
            <a:r>
              <a:rPr sz="2400" spc="-114" dirty="0">
                <a:latin typeface="Carlito"/>
                <a:cs typeface="Carlito"/>
              </a:rPr>
              <a:t>To </a:t>
            </a:r>
            <a:r>
              <a:rPr sz="2400" spc="-5" dirty="0">
                <a:latin typeface="Carlito"/>
                <a:cs typeface="Carlito"/>
              </a:rPr>
              <a:t>determine </a:t>
            </a:r>
            <a:r>
              <a:rPr sz="2400" dirty="0">
                <a:latin typeface="Carlito"/>
                <a:cs typeface="Carlito"/>
              </a:rPr>
              <a:t>the </a:t>
            </a:r>
            <a:r>
              <a:rPr sz="2400" spc="-15" dirty="0">
                <a:latin typeface="Carlito"/>
                <a:cs typeface="Carlito"/>
              </a:rPr>
              <a:t>ranks </a:t>
            </a:r>
            <a:r>
              <a:rPr sz="2400" spc="-10" dirty="0">
                <a:latin typeface="Carlito"/>
                <a:cs typeface="Carlito"/>
              </a:rPr>
              <a:t>or grades of various</a:t>
            </a:r>
            <a:r>
              <a:rPr sz="2400" spc="125" dirty="0">
                <a:latin typeface="Carlito"/>
                <a:cs typeface="Carlito"/>
              </a:rPr>
              <a:t> </a:t>
            </a:r>
            <a:r>
              <a:rPr sz="2400" spc="-10" dirty="0">
                <a:latin typeface="Carlito"/>
                <a:cs typeface="Carlito"/>
              </a:rPr>
              <a:t>jobs</a:t>
            </a:r>
            <a:endParaRPr sz="2400" dirty="0">
              <a:latin typeface="Carlito"/>
              <a:cs typeface="Carlito"/>
            </a:endParaRPr>
          </a:p>
          <a:p>
            <a:pPr marL="355600" marR="541655" indent="-342900">
              <a:lnSpc>
                <a:spcPct val="100000"/>
              </a:lnSpc>
              <a:spcBef>
                <a:spcPts val="580"/>
              </a:spcBef>
              <a:buFont typeface="Wingdings"/>
              <a:buChar char=""/>
              <a:tabLst>
                <a:tab pos="423545" algn="l"/>
                <a:tab pos="424180" algn="l"/>
              </a:tabLst>
            </a:pPr>
            <a:r>
              <a:rPr dirty="0"/>
              <a:t>	</a:t>
            </a:r>
            <a:r>
              <a:rPr sz="2400" spc="-114" dirty="0">
                <a:latin typeface="Carlito"/>
                <a:cs typeface="Carlito"/>
              </a:rPr>
              <a:t>To </a:t>
            </a:r>
            <a:r>
              <a:rPr sz="2400" spc="-10" dirty="0">
                <a:latin typeface="Carlito"/>
                <a:cs typeface="Carlito"/>
              </a:rPr>
              <a:t>ensure </a:t>
            </a:r>
            <a:r>
              <a:rPr sz="2400" spc="-15" dirty="0">
                <a:latin typeface="Carlito"/>
                <a:cs typeface="Carlito"/>
              </a:rPr>
              <a:t>fair </a:t>
            </a:r>
            <a:r>
              <a:rPr sz="2400" dirty="0">
                <a:latin typeface="Carlito"/>
                <a:cs typeface="Carlito"/>
              </a:rPr>
              <a:t>and </a:t>
            </a:r>
            <a:r>
              <a:rPr sz="2400" spc="-5" dirty="0">
                <a:latin typeface="Carlito"/>
                <a:cs typeface="Carlito"/>
              </a:rPr>
              <a:t>equitable </a:t>
            </a:r>
            <a:r>
              <a:rPr sz="2400" spc="-10" dirty="0">
                <a:latin typeface="Carlito"/>
                <a:cs typeface="Carlito"/>
              </a:rPr>
              <a:t>wages </a:t>
            </a:r>
            <a:r>
              <a:rPr sz="2400" spc="-5" dirty="0">
                <a:latin typeface="Carlito"/>
                <a:cs typeface="Carlito"/>
              </a:rPr>
              <a:t>on </a:t>
            </a:r>
            <a:r>
              <a:rPr sz="2400" dirty="0">
                <a:latin typeface="Carlito"/>
                <a:cs typeface="Carlito"/>
              </a:rPr>
              <a:t>the </a:t>
            </a:r>
            <a:r>
              <a:rPr sz="2400" spc="-5" dirty="0">
                <a:latin typeface="Carlito"/>
                <a:cs typeface="Carlito"/>
              </a:rPr>
              <a:t>basis of </a:t>
            </a:r>
            <a:r>
              <a:rPr sz="2400" spc="-10" dirty="0">
                <a:latin typeface="Carlito"/>
                <a:cs typeface="Carlito"/>
              </a:rPr>
              <a:t>relative  worth </a:t>
            </a:r>
            <a:r>
              <a:rPr sz="2400" spc="-5" dirty="0">
                <a:latin typeface="Carlito"/>
                <a:cs typeface="Carlito"/>
              </a:rPr>
              <a:t>or </a:t>
            </a:r>
            <a:r>
              <a:rPr sz="2400" spc="-10" dirty="0">
                <a:latin typeface="Carlito"/>
                <a:cs typeface="Carlito"/>
              </a:rPr>
              <a:t>value </a:t>
            </a:r>
            <a:r>
              <a:rPr sz="2400" spc="-5" dirty="0">
                <a:latin typeface="Carlito"/>
                <a:cs typeface="Carlito"/>
              </a:rPr>
              <a:t>of </a:t>
            </a:r>
            <a:r>
              <a:rPr sz="2400" spc="-10" dirty="0">
                <a:latin typeface="Carlito"/>
                <a:cs typeface="Carlito"/>
              </a:rPr>
              <a:t>jobs.</a:t>
            </a:r>
            <a:endParaRPr sz="2400" dirty="0">
              <a:latin typeface="Carlito"/>
              <a:cs typeface="Carlito"/>
            </a:endParaRPr>
          </a:p>
          <a:p>
            <a:pPr marL="355600" marR="638810" indent="-342900">
              <a:lnSpc>
                <a:spcPct val="100000"/>
              </a:lnSpc>
              <a:spcBef>
                <a:spcPts val="575"/>
              </a:spcBef>
              <a:buFont typeface="Wingdings"/>
              <a:buChar char=""/>
              <a:tabLst>
                <a:tab pos="355600" algn="l"/>
              </a:tabLst>
            </a:pPr>
            <a:r>
              <a:rPr sz="2400" spc="-114" dirty="0">
                <a:latin typeface="Carlito"/>
                <a:cs typeface="Carlito"/>
              </a:rPr>
              <a:t>To </a:t>
            </a:r>
            <a:r>
              <a:rPr sz="2400" spc="-10" dirty="0">
                <a:latin typeface="Carlito"/>
                <a:cs typeface="Carlito"/>
              </a:rPr>
              <a:t>minimize </a:t>
            </a:r>
            <a:r>
              <a:rPr sz="2400" spc="-15" dirty="0">
                <a:latin typeface="Carlito"/>
                <a:cs typeface="Carlito"/>
              </a:rPr>
              <a:t>wage </a:t>
            </a:r>
            <a:r>
              <a:rPr sz="2400" spc="-5" dirty="0">
                <a:latin typeface="Carlito"/>
                <a:cs typeface="Carlito"/>
              </a:rPr>
              <a:t>discrimination based on </a:t>
            </a:r>
            <a:r>
              <a:rPr sz="2400" spc="-15" dirty="0">
                <a:latin typeface="Carlito"/>
                <a:cs typeface="Carlito"/>
              </a:rPr>
              <a:t>sex, </a:t>
            </a:r>
            <a:r>
              <a:rPr sz="2400" spc="-10" dirty="0">
                <a:latin typeface="Carlito"/>
                <a:cs typeface="Carlito"/>
              </a:rPr>
              <a:t>age, </a:t>
            </a:r>
            <a:r>
              <a:rPr sz="2400" spc="-15" dirty="0">
                <a:latin typeface="Carlito"/>
                <a:cs typeface="Carlito"/>
              </a:rPr>
              <a:t>caste,  </a:t>
            </a:r>
            <a:r>
              <a:rPr sz="2400" spc="-5" dirty="0">
                <a:latin typeface="Carlito"/>
                <a:cs typeface="Carlito"/>
              </a:rPr>
              <a:t>region, religion</a:t>
            </a:r>
            <a:r>
              <a:rPr sz="2400" spc="-25" dirty="0">
                <a:latin typeface="Carlito"/>
                <a:cs typeface="Carlito"/>
              </a:rPr>
              <a:t> </a:t>
            </a:r>
            <a:r>
              <a:rPr sz="2400" spc="-10" dirty="0">
                <a:latin typeface="Carlito"/>
                <a:cs typeface="Carlito"/>
              </a:rPr>
              <a:t>etc.</a:t>
            </a:r>
            <a:endParaRPr sz="2400" dirty="0">
              <a:latin typeface="Carlito"/>
              <a:cs typeface="Carlito"/>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400" y="3962399"/>
            <a:ext cx="2895600" cy="2895599"/>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459740" y="280640"/>
            <a:ext cx="7684160" cy="504625"/>
          </a:xfrm>
          <a:prstGeom prst="rect">
            <a:avLst/>
          </a:prstGeom>
        </p:spPr>
        <p:txBody>
          <a:bodyPr vert="horz" wrap="square" lIns="0" tIns="12065" rIns="0" bIns="0" rtlCol="0">
            <a:spAutoFit/>
          </a:bodyPr>
          <a:lstStyle/>
          <a:p>
            <a:pPr marL="12700">
              <a:lnSpc>
                <a:spcPct val="100000"/>
              </a:lnSpc>
              <a:spcBef>
                <a:spcPts val="95"/>
              </a:spcBef>
            </a:pPr>
            <a:r>
              <a:rPr sz="3200" spc="-10" dirty="0">
                <a:uFill>
                  <a:solidFill>
                    <a:srgbClr val="00AF50"/>
                  </a:solidFill>
                </a:uFill>
              </a:rPr>
              <a:t>The role </a:t>
            </a:r>
            <a:r>
              <a:rPr sz="3200" spc="-5" dirty="0">
                <a:uFill>
                  <a:solidFill>
                    <a:srgbClr val="00AF50"/>
                  </a:solidFill>
                </a:uFill>
              </a:rPr>
              <a:t>of job </a:t>
            </a:r>
            <a:r>
              <a:rPr sz="3200" spc="-15" dirty="0">
                <a:uFill>
                  <a:solidFill>
                    <a:srgbClr val="00AF50"/>
                  </a:solidFill>
                </a:uFill>
              </a:rPr>
              <a:t>evaluation </a:t>
            </a:r>
            <a:r>
              <a:rPr sz="3200" spc="-5" dirty="0" smtClean="0">
                <a:uFill>
                  <a:solidFill>
                    <a:srgbClr val="00AF50"/>
                  </a:solidFill>
                </a:uFill>
              </a:rPr>
              <a:t>in</a:t>
            </a:r>
            <a:r>
              <a:rPr lang="en-IN" sz="3200" spc="-5" dirty="0" smtClean="0">
                <a:uFill>
                  <a:solidFill>
                    <a:srgbClr val="00AF50"/>
                  </a:solidFill>
                </a:uFill>
              </a:rPr>
              <a:t> </a:t>
            </a:r>
            <a:r>
              <a:rPr sz="3200" spc="-15" dirty="0" smtClean="0">
                <a:uFill>
                  <a:solidFill>
                    <a:srgbClr val="00AF50"/>
                  </a:solidFill>
                </a:uFill>
              </a:rPr>
              <a:t>organizations</a:t>
            </a:r>
            <a:endParaRPr sz="3200" spc="-15" dirty="0">
              <a:uFill>
                <a:solidFill>
                  <a:srgbClr val="00AF50"/>
                </a:solidFill>
              </a:uFill>
            </a:endParaRPr>
          </a:p>
        </p:txBody>
      </p:sp>
      <p:sp>
        <p:nvSpPr>
          <p:cNvPr id="4" name="object 4"/>
          <p:cNvSpPr txBox="1"/>
          <p:nvPr/>
        </p:nvSpPr>
        <p:spPr>
          <a:xfrm>
            <a:off x="231140" y="927861"/>
            <a:ext cx="8834120" cy="5011628"/>
          </a:xfrm>
          <a:prstGeom prst="rect">
            <a:avLst/>
          </a:prstGeom>
        </p:spPr>
        <p:txBody>
          <a:bodyPr vert="horz" wrap="square" lIns="0" tIns="12700" rIns="0" bIns="0" rtlCol="0">
            <a:spAutoFit/>
          </a:bodyPr>
          <a:lstStyle/>
          <a:p>
            <a:pPr marL="12700" marR="231775" algn="just">
              <a:lnSpc>
                <a:spcPct val="100000"/>
              </a:lnSpc>
              <a:spcBef>
                <a:spcPts val="100"/>
              </a:spcBef>
            </a:pPr>
            <a:r>
              <a:rPr sz="2400" dirty="0">
                <a:latin typeface="Carlito"/>
                <a:cs typeface="Carlito"/>
              </a:rPr>
              <a:t>Job </a:t>
            </a:r>
            <a:r>
              <a:rPr sz="2400" spc="-10" dirty="0">
                <a:latin typeface="Carlito"/>
                <a:cs typeface="Carlito"/>
              </a:rPr>
              <a:t>evaluation </a:t>
            </a:r>
            <a:r>
              <a:rPr sz="2400" dirty="0">
                <a:latin typeface="Carlito"/>
                <a:cs typeface="Carlito"/>
              </a:rPr>
              <a:t>includes </a:t>
            </a:r>
            <a:r>
              <a:rPr sz="2400" spc="-15" dirty="0">
                <a:latin typeface="Carlito"/>
                <a:cs typeface="Carlito"/>
              </a:rPr>
              <a:t>comparative </a:t>
            </a:r>
            <a:r>
              <a:rPr sz="2400" spc="-10" dirty="0">
                <a:latin typeface="Carlito"/>
                <a:cs typeface="Carlito"/>
              </a:rPr>
              <a:t>processes </a:t>
            </a:r>
            <a:r>
              <a:rPr sz="2400" spc="-5" dirty="0">
                <a:latin typeface="Carlito"/>
                <a:cs typeface="Carlito"/>
              </a:rPr>
              <a:t>due </a:t>
            </a:r>
            <a:r>
              <a:rPr sz="2400" spc="-15" dirty="0">
                <a:latin typeface="Carlito"/>
                <a:cs typeface="Carlito"/>
              </a:rPr>
              <a:t>to </a:t>
            </a:r>
            <a:r>
              <a:rPr sz="2400" dirty="0">
                <a:latin typeface="Carlito"/>
                <a:cs typeface="Carlito"/>
              </a:rPr>
              <a:t>the </a:t>
            </a:r>
            <a:r>
              <a:rPr sz="2400" spc="-10" dirty="0">
                <a:latin typeface="Carlito"/>
                <a:cs typeface="Carlito"/>
              </a:rPr>
              <a:t>fact that  </a:t>
            </a:r>
            <a:r>
              <a:rPr sz="2400" dirty="0">
                <a:latin typeface="Carlito"/>
                <a:cs typeface="Carlito"/>
              </a:rPr>
              <a:t>the </a:t>
            </a:r>
            <a:r>
              <a:rPr sz="2400" spc="-10" dirty="0">
                <a:latin typeface="Carlito"/>
                <a:cs typeface="Carlito"/>
              </a:rPr>
              <a:t>relations </a:t>
            </a:r>
            <a:r>
              <a:rPr sz="2400" dirty="0">
                <a:latin typeface="Carlito"/>
                <a:cs typeface="Carlito"/>
              </a:rPr>
              <a:t>and </a:t>
            </a:r>
            <a:r>
              <a:rPr sz="2400" spc="-5" dirty="0">
                <a:latin typeface="Carlito"/>
                <a:cs typeface="Carlito"/>
              </a:rPr>
              <a:t>dependencies </a:t>
            </a:r>
            <a:r>
              <a:rPr sz="2400" dirty="0">
                <a:latin typeface="Carlito"/>
                <a:cs typeface="Carlito"/>
              </a:rPr>
              <a:t>among the </a:t>
            </a:r>
            <a:r>
              <a:rPr sz="2400" spc="-10" dirty="0">
                <a:latin typeface="Carlito"/>
                <a:cs typeface="Carlito"/>
              </a:rPr>
              <a:t>jobs </a:t>
            </a:r>
            <a:r>
              <a:rPr sz="2400" spc="-15" dirty="0">
                <a:latin typeface="Carlito"/>
                <a:cs typeface="Carlito"/>
              </a:rPr>
              <a:t>have to </a:t>
            </a:r>
            <a:r>
              <a:rPr sz="2400" spc="-5" dirty="0">
                <a:latin typeface="Carlito"/>
                <a:cs typeface="Carlito"/>
              </a:rPr>
              <a:t>be  explained. This </a:t>
            </a:r>
            <a:r>
              <a:rPr sz="2400" spc="-10" dirty="0">
                <a:latin typeface="Carlito"/>
                <a:cs typeface="Carlito"/>
              </a:rPr>
              <a:t>consists </a:t>
            </a:r>
            <a:r>
              <a:rPr sz="2400" spc="-5" dirty="0">
                <a:latin typeface="Carlito"/>
                <a:cs typeface="Carlito"/>
              </a:rPr>
              <a:t>of </a:t>
            </a:r>
            <a:r>
              <a:rPr sz="2400" dirty="0">
                <a:latin typeface="Carlito"/>
                <a:cs typeface="Carlito"/>
              </a:rPr>
              <a:t>an </a:t>
            </a:r>
            <a:r>
              <a:rPr sz="2400" spc="-5" dirty="0">
                <a:latin typeface="Carlito"/>
                <a:cs typeface="Carlito"/>
              </a:rPr>
              <a:t>essential </a:t>
            </a:r>
            <a:r>
              <a:rPr sz="2400" spc="-10" dirty="0">
                <a:latin typeface="Carlito"/>
                <a:cs typeface="Carlito"/>
              </a:rPr>
              <a:t>determinant that allows </a:t>
            </a:r>
            <a:r>
              <a:rPr sz="2400" dirty="0">
                <a:latin typeface="Carlito"/>
                <a:cs typeface="Carlito"/>
              </a:rPr>
              <a:t>the  </a:t>
            </a:r>
            <a:r>
              <a:rPr sz="2400" spc="-5" dirty="0">
                <a:latin typeface="Carlito"/>
                <a:cs typeface="Carlito"/>
              </a:rPr>
              <a:t>management </a:t>
            </a:r>
            <a:r>
              <a:rPr sz="2400" spc="-10" dirty="0">
                <a:latin typeface="Carlito"/>
                <a:cs typeface="Carlito"/>
              </a:rPr>
              <a:t>(through the </a:t>
            </a:r>
            <a:r>
              <a:rPr sz="2400" spc="-5" dirty="0">
                <a:latin typeface="Carlito"/>
                <a:cs typeface="Carlito"/>
              </a:rPr>
              <a:t>analysis of </a:t>
            </a:r>
            <a:r>
              <a:rPr sz="2400" dirty="0">
                <a:latin typeface="Carlito"/>
                <a:cs typeface="Carlito"/>
              </a:rPr>
              <a:t>the </a:t>
            </a:r>
            <a:r>
              <a:rPr sz="2400" spc="-20" dirty="0">
                <a:latin typeface="Carlito"/>
                <a:cs typeface="Carlito"/>
              </a:rPr>
              <a:t>targets, </a:t>
            </a:r>
            <a:r>
              <a:rPr sz="2400" spc="-5" dirty="0">
                <a:latin typeface="Carlito"/>
                <a:cs typeface="Carlito"/>
              </a:rPr>
              <a:t>achievements </a:t>
            </a:r>
            <a:r>
              <a:rPr sz="2400" dirty="0">
                <a:latin typeface="Carlito"/>
                <a:cs typeface="Carlito"/>
              </a:rPr>
              <a:t>and  </a:t>
            </a:r>
            <a:r>
              <a:rPr sz="2400" spc="-20" dirty="0">
                <a:latin typeface="Carlito"/>
                <a:cs typeface="Carlito"/>
              </a:rPr>
              <a:t>factors </a:t>
            </a:r>
            <a:r>
              <a:rPr sz="2400" spc="-10" dirty="0">
                <a:latin typeface="Carlito"/>
                <a:cs typeface="Carlito"/>
              </a:rPr>
              <a:t>that </a:t>
            </a:r>
            <a:r>
              <a:rPr sz="2400" spc="-5" dirty="0">
                <a:latin typeface="Carlito"/>
                <a:cs typeface="Carlito"/>
              </a:rPr>
              <a:t>influence </a:t>
            </a:r>
            <a:r>
              <a:rPr sz="2400" spc="-10" dirty="0">
                <a:latin typeface="Carlito"/>
                <a:cs typeface="Carlito"/>
              </a:rPr>
              <a:t>the requirements </a:t>
            </a:r>
            <a:r>
              <a:rPr sz="2400" spc="-5" dirty="0">
                <a:latin typeface="Carlito"/>
                <a:cs typeface="Carlito"/>
              </a:rPr>
              <a:t>of </a:t>
            </a:r>
            <a:r>
              <a:rPr sz="2400" dirty="0">
                <a:latin typeface="Carlito"/>
                <a:cs typeface="Carlito"/>
              </a:rPr>
              <a:t>the </a:t>
            </a:r>
            <a:r>
              <a:rPr sz="2400" spc="-10" dirty="0">
                <a:latin typeface="Carlito"/>
                <a:cs typeface="Carlito"/>
              </a:rPr>
              <a:t>jobs) </a:t>
            </a:r>
            <a:r>
              <a:rPr sz="2400" spc="-15" dirty="0">
                <a:latin typeface="Carlito"/>
                <a:cs typeface="Carlito"/>
              </a:rPr>
              <a:t>to </a:t>
            </a:r>
            <a:r>
              <a:rPr sz="2400" dirty="0">
                <a:latin typeface="Carlito"/>
                <a:cs typeface="Carlito"/>
              </a:rPr>
              <a:t>assign the  </a:t>
            </a:r>
            <a:r>
              <a:rPr sz="2400" spc="-10" dirty="0">
                <a:latin typeface="Carlito"/>
                <a:cs typeface="Carlito"/>
              </a:rPr>
              <a:t>corresponding proportions </a:t>
            </a:r>
            <a:r>
              <a:rPr sz="2400" spc="-5" dirty="0">
                <a:latin typeface="Carlito"/>
                <a:cs typeface="Carlito"/>
              </a:rPr>
              <a:t>of </a:t>
            </a:r>
            <a:r>
              <a:rPr sz="2400" dirty="0">
                <a:latin typeface="Carlito"/>
                <a:cs typeface="Carlito"/>
              </a:rPr>
              <a:t>every </a:t>
            </a:r>
            <a:r>
              <a:rPr sz="2400" spc="-5" dirty="0">
                <a:latin typeface="Carlito"/>
                <a:cs typeface="Carlito"/>
              </a:rPr>
              <a:t>job. </a:t>
            </a:r>
            <a:r>
              <a:rPr sz="2400" spc="-15" dirty="0">
                <a:latin typeface="Carlito"/>
                <a:cs typeface="Carlito"/>
              </a:rPr>
              <a:t>For </a:t>
            </a:r>
            <a:r>
              <a:rPr sz="2400" dirty="0">
                <a:latin typeface="Carlito"/>
                <a:cs typeface="Carlito"/>
              </a:rPr>
              <a:t>this </a:t>
            </a:r>
            <a:r>
              <a:rPr sz="2400" spc="-10" dirty="0">
                <a:latin typeface="Carlito"/>
                <a:cs typeface="Carlito"/>
              </a:rPr>
              <a:t>reason </a:t>
            </a:r>
            <a:r>
              <a:rPr sz="2400" spc="-5" dirty="0">
                <a:latin typeface="Carlito"/>
                <a:cs typeface="Carlito"/>
              </a:rPr>
              <a:t>job  </a:t>
            </a:r>
            <a:r>
              <a:rPr sz="2400" spc="-10" dirty="0">
                <a:latin typeface="Carlito"/>
                <a:cs typeface="Carlito"/>
              </a:rPr>
              <a:t>evaluation </a:t>
            </a:r>
            <a:r>
              <a:rPr sz="2400" spc="-5" dirty="0">
                <a:latin typeface="Carlito"/>
                <a:cs typeface="Carlito"/>
              </a:rPr>
              <a:t>usually includes </a:t>
            </a:r>
            <a:r>
              <a:rPr sz="2400" dirty="0">
                <a:latin typeface="Carlito"/>
                <a:cs typeface="Carlito"/>
              </a:rPr>
              <a:t>an </a:t>
            </a:r>
            <a:r>
              <a:rPr sz="2400" spc="-10" dirty="0">
                <a:latin typeface="Carlito"/>
                <a:cs typeface="Carlito"/>
              </a:rPr>
              <a:t>extensive </a:t>
            </a:r>
            <a:r>
              <a:rPr sz="2400" spc="-5" dirty="0">
                <a:latin typeface="Carlito"/>
                <a:cs typeface="Carlito"/>
              </a:rPr>
              <a:t>analysis of </a:t>
            </a:r>
            <a:r>
              <a:rPr sz="2400" dirty="0">
                <a:latin typeface="Carlito"/>
                <a:cs typeface="Carlito"/>
              </a:rPr>
              <a:t>the </a:t>
            </a:r>
            <a:r>
              <a:rPr sz="2400" spc="-10" dirty="0">
                <a:latin typeface="Carlito"/>
                <a:cs typeface="Carlito"/>
              </a:rPr>
              <a:t>roles, </a:t>
            </a:r>
            <a:r>
              <a:rPr sz="2400" dirty="0">
                <a:latin typeface="Carlito"/>
                <a:cs typeface="Carlito"/>
              </a:rPr>
              <a:t>the  </a:t>
            </a:r>
            <a:r>
              <a:rPr sz="2400" spc="-5" dirty="0">
                <a:latin typeface="Carlito"/>
                <a:cs typeface="Carlito"/>
              </a:rPr>
              <a:t>objectives </a:t>
            </a:r>
            <a:r>
              <a:rPr sz="2400" dirty="0">
                <a:latin typeface="Carlito"/>
                <a:cs typeface="Carlito"/>
              </a:rPr>
              <a:t>and </a:t>
            </a:r>
            <a:r>
              <a:rPr sz="2400" spc="-5" dirty="0">
                <a:latin typeface="Carlito"/>
                <a:cs typeface="Carlito"/>
              </a:rPr>
              <a:t>the </a:t>
            </a:r>
            <a:r>
              <a:rPr sz="2400" spc="-10" dirty="0">
                <a:latin typeface="Carlito"/>
                <a:cs typeface="Carlito"/>
              </a:rPr>
              <a:t>corresponding </a:t>
            </a:r>
            <a:r>
              <a:rPr sz="2400" dirty="0">
                <a:latin typeface="Carlito"/>
                <a:cs typeface="Carlito"/>
              </a:rPr>
              <a:t>actions and </a:t>
            </a:r>
            <a:r>
              <a:rPr sz="2400" spc="-5" dirty="0">
                <a:latin typeface="Carlito"/>
                <a:cs typeface="Carlito"/>
              </a:rPr>
              <a:t>achievements of the  </a:t>
            </a:r>
            <a:r>
              <a:rPr sz="2400" spc="-10" dirty="0">
                <a:latin typeface="Carlito"/>
                <a:cs typeface="Carlito"/>
              </a:rPr>
              <a:t>jobs.</a:t>
            </a:r>
            <a:endParaRPr sz="2400" dirty="0">
              <a:latin typeface="Carlito"/>
              <a:cs typeface="Carlito"/>
            </a:endParaRPr>
          </a:p>
          <a:p>
            <a:pPr marL="2755900" marR="5080" algn="just">
              <a:lnSpc>
                <a:spcPct val="90000"/>
              </a:lnSpc>
              <a:spcBef>
                <a:spcPts val="50"/>
              </a:spcBef>
            </a:pPr>
            <a:r>
              <a:rPr sz="2400" spc="-5" dirty="0">
                <a:latin typeface="Carlito"/>
                <a:cs typeface="Carlito"/>
              </a:rPr>
              <a:t>The </a:t>
            </a:r>
            <a:r>
              <a:rPr sz="2400" spc="-15" dirty="0">
                <a:latin typeface="Carlito"/>
                <a:cs typeface="Carlito"/>
              </a:rPr>
              <a:t>outcome </a:t>
            </a:r>
            <a:r>
              <a:rPr sz="2400" spc="-5" dirty="0">
                <a:latin typeface="Carlito"/>
                <a:cs typeface="Carlito"/>
              </a:rPr>
              <a:t>of </a:t>
            </a:r>
            <a:r>
              <a:rPr sz="2400" dirty="0">
                <a:latin typeface="Carlito"/>
                <a:cs typeface="Carlito"/>
              </a:rPr>
              <a:t>this </a:t>
            </a:r>
            <a:r>
              <a:rPr sz="2400" spc="-5" dirty="0">
                <a:latin typeface="Carlito"/>
                <a:cs typeface="Carlito"/>
              </a:rPr>
              <a:t>analysis </a:t>
            </a:r>
            <a:r>
              <a:rPr sz="2400" dirty="0">
                <a:latin typeface="Carlito"/>
                <a:cs typeface="Carlito"/>
              </a:rPr>
              <a:t>is the </a:t>
            </a:r>
            <a:r>
              <a:rPr sz="2400" spc="-10" dirty="0">
                <a:latin typeface="Carlito"/>
                <a:cs typeface="Carlito"/>
              </a:rPr>
              <a:t>establishment  </a:t>
            </a:r>
            <a:r>
              <a:rPr sz="2400" spc="-5" dirty="0">
                <a:latin typeface="Carlito"/>
                <a:cs typeface="Carlito"/>
              </a:rPr>
              <a:t>of </a:t>
            </a:r>
            <a:r>
              <a:rPr sz="2400" spc="-10" dirty="0">
                <a:latin typeface="Carlito"/>
                <a:cs typeface="Carlito"/>
              </a:rPr>
              <a:t>structures that </a:t>
            </a:r>
            <a:r>
              <a:rPr sz="2400" dirty="0">
                <a:latin typeface="Carlito"/>
                <a:cs typeface="Carlito"/>
              </a:rPr>
              <a:t>aid the </a:t>
            </a:r>
            <a:r>
              <a:rPr sz="2400" spc="-10" dirty="0">
                <a:latin typeface="Carlito"/>
                <a:cs typeface="Carlito"/>
              </a:rPr>
              <a:t>comparison </a:t>
            </a:r>
            <a:r>
              <a:rPr sz="2400" dirty="0">
                <a:latin typeface="Carlito"/>
                <a:cs typeface="Carlito"/>
              </a:rPr>
              <a:t>among the  </a:t>
            </a:r>
            <a:r>
              <a:rPr sz="2400" spc="-10" dirty="0">
                <a:latin typeface="Carlito"/>
                <a:cs typeface="Carlito"/>
              </a:rPr>
              <a:t>jobs </a:t>
            </a:r>
            <a:r>
              <a:rPr sz="2400" dirty="0">
                <a:latin typeface="Carlito"/>
                <a:cs typeface="Carlito"/>
              </a:rPr>
              <a:t>and </a:t>
            </a:r>
            <a:r>
              <a:rPr sz="2400" spc="-5" dirty="0">
                <a:latin typeface="Carlito"/>
                <a:cs typeface="Carlito"/>
              </a:rPr>
              <a:t>support the </a:t>
            </a:r>
            <a:r>
              <a:rPr sz="2400" spc="-15" dirty="0">
                <a:latin typeface="Carlito"/>
                <a:cs typeface="Carlito"/>
              </a:rPr>
              <a:t>evaluators to </a:t>
            </a:r>
            <a:r>
              <a:rPr sz="2400" spc="-25" dirty="0">
                <a:latin typeface="Carlito"/>
                <a:cs typeface="Carlito"/>
              </a:rPr>
              <a:t>make  </a:t>
            </a:r>
            <a:r>
              <a:rPr sz="2400" spc="-15" dirty="0">
                <a:latin typeface="Carlito"/>
                <a:cs typeface="Carlito"/>
              </a:rPr>
              <a:t>consistent </a:t>
            </a:r>
            <a:r>
              <a:rPr sz="2400" dirty="0">
                <a:latin typeface="Carlito"/>
                <a:cs typeface="Carlito"/>
              </a:rPr>
              <a:t>and </a:t>
            </a:r>
            <a:r>
              <a:rPr sz="2400" spc="-10" dirty="0">
                <a:latin typeface="Carlito"/>
                <a:cs typeface="Carlito"/>
              </a:rPr>
              <a:t>reasonable </a:t>
            </a:r>
            <a:r>
              <a:rPr sz="2400" spc="-5" dirty="0">
                <a:latin typeface="Carlito"/>
                <a:cs typeface="Carlito"/>
              </a:rPr>
              <a:t>judgments.</a:t>
            </a:r>
            <a:endParaRPr sz="2400" dirty="0">
              <a:latin typeface="Carlito"/>
              <a:cs typeface="Carlito"/>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720" y="397827"/>
            <a:ext cx="7412694" cy="443070"/>
          </a:xfrm>
          <a:prstGeom prst="rect">
            <a:avLst/>
          </a:prstGeom>
        </p:spPr>
        <p:txBody>
          <a:bodyPr vert="horz" wrap="square" lIns="0" tIns="12065" rIns="0" bIns="0" rtlCol="0">
            <a:spAutoFit/>
          </a:bodyPr>
          <a:lstStyle/>
          <a:p>
            <a:pPr marL="12700">
              <a:lnSpc>
                <a:spcPct val="100000"/>
              </a:lnSpc>
              <a:spcBef>
                <a:spcPts val="95"/>
              </a:spcBef>
            </a:pPr>
            <a:r>
              <a:rPr sz="2800" spc="-10" dirty="0">
                <a:uFill>
                  <a:solidFill>
                    <a:srgbClr val="00AF50"/>
                  </a:solidFill>
                </a:uFill>
              </a:rPr>
              <a:t>Principles </a:t>
            </a:r>
            <a:r>
              <a:rPr sz="2800" spc="-5" dirty="0">
                <a:uFill>
                  <a:solidFill>
                    <a:srgbClr val="00AF50"/>
                  </a:solidFill>
                </a:uFill>
              </a:rPr>
              <a:t>of job </a:t>
            </a:r>
            <a:r>
              <a:rPr sz="2800" spc="-15" dirty="0" smtClean="0">
                <a:uFill>
                  <a:solidFill>
                    <a:srgbClr val="00AF50"/>
                  </a:solidFill>
                </a:uFill>
              </a:rPr>
              <a:t>evaluation</a:t>
            </a:r>
            <a:r>
              <a:rPr sz="2800" spc="100" dirty="0" smtClean="0">
                <a:uFill>
                  <a:solidFill>
                    <a:srgbClr val="00AF50"/>
                  </a:solidFill>
                </a:uFill>
              </a:rPr>
              <a:t> </a:t>
            </a:r>
            <a:r>
              <a:rPr sz="2800" spc="-20" dirty="0" smtClean="0">
                <a:uFill>
                  <a:solidFill>
                    <a:srgbClr val="00AF50"/>
                  </a:solidFill>
                </a:uFill>
              </a:rPr>
              <a:t>program</a:t>
            </a:r>
            <a:endParaRPr sz="2800" spc="-20" dirty="0">
              <a:uFill>
                <a:solidFill>
                  <a:srgbClr val="00AF50"/>
                </a:solidFill>
              </a:uFill>
            </a:endParaRPr>
          </a:p>
        </p:txBody>
      </p:sp>
      <p:sp>
        <p:nvSpPr>
          <p:cNvPr id="3" name="object 3"/>
          <p:cNvSpPr txBox="1"/>
          <p:nvPr/>
        </p:nvSpPr>
        <p:spPr>
          <a:xfrm>
            <a:off x="212242" y="965961"/>
            <a:ext cx="8582025" cy="6091411"/>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5600" algn="l"/>
              </a:tabLst>
            </a:pPr>
            <a:r>
              <a:rPr sz="2400" spc="-15" dirty="0">
                <a:latin typeface="Carlito"/>
                <a:cs typeface="Carlito"/>
              </a:rPr>
              <a:t>Rate </a:t>
            </a:r>
            <a:r>
              <a:rPr sz="2400" dirty="0">
                <a:latin typeface="Carlito"/>
                <a:cs typeface="Carlito"/>
              </a:rPr>
              <a:t>the </a:t>
            </a:r>
            <a:r>
              <a:rPr sz="2400" spc="-5" dirty="0">
                <a:latin typeface="Carlito"/>
                <a:cs typeface="Carlito"/>
              </a:rPr>
              <a:t>job but not </a:t>
            </a:r>
            <a:r>
              <a:rPr sz="2400" dirty="0">
                <a:latin typeface="Carlito"/>
                <a:cs typeface="Carlito"/>
              </a:rPr>
              <a:t>the </a:t>
            </a:r>
            <a:r>
              <a:rPr sz="2400" spc="-5" dirty="0">
                <a:latin typeface="Carlito"/>
                <a:cs typeface="Carlito"/>
              </a:rPr>
              <a:t>employee. </a:t>
            </a:r>
            <a:r>
              <a:rPr sz="2400" spc="-15" dirty="0">
                <a:latin typeface="Carlito"/>
                <a:cs typeface="Carlito"/>
              </a:rPr>
              <a:t>Rate </a:t>
            </a:r>
            <a:r>
              <a:rPr sz="2400" dirty="0">
                <a:latin typeface="Carlito"/>
                <a:cs typeface="Carlito"/>
              </a:rPr>
              <a:t>the </a:t>
            </a:r>
            <a:r>
              <a:rPr sz="2400" spc="-5" dirty="0">
                <a:latin typeface="Carlito"/>
                <a:cs typeface="Carlito"/>
              </a:rPr>
              <a:t>elements on </a:t>
            </a:r>
            <a:r>
              <a:rPr sz="2400" dirty="0">
                <a:latin typeface="Carlito"/>
                <a:cs typeface="Carlito"/>
              </a:rPr>
              <a:t>the </a:t>
            </a:r>
            <a:r>
              <a:rPr sz="2400" spc="-5" dirty="0">
                <a:latin typeface="Carlito"/>
                <a:cs typeface="Carlito"/>
              </a:rPr>
              <a:t>basis  of </a:t>
            </a:r>
            <a:r>
              <a:rPr sz="2400" dirty="0">
                <a:latin typeface="Carlito"/>
                <a:cs typeface="Carlito"/>
              </a:rPr>
              <a:t>the </a:t>
            </a:r>
            <a:r>
              <a:rPr sz="2400" spc="-5" dirty="0">
                <a:latin typeface="Carlito"/>
                <a:cs typeface="Carlito"/>
              </a:rPr>
              <a:t>job</a:t>
            </a:r>
            <a:r>
              <a:rPr sz="2400" spc="-15" dirty="0">
                <a:latin typeface="Carlito"/>
                <a:cs typeface="Carlito"/>
              </a:rPr>
              <a:t> </a:t>
            </a:r>
            <a:r>
              <a:rPr sz="2400" spc="-5" dirty="0">
                <a:latin typeface="Carlito"/>
                <a:cs typeface="Carlito"/>
              </a:rPr>
              <a:t>demands.</a:t>
            </a:r>
            <a:endParaRPr sz="2400" dirty="0">
              <a:latin typeface="Carlito"/>
              <a:cs typeface="Carlito"/>
            </a:endParaRPr>
          </a:p>
          <a:p>
            <a:pPr marL="424180" indent="-411480" algn="just">
              <a:lnSpc>
                <a:spcPct val="100000"/>
              </a:lnSpc>
              <a:spcBef>
                <a:spcPts val="575"/>
              </a:spcBef>
              <a:buFont typeface="Wingdings"/>
              <a:buChar char=""/>
              <a:tabLst>
                <a:tab pos="423545" algn="l"/>
                <a:tab pos="424180" algn="l"/>
              </a:tabLst>
            </a:pPr>
            <a:r>
              <a:rPr sz="2400" spc="-5" dirty="0">
                <a:latin typeface="Carlito"/>
                <a:cs typeface="Carlito"/>
              </a:rPr>
              <a:t>The elements selected </a:t>
            </a:r>
            <a:r>
              <a:rPr sz="2400" spc="-20" dirty="0">
                <a:latin typeface="Carlito"/>
                <a:cs typeface="Carlito"/>
              </a:rPr>
              <a:t>for </a:t>
            </a:r>
            <a:r>
              <a:rPr sz="2400" spc="-15" dirty="0">
                <a:latin typeface="Carlito"/>
                <a:cs typeface="Carlito"/>
              </a:rPr>
              <a:t>rating </a:t>
            </a:r>
            <a:r>
              <a:rPr sz="2400" spc="-5" dirty="0">
                <a:latin typeface="Carlito"/>
                <a:cs typeface="Carlito"/>
              </a:rPr>
              <a:t>should be </a:t>
            </a:r>
            <a:r>
              <a:rPr sz="2400" dirty="0">
                <a:latin typeface="Carlito"/>
                <a:cs typeface="Carlito"/>
              </a:rPr>
              <a:t>easily</a:t>
            </a:r>
            <a:r>
              <a:rPr sz="2400" spc="-5" dirty="0">
                <a:latin typeface="Carlito"/>
                <a:cs typeface="Carlito"/>
              </a:rPr>
              <a:t> </a:t>
            </a:r>
            <a:r>
              <a:rPr sz="2400" spc="-15" dirty="0">
                <a:latin typeface="Carlito"/>
                <a:cs typeface="Carlito"/>
              </a:rPr>
              <a:t>understood.</a:t>
            </a:r>
            <a:endParaRPr sz="2400" dirty="0">
              <a:latin typeface="Carlito"/>
              <a:cs typeface="Carlito"/>
            </a:endParaRPr>
          </a:p>
          <a:p>
            <a:pPr marL="355600" indent="-342900" algn="just">
              <a:lnSpc>
                <a:spcPct val="100000"/>
              </a:lnSpc>
              <a:spcBef>
                <a:spcPts val="580"/>
              </a:spcBef>
              <a:buFont typeface="Wingdings"/>
              <a:buChar char=""/>
              <a:tabLst>
                <a:tab pos="355600" algn="l"/>
              </a:tabLst>
            </a:pPr>
            <a:r>
              <a:rPr sz="2400" spc="-5" dirty="0">
                <a:latin typeface="Carlito"/>
                <a:cs typeface="Carlito"/>
              </a:rPr>
              <a:t>The elements should be </a:t>
            </a:r>
            <a:r>
              <a:rPr sz="2400" spc="-10" dirty="0">
                <a:latin typeface="Carlito"/>
                <a:cs typeface="Carlito"/>
              </a:rPr>
              <a:t>defined </a:t>
            </a:r>
            <a:r>
              <a:rPr sz="2400" dirty="0">
                <a:latin typeface="Carlito"/>
                <a:cs typeface="Carlito"/>
              </a:rPr>
              <a:t>clearly and </a:t>
            </a:r>
            <a:r>
              <a:rPr sz="2400" spc="-10" dirty="0">
                <a:latin typeface="Carlito"/>
                <a:cs typeface="Carlito"/>
              </a:rPr>
              <a:t>properly </a:t>
            </a:r>
            <a:r>
              <a:rPr sz="2400" spc="-5" dirty="0">
                <a:latin typeface="Carlito"/>
                <a:cs typeface="Carlito"/>
              </a:rPr>
              <a:t>selected.</a:t>
            </a:r>
            <a:endParaRPr sz="2400" dirty="0">
              <a:latin typeface="Carlito"/>
              <a:cs typeface="Carlito"/>
            </a:endParaRPr>
          </a:p>
          <a:p>
            <a:pPr marL="355600" marR="443865" indent="-342900" algn="just">
              <a:lnSpc>
                <a:spcPct val="100000"/>
              </a:lnSpc>
              <a:spcBef>
                <a:spcPts val="575"/>
              </a:spcBef>
              <a:buFont typeface="Wingdings"/>
              <a:buChar char=""/>
              <a:tabLst>
                <a:tab pos="423545" algn="l"/>
                <a:tab pos="424180" algn="l"/>
              </a:tabLst>
            </a:pPr>
            <a:r>
              <a:rPr dirty="0"/>
              <a:t>	</a:t>
            </a:r>
            <a:r>
              <a:rPr sz="2400" spc="-10" dirty="0">
                <a:latin typeface="Carlito"/>
                <a:cs typeface="Carlito"/>
              </a:rPr>
              <a:t>Employees </a:t>
            </a:r>
            <a:r>
              <a:rPr sz="2400" spc="-5" dirty="0">
                <a:latin typeface="Carlito"/>
                <a:cs typeface="Carlito"/>
              </a:rPr>
              <a:t>concerned </a:t>
            </a:r>
            <a:r>
              <a:rPr sz="2400" dirty="0">
                <a:latin typeface="Carlito"/>
                <a:cs typeface="Carlito"/>
              </a:rPr>
              <a:t>and the </a:t>
            </a:r>
            <a:r>
              <a:rPr sz="2400" spc="-5" dirty="0">
                <a:latin typeface="Carlito"/>
                <a:cs typeface="Carlito"/>
              </a:rPr>
              <a:t>supervisors should be </a:t>
            </a:r>
            <a:r>
              <a:rPr sz="2400" spc="-10" dirty="0">
                <a:latin typeface="Carlito"/>
                <a:cs typeface="Carlito"/>
              </a:rPr>
              <a:t>educated  </a:t>
            </a:r>
            <a:r>
              <a:rPr sz="2400" dirty="0">
                <a:latin typeface="Carlito"/>
                <a:cs typeface="Carlito"/>
              </a:rPr>
              <a:t>and </a:t>
            </a:r>
            <a:r>
              <a:rPr sz="2400" spc="-10" dirty="0">
                <a:latin typeface="Carlito"/>
                <a:cs typeface="Carlito"/>
              </a:rPr>
              <a:t>convinced </a:t>
            </a:r>
            <a:r>
              <a:rPr sz="2400" dirty="0">
                <a:latin typeface="Carlito"/>
                <a:cs typeface="Carlito"/>
              </a:rPr>
              <a:t>about the</a:t>
            </a:r>
            <a:r>
              <a:rPr sz="2400" spc="-35" dirty="0">
                <a:latin typeface="Carlito"/>
                <a:cs typeface="Carlito"/>
              </a:rPr>
              <a:t> </a:t>
            </a:r>
            <a:r>
              <a:rPr sz="2400" spc="-15" dirty="0">
                <a:latin typeface="Carlito"/>
                <a:cs typeface="Carlito"/>
              </a:rPr>
              <a:t>program</a:t>
            </a:r>
            <a:endParaRPr sz="2400" dirty="0">
              <a:latin typeface="Carlito"/>
              <a:cs typeface="Carlito"/>
            </a:endParaRPr>
          </a:p>
          <a:p>
            <a:pPr marL="492759" indent="-480059" algn="just">
              <a:lnSpc>
                <a:spcPct val="100000"/>
              </a:lnSpc>
              <a:spcBef>
                <a:spcPts val="575"/>
              </a:spcBef>
              <a:buFont typeface="Wingdings"/>
              <a:buChar char=""/>
              <a:tabLst>
                <a:tab pos="492125" algn="l"/>
                <a:tab pos="492759" algn="l"/>
              </a:tabLst>
            </a:pPr>
            <a:r>
              <a:rPr sz="2400" spc="-5" dirty="0">
                <a:latin typeface="Carlito"/>
                <a:cs typeface="Carlito"/>
              </a:rPr>
              <a:t>Supervisors should be </a:t>
            </a:r>
            <a:r>
              <a:rPr sz="2400" spc="-15" dirty="0">
                <a:latin typeface="Carlito"/>
                <a:cs typeface="Carlito"/>
              </a:rPr>
              <a:t>encouraged to </a:t>
            </a:r>
            <a:r>
              <a:rPr sz="2400" spc="-10" dirty="0">
                <a:latin typeface="Carlito"/>
                <a:cs typeface="Carlito"/>
              </a:rPr>
              <a:t>participate </a:t>
            </a:r>
            <a:r>
              <a:rPr sz="2400" dirty="0">
                <a:latin typeface="Carlito"/>
                <a:cs typeface="Carlito"/>
              </a:rPr>
              <a:t>in </a:t>
            </a:r>
            <a:r>
              <a:rPr sz="2400" spc="-15" dirty="0">
                <a:latin typeface="Carlito"/>
                <a:cs typeface="Carlito"/>
              </a:rPr>
              <a:t>rating</a:t>
            </a:r>
            <a:r>
              <a:rPr sz="2400" spc="-35" dirty="0">
                <a:latin typeface="Carlito"/>
                <a:cs typeface="Carlito"/>
              </a:rPr>
              <a:t> </a:t>
            </a:r>
            <a:r>
              <a:rPr sz="2400" dirty="0" smtClean="0">
                <a:latin typeface="Carlito"/>
                <a:cs typeface="Carlito"/>
              </a:rPr>
              <a:t>the</a:t>
            </a:r>
            <a:r>
              <a:rPr lang="en-GB" sz="2400" dirty="0" smtClean="0">
                <a:latin typeface="Carlito"/>
                <a:cs typeface="Carlito"/>
              </a:rPr>
              <a:t> </a:t>
            </a:r>
            <a:r>
              <a:rPr sz="2400" spc="-10" dirty="0" smtClean="0">
                <a:latin typeface="Carlito"/>
                <a:cs typeface="Carlito"/>
              </a:rPr>
              <a:t>jobs</a:t>
            </a:r>
            <a:r>
              <a:rPr sz="2400" spc="-10" dirty="0">
                <a:latin typeface="Carlito"/>
                <a:cs typeface="Carlito"/>
              </a:rPr>
              <a:t>.</a:t>
            </a:r>
            <a:endParaRPr sz="2400" dirty="0">
              <a:latin typeface="Carlito"/>
              <a:cs typeface="Carlito"/>
            </a:endParaRPr>
          </a:p>
          <a:p>
            <a:pPr marL="355600" marR="46355" indent="-342900" algn="just">
              <a:lnSpc>
                <a:spcPct val="100000"/>
              </a:lnSpc>
              <a:spcBef>
                <a:spcPts val="575"/>
              </a:spcBef>
              <a:buFont typeface="Wingdings"/>
              <a:buChar char=""/>
              <a:tabLst>
                <a:tab pos="423545" algn="l"/>
                <a:tab pos="424180" algn="l"/>
              </a:tabLst>
            </a:pPr>
            <a:r>
              <a:rPr dirty="0"/>
              <a:t>	</a:t>
            </a:r>
            <a:r>
              <a:rPr sz="2400" spc="-10" dirty="0">
                <a:latin typeface="Carlito"/>
                <a:cs typeface="Carlito"/>
              </a:rPr>
              <a:t>Secure </a:t>
            </a:r>
            <a:r>
              <a:rPr sz="2400" spc="-5" dirty="0">
                <a:latin typeface="Carlito"/>
                <a:cs typeface="Carlito"/>
              </a:rPr>
              <a:t>employee </a:t>
            </a:r>
            <a:r>
              <a:rPr sz="2400" spc="-15" dirty="0">
                <a:latin typeface="Carlito"/>
                <a:cs typeface="Carlito"/>
              </a:rPr>
              <a:t>cooperation </a:t>
            </a:r>
            <a:r>
              <a:rPr sz="2400" spc="-10" dirty="0">
                <a:latin typeface="Carlito"/>
                <a:cs typeface="Carlito"/>
              </a:rPr>
              <a:t>by encouraging </a:t>
            </a:r>
            <a:r>
              <a:rPr sz="2400" dirty="0">
                <a:latin typeface="Carlito"/>
                <a:cs typeface="Carlito"/>
              </a:rPr>
              <a:t>them </a:t>
            </a:r>
            <a:r>
              <a:rPr sz="2400" spc="-15" dirty="0">
                <a:latin typeface="Carlito"/>
                <a:cs typeface="Carlito"/>
              </a:rPr>
              <a:t>to </a:t>
            </a:r>
            <a:r>
              <a:rPr sz="2400" spc="-10" dirty="0">
                <a:latin typeface="Carlito"/>
                <a:cs typeface="Carlito"/>
              </a:rPr>
              <a:t>participate  </a:t>
            </a:r>
            <a:r>
              <a:rPr sz="2400" dirty="0">
                <a:latin typeface="Carlito"/>
                <a:cs typeface="Carlito"/>
              </a:rPr>
              <a:t>in the </a:t>
            </a:r>
            <a:r>
              <a:rPr sz="2400" spc="-15" dirty="0">
                <a:latin typeface="Carlito"/>
                <a:cs typeface="Carlito"/>
              </a:rPr>
              <a:t>rating</a:t>
            </a:r>
            <a:r>
              <a:rPr sz="2400" spc="-35" dirty="0">
                <a:latin typeface="Carlito"/>
                <a:cs typeface="Carlito"/>
              </a:rPr>
              <a:t> </a:t>
            </a:r>
            <a:r>
              <a:rPr sz="2400" spc="-15" dirty="0">
                <a:latin typeface="Carlito"/>
                <a:cs typeface="Carlito"/>
              </a:rPr>
              <a:t>program.</a:t>
            </a:r>
            <a:endParaRPr sz="2400" dirty="0">
              <a:latin typeface="Carlito"/>
              <a:cs typeface="Carlito"/>
            </a:endParaRPr>
          </a:p>
          <a:p>
            <a:pPr marL="424180" indent="-411480" algn="just">
              <a:lnSpc>
                <a:spcPct val="100000"/>
              </a:lnSpc>
              <a:spcBef>
                <a:spcPts val="575"/>
              </a:spcBef>
              <a:buFont typeface="Wingdings"/>
              <a:buChar char=""/>
              <a:tabLst>
                <a:tab pos="423545" algn="l"/>
                <a:tab pos="424180" algn="l"/>
              </a:tabLst>
            </a:pPr>
            <a:r>
              <a:rPr sz="2400" spc="-5" dirty="0">
                <a:latin typeface="Carlito"/>
                <a:cs typeface="Carlito"/>
              </a:rPr>
              <a:t>Discuss </a:t>
            </a:r>
            <a:r>
              <a:rPr sz="2400" dirty="0">
                <a:latin typeface="Carlito"/>
                <a:cs typeface="Carlito"/>
              </a:rPr>
              <a:t>with the </a:t>
            </a:r>
            <a:r>
              <a:rPr sz="2400" spc="-5" dirty="0">
                <a:latin typeface="Carlito"/>
                <a:cs typeface="Carlito"/>
              </a:rPr>
              <a:t>supervisors </a:t>
            </a:r>
            <a:r>
              <a:rPr sz="2400" dirty="0">
                <a:latin typeface="Carlito"/>
                <a:cs typeface="Carlito"/>
              </a:rPr>
              <a:t>and </a:t>
            </a:r>
            <a:r>
              <a:rPr sz="2400" spc="-5" dirty="0">
                <a:latin typeface="Carlito"/>
                <a:cs typeface="Carlito"/>
              </a:rPr>
              <a:t>employees about </a:t>
            </a:r>
            <a:r>
              <a:rPr sz="2400" spc="-15" dirty="0">
                <a:latin typeface="Carlito"/>
                <a:cs typeface="Carlito"/>
              </a:rPr>
              <a:t>rating </a:t>
            </a:r>
            <a:r>
              <a:rPr sz="2400" spc="-5" dirty="0">
                <a:latin typeface="Carlito"/>
                <a:cs typeface="Carlito"/>
              </a:rPr>
              <a:t>but</a:t>
            </a:r>
            <a:r>
              <a:rPr sz="2400" spc="-75" dirty="0">
                <a:latin typeface="Carlito"/>
                <a:cs typeface="Carlito"/>
              </a:rPr>
              <a:t> </a:t>
            </a:r>
            <a:r>
              <a:rPr sz="2400" spc="-10" dirty="0" smtClean="0">
                <a:latin typeface="Carlito"/>
                <a:cs typeface="Carlito"/>
              </a:rPr>
              <a:t>not</a:t>
            </a:r>
            <a:r>
              <a:rPr lang="en-GB" sz="2400" spc="-10" dirty="0" smtClean="0">
                <a:latin typeface="Carlito"/>
                <a:cs typeface="Carlito"/>
              </a:rPr>
              <a:t> </a:t>
            </a:r>
            <a:r>
              <a:rPr sz="2400" dirty="0" smtClean="0">
                <a:latin typeface="Carlito"/>
                <a:cs typeface="Carlito"/>
              </a:rPr>
              <a:t>about </a:t>
            </a:r>
            <a:r>
              <a:rPr sz="2400" dirty="0">
                <a:latin typeface="Carlito"/>
                <a:cs typeface="Carlito"/>
              </a:rPr>
              <a:t>assigning </a:t>
            </a:r>
            <a:r>
              <a:rPr sz="2400" spc="-5" dirty="0">
                <a:latin typeface="Carlito"/>
                <a:cs typeface="Carlito"/>
              </a:rPr>
              <a:t>money </a:t>
            </a:r>
            <a:r>
              <a:rPr sz="2400" spc="-10" dirty="0">
                <a:latin typeface="Carlito"/>
                <a:cs typeface="Carlito"/>
              </a:rPr>
              <a:t>values </a:t>
            </a:r>
            <a:r>
              <a:rPr sz="2400" spc="-15" dirty="0">
                <a:latin typeface="Carlito"/>
                <a:cs typeface="Carlito"/>
              </a:rPr>
              <a:t>to </a:t>
            </a:r>
            <a:r>
              <a:rPr sz="2400" dirty="0">
                <a:latin typeface="Carlito"/>
                <a:cs typeface="Carlito"/>
              </a:rPr>
              <a:t>the</a:t>
            </a:r>
            <a:r>
              <a:rPr sz="2400" spc="-30" dirty="0">
                <a:latin typeface="Carlito"/>
                <a:cs typeface="Carlito"/>
              </a:rPr>
              <a:t> </a:t>
            </a:r>
            <a:r>
              <a:rPr sz="2400" spc="-10" dirty="0">
                <a:latin typeface="Carlito"/>
                <a:cs typeface="Carlito"/>
              </a:rPr>
              <a:t>points.</a:t>
            </a:r>
            <a:endParaRPr sz="2400" dirty="0">
              <a:latin typeface="Carlito"/>
              <a:cs typeface="Carlito"/>
            </a:endParaRPr>
          </a:p>
          <a:p>
            <a:pPr marL="492759" indent="-480059" algn="just">
              <a:lnSpc>
                <a:spcPct val="100000"/>
              </a:lnSpc>
              <a:spcBef>
                <a:spcPts val="580"/>
              </a:spcBef>
              <a:buFont typeface="Wingdings"/>
              <a:buChar char=""/>
              <a:tabLst>
                <a:tab pos="492125" algn="l"/>
                <a:tab pos="492759" algn="l"/>
              </a:tabLst>
            </a:pPr>
            <a:r>
              <a:rPr sz="2400" spc="-5" dirty="0">
                <a:latin typeface="Carlito"/>
                <a:cs typeface="Carlito"/>
              </a:rPr>
              <a:t>Do not </a:t>
            </a:r>
            <a:r>
              <a:rPr sz="2400" spc="-10" dirty="0">
                <a:latin typeface="Carlito"/>
                <a:cs typeface="Carlito"/>
              </a:rPr>
              <a:t>establish too </a:t>
            </a:r>
            <a:r>
              <a:rPr sz="2400" spc="-15" dirty="0">
                <a:latin typeface="Carlito"/>
                <a:cs typeface="Carlito"/>
              </a:rPr>
              <a:t>many </a:t>
            </a:r>
            <a:r>
              <a:rPr sz="2400" spc="-5" dirty="0">
                <a:latin typeface="Carlito"/>
                <a:cs typeface="Carlito"/>
              </a:rPr>
              <a:t>occupational</a:t>
            </a:r>
            <a:r>
              <a:rPr sz="2400" spc="-55" dirty="0">
                <a:latin typeface="Carlito"/>
                <a:cs typeface="Carlito"/>
              </a:rPr>
              <a:t> </a:t>
            </a:r>
            <a:r>
              <a:rPr sz="2400" spc="-10" dirty="0">
                <a:latin typeface="Carlito"/>
                <a:cs typeface="Carlito"/>
              </a:rPr>
              <a:t>wages.</a:t>
            </a:r>
            <a:endParaRPr sz="2400" dirty="0">
              <a:latin typeface="Carlito"/>
              <a:cs typeface="Carlito"/>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of Job Evaluation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Link </a:t>
            </a:r>
            <a:r>
              <a:rPr lang="en-US" dirty="0"/>
              <a:t>pay with the requirements of the job. </a:t>
            </a:r>
            <a:endParaRPr lang="en-US" dirty="0" smtClean="0"/>
          </a:p>
          <a:p>
            <a:r>
              <a:rPr lang="en-US" dirty="0" smtClean="0"/>
              <a:t> </a:t>
            </a:r>
            <a:r>
              <a:rPr lang="en-US" dirty="0"/>
              <a:t>Systematic procedure for determination the relative worth of jobs. </a:t>
            </a:r>
            <a:endParaRPr lang="en-US" dirty="0" smtClean="0"/>
          </a:p>
          <a:p>
            <a:r>
              <a:rPr lang="en-US" dirty="0" smtClean="0"/>
              <a:t> </a:t>
            </a:r>
            <a:r>
              <a:rPr lang="en-US" dirty="0"/>
              <a:t>Outcome is an equitable wage structure. </a:t>
            </a:r>
            <a:endParaRPr lang="en-US" dirty="0" smtClean="0"/>
          </a:p>
          <a:p>
            <a:pPr>
              <a:buNone/>
            </a:pPr>
            <a:r>
              <a:rPr lang="en-US" dirty="0" smtClean="0"/>
              <a:t> </a:t>
            </a:r>
            <a:r>
              <a:rPr lang="en-US" dirty="0"/>
              <a:t>Employees and unions are also an active part of the Job evaluation process. </a:t>
            </a:r>
            <a:endParaRPr lang="en-US" dirty="0" smtClean="0"/>
          </a:p>
          <a:p>
            <a:pPr>
              <a:buNone/>
            </a:pPr>
            <a:r>
              <a:rPr lang="en-US" dirty="0" smtClean="0"/>
              <a:t> </a:t>
            </a:r>
            <a:r>
              <a:rPr lang="en-US" dirty="0"/>
              <a:t>Helps in evaluation of new jobs. </a:t>
            </a:r>
            <a:endParaRPr lang="en-US" dirty="0" smtClean="0"/>
          </a:p>
          <a:p>
            <a:pPr>
              <a:buNone/>
            </a:pPr>
            <a:r>
              <a:rPr lang="en-US" dirty="0" smtClean="0"/>
              <a:t> </a:t>
            </a:r>
            <a:r>
              <a:rPr lang="en-US" dirty="0"/>
              <a:t>Points out possibilities of more appropriate use of the plant’s </a:t>
            </a:r>
            <a:r>
              <a:rPr lang="en-US" dirty="0" err="1"/>
              <a:t>labour</a:t>
            </a:r>
            <a:r>
              <a:rPr lang="en-US" dirty="0"/>
              <a:t> force.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956" y="203690"/>
            <a:ext cx="7032244" cy="689291"/>
          </a:xfrm>
          <a:prstGeom prst="rect">
            <a:avLst/>
          </a:prstGeom>
        </p:spPr>
        <p:txBody>
          <a:bodyPr vert="horz" wrap="square" lIns="0" tIns="12065" rIns="0" bIns="0" rtlCol="0">
            <a:spAutoFit/>
          </a:bodyPr>
          <a:lstStyle/>
          <a:p>
            <a:pPr marL="12700">
              <a:lnSpc>
                <a:spcPct val="100000"/>
              </a:lnSpc>
              <a:spcBef>
                <a:spcPts val="95"/>
              </a:spcBef>
            </a:pPr>
            <a:r>
              <a:rPr spc="-5" dirty="0">
                <a:uFill>
                  <a:solidFill>
                    <a:srgbClr val="00AF50"/>
                  </a:solidFill>
                </a:uFill>
              </a:rPr>
              <a:t>Job </a:t>
            </a:r>
            <a:r>
              <a:rPr spc="-20" dirty="0">
                <a:uFill>
                  <a:solidFill>
                    <a:srgbClr val="00AF50"/>
                  </a:solidFill>
                </a:uFill>
              </a:rPr>
              <a:t>Evaluation</a:t>
            </a:r>
            <a:r>
              <a:rPr spc="-25" dirty="0">
                <a:uFill>
                  <a:solidFill>
                    <a:srgbClr val="00AF50"/>
                  </a:solidFill>
                </a:uFill>
              </a:rPr>
              <a:t> </a:t>
            </a:r>
            <a:r>
              <a:rPr spc="-10" dirty="0">
                <a:uFill>
                  <a:solidFill>
                    <a:srgbClr val="00AF50"/>
                  </a:solidFill>
                </a:uFill>
              </a:rPr>
              <a:t>Process</a:t>
            </a:r>
          </a:p>
        </p:txBody>
      </p:sp>
      <p:grpSp>
        <p:nvGrpSpPr>
          <p:cNvPr id="3" name="object 3"/>
          <p:cNvGrpSpPr/>
          <p:nvPr/>
        </p:nvGrpSpPr>
        <p:grpSpPr>
          <a:xfrm>
            <a:off x="3011360" y="825944"/>
            <a:ext cx="3270885" cy="559435"/>
            <a:chOff x="3011360" y="825944"/>
            <a:chExt cx="3270885" cy="559435"/>
          </a:xfrm>
        </p:grpSpPr>
        <p:sp>
          <p:nvSpPr>
            <p:cNvPr id="4" name="object 4"/>
            <p:cNvSpPr/>
            <p:nvPr/>
          </p:nvSpPr>
          <p:spPr>
            <a:xfrm>
              <a:off x="3024378" y="838962"/>
              <a:ext cx="3244850" cy="533400"/>
            </a:xfrm>
            <a:custGeom>
              <a:avLst/>
              <a:gdLst/>
              <a:ahLst/>
              <a:cxnLst/>
              <a:rect l="l" t="t" r="r" b="b"/>
              <a:pathLst>
                <a:path w="3244850" h="533400">
                  <a:moveTo>
                    <a:pt x="3155696" y="0"/>
                  </a:moveTo>
                  <a:lnTo>
                    <a:pt x="88900" y="0"/>
                  </a:lnTo>
                  <a:lnTo>
                    <a:pt x="54274" y="6979"/>
                  </a:lnTo>
                  <a:lnTo>
                    <a:pt x="26019" y="26019"/>
                  </a:lnTo>
                  <a:lnTo>
                    <a:pt x="6979" y="54274"/>
                  </a:lnTo>
                  <a:lnTo>
                    <a:pt x="0" y="88900"/>
                  </a:lnTo>
                  <a:lnTo>
                    <a:pt x="0" y="444500"/>
                  </a:lnTo>
                  <a:lnTo>
                    <a:pt x="6979" y="479125"/>
                  </a:lnTo>
                  <a:lnTo>
                    <a:pt x="26019" y="507380"/>
                  </a:lnTo>
                  <a:lnTo>
                    <a:pt x="54274" y="526420"/>
                  </a:lnTo>
                  <a:lnTo>
                    <a:pt x="88900" y="533400"/>
                  </a:lnTo>
                  <a:lnTo>
                    <a:pt x="3155696" y="533400"/>
                  </a:lnTo>
                  <a:lnTo>
                    <a:pt x="3190321" y="526420"/>
                  </a:lnTo>
                  <a:lnTo>
                    <a:pt x="3218576" y="507380"/>
                  </a:lnTo>
                  <a:lnTo>
                    <a:pt x="3237616" y="479125"/>
                  </a:lnTo>
                  <a:lnTo>
                    <a:pt x="3244596" y="444500"/>
                  </a:lnTo>
                  <a:lnTo>
                    <a:pt x="3244596" y="88900"/>
                  </a:lnTo>
                  <a:lnTo>
                    <a:pt x="3237616" y="54274"/>
                  </a:lnTo>
                  <a:lnTo>
                    <a:pt x="3218576" y="26019"/>
                  </a:lnTo>
                  <a:lnTo>
                    <a:pt x="3190321" y="6979"/>
                  </a:lnTo>
                  <a:lnTo>
                    <a:pt x="3155696" y="0"/>
                  </a:lnTo>
                  <a:close/>
                </a:path>
              </a:pathLst>
            </a:custGeom>
            <a:solidFill>
              <a:srgbClr val="4F81BC"/>
            </a:solidFill>
          </p:spPr>
          <p:txBody>
            <a:bodyPr wrap="square" lIns="0" tIns="0" rIns="0" bIns="0" rtlCol="0"/>
            <a:lstStyle/>
            <a:p>
              <a:endParaRPr/>
            </a:p>
          </p:txBody>
        </p:sp>
        <p:sp>
          <p:nvSpPr>
            <p:cNvPr id="5" name="object 5"/>
            <p:cNvSpPr/>
            <p:nvPr/>
          </p:nvSpPr>
          <p:spPr>
            <a:xfrm>
              <a:off x="3024378" y="838962"/>
              <a:ext cx="3244850" cy="533400"/>
            </a:xfrm>
            <a:custGeom>
              <a:avLst/>
              <a:gdLst/>
              <a:ahLst/>
              <a:cxnLst/>
              <a:rect l="l" t="t" r="r" b="b"/>
              <a:pathLst>
                <a:path w="3244850" h="533400">
                  <a:moveTo>
                    <a:pt x="0" y="88900"/>
                  </a:moveTo>
                  <a:lnTo>
                    <a:pt x="6979" y="54274"/>
                  </a:lnTo>
                  <a:lnTo>
                    <a:pt x="26019" y="26019"/>
                  </a:lnTo>
                  <a:lnTo>
                    <a:pt x="54274" y="6979"/>
                  </a:lnTo>
                  <a:lnTo>
                    <a:pt x="88900" y="0"/>
                  </a:lnTo>
                  <a:lnTo>
                    <a:pt x="3155696" y="0"/>
                  </a:lnTo>
                  <a:lnTo>
                    <a:pt x="3190321" y="6979"/>
                  </a:lnTo>
                  <a:lnTo>
                    <a:pt x="3218576" y="26019"/>
                  </a:lnTo>
                  <a:lnTo>
                    <a:pt x="3237616" y="54274"/>
                  </a:lnTo>
                  <a:lnTo>
                    <a:pt x="3244596" y="88900"/>
                  </a:lnTo>
                  <a:lnTo>
                    <a:pt x="3244596" y="444500"/>
                  </a:lnTo>
                  <a:lnTo>
                    <a:pt x="3237616" y="479125"/>
                  </a:lnTo>
                  <a:lnTo>
                    <a:pt x="3218576" y="507380"/>
                  </a:lnTo>
                  <a:lnTo>
                    <a:pt x="3190321" y="526420"/>
                  </a:lnTo>
                  <a:lnTo>
                    <a:pt x="3155696" y="533400"/>
                  </a:lnTo>
                  <a:lnTo>
                    <a:pt x="88900" y="533400"/>
                  </a:lnTo>
                  <a:lnTo>
                    <a:pt x="54274" y="526420"/>
                  </a:lnTo>
                  <a:lnTo>
                    <a:pt x="26019" y="507380"/>
                  </a:lnTo>
                  <a:lnTo>
                    <a:pt x="6979" y="479125"/>
                  </a:lnTo>
                  <a:lnTo>
                    <a:pt x="0" y="444500"/>
                  </a:lnTo>
                  <a:lnTo>
                    <a:pt x="0" y="88900"/>
                  </a:lnTo>
                  <a:close/>
                </a:path>
              </a:pathLst>
            </a:custGeom>
            <a:ln w="25907">
              <a:solidFill>
                <a:srgbClr val="385D89"/>
              </a:solidFill>
            </a:ln>
          </p:spPr>
          <p:txBody>
            <a:bodyPr wrap="square" lIns="0" tIns="0" rIns="0" bIns="0" rtlCol="0"/>
            <a:lstStyle/>
            <a:p>
              <a:endParaRPr/>
            </a:p>
          </p:txBody>
        </p:sp>
      </p:grpSp>
      <p:grpSp>
        <p:nvGrpSpPr>
          <p:cNvPr id="6" name="object 6"/>
          <p:cNvGrpSpPr/>
          <p:nvPr/>
        </p:nvGrpSpPr>
        <p:grpSpPr>
          <a:xfrm>
            <a:off x="3011360" y="1892744"/>
            <a:ext cx="3270885" cy="559435"/>
            <a:chOff x="3011360" y="1892744"/>
            <a:chExt cx="3270885" cy="559435"/>
          </a:xfrm>
        </p:grpSpPr>
        <p:sp>
          <p:nvSpPr>
            <p:cNvPr id="7" name="object 7"/>
            <p:cNvSpPr/>
            <p:nvPr/>
          </p:nvSpPr>
          <p:spPr>
            <a:xfrm>
              <a:off x="3024378" y="1905762"/>
              <a:ext cx="3244850" cy="533400"/>
            </a:xfrm>
            <a:custGeom>
              <a:avLst/>
              <a:gdLst/>
              <a:ahLst/>
              <a:cxnLst/>
              <a:rect l="l" t="t" r="r" b="b"/>
              <a:pathLst>
                <a:path w="3244850" h="533400">
                  <a:moveTo>
                    <a:pt x="3155696" y="0"/>
                  </a:moveTo>
                  <a:lnTo>
                    <a:pt x="88900" y="0"/>
                  </a:lnTo>
                  <a:lnTo>
                    <a:pt x="54274" y="6979"/>
                  </a:lnTo>
                  <a:lnTo>
                    <a:pt x="26019" y="26019"/>
                  </a:lnTo>
                  <a:lnTo>
                    <a:pt x="6979" y="54274"/>
                  </a:lnTo>
                  <a:lnTo>
                    <a:pt x="0" y="88900"/>
                  </a:lnTo>
                  <a:lnTo>
                    <a:pt x="0" y="444500"/>
                  </a:lnTo>
                  <a:lnTo>
                    <a:pt x="6979" y="479125"/>
                  </a:lnTo>
                  <a:lnTo>
                    <a:pt x="26019" y="507380"/>
                  </a:lnTo>
                  <a:lnTo>
                    <a:pt x="54274" y="526420"/>
                  </a:lnTo>
                  <a:lnTo>
                    <a:pt x="88900" y="533400"/>
                  </a:lnTo>
                  <a:lnTo>
                    <a:pt x="3155696" y="533400"/>
                  </a:lnTo>
                  <a:lnTo>
                    <a:pt x="3190321" y="526420"/>
                  </a:lnTo>
                  <a:lnTo>
                    <a:pt x="3218576" y="507380"/>
                  </a:lnTo>
                  <a:lnTo>
                    <a:pt x="3237616" y="479125"/>
                  </a:lnTo>
                  <a:lnTo>
                    <a:pt x="3244596" y="444500"/>
                  </a:lnTo>
                  <a:lnTo>
                    <a:pt x="3244596" y="88900"/>
                  </a:lnTo>
                  <a:lnTo>
                    <a:pt x="3237616" y="54274"/>
                  </a:lnTo>
                  <a:lnTo>
                    <a:pt x="3218576" y="26019"/>
                  </a:lnTo>
                  <a:lnTo>
                    <a:pt x="3190321" y="6979"/>
                  </a:lnTo>
                  <a:lnTo>
                    <a:pt x="3155696" y="0"/>
                  </a:lnTo>
                  <a:close/>
                </a:path>
              </a:pathLst>
            </a:custGeom>
            <a:solidFill>
              <a:srgbClr val="4F81BC"/>
            </a:solidFill>
          </p:spPr>
          <p:txBody>
            <a:bodyPr wrap="square" lIns="0" tIns="0" rIns="0" bIns="0" rtlCol="0"/>
            <a:lstStyle/>
            <a:p>
              <a:endParaRPr/>
            </a:p>
          </p:txBody>
        </p:sp>
        <p:sp>
          <p:nvSpPr>
            <p:cNvPr id="8" name="object 8"/>
            <p:cNvSpPr/>
            <p:nvPr/>
          </p:nvSpPr>
          <p:spPr>
            <a:xfrm>
              <a:off x="3024378" y="1905762"/>
              <a:ext cx="3244850" cy="533400"/>
            </a:xfrm>
            <a:custGeom>
              <a:avLst/>
              <a:gdLst/>
              <a:ahLst/>
              <a:cxnLst/>
              <a:rect l="l" t="t" r="r" b="b"/>
              <a:pathLst>
                <a:path w="3244850" h="533400">
                  <a:moveTo>
                    <a:pt x="0" y="88900"/>
                  </a:moveTo>
                  <a:lnTo>
                    <a:pt x="6979" y="54274"/>
                  </a:lnTo>
                  <a:lnTo>
                    <a:pt x="26019" y="26019"/>
                  </a:lnTo>
                  <a:lnTo>
                    <a:pt x="54274" y="6979"/>
                  </a:lnTo>
                  <a:lnTo>
                    <a:pt x="88900" y="0"/>
                  </a:lnTo>
                  <a:lnTo>
                    <a:pt x="3155696" y="0"/>
                  </a:lnTo>
                  <a:lnTo>
                    <a:pt x="3190321" y="6979"/>
                  </a:lnTo>
                  <a:lnTo>
                    <a:pt x="3218576" y="26019"/>
                  </a:lnTo>
                  <a:lnTo>
                    <a:pt x="3237616" y="54274"/>
                  </a:lnTo>
                  <a:lnTo>
                    <a:pt x="3244596" y="88900"/>
                  </a:lnTo>
                  <a:lnTo>
                    <a:pt x="3244596" y="444500"/>
                  </a:lnTo>
                  <a:lnTo>
                    <a:pt x="3237616" y="479125"/>
                  </a:lnTo>
                  <a:lnTo>
                    <a:pt x="3218576" y="507380"/>
                  </a:lnTo>
                  <a:lnTo>
                    <a:pt x="3190321" y="526420"/>
                  </a:lnTo>
                  <a:lnTo>
                    <a:pt x="3155696" y="533400"/>
                  </a:lnTo>
                  <a:lnTo>
                    <a:pt x="88900" y="533400"/>
                  </a:lnTo>
                  <a:lnTo>
                    <a:pt x="54274" y="526420"/>
                  </a:lnTo>
                  <a:lnTo>
                    <a:pt x="26019" y="507380"/>
                  </a:lnTo>
                  <a:lnTo>
                    <a:pt x="6979" y="479125"/>
                  </a:lnTo>
                  <a:lnTo>
                    <a:pt x="0" y="444500"/>
                  </a:lnTo>
                  <a:lnTo>
                    <a:pt x="0" y="88900"/>
                  </a:lnTo>
                  <a:close/>
                </a:path>
              </a:pathLst>
            </a:custGeom>
            <a:ln w="25907">
              <a:solidFill>
                <a:srgbClr val="385D89"/>
              </a:solidFill>
            </a:ln>
          </p:spPr>
          <p:txBody>
            <a:bodyPr wrap="square" lIns="0" tIns="0" rIns="0" bIns="0" rtlCol="0"/>
            <a:lstStyle/>
            <a:p>
              <a:endParaRPr/>
            </a:p>
          </p:txBody>
        </p:sp>
      </p:grpSp>
      <p:sp>
        <p:nvSpPr>
          <p:cNvPr id="9" name="object 9"/>
          <p:cNvSpPr txBox="1"/>
          <p:nvPr/>
        </p:nvSpPr>
        <p:spPr>
          <a:xfrm>
            <a:off x="3153917" y="923289"/>
            <a:ext cx="2982595" cy="1321516"/>
          </a:xfrm>
          <a:prstGeom prst="rect">
            <a:avLst/>
          </a:prstGeom>
        </p:spPr>
        <p:txBody>
          <a:bodyPr vert="horz" wrap="square" lIns="0" tIns="13335" rIns="0" bIns="0" rtlCol="0">
            <a:spAutoFit/>
          </a:bodyPr>
          <a:lstStyle/>
          <a:p>
            <a:pPr algn="ctr">
              <a:lnSpc>
                <a:spcPct val="100000"/>
              </a:lnSpc>
              <a:spcBef>
                <a:spcPts val="105"/>
              </a:spcBef>
            </a:pPr>
            <a:r>
              <a:rPr sz="1600" b="1" spc="-5" dirty="0">
                <a:solidFill>
                  <a:srgbClr val="FFFFFF"/>
                </a:solidFill>
                <a:latin typeface="Carlito"/>
                <a:cs typeface="Carlito"/>
              </a:rPr>
              <a:t>Objectives </a:t>
            </a:r>
            <a:r>
              <a:rPr sz="1600" b="1" dirty="0">
                <a:solidFill>
                  <a:srgbClr val="FFFFFF"/>
                </a:solidFill>
                <a:latin typeface="Carlito"/>
                <a:cs typeface="Carlito"/>
              </a:rPr>
              <a:t>of </a:t>
            </a:r>
            <a:r>
              <a:rPr sz="1600" b="1" spc="-5" dirty="0">
                <a:solidFill>
                  <a:srgbClr val="FFFFFF"/>
                </a:solidFill>
                <a:latin typeface="Carlito"/>
                <a:cs typeface="Carlito"/>
              </a:rPr>
              <a:t>Job</a:t>
            </a:r>
            <a:r>
              <a:rPr sz="1600" b="1" spc="-45" dirty="0">
                <a:solidFill>
                  <a:srgbClr val="FFFFFF"/>
                </a:solidFill>
                <a:latin typeface="Carlito"/>
                <a:cs typeface="Carlito"/>
              </a:rPr>
              <a:t> </a:t>
            </a:r>
            <a:r>
              <a:rPr sz="1600" b="1" spc="-15" dirty="0">
                <a:solidFill>
                  <a:srgbClr val="FFFFFF"/>
                </a:solidFill>
                <a:latin typeface="Carlito"/>
                <a:cs typeface="Carlito"/>
              </a:rPr>
              <a:t>Evaluation</a:t>
            </a:r>
            <a:endParaRPr sz="1600" dirty="0">
              <a:latin typeface="Carlito"/>
              <a:cs typeface="Carlito"/>
            </a:endParaRPr>
          </a:p>
          <a:p>
            <a:pPr>
              <a:lnSpc>
                <a:spcPct val="100000"/>
              </a:lnSpc>
            </a:pPr>
            <a:endParaRPr sz="2000" dirty="0">
              <a:latin typeface="Carlito"/>
              <a:cs typeface="Carlito"/>
            </a:endParaRPr>
          </a:p>
          <a:p>
            <a:pPr>
              <a:lnSpc>
                <a:spcPct val="100000"/>
              </a:lnSpc>
              <a:spcBef>
                <a:spcPts val="15"/>
              </a:spcBef>
            </a:pPr>
            <a:endParaRPr sz="2900" dirty="0">
              <a:latin typeface="Carlito"/>
              <a:cs typeface="Carlito"/>
            </a:endParaRPr>
          </a:p>
          <a:p>
            <a:pPr algn="ctr">
              <a:lnSpc>
                <a:spcPct val="100000"/>
              </a:lnSpc>
            </a:pPr>
            <a:r>
              <a:rPr sz="2000" b="1" spc="-5" dirty="0">
                <a:solidFill>
                  <a:srgbClr val="FFFFFF"/>
                </a:solidFill>
                <a:latin typeface="Carlito"/>
                <a:cs typeface="Carlito"/>
              </a:rPr>
              <a:t>Job</a:t>
            </a:r>
            <a:r>
              <a:rPr sz="2000" b="1" spc="-15" dirty="0">
                <a:solidFill>
                  <a:srgbClr val="FFFFFF"/>
                </a:solidFill>
                <a:latin typeface="Carlito"/>
                <a:cs typeface="Carlito"/>
              </a:rPr>
              <a:t> </a:t>
            </a:r>
            <a:r>
              <a:rPr sz="2000" b="1" spc="-5" dirty="0">
                <a:solidFill>
                  <a:srgbClr val="FFFFFF"/>
                </a:solidFill>
                <a:latin typeface="Carlito"/>
                <a:cs typeface="Carlito"/>
              </a:rPr>
              <a:t>Analysis</a:t>
            </a:r>
            <a:endParaRPr sz="2000" dirty="0">
              <a:latin typeface="Carlito"/>
              <a:cs typeface="Carlito"/>
            </a:endParaRPr>
          </a:p>
        </p:txBody>
      </p:sp>
      <p:grpSp>
        <p:nvGrpSpPr>
          <p:cNvPr id="10" name="object 10"/>
          <p:cNvGrpSpPr/>
          <p:nvPr/>
        </p:nvGrpSpPr>
        <p:grpSpPr>
          <a:xfrm>
            <a:off x="5931344" y="2779712"/>
            <a:ext cx="3074035" cy="559435"/>
            <a:chOff x="5931344" y="2779712"/>
            <a:chExt cx="3074035" cy="559435"/>
          </a:xfrm>
        </p:grpSpPr>
        <p:sp>
          <p:nvSpPr>
            <p:cNvPr id="11" name="object 11"/>
            <p:cNvSpPr/>
            <p:nvPr/>
          </p:nvSpPr>
          <p:spPr>
            <a:xfrm>
              <a:off x="5944362" y="2792729"/>
              <a:ext cx="3048000" cy="533400"/>
            </a:xfrm>
            <a:custGeom>
              <a:avLst/>
              <a:gdLst/>
              <a:ahLst/>
              <a:cxnLst/>
              <a:rect l="l" t="t" r="r" b="b"/>
              <a:pathLst>
                <a:path w="3048000" h="533400">
                  <a:moveTo>
                    <a:pt x="2959099" y="0"/>
                  </a:moveTo>
                  <a:lnTo>
                    <a:pt x="88900" y="0"/>
                  </a:lnTo>
                  <a:lnTo>
                    <a:pt x="54274" y="6979"/>
                  </a:lnTo>
                  <a:lnTo>
                    <a:pt x="26019" y="26019"/>
                  </a:lnTo>
                  <a:lnTo>
                    <a:pt x="6979" y="54274"/>
                  </a:lnTo>
                  <a:lnTo>
                    <a:pt x="0" y="88900"/>
                  </a:lnTo>
                  <a:lnTo>
                    <a:pt x="0" y="444500"/>
                  </a:lnTo>
                  <a:lnTo>
                    <a:pt x="6979" y="479125"/>
                  </a:lnTo>
                  <a:lnTo>
                    <a:pt x="26019" y="507380"/>
                  </a:lnTo>
                  <a:lnTo>
                    <a:pt x="54274" y="526420"/>
                  </a:lnTo>
                  <a:lnTo>
                    <a:pt x="88900" y="533400"/>
                  </a:lnTo>
                  <a:lnTo>
                    <a:pt x="2959099" y="533400"/>
                  </a:lnTo>
                  <a:lnTo>
                    <a:pt x="2993725" y="526420"/>
                  </a:lnTo>
                  <a:lnTo>
                    <a:pt x="3021980" y="507380"/>
                  </a:lnTo>
                  <a:lnTo>
                    <a:pt x="3041020" y="479125"/>
                  </a:lnTo>
                  <a:lnTo>
                    <a:pt x="3047999" y="444500"/>
                  </a:lnTo>
                  <a:lnTo>
                    <a:pt x="3047999" y="88900"/>
                  </a:lnTo>
                  <a:lnTo>
                    <a:pt x="3041020" y="54274"/>
                  </a:lnTo>
                  <a:lnTo>
                    <a:pt x="3021980" y="26019"/>
                  </a:lnTo>
                  <a:lnTo>
                    <a:pt x="2993725" y="6979"/>
                  </a:lnTo>
                  <a:lnTo>
                    <a:pt x="2959099" y="0"/>
                  </a:lnTo>
                  <a:close/>
                </a:path>
              </a:pathLst>
            </a:custGeom>
            <a:solidFill>
              <a:srgbClr val="4F81BC"/>
            </a:solidFill>
          </p:spPr>
          <p:txBody>
            <a:bodyPr wrap="square" lIns="0" tIns="0" rIns="0" bIns="0" rtlCol="0"/>
            <a:lstStyle/>
            <a:p>
              <a:endParaRPr/>
            </a:p>
          </p:txBody>
        </p:sp>
        <p:sp>
          <p:nvSpPr>
            <p:cNvPr id="12" name="object 12"/>
            <p:cNvSpPr/>
            <p:nvPr/>
          </p:nvSpPr>
          <p:spPr>
            <a:xfrm>
              <a:off x="5944362" y="2792729"/>
              <a:ext cx="3048000" cy="533400"/>
            </a:xfrm>
            <a:custGeom>
              <a:avLst/>
              <a:gdLst/>
              <a:ahLst/>
              <a:cxnLst/>
              <a:rect l="l" t="t" r="r" b="b"/>
              <a:pathLst>
                <a:path w="3048000" h="533400">
                  <a:moveTo>
                    <a:pt x="0" y="88900"/>
                  </a:moveTo>
                  <a:lnTo>
                    <a:pt x="6979" y="54274"/>
                  </a:lnTo>
                  <a:lnTo>
                    <a:pt x="26019" y="26019"/>
                  </a:lnTo>
                  <a:lnTo>
                    <a:pt x="54274" y="6979"/>
                  </a:lnTo>
                  <a:lnTo>
                    <a:pt x="88900" y="0"/>
                  </a:lnTo>
                  <a:lnTo>
                    <a:pt x="2959099" y="0"/>
                  </a:lnTo>
                  <a:lnTo>
                    <a:pt x="2993725" y="6979"/>
                  </a:lnTo>
                  <a:lnTo>
                    <a:pt x="3021980" y="26019"/>
                  </a:lnTo>
                  <a:lnTo>
                    <a:pt x="3041020" y="54274"/>
                  </a:lnTo>
                  <a:lnTo>
                    <a:pt x="3047999" y="88900"/>
                  </a:lnTo>
                  <a:lnTo>
                    <a:pt x="3047999" y="444500"/>
                  </a:lnTo>
                  <a:lnTo>
                    <a:pt x="3041020" y="479125"/>
                  </a:lnTo>
                  <a:lnTo>
                    <a:pt x="3021980" y="507380"/>
                  </a:lnTo>
                  <a:lnTo>
                    <a:pt x="2993725" y="526420"/>
                  </a:lnTo>
                  <a:lnTo>
                    <a:pt x="2959099" y="533400"/>
                  </a:lnTo>
                  <a:lnTo>
                    <a:pt x="88900" y="533400"/>
                  </a:lnTo>
                  <a:lnTo>
                    <a:pt x="54274" y="526420"/>
                  </a:lnTo>
                  <a:lnTo>
                    <a:pt x="26019" y="507380"/>
                  </a:lnTo>
                  <a:lnTo>
                    <a:pt x="6979" y="479125"/>
                  </a:lnTo>
                  <a:lnTo>
                    <a:pt x="0" y="444500"/>
                  </a:lnTo>
                  <a:lnTo>
                    <a:pt x="0" y="88900"/>
                  </a:lnTo>
                  <a:close/>
                </a:path>
              </a:pathLst>
            </a:custGeom>
            <a:ln w="25908">
              <a:solidFill>
                <a:srgbClr val="385D89"/>
              </a:solidFill>
            </a:ln>
          </p:spPr>
          <p:txBody>
            <a:bodyPr wrap="square" lIns="0" tIns="0" rIns="0" bIns="0" rtlCol="0"/>
            <a:lstStyle/>
            <a:p>
              <a:endParaRPr/>
            </a:p>
          </p:txBody>
        </p:sp>
      </p:grpSp>
      <p:sp>
        <p:nvSpPr>
          <p:cNvPr id="13" name="object 13"/>
          <p:cNvSpPr txBox="1"/>
          <p:nvPr/>
        </p:nvSpPr>
        <p:spPr>
          <a:xfrm>
            <a:off x="6601714" y="2877134"/>
            <a:ext cx="1790700" cy="259686"/>
          </a:xfrm>
          <a:prstGeom prst="rect">
            <a:avLst/>
          </a:prstGeom>
        </p:spPr>
        <p:txBody>
          <a:bodyPr vert="horz" wrap="square" lIns="0" tIns="13335" rIns="0" bIns="0" rtlCol="0">
            <a:spAutoFit/>
          </a:bodyPr>
          <a:lstStyle/>
          <a:p>
            <a:pPr marL="12700">
              <a:lnSpc>
                <a:spcPct val="100000"/>
              </a:lnSpc>
              <a:spcBef>
                <a:spcPts val="105"/>
              </a:spcBef>
            </a:pPr>
            <a:r>
              <a:rPr sz="1600" b="1" spc="-5" dirty="0">
                <a:solidFill>
                  <a:srgbClr val="FFFFFF"/>
                </a:solidFill>
                <a:latin typeface="Carlito"/>
                <a:cs typeface="Carlito"/>
              </a:rPr>
              <a:t>Job</a:t>
            </a:r>
            <a:r>
              <a:rPr sz="1600" b="1" spc="-35" dirty="0">
                <a:solidFill>
                  <a:srgbClr val="FFFFFF"/>
                </a:solidFill>
                <a:latin typeface="Carlito"/>
                <a:cs typeface="Carlito"/>
              </a:rPr>
              <a:t> </a:t>
            </a:r>
            <a:r>
              <a:rPr sz="1600" b="1" spc="-5" dirty="0">
                <a:solidFill>
                  <a:srgbClr val="FFFFFF"/>
                </a:solidFill>
                <a:latin typeface="Carlito"/>
                <a:cs typeface="Carlito"/>
              </a:rPr>
              <a:t>Specification</a:t>
            </a:r>
            <a:endParaRPr sz="1600" dirty="0">
              <a:latin typeface="Carlito"/>
              <a:cs typeface="Carlito"/>
            </a:endParaRPr>
          </a:p>
        </p:txBody>
      </p:sp>
      <p:grpSp>
        <p:nvGrpSpPr>
          <p:cNvPr id="14" name="object 14"/>
          <p:cNvGrpSpPr/>
          <p:nvPr/>
        </p:nvGrpSpPr>
        <p:grpSpPr>
          <a:xfrm>
            <a:off x="2959544" y="4811204"/>
            <a:ext cx="3322954" cy="1450975"/>
            <a:chOff x="2959544" y="4811204"/>
            <a:chExt cx="3322954" cy="1450975"/>
          </a:xfrm>
        </p:grpSpPr>
        <p:sp>
          <p:nvSpPr>
            <p:cNvPr id="15" name="object 15"/>
            <p:cNvSpPr/>
            <p:nvPr/>
          </p:nvSpPr>
          <p:spPr>
            <a:xfrm>
              <a:off x="3024378" y="4824221"/>
              <a:ext cx="3244850" cy="510540"/>
            </a:xfrm>
            <a:custGeom>
              <a:avLst/>
              <a:gdLst/>
              <a:ahLst/>
              <a:cxnLst/>
              <a:rect l="l" t="t" r="r" b="b"/>
              <a:pathLst>
                <a:path w="3244850" h="510539">
                  <a:moveTo>
                    <a:pt x="3159506" y="0"/>
                  </a:moveTo>
                  <a:lnTo>
                    <a:pt x="85090" y="0"/>
                  </a:lnTo>
                  <a:lnTo>
                    <a:pt x="51970" y="6687"/>
                  </a:lnTo>
                  <a:lnTo>
                    <a:pt x="24923" y="24923"/>
                  </a:lnTo>
                  <a:lnTo>
                    <a:pt x="6687" y="51970"/>
                  </a:lnTo>
                  <a:lnTo>
                    <a:pt x="0" y="85089"/>
                  </a:lnTo>
                  <a:lnTo>
                    <a:pt x="0" y="425449"/>
                  </a:lnTo>
                  <a:lnTo>
                    <a:pt x="6687" y="458569"/>
                  </a:lnTo>
                  <a:lnTo>
                    <a:pt x="24923" y="485616"/>
                  </a:lnTo>
                  <a:lnTo>
                    <a:pt x="51970" y="503852"/>
                  </a:lnTo>
                  <a:lnTo>
                    <a:pt x="85090" y="510539"/>
                  </a:lnTo>
                  <a:lnTo>
                    <a:pt x="3159506" y="510539"/>
                  </a:lnTo>
                  <a:lnTo>
                    <a:pt x="3192625" y="503852"/>
                  </a:lnTo>
                  <a:lnTo>
                    <a:pt x="3219672" y="485616"/>
                  </a:lnTo>
                  <a:lnTo>
                    <a:pt x="3237908" y="458569"/>
                  </a:lnTo>
                  <a:lnTo>
                    <a:pt x="3244596" y="425449"/>
                  </a:lnTo>
                  <a:lnTo>
                    <a:pt x="3244596" y="85089"/>
                  </a:lnTo>
                  <a:lnTo>
                    <a:pt x="3237908" y="51970"/>
                  </a:lnTo>
                  <a:lnTo>
                    <a:pt x="3219672" y="24923"/>
                  </a:lnTo>
                  <a:lnTo>
                    <a:pt x="3192625" y="6687"/>
                  </a:lnTo>
                  <a:lnTo>
                    <a:pt x="3159506" y="0"/>
                  </a:lnTo>
                  <a:close/>
                </a:path>
              </a:pathLst>
            </a:custGeom>
            <a:solidFill>
              <a:srgbClr val="4F81BC"/>
            </a:solidFill>
          </p:spPr>
          <p:txBody>
            <a:bodyPr wrap="square" lIns="0" tIns="0" rIns="0" bIns="0" rtlCol="0"/>
            <a:lstStyle/>
            <a:p>
              <a:endParaRPr/>
            </a:p>
          </p:txBody>
        </p:sp>
        <p:sp>
          <p:nvSpPr>
            <p:cNvPr id="16" name="object 16"/>
            <p:cNvSpPr/>
            <p:nvPr/>
          </p:nvSpPr>
          <p:spPr>
            <a:xfrm>
              <a:off x="3024378" y="4824221"/>
              <a:ext cx="3244850" cy="510540"/>
            </a:xfrm>
            <a:custGeom>
              <a:avLst/>
              <a:gdLst/>
              <a:ahLst/>
              <a:cxnLst/>
              <a:rect l="l" t="t" r="r" b="b"/>
              <a:pathLst>
                <a:path w="3244850" h="510539">
                  <a:moveTo>
                    <a:pt x="0" y="85089"/>
                  </a:moveTo>
                  <a:lnTo>
                    <a:pt x="6687" y="51970"/>
                  </a:lnTo>
                  <a:lnTo>
                    <a:pt x="24923" y="24923"/>
                  </a:lnTo>
                  <a:lnTo>
                    <a:pt x="51970" y="6687"/>
                  </a:lnTo>
                  <a:lnTo>
                    <a:pt x="85090" y="0"/>
                  </a:lnTo>
                  <a:lnTo>
                    <a:pt x="3159506" y="0"/>
                  </a:lnTo>
                  <a:lnTo>
                    <a:pt x="3192625" y="6687"/>
                  </a:lnTo>
                  <a:lnTo>
                    <a:pt x="3219672" y="24923"/>
                  </a:lnTo>
                  <a:lnTo>
                    <a:pt x="3237908" y="51970"/>
                  </a:lnTo>
                  <a:lnTo>
                    <a:pt x="3244596" y="85089"/>
                  </a:lnTo>
                  <a:lnTo>
                    <a:pt x="3244596" y="425449"/>
                  </a:lnTo>
                  <a:lnTo>
                    <a:pt x="3237908" y="458569"/>
                  </a:lnTo>
                  <a:lnTo>
                    <a:pt x="3219672" y="485616"/>
                  </a:lnTo>
                  <a:lnTo>
                    <a:pt x="3192625" y="503852"/>
                  </a:lnTo>
                  <a:lnTo>
                    <a:pt x="3159506" y="510539"/>
                  </a:lnTo>
                  <a:lnTo>
                    <a:pt x="85090" y="510539"/>
                  </a:lnTo>
                  <a:lnTo>
                    <a:pt x="51970" y="503852"/>
                  </a:lnTo>
                  <a:lnTo>
                    <a:pt x="24923" y="485616"/>
                  </a:lnTo>
                  <a:lnTo>
                    <a:pt x="6687" y="458569"/>
                  </a:lnTo>
                  <a:lnTo>
                    <a:pt x="0" y="425449"/>
                  </a:lnTo>
                  <a:lnTo>
                    <a:pt x="0" y="85089"/>
                  </a:lnTo>
                  <a:close/>
                </a:path>
              </a:pathLst>
            </a:custGeom>
            <a:ln w="25908">
              <a:solidFill>
                <a:srgbClr val="385D89"/>
              </a:solidFill>
            </a:ln>
          </p:spPr>
          <p:txBody>
            <a:bodyPr wrap="square" lIns="0" tIns="0" rIns="0" bIns="0" rtlCol="0"/>
            <a:lstStyle/>
            <a:p>
              <a:endParaRPr/>
            </a:p>
          </p:txBody>
        </p:sp>
        <p:sp>
          <p:nvSpPr>
            <p:cNvPr id="17" name="object 17"/>
            <p:cNvSpPr/>
            <p:nvPr/>
          </p:nvSpPr>
          <p:spPr>
            <a:xfrm>
              <a:off x="2972562" y="5790437"/>
              <a:ext cx="3244850" cy="459105"/>
            </a:xfrm>
            <a:custGeom>
              <a:avLst/>
              <a:gdLst/>
              <a:ahLst/>
              <a:cxnLst/>
              <a:rect l="l" t="t" r="r" b="b"/>
              <a:pathLst>
                <a:path w="3244850" h="459104">
                  <a:moveTo>
                    <a:pt x="3168141" y="0"/>
                  </a:moveTo>
                  <a:lnTo>
                    <a:pt x="76454" y="0"/>
                  </a:lnTo>
                  <a:lnTo>
                    <a:pt x="46720" y="6007"/>
                  </a:lnTo>
                  <a:lnTo>
                    <a:pt x="22415" y="22391"/>
                  </a:lnTo>
                  <a:lnTo>
                    <a:pt x="6016" y="46693"/>
                  </a:lnTo>
                  <a:lnTo>
                    <a:pt x="0" y="76453"/>
                  </a:lnTo>
                  <a:lnTo>
                    <a:pt x="0" y="382270"/>
                  </a:lnTo>
                  <a:lnTo>
                    <a:pt x="6016" y="412030"/>
                  </a:lnTo>
                  <a:lnTo>
                    <a:pt x="22415" y="436332"/>
                  </a:lnTo>
                  <a:lnTo>
                    <a:pt x="46720" y="452716"/>
                  </a:lnTo>
                  <a:lnTo>
                    <a:pt x="76454" y="458724"/>
                  </a:lnTo>
                  <a:lnTo>
                    <a:pt x="3168141" y="458724"/>
                  </a:lnTo>
                  <a:lnTo>
                    <a:pt x="3197875" y="452716"/>
                  </a:lnTo>
                  <a:lnTo>
                    <a:pt x="3222180" y="436332"/>
                  </a:lnTo>
                  <a:lnTo>
                    <a:pt x="3238579" y="412030"/>
                  </a:lnTo>
                  <a:lnTo>
                    <a:pt x="3244596" y="382270"/>
                  </a:lnTo>
                  <a:lnTo>
                    <a:pt x="3244596" y="76453"/>
                  </a:lnTo>
                  <a:lnTo>
                    <a:pt x="3238579" y="46693"/>
                  </a:lnTo>
                  <a:lnTo>
                    <a:pt x="3222180" y="22391"/>
                  </a:lnTo>
                  <a:lnTo>
                    <a:pt x="3197875" y="6007"/>
                  </a:lnTo>
                  <a:lnTo>
                    <a:pt x="3168141" y="0"/>
                  </a:lnTo>
                  <a:close/>
                </a:path>
              </a:pathLst>
            </a:custGeom>
            <a:solidFill>
              <a:srgbClr val="4F81BC"/>
            </a:solidFill>
          </p:spPr>
          <p:txBody>
            <a:bodyPr wrap="square" lIns="0" tIns="0" rIns="0" bIns="0" rtlCol="0"/>
            <a:lstStyle/>
            <a:p>
              <a:endParaRPr/>
            </a:p>
          </p:txBody>
        </p:sp>
        <p:sp>
          <p:nvSpPr>
            <p:cNvPr id="18" name="object 18"/>
            <p:cNvSpPr/>
            <p:nvPr/>
          </p:nvSpPr>
          <p:spPr>
            <a:xfrm>
              <a:off x="2972562" y="5790437"/>
              <a:ext cx="3244850" cy="459105"/>
            </a:xfrm>
            <a:custGeom>
              <a:avLst/>
              <a:gdLst/>
              <a:ahLst/>
              <a:cxnLst/>
              <a:rect l="l" t="t" r="r" b="b"/>
              <a:pathLst>
                <a:path w="3244850" h="459104">
                  <a:moveTo>
                    <a:pt x="0" y="76453"/>
                  </a:moveTo>
                  <a:lnTo>
                    <a:pt x="6016" y="46693"/>
                  </a:lnTo>
                  <a:lnTo>
                    <a:pt x="22415" y="22391"/>
                  </a:lnTo>
                  <a:lnTo>
                    <a:pt x="46720" y="6007"/>
                  </a:lnTo>
                  <a:lnTo>
                    <a:pt x="76454" y="0"/>
                  </a:lnTo>
                  <a:lnTo>
                    <a:pt x="3168141" y="0"/>
                  </a:lnTo>
                  <a:lnTo>
                    <a:pt x="3197875" y="6007"/>
                  </a:lnTo>
                  <a:lnTo>
                    <a:pt x="3222180" y="22391"/>
                  </a:lnTo>
                  <a:lnTo>
                    <a:pt x="3238579" y="46693"/>
                  </a:lnTo>
                  <a:lnTo>
                    <a:pt x="3244596" y="76453"/>
                  </a:lnTo>
                  <a:lnTo>
                    <a:pt x="3244596" y="382270"/>
                  </a:lnTo>
                  <a:lnTo>
                    <a:pt x="3238579" y="412030"/>
                  </a:lnTo>
                  <a:lnTo>
                    <a:pt x="3222180" y="436332"/>
                  </a:lnTo>
                  <a:lnTo>
                    <a:pt x="3197875" y="452716"/>
                  </a:lnTo>
                  <a:lnTo>
                    <a:pt x="3168141" y="458724"/>
                  </a:lnTo>
                  <a:lnTo>
                    <a:pt x="76454" y="458724"/>
                  </a:lnTo>
                  <a:lnTo>
                    <a:pt x="46720" y="452716"/>
                  </a:lnTo>
                  <a:lnTo>
                    <a:pt x="22415" y="436332"/>
                  </a:lnTo>
                  <a:lnTo>
                    <a:pt x="6016" y="412030"/>
                  </a:lnTo>
                  <a:lnTo>
                    <a:pt x="0" y="382270"/>
                  </a:lnTo>
                  <a:lnTo>
                    <a:pt x="0" y="76453"/>
                  </a:lnTo>
                  <a:close/>
                </a:path>
              </a:pathLst>
            </a:custGeom>
            <a:ln w="25907">
              <a:solidFill>
                <a:srgbClr val="385D89"/>
              </a:solidFill>
            </a:ln>
          </p:spPr>
          <p:txBody>
            <a:bodyPr wrap="square" lIns="0" tIns="0" rIns="0" bIns="0" rtlCol="0"/>
            <a:lstStyle/>
            <a:p>
              <a:endParaRPr/>
            </a:p>
          </p:txBody>
        </p:sp>
      </p:grpSp>
      <p:sp>
        <p:nvSpPr>
          <p:cNvPr id="19" name="object 19"/>
          <p:cNvSpPr txBox="1"/>
          <p:nvPr/>
        </p:nvSpPr>
        <p:spPr>
          <a:xfrm>
            <a:off x="3369690" y="4897882"/>
            <a:ext cx="2506345" cy="1136208"/>
          </a:xfrm>
          <a:prstGeom prst="rect">
            <a:avLst/>
          </a:prstGeom>
        </p:spPr>
        <p:txBody>
          <a:bodyPr vert="horz" wrap="square" lIns="0" tIns="12700" rIns="0" bIns="0" rtlCol="0">
            <a:spAutoFit/>
          </a:bodyPr>
          <a:lstStyle/>
          <a:p>
            <a:pPr marL="48895" algn="ctr">
              <a:lnSpc>
                <a:spcPct val="100000"/>
              </a:lnSpc>
              <a:spcBef>
                <a:spcPts val="100"/>
              </a:spcBef>
            </a:pPr>
            <a:r>
              <a:rPr b="1" spc="-25" dirty="0">
                <a:solidFill>
                  <a:srgbClr val="FFFFFF"/>
                </a:solidFill>
                <a:latin typeface="Carlito"/>
                <a:cs typeface="Carlito"/>
              </a:rPr>
              <a:t>Wage</a:t>
            </a:r>
            <a:r>
              <a:rPr b="1" spc="5" dirty="0">
                <a:solidFill>
                  <a:srgbClr val="FFFFFF"/>
                </a:solidFill>
                <a:latin typeface="Carlito"/>
                <a:cs typeface="Carlito"/>
              </a:rPr>
              <a:t> </a:t>
            </a:r>
            <a:r>
              <a:rPr b="1" spc="-5" dirty="0">
                <a:solidFill>
                  <a:srgbClr val="FFFFFF"/>
                </a:solidFill>
                <a:latin typeface="Carlito"/>
                <a:cs typeface="Carlito"/>
              </a:rPr>
              <a:t>Survey</a:t>
            </a:r>
            <a:endParaRPr dirty="0">
              <a:latin typeface="Carlito"/>
              <a:cs typeface="Carlito"/>
            </a:endParaRPr>
          </a:p>
          <a:p>
            <a:pPr>
              <a:lnSpc>
                <a:spcPct val="100000"/>
              </a:lnSpc>
            </a:pPr>
            <a:endParaRPr dirty="0">
              <a:latin typeface="Carlito"/>
              <a:cs typeface="Carlito"/>
            </a:endParaRPr>
          </a:p>
          <a:p>
            <a:pPr>
              <a:lnSpc>
                <a:spcPct val="100000"/>
              </a:lnSpc>
            </a:pPr>
            <a:endParaRPr sz="2100" dirty="0">
              <a:latin typeface="Carlito"/>
              <a:cs typeface="Carlito"/>
            </a:endParaRPr>
          </a:p>
          <a:p>
            <a:pPr algn="ctr">
              <a:lnSpc>
                <a:spcPct val="100000"/>
              </a:lnSpc>
            </a:pPr>
            <a:r>
              <a:rPr sz="1600" b="1" spc="-5" dirty="0">
                <a:solidFill>
                  <a:srgbClr val="FFFFFF"/>
                </a:solidFill>
                <a:latin typeface="Carlito"/>
                <a:cs typeface="Carlito"/>
              </a:rPr>
              <a:t>Employee</a:t>
            </a:r>
            <a:r>
              <a:rPr sz="1600" b="1" spc="-50" dirty="0">
                <a:solidFill>
                  <a:srgbClr val="FFFFFF"/>
                </a:solidFill>
                <a:latin typeface="Carlito"/>
                <a:cs typeface="Carlito"/>
              </a:rPr>
              <a:t> </a:t>
            </a:r>
            <a:r>
              <a:rPr sz="1600" b="1" spc="-5" dirty="0">
                <a:solidFill>
                  <a:srgbClr val="FFFFFF"/>
                </a:solidFill>
                <a:latin typeface="Carlito"/>
                <a:cs typeface="Carlito"/>
              </a:rPr>
              <a:t>Classification</a:t>
            </a:r>
            <a:endParaRPr sz="1600" dirty="0">
              <a:latin typeface="Carlito"/>
              <a:cs typeface="Carlito"/>
            </a:endParaRPr>
          </a:p>
        </p:txBody>
      </p:sp>
      <p:grpSp>
        <p:nvGrpSpPr>
          <p:cNvPr id="20" name="object 20"/>
          <p:cNvGrpSpPr/>
          <p:nvPr/>
        </p:nvGrpSpPr>
        <p:grpSpPr>
          <a:xfrm>
            <a:off x="2991548" y="3721544"/>
            <a:ext cx="3270885" cy="559435"/>
            <a:chOff x="2991548" y="3721544"/>
            <a:chExt cx="3270885" cy="559435"/>
          </a:xfrm>
        </p:grpSpPr>
        <p:sp>
          <p:nvSpPr>
            <p:cNvPr id="21" name="object 21"/>
            <p:cNvSpPr/>
            <p:nvPr/>
          </p:nvSpPr>
          <p:spPr>
            <a:xfrm>
              <a:off x="3004565" y="3734562"/>
              <a:ext cx="3244850" cy="533400"/>
            </a:xfrm>
            <a:custGeom>
              <a:avLst/>
              <a:gdLst/>
              <a:ahLst/>
              <a:cxnLst/>
              <a:rect l="l" t="t" r="r" b="b"/>
              <a:pathLst>
                <a:path w="3244850" h="533400">
                  <a:moveTo>
                    <a:pt x="3155696" y="0"/>
                  </a:moveTo>
                  <a:lnTo>
                    <a:pt x="88900" y="0"/>
                  </a:lnTo>
                  <a:lnTo>
                    <a:pt x="54274" y="6979"/>
                  </a:lnTo>
                  <a:lnTo>
                    <a:pt x="26019" y="26019"/>
                  </a:lnTo>
                  <a:lnTo>
                    <a:pt x="6979" y="54274"/>
                  </a:lnTo>
                  <a:lnTo>
                    <a:pt x="0" y="88900"/>
                  </a:lnTo>
                  <a:lnTo>
                    <a:pt x="0" y="444500"/>
                  </a:lnTo>
                  <a:lnTo>
                    <a:pt x="6979" y="479125"/>
                  </a:lnTo>
                  <a:lnTo>
                    <a:pt x="26019" y="507380"/>
                  </a:lnTo>
                  <a:lnTo>
                    <a:pt x="54274" y="526420"/>
                  </a:lnTo>
                  <a:lnTo>
                    <a:pt x="88900" y="533400"/>
                  </a:lnTo>
                  <a:lnTo>
                    <a:pt x="3155696" y="533400"/>
                  </a:lnTo>
                  <a:lnTo>
                    <a:pt x="3190321" y="526420"/>
                  </a:lnTo>
                  <a:lnTo>
                    <a:pt x="3218576" y="507380"/>
                  </a:lnTo>
                  <a:lnTo>
                    <a:pt x="3237616" y="479125"/>
                  </a:lnTo>
                  <a:lnTo>
                    <a:pt x="3244596" y="444500"/>
                  </a:lnTo>
                  <a:lnTo>
                    <a:pt x="3244596" y="88900"/>
                  </a:lnTo>
                  <a:lnTo>
                    <a:pt x="3237616" y="54274"/>
                  </a:lnTo>
                  <a:lnTo>
                    <a:pt x="3218576" y="26019"/>
                  </a:lnTo>
                  <a:lnTo>
                    <a:pt x="3190321" y="6979"/>
                  </a:lnTo>
                  <a:lnTo>
                    <a:pt x="3155696" y="0"/>
                  </a:lnTo>
                  <a:close/>
                </a:path>
              </a:pathLst>
            </a:custGeom>
            <a:solidFill>
              <a:srgbClr val="4F81BC"/>
            </a:solidFill>
          </p:spPr>
          <p:txBody>
            <a:bodyPr wrap="square" lIns="0" tIns="0" rIns="0" bIns="0" rtlCol="0"/>
            <a:lstStyle/>
            <a:p>
              <a:endParaRPr/>
            </a:p>
          </p:txBody>
        </p:sp>
        <p:sp>
          <p:nvSpPr>
            <p:cNvPr id="22" name="object 22"/>
            <p:cNvSpPr/>
            <p:nvPr/>
          </p:nvSpPr>
          <p:spPr>
            <a:xfrm>
              <a:off x="3004565" y="3734562"/>
              <a:ext cx="3244850" cy="533400"/>
            </a:xfrm>
            <a:custGeom>
              <a:avLst/>
              <a:gdLst/>
              <a:ahLst/>
              <a:cxnLst/>
              <a:rect l="l" t="t" r="r" b="b"/>
              <a:pathLst>
                <a:path w="3244850" h="533400">
                  <a:moveTo>
                    <a:pt x="0" y="88900"/>
                  </a:moveTo>
                  <a:lnTo>
                    <a:pt x="6979" y="54274"/>
                  </a:lnTo>
                  <a:lnTo>
                    <a:pt x="26019" y="26019"/>
                  </a:lnTo>
                  <a:lnTo>
                    <a:pt x="54274" y="6979"/>
                  </a:lnTo>
                  <a:lnTo>
                    <a:pt x="88900" y="0"/>
                  </a:lnTo>
                  <a:lnTo>
                    <a:pt x="3155696" y="0"/>
                  </a:lnTo>
                  <a:lnTo>
                    <a:pt x="3190321" y="6979"/>
                  </a:lnTo>
                  <a:lnTo>
                    <a:pt x="3218576" y="26019"/>
                  </a:lnTo>
                  <a:lnTo>
                    <a:pt x="3237616" y="54274"/>
                  </a:lnTo>
                  <a:lnTo>
                    <a:pt x="3244596" y="88900"/>
                  </a:lnTo>
                  <a:lnTo>
                    <a:pt x="3244596" y="444500"/>
                  </a:lnTo>
                  <a:lnTo>
                    <a:pt x="3237616" y="479125"/>
                  </a:lnTo>
                  <a:lnTo>
                    <a:pt x="3218576" y="507380"/>
                  </a:lnTo>
                  <a:lnTo>
                    <a:pt x="3190321" y="526420"/>
                  </a:lnTo>
                  <a:lnTo>
                    <a:pt x="3155696" y="533400"/>
                  </a:lnTo>
                  <a:lnTo>
                    <a:pt x="88900" y="533400"/>
                  </a:lnTo>
                  <a:lnTo>
                    <a:pt x="54274" y="526420"/>
                  </a:lnTo>
                  <a:lnTo>
                    <a:pt x="26019" y="507380"/>
                  </a:lnTo>
                  <a:lnTo>
                    <a:pt x="6979" y="479125"/>
                  </a:lnTo>
                  <a:lnTo>
                    <a:pt x="0" y="444500"/>
                  </a:lnTo>
                  <a:lnTo>
                    <a:pt x="0" y="88900"/>
                  </a:lnTo>
                  <a:close/>
                </a:path>
              </a:pathLst>
            </a:custGeom>
            <a:ln w="25908">
              <a:solidFill>
                <a:srgbClr val="385D89"/>
              </a:solidFill>
            </a:ln>
          </p:spPr>
          <p:txBody>
            <a:bodyPr wrap="square" lIns="0" tIns="0" rIns="0" bIns="0" rtlCol="0"/>
            <a:lstStyle/>
            <a:p>
              <a:endParaRPr/>
            </a:p>
          </p:txBody>
        </p:sp>
      </p:grpSp>
      <p:sp>
        <p:nvSpPr>
          <p:cNvPr id="23" name="object 23"/>
          <p:cNvSpPr txBox="1"/>
          <p:nvPr/>
        </p:nvSpPr>
        <p:spPr>
          <a:xfrm>
            <a:off x="3405378" y="3819525"/>
            <a:ext cx="2498725" cy="259045"/>
          </a:xfrm>
          <a:prstGeom prst="rect">
            <a:avLst/>
          </a:prstGeom>
        </p:spPr>
        <p:txBody>
          <a:bodyPr vert="horz" wrap="square" lIns="0" tIns="12700" rIns="0" bIns="0" rtlCol="0">
            <a:spAutoFit/>
          </a:bodyPr>
          <a:lstStyle/>
          <a:p>
            <a:pPr marL="12700">
              <a:lnSpc>
                <a:spcPct val="100000"/>
              </a:lnSpc>
              <a:spcBef>
                <a:spcPts val="100"/>
              </a:spcBef>
            </a:pPr>
            <a:r>
              <a:rPr sz="1600" b="1" spc="-5" dirty="0">
                <a:solidFill>
                  <a:srgbClr val="FFFFFF"/>
                </a:solidFill>
                <a:latin typeface="Carlito"/>
                <a:cs typeface="Carlito"/>
              </a:rPr>
              <a:t>Job </a:t>
            </a:r>
            <a:r>
              <a:rPr sz="1600" b="1" spc="-15" dirty="0">
                <a:solidFill>
                  <a:srgbClr val="FFFFFF"/>
                </a:solidFill>
                <a:latin typeface="Carlito"/>
                <a:cs typeface="Carlito"/>
              </a:rPr>
              <a:t>Evaluation</a:t>
            </a:r>
            <a:r>
              <a:rPr sz="1600" b="1" spc="-35" dirty="0">
                <a:solidFill>
                  <a:srgbClr val="FFFFFF"/>
                </a:solidFill>
                <a:latin typeface="Carlito"/>
                <a:cs typeface="Carlito"/>
              </a:rPr>
              <a:t> </a:t>
            </a:r>
            <a:r>
              <a:rPr sz="1600" b="1" spc="-15" dirty="0">
                <a:solidFill>
                  <a:srgbClr val="FFFFFF"/>
                </a:solidFill>
                <a:latin typeface="Carlito"/>
                <a:cs typeface="Carlito"/>
              </a:rPr>
              <a:t>Program</a:t>
            </a:r>
            <a:endParaRPr sz="1600" dirty="0">
              <a:latin typeface="Carlito"/>
              <a:cs typeface="Carlito"/>
            </a:endParaRPr>
          </a:p>
        </p:txBody>
      </p:sp>
      <p:grpSp>
        <p:nvGrpSpPr>
          <p:cNvPr id="24" name="object 24"/>
          <p:cNvGrpSpPr/>
          <p:nvPr/>
        </p:nvGrpSpPr>
        <p:grpSpPr>
          <a:xfrm>
            <a:off x="191960" y="2753804"/>
            <a:ext cx="3175000" cy="559435"/>
            <a:chOff x="191960" y="2753804"/>
            <a:chExt cx="3175000" cy="559435"/>
          </a:xfrm>
        </p:grpSpPr>
        <p:sp>
          <p:nvSpPr>
            <p:cNvPr id="25" name="object 25"/>
            <p:cNvSpPr/>
            <p:nvPr/>
          </p:nvSpPr>
          <p:spPr>
            <a:xfrm>
              <a:off x="204977" y="2766822"/>
              <a:ext cx="3148965" cy="533400"/>
            </a:xfrm>
            <a:custGeom>
              <a:avLst/>
              <a:gdLst/>
              <a:ahLst/>
              <a:cxnLst/>
              <a:rect l="l" t="t" r="r" b="b"/>
              <a:pathLst>
                <a:path w="3148965" h="533400">
                  <a:moveTo>
                    <a:pt x="3059684" y="0"/>
                  </a:moveTo>
                  <a:lnTo>
                    <a:pt x="88900" y="0"/>
                  </a:lnTo>
                  <a:lnTo>
                    <a:pt x="54296" y="6979"/>
                  </a:lnTo>
                  <a:lnTo>
                    <a:pt x="26038" y="26019"/>
                  </a:lnTo>
                  <a:lnTo>
                    <a:pt x="6986" y="54274"/>
                  </a:lnTo>
                  <a:lnTo>
                    <a:pt x="0" y="88900"/>
                  </a:lnTo>
                  <a:lnTo>
                    <a:pt x="0" y="444500"/>
                  </a:lnTo>
                  <a:lnTo>
                    <a:pt x="6986" y="479125"/>
                  </a:lnTo>
                  <a:lnTo>
                    <a:pt x="26038" y="507380"/>
                  </a:lnTo>
                  <a:lnTo>
                    <a:pt x="54296" y="526420"/>
                  </a:lnTo>
                  <a:lnTo>
                    <a:pt x="88900" y="533400"/>
                  </a:lnTo>
                  <a:lnTo>
                    <a:pt x="3059684" y="533400"/>
                  </a:lnTo>
                  <a:lnTo>
                    <a:pt x="3094309" y="526420"/>
                  </a:lnTo>
                  <a:lnTo>
                    <a:pt x="3122564" y="507380"/>
                  </a:lnTo>
                  <a:lnTo>
                    <a:pt x="3141604" y="479125"/>
                  </a:lnTo>
                  <a:lnTo>
                    <a:pt x="3148584" y="444500"/>
                  </a:lnTo>
                  <a:lnTo>
                    <a:pt x="3148584" y="88900"/>
                  </a:lnTo>
                  <a:lnTo>
                    <a:pt x="3141604" y="54274"/>
                  </a:lnTo>
                  <a:lnTo>
                    <a:pt x="3122564" y="26019"/>
                  </a:lnTo>
                  <a:lnTo>
                    <a:pt x="3094309" y="6979"/>
                  </a:lnTo>
                  <a:lnTo>
                    <a:pt x="3059684" y="0"/>
                  </a:lnTo>
                  <a:close/>
                </a:path>
              </a:pathLst>
            </a:custGeom>
            <a:solidFill>
              <a:srgbClr val="4F81BC"/>
            </a:solidFill>
          </p:spPr>
          <p:txBody>
            <a:bodyPr wrap="square" lIns="0" tIns="0" rIns="0" bIns="0" rtlCol="0"/>
            <a:lstStyle/>
            <a:p>
              <a:endParaRPr/>
            </a:p>
          </p:txBody>
        </p:sp>
        <p:sp>
          <p:nvSpPr>
            <p:cNvPr id="26" name="object 26"/>
            <p:cNvSpPr/>
            <p:nvPr/>
          </p:nvSpPr>
          <p:spPr>
            <a:xfrm>
              <a:off x="204977" y="2766822"/>
              <a:ext cx="3148965" cy="533400"/>
            </a:xfrm>
            <a:custGeom>
              <a:avLst/>
              <a:gdLst/>
              <a:ahLst/>
              <a:cxnLst/>
              <a:rect l="l" t="t" r="r" b="b"/>
              <a:pathLst>
                <a:path w="3148965" h="533400">
                  <a:moveTo>
                    <a:pt x="0" y="88900"/>
                  </a:moveTo>
                  <a:lnTo>
                    <a:pt x="6986" y="54274"/>
                  </a:lnTo>
                  <a:lnTo>
                    <a:pt x="26038" y="26019"/>
                  </a:lnTo>
                  <a:lnTo>
                    <a:pt x="54296" y="6979"/>
                  </a:lnTo>
                  <a:lnTo>
                    <a:pt x="88900" y="0"/>
                  </a:lnTo>
                  <a:lnTo>
                    <a:pt x="3059684" y="0"/>
                  </a:lnTo>
                  <a:lnTo>
                    <a:pt x="3094309" y="6979"/>
                  </a:lnTo>
                  <a:lnTo>
                    <a:pt x="3122564" y="26019"/>
                  </a:lnTo>
                  <a:lnTo>
                    <a:pt x="3141604" y="54274"/>
                  </a:lnTo>
                  <a:lnTo>
                    <a:pt x="3148584" y="88900"/>
                  </a:lnTo>
                  <a:lnTo>
                    <a:pt x="3148584" y="444500"/>
                  </a:lnTo>
                  <a:lnTo>
                    <a:pt x="3141604" y="479125"/>
                  </a:lnTo>
                  <a:lnTo>
                    <a:pt x="3122564" y="507380"/>
                  </a:lnTo>
                  <a:lnTo>
                    <a:pt x="3094309" y="526420"/>
                  </a:lnTo>
                  <a:lnTo>
                    <a:pt x="3059684" y="533400"/>
                  </a:lnTo>
                  <a:lnTo>
                    <a:pt x="88900" y="533400"/>
                  </a:lnTo>
                  <a:lnTo>
                    <a:pt x="54296" y="526420"/>
                  </a:lnTo>
                  <a:lnTo>
                    <a:pt x="26038" y="507380"/>
                  </a:lnTo>
                  <a:lnTo>
                    <a:pt x="6986" y="479125"/>
                  </a:lnTo>
                  <a:lnTo>
                    <a:pt x="0" y="444500"/>
                  </a:lnTo>
                  <a:lnTo>
                    <a:pt x="0" y="88900"/>
                  </a:lnTo>
                  <a:close/>
                </a:path>
              </a:pathLst>
            </a:custGeom>
            <a:ln w="25908">
              <a:solidFill>
                <a:srgbClr val="385D89"/>
              </a:solidFill>
            </a:ln>
          </p:spPr>
          <p:txBody>
            <a:bodyPr wrap="square" lIns="0" tIns="0" rIns="0" bIns="0" rtlCol="0"/>
            <a:lstStyle/>
            <a:p>
              <a:endParaRPr/>
            </a:p>
          </p:txBody>
        </p:sp>
      </p:grpSp>
      <p:sp>
        <p:nvSpPr>
          <p:cNvPr id="27" name="object 27"/>
          <p:cNvSpPr txBox="1"/>
          <p:nvPr/>
        </p:nvSpPr>
        <p:spPr>
          <a:xfrm>
            <a:off x="981557" y="2852166"/>
            <a:ext cx="1649095" cy="259686"/>
          </a:xfrm>
          <a:prstGeom prst="rect">
            <a:avLst/>
          </a:prstGeom>
        </p:spPr>
        <p:txBody>
          <a:bodyPr vert="horz" wrap="square" lIns="0" tIns="13335" rIns="0" bIns="0" rtlCol="0">
            <a:spAutoFit/>
          </a:bodyPr>
          <a:lstStyle/>
          <a:p>
            <a:pPr marL="12700">
              <a:lnSpc>
                <a:spcPct val="100000"/>
              </a:lnSpc>
              <a:spcBef>
                <a:spcPts val="105"/>
              </a:spcBef>
            </a:pPr>
            <a:r>
              <a:rPr sz="1600" b="1" spc="-5" dirty="0">
                <a:solidFill>
                  <a:srgbClr val="FFFFFF"/>
                </a:solidFill>
                <a:latin typeface="Carlito"/>
                <a:cs typeface="Carlito"/>
              </a:rPr>
              <a:t>Job</a:t>
            </a:r>
            <a:r>
              <a:rPr sz="1600" b="1" spc="-55" dirty="0">
                <a:solidFill>
                  <a:srgbClr val="FFFFFF"/>
                </a:solidFill>
                <a:latin typeface="Carlito"/>
                <a:cs typeface="Carlito"/>
              </a:rPr>
              <a:t> </a:t>
            </a:r>
            <a:r>
              <a:rPr sz="1600" b="1" spc="-5" dirty="0">
                <a:solidFill>
                  <a:srgbClr val="FFFFFF"/>
                </a:solidFill>
                <a:latin typeface="Carlito"/>
                <a:cs typeface="Carlito"/>
              </a:rPr>
              <a:t>Description</a:t>
            </a:r>
            <a:endParaRPr sz="1600" dirty="0">
              <a:latin typeface="Carlito"/>
              <a:cs typeface="Carlito"/>
            </a:endParaRPr>
          </a:p>
        </p:txBody>
      </p:sp>
      <p:grpSp>
        <p:nvGrpSpPr>
          <p:cNvPr id="28" name="object 28"/>
          <p:cNvGrpSpPr/>
          <p:nvPr/>
        </p:nvGrpSpPr>
        <p:grpSpPr>
          <a:xfrm>
            <a:off x="4178808" y="1359408"/>
            <a:ext cx="711835" cy="483234"/>
            <a:chOff x="4178808" y="1359408"/>
            <a:chExt cx="711835" cy="483234"/>
          </a:xfrm>
        </p:grpSpPr>
        <p:sp>
          <p:nvSpPr>
            <p:cNvPr id="29" name="object 29"/>
            <p:cNvSpPr/>
            <p:nvPr/>
          </p:nvSpPr>
          <p:spPr>
            <a:xfrm>
              <a:off x="4191762" y="1372362"/>
              <a:ext cx="685800" cy="457200"/>
            </a:xfrm>
            <a:custGeom>
              <a:avLst/>
              <a:gdLst/>
              <a:ahLst/>
              <a:cxnLst/>
              <a:rect l="l" t="t" r="r" b="b"/>
              <a:pathLst>
                <a:path w="685800" h="457200">
                  <a:moveTo>
                    <a:pt x="514350" y="0"/>
                  </a:moveTo>
                  <a:lnTo>
                    <a:pt x="171450" y="0"/>
                  </a:lnTo>
                  <a:lnTo>
                    <a:pt x="171450" y="228600"/>
                  </a:lnTo>
                  <a:lnTo>
                    <a:pt x="0" y="228600"/>
                  </a:lnTo>
                  <a:lnTo>
                    <a:pt x="342900" y="457200"/>
                  </a:lnTo>
                  <a:lnTo>
                    <a:pt x="685800" y="228600"/>
                  </a:lnTo>
                  <a:lnTo>
                    <a:pt x="514350" y="228600"/>
                  </a:lnTo>
                  <a:lnTo>
                    <a:pt x="514350" y="0"/>
                  </a:lnTo>
                  <a:close/>
                </a:path>
              </a:pathLst>
            </a:custGeom>
            <a:solidFill>
              <a:srgbClr val="4F81BC"/>
            </a:solidFill>
          </p:spPr>
          <p:txBody>
            <a:bodyPr wrap="square" lIns="0" tIns="0" rIns="0" bIns="0" rtlCol="0"/>
            <a:lstStyle/>
            <a:p>
              <a:endParaRPr/>
            </a:p>
          </p:txBody>
        </p:sp>
        <p:sp>
          <p:nvSpPr>
            <p:cNvPr id="30" name="object 30"/>
            <p:cNvSpPr/>
            <p:nvPr/>
          </p:nvSpPr>
          <p:spPr>
            <a:xfrm>
              <a:off x="4191762" y="1372362"/>
              <a:ext cx="685800" cy="457200"/>
            </a:xfrm>
            <a:custGeom>
              <a:avLst/>
              <a:gdLst/>
              <a:ahLst/>
              <a:cxnLst/>
              <a:rect l="l" t="t" r="r" b="b"/>
              <a:pathLst>
                <a:path w="685800" h="457200">
                  <a:moveTo>
                    <a:pt x="0" y="228600"/>
                  </a:moveTo>
                  <a:lnTo>
                    <a:pt x="171450" y="228600"/>
                  </a:lnTo>
                  <a:lnTo>
                    <a:pt x="171450" y="0"/>
                  </a:lnTo>
                  <a:lnTo>
                    <a:pt x="514350" y="0"/>
                  </a:lnTo>
                  <a:lnTo>
                    <a:pt x="514350" y="228600"/>
                  </a:lnTo>
                  <a:lnTo>
                    <a:pt x="685800" y="228600"/>
                  </a:lnTo>
                  <a:lnTo>
                    <a:pt x="342900" y="457200"/>
                  </a:lnTo>
                  <a:lnTo>
                    <a:pt x="0" y="228600"/>
                  </a:lnTo>
                  <a:close/>
                </a:path>
              </a:pathLst>
            </a:custGeom>
            <a:ln w="25908">
              <a:solidFill>
                <a:srgbClr val="385D89"/>
              </a:solidFill>
            </a:ln>
          </p:spPr>
          <p:txBody>
            <a:bodyPr wrap="square" lIns="0" tIns="0" rIns="0" bIns="0" rtlCol="0"/>
            <a:lstStyle/>
            <a:p>
              <a:endParaRPr/>
            </a:p>
          </p:txBody>
        </p:sp>
      </p:grpSp>
      <p:grpSp>
        <p:nvGrpSpPr>
          <p:cNvPr id="31" name="object 31"/>
          <p:cNvGrpSpPr/>
          <p:nvPr/>
        </p:nvGrpSpPr>
        <p:grpSpPr>
          <a:xfrm>
            <a:off x="4223003" y="5321808"/>
            <a:ext cx="711835" cy="483234"/>
            <a:chOff x="4223003" y="5321808"/>
            <a:chExt cx="711835" cy="483234"/>
          </a:xfrm>
        </p:grpSpPr>
        <p:sp>
          <p:nvSpPr>
            <p:cNvPr id="32" name="object 32"/>
            <p:cNvSpPr/>
            <p:nvPr/>
          </p:nvSpPr>
          <p:spPr>
            <a:xfrm>
              <a:off x="4235957" y="5334762"/>
              <a:ext cx="685800" cy="457200"/>
            </a:xfrm>
            <a:custGeom>
              <a:avLst/>
              <a:gdLst/>
              <a:ahLst/>
              <a:cxnLst/>
              <a:rect l="l" t="t" r="r" b="b"/>
              <a:pathLst>
                <a:path w="685800" h="457200">
                  <a:moveTo>
                    <a:pt x="514350" y="0"/>
                  </a:moveTo>
                  <a:lnTo>
                    <a:pt x="171450" y="0"/>
                  </a:lnTo>
                  <a:lnTo>
                    <a:pt x="171450" y="228600"/>
                  </a:lnTo>
                  <a:lnTo>
                    <a:pt x="0" y="228600"/>
                  </a:lnTo>
                  <a:lnTo>
                    <a:pt x="342900" y="457200"/>
                  </a:lnTo>
                  <a:lnTo>
                    <a:pt x="685800" y="228600"/>
                  </a:lnTo>
                  <a:lnTo>
                    <a:pt x="514350" y="228600"/>
                  </a:lnTo>
                  <a:lnTo>
                    <a:pt x="514350" y="0"/>
                  </a:lnTo>
                  <a:close/>
                </a:path>
              </a:pathLst>
            </a:custGeom>
            <a:solidFill>
              <a:srgbClr val="4F81BC"/>
            </a:solidFill>
          </p:spPr>
          <p:txBody>
            <a:bodyPr wrap="square" lIns="0" tIns="0" rIns="0" bIns="0" rtlCol="0"/>
            <a:lstStyle/>
            <a:p>
              <a:endParaRPr/>
            </a:p>
          </p:txBody>
        </p:sp>
        <p:sp>
          <p:nvSpPr>
            <p:cNvPr id="33" name="object 33"/>
            <p:cNvSpPr/>
            <p:nvPr/>
          </p:nvSpPr>
          <p:spPr>
            <a:xfrm>
              <a:off x="4235957" y="5334762"/>
              <a:ext cx="685800" cy="457200"/>
            </a:xfrm>
            <a:custGeom>
              <a:avLst/>
              <a:gdLst/>
              <a:ahLst/>
              <a:cxnLst/>
              <a:rect l="l" t="t" r="r" b="b"/>
              <a:pathLst>
                <a:path w="685800" h="457200">
                  <a:moveTo>
                    <a:pt x="0" y="228600"/>
                  </a:moveTo>
                  <a:lnTo>
                    <a:pt x="171450" y="228600"/>
                  </a:lnTo>
                  <a:lnTo>
                    <a:pt x="171450" y="0"/>
                  </a:lnTo>
                  <a:lnTo>
                    <a:pt x="514350" y="0"/>
                  </a:lnTo>
                  <a:lnTo>
                    <a:pt x="514350" y="228600"/>
                  </a:lnTo>
                  <a:lnTo>
                    <a:pt x="685800" y="228600"/>
                  </a:lnTo>
                  <a:lnTo>
                    <a:pt x="342900" y="457200"/>
                  </a:lnTo>
                  <a:lnTo>
                    <a:pt x="0" y="228600"/>
                  </a:lnTo>
                  <a:close/>
                </a:path>
              </a:pathLst>
            </a:custGeom>
            <a:ln w="25908">
              <a:solidFill>
                <a:srgbClr val="385D89"/>
              </a:solidFill>
            </a:ln>
          </p:spPr>
          <p:txBody>
            <a:bodyPr wrap="square" lIns="0" tIns="0" rIns="0" bIns="0" rtlCol="0"/>
            <a:lstStyle/>
            <a:p>
              <a:endParaRPr/>
            </a:p>
          </p:txBody>
        </p:sp>
      </p:grpSp>
      <p:grpSp>
        <p:nvGrpSpPr>
          <p:cNvPr id="34" name="object 34"/>
          <p:cNvGrpSpPr/>
          <p:nvPr/>
        </p:nvGrpSpPr>
        <p:grpSpPr>
          <a:xfrm>
            <a:off x="2586101" y="2142108"/>
            <a:ext cx="4177029" cy="2596515"/>
            <a:chOff x="2586101" y="2142108"/>
            <a:chExt cx="4177029" cy="2596515"/>
          </a:xfrm>
        </p:grpSpPr>
        <p:sp>
          <p:nvSpPr>
            <p:cNvPr id="35" name="object 35"/>
            <p:cNvSpPr/>
            <p:nvPr/>
          </p:nvSpPr>
          <p:spPr>
            <a:xfrm>
              <a:off x="6261100" y="2154808"/>
              <a:ext cx="488950" cy="552450"/>
            </a:xfrm>
            <a:custGeom>
              <a:avLst/>
              <a:gdLst/>
              <a:ahLst/>
              <a:cxnLst/>
              <a:rect l="l" t="t" r="r" b="b"/>
              <a:pathLst>
                <a:path w="488950" h="552450">
                  <a:moveTo>
                    <a:pt x="488950" y="0"/>
                  </a:moveTo>
                  <a:lnTo>
                    <a:pt x="387350" y="138049"/>
                  </a:lnTo>
                  <a:lnTo>
                    <a:pt x="203326" y="2539"/>
                  </a:lnTo>
                  <a:lnTo>
                    <a:pt x="0" y="278638"/>
                  </a:lnTo>
                  <a:lnTo>
                    <a:pt x="184023" y="414274"/>
                  </a:lnTo>
                  <a:lnTo>
                    <a:pt x="82423" y="552323"/>
                  </a:lnTo>
                  <a:lnTo>
                    <a:pt x="469773" y="411733"/>
                  </a:lnTo>
                  <a:lnTo>
                    <a:pt x="488950" y="0"/>
                  </a:lnTo>
                  <a:close/>
                </a:path>
              </a:pathLst>
            </a:custGeom>
            <a:solidFill>
              <a:srgbClr val="4F81BC"/>
            </a:solidFill>
          </p:spPr>
          <p:txBody>
            <a:bodyPr wrap="square" lIns="0" tIns="0" rIns="0" bIns="0" rtlCol="0"/>
            <a:lstStyle/>
            <a:p>
              <a:endParaRPr/>
            </a:p>
          </p:txBody>
        </p:sp>
        <p:sp>
          <p:nvSpPr>
            <p:cNvPr id="36" name="object 36"/>
            <p:cNvSpPr/>
            <p:nvPr/>
          </p:nvSpPr>
          <p:spPr>
            <a:xfrm>
              <a:off x="6261100" y="2154808"/>
              <a:ext cx="488950" cy="552450"/>
            </a:xfrm>
            <a:custGeom>
              <a:avLst/>
              <a:gdLst/>
              <a:ahLst/>
              <a:cxnLst/>
              <a:rect l="l" t="t" r="r" b="b"/>
              <a:pathLst>
                <a:path w="488950" h="552450">
                  <a:moveTo>
                    <a:pt x="82423" y="552323"/>
                  </a:moveTo>
                  <a:lnTo>
                    <a:pt x="184023" y="414274"/>
                  </a:lnTo>
                  <a:lnTo>
                    <a:pt x="0" y="278638"/>
                  </a:lnTo>
                  <a:lnTo>
                    <a:pt x="203326" y="2539"/>
                  </a:lnTo>
                  <a:lnTo>
                    <a:pt x="387350" y="138049"/>
                  </a:lnTo>
                  <a:lnTo>
                    <a:pt x="488950" y="0"/>
                  </a:lnTo>
                  <a:lnTo>
                    <a:pt x="469773" y="411733"/>
                  </a:lnTo>
                  <a:lnTo>
                    <a:pt x="82423" y="552323"/>
                  </a:lnTo>
                  <a:close/>
                </a:path>
              </a:pathLst>
            </a:custGeom>
            <a:ln w="25400">
              <a:solidFill>
                <a:srgbClr val="385D89"/>
              </a:solidFill>
            </a:ln>
          </p:spPr>
          <p:txBody>
            <a:bodyPr wrap="square" lIns="0" tIns="0" rIns="0" bIns="0" rtlCol="0"/>
            <a:lstStyle/>
            <a:p>
              <a:endParaRPr/>
            </a:p>
          </p:txBody>
        </p:sp>
        <p:sp>
          <p:nvSpPr>
            <p:cNvPr id="37" name="object 37"/>
            <p:cNvSpPr/>
            <p:nvPr/>
          </p:nvSpPr>
          <p:spPr>
            <a:xfrm>
              <a:off x="2598801" y="2213101"/>
              <a:ext cx="538480" cy="510540"/>
            </a:xfrm>
            <a:custGeom>
              <a:avLst/>
              <a:gdLst/>
              <a:ahLst/>
              <a:cxnLst/>
              <a:rect l="l" t="t" r="r" b="b"/>
              <a:pathLst>
                <a:path w="538480" h="510539">
                  <a:moveTo>
                    <a:pt x="279400" y="0"/>
                  </a:moveTo>
                  <a:lnTo>
                    <a:pt x="129286" y="172465"/>
                  </a:lnTo>
                  <a:lnTo>
                    <a:pt x="0" y="59944"/>
                  </a:lnTo>
                  <a:lnTo>
                    <a:pt x="108712" y="457453"/>
                  </a:lnTo>
                  <a:lnTo>
                    <a:pt x="517398" y="510032"/>
                  </a:lnTo>
                  <a:lnTo>
                    <a:pt x="388112" y="397510"/>
                  </a:lnTo>
                  <a:lnTo>
                    <a:pt x="538099" y="225044"/>
                  </a:lnTo>
                  <a:lnTo>
                    <a:pt x="279400" y="0"/>
                  </a:lnTo>
                  <a:close/>
                </a:path>
              </a:pathLst>
            </a:custGeom>
            <a:solidFill>
              <a:srgbClr val="4F81BC"/>
            </a:solidFill>
          </p:spPr>
          <p:txBody>
            <a:bodyPr wrap="square" lIns="0" tIns="0" rIns="0" bIns="0" rtlCol="0"/>
            <a:lstStyle/>
            <a:p>
              <a:endParaRPr/>
            </a:p>
          </p:txBody>
        </p:sp>
        <p:sp>
          <p:nvSpPr>
            <p:cNvPr id="38" name="object 38"/>
            <p:cNvSpPr/>
            <p:nvPr/>
          </p:nvSpPr>
          <p:spPr>
            <a:xfrm>
              <a:off x="2598801" y="2213101"/>
              <a:ext cx="538480" cy="510540"/>
            </a:xfrm>
            <a:custGeom>
              <a:avLst/>
              <a:gdLst/>
              <a:ahLst/>
              <a:cxnLst/>
              <a:rect l="l" t="t" r="r" b="b"/>
              <a:pathLst>
                <a:path w="538480" h="510539">
                  <a:moveTo>
                    <a:pt x="0" y="59944"/>
                  </a:moveTo>
                  <a:lnTo>
                    <a:pt x="129286" y="172465"/>
                  </a:lnTo>
                  <a:lnTo>
                    <a:pt x="279400" y="0"/>
                  </a:lnTo>
                  <a:lnTo>
                    <a:pt x="538099" y="225044"/>
                  </a:lnTo>
                  <a:lnTo>
                    <a:pt x="388112" y="397510"/>
                  </a:lnTo>
                  <a:lnTo>
                    <a:pt x="517398" y="510032"/>
                  </a:lnTo>
                  <a:lnTo>
                    <a:pt x="108712" y="457453"/>
                  </a:lnTo>
                  <a:lnTo>
                    <a:pt x="0" y="59944"/>
                  </a:lnTo>
                  <a:close/>
                </a:path>
              </a:pathLst>
            </a:custGeom>
            <a:ln w="25400">
              <a:solidFill>
                <a:srgbClr val="385D89"/>
              </a:solidFill>
            </a:ln>
          </p:spPr>
          <p:txBody>
            <a:bodyPr wrap="square" lIns="0" tIns="0" rIns="0" bIns="0" rtlCol="0"/>
            <a:lstStyle/>
            <a:p>
              <a:endParaRPr/>
            </a:p>
          </p:txBody>
        </p:sp>
        <p:sp>
          <p:nvSpPr>
            <p:cNvPr id="39" name="object 39"/>
            <p:cNvSpPr/>
            <p:nvPr/>
          </p:nvSpPr>
          <p:spPr>
            <a:xfrm>
              <a:off x="3172968" y="3168649"/>
              <a:ext cx="1704975" cy="1557020"/>
            </a:xfrm>
            <a:custGeom>
              <a:avLst/>
              <a:gdLst/>
              <a:ahLst/>
              <a:cxnLst/>
              <a:rect l="l" t="t" r="r" b="b"/>
              <a:pathLst>
                <a:path w="1704975" h="1557020">
                  <a:moveTo>
                    <a:pt x="541401" y="65786"/>
                  </a:moveTo>
                  <a:lnTo>
                    <a:pt x="409829" y="175514"/>
                  </a:lnTo>
                  <a:lnTo>
                    <a:pt x="263398" y="0"/>
                  </a:lnTo>
                  <a:lnTo>
                    <a:pt x="0" y="219583"/>
                  </a:lnTo>
                  <a:lnTo>
                    <a:pt x="146431" y="395097"/>
                  </a:lnTo>
                  <a:lnTo>
                    <a:pt x="14732" y="504952"/>
                  </a:lnTo>
                  <a:lnTo>
                    <a:pt x="424434" y="460883"/>
                  </a:lnTo>
                  <a:lnTo>
                    <a:pt x="541401" y="65786"/>
                  </a:lnTo>
                  <a:close/>
                </a:path>
                <a:path w="1704975" h="1557020">
                  <a:moveTo>
                    <a:pt x="1704594" y="1327912"/>
                  </a:moveTo>
                  <a:lnTo>
                    <a:pt x="1533144" y="1327912"/>
                  </a:lnTo>
                  <a:lnTo>
                    <a:pt x="1533144" y="1099312"/>
                  </a:lnTo>
                  <a:lnTo>
                    <a:pt x="1190244" y="1099312"/>
                  </a:lnTo>
                  <a:lnTo>
                    <a:pt x="1190244" y="1327912"/>
                  </a:lnTo>
                  <a:lnTo>
                    <a:pt x="1018794" y="1327912"/>
                  </a:lnTo>
                  <a:lnTo>
                    <a:pt x="1361694" y="1556512"/>
                  </a:lnTo>
                  <a:lnTo>
                    <a:pt x="1704594" y="1327912"/>
                  </a:lnTo>
                  <a:close/>
                </a:path>
              </a:pathLst>
            </a:custGeom>
            <a:solidFill>
              <a:srgbClr val="4F81BC"/>
            </a:solidFill>
          </p:spPr>
          <p:txBody>
            <a:bodyPr wrap="square" lIns="0" tIns="0" rIns="0" bIns="0" rtlCol="0"/>
            <a:lstStyle/>
            <a:p>
              <a:endParaRPr/>
            </a:p>
          </p:txBody>
        </p:sp>
        <p:sp>
          <p:nvSpPr>
            <p:cNvPr id="40" name="object 40"/>
            <p:cNvSpPr/>
            <p:nvPr/>
          </p:nvSpPr>
          <p:spPr>
            <a:xfrm>
              <a:off x="4191762" y="4267961"/>
              <a:ext cx="685800" cy="457200"/>
            </a:xfrm>
            <a:custGeom>
              <a:avLst/>
              <a:gdLst/>
              <a:ahLst/>
              <a:cxnLst/>
              <a:rect l="l" t="t" r="r" b="b"/>
              <a:pathLst>
                <a:path w="685800" h="457200">
                  <a:moveTo>
                    <a:pt x="0" y="228600"/>
                  </a:moveTo>
                  <a:lnTo>
                    <a:pt x="171450" y="228600"/>
                  </a:lnTo>
                  <a:lnTo>
                    <a:pt x="171450" y="0"/>
                  </a:lnTo>
                  <a:lnTo>
                    <a:pt x="514350" y="0"/>
                  </a:lnTo>
                  <a:lnTo>
                    <a:pt x="514350" y="228600"/>
                  </a:lnTo>
                  <a:lnTo>
                    <a:pt x="685800" y="228600"/>
                  </a:lnTo>
                  <a:lnTo>
                    <a:pt x="342900" y="457200"/>
                  </a:lnTo>
                  <a:lnTo>
                    <a:pt x="0" y="228600"/>
                  </a:lnTo>
                  <a:close/>
                </a:path>
              </a:pathLst>
            </a:custGeom>
            <a:ln w="25908">
              <a:solidFill>
                <a:srgbClr val="385D89"/>
              </a:solidFill>
            </a:ln>
          </p:spPr>
          <p:txBody>
            <a:bodyPr wrap="square" lIns="0" tIns="0" rIns="0" bIns="0" rtlCol="0"/>
            <a:lstStyle/>
            <a:p>
              <a:endParaRPr/>
            </a:p>
          </p:txBody>
        </p:sp>
        <p:sp>
          <p:nvSpPr>
            <p:cNvPr id="41" name="object 41"/>
            <p:cNvSpPr/>
            <p:nvPr/>
          </p:nvSpPr>
          <p:spPr>
            <a:xfrm>
              <a:off x="3172968" y="3168650"/>
              <a:ext cx="541655" cy="505459"/>
            </a:xfrm>
            <a:custGeom>
              <a:avLst/>
              <a:gdLst/>
              <a:ahLst/>
              <a:cxnLst/>
              <a:rect l="l" t="t" r="r" b="b"/>
              <a:pathLst>
                <a:path w="541654" h="505460">
                  <a:moveTo>
                    <a:pt x="14731" y="504951"/>
                  </a:moveTo>
                  <a:lnTo>
                    <a:pt x="146431" y="395097"/>
                  </a:lnTo>
                  <a:lnTo>
                    <a:pt x="0" y="219583"/>
                  </a:lnTo>
                  <a:lnTo>
                    <a:pt x="263397" y="0"/>
                  </a:lnTo>
                  <a:lnTo>
                    <a:pt x="409829" y="175513"/>
                  </a:lnTo>
                  <a:lnTo>
                    <a:pt x="541401" y="65786"/>
                  </a:lnTo>
                  <a:lnTo>
                    <a:pt x="424433" y="460882"/>
                  </a:lnTo>
                  <a:lnTo>
                    <a:pt x="14731" y="504951"/>
                  </a:lnTo>
                  <a:close/>
                </a:path>
              </a:pathLst>
            </a:custGeom>
            <a:ln w="25400">
              <a:solidFill>
                <a:srgbClr val="385D89"/>
              </a:solidFill>
            </a:ln>
          </p:spPr>
          <p:txBody>
            <a:bodyPr wrap="square" lIns="0" tIns="0" rIns="0" bIns="0" rtlCol="0"/>
            <a:lstStyle/>
            <a:p>
              <a:endParaRPr/>
            </a:p>
          </p:txBody>
        </p:sp>
        <p:sp>
          <p:nvSpPr>
            <p:cNvPr id="42" name="object 42"/>
            <p:cNvSpPr/>
            <p:nvPr/>
          </p:nvSpPr>
          <p:spPr>
            <a:xfrm>
              <a:off x="5483986" y="3160522"/>
              <a:ext cx="538480" cy="510540"/>
            </a:xfrm>
            <a:custGeom>
              <a:avLst/>
              <a:gdLst/>
              <a:ahLst/>
              <a:cxnLst/>
              <a:rect l="l" t="t" r="r" b="b"/>
              <a:pathLst>
                <a:path w="538479" h="510539">
                  <a:moveTo>
                    <a:pt x="279400" y="0"/>
                  </a:moveTo>
                  <a:lnTo>
                    <a:pt x="129412" y="172465"/>
                  </a:lnTo>
                  <a:lnTo>
                    <a:pt x="0" y="59943"/>
                  </a:lnTo>
                  <a:lnTo>
                    <a:pt x="108712" y="457453"/>
                  </a:lnTo>
                  <a:lnTo>
                    <a:pt x="517525" y="510031"/>
                  </a:lnTo>
                  <a:lnTo>
                    <a:pt x="388112" y="397510"/>
                  </a:lnTo>
                  <a:lnTo>
                    <a:pt x="538099" y="225043"/>
                  </a:lnTo>
                  <a:lnTo>
                    <a:pt x="279400" y="0"/>
                  </a:lnTo>
                  <a:close/>
                </a:path>
              </a:pathLst>
            </a:custGeom>
            <a:solidFill>
              <a:srgbClr val="4F81BC"/>
            </a:solidFill>
          </p:spPr>
          <p:txBody>
            <a:bodyPr wrap="square" lIns="0" tIns="0" rIns="0" bIns="0" rtlCol="0"/>
            <a:lstStyle/>
            <a:p>
              <a:endParaRPr/>
            </a:p>
          </p:txBody>
        </p:sp>
        <p:sp>
          <p:nvSpPr>
            <p:cNvPr id="43" name="object 43"/>
            <p:cNvSpPr/>
            <p:nvPr/>
          </p:nvSpPr>
          <p:spPr>
            <a:xfrm>
              <a:off x="5483986" y="3160522"/>
              <a:ext cx="538480" cy="510540"/>
            </a:xfrm>
            <a:custGeom>
              <a:avLst/>
              <a:gdLst/>
              <a:ahLst/>
              <a:cxnLst/>
              <a:rect l="l" t="t" r="r" b="b"/>
              <a:pathLst>
                <a:path w="538479" h="510539">
                  <a:moveTo>
                    <a:pt x="0" y="59943"/>
                  </a:moveTo>
                  <a:lnTo>
                    <a:pt x="129412" y="172465"/>
                  </a:lnTo>
                  <a:lnTo>
                    <a:pt x="279400" y="0"/>
                  </a:lnTo>
                  <a:lnTo>
                    <a:pt x="538099" y="225043"/>
                  </a:lnTo>
                  <a:lnTo>
                    <a:pt x="388112" y="397510"/>
                  </a:lnTo>
                  <a:lnTo>
                    <a:pt x="517525" y="510031"/>
                  </a:lnTo>
                  <a:lnTo>
                    <a:pt x="108712" y="457453"/>
                  </a:lnTo>
                  <a:lnTo>
                    <a:pt x="0" y="59943"/>
                  </a:lnTo>
                  <a:close/>
                </a:path>
              </a:pathLst>
            </a:custGeom>
            <a:ln w="25400">
              <a:solidFill>
                <a:srgbClr val="385D89"/>
              </a:solidFill>
            </a:ln>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499337"/>
            <a:ext cx="7820052" cy="567463"/>
          </a:xfrm>
          <a:prstGeom prst="rect">
            <a:avLst/>
          </a:prstGeom>
        </p:spPr>
        <p:txBody>
          <a:bodyPr vert="horz" wrap="square" lIns="0" tIns="13335" rIns="0" bIns="0" rtlCol="0">
            <a:spAutoFit/>
          </a:bodyPr>
          <a:lstStyle/>
          <a:p>
            <a:pPr marL="12700" algn="ctr">
              <a:lnSpc>
                <a:spcPct val="100000"/>
              </a:lnSpc>
              <a:spcBef>
                <a:spcPts val="105"/>
              </a:spcBef>
            </a:pPr>
            <a:r>
              <a:rPr lang="en-IN" sz="3600" spc="-5" dirty="0" smtClean="0">
                <a:uFill>
                  <a:solidFill>
                    <a:srgbClr val="00AF50"/>
                  </a:solidFill>
                </a:uFill>
              </a:rPr>
              <a:t>Methods </a:t>
            </a:r>
            <a:endParaRPr sz="3600" dirty="0"/>
          </a:p>
        </p:txBody>
      </p:sp>
      <p:sp>
        <p:nvSpPr>
          <p:cNvPr id="3" name="object 3"/>
          <p:cNvSpPr/>
          <p:nvPr/>
        </p:nvSpPr>
        <p:spPr>
          <a:xfrm>
            <a:off x="304800" y="1066800"/>
            <a:ext cx="8545068" cy="544982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284138"/>
            <a:ext cx="7179332" cy="443070"/>
          </a:xfrm>
          <a:prstGeom prst="rect">
            <a:avLst/>
          </a:prstGeom>
        </p:spPr>
        <p:txBody>
          <a:bodyPr vert="horz" wrap="square" lIns="0" tIns="12065" rIns="0" bIns="0" rtlCol="0">
            <a:spAutoFit/>
          </a:bodyPr>
          <a:lstStyle/>
          <a:p>
            <a:pPr marL="12700" algn="ctr">
              <a:lnSpc>
                <a:spcPct val="100000"/>
              </a:lnSpc>
              <a:spcBef>
                <a:spcPts val="95"/>
              </a:spcBef>
            </a:pPr>
            <a:r>
              <a:rPr sz="2800" spc="-5" dirty="0">
                <a:uFill>
                  <a:solidFill>
                    <a:srgbClr val="00AF50"/>
                  </a:solidFill>
                </a:uFill>
              </a:rPr>
              <a:t>Ranking</a:t>
            </a:r>
            <a:r>
              <a:rPr sz="2800" spc="-45" dirty="0">
                <a:uFill>
                  <a:solidFill>
                    <a:srgbClr val="00AF50"/>
                  </a:solidFill>
                </a:uFill>
              </a:rPr>
              <a:t> </a:t>
            </a:r>
            <a:r>
              <a:rPr sz="2800" spc="-10" dirty="0">
                <a:uFill>
                  <a:solidFill>
                    <a:srgbClr val="00AF50"/>
                  </a:solidFill>
                </a:uFill>
              </a:rPr>
              <a:t>method</a:t>
            </a:r>
          </a:p>
        </p:txBody>
      </p:sp>
      <p:sp>
        <p:nvSpPr>
          <p:cNvPr id="3" name="object 3"/>
          <p:cNvSpPr txBox="1"/>
          <p:nvPr/>
        </p:nvSpPr>
        <p:spPr>
          <a:xfrm>
            <a:off x="154939" y="851661"/>
            <a:ext cx="8759825" cy="1489075"/>
          </a:xfrm>
          <a:prstGeom prst="rect">
            <a:avLst/>
          </a:prstGeom>
        </p:spPr>
        <p:txBody>
          <a:bodyPr vert="horz" wrap="square" lIns="0" tIns="12700" rIns="0" bIns="0" rtlCol="0">
            <a:spAutoFit/>
          </a:bodyPr>
          <a:lstStyle/>
          <a:p>
            <a:pPr marL="12700" marR="5080" indent="914400" algn="just">
              <a:lnSpc>
                <a:spcPct val="100000"/>
              </a:lnSpc>
              <a:spcBef>
                <a:spcPts val="100"/>
              </a:spcBef>
            </a:pPr>
            <a:r>
              <a:rPr sz="2400" spc="-5" dirty="0">
                <a:solidFill>
                  <a:srgbClr val="6F2F9F"/>
                </a:solidFill>
                <a:latin typeface="Carlito"/>
                <a:cs typeface="Carlito"/>
              </a:rPr>
              <a:t>This </a:t>
            </a:r>
            <a:r>
              <a:rPr sz="2400" dirty="0">
                <a:solidFill>
                  <a:srgbClr val="6F2F9F"/>
                </a:solidFill>
                <a:latin typeface="Carlito"/>
                <a:cs typeface="Carlito"/>
              </a:rPr>
              <a:t>is the </a:t>
            </a:r>
            <a:r>
              <a:rPr sz="2400" spc="-10" dirty="0">
                <a:solidFill>
                  <a:srgbClr val="6F2F9F"/>
                </a:solidFill>
                <a:latin typeface="Carlito"/>
                <a:cs typeface="Carlito"/>
              </a:rPr>
              <a:t>simplest, </a:t>
            </a:r>
            <a:r>
              <a:rPr sz="2400" dirty="0">
                <a:solidFill>
                  <a:srgbClr val="6F2F9F"/>
                </a:solidFill>
                <a:latin typeface="Carlito"/>
                <a:cs typeface="Carlito"/>
              </a:rPr>
              <a:t>the </a:t>
            </a:r>
            <a:r>
              <a:rPr sz="2400" spc="-15" dirty="0">
                <a:solidFill>
                  <a:srgbClr val="6F2F9F"/>
                </a:solidFill>
                <a:latin typeface="Carlito"/>
                <a:cs typeface="Carlito"/>
              </a:rPr>
              <a:t>most </a:t>
            </a:r>
            <a:r>
              <a:rPr sz="2400" spc="-10" dirty="0">
                <a:solidFill>
                  <a:srgbClr val="6F2F9F"/>
                </a:solidFill>
                <a:latin typeface="Carlito"/>
                <a:cs typeface="Carlito"/>
              </a:rPr>
              <a:t>inexpensive </a:t>
            </a:r>
            <a:r>
              <a:rPr sz="2400" dirty="0">
                <a:solidFill>
                  <a:srgbClr val="6F2F9F"/>
                </a:solidFill>
                <a:latin typeface="Carlito"/>
                <a:cs typeface="Carlito"/>
              </a:rPr>
              <a:t>and the </a:t>
            </a:r>
            <a:r>
              <a:rPr sz="2400" spc="-15" dirty="0">
                <a:solidFill>
                  <a:srgbClr val="6F2F9F"/>
                </a:solidFill>
                <a:latin typeface="Carlito"/>
                <a:cs typeface="Carlito"/>
              </a:rPr>
              <a:t>most  </a:t>
            </a:r>
            <a:r>
              <a:rPr sz="2400" spc="-10" dirty="0">
                <a:solidFill>
                  <a:srgbClr val="6F2F9F"/>
                </a:solidFill>
                <a:latin typeface="Carlito"/>
                <a:cs typeface="Carlito"/>
              </a:rPr>
              <a:t>expedient </a:t>
            </a:r>
            <a:r>
              <a:rPr sz="2400" spc="-5" dirty="0">
                <a:solidFill>
                  <a:srgbClr val="6F2F9F"/>
                </a:solidFill>
                <a:latin typeface="Carlito"/>
                <a:cs typeface="Carlito"/>
              </a:rPr>
              <a:t>method of </a:t>
            </a:r>
            <a:r>
              <a:rPr sz="2400" spc="-10" dirty="0">
                <a:solidFill>
                  <a:srgbClr val="6F2F9F"/>
                </a:solidFill>
                <a:latin typeface="Carlito"/>
                <a:cs typeface="Carlito"/>
              </a:rPr>
              <a:t>evaluation. Each </a:t>
            </a:r>
            <a:r>
              <a:rPr sz="2400" spc="-5" dirty="0">
                <a:solidFill>
                  <a:srgbClr val="6F2F9F"/>
                </a:solidFill>
                <a:latin typeface="Carlito"/>
                <a:cs typeface="Carlito"/>
              </a:rPr>
              <a:t>job </a:t>
            </a:r>
            <a:r>
              <a:rPr sz="2400" dirty="0">
                <a:solidFill>
                  <a:srgbClr val="6F2F9F"/>
                </a:solidFill>
                <a:latin typeface="Carlito"/>
                <a:cs typeface="Carlito"/>
              </a:rPr>
              <a:t>is </a:t>
            </a:r>
            <a:r>
              <a:rPr sz="2400" spc="-10" dirty="0">
                <a:solidFill>
                  <a:srgbClr val="6F2F9F"/>
                </a:solidFill>
                <a:latin typeface="Carlito"/>
                <a:cs typeface="Carlito"/>
              </a:rPr>
              <a:t>considered </a:t>
            </a:r>
            <a:r>
              <a:rPr sz="2400" dirty="0">
                <a:solidFill>
                  <a:srgbClr val="6F2F9F"/>
                </a:solidFill>
                <a:latin typeface="Carlito"/>
                <a:cs typeface="Carlito"/>
              </a:rPr>
              <a:t>as a whole  and is then </a:t>
            </a:r>
            <a:r>
              <a:rPr sz="2400" spc="-10" dirty="0">
                <a:solidFill>
                  <a:srgbClr val="6F2F9F"/>
                </a:solidFill>
                <a:latin typeface="Carlito"/>
                <a:cs typeface="Carlito"/>
              </a:rPr>
              <a:t>given </a:t>
            </a:r>
            <a:r>
              <a:rPr sz="2400" dirty="0">
                <a:solidFill>
                  <a:srgbClr val="6F2F9F"/>
                </a:solidFill>
                <a:latin typeface="Carlito"/>
                <a:cs typeface="Carlito"/>
              </a:rPr>
              <a:t>a </a:t>
            </a:r>
            <a:r>
              <a:rPr sz="2400" spc="-10" dirty="0">
                <a:solidFill>
                  <a:srgbClr val="6F2F9F"/>
                </a:solidFill>
                <a:latin typeface="Carlito"/>
                <a:cs typeface="Carlito"/>
              </a:rPr>
              <a:t>ranking </a:t>
            </a:r>
            <a:r>
              <a:rPr sz="2400" dirty="0">
                <a:solidFill>
                  <a:srgbClr val="6F2F9F"/>
                </a:solidFill>
                <a:latin typeface="Carlito"/>
                <a:cs typeface="Carlito"/>
              </a:rPr>
              <a:t>in </a:t>
            </a:r>
            <a:r>
              <a:rPr sz="2400" spc="-10" dirty="0">
                <a:solidFill>
                  <a:srgbClr val="6F2F9F"/>
                </a:solidFill>
                <a:latin typeface="Carlito"/>
                <a:cs typeface="Carlito"/>
              </a:rPr>
              <a:t>relation </a:t>
            </a:r>
            <a:r>
              <a:rPr sz="2400" spc="-15" dirty="0">
                <a:solidFill>
                  <a:srgbClr val="6F2F9F"/>
                </a:solidFill>
                <a:latin typeface="Carlito"/>
                <a:cs typeface="Carlito"/>
              </a:rPr>
              <a:t>to </a:t>
            </a:r>
            <a:r>
              <a:rPr sz="2400" spc="-5" dirty="0">
                <a:solidFill>
                  <a:srgbClr val="6F2F9F"/>
                </a:solidFill>
                <a:latin typeface="Carlito"/>
                <a:cs typeface="Carlito"/>
              </a:rPr>
              <a:t>all other </a:t>
            </a:r>
            <a:r>
              <a:rPr sz="2400" spc="-10" dirty="0">
                <a:solidFill>
                  <a:srgbClr val="6F2F9F"/>
                </a:solidFill>
                <a:latin typeface="Carlito"/>
                <a:cs typeface="Carlito"/>
              </a:rPr>
              <a:t>jobs. </a:t>
            </a:r>
            <a:r>
              <a:rPr sz="2400" dirty="0">
                <a:solidFill>
                  <a:srgbClr val="6F2F9F"/>
                </a:solidFill>
                <a:latin typeface="Carlito"/>
                <a:cs typeface="Carlito"/>
              </a:rPr>
              <a:t>A </a:t>
            </a:r>
            <a:r>
              <a:rPr sz="2400" spc="-10" dirty="0">
                <a:solidFill>
                  <a:srgbClr val="6F2F9F"/>
                </a:solidFill>
                <a:latin typeface="Carlito"/>
                <a:cs typeface="Carlito"/>
              </a:rPr>
              <a:t>ranking </a:t>
            </a:r>
            <a:r>
              <a:rPr sz="2400" spc="-5" dirty="0">
                <a:solidFill>
                  <a:srgbClr val="6F2F9F"/>
                </a:solidFill>
                <a:latin typeface="Carlito"/>
                <a:cs typeface="Carlito"/>
              </a:rPr>
              <a:t>table  </a:t>
            </a:r>
            <a:r>
              <a:rPr sz="2400" dirty="0">
                <a:solidFill>
                  <a:srgbClr val="6F2F9F"/>
                </a:solidFill>
                <a:latin typeface="Carlito"/>
                <a:cs typeface="Carlito"/>
              </a:rPr>
              <a:t>is then </a:t>
            </a:r>
            <a:r>
              <a:rPr sz="2400" spc="-15" dirty="0">
                <a:solidFill>
                  <a:srgbClr val="6F2F9F"/>
                </a:solidFill>
                <a:latin typeface="Carlito"/>
                <a:cs typeface="Carlito"/>
              </a:rPr>
              <a:t>drawn </a:t>
            </a:r>
            <a:r>
              <a:rPr sz="2400" spc="-5" dirty="0">
                <a:solidFill>
                  <a:srgbClr val="6F2F9F"/>
                </a:solidFill>
                <a:latin typeface="Carlito"/>
                <a:cs typeface="Carlito"/>
              </a:rPr>
              <a:t>up </a:t>
            </a:r>
            <a:r>
              <a:rPr sz="2400" dirty="0">
                <a:solidFill>
                  <a:srgbClr val="6F2F9F"/>
                </a:solidFill>
                <a:latin typeface="Carlito"/>
                <a:cs typeface="Carlito"/>
              </a:rPr>
              <a:t>and </a:t>
            </a:r>
            <a:r>
              <a:rPr sz="2400" spc="-5" dirty="0">
                <a:solidFill>
                  <a:srgbClr val="6F2F9F"/>
                </a:solidFill>
                <a:latin typeface="Carlito"/>
                <a:cs typeface="Carlito"/>
              </a:rPr>
              <a:t>the </a:t>
            </a:r>
            <a:r>
              <a:rPr sz="2400" spc="-20" dirty="0">
                <a:solidFill>
                  <a:srgbClr val="6F2F9F"/>
                </a:solidFill>
                <a:latin typeface="Carlito"/>
                <a:cs typeface="Carlito"/>
              </a:rPr>
              <a:t>ranked </a:t>
            </a:r>
            <a:r>
              <a:rPr sz="2400" spc="-10" dirty="0">
                <a:solidFill>
                  <a:srgbClr val="6F2F9F"/>
                </a:solidFill>
                <a:latin typeface="Carlito"/>
                <a:cs typeface="Carlito"/>
              </a:rPr>
              <a:t>jobs grouped </a:t>
            </a:r>
            <a:r>
              <a:rPr sz="2400" spc="-15" dirty="0">
                <a:solidFill>
                  <a:srgbClr val="6F2F9F"/>
                </a:solidFill>
                <a:latin typeface="Carlito"/>
                <a:cs typeface="Carlito"/>
              </a:rPr>
              <a:t>into</a:t>
            </a:r>
            <a:r>
              <a:rPr sz="2400" spc="-25" dirty="0">
                <a:solidFill>
                  <a:srgbClr val="6F2F9F"/>
                </a:solidFill>
                <a:latin typeface="Carlito"/>
                <a:cs typeface="Carlito"/>
              </a:rPr>
              <a:t> </a:t>
            </a:r>
            <a:r>
              <a:rPr sz="2400" spc="-10" dirty="0">
                <a:solidFill>
                  <a:srgbClr val="6F2F9F"/>
                </a:solidFill>
                <a:latin typeface="Carlito"/>
                <a:cs typeface="Carlito"/>
              </a:rPr>
              <a:t>grades.</a:t>
            </a:r>
            <a:endParaRPr sz="2400" dirty="0">
              <a:latin typeface="Carlito"/>
              <a:cs typeface="Carlito"/>
            </a:endParaRPr>
          </a:p>
        </p:txBody>
      </p:sp>
      <p:sp>
        <p:nvSpPr>
          <p:cNvPr id="4" name="object 4"/>
          <p:cNvSpPr txBox="1"/>
          <p:nvPr/>
        </p:nvSpPr>
        <p:spPr>
          <a:xfrm>
            <a:off x="154939" y="4948504"/>
            <a:ext cx="8759190" cy="1123315"/>
          </a:xfrm>
          <a:prstGeom prst="rect">
            <a:avLst/>
          </a:prstGeom>
        </p:spPr>
        <p:txBody>
          <a:bodyPr vert="horz" wrap="square" lIns="0" tIns="12700" rIns="0" bIns="0" rtlCol="0">
            <a:spAutoFit/>
          </a:bodyPr>
          <a:lstStyle/>
          <a:p>
            <a:pPr marL="12700" marR="5080" indent="914400" algn="just">
              <a:lnSpc>
                <a:spcPct val="100000"/>
              </a:lnSpc>
              <a:spcBef>
                <a:spcPts val="100"/>
              </a:spcBef>
            </a:pPr>
            <a:r>
              <a:rPr sz="2400" spc="-5" dirty="0">
                <a:solidFill>
                  <a:srgbClr val="6F2F9F"/>
                </a:solidFill>
                <a:latin typeface="Carlito"/>
                <a:cs typeface="Carlito"/>
              </a:rPr>
              <a:t>The </a:t>
            </a:r>
            <a:r>
              <a:rPr sz="2400" dirty="0">
                <a:solidFill>
                  <a:srgbClr val="6F2F9F"/>
                </a:solidFill>
                <a:latin typeface="Carlito"/>
                <a:cs typeface="Carlito"/>
              </a:rPr>
              <a:t>main </a:t>
            </a:r>
            <a:r>
              <a:rPr sz="2400" spc="-15" dirty="0">
                <a:solidFill>
                  <a:srgbClr val="6F2F9F"/>
                </a:solidFill>
                <a:latin typeface="Carlito"/>
                <a:cs typeface="Carlito"/>
              </a:rPr>
              <a:t>disadvantage </a:t>
            </a:r>
            <a:r>
              <a:rPr sz="2400" spc="-5" dirty="0">
                <a:solidFill>
                  <a:srgbClr val="6F2F9F"/>
                </a:solidFill>
                <a:latin typeface="Carlito"/>
                <a:cs typeface="Carlito"/>
              </a:rPr>
              <a:t>of this method </a:t>
            </a:r>
            <a:r>
              <a:rPr sz="2400" dirty="0">
                <a:solidFill>
                  <a:srgbClr val="6F2F9F"/>
                </a:solidFill>
                <a:latin typeface="Carlito"/>
                <a:cs typeface="Carlito"/>
              </a:rPr>
              <a:t>is </a:t>
            </a:r>
            <a:r>
              <a:rPr sz="2400" spc="-10" dirty="0">
                <a:solidFill>
                  <a:srgbClr val="6F2F9F"/>
                </a:solidFill>
                <a:latin typeface="Carlito"/>
                <a:cs typeface="Carlito"/>
              </a:rPr>
              <a:t>that </a:t>
            </a:r>
            <a:r>
              <a:rPr sz="2400" dirty="0">
                <a:solidFill>
                  <a:srgbClr val="6F2F9F"/>
                </a:solidFill>
                <a:latin typeface="Carlito"/>
                <a:cs typeface="Carlito"/>
              </a:rPr>
              <a:t>it </a:t>
            </a:r>
            <a:r>
              <a:rPr sz="2400" spc="-10" dirty="0">
                <a:solidFill>
                  <a:srgbClr val="6F2F9F"/>
                </a:solidFill>
                <a:latin typeface="Carlito"/>
                <a:cs typeface="Carlito"/>
              </a:rPr>
              <a:t>lacks  </a:t>
            </a:r>
            <a:r>
              <a:rPr sz="2400" spc="-15" dirty="0">
                <a:solidFill>
                  <a:srgbClr val="6F2F9F"/>
                </a:solidFill>
                <a:latin typeface="Carlito"/>
                <a:cs typeface="Carlito"/>
              </a:rPr>
              <a:t>substantiating data </a:t>
            </a:r>
            <a:r>
              <a:rPr sz="2400" spc="-20" dirty="0">
                <a:solidFill>
                  <a:srgbClr val="6F2F9F"/>
                </a:solidFill>
                <a:latin typeface="Carlito"/>
                <a:cs typeface="Carlito"/>
              </a:rPr>
              <a:t>for </a:t>
            </a:r>
            <a:r>
              <a:rPr sz="2400" spc="-15" dirty="0">
                <a:solidFill>
                  <a:srgbClr val="6F2F9F"/>
                </a:solidFill>
                <a:latin typeface="Carlito"/>
                <a:cs typeface="Carlito"/>
              </a:rPr>
              <a:t>later </a:t>
            </a:r>
            <a:r>
              <a:rPr sz="2400" spc="-5" dirty="0">
                <a:solidFill>
                  <a:srgbClr val="6F2F9F"/>
                </a:solidFill>
                <a:latin typeface="Carlito"/>
                <a:cs typeface="Carlito"/>
              </a:rPr>
              <a:t>use </a:t>
            </a:r>
            <a:r>
              <a:rPr sz="2400" dirty="0">
                <a:solidFill>
                  <a:srgbClr val="6F2F9F"/>
                </a:solidFill>
                <a:latin typeface="Carlito"/>
                <a:cs typeface="Carlito"/>
              </a:rPr>
              <a:t>in </a:t>
            </a:r>
            <a:r>
              <a:rPr sz="2400" spc="-5" dirty="0">
                <a:solidFill>
                  <a:srgbClr val="6F2F9F"/>
                </a:solidFill>
                <a:latin typeface="Carlito"/>
                <a:cs typeface="Carlito"/>
              </a:rPr>
              <a:t>justifying </a:t>
            </a:r>
            <a:r>
              <a:rPr sz="2400" dirty="0">
                <a:solidFill>
                  <a:srgbClr val="6F2F9F"/>
                </a:solidFill>
                <a:latin typeface="Carlito"/>
                <a:cs typeface="Carlito"/>
              </a:rPr>
              <a:t>the </a:t>
            </a:r>
            <a:r>
              <a:rPr sz="2400" spc="-15" dirty="0">
                <a:solidFill>
                  <a:srgbClr val="6F2F9F"/>
                </a:solidFill>
                <a:latin typeface="Carlito"/>
                <a:cs typeface="Carlito"/>
              </a:rPr>
              <a:t>relative </a:t>
            </a:r>
            <a:r>
              <a:rPr sz="2400" spc="-5" dirty="0">
                <a:solidFill>
                  <a:srgbClr val="6F2F9F"/>
                </a:solidFill>
                <a:latin typeface="Carlito"/>
                <a:cs typeface="Carlito"/>
              </a:rPr>
              <a:t>position </a:t>
            </a:r>
            <a:r>
              <a:rPr sz="2400" spc="-10" dirty="0">
                <a:solidFill>
                  <a:srgbClr val="6F2F9F"/>
                </a:solidFill>
                <a:latin typeface="Carlito"/>
                <a:cs typeface="Carlito"/>
              </a:rPr>
              <a:t>given  </a:t>
            </a:r>
            <a:r>
              <a:rPr sz="2400" spc="-5" dirty="0">
                <a:solidFill>
                  <a:srgbClr val="6F2F9F"/>
                </a:solidFill>
                <a:latin typeface="Carlito"/>
                <a:cs typeface="Carlito"/>
              </a:rPr>
              <a:t>certain </a:t>
            </a:r>
            <a:r>
              <a:rPr sz="2400" spc="-10" dirty="0">
                <a:solidFill>
                  <a:srgbClr val="6F2F9F"/>
                </a:solidFill>
                <a:latin typeface="Carlito"/>
                <a:cs typeface="Carlito"/>
              </a:rPr>
              <a:t>jobs. </a:t>
            </a:r>
            <a:r>
              <a:rPr sz="2400" dirty="0">
                <a:solidFill>
                  <a:srgbClr val="6F2F9F"/>
                </a:solidFill>
                <a:latin typeface="Carlito"/>
                <a:cs typeface="Carlito"/>
              </a:rPr>
              <a:t>So this </a:t>
            </a:r>
            <a:r>
              <a:rPr sz="2400" spc="-5" dirty="0">
                <a:solidFill>
                  <a:srgbClr val="6F2F9F"/>
                </a:solidFill>
                <a:latin typeface="Carlito"/>
                <a:cs typeface="Carlito"/>
              </a:rPr>
              <a:t>method </a:t>
            </a:r>
            <a:r>
              <a:rPr sz="2400" dirty="0">
                <a:solidFill>
                  <a:srgbClr val="6F2F9F"/>
                </a:solidFill>
                <a:latin typeface="Carlito"/>
                <a:cs typeface="Carlito"/>
              </a:rPr>
              <a:t>is </a:t>
            </a:r>
            <a:r>
              <a:rPr sz="2400" spc="-5" dirty="0">
                <a:solidFill>
                  <a:srgbClr val="6F2F9F"/>
                </a:solidFill>
                <a:latin typeface="Carlito"/>
                <a:cs typeface="Carlito"/>
              </a:rPr>
              <a:t>not </a:t>
            </a:r>
            <a:r>
              <a:rPr sz="2400" spc="-10" dirty="0">
                <a:solidFill>
                  <a:srgbClr val="6F2F9F"/>
                </a:solidFill>
                <a:latin typeface="Carlito"/>
                <a:cs typeface="Carlito"/>
              </a:rPr>
              <a:t>suitable </a:t>
            </a:r>
            <a:r>
              <a:rPr sz="2400" spc="-20" dirty="0">
                <a:solidFill>
                  <a:srgbClr val="6F2F9F"/>
                </a:solidFill>
                <a:latin typeface="Carlito"/>
                <a:cs typeface="Carlito"/>
              </a:rPr>
              <a:t>for </a:t>
            </a:r>
            <a:r>
              <a:rPr sz="2400" spc="-15" dirty="0">
                <a:solidFill>
                  <a:srgbClr val="6F2F9F"/>
                </a:solidFill>
                <a:latin typeface="Carlito"/>
                <a:cs typeface="Carlito"/>
              </a:rPr>
              <a:t>large</a:t>
            </a:r>
            <a:r>
              <a:rPr sz="2400" spc="-35" dirty="0">
                <a:solidFill>
                  <a:srgbClr val="6F2F9F"/>
                </a:solidFill>
                <a:latin typeface="Carlito"/>
                <a:cs typeface="Carlito"/>
              </a:rPr>
              <a:t> </a:t>
            </a:r>
            <a:r>
              <a:rPr sz="2400" spc="-15" dirty="0">
                <a:solidFill>
                  <a:srgbClr val="6F2F9F"/>
                </a:solidFill>
                <a:latin typeface="Carlito"/>
                <a:cs typeface="Carlito"/>
              </a:rPr>
              <a:t>organization.</a:t>
            </a:r>
            <a:endParaRPr sz="2400">
              <a:latin typeface="Carlito"/>
              <a:cs typeface="Carlito"/>
            </a:endParaRPr>
          </a:p>
        </p:txBody>
      </p:sp>
      <p:graphicFrame>
        <p:nvGraphicFramePr>
          <p:cNvPr id="5" name="object 5"/>
          <p:cNvGraphicFramePr>
            <a:graphicFrameLocks noGrp="1"/>
          </p:cNvGraphicFramePr>
          <p:nvPr/>
        </p:nvGraphicFramePr>
        <p:xfrm>
          <a:off x="908050" y="2675889"/>
          <a:ext cx="6781165" cy="2194558"/>
        </p:xfrm>
        <a:graphic>
          <a:graphicData uri="http://schemas.openxmlformats.org/drawingml/2006/table">
            <a:tbl>
              <a:tblPr firstRow="1" bandRow="1">
                <a:tableStyleId>{2D5ABB26-0587-4C30-8999-92F81FD0307C}</a:tableStyleId>
              </a:tblPr>
              <a:tblGrid>
                <a:gridCol w="2671445"/>
                <a:gridCol w="1541145"/>
                <a:gridCol w="2568575"/>
              </a:tblGrid>
              <a:tr h="365760">
                <a:tc>
                  <a:txBody>
                    <a:bodyPr/>
                    <a:lstStyle/>
                    <a:p>
                      <a:pPr marL="91440">
                        <a:lnSpc>
                          <a:spcPct val="100000"/>
                        </a:lnSpc>
                        <a:spcBef>
                          <a:spcPts val="244"/>
                        </a:spcBef>
                      </a:pPr>
                      <a:r>
                        <a:rPr sz="1800" b="1" dirty="0">
                          <a:solidFill>
                            <a:srgbClr val="FFFFFF"/>
                          </a:solidFill>
                          <a:latin typeface="Carlito"/>
                          <a:cs typeface="Carlito"/>
                        </a:rPr>
                        <a:t>Job</a:t>
                      </a:r>
                      <a:r>
                        <a:rPr sz="1800" b="1" spc="-15" dirty="0">
                          <a:solidFill>
                            <a:srgbClr val="FFFFFF"/>
                          </a:solidFill>
                          <a:latin typeface="Carlito"/>
                          <a:cs typeface="Carlito"/>
                        </a:rPr>
                        <a:t> </a:t>
                      </a:r>
                      <a:r>
                        <a:rPr sz="1800" b="1" dirty="0">
                          <a:solidFill>
                            <a:srgbClr val="FFFFFF"/>
                          </a:solidFill>
                          <a:latin typeface="Carlito"/>
                          <a:cs typeface="Carlito"/>
                        </a:rPr>
                        <a:t>title</a:t>
                      </a:r>
                      <a:endParaRPr sz="1800" dirty="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244"/>
                        </a:spcBef>
                      </a:pPr>
                      <a:r>
                        <a:rPr sz="1800" b="1" spc="-10" dirty="0">
                          <a:solidFill>
                            <a:srgbClr val="FFFFFF"/>
                          </a:solidFill>
                          <a:latin typeface="Carlito"/>
                          <a:cs typeface="Carlito"/>
                        </a:rPr>
                        <a:t>Grade</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244"/>
                        </a:spcBef>
                      </a:pPr>
                      <a:r>
                        <a:rPr sz="1800" b="1" dirty="0">
                          <a:solidFill>
                            <a:srgbClr val="FFFFFF"/>
                          </a:solidFill>
                          <a:latin typeface="Carlito"/>
                          <a:cs typeface="Carlito"/>
                        </a:rPr>
                        <a:t>Salary</a:t>
                      </a:r>
                      <a:r>
                        <a:rPr sz="1800" b="1" spc="-20" dirty="0">
                          <a:solidFill>
                            <a:srgbClr val="FFFFFF"/>
                          </a:solidFill>
                          <a:latin typeface="Carlito"/>
                          <a:cs typeface="Carlito"/>
                        </a:rPr>
                        <a:t> </a:t>
                      </a:r>
                      <a:endParaRPr sz="1800" dirty="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r>
              <a:tr h="365760">
                <a:tc>
                  <a:txBody>
                    <a:bodyPr/>
                    <a:lstStyle/>
                    <a:p>
                      <a:pPr marL="91440">
                        <a:lnSpc>
                          <a:spcPct val="100000"/>
                        </a:lnSpc>
                        <a:spcBef>
                          <a:spcPts val="245"/>
                        </a:spcBef>
                      </a:pPr>
                      <a:r>
                        <a:rPr sz="1800" spc="-5" dirty="0">
                          <a:latin typeface="Carlito"/>
                          <a:cs typeface="Carlito"/>
                        </a:rPr>
                        <a:t>Engineer</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R="704850" algn="r">
                        <a:lnSpc>
                          <a:spcPct val="100000"/>
                        </a:lnSpc>
                        <a:spcBef>
                          <a:spcPts val="245"/>
                        </a:spcBef>
                      </a:pPr>
                      <a:r>
                        <a:rPr sz="1800" dirty="0">
                          <a:latin typeface="Carlito"/>
                          <a:cs typeface="Carlito"/>
                        </a:rPr>
                        <a:t>9</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45"/>
                        </a:spcBef>
                      </a:pPr>
                      <a:r>
                        <a:rPr sz="1800" spc="-5" dirty="0">
                          <a:latin typeface="Carlito"/>
                          <a:cs typeface="Carlito"/>
                        </a:rPr>
                        <a:t>25000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r>
              <a:tr h="365759">
                <a:tc>
                  <a:txBody>
                    <a:bodyPr/>
                    <a:lstStyle/>
                    <a:p>
                      <a:pPr marL="91440">
                        <a:lnSpc>
                          <a:spcPct val="100000"/>
                        </a:lnSpc>
                        <a:spcBef>
                          <a:spcPts val="244"/>
                        </a:spcBef>
                      </a:pPr>
                      <a:r>
                        <a:rPr sz="1800" spc="-10" dirty="0">
                          <a:latin typeface="Carlito"/>
                          <a:cs typeface="Carlito"/>
                        </a:rPr>
                        <a:t>Accountant</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R="704215" algn="r">
                        <a:lnSpc>
                          <a:spcPct val="100000"/>
                        </a:lnSpc>
                        <a:spcBef>
                          <a:spcPts val="244"/>
                        </a:spcBef>
                      </a:pPr>
                      <a:r>
                        <a:rPr sz="1800" dirty="0">
                          <a:latin typeface="Carlito"/>
                          <a:cs typeface="Carlito"/>
                        </a:rPr>
                        <a:t>8</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44"/>
                        </a:spcBef>
                      </a:pPr>
                      <a:r>
                        <a:rPr sz="1800" spc="-5" dirty="0">
                          <a:latin typeface="Carlito"/>
                          <a:cs typeface="Carlito"/>
                        </a:rPr>
                        <a:t>20000</a:t>
                      </a:r>
                      <a:endParaRPr sz="1800">
                        <a:latin typeface="Carlito"/>
                        <a:cs typeface="Carlito"/>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r h="365760">
                <a:tc>
                  <a:txBody>
                    <a:bodyPr/>
                    <a:lstStyle/>
                    <a:p>
                      <a:pPr marL="91440">
                        <a:lnSpc>
                          <a:spcPct val="100000"/>
                        </a:lnSpc>
                        <a:spcBef>
                          <a:spcPts val="245"/>
                        </a:spcBef>
                      </a:pPr>
                      <a:r>
                        <a:rPr sz="1800" spc="-10" dirty="0">
                          <a:latin typeface="Carlito"/>
                          <a:cs typeface="Carlito"/>
                        </a:rPr>
                        <a:t>Purchase</a:t>
                      </a:r>
                      <a:r>
                        <a:rPr sz="1800" spc="5" dirty="0">
                          <a:latin typeface="Carlito"/>
                          <a:cs typeface="Carlito"/>
                        </a:rPr>
                        <a:t> </a:t>
                      </a:r>
                      <a:r>
                        <a:rPr sz="1800" spc="-10" dirty="0">
                          <a:latin typeface="Carlito"/>
                          <a:cs typeface="Carlito"/>
                        </a:rPr>
                        <a:t>assistant</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R="704850" algn="r">
                        <a:lnSpc>
                          <a:spcPct val="100000"/>
                        </a:lnSpc>
                        <a:spcBef>
                          <a:spcPts val="245"/>
                        </a:spcBef>
                      </a:pPr>
                      <a:r>
                        <a:rPr sz="1800" dirty="0">
                          <a:latin typeface="Carlito"/>
                          <a:cs typeface="Carlito"/>
                        </a:rPr>
                        <a:t>7</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45"/>
                        </a:spcBef>
                      </a:pPr>
                      <a:r>
                        <a:rPr sz="1800" spc="-5" dirty="0">
                          <a:latin typeface="Carlito"/>
                          <a:cs typeface="Carlito"/>
                        </a:rPr>
                        <a:t>18000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r>
              <a:tr h="365759">
                <a:tc>
                  <a:txBody>
                    <a:bodyPr/>
                    <a:lstStyle/>
                    <a:p>
                      <a:pPr marL="91440">
                        <a:lnSpc>
                          <a:spcPct val="100000"/>
                        </a:lnSpc>
                        <a:spcBef>
                          <a:spcPts val="245"/>
                        </a:spcBef>
                      </a:pPr>
                      <a:r>
                        <a:rPr sz="1800" spc="-5" dirty="0">
                          <a:latin typeface="Carlito"/>
                          <a:cs typeface="Carlito"/>
                        </a:rPr>
                        <a:t>Machine</a:t>
                      </a:r>
                      <a:r>
                        <a:rPr sz="1800" spc="25" dirty="0">
                          <a:latin typeface="Carlito"/>
                          <a:cs typeface="Carlito"/>
                        </a:rPr>
                        <a:t> </a:t>
                      </a:r>
                      <a:r>
                        <a:rPr sz="1800" spc="-15" dirty="0">
                          <a:latin typeface="Carlito"/>
                          <a:cs typeface="Carlito"/>
                        </a:rPr>
                        <a:t>Operator</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R="704850" algn="r">
                        <a:lnSpc>
                          <a:spcPct val="100000"/>
                        </a:lnSpc>
                        <a:spcBef>
                          <a:spcPts val="245"/>
                        </a:spcBef>
                      </a:pPr>
                      <a:r>
                        <a:rPr sz="1800" dirty="0">
                          <a:latin typeface="Carlito"/>
                          <a:cs typeface="Carlito"/>
                        </a:rPr>
                        <a:t>6</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45"/>
                        </a:spcBef>
                      </a:pPr>
                      <a:r>
                        <a:rPr sz="1800" spc="-5" dirty="0">
                          <a:latin typeface="Carlito"/>
                          <a:cs typeface="Carlito"/>
                        </a:rPr>
                        <a:t>15000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r h="365760">
                <a:tc>
                  <a:txBody>
                    <a:bodyPr/>
                    <a:lstStyle/>
                    <a:p>
                      <a:pPr marL="91440">
                        <a:lnSpc>
                          <a:spcPct val="100000"/>
                        </a:lnSpc>
                        <a:spcBef>
                          <a:spcPts val="245"/>
                        </a:spcBef>
                      </a:pPr>
                      <a:r>
                        <a:rPr sz="1800" spc="-10" dirty="0">
                          <a:latin typeface="Carlito"/>
                          <a:cs typeface="Carlito"/>
                        </a:rPr>
                        <a:t>Office</a:t>
                      </a:r>
                      <a:r>
                        <a:rPr sz="1800" spc="-5" dirty="0">
                          <a:latin typeface="Carlito"/>
                          <a:cs typeface="Carlito"/>
                        </a:rPr>
                        <a:t> Boy</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R="704850" algn="r">
                        <a:lnSpc>
                          <a:spcPct val="100000"/>
                        </a:lnSpc>
                        <a:spcBef>
                          <a:spcPts val="245"/>
                        </a:spcBef>
                      </a:pPr>
                      <a:r>
                        <a:rPr sz="1800" dirty="0">
                          <a:latin typeface="Carlito"/>
                          <a:cs typeface="Carlito"/>
                        </a:rPr>
                        <a:t>5</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45"/>
                        </a:spcBef>
                      </a:pPr>
                      <a:r>
                        <a:rPr sz="1800" spc="-5" dirty="0">
                          <a:latin typeface="Carlito"/>
                          <a:cs typeface="Carlito"/>
                        </a:rPr>
                        <a:t>10000</a:t>
                      </a:r>
                      <a:endParaRPr sz="1800">
                        <a:latin typeface="Carlito"/>
                        <a:cs typeface="Carlito"/>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8" y="108321"/>
            <a:ext cx="6922154" cy="504625"/>
          </a:xfrm>
          <a:prstGeom prst="rect">
            <a:avLst/>
          </a:prstGeom>
        </p:spPr>
        <p:txBody>
          <a:bodyPr vert="horz" wrap="square" lIns="0" tIns="12065" rIns="0" bIns="0" rtlCol="0">
            <a:spAutoFit/>
          </a:bodyPr>
          <a:lstStyle/>
          <a:p>
            <a:pPr marL="12700" algn="ctr">
              <a:lnSpc>
                <a:spcPct val="100000"/>
              </a:lnSpc>
              <a:spcBef>
                <a:spcPts val="95"/>
              </a:spcBef>
            </a:pPr>
            <a:r>
              <a:rPr sz="3200" spc="-10" dirty="0">
                <a:uFill>
                  <a:solidFill>
                    <a:srgbClr val="00AF50"/>
                  </a:solidFill>
                </a:uFill>
              </a:rPr>
              <a:t>Classification</a:t>
            </a:r>
            <a:r>
              <a:rPr sz="3200" spc="15" dirty="0">
                <a:uFill>
                  <a:solidFill>
                    <a:srgbClr val="00AF50"/>
                  </a:solidFill>
                </a:uFill>
              </a:rPr>
              <a:t> </a:t>
            </a:r>
            <a:r>
              <a:rPr sz="3200" spc="-10" dirty="0">
                <a:uFill>
                  <a:solidFill>
                    <a:srgbClr val="00AF50"/>
                  </a:solidFill>
                </a:uFill>
              </a:rPr>
              <a:t>method</a:t>
            </a:r>
          </a:p>
        </p:txBody>
      </p:sp>
      <p:sp>
        <p:nvSpPr>
          <p:cNvPr id="3" name="object 3"/>
          <p:cNvSpPr txBox="1"/>
          <p:nvPr/>
        </p:nvSpPr>
        <p:spPr>
          <a:xfrm>
            <a:off x="231140" y="851661"/>
            <a:ext cx="8529320" cy="6014467"/>
          </a:xfrm>
          <a:prstGeom prst="rect">
            <a:avLst/>
          </a:prstGeom>
        </p:spPr>
        <p:txBody>
          <a:bodyPr vert="horz" wrap="square" lIns="0" tIns="12700" rIns="0" bIns="0" rtlCol="0">
            <a:spAutoFit/>
          </a:bodyPr>
          <a:lstStyle/>
          <a:p>
            <a:pPr marL="12700" marR="5080" indent="914400" algn="just">
              <a:lnSpc>
                <a:spcPct val="100000"/>
              </a:lnSpc>
              <a:spcBef>
                <a:spcPts val="100"/>
              </a:spcBef>
            </a:pPr>
            <a:r>
              <a:rPr sz="2400" spc="-10" dirty="0">
                <a:latin typeface="Carlito"/>
                <a:cs typeface="Carlito"/>
              </a:rPr>
              <a:t>Classification </a:t>
            </a:r>
            <a:r>
              <a:rPr sz="2400" spc="-20" dirty="0">
                <a:latin typeface="Carlito"/>
                <a:cs typeface="Carlito"/>
              </a:rPr>
              <a:t>systems </a:t>
            </a:r>
            <a:r>
              <a:rPr sz="2400" spc="-10" dirty="0">
                <a:latin typeface="Carlito"/>
                <a:cs typeface="Carlito"/>
              </a:rPr>
              <a:t>define </a:t>
            </a:r>
            <a:r>
              <a:rPr sz="2400" dirty="0">
                <a:latin typeface="Carlito"/>
                <a:cs typeface="Carlito"/>
              </a:rPr>
              <a:t>the </a:t>
            </a:r>
            <a:r>
              <a:rPr sz="2400" spc="-10" dirty="0">
                <a:latin typeface="Carlito"/>
                <a:cs typeface="Carlito"/>
              </a:rPr>
              <a:t>value </a:t>
            </a:r>
            <a:r>
              <a:rPr sz="2400" spc="-5" dirty="0">
                <a:latin typeface="Carlito"/>
                <a:cs typeface="Carlito"/>
              </a:rPr>
              <a:t>of jobs, people, </a:t>
            </a:r>
            <a:r>
              <a:rPr sz="2400" spc="-10" dirty="0">
                <a:latin typeface="Carlito"/>
                <a:cs typeface="Carlito"/>
              </a:rPr>
              <a:t>or  </a:t>
            </a:r>
            <a:r>
              <a:rPr sz="2400" spc="-5" dirty="0">
                <a:latin typeface="Carlito"/>
                <a:cs typeface="Carlito"/>
              </a:rPr>
              <a:t>teams with </a:t>
            </a:r>
            <a:r>
              <a:rPr sz="2400" spc="-10" dirty="0">
                <a:latin typeface="Carlito"/>
                <a:cs typeface="Carlito"/>
              </a:rPr>
              <a:t>written </a:t>
            </a:r>
            <a:r>
              <a:rPr sz="2400" spc="-15" dirty="0">
                <a:latin typeface="Carlito"/>
                <a:cs typeface="Carlito"/>
              </a:rPr>
              <a:t>standards </a:t>
            </a:r>
            <a:r>
              <a:rPr sz="2400" spc="-20" dirty="0">
                <a:latin typeface="Carlito"/>
                <a:cs typeface="Carlito"/>
              </a:rPr>
              <a:t>for </a:t>
            </a:r>
            <a:r>
              <a:rPr sz="2400" dirty="0">
                <a:latin typeface="Carlito"/>
                <a:cs typeface="Carlito"/>
              </a:rPr>
              <a:t>a </a:t>
            </a:r>
            <a:r>
              <a:rPr sz="2400" spc="-20" dirty="0">
                <a:latin typeface="Carlito"/>
                <a:cs typeface="Carlito"/>
              </a:rPr>
              <a:t>hierarchy </a:t>
            </a:r>
            <a:r>
              <a:rPr sz="2400" spc="-5" dirty="0">
                <a:latin typeface="Carlito"/>
                <a:cs typeface="Carlito"/>
              </a:rPr>
              <a:t>of </a:t>
            </a:r>
            <a:r>
              <a:rPr sz="2400" spc="-10" dirty="0">
                <a:latin typeface="Carlito"/>
                <a:cs typeface="Carlito"/>
              </a:rPr>
              <a:t>classification </a:t>
            </a:r>
            <a:r>
              <a:rPr sz="2400" spc="-5" dirty="0">
                <a:latin typeface="Carlito"/>
                <a:cs typeface="Carlito"/>
              </a:rPr>
              <a:t>level. It  </a:t>
            </a:r>
            <a:r>
              <a:rPr sz="2400" spc="-15" dirty="0">
                <a:latin typeface="Carlito"/>
                <a:cs typeface="Carlito"/>
              </a:rPr>
              <a:t>involves </a:t>
            </a:r>
            <a:r>
              <a:rPr sz="2400" spc="-5" dirty="0">
                <a:latin typeface="Carlito"/>
                <a:cs typeface="Carlito"/>
              </a:rPr>
              <a:t>only </a:t>
            </a:r>
            <a:r>
              <a:rPr sz="2400" spc="-10" dirty="0">
                <a:latin typeface="Carlito"/>
                <a:cs typeface="Carlito"/>
              </a:rPr>
              <a:t>matching </a:t>
            </a:r>
            <a:r>
              <a:rPr sz="2400" dirty="0">
                <a:latin typeface="Carlito"/>
                <a:cs typeface="Carlito"/>
              </a:rPr>
              <a:t>a </a:t>
            </a:r>
            <a:r>
              <a:rPr sz="2400" spc="-5" dirty="0">
                <a:latin typeface="Carlito"/>
                <a:cs typeface="Carlito"/>
              </a:rPr>
              <a:t>specific job </a:t>
            </a:r>
            <a:r>
              <a:rPr sz="2400" dirty="0">
                <a:latin typeface="Carlito"/>
                <a:cs typeface="Carlito"/>
              </a:rPr>
              <a:t>with a </a:t>
            </a:r>
            <a:r>
              <a:rPr sz="2400" spc="-10" dirty="0">
                <a:latin typeface="Carlito"/>
                <a:cs typeface="Carlito"/>
              </a:rPr>
              <a:t>list </a:t>
            </a:r>
            <a:r>
              <a:rPr sz="2400" spc="-5" dirty="0">
                <a:latin typeface="Carlito"/>
                <a:cs typeface="Carlito"/>
              </a:rPr>
              <a:t>of </a:t>
            </a:r>
            <a:r>
              <a:rPr sz="2400" spc="-15" dirty="0">
                <a:latin typeface="Carlito"/>
                <a:cs typeface="Carlito"/>
              </a:rPr>
              <a:t>tasks </a:t>
            </a:r>
            <a:r>
              <a:rPr sz="2400" dirty="0">
                <a:latin typeface="Carlito"/>
                <a:cs typeface="Carlito"/>
              </a:rPr>
              <a:t>in a  </a:t>
            </a:r>
            <a:r>
              <a:rPr sz="2400" spc="-5" dirty="0">
                <a:latin typeface="Carlito"/>
                <a:cs typeface="Carlito"/>
              </a:rPr>
              <a:t>predetermined </a:t>
            </a:r>
            <a:r>
              <a:rPr sz="2400" dirty="0">
                <a:latin typeface="Carlito"/>
                <a:cs typeface="Carlito"/>
              </a:rPr>
              <a:t>labor </a:t>
            </a:r>
            <a:r>
              <a:rPr sz="2400" spc="-10" dirty="0">
                <a:latin typeface="Carlito"/>
                <a:cs typeface="Carlito"/>
              </a:rPr>
              <a:t>grade. Each grade </a:t>
            </a:r>
            <a:r>
              <a:rPr sz="2400" spc="-5" dirty="0">
                <a:latin typeface="Carlito"/>
                <a:cs typeface="Carlito"/>
              </a:rPr>
              <a:t>has asset money</a:t>
            </a:r>
            <a:r>
              <a:rPr sz="2400" spc="-70" dirty="0">
                <a:latin typeface="Carlito"/>
                <a:cs typeface="Carlito"/>
              </a:rPr>
              <a:t> </a:t>
            </a:r>
            <a:r>
              <a:rPr sz="2400" spc="-20" dirty="0">
                <a:latin typeface="Carlito"/>
                <a:cs typeface="Carlito"/>
              </a:rPr>
              <a:t>rate.</a:t>
            </a:r>
            <a:endParaRPr sz="2400" dirty="0">
              <a:latin typeface="Carlito"/>
              <a:cs typeface="Carlito"/>
            </a:endParaRPr>
          </a:p>
          <a:p>
            <a:pPr marL="12700">
              <a:lnSpc>
                <a:spcPct val="100000"/>
              </a:lnSpc>
              <a:spcBef>
                <a:spcPts val="575"/>
              </a:spcBef>
            </a:pPr>
            <a:r>
              <a:rPr sz="2400" b="1" u="heavy" spc="-10" dirty="0">
                <a:uFill>
                  <a:solidFill>
                    <a:srgbClr val="000000"/>
                  </a:solidFill>
                </a:uFill>
                <a:latin typeface="Carlito"/>
                <a:cs typeface="Carlito"/>
              </a:rPr>
              <a:t>PROCESS:</a:t>
            </a:r>
            <a:endParaRPr sz="2400" dirty="0">
              <a:latin typeface="Carlito"/>
              <a:cs typeface="Carlito"/>
            </a:endParaRPr>
          </a:p>
          <a:p>
            <a:pPr marL="927100" marR="5715" indent="-161925">
              <a:lnSpc>
                <a:spcPct val="100000"/>
              </a:lnSpc>
              <a:spcBef>
                <a:spcPts val="580"/>
              </a:spcBef>
              <a:buAutoNum type="arabicPeriod"/>
              <a:tabLst>
                <a:tab pos="1280795" algn="l"/>
                <a:tab pos="1281430" algn="l"/>
                <a:tab pos="2578735" algn="l"/>
                <a:tab pos="4373245" algn="l"/>
                <a:tab pos="5012055" algn="l"/>
                <a:tab pos="5443220" algn="l"/>
                <a:tab pos="6796405" algn="l"/>
                <a:tab pos="7334884" algn="l"/>
              </a:tabLst>
            </a:pPr>
            <a:r>
              <a:rPr sz="2400" spc="-15" dirty="0">
                <a:latin typeface="Carlito"/>
                <a:cs typeface="Carlito"/>
              </a:rPr>
              <a:t>D</a:t>
            </a:r>
            <a:r>
              <a:rPr sz="2400" dirty="0">
                <a:latin typeface="Carlito"/>
                <a:cs typeface="Carlito"/>
              </a:rPr>
              <a:t>e</a:t>
            </a:r>
            <a:r>
              <a:rPr sz="2400" spc="-35" dirty="0">
                <a:latin typeface="Carlito"/>
                <a:cs typeface="Carlito"/>
              </a:rPr>
              <a:t>v</a:t>
            </a:r>
            <a:r>
              <a:rPr sz="2400" dirty="0">
                <a:latin typeface="Carlito"/>
                <a:cs typeface="Carlito"/>
              </a:rPr>
              <a:t>elop	</a:t>
            </a:r>
            <a:r>
              <a:rPr sz="2400" spc="-5" dirty="0">
                <a:latin typeface="Carlito"/>
                <a:cs typeface="Carlito"/>
              </a:rPr>
              <a:t>de</a:t>
            </a:r>
            <a:r>
              <a:rPr sz="2400" spc="10" dirty="0">
                <a:latin typeface="Carlito"/>
                <a:cs typeface="Carlito"/>
              </a:rPr>
              <a:t>s</a:t>
            </a:r>
            <a:r>
              <a:rPr sz="2400" dirty="0">
                <a:latin typeface="Carlito"/>
                <a:cs typeface="Carlito"/>
              </a:rPr>
              <a:t>cr</a:t>
            </a:r>
            <a:r>
              <a:rPr sz="2400" spc="5" dirty="0">
                <a:latin typeface="Carlito"/>
                <a:cs typeface="Carlito"/>
              </a:rPr>
              <a:t>i</a:t>
            </a:r>
            <a:r>
              <a:rPr sz="2400" spc="-15" dirty="0">
                <a:latin typeface="Carlito"/>
                <a:cs typeface="Carlito"/>
              </a:rPr>
              <a:t>p</a:t>
            </a:r>
            <a:r>
              <a:rPr sz="2400" dirty="0">
                <a:latin typeface="Carlito"/>
                <a:cs typeface="Carlito"/>
              </a:rPr>
              <a:t>tions	</a:t>
            </a:r>
            <a:r>
              <a:rPr sz="2400" spc="-50" dirty="0">
                <a:latin typeface="Carlito"/>
                <a:cs typeface="Carlito"/>
              </a:rPr>
              <a:t>f</a:t>
            </a:r>
            <a:r>
              <a:rPr sz="2400" spc="-5" dirty="0">
                <a:latin typeface="Carlito"/>
                <a:cs typeface="Carlito"/>
              </a:rPr>
              <a:t>o</a:t>
            </a:r>
            <a:r>
              <a:rPr sz="2400" dirty="0">
                <a:latin typeface="Carlito"/>
                <a:cs typeface="Carlito"/>
              </a:rPr>
              <a:t>r	a	</a:t>
            </a:r>
            <a:r>
              <a:rPr sz="2400" spc="-20" dirty="0">
                <a:latin typeface="Carlito"/>
                <a:cs typeface="Carlito"/>
              </a:rPr>
              <a:t>c</a:t>
            </a:r>
            <a:r>
              <a:rPr sz="2400" spc="-25" dirty="0">
                <a:latin typeface="Carlito"/>
                <a:cs typeface="Carlito"/>
              </a:rPr>
              <a:t>at</a:t>
            </a:r>
            <a:r>
              <a:rPr sz="2400" dirty="0">
                <a:latin typeface="Carlito"/>
                <a:cs typeface="Carlito"/>
              </a:rPr>
              <a:t>e</a:t>
            </a:r>
            <a:r>
              <a:rPr sz="2400" spc="-25" dirty="0">
                <a:latin typeface="Carlito"/>
                <a:cs typeface="Carlito"/>
              </a:rPr>
              <a:t>g</a:t>
            </a:r>
            <a:r>
              <a:rPr sz="2400" spc="-5" dirty="0">
                <a:latin typeface="Carlito"/>
                <a:cs typeface="Carlito"/>
              </a:rPr>
              <a:t>o</a:t>
            </a:r>
            <a:r>
              <a:rPr sz="2400" spc="5" dirty="0">
                <a:latin typeface="Carlito"/>
                <a:cs typeface="Carlito"/>
              </a:rPr>
              <a:t>r</a:t>
            </a:r>
            <a:r>
              <a:rPr sz="2400" dirty="0">
                <a:latin typeface="Carlito"/>
                <a:cs typeface="Carlito"/>
              </a:rPr>
              <a:t>y	</a:t>
            </a:r>
            <a:r>
              <a:rPr sz="2400" spc="-5" dirty="0">
                <a:latin typeface="Carlito"/>
                <a:cs typeface="Carlito"/>
              </a:rPr>
              <a:t>o</a:t>
            </a:r>
            <a:r>
              <a:rPr sz="2400" dirty="0">
                <a:latin typeface="Carlito"/>
                <a:cs typeface="Carlito"/>
              </a:rPr>
              <a:t>f	</a:t>
            </a:r>
            <a:r>
              <a:rPr sz="2400" spc="-5" dirty="0">
                <a:latin typeface="Carlito"/>
                <a:cs typeface="Carlito"/>
              </a:rPr>
              <a:t>jo</a:t>
            </a:r>
            <a:r>
              <a:rPr sz="2400" spc="-15" dirty="0">
                <a:latin typeface="Carlito"/>
                <a:cs typeface="Carlito"/>
              </a:rPr>
              <a:t>b</a:t>
            </a:r>
            <a:r>
              <a:rPr sz="2400" spc="-5" dirty="0">
                <a:latin typeface="Carlito"/>
                <a:cs typeface="Carlito"/>
              </a:rPr>
              <a:t>s—job  </a:t>
            </a:r>
            <a:r>
              <a:rPr sz="2400" spc="-10" dirty="0">
                <a:latin typeface="Carlito"/>
                <a:cs typeface="Carlito"/>
              </a:rPr>
              <a:t>classes/grade</a:t>
            </a:r>
            <a:endParaRPr sz="2400" dirty="0">
              <a:latin typeface="Carlito"/>
              <a:cs typeface="Carlito"/>
            </a:endParaRPr>
          </a:p>
          <a:p>
            <a:pPr marL="995680" marR="5080" indent="-230504">
              <a:lnSpc>
                <a:spcPct val="100000"/>
              </a:lnSpc>
              <a:spcBef>
                <a:spcPts val="575"/>
              </a:spcBef>
              <a:buAutoNum type="arabicPeriod"/>
              <a:tabLst>
                <a:tab pos="1095375" algn="l"/>
              </a:tabLst>
            </a:pPr>
            <a:r>
              <a:rPr sz="2400" spc="-10" dirty="0">
                <a:latin typeface="Carlito"/>
                <a:cs typeface="Carlito"/>
              </a:rPr>
              <a:t>Develop </a:t>
            </a:r>
            <a:r>
              <a:rPr sz="2400" spc="-15" dirty="0">
                <a:latin typeface="Carlito"/>
                <a:cs typeface="Carlito"/>
              </a:rPr>
              <a:t>standards </a:t>
            </a:r>
            <a:r>
              <a:rPr sz="2400" spc="-20" dirty="0">
                <a:latin typeface="Carlito"/>
                <a:cs typeface="Carlito"/>
              </a:rPr>
              <a:t>for </a:t>
            </a:r>
            <a:r>
              <a:rPr sz="2400" dirty="0">
                <a:latin typeface="Carlito"/>
                <a:cs typeface="Carlito"/>
              </a:rPr>
              <a:t>each </a:t>
            </a:r>
            <a:r>
              <a:rPr sz="2400" spc="-15" dirty="0">
                <a:latin typeface="Carlito"/>
                <a:cs typeface="Carlito"/>
              </a:rPr>
              <a:t>category by </a:t>
            </a:r>
            <a:r>
              <a:rPr sz="2400" spc="-5" dirty="0">
                <a:latin typeface="Carlito"/>
                <a:cs typeface="Carlito"/>
              </a:rPr>
              <a:t>describing </a:t>
            </a:r>
            <a:r>
              <a:rPr sz="2400" dirty="0">
                <a:latin typeface="Carlito"/>
                <a:cs typeface="Carlito"/>
              </a:rPr>
              <a:t>the </a:t>
            </a:r>
            <a:r>
              <a:rPr sz="2400" spc="-35" dirty="0">
                <a:latin typeface="Carlito"/>
                <a:cs typeface="Carlito"/>
              </a:rPr>
              <a:t>key  </a:t>
            </a:r>
            <a:r>
              <a:rPr sz="2400" spc="-10" dirty="0">
                <a:latin typeface="Carlito"/>
                <a:cs typeface="Carlito"/>
              </a:rPr>
              <a:t>characteristics </a:t>
            </a:r>
            <a:r>
              <a:rPr sz="2400" spc="-5" dirty="0">
                <a:latin typeface="Carlito"/>
                <a:cs typeface="Carlito"/>
              </a:rPr>
              <a:t>of those </a:t>
            </a:r>
            <a:r>
              <a:rPr sz="2400" spc="-10" dirty="0">
                <a:latin typeface="Carlito"/>
                <a:cs typeface="Carlito"/>
              </a:rPr>
              <a:t>jobs </a:t>
            </a:r>
            <a:r>
              <a:rPr sz="2400" dirty="0">
                <a:latin typeface="Carlito"/>
                <a:cs typeface="Carlito"/>
              </a:rPr>
              <a:t>in the</a:t>
            </a:r>
            <a:r>
              <a:rPr sz="2400" spc="-30" dirty="0">
                <a:latin typeface="Carlito"/>
                <a:cs typeface="Carlito"/>
              </a:rPr>
              <a:t> category.</a:t>
            </a:r>
            <a:endParaRPr sz="2400" dirty="0">
              <a:latin typeface="Carlito"/>
              <a:cs typeface="Carlito"/>
            </a:endParaRPr>
          </a:p>
          <a:p>
            <a:pPr marL="927100" marR="5080" indent="-161925">
              <a:lnSpc>
                <a:spcPct val="100000"/>
              </a:lnSpc>
              <a:spcBef>
                <a:spcPts val="580"/>
              </a:spcBef>
              <a:buAutoNum type="arabicPeriod"/>
              <a:tabLst>
                <a:tab pos="1137285" algn="l"/>
                <a:tab pos="1137920" algn="l"/>
                <a:tab pos="2068195" algn="l"/>
                <a:tab pos="2720975" algn="l"/>
                <a:tab pos="3120390" algn="l"/>
                <a:tab pos="3676650" algn="l"/>
                <a:tab pos="5088255" algn="l"/>
                <a:tab pos="5967730" algn="l"/>
                <a:tab pos="6429375" algn="l"/>
                <a:tab pos="6985634" algn="l"/>
                <a:tab pos="8263255" algn="l"/>
              </a:tabLst>
            </a:pPr>
            <a:r>
              <a:rPr sz="2400" spc="-15" dirty="0">
                <a:latin typeface="Carlito"/>
                <a:cs typeface="Carlito"/>
              </a:rPr>
              <a:t>M</a:t>
            </a:r>
            <a:r>
              <a:rPr sz="2400" spc="-35" dirty="0">
                <a:latin typeface="Carlito"/>
                <a:cs typeface="Carlito"/>
              </a:rPr>
              <a:t>a</a:t>
            </a:r>
            <a:r>
              <a:rPr sz="2400" spc="-25" dirty="0">
                <a:latin typeface="Carlito"/>
                <a:cs typeface="Carlito"/>
              </a:rPr>
              <a:t>t</a:t>
            </a:r>
            <a:r>
              <a:rPr sz="2400" dirty="0">
                <a:latin typeface="Carlito"/>
                <a:cs typeface="Carlito"/>
              </a:rPr>
              <a:t>ch	</a:t>
            </a:r>
            <a:r>
              <a:rPr sz="2400" spc="-5" dirty="0">
                <a:latin typeface="Carlito"/>
                <a:cs typeface="Carlito"/>
              </a:rPr>
              <a:t>jo</a:t>
            </a:r>
            <a:r>
              <a:rPr sz="2400" spc="-15" dirty="0">
                <a:latin typeface="Carlito"/>
                <a:cs typeface="Carlito"/>
              </a:rPr>
              <a:t>b</a:t>
            </a:r>
            <a:r>
              <a:rPr sz="2400" dirty="0">
                <a:latin typeface="Carlito"/>
                <a:cs typeface="Carlito"/>
              </a:rPr>
              <a:t>s	</a:t>
            </a:r>
            <a:r>
              <a:rPr sz="2400" spc="-25" dirty="0">
                <a:latin typeface="Carlito"/>
                <a:cs typeface="Carlito"/>
              </a:rPr>
              <a:t>t</a:t>
            </a:r>
            <a:r>
              <a:rPr sz="2400" dirty="0">
                <a:latin typeface="Carlito"/>
                <a:cs typeface="Carlito"/>
              </a:rPr>
              <a:t>o	the	</a:t>
            </a:r>
            <a:r>
              <a:rPr sz="2400" spc="-20" dirty="0">
                <a:latin typeface="Carlito"/>
                <a:cs typeface="Carlito"/>
              </a:rPr>
              <a:t>c</a:t>
            </a:r>
            <a:r>
              <a:rPr sz="2400" spc="-25" dirty="0">
                <a:latin typeface="Carlito"/>
                <a:cs typeface="Carlito"/>
              </a:rPr>
              <a:t>at</a:t>
            </a:r>
            <a:r>
              <a:rPr sz="2400" dirty="0">
                <a:latin typeface="Carlito"/>
                <a:cs typeface="Carlito"/>
              </a:rPr>
              <a:t>e</a:t>
            </a:r>
            <a:r>
              <a:rPr sz="2400" spc="-25" dirty="0">
                <a:latin typeface="Carlito"/>
                <a:cs typeface="Carlito"/>
              </a:rPr>
              <a:t>g</a:t>
            </a:r>
            <a:r>
              <a:rPr sz="2400" spc="-5" dirty="0">
                <a:latin typeface="Carlito"/>
                <a:cs typeface="Carlito"/>
              </a:rPr>
              <a:t>orie</a:t>
            </a:r>
            <a:r>
              <a:rPr sz="2400" dirty="0">
                <a:latin typeface="Carlito"/>
                <a:cs typeface="Carlito"/>
              </a:rPr>
              <a:t>s	</a:t>
            </a:r>
            <a:r>
              <a:rPr sz="2400" spc="-5" dirty="0">
                <a:latin typeface="Carlito"/>
                <a:cs typeface="Carlito"/>
              </a:rPr>
              <a:t>base</a:t>
            </a:r>
            <a:r>
              <a:rPr sz="2400" dirty="0">
                <a:latin typeface="Carlito"/>
                <a:cs typeface="Carlito"/>
              </a:rPr>
              <a:t>d	</a:t>
            </a:r>
            <a:r>
              <a:rPr sz="2400" spc="-10" dirty="0">
                <a:latin typeface="Carlito"/>
                <a:cs typeface="Carlito"/>
              </a:rPr>
              <a:t>o</a:t>
            </a:r>
            <a:r>
              <a:rPr sz="2400" dirty="0">
                <a:latin typeface="Carlito"/>
                <a:cs typeface="Carlito"/>
              </a:rPr>
              <a:t>n	the	</a:t>
            </a:r>
            <a:r>
              <a:rPr sz="2400" spc="-5" dirty="0">
                <a:latin typeface="Carlito"/>
                <a:cs typeface="Carlito"/>
              </a:rPr>
              <a:t>sim</a:t>
            </a:r>
            <a:r>
              <a:rPr sz="2400" spc="-15" dirty="0">
                <a:latin typeface="Carlito"/>
                <a:cs typeface="Carlito"/>
              </a:rPr>
              <a:t>i</a:t>
            </a:r>
            <a:r>
              <a:rPr sz="2400" dirty="0">
                <a:latin typeface="Carlito"/>
                <a:cs typeface="Carlito"/>
              </a:rPr>
              <a:t>larity	</a:t>
            </a:r>
            <a:r>
              <a:rPr sz="2400" spc="-10" dirty="0">
                <a:latin typeface="Carlito"/>
                <a:cs typeface="Carlito"/>
              </a:rPr>
              <a:t>of  tasks.</a:t>
            </a:r>
            <a:endParaRPr sz="2400" dirty="0">
              <a:latin typeface="Carlito"/>
              <a:cs typeface="Carlito"/>
            </a:endParaRPr>
          </a:p>
          <a:p>
            <a:pPr marL="12700">
              <a:lnSpc>
                <a:spcPct val="100000"/>
              </a:lnSpc>
              <a:spcBef>
                <a:spcPts val="575"/>
              </a:spcBef>
            </a:pPr>
            <a:r>
              <a:rPr sz="2400" b="1" u="heavy" spc="-25" dirty="0">
                <a:uFill>
                  <a:solidFill>
                    <a:srgbClr val="000000"/>
                  </a:solidFill>
                </a:uFill>
                <a:latin typeface="Carlito"/>
                <a:cs typeface="Carlito"/>
              </a:rPr>
              <a:t>RESULTS:</a:t>
            </a:r>
            <a:endParaRPr sz="2400" dirty="0">
              <a:latin typeface="Carlito"/>
              <a:cs typeface="Carlito"/>
            </a:endParaRPr>
          </a:p>
          <a:p>
            <a:pPr marL="12700" marR="6350">
              <a:lnSpc>
                <a:spcPct val="100000"/>
              </a:lnSpc>
              <a:spcBef>
                <a:spcPts val="575"/>
              </a:spcBef>
            </a:pPr>
            <a:r>
              <a:rPr sz="2400" dirty="0">
                <a:latin typeface="Carlito"/>
                <a:cs typeface="Carlito"/>
              </a:rPr>
              <a:t>Job </a:t>
            </a:r>
            <a:r>
              <a:rPr sz="2400" spc="-5" dirty="0">
                <a:latin typeface="Carlito"/>
                <a:cs typeface="Carlito"/>
              </a:rPr>
              <a:t>classes </a:t>
            </a:r>
            <a:r>
              <a:rPr sz="2400" spc="-15" dirty="0">
                <a:latin typeface="Carlito"/>
                <a:cs typeface="Carlito"/>
              </a:rPr>
              <a:t>are </a:t>
            </a:r>
            <a:r>
              <a:rPr sz="2400" spc="-5" dirty="0">
                <a:latin typeface="Carlito"/>
                <a:cs typeface="Carlito"/>
              </a:rPr>
              <a:t>classified </a:t>
            </a:r>
            <a:r>
              <a:rPr sz="2400" spc="-20" dirty="0">
                <a:latin typeface="Carlito"/>
                <a:cs typeface="Carlito"/>
              </a:rPr>
              <a:t>like </a:t>
            </a:r>
            <a:r>
              <a:rPr sz="2400" spc="-5" dirty="0">
                <a:latin typeface="Carlito"/>
                <a:cs typeface="Carlito"/>
              </a:rPr>
              <a:t>managerial </a:t>
            </a:r>
            <a:r>
              <a:rPr sz="2400" dirty="0">
                <a:latin typeface="Carlito"/>
                <a:cs typeface="Carlito"/>
              </a:rPr>
              <a:t>, </a:t>
            </a:r>
            <a:r>
              <a:rPr sz="2400" spc="-10" dirty="0">
                <a:latin typeface="Carlito"/>
                <a:cs typeface="Carlito"/>
              </a:rPr>
              <a:t>office </a:t>
            </a:r>
            <a:r>
              <a:rPr sz="2400" spc="-5" dirty="0">
                <a:latin typeface="Carlito"/>
                <a:cs typeface="Carlito"/>
              </a:rPr>
              <a:t>clerical and </a:t>
            </a:r>
            <a:r>
              <a:rPr sz="2400" dirty="0">
                <a:latin typeface="Carlito"/>
                <a:cs typeface="Carlito"/>
              </a:rPr>
              <a:t>then  </a:t>
            </a:r>
            <a:r>
              <a:rPr sz="2400" spc="-10" dirty="0">
                <a:latin typeface="Carlito"/>
                <a:cs typeface="Carlito"/>
              </a:rPr>
              <a:t>jobs </a:t>
            </a:r>
            <a:r>
              <a:rPr sz="2400" spc="-15" dirty="0">
                <a:latin typeface="Carlito"/>
                <a:cs typeface="Carlito"/>
              </a:rPr>
              <a:t>are </a:t>
            </a:r>
            <a:r>
              <a:rPr sz="2400" dirty="0">
                <a:latin typeface="Carlito"/>
                <a:cs typeface="Carlito"/>
              </a:rPr>
              <a:t>assigned </a:t>
            </a:r>
            <a:r>
              <a:rPr sz="2400" spc="-15" dirty="0">
                <a:latin typeface="Carlito"/>
                <a:cs typeface="Carlito"/>
              </a:rPr>
              <a:t>to </a:t>
            </a:r>
            <a:r>
              <a:rPr sz="2400" dirty="0">
                <a:latin typeface="Carlito"/>
                <a:cs typeface="Carlito"/>
              </a:rPr>
              <a:t>these</a:t>
            </a:r>
            <a:r>
              <a:rPr sz="2400" spc="5" dirty="0">
                <a:latin typeface="Carlito"/>
                <a:cs typeface="Carlito"/>
              </a:rPr>
              <a:t> </a:t>
            </a:r>
            <a:r>
              <a:rPr sz="2400" spc="-5" dirty="0">
                <a:latin typeface="Carlito"/>
                <a:cs typeface="Carlito"/>
              </a:rPr>
              <a:t>classifications.</a:t>
            </a:r>
            <a:endParaRPr sz="2400" dirty="0">
              <a:latin typeface="Carlito"/>
              <a:cs typeface="Carlito"/>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0207" y="0"/>
            <a:ext cx="8636635" cy="3150235"/>
            <a:chOff x="140207" y="0"/>
            <a:chExt cx="8636635" cy="3150235"/>
          </a:xfrm>
        </p:grpSpPr>
        <p:sp>
          <p:nvSpPr>
            <p:cNvPr id="3" name="object 3"/>
            <p:cNvSpPr/>
            <p:nvPr/>
          </p:nvSpPr>
          <p:spPr>
            <a:xfrm>
              <a:off x="153161" y="762"/>
              <a:ext cx="8610600" cy="3124200"/>
            </a:xfrm>
            <a:custGeom>
              <a:avLst/>
              <a:gdLst/>
              <a:ahLst/>
              <a:cxnLst/>
              <a:rect l="l" t="t" r="r" b="b"/>
              <a:pathLst>
                <a:path w="8610600" h="3124200">
                  <a:moveTo>
                    <a:pt x="8089900" y="0"/>
                  </a:moveTo>
                  <a:lnTo>
                    <a:pt x="520712" y="0"/>
                  </a:lnTo>
                  <a:lnTo>
                    <a:pt x="473317" y="2128"/>
                  </a:lnTo>
                  <a:lnTo>
                    <a:pt x="427114" y="8390"/>
                  </a:lnTo>
                  <a:lnTo>
                    <a:pt x="382287" y="18603"/>
                  </a:lnTo>
                  <a:lnTo>
                    <a:pt x="339020" y="32581"/>
                  </a:lnTo>
                  <a:lnTo>
                    <a:pt x="297496" y="50142"/>
                  </a:lnTo>
                  <a:lnTo>
                    <a:pt x="257900" y="71101"/>
                  </a:lnTo>
                  <a:lnTo>
                    <a:pt x="220415" y="95274"/>
                  </a:lnTo>
                  <a:lnTo>
                    <a:pt x="185225" y="122477"/>
                  </a:lnTo>
                  <a:lnTo>
                    <a:pt x="152514" y="152526"/>
                  </a:lnTo>
                  <a:lnTo>
                    <a:pt x="122466" y="185238"/>
                  </a:lnTo>
                  <a:lnTo>
                    <a:pt x="95264" y="220428"/>
                  </a:lnTo>
                  <a:lnTo>
                    <a:pt x="71093" y="257913"/>
                  </a:lnTo>
                  <a:lnTo>
                    <a:pt x="50136" y="297508"/>
                  </a:lnTo>
                  <a:lnTo>
                    <a:pt x="32577" y="339029"/>
                  </a:lnTo>
                  <a:lnTo>
                    <a:pt x="18600" y="382293"/>
                  </a:lnTo>
                  <a:lnTo>
                    <a:pt x="8389" y="427115"/>
                  </a:lnTo>
                  <a:lnTo>
                    <a:pt x="2128" y="473312"/>
                  </a:lnTo>
                  <a:lnTo>
                    <a:pt x="0" y="520700"/>
                  </a:lnTo>
                  <a:lnTo>
                    <a:pt x="0" y="2603500"/>
                  </a:lnTo>
                  <a:lnTo>
                    <a:pt x="2128" y="2650887"/>
                  </a:lnTo>
                  <a:lnTo>
                    <a:pt x="8389" y="2697084"/>
                  </a:lnTo>
                  <a:lnTo>
                    <a:pt x="18600" y="2741906"/>
                  </a:lnTo>
                  <a:lnTo>
                    <a:pt x="32577" y="2785170"/>
                  </a:lnTo>
                  <a:lnTo>
                    <a:pt x="50136" y="2826691"/>
                  </a:lnTo>
                  <a:lnTo>
                    <a:pt x="71093" y="2866286"/>
                  </a:lnTo>
                  <a:lnTo>
                    <a:pt x="95264" y="2903771"/>
                  </a:lnTo>
                  <a:lnTo>
                    <a:pt x="122466" y="2938961"/>
                  </a:lnTo>
                  <a:lnTo>
                    <a:pt x="152514" y="2971673"/>
                  </a:lnTo>
                  <a:lnTo>
                    <a:pt x="185225" y="3001722"/>
                  </a:lnTo>
                  <a:lnTo>
                    <a:pt x="220415" y="3028925"/>
                  </a:lnTo>
                  <a:lnTo>
                    <a:pt x="257900" y="3053098"/>
                  </a:lnTo>
                  <a:lnTo>
                    <a:pt x="297496" y="3074057"/>
                  </a:lnTo>
                  <a:lnTo>
                    <a:pt x="339020" y="3091618"/>
                  </a:lnTo>
                  <a:lnTo>
                    <a:pt x="382287" y="3105596"/>
                  </a:lnTo>
                  <a:lnTo>
                    <a:pt x="427114" y="3115809"/>
                  </a:lnTo>
                  <a:lnTo>
                    <a:pt x="473317" y="3122071"/>
                  </a:lnTo>
                  <a:lnTo>
                    <a:pt x="520712" y="3124200"/>
                  </a:lnTo>
                  <a:lnTo>
                    <a:pt x="8089900" y="3124200"/>
                  </a:lnTo>
                  <a:lnTo>
                    <a:pt x="8137287" y="3122071"/>
                  </a:lnTo>
                  <a:lnTo>
                    <a:pt x="8183484" y="3115809"/>
                  </a:lnTo>
                  <a:lnTo>
                    <a:pt x="8228306" y="3105596"/>
                  </a:lnTo>
                  <a:lnTo>
                    <a:pt x="8271570" y="3091618"/>
                  </a:lnTo>
                  <a:lnTo>
                    <a:pt x="8313091" y="3074057"/>
                  </a:lnTo>
                  <a:lnTo>
                    <a:pt x="8352686" y="3053098"/>
                  </a:lnTo>
                  <a:lnTo>
                    <a:pt x="8390171" y="3028925"/>
                  </a:lnTo>
                  <a:lnTo>
                    <a:pt x="8425361" y="3001722"/>
                  </a:lnTo>
                  <a:lnTo>
                    <a:pt x="8458073" y="2971673"/>
                  </a:lnTo>
                  <a:lnTo>
                    <a:pt x="8488122" y="2938961"/>
                  </a:lnTo>
                  <a:lnTo>
                    <a:pt x="8515325" y="2903771"/>
                  </a:lnTo>
                  <a:lnTo>
                    <a:pt x="8539498" y="2866286"/>
                  </a:lnTo>
                  <a:lnTo>
                    <a:pt x="8560457" y="2826691"/>
                  </a:lnTo>
                  <a:lnTo>
                    <a:pt x="8578018" y="2785170"/>
                  </a:lnTo>
                  <a:lnTo>
                    <a:pt x="8591996" y="2741906"/>
                  </a:lnTo>
                  <a:lnTo>
                    <a:pt x="8602209" y="2697084"/>
                  </a:lnTo>
                  <a:lnTo>
                    <a:pt x="8608471" y="2650887"/>
                  </a:lnTo>
                  <a:lnTo>
                    <a:pt x="8610600" y="2603500"/>
                  </a:lnTo>
                  <a:lnTo>
                    <a:pt x="8610600" y="520700"/>
                  </a:lnTo>
                  <a:lnTo>
                    <a:pt x="8608471" y="473312"/>
                  </a:lnTo>
                  <a:lnTo>
                    <a:pt x="8602209" y="427115"/>
                  </a:lnTo>
                  <a:lnTo>
                    <a:pt x="8591996" y="382293"/>
                  </a:lnTo>
                  <a:lnTo>
                    <a:pt x="8578018" y="339029"/>
                  </a:lnTo>
                  <a:lnTo>
                    <a:pt x="8560457" y="297508"/>
                  </a:lnTo>
                  <a:lnTo>
                    <a:pt x="8539498" y="257913"/>
                  </a:lnTo>
                  <a:lnTo>
                    <a:pt x="8515325" y="220428"/>
                  </a:lnTo>
                  <a:lnTo>
                    <a:pt x="8488122" y="185238"/>
                  </a:lnTo>
                  <a:lnTo>
                    <a:pt x="8458072" y="152526"/>
                  </a:lnTo>
                  <a:lnTo>
                    <a:pt x="8425361" y="122477"/>
                  </a:lnTo>
                  <a:lnTo>
                    <a:pt x="8390171" y="95274"/>
                  </a:lnTo>
                  <a:lnTo>
                    <a:pt x="8352686" y="71101"/>
                  </a:lnTo>
                  <a:lnTo>
                    <a:pt x="8313091" y="50142"/>
                  </a:lnTo>
                  <a:lnTo>
                    <a:pt x="8271570" y="32581"/>
                  </a:lnTo>
                  <a:lnTo>
                    <a:pt x="8228306" y="18603"/>
                  </a:lnTo>
                  <a:lnTo>
                    <a:pt x="8183484" y="8390"/>
                  </a:lnTo>
                  <a:lnTo>
                    <a:pt x="8137287" y="2128"/>
                  </a:lnTo>
                  <a:lnTo>
                    <a:pt x="8089900" y="0"/>
                  </a:lnTo>
                  <a:close/>
                </a:path>
              </a:pathLst>
            </a:custGeom>
            <a:solidFill>
              <a:srgbClr val="4F81BC"/>
            </a:solidFill>
          </p:spPr>
          <p:txBody>
            <a:bodyPr wrap="square" lIns="0" tIns="0" rIns="0" bIns="0" rtlCol="0"/>
            <a:lstStyle/>
            <a:p>
              <a:endParaRPr dirty="0"/>
            </a:p>
          </p:txBody>
        </p:sp>
        <p:sp>
          <p:nvSpPr>
            <p:cNvPr id="4" name="object 4"/>
            <p:cNvSpPr/>
            <p:nvPr/>
          </p:nvSpPr>
          <p:spPr>
            <a:xfrm>
              <a:off x="153161" y="762"/>
              <a:ext cx="8610600" cy="3124200"/>
            </a:xfrm>
            <a:custGeom>
              <a:avLst/>
              <a:gdLst/>
              <a:ahLst/>
              <a:cxnLst/>
              <a:rect l="l" t="t" r="r" b="b"/>
              <a:pathLst>
                <a:path w="8610600" h="3124200">
                  <a:moveTo>
                    <a:pt x="0" y="520700"/>
                  </a:moveTo>
                  <a:lnTo>
                    <a:pt x="2128" y="473312"/>
                  </a:lnTo>
                  <a:lnTo>
                    <a:pt x="8389" y="427115"/>
                  </a:lnTo>
                  <a:lnTo>
                    <a:pt x="18600" y="382293"/>
                  </a:lnTo>
                  <a:lnTo>
                    <a:pt x="32577" y="339029"/>
                  </a:lnTo>
                  <a:lnTo>
                    <a:pt x="50136" y="297508"/>
                  </a:lnTo>
                  <a:lnTo>
                    <a:pt x="71093" y="257913"/>
                  </a:lnTo>
                  <a:lnTo>
                    <a:pt x="95264" y="220428"/>
                  </a:lnTo>
                  <a:lnTo>
                    <a:pt x="122466" y="185238"/>
                  </a:lnTo>
                  <a:lnTo>
                    <a:pt x="152514" y="152526"/>
                  </a:lnTo>
                  <a:lnTo>
                    <a:pt x="185225" y="122477"/>
                  </a:lnTo>
                  <a:lnTo>
                    <a:pt x="220415" y="95274"/>
                  </a:lnTo>
                  <a:lnTo>
                    <a:pt x="257900" y="71101"/>
                  </a:lnTo>
                  <a:lnTo>
                    <a:pt x="297496" y="50142"/>
                  </a:lnTo>
                  <a:lnTo>
                    <a:pt x="339020" y="32581"/>
                  </a:lnTo>
                  <a:lnTo>
                    <a:pt x="382287" y="18603"/>
                  </a:lnTo>
                  <a:lnTo>
                    <a:pt x="427114" y="8390"/>
                  </a:lnTo>
                  <a:lnTo>
                    <a:pt x="473317" y="2128"/>
                  </a:lnTo>
                  <a:lnTo>
                    <a:pt x="520712" y="0"/>
                  </a:lnTo>
                  <a:lnTo>
                    <a:pt x="8089900" y="0"/>
                  </a:lnTo>
                  <a:lnTo>
                    <a:pt x="8137287" y="2128"/>
                  </a:lnTo>
                  <a:lnTo>
                    <a:pt x="8183484" y="8390"/>
                  </a:lnTo>
                  <a:lnTo>
                    <a:pt x="8228306" y="18603"/>
                  </a:lnTo>
                  <a:lnTo>
                    <a:pt x="8271570" y="32581"/>
                  </a:lnTo>
                  <a:lnTo>
                    <a:pt x="8313091" y="50142"/>
                  </a:lnTo>
                  <a:lnTo>
                    <a:pt x="8352686" y="71101"/>
                  </a:lnTo>
                  <a:lnTo>
                    <a:pt x="8390171" y="95274"/>
                  </a:lnTo>
                  <a:lnTo>
                    <a:pt x="8425361" y="122477"/>
                  </a:lnTo>
                  <a:lnTo>
                    <a:pt x="8458072" y="152526"/>
                  </a:lnTo>
                  <a:lnTo>
                    <a:pt x="8488122" y="185238"/>
                  </a:lnTo>
                  <a:lnTo>
                    <a:pt x="8515325" y="220428"/>
                  </a:lnTo>
                  <a:lnTo>
                    <a:pt x="8539498" y="257913"/>
                  </a:lnTo>
                  <a:lnTo>
                    <a:pt x="8560457" y="297508"/>
                  </a:lnTo>
                  <a:lnTo>
                    <a:pt x="8578018" y="339029"/>
                  </a:lnTo>
                  <a:lnTo>
                    <a:pt x="8591996" y="382293"/>
                  </a:lnTo>
                  <a:lnTo>
                    <a:pt x="8602209" y="427115"/>
                  </a:lnTo>
                  <a:lnTo>
                    <a:pt x="8608471" y="473312"/>
                  </a:lnTo>
                  <a:lnTo>
                    <a:pt x="8610600" y="520700"/>
                  </a:lnTo>
                  <a:lnTo>
                    <a:pt x="8610600" y="2603500"/>
                  </a:lnTo>
                  <a:lnTo>
                    <a:pt x="8608471" y="2650887"/>
                  </a:lnTo>
                  <a:lnTo>
                    <a:pt x="8602209" y="2697084"/>
                  </a:lnTo>
                  <a:lnTo>
                    <a:pt x="8591996" y="2741906"/>
                  </a:lnTo>
                  <a:lnTo>
                    <a:pt x="8578018" y="2785170"/>
                  </a:lnTo>
                  <a:lnTo>
                    <a:pt x="8560457" y="2826691"/>
                  </a:lnTo>
                  <a:lnTo>
                    <a:pt x="8539498" y="2866286"/>
                  </a:lnTo>
                  <a:lnTo>
                    <a:pt x="8515325" y="2903771"/>
                  </a:lnTo>
                  <a:lnTo>
                    <a:pt x="8488122" y="2938961"/>
                  </a:lnTo>
                  <a:lnTo>
                    <a:pt x="8458073" y="2971673"/>
                  </a:lnTo>
                  <a:lnTo>
                    <a:pt x="8425361" y="3001722"/>
                  </a:lnTo>
                  <a:lnTo>
                    <a:pt x="8390171" y="3028925"/>
                  </a:lnTo>
                  <a:lnTo>
                    <a:pt x="8352686" y="3053098"/>
                  </a:lnTo>
                  <a:lnTo>
                    <a:pt x="8313091" y="3074057"/>
                  </a:lnTo>
                  <a:lnTo>
                    <a:pt x="8271570" y="3091618"/>
                  </a:lnTo>
                  <a:lnTo>
                    <a:pt x="8228306" y="3105596"/>
                  </a:lnTo>
                  <a:lnTo>
                    <a:pt x="8183484" y="3115809"/>
                  </a:lnTo>
                  <a:lnTo>
                    <a:pt x="8137287" y="3122071"/>
                  </a:lnTo>
                  <a:lnTo>
                    <a:pt x="8089900" y="3124200"/>
                  </a:lnTo>
                  <a:lnTo>
                    <a:pt x="520712" y="3124200"/>
                  </a:lnTo>
                  <a:lnTo>
                    <a:pt x="473317" y="3122071"/>
                  </a:lnTo>
                  <a:lnTo>
                    <a:pt x="427114" y="3115809"/>
                  </a:lnTo>
                  <a:lnTo>
                    <a:pt x="382287" y="3105596"/>
                  </a:lnTo>
                  <a:lnTo>
                    <a:pt x="339020" y="3091618"/>
                  </a:lnTo>
                  <a:lnTo>
                    <a:pt x="297496" y="3074057"/>
                  </a:lnTo>
                  <a:lnTo>
                    <a:pt x="257900" y="3053098"/>
                  </a:lnTo>
                  <a:lnTo>
                    <a:pt x="220415" y="3028925"/>
                  </a:lnTo>
                  <a:lnTo>
                    <a:pt x="185225" y="3001722"/>
                  </a:lnTo>
                  <a:lnTo>
                    <a:pt x="152514" y="2971673"/>
                  </a:lnTo>
                  <a:lnTo>
                    <a:pt x="122466" y="2938961"/>
                  </a:lnTo>
                  <a:lnTo>
                    <a:pt x="95264" y="2903771"/>
                  </a:lnTo>
                  <a:lnTo>
                    <a:pt x="71093" y="2866286"/>
                  </a:lnTo>
                  <a:lnTo>
                    <a:pt x="50136" y="2826691"/>
                  </a:lnTo>
                  <a:lnTo>
                    <a:pt x="32577" y="2785170"/>
                  </a:lnTo>
                  <a:lnTo>
                    <a:pt x="18600" y="2741906"/>
                  </a:lnTo>
                  <a:lnTo>
                    <a:pt x="8389" y="2697084"/>
                  </a:lnTo>
                  <a:lnTo>
                    <a:pt x="2128" y="2650887"/>
                  </a:lnTo>
                  <a:lnTo>
                    <a:pt x="0" y="2603500"/>
                  </a:lnTo>
                  <a:lnTo>
                    <a:pt x="0" y="520700"/>
                  </a:lnTo>
                  <a:close/>
                </a:path>
              </a:pathLst>
            </a:custGeom>
            <a:ln w="25908">
              <a:solidFill>
                <a:srgbClr val="385D89"/>
              </a:solidFill>
            </a:ln>
          </p:spPr>
          <p:txBody>
            <a:bodyPr wrap="square" lIns="0" tIns="0" rIns="0" bIns="0" rtlCol="0"/>
            <a:lstStyle/>
            <a:p>
              <a:endParaRPr/>
            </a:p>
          </p:txBody>
        </p:sp>
      </p:grpSp>
      <p:sp>
        <p:nvSpPr>
          <p:cNvPr id="5" name="object 5"/>
          <p:cNvSpPr txBox="1">
            <a:spLocks noGrp="1"/>
          </p:cNvSpPr>
          <p:nvPr>
            <p:ph type="title"/>
          </p:nvPr>
        </p:nvSpPr>
        <p:spPr>
          <a:xfrm>
            <a:off x="285720" y="214290"/>
            <a:ext cx="1835150" cy="381515"/>
          </a:xfrm>
          <a:prstGeom prst="rect">
            <a:avLst/>
          </a:prstGeom>
        </p:spPr>
        <p:txBody>
          <a:bodyPr vert="horz" wrap="square" lIns="0" tIns="12065" rIns="0" bIns="0" rtlCol="0">
            <a:spAutoFit/>
          </a:bodyPr>
          <a:lstStyle/>
          <a:p>
            <a:pPr marL="12700">
              <a:lnSpc>
                <a:spcPct val="100000"/>
              </a:lnSpc>
              <a:spcBef>
                <a:spcPts val="95"/>
              </a:spcBef>
            </a:pPr>
            <a:r>
              <a:rPr sz="2400" spc="-20" dirty="0"/>
              <a:t>Advantages:</a:t>
            </a:r>
          </a:p>
        </p:txBody>
      </p:sp>
      <p:grpSp>
        <p:nvGrpSpPr>
          <p:cNvPr id="6" name="object 6"/>
          <p:cNvGrpSpPr/>
          <p:nvPr/>
        </p:nvGrpSpPr>
        <p:grpSpPr>
          <a:xfrm>
            <a:off x="140207" y="3340608"/>
            <a:ext cx="8712835" cy="3531235"/>
            <a:chOff x="140207" y="3340608"/>
            <a:chExt cx="8712835" cy="3531235"/>
          </a:xfrm>
        </p:grpSpPr>
        <p:sp>
          <p:nvSpPr>
            <p:cNvPr id="7" name="object 7"/>
            <p:cNvSpPr/>
            <p:nvPr/>
          </p:nvSpPr>
          <p:spPr>
            <a:xfrm>
              <a:off x="153161" y="3353562"/>
              <a:ext cx="8686800" cy="3505200"/>
            </a:xfrm>
            <a:custGeom>
              <a:avLst/>
              <a:gdLst/>
              <a:ahLst/>
              <a:cxnLst/>
              <a:rect l="l" t="t" r="r" b="b"/>
              <a:pathLst>
                <a:path w="8686800" h="3505200">
                  <a:moveTo>
                    <a:pt x="8102600" y="0"/>
                  </a:moveTo>
                  <a:lnTo>
                    <a:pt x="584212" y="0"/>
                  </a:lnTo>
                  <a:lnTo>
                    <a:pt x="536297" y="1937"/>
                  </a:lnTo>
                  <a:lnTo>
                    <a:pt x="489449" y="7647"/>
                  </a:lnTo>
                  <a:lnTo>
                    <a:pt x="443818" y="16982"/>
                  </a:lnTo>
                  <a:lnTo>
                    <a:pt x="399554" y="29789"/>
                  </a:lnTo>
                  <a:lnTo>
                    <a:pt x="356808" y="45918"/>
                  </a:lnTo>
                  <a:lnTo>
                    <a:pt x="315731" y="65219"/>
                  </a:lnTo>
                  <a:lnTo>
                    <a:pt x="276472" y="87542"/>
                  </a:lnTo>
                  <a:lnTo>
                    <a:pt x="239182" y="112735"/>
                  </a:lnTo>
                  <a:lnTo>
                    <a:pt x="204011" y="140649"/>
                  </a:lnTo>
                  <a:lnTo>
                    <a:pt x="171110" y="171132"/>
                  </a:lnTo>
                  <a:lnTo>
                    <a:pt x="140628" y="204035"/>
                  </a:lnTo>
                  <a:lnTo>
                    <a:pt x="112717" y="239207"/>
                  </a:lnTo>
                  <a:lnTo>
                    <a:pt x="87527" y="276497"/>
                  </a:lnTo>
                  <a:lnTo>
                    <a:pt x="65207" y="315755"/>
                  </a:lnTo>
                  <a:lnTo>
                    <a:pt x="45909" y="356830"/>
                  </a:lnTo>
                  <a:lnTo>
                    <a:pt x="29783" y="399572"/>
                  </a:lnTo>
                  <a:lnTo>
                    <a:pt x="16978" y="443831"/>
                  </a:lnTo>
                  <a:lnTo>
                    <a:pt x="7646" y="489455"/>
                  </a:lnTo>
                  <a:lnTo>
                    <a:pt x="1936" y="536295"/>
                  </a:lnTo>
                  <a:lnTo>
                    <a:pt x="0" y="584200"/>
                  </a:lnTo>
                  <a:lnTo>
                    <a:pt x="0" y="2920987"/>
                  </a:lnTo>
                  <a:lnTo>
                    <a:pt x="1936" y="2968902"/>
                  </a:lnTo>
                  <a:lnTo>
                    <a:pt x="7646" y="3015750"/>
                  </a:lnTo>
                  <a:lnTo>
                    <a:pt x="16978" y="3061381"/>
                  </a:lnTo>
                  <a:lnTo>
                    <a:pt x="29783" y="3105645"/>
                  </a:lnTo>
                  <a:lnTo>
                    <a:pt x="45909" y="3148390"/>
                  </a:lnTo>
                  <a:lnTo>
                    <a:pt x="65207" y="3189468"/>
                  </a:lnTo>
                  <a:lnTo>
                    <a:pt x="87527" y="3228727"/>
                  </a:lnTo>
                  <a:lnTo>
                    <a:pt x="112717" y="3266017"/>
                  </a:lnTo>
                  <a:lnTo>
                    <a:pt x="140628" y="3301188"/>
                  </a:lnTo>
                  <a:lnTo>
                    <a:pt x="171110" y="3334089"/>
                  </a:lnTo>
                  <a:lnTo>
                    <a:pt x="204011" y="3364570"/>
                  </a:lnTo>
                  <a:lnTo>
                    <a:pt x="239182" y="3392481"/>
                  </a:lnTo>
                  <a:lnTo>
                    <a:pt x="276472" y="3417671"/>
                  </a:lnTo>
                  <a:lnTo>
                    <a:pt x="315731" y="3439991"/>
                  </a:lnTo>
                  <a:lnTo>
                    <a:pt x="356808" y="3459289"/>
                  </a:lnTo>
                  <a:lnTo>
                    <a:pt x="399554" y="3475416"/>
                  </a:lnTo>
                  <a:lnTo>
                    <a:pt x="443818" y="3488220"/>
                  </a:lnTo>
                  <a:lnTo>
                    <a:pt x="489449" y="3497552"/>
                  </a:lnTo>
                  <a:lnTo>
                    <a:pt x="536297" y="3503262"/>
                  </a:lnTo>
                  <a:lnTo>
                    <a:pt x="584212" y="3505199"/>
                  </a:lnTo>
                  <a:lnTo>
                    <a:pt x="8102600" y="3505199"/>
                  </a:lnTo>
                  <a:lnTo>
                    <a:pt x="8150504" y="3503262"/>
                  </a:lnTo>
                  <a:lnTo>
                    <a:pt x="8197344" y="3497552"/>
                  </a:lnTo>
                  <a:lnTo>
                    <a:pt x="8242968" y="3488220"/>
                  </a:lnTo>
                  <a:lnTo>
                    <a:pt x="8287227" y="3475416"/>
                  </a:lnTo>
                  <a:lnTo>
                    <a:pt x="8329969" y="3459289"/>
                  </a:lnTo>
                  <a:lnTo>
                    <a:pt x="8371044" y="3439991"/>
                  </a:lnTo>
                  <a:lnTo>
                    <a:pt x="8410302" y="3417671"/>
                  </a:lnTo>
                  <a:lnTo>
                    <a:pt x="8447592" y="3392481"/>
                  </a:lnTo>
                  <a:lnTo>
                    <a:pt x="8482764" y="3364570"/>
                  </a:lnTo>
                  <a:lnTo>
                    <a:pt x="8515667" y="3334089"/>
                  </a:lnTo>
                  <a:lnTo>
                    <a:pt x="8546150" y="3301188"/>
                  </a:lnTo>
                  <a:lnTo>
                    <a:pt x="8574064" y="3266017"/>
                  </a:lnTo>
                  <a:lnTo>
                    <a:pt x="8599257" y="3228727"/>
                  </a:lnTo>
                  <a:lnTo>
                    <a:pt x="8621580" y="3189468"/>
                  </a:lnTo>
                  <a:lnTo>
                    <a:pt x="8640881" y="3148390"/>
                  </a:lnTo>
                  <a:lnTo>
                    <a:pt x="8657010" y="3105645"/>
                  </a:lnTo>
                  <a:lnTo>
                    <a:pt x="8669817" y="3061381"/>
                  </a:lnTo>
                  <a:lnTo>
                    <a:pt x="8679152" y="3015750"/>
                  </a:lnTo>
                  <a:lnTo>
                    <a:pt x="8684862" y="2968902"/>
                  </a:lnTo>
                  <a:lnTo>
                    <a:pt x="8686800" y="2920987"/>
                  </a:lnTo>
                  <a:lnTo>
                    <a:pt x="8686800" y="584200"/>
                  </a:lnTo>
                  <a:lnTo>
                    <a:pt x="8684862" y="536295"/>
                  </a:lnTo>
                  <a:lnTo>
                    <a:pt x="8679152" y="489455"/>
                  </a:lnTo>
                  <a:lnTo>
                    <a:pt x="8669817" y="443831"/>
                  </a:lnTo>
                  <a:lnTo>
                    <a:pt x="8657010" y="399572"/>
                  </a:lnTo>
                  <a:lnTo>
                    <a:pt x="8640881" y="356830"/>
                  </a:lnTo>
                  <a:lnTo>
                    <a:pt x="8621580" y="315755"/>
                  </a:lnTo>
                  <a:lnTo>
                    <a:pt x="8599257" y="276497"/>
                  </a:lnTo>
                  <a:lnTo>
                    <a:pt x="8574064" y="239207"/>
                  </a:lnTo>
                  <a:lnTo>
                    <a:pt x="8546150" y="204035"/>
                  </a:lnTo>
                  <a:lnTo>
                    <a:pt x="8515667" y="171132"/>
                  </a:lnTo>
                  <a:lnTo>
                    <a:pt x="8482764" y="140649"/>
                  </a:lnTo>
                  <a:lnTo>
                    <a:pt x="8447592" y="112735"/>
                  </a:lnTo>
                  <a:lnTo>
                    <a:pt x="8410302" y="87542"/>
                  </a:lnTo>
                  <a:lnTo>
                    <a:pt x="8371044" y="65219"/>
                  </a:lnTo>
                  <a:lnTo>
                    <a:pt x="8329969" y="45918"/>
                  </a:lnTo>
                  <a:lnTo>
                    <a:pt x="8287227" y="29789"/>
                  </a:lnTo>
                  <a:lnTo>
                    <a:pt x="8242968" y="16982"/>
                  </a:lnTo>
                  <a:lnTo>
                    <a:pt x="8197344" y="7647"/>
                  </a:lnTo>
                  <a:lnTo>
                    <a:pt x="8150504" y="1937"/>
                  </a:lnTo>
                  <a:lnTo>
                    <a:pt x="8102600" y="0"/>
                  </a:lnTo>
                  <a:close/>
                </a:path>
              </a:pathLst>
            </a:custGeom>
            <a:solidFill>
              <a:srgbClr val="4F81BC"/>
            </a:solidFill>
          </p:spPr>
          <p:txBody>
            <a:bodyPr wrap="square" lIns="0" tIns="0" rIns="0" bIns="0" rtlCol="0"/>
            <a:lstStyle/>
            <a:p>
              <a:endParaRPr/>
            </a:p>
          </p:txBody>
        </p:sp>
        <p:sp>
          <p:nvSpPr>
            <p:cNvPr id="8" name="object 8"/>
            <p:cNvSpPr/>
            <p:nvPr/>
          </p:nvSpPr>
          <p:spPr>
            <a:xfrm>
              <a:off x="153161" y="3353562"/>
              <a:ext cx="8686800" cy="3505200"/>
            </a:xfrm>
            <a:custGeom>
              <a:avLst/>
              <a:gdLst/>
              <a:ahLst/>
              <a:cxnLst/>
              <a:rect l="l" t="t" r="r" b="b"/>
              <a:pathLst>
                <a:path w="8686800" h="3505200">
                  <a:moveTo>
                    <a:pt x="0" y="584200"/>
                  </a:moveTo>
                  <a:lnTo>
                    <a:pt x="1936" y="536295"/>
                  </a:lnTo>
                  <a:lnTo>
                    <a:pt x="7646" y="489455"/>
                  </a:lnTo>
                  <a:lnTo>
                    <a:pt x="16978" y="443831"/>
                  </a:lnTo>
                  <a:lnTo>
                    <a:pt x="29783" y="399572"/>
                  </a:lnTo>
                  <a:lnTo>
                    <a:pt x="45909" y="356830"/>
                  </a:lnTo>
                  <a:lnTo>
                    <a:pt x="65207" y="315755"/>
                  </a:lnTo>
                  <a:lnTo>
                    <a:pt x="87527" y="276497"/>
                  </a:lnTo>
                  <a:lnTo>
                    <a:pt x="112717" y="239207"/>
                  </a:lnTo>
                  <a:lnTo>
                    <a:pt x="140628" y="204035"/>
                  </a:lnTo>
                  <a:lnTo>
                    <a:pt x="171110" y="171132"/>
                  </a:lnTo>
                  <a:lnTo>
                    <a:pt x="204011" y="140649"/>
                  </a:lnTo>
                  <a:lnTo>
                    <a:pt x="239182" y="112735"/>
                  </a:lnTo>
                  <a:lnTo>
                    <a:pt x="276472" y="87542"/>
                  </a:lnTo>
                  <a:lnTo>
                    <a:pt x="315731" y="65219"/>
                  </a:lnTo>
                  <a:lnTo>
                    <a:pt x="356808" y="45918"/>
                  </a:lnTo>
                  <a:lnTo>
                    <a:pt x="399554" y="29789"/>
                  </a:lnTo>
                  <a:lnTo>
                    <a:pt x="443818" y="16982"/>
                  </a:lnTo>
                  <a:lnTo>
                    <a:pt x="489449" y="7647"/>
                  </a:lnTo>
                  <a:lnTo>
                    <a:pt x="536297" y="1937"/>
                  </a:lnTo>
                  <a:lnTo>
                    <a:pt x="584212" y="0"/>
                  </a:lnTo>
                  <a:lnTo>
                    <a:pt x="8102600" y="0"/>
                  </a:lnTo>
                  <a:lnTo>
                    <a:pt x="8150504" y="1937"/>
                  </a:lnTo>
                  <a:lnTo>
                    <a:pt x="8197344" y="7647"/>
                  </a:lnTo>
                  <a:lnTo>
                    <a:pt x="8242968" y="16982"/>
                  </a:lnTo>
                  <a:lnTo>
                    <a:pt x="8287227" y="29789"/>
                  </a:lnTo>
                  <a:lnTo>
                    <a:pt x="8329969" y="45918"/>
                  </a:lnTo>
                  <a:lnTo>
                    <a:pt x="8371044" y="65219"/>
                  </a:lnTo>
                  <a:lnTo>
                    <a:pt x="8410302" y="87542"/>
                  </a:lnTo>
                  <a:lnTo>
                    <a:pt x="8447592" y="112735"/>
                  </a:lnTo>
                  <a:lnTo>
                    <a:pt x="8482764" y="140649"/>
                  </a:lnTo>
                  <a:lnTo>
                    <a:pt x="8515667" y="171132"/>
                  </a:lnTo>
                  <a:lnTo>
                    <a:pt x="8546150" y="204035"/>
                  </a:lnTo>
                  <a:lnTo>
                    <a:pt x="8574064" y="239207"/>
                  </a:lnTo>
                  <a:lnTo>
                    <a:pt x="8599257" y="276497"/>
                  </a:lnTo>
                  <a:lnTo>
                    <a:pt x="8621580" y="315755"/>
                  </a:lnTo>
                  <a:lnTo>
                    <a:pt x="8640881" y="356830"/>
                  </a:lnTo>
                  <a:lnTo>
                    <a:pt x="8657010" y="399572"/>
                  </a:lnTo>
                  <a:lnTo>
                    <a:pt x="8669817" y="443831"/>
                  </a:lnTo>
                  <a:lnTo>
                    <a:pt x="8679152" y="489455"/>
                  </a:lnTo>
                  <a:lnTo>
                    <a:pt x="8684862" y="536295"/>
                  </a:lnTo>
                  <a:lnTo>
                    <a:pt x="8686800" y="584200"/>
                  </a:lnTo>
                  <a:lnTo>
                    <a:pt x="8686800" y="2920987"/>
                  </a:lnTo>
                  <a:lnTo>
                    <a:pt x="8684862" y="2968902"/>
                  </a:lnTo>
                  <a:lnTo>
                    <a:pt x="8679152" y="3015750"/>
                  </a:lnTo>
                  <a:lnTo>
                    <a:pt x="8669817" y="3061381"/>
                  </a:lnTo>
                  <a:lnTo>
                    <a:pt x="8657010" y="3105645"/>
                  </a:lnTo>
                  <a:lnTo>
                    <a:pt x="8640881" y="3148390"/>
                  </a:lnTo>
                  <a:lnTo>
                    <a:pt x="8621580" y="3189468"/>
                  </a:lnTo>
                  <a:lnTo>
                    <a:pt x="8599257" y="3228727"/>
                  </a:lnTo>
                  <a:lnTo>
                    <a:pt x="8574064" y="3266017"/>
                  </a:lnTo>
                  <a:lnTo>
                    <a:pt x="8546150" y="3301188"/>
                  </a:lnTo>
                  <a:lnTo>
                    <a:pt x="8515667" y="3334089"/>
                  </a:lnTo>
                  <a:lnTo>
                    <a:pt x="8482764" y="3364570"/>
                  </a:lnTo>
                  <a:lnTo>
                    <a:pt x="8447592" y="3392481"/>
                  </a:lnTo>
                  <a:lnTo>
                    <a:pt x="8410302" y="3417671"/>
                  </a:lnTo>
                  <a:lnTo>
                    <a:pt x="8371044" y="3439991"/>
                  </a:lnTo>
                  <a:lnTo>
                    <a:pt x="8329969" y="3459289"/>
                  </a:lnTo>
                  <a:lnTo>
                    <a:pt x="8287227" y="3475416"/>
                  </a:lnTo>
                  <a:lnTo>
                    <a:pt x="8242968" y="3488220"/>
                  </a:lnTo>
                  <a:lnTo>
                    <a:pt x="8197344" y="3497552"/>
                  </a:lnTo>
                  <a:lnTo>
                    <a:pt x="8150504" y="3503262"/>
                  </a:lnTo>
                  <a:lnTo>
                    <a:pt x="8102600" y="3505199"/>
                  </a:lnTo>
                  <a:lnTo>
                    <a:pt x="584212" y="3505199"/>
                  </a:lnTo>
                  <a:lnTo>
                    <a:pt x="536297" y="3503262"/>
                  </a:lnTo>
                  <a:lnTo>
                    <a:pt x="489449" y="3497552"/>
                  </a:lnTo>
                  <a:lnTo>
                    <a:pt x="443818" y="3488220"/>
                  </a:lnTo>
                  <a:lnTo>
                    <a:pt x="399554" y="3475416"/>
                  </a:lnTo>
                  <a:lnTo>
                    <a:pt x="356808" y="3459289"/>
                  </a:lnTo>
                  <a:lnTo>
                    <a:pt x="315731" y="3439991"/>
                  </a:lnTo>
                  <a:lnTo>
                    <a:pt x="276472" y="3417671"/>
                  </a:lnTo>
                  <a:lnTo>
                    <a:pt x="239182" y="3392481"/>
                  </a:lnTo>
                  <a:lnTo>
                    <a:pt x="204011" y="3364570"/>
                  </a:lnTo>
                  <a:lnTo>
                    <a:pt x="171110" y="3334089"/>
                  </a:lnTo>
                  <a:lnTo>
                    <a:pt x="140628" y="3301188"/>
                  </a:lnTo>
                  <a:lnTo>
                    <a:pt x="112717" y="3266017"/>
                  </a:lnTo>
                  <a:lnTo>
                    <a:pt x="87527" y="3228727"/>
                  </a:lnTo>
                  <a:lnTo>
                    <a:pt x="65207" y="3189468"/>
                  </a:lnTo>
                  <a:lnTo>
                    <a:pt x="45909" y="3148390"/>
                  </a:lnTo>
                  <a:lnTo>
                    <a:pt x="29783" y="3105645"/>
                  </a:lnTo>
                  <a:lnTo>
                    <a:pt x="16978" y="3061381"/>
                  </a:lnTo>
                  <a:lnTo>
                    <a:pt x="7646" y="3015750"/>
                  </a:lnTo>
                  <a:lnTo>
                    <a:pt x="1936" y="2968902"/>
                  </a:lnTo>
                  <a:lnTo>
                    <a:pt x="0" y="2920987"/>
                  </a:lnTo>
                  <a:lnTo>
                    <a:pt x="0" y="584200"/>
                  </a:lnTo>
                  <a:close/>
                </a:path>
              </a:pathLst>
            </a:custGeom>
            <a:ln w="25907">
              <a:solidFill>
                <a:srgbClr val="385D89"/>
              </a:solidFill>
            </a:ln>
          </p:spPr>
          <p:txBody>
            <a:bodyPr wrap="square" lIns="0" tIns="0" rIns="0" bIns="0" rtlCol="0"/>
            <a:lstStyle/>
            <a:p>
              <a:endParaRPr/>
            </a:p>
          </p:txBody>
        </p:sp>
      </p:grpSp>
      <p:sp>
        <p:nvSpPr>
          <p:cNvPr id="9" name="object 9"/>
          <p:cNvSpPr txBox="1"/>
          <p:nvPr/>
        </p:nvSpPr>
        <p:spPr>
          <a:xfrm>
            <a:off x="500034" y="785794"/>
            <a:ext cx="7786742" cy="5783635"/>
          </a:xfrm>
          <a:prstGeom prst="rect">
            <a:avLst/>
          </a:prstGeom>
        </p:spPr>
        <p:txBody>
          <a:bodyPr vert="horz" wrap="square" lIns="0" tIns="12700" rIns="0" bIns="0" rtlCol="0">
            <a:spAutoFit/>
          </a:bodyPr>
          <a:lstStyle/>
          <a:p>
            <a:pPr marL="299085" marR="398780" indent="-287020">
              <a:lnSpc>
                <a:spcPct val="100000"/>
              </a:lnSpc>
              <a:spcBef>
                <a:spcPts val="100"/>
              </a:spcBef>
              <a:buFont typeface="Wingdings"/>
              <a:buChar char=""/>
              <a:tabLst>
                <a:tab pos="368300" algn="l"/>
              </a:tabLst>
            </a:pPr>
            <a:r>
              <a:rPr dirty="0"/>
              <a:t>	</a:t>
            </a:r>
            <a:r>
              <a:rPr sz="2400" spc="-5" dirty="0">
                <a:solidFill>
                  <a:srgbClr val="FFFFFF"/>
                </a:solidFill>
                <a:latin typeface="Carlito"/>
                <a:cs typeface="Carlito"/>
              </a:rPr>
              <a:t>Jobs, people, </a:t>
            </a:r>
            <a:r>
              <a:rPr sz="2400" dirty="0">
                <a:solidFill>
                  <a:srgbClr val="FFFFFF"/>
                </a:solidFill>
                <a:latin typeface="Carlito"/>
                <a:cs typeface="Carlito"/>
              </a:rPr>
              <a:t>and </a:t>
            </a:r>
            <a:r>
              <a:rPr sz="2400" spc="-5" dirty="0">
                <a:solidFill>
                  <a:srgbClr val="FFFFFF"/>
                </a:solidFill>
                <a:latin typeface="Carlito"/>
                <a:cs typeface="Carlito"/>
              </a:rPr>
              <a:t>teams </a:t>
            </a:r>
            <a:r>
              <a:rPr sz="2400" spc="-10" dirty="0">
                <a:solidFill>
                  <a:srgbClr val="FFFFFF"/>
                </a:solidFill>
                <a:latin typeface="Carlito"/>
                <a:cs typeface="Carlito"/>
              </a:rPr>
              <a:t>can </a:t>
            </a:r>
            <a:r>
              <a:rPr sz="2400" spc="-5" dirty="0">
                <a:solidFill>
                  <a:srgbClr val="FFFFFF"/>
                </a:solidFill>
                <a:latin typeface="Carlito"/>
                <a:cs typeface="Carlito"/>
              </a:rPr>
              <a:t>be quickly </a:t>
            </a:r>
            <a:r>
              <a:rPr sz="2400" spc="-15" dirty="0">
                <a:solidFill>
                  <a:srgbClr val="FFFFFF"/>
                </a:solidFill>
                <a:latin typeface="Carlito"/>
                <a:cs typeface="Carlito"/>
              </a:rPr>
              <a:t>slotted into </a:t>
            </a:r>
            <a:r>
              <a:rPr sz="2400" dirty="0">
                <a:solidFill>
                  <a:srgbClr val="FFFFFF"/>
                </a:solidFill>
                <a:latin typeface="Carlito"/>
                <a:cs typeface="Carlito"/>
              </a:rPr>
              <a:t>the  </a:t>
            </a:r>
            <a:r>
              <a:rPr sz="2400" spc="-10" dirty="0">
                <a:solidFill>
                  <a:srgbClr val="FFFFFF"/>
                </a:solidFill>
                <a:latin typeface="Carlito"/>
                <a:cs typeface="Carlito"/>
              </a:rPr>
              <a:t>structure</a:t>
            </a:r>
            <a:endParaRPr sz="2400" dirty="0">
              <a:latin typeface="Carlito"/>
              <a:cs typeface="Carlito"/>
            </a:endParaRPr>
          </a:p>
          <a:p>
            <a:pPr marL="367665" indent="-355600">
              <a:lnSpc>
                <a:spcPct val="100000"/>
              </a:lnSpc>
              <a:buFont typeface="Wingdings"/>
              <a:buChar char=""/>
              <a:tabLst>
                <a:tab pos="368300" algn="l"/>
              </a:tabLst>
            </a:pPr>
            <a:r>
              <a:rPr sz="2400" spc="-10" dirty="0">
                <a:solidFill>
                  <a:srgbClr val="FFFFFF"/>
                </a:solidFill>
                <a:latin typeface="Carlito"/>
                <a:cs typeface="Carlito"/>
              </a:rPr>
              <a:t>Classification levels </a:t>
            </a:r>
            <a:r>
              <a:rPr sz="2400" spc="-20" dirty="0">
                <a:solidFill>
                  <a:srgbClr val="FFFFFF"/>
                </a:solidFill>
                <a:latin typeface="Carlito"/>
                <a:cs typeface="Carlito"/>
              </a:rPr>
              <a:t>have </a:t>
            </a:r>
            <a:r>
              <a:rPr sz="2400" spc="-15" dirty="0">
                <a:solidFill>
                  <a:srgbClr val="FFFFFF"/>
                </a:solidFill>
                <a:latin typeface="Carlito"/>
                <a:cs typeface="Carlito"/>
              </a:rPr>
              <a:t>face </a:t>
            </a:r>
            <a:r>
              <a:rPr sz="2400" spc="-5" dirty="0">
                <a:solidFill>
                  <a:srgbClr val="FFFFFF"/>
                </a:solidFill>
                <a:latin typeface="Carlito"/>
                <a:cs typeface="Carlito"/>
              </a:rPr>
              <a:t>validity </a:t>
            </a:r>
            <a:r>
              <a:rPr sz="2400" spc="-20" dirty="0">
                <a:solidFill>
                  <a:srgbClr val="FFFFFF"/>
                </a:solidFill>
                <a:latin typeface="Carlito"/>
                <a:cs typeface="Carlito"/>
              </a:rPr>
              <a:t>for</a:t>
            </a:r>
            <a:r>
              <a:rPr sz="2400" spc="20" dirty="0">
                <a:solidFill>
                  <a:srgbClr val="FFFFFF"/>
                </a:solidFill>
                <a:latin typeface="Carlito"/>
                <a:cs typeface="Carlito"/>
              </a:rPr>
              <a:t> </a:t>
            </a:r>
            <a:r>
              <a:rPr sz="2400" spc="-5" dirty="0">
                <a:solidFill>
                  <a:srgbClr val="FFFFFF"/>
                </a:solidFill>
                <a:latin typeface="Carlito"/>
                <a:cs typeface="Carlito"/>
              </a:rPr>
              <a:t>employees</a:t>
            </a:r>
            <a:endParaRPr sz="2400" dirty="0">
              <a:latin typeface="Carlito"/>
              <a:cs typeface="Carlito"/>
            </a:endParaRPr>
          </a:p>
          <a:p>
            <a:pPr marL="367665" indent="-355600">
              <a:lnSpc>
                <a:spcPct val="100000"/>
              </a:lnSpc>
              <a:buFont typeface="Wingdings"/>
              <a:buChar char=""/>
              <a:tabLst>
                <a:tab pos="368300" algn="l"/>
              </a:tabLst>
            </a:pPr>
            <a:r>
              <a:rPr sz="2400" spc="-10" dirty="0">
                <a:solidFill>
                  <a:srgbClr val="FFFFFF"/>
                </a:solidFill>
                <a:latin typeface="Carlito"/>
                <a:cs typeface="Carlito"/>
              </a:rPr>
              <a:t>Standards </a:t>
            </a:r>
            <a:r>
              <a:rPr sz="2400" spc="-15" dirty="0">
                <a:solidFill>
                  <a:srgbClr val="FFFFFF"/>
                </a:solidFill>
                <a:latin typeface="Carlito"/>
                <a:cs typeface="Carlito"/>
              </a:rPr>
              <a:t>to </a:t>
            </a:r>
            <a:r>
              <a:rPr sz="2400" spc="-10" dirty="0">
                <a:solidFill>
                  <a:srgbClr val="FFFFFF"/>
                </a:solidFill>
                <a:latin typeface="Carlito"/>
                <a:cs typeface="Carlito"/>
              </a:rPr>
              <a:t>establish value are </a:t>
            </a:r>
            <a:r>
              <a:rPr sz="2400" dirty="0">
                <a:solidFill>
                  <a:srgbClr val="FFFFFF"/>
                </a:solidFill>
                <a:latin typeface="Carlito"/>
                <a:cs typeface="Carlito"/>
              </a:rPr>
              <a:t>made</a:t>
            </a:r>
            <a:r>
              <a:rPr sz="2400" spc="-10" dirty="0">
                <a:solidFill>
                  <a:srgbClr val="FFFFFF"/>
                </a:solidFill>
                <a:latin typeface="Carlito"/>
                <a:cs typeface="Carlito"/>
              </a:rPr>
              <a:t> explicit</a:t>
            </a:r>
            <a:endParaRPr sz="2400" dirty="0">
              <a:latin typeface="Carlito"/>
              <a:cs typeface="Carlito"/>
            </a:endParaRPr>
          </a:p>
          <a:p>
            <a:pPr>
              <a:lnSpc>
                <a:spcPct val="100000"/>
              </a:lnSpc>
              <a:buFont typeface="Wingdings"/>
              <a:buChar char=""/>
            </a:pPr>
            <a:endParaRPr sz="2700" dirty="0">
              <a:latin typeface="Carlito"/>
              <a:cs typeface="Carlito"/>
            </a:endParaRPr>
          </a:p>
          <a:p>
            <a:pPr>
              <a:lnSpc>
                <a:spcPct val="100000"/>
              </a:lnSpc>
              <a:spcBef>
                <a:spcPts val="40"/>
              </a:spcBef>
              <a:buFont typeface="Wingdings"/>
              <a:buChar char=""/>
            </a:pPr>
            <a:endParaRPr sz="2800" dirty="0">
              <a:latin typeface="Carlito"/>
              <a:cs typeface="Carlito"/>
            </a:endParaRPr>
          </a:p>
          <a:p>
            <a:pPr marL="31115">
              <a:lnSpc>
                <a:spcPct val="100000"/>
              </a:lnSpc>
            </a:pPr>
            <a:endParaRPr lang="en-GB" sz="2800" b="1" u="heavy" spc="-15" dirty="0" smtClean="0">
              <a:solidFill>
                <a:srgbClr val="FFFFFF"/>
              </a:solidFill>
              <a:uFill>
                <a:solidFill>
                  <a:srgbClr val="FFFFFF"/>
                </a:solidFill>
              </a:uFill>
              <a:latin typeface="Carlito"/>
              <a:cs typeface="Carlito"/>
            </a:endParaRPr>
          </a:p>
          <a:p>
            <a:pPr marL="31115">
              <a:lnSpc>
                <a:spcPct val="100000"/>
              </a:lnSpc>
            </a:pPr>
            <a:r>
              <a:rPr sz="2800" b="1" u="heavy" spc="-15" dirty="0" smtClean="0">
                <a:solidFill>
                  <a:srgbClr val="FFFFFF"/>
                </a:solidFill>
                <a:uFill>
                  <a:solidFill>
                    <a:srgbClr val="FFFFFF"/>
                  </a:solidFill>
                </a:uFill>
                <a:latin typeface="Carlito"/>
                <a:cs typeface="Carlito"/>
              </a:rPr>
              <a:t>Disadvantages</a:t>
            </a:r>
            <a:endParaRPr sz="2800" dirty="0">
              <a:latin typeface="Carlito"/>
              <a:cs typeface="Carlito"/>
            </a:endParaRPr>
          </a:p>
          <a:p>
            <a:pPr marL="317500" marR="798195" indent="-287020">
              <a:lnSpc>
                <a:spcPct val="100000"/>
              </a:lnSpc>
              <a:spcBef>
                <a:spcPts val="5"/>
              </a:spcBef>
              <a:buFont typeface="Wingdings"/>
              <a:buChar char=""/>
              <a:tabLst>
                <a:tab pos="386715" algn="l"/>
              </a:tabLst>
            </a:pPr>
            <a:r>
              <a:rPr dirty="0"/>
              <a:t>	</a:t>
            </a:r>
            <a:r>
              <a:rPr sz="2400" spc="-15" dirty="0">
                <a:solidFill>
                  <a:srgbClr val="FFFFFF"/>
                </a:solidFill>
                <a:latin typeface="Carlito"/>
                <a:cs typeface="Carlito"/>
              </a:rPr>
              <a:t>Many </a:t>
            </a:r>
            <a:r>
              <a:rPr sz="2400" spc="-10" dirty="0">
                <a:solidFill>
                  <a:srgbClr val="FFFFFF"/>
                </a:solidFill>
                <a:latin typeface="Carlito"/>
                <a:cs typeface="Carlito"/>
              </a:rPr>
              <a:t>jobs, </a:t>
            </a:r>
            <a:r>
              <a:rPr sz="2400" dirty="0">
                <a:solidFill>
                  <a:srgbClr val="FFFFFF"/>
                </a:solidFill>
                <a:latin typeface="Carlito"/>
                <a:cs typeface="Carlito"/>
              </a:rPr>
              <a:t>people, </a:t>
            </a:r>
            <a:r>
              <a:rPr sz="2400" spc="-5" dirty="0">
                <a:solidFill>
                  <a:srgbClr val="FFFFFF"/>
                </a:solidFill>
                <a:latin typeface="Carlito"/>
                <a:cs typeface="Carlito"/>
              </a:rPr>
              <a:t>or teams do not fit </a:t>
            </a:r>
            <a:r>
              <a:rPr sz="2400" spc="-10" dirty="0">
                <a:solidFill>
                  <a:srgbClr val="FFFFFF"/>
                </a:solidFill>
                <a:latin typeface="Carlito"/>
                <a:cs typeface="Carlito"/>
              </a:rPr>
              <a:t>neatly </a:t>
            </a:r>
            <a:r>
              <a:rPr lang="en-GB" sz="2400" spc="-10" dirty="0" err="1" smtClean="0">
                <a:solidFill>
                  <a:srgbClr val="FFFFFF"/>
                </a:solidFill>
                <a:latin typeface="Carlito"/>
                <a:cs typeface="Carlito"/>
              </a:rPr>
              <a:t>i</a:t>
            </a:r>
            <a:r>
              <a:rPr sz="2400" spc="-15" dirty="0" smtClean="0">
                <a:solidFill>
                  <a:srgbClr val="FFFFFF"/>
                </a:solidFill>
                <a:latin typeface="Carlito"/>
                <a:cs typeface="Carlito"/>
              </a:rPr>
              <a:t>into </a:t>
            </a:r>
            <a:r>
              <a:rPr sz="2400" dirty="0">
                <a:solidFill>
                  <a:srgbClr val="FFFFFF"/>
                </a:solidFill>
                <a:latin typeface="Carlito"/>
                <a:cs typeface="Carlito"/>
              </a:rPr>
              <a:t>a  </a:t>
            </a:r>
            <a:r>
              <a:rPr sz="2400" spc="-5" dirty="0">
                <a:solidFill>
                  <a:srgbClr val="FFFFFF"/>
                </a:solidFill>
                <a:latin typeface="Carlito"/>
                <a:cs typeface="Carlito"/>
              </a:rPr>
              <a:t>classification</a:t>
            </a:r>
            <a:r>
              <a:rPr sz="2400" spc="-25" dirty="0">
                <a:solidFill>
                  <a:srgbClr val="FFFFFF"/>
                </a:solidFill>
                <a:latin typeface="Carlito"/>
                <a:cs typeface="Carlito"/>
              </a:rPr>
              <a:t> </a:t>
            </a:r>
            <a:r>
              <a:rPr sz="2400" spc="-10" dirty="0">
                <a:solidFill>
                  <a:srgbClr val="FFFFFF"/>
                </a:solidFill>
                <a:latin typeface="Carlito"/>
                <a:cs typeface="Carlito"/>
              </a:rPr>
              <a:t>level</a:t>
            </a:r>
            <a:endParaRPr sz="2400" dirty="0">
              <a:latin typeface="Carlito"/>
              <a:cs typeface="Carlito"/>
            </a:endParaRPr>
          </a:p>
          <a:p>
            <a:pPr marL="454659" indent="-424180">
              <a:lnSpc>
                <a:spcPct val="100000"/>
              </a:lnSpc>
              <a:buFont typeface="Wingdings"/>
              <a:buChar char=""/>
              <a:tabLst>
                <a:tab pos="454659" algn="l"/>
                <a:tab pos="455295" algn="l"/>
              </a:tabLst>
            </a:pPr>
            <a:r>
              <a:rPr sz="2400" spc="-5" dirty="0">
                <a:solidFill>
                  <a:srgbClr val="FFFFFF"/>
                </a:solidFill>
                <a:latin typeface="Carlito"/>
                <a:cs typeface="Carlito"/>
              </a:rPr>
              <a:t>Extensive </a:t>
            </a:r>
            <a:r>
              <a:rPr sz="2400" spc="-10" dirty="0">
                <a:solidFill>
                  <a:srgbClr val="FFFFFF"/>
                </a:solidFill>
                <a:latin typeface="Carlito"/>
                <a:cs typeface="Carlito"/>
              </a:rPr>
              <a:t>judgment </a:t>
            </a:r>
            <a:r>
              <a:rPr sz="2400" dirty="0">
                <a:solidFill>
                  <a:srgbClr val="FFFFFF"/>
                </a:solidFill>
                <a:latin typeface="Carlito"/>
                <a:cs typeface="Carlito"/>
              </a:rPr>
              <a:t>is</a:t>
            </a:r>
            <a:r>
              <a:rPr sz="2400" spc="-15" dirty="0">
                <a:solidFill>
                  <a:srgbClr val="FFFFFF"/>
                </a:solidFill>
                <a:latin typeface="Carlito"/>
                <a:cs typeface="Carlito"/>
              </a:rPr>
              <a:t> </a:t>
            </a:r>
            <a:r>
              <a:rPr sz="2400" spc="-10" dirty="0">
                <a:solidFill>
                  <a:srgbClr val="FFFFFF"/>
                </a:solidFill>
                <a:latin typeface="Carlito"/>
                <a:cs typeface="Carlito"/>
              </a:rPr>
              <a:t>required</a:t>
            </a:r>
            <a:endParaRPr sz="2400" dirty="0">
              <a:latin typeface="Carlito"/>
              <a:cs typeface="Carlito"/>
            </a:endParaRPr>
          </a:p>
          <a:p>
            <a:pPr marL="317500" indent="-287020">
              <a:lnSpc>
                <a:spcPct val="100000"/>
              </a:lnSpc>
              <a:buFont typeface="Wingdings"/>
              <a:buChar char=""/>
              <a:tabLst>
                <a:tab pos="318135" algn="l"/>
              </a:tabLst>
            </a:pPr>
            <a:r>
              <a:rPr sz="2400" spc="-15" dirty="0">
                <a:solidFill>
                  <a:srgbClr val="FFFFFF"/>
                </a:solidFill>
                <a:latin typeface="Carlito"/>
                <a:cs typeface="Carlito"/>
              </a:rPr>
              <a:t>Differences </a:t>
            </a:r>
            <a:r>
              <a:rPr sz="2400" spc="-5" dirty="0">
                <a:solidFill>
                  <a:srgbClr val="FFFFFF"/>
                </a:solidFill>
                <a:latin typeface="Carlito"/>
                <a:cs typeface="Carlito"/>
              </a:rPr>
              <a:t>between classification </a:t>
            </a:r>
            <a:r>
              <a:rPr sz="2400" spc="-10" dirty="0">
                <a:solidFill>
                  <a:srgbClr val="FFFFFF"/>
                </a:solidFill>
                <a:latin typeface="Carlito"/>
                <a:cs typeface="Carlito"/>
              </a:rPr>
              <a:t>levels </a:t>
            </a:r>
            <a:r>
              <a:rPr sz="2400" spc="-15" dirty="0">
                <a:solidFill>
                  <a:srgbClr val="FFFFFF"/>
                </a:solidFill>
                <a:latin typeface="Carlito"/>
                <a:cs typeface="Carlito"/>
              </a:rPr>
              <a:t>may </a:t>
            </a:r>
            <a:r>
              <a:rPr sz="2400" spc="-5" dirty="0">
                <a:solidFill>
                  <a:srgbClr val="FFFFFF"/>
                </a:solidFill>
                <a:latin typeface="Carlito"/>
                <a:cs typeface="Carlito"/>
              </a:rPr>
              <a:t>not be</a:t>
            </a:r>
            <a:r>
              <a:rPr sz="2400" spc="-20" dirty="0">
                <a:solidFill>
                  <a:srgbClr val="FFFFFF"/>
                </a:solidFill>
                <a:latin typeface="Carlito"/>
                <a:cs typeface="Carlito"/>
              </a:rPr>
              <a:t> </a:t>
            </a:r>
            <a:r>
              <a:rPr sz="2400" dirty="0">
                <a:solidFill>
                  <a:srgbClr val="FFFFFF"/>
                </a:solidFill>
                <a:latin typeface="Carlito"/>
                <a:cs typeface="Carlito"/>
              </a:rPr>
              <a:t>equal</a:t>
            </a:r>
            <a:endParaRPr sz="2400" dirty="0">
              <a:latin typeface="Carlito"/>
              <a:cs typeface="Carlito"/>
            </a:endParaRPr>
          </a:p>
          <a:p>
            <a:pPr marL="386080" indent="-355600">
              <a:lnSpc>
                <a:spcPct val="100000"/>
              </a:lnSpc>
              <a:buFont typeface="Wingdings"/>
              <a:buChar char=""/>
              <a:tabLst>
                <a:tab pos="386715" algn="l"/>
              </a:tabLst>
            </a:pPr>
            <a:r>
              <a:rPr sz="2400" spc="-15" dirty="0">
                <a:solidFill>
                  <a:srgbClr val="FFFFFF"/>
                </a:solidFill>
                <a:latin typeface="Carlito"/>
                <a:cs typeface="Carlito"/>
              </a:rPr>
              <a:t>Creates status </a:t>
            </a:r>
            <a:r>
              <a:rPr sz="2400" spc="-10" dirty="0">
                <a:solidFill>
                  <a:srgbClr val="FFFFFF"/>
                </a:solidFill>
                <a:latin typeface="Carlito"/>
                <a:cs typeface="Carlito"/>
              </a:rPr>
              <a:t>hierarchies </a:t>
            </a:r>
            <a:r>
              <a:rPr sz="2400" dirty="0">
                <a:solidFill>
                  <a:srgbClr val="FFFFFF"/>
                </a:solidFill>
                <a:latin typeface="Carlito"/>
                <a:cs typeface="Carlito"/>
              </a:rPr>
              <a:t>within</a:t>
            </a:r>
            <a:r>
              <a:rPr sz="2400" spc="-45" dirty="0">
                <a:solidFill>
                  <a:srgbClr val="FFFFFF"/>
                </a:solidFill>
                <a:latin typeface="Carlito"/>
                <a:cs typeface="Carlito"/>
              </a:rPr>
              <a:t> </a:t>
            </a:r>
            <a:r>
              <a:rPr sz="2400" spc="-15" dirty="0">
                <a:solidFill>
                  <a:srgbClr val="FFFFFF"/>
                </a:solidFill>
                <a:latin typeface="Carlito"/>
                <a:cs typeface="Carlito"/>
              </a:rPr>
              <a:t>organizations</a:t>
            </a:r>
            <a:endParaRPr sz="2400" dirty="0">
              <a:latin typeface="Carlito"/>
              <a:cs typeface="Carlito"/>
            </a:endParaRPr>
          </a:p>
          <a:p>
            <a:pPr marL="317500" indent="-287020">
              <a:lnSpc>
                <a:spcPct val="100000"/>
              </a:lnSpc>
              <a:buFont typeface="Wingdings"/>
              <a:buChar char=""/>
              <a:tabLst>
                <a:tab pos="318135" algn="l"/>
              </a:tabLst>
            </a:pPr>
            <a:r>
              <a:rPr sz="2400" spc="-5" dirty="0">
                <a:solidFill>
                  <a:srgbClr val="FFFFFF"/>
                </a:solidFill>
                <a:latin typeface="Carlito"/>
                <a:cs typeface="Carlito"/>
              </a:rPr>
              <a:t>Extensive </a:t>
            </a:r>
            <a:r>
              <a:rPr sz="2400" spc="-10" dirty="0">
                <a:solidFill>
                  <a:srgbClr val="FFFFFF"/>
                </a:solidFill>
                <a:latin typeface="Carlito"/>
                <a:cs typeface="Carlito"/>
              </a:rPr>
              <a:t>administration required</a:t>
            </a:r>
            <a:r>
              <a:rPr sz="2400" spc="-25" dirty="0">
                <a:solidFill>
                  <a:srgbClr val="FFFFFF"/>
                </a:solidFill>
                <a:latin typeface="Carlito"/>
                <a:cs typeface="Carlito"/>
              </a:rPr>
              <a:t> </a:t>
            </a:r>
            <a:r>
              <a:rPr sz="2400" dirty="0">
                <a:solidFill>
                  <a:srgbClr val="FFFFFF"/>
                </a:solidFill>
                <a:latin typeface="Carlito"/>
                <a:cs typeface="Carlito"/>
              </a:rPr>
              <a:t>.</a:t>
            </a:r>
            <a:endParaRPr sz="2400" dirty="0">
              <a:latin typeface="Carlito"/>
              <a:cs typeface="Carlito"/>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938" y="108320"/>
            <a:ext cx="7417458" cy="443070"/>
          </a:xfrm>
          <a:prstGeom prst="rect">
            <a:avLst/>
          </a:prstGeom>
        </p:spPr>
        <p:txBody>
          <a:bodyPr vert="horz" wrap="square" lIns="0" tIns="12065" rIns="0" bIns="0" rtlCol="0">
            <a:spAutoFit/>
          </a:bodyPr>
          <a:lstStyle/>
          <a:p>
            <a:pPr marL="12700" algn="ctr">
              <a:lnSpc>
                <a:spcPct val="100000"/>
              </a:lnSpc>
              <a:spcBef>
                <a:spcPts val="95"/>
              </a:spcBef>
            </a:pPr>
            <a:r>
              <a:rPr sz="2800" spc="-20" dirty="0">
                <a:uFill>
                  <a:solidFill>
                    <a:srgbClr val="00AF50"/>
                  </a:solidFill>
                </a:uFill>
              </a:rPr>
              <a:t>Point</a:t>
            </a:r>
            <a:r>
              <a:rPr sz="2800" spc="-55" dirty="0">
                <a:uFill>
                  <a:solidFill>
                    <a:srgbClr val="00AF50"/>
                  </a:solidFill>
                </a:uFill>
              </a:rPr>
              <a:t> </a:t>
            </a:r>
            <a:r>
              <a:rPr sz="2800" spc="-10" dirty="0">
                <a:uFill>
                  <a:solidFill>
                    <a:srgbClr val="00AF50"/>
                  </a:solidFill>
                </a:uFill>
              </a:rPr>
              <a:t>Method</a:t>
            </a:r>
          </a:p>
        </p:txBody>
      </p:sp>
      <p:sp>
        <p:nvSpPr>
          <p:cNvPr id="3" name="object 3"/>
          <p:cNvSpPr txBox="1"/>
          <p:nvPr/>
        </p:nvSpPr>
        <p:spPr>
          <a:xfrm>
            <a:off x="231140" y="1061973"/>
            <a:ext cx="8074025" cy="2228815"/>
          </a:xfrm>
          <a:prstGeom prst="rect">
            <a:avLst/>
          </a:prstGeom>
        </p:spPr>
        <p:txBody>
          <a:bodyPr vert="horz" wrap="square" lIns="0" tIns="12700" rIns="0" bIns="0" rtlCol="0">
            <a:spAutoFit/>
          </a:bodyPr>
          <a:lstStyle/>
          <a:p>
            <a:pPr marL="12700" marR="5080" indent="914400" algn="just">
              <a:lnSpc>
                <a:spcPct val="100000"/>
              </a:lnSpc>
              <a:spcBef>
                <a:spcPts val="100"/>
              </a:spcBef>
            </a:pPr>
            <a:r>
              <a:rPr sz="2400" spc="-5" dirty="0">
                <a:latin typeface="Carlito"/>
                <a:cs typeface="Carlito"/>
              </a:rPr>
              <a:t>The </a:t>
            </a:r>
            <a:r>
              <a:rPr sz="2400" spc="-25" dirty="0">
                <a:latin typeface="Carlito"/>
                <a:cs typeface="Carlito"/>
              </a:rPr>
              <a:t>system </a:t>
            </a:r>
            <a:r>
              <a:rPr sz="2400" spc="-15" dirty="0">
                <a:latin typeface="Carlito"/>
                <a:cs typeface="Carlito"/>
              </a:rPr>
              <a:t>starts </a:t>
            </a:r>
            <a:r>
              <a:rPr sz="2400" spc="-5" dirty="0">
                <a:latin typeface="Carlito"/>
                <a:cs typeface="Carlito"/>
              </a:rPr>
              <a:t>with </a:t>
            </a:r>
            <a:r>
              <a:rPr sz="2400" dirty="0">
                <a:latin typeface="Carlito"/>
                <a:cs typeface="Carlito"/>
              </a:rPr>
              <a:t>the </a:t>
            </a:r>
            <a:r>
              <a:rPr sz="2400" spc="-5" dirty="0">
                <a:latin typeface="Carlito"/>
                <a:cs typeface="Carlito"/>
              </a:rPr>
              <a:t>selection of </a:t>
            </a:r>
            <a:r>
              <a:rPr sz="2400" spc="-10" dirty="0">
                <a:latin typeface="Carlito"/>
                <a:cs typeface="Carlito"/>
              </a:rPr>
              <a:t>job </a:t>
            </a:r>
            <a:r>
              <a:rPr sz="2400" spc="-20" dirty="0">
                <a:latin typeface="Carlito"/>
                <a:cs typeface="Carlito"/>
              </a:rPr>
              <a:t>factors,  </a:t>
            </a:r>
            <a:r>
              <a:rPr sz="2400" spc="-10" dirty="0">
                <a:latin typeface="Carlito"/>
                <a:cs typeface="Carlito"/>
              </a:rPr>
              <a:t>construction </a:t>
            </a:r>
            <a:r>
              <a:rPr sz="2400" spc="-5" dirty="0">
                <a:latin typeface="Carlito"/>
                <a:cs typeface="Carlito"/>
              </a:rPr>
              <a:t>of </a:t>
            </a:r>
            <a:r>
              <a:rPr sz="2400" spc="-10" dirty="0">
                <a:latin typeface="Carlito"/>
                <a:cs typeface="Carlito"/>
              </a:rPr>
              <a:t>degrees </a:t>
            </a:r>
            <a:r>
              <a:rPr sz="2400" spc="-20" dirty="0">
                <a:latin typeface="Carlito"/>
                <a:cs typeface="Carlito"/>
              </a:rPr>
              <a:t>for </a:t>
            </a:r>
            <a:r>
              <a:rPr sz="2400" dirty="0">
                <a:latin typeface="Carlito"/>
                <a:cs typeface="Carlito"/>
              </a:rPr>
              <a:t>each </a:t>
            </a:r>
            <a:r>
              <a:rPr sz="2400" spc="-45" dirty="0">
                <a:latin typeface="Carlito"/>
                <a:cs typeface="Carlito"/>
              </a:rPr>
              <a:t>factor, </a:t>
            </a:r>
            <a:r>
              <a:rPr sz="2400" dirty="0">
                <a:latin typeface="Carlito"/>
                <a:cs typeface="Carlito"/>
              </a:rPr>
              <a:t>and </a:t>
            </a:r>
            <a:r>
              <a:rPr sz="2400" spc="-10" dirty="0">
                <a:latin typeface="Carlito"/>
                <a:cs typeface="Carlito"/>
              </a:rPr>
              <a:t>assignment </a:t>
            </a:r>
            <a:r>
              <a:rPr sz="2400" spc="-5" dirty="0">
                <a:latin typeface="Carlito"/>
                <a:cs typeface="Carlito"/>
              </a:rPr>
              <a:t>of </a:t>
            </a:r>
            <a:r>
              <a:rPr sz="2400" spc="-10" dirty="0">
                <a:latin typeface="Carlito"/>
                <a:cs typeface="Carlito"/>
              </a:rPr>
              <a:t>points  </a:t>
            </a:r>
            <a:r>
              <a:rPr sz="2400" spc="-15" dirty="0">
                <a:latin typeface="Carlito"/>
                <a:cs typeface="Carlito"/>
              </a:rPr>
              <a:t>to </a:t>
            </a:r>
            <a:r>
              <a:rPr sz="2400" dirty="0">
                <a:latin typeface="Carlito"/>
                <a:cs typeface="Carlito"/>
              </a:rPr>
              <a:t>each </a:t>
            </a:r>
            <a:r>
              <a:rPr sz="2400" spc="-10" dirty="0">
                <a:latin typeface="Carlito"/>
                <a:cs typeface="Carlito"/>
              </a:rPr>
              <a:t>degree. </a:t>
            </a:r>
            <a:r>
              <a:rPr sz="2400" spc="-20" dirty="0">
                <a:latin typeface="Carlito"/>
                <a:cs typeface="Carlito"/>
              </a:rPr>
              <a:t>Different factors are </a:t>
            </a:r>
            <a:r>
              <a:rPr sz="2400" spc="-5" dirty="0">
                <a:latin typeface="Carlito"/>
                <a:cs typeface="Carlito"/>
              </a:rPr>
              <a:t>selected </a:t>
            </a:r>
            <a:r>
              <a:rPr sz="2400" spc="-25" dirty="0">
                <a:latin typeface="Carlito"/>
                <a:cs typeface="Carlito"/>
              </a:rPr>
              <a:t>for </a:t>
            </a:r>
            <a:r>
              <a:rPr sz="2400" spc="-20" dirty="0">
                <a:latin typeface="Carlito"/>
                <a:cs typeface="Carlito"/>
              </a:rPr>
              <a:t>different </a:t>
            </a:r>
            <a:r>
              <a:rPr sz="2400" spc="-10" dirty="0">
                <a:latin typeface="Carlito"/>
                <a:cs typeface="Carlito"/>
              </a:rPr>
              <a:t>jobs,  </a:t>
            </a:r>
            <a:r>
              <a:rPr sz="2400" dirty="0">
                <a:latin typeface="Carlito"/>
                <a:cs typeface="Carlito"/>
              </a:rPr>
              <a:t>with </a:t>
            </a:r>
            <a:r>
              <a:rPr sz="2400" spc="-10" dirty="0">
                <a:latin typeface="Carlito"/>
                <a:cs typeface="Carlito"/>
              </a:rPr>
              <a:t>accompanying differences </a:t>
            </a:r>
            <a:r>
              <a:rPr sz="2400" dirty="0">
                <a:latin typeface="Carlito"/>
                <a:cs typeface="Carlito"/>
              </a:rPr>
              <a:t>in </a:t>
            </a:r>
            <a:r>
              <a:rPr sz="2400" spc="-10" dirty="0">
                <a:latin typeface="Carlito"/>
                <a:cs typeface="Carlito"/>
              </a:rPr>
              <a:t>degrees </a:t>
            </a:r>
            <a:r>
              <a:rPr sz="2400" dirty="0">
                <a:latin typeface="Carlito"/>
                <a:cs typeface="Carlito"/>
              </a:rPr>
              <a:t>and </a:t>
            </a:r>
            <a:r>
              <a:rPr sz="2400" spc="-10" dirty="0">
                <a:latin typeface="Carlito"/>
                <a:cs typeface="Carlito"/>
              </a:rPr>
              <a:t>points. </a:t>
            </a:r>
            <a:r>
              <a:rPr sz="2400" spc="-5" dirty="0">
                <a:latin typeface="Carlito"/>
                <a:cs typeface="Carlito"/>
              </a:rPr>
              <a:t>The </a:t>
            </a:r>
            <a:r>
              <a:rPr sz="2400" spc="-15" dirty="0">
                <a:latin typeface="Carlito"/>
                <a:cs typeface="Carlito"/>
              </a:rPr>
              <a:t>most  </a:t>
            </a:r>
            <a:r>
              <a:rPr sz="2400" spc="-5" dirty="0">
                <a:latin typeface="Carlito"/>
                <a:cs typeface="Carlito"/>
              </a:rPr>
              <a:t>popular number of </a:t>
            </a:r>
            <a:r>
              <a:rPr sz="2400" spc="-20" dirty="0">
                <a:latin typeface="Carlito"/>
                <a:cs typeface="Carlito"/>
              </a:rPr>
              <a:t>factors </a:t>
            </a:r>
            <a:r>
              <a:rPr sz="2400" dirty="0">
                <a:latin typeface="Carlito"/>
                <a:cs typeface="Carlito"/>
              </a:rPr>
              <a:t>is </a:t>
            </a:r>
            <a:r>
              <a:rPr sz="2400" spc="-5" dirty="0">
                <a:latin typeface="Carlito"/>
                <a:cs typeface="Carlito"/>
              </a:rPr>
              <a:t>between </a:t>
            </a:r>
            <a:r>
              <a:rPr sz="2400" spc="-10" dirty="0">
                <a:latin typeface="Carlito"/>
                <a:cs typeface="Carlito"/>
              </a:rPr>
              <a:t>ten </a:t>
            </a:r>
            <a:r>
              <a:rPr sz="2400" dirty="0">
                <a:latin typeface="Carlito"/>
                <a:cs typeface="Carlito"/>
              </a:rPr>
              <a:t>and </a:t>
            </a:r>
            <a:r>
              <a:rPr sz="2400" spc="-5" dirty="0">
                <a:latin typeface="Carlito"/>
                <a:cs typeface="Carlito"/>
              </a:rPr>
              <a:t>fifteen</a:t>
            </a:r>
            <a:r>
              <a:rPr sz="2400" spc="-15" dirty="0">
                <a:latin typeface="Carlito"/>
                <a:cs typeface="Carlito"/>
              </a:rPr>
              <a:t> </a:t>
            </a:r>
            <a:r>
              <a:rPr sz="2400" dirty="0">
                <a:latin typeface="Carlito"/>
                <a:cs typeface="Carlito"/>
              </a:rPr>
              <a:t>.</a:t>
            </a:r>
          </a:p>
        </p:txBody>
      </p:sp>
      <p:grpSp>
        <p:nvGrpSpPr>
          <p:cNvPr id="4" name="object 4"/>
          <p:cNvGrpSpPr/>
          <p:nvPr/>
        </p:nvGrpSpPr>
        <p:grpSpPr>
          <a:xfrm>
            <a:off x="381000" y="3348226"/>
            <a:ext cx="2710180" cy="1501140"/>
            <a:chOff x="309372" y="3139439"/>
            <a:chExt cx="2710180" cy="1501140"/>
          </a:xfrm>
        </p:grpSpPr>
        <p:sp>
          <p:nvSpPr>
            <p:cNvPr id="5" name="object 5"/>
            <p:cNvSpPr/>
            <p:nvPr/>
          </p:nvSpPr>
          <p:spPr>
            <a:xfrm>
              <a:off x="333756" y="3172967"/>
              <a:ext cx="2685288" cy="1389887"/>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09372" y="3139439"/>
              <a:ext cx="2627376" cy="150114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381000" y="3200399"/>
              <a:ext cx="2590800" cy="1295400"/>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381000" y="3200399"/>
              <a:ext cx="2590800" cy="1295400"/>
            </a:xfrm>
            <a:custGeom>
              <a:avLst/>
              <a:gdLst/>
              <a:ahLst/>
              <a:cxnLst/>
              <a:rect l="l" t="t" r="r" b="b"/>
              <a:pathLst>
                <a:path w="2590800" h="1295400">
                  <a:moveTo>
                    <a:pt x="0" y="215900"/>
                  </a:moveTo>
                  <a:lnTo>
                    <a:pt x="5701" y="166391"/>
                  </a:lnTo>
                  <a:lnTo>
                    <a:pt x="21943" y="120946"/>
                  </a:lnTo>
                  <a:lnTo>
                    <a:pt x="47430" y="80859"/>
                  </a:lnTo>
                  <a:lnTo>
                    <a:pt x="80864" y="47426"/>
                  </a:lnTo>
                  <a:lnTo>
                    <a:pt x="120951" y="21941"/>
                  </a:lnTo>
                  <a:lnTo>
                    <a:pt x="166395" y="5701"/>
                  </a:lnTo>
                  <a:lnTo>
                    <a:pt x="215900" y="0"/>
                  </a:lnTo>
                  <a:lnTo>
                    <a:pt x="2374900" y="0"/>
                  </a:lnTo>
                  <a:lnTo>
                    <a:pt x="2424408" y="5701"/>
                  </a:lnTo>
                  <a:lnTo>
                    <a:pt x="2469853" y="21941"/>
                  </a:lnTo>
                  <a:lnTo>
                    <a:pt x="2509940" y="47426"/>
                  </a:lnTo>
                  <a:lnTo>
                    <a:pt x="2543373" y="80859"/>
                  </a:lnTo>
                  <a:lnTo>
                    <a:pt x="2568858" y="120946"/>
                  </a:lnTo>
                  <a:lnTo>
                    <a:pt x="2585098" y="166391"/>
                  </a:lnTo>
                  <a:lnTo>
                    <a:pt x="2590800" y="215900"/>
                  </a:lnTo>
                  <a:lnTo>
                    <a:pt x="2590800" y="1079500"/>
                  </a:lnTo>
                  <a:lnTo>
                    <a:pt x="2585098" y="1129008"/>
                  </a:lnTo>
                  <a:lnTo>
                    <a:pt x="2568858" y="1174453"/>
                  </a:lnTo>
                  <a:lnTo>
                    <a:pt x="2543373" y="1214540"/>
                  </a:lnTo>
                  <a:lnTo>
                    <a:pt x="2509940" y="1247973"/>
                  </a:lnTo>
                  <a:lnTo>
                    <a:pt x="2469853" y="1273458"/>
                  </a:lnTo>
                  <a:lnTo>
                    <a:pt x="2424408" y="1289698"/>
                  </a:lnTo>
                  <a:lnTo>
                    <a:pt x="2374900" y="1295400"/>
                  </a:lnTo>
                  <a:lnTo>
                    <a:pt x="215900" y="1295400"/>
                  </a:lnTo>
                  <a:lnTo>
                    <a:pt x="166395" y="1289698"/>
                  </a:lnTo>
                  <a:lnTo>
                    <a:pt x="120951" y="1273458"/>
                  </a:lnTo>
                  <a:lnTo>
                    <a:pt x="80864" y="1247973"/>
                  </a:lnTo>
                  <a:lnTo>
                    <a:pt x="47430" y="1214540"/>
                  </a:lnTo>
                  <a:lnTo>
                    <a:pt x="21943" y="1174453"/>
                  </a:lnTo>
                  <a:lnTo>
                    <a:pt x="5701" y="1129008"/>
                  </a:lnTo>
                  <a:lnTo>
                    <a:pt x="0" y="1079500"/>
                  </a:lnTo>
                  <a:lnTo>
                    <a:pt x="0" y="215900"/>
                  </a:lnTo>
                  <a:close/>
                </a:path>
              </a:pathLst>
            </a:custGeom>
            <a:ln w="9144">
              <a:solidFill>
                <a:srgbClr val="BD4A47"/>
              </a:solidFill>
            </a:ln>
          </p:spPr>
          <p:txBody>
            <a:bodyPr wrap="square" lIns="0" tIns="0" rIns="0" bIns="0" rtlCol="0"/>
            <a:lstStyle/>
            <a:p>
              <a:endParaRPr/>
            </a:p>
          </p:txBody>
        </p:sp>
      </p:grpSp>
      <p:sp>
        <p:nvSpPr>
          <p:cNvPr id="9" name="object 9"/>
          <p:cNvSpPr txBox="1"/>
          <p:nvPr/>
        </p:nvSpPr>
        <p:spPr>
          <a:xfrm>
            <a:off x="523138" y="3221863"/>
            <a:ext cx="2677262" cy="1410643"/>
          </a:xfrm>
          <a:prstGeom prst="rect">
            <a:avLst/>
          </a:prstGeom>
        </p:spPr>
        <p:txBody>
          <a:bodyPr vert="horz" wrap="square" lIns="0" tIns="12700" rIns="0" bIns="0" rtlCol="0">
            <a:spAutoFit/>
          </a:bodyPr>
          <a:lstStyle/>
          <a:p>
            <a:pPr marL="12700" algn="ctr">
              <a:lnSpc>
                <a:spcPct val="100000"/>
              </a:lnSpc>
              <a:spcBef>
                <a:spcPts val="100"/>
              </a:spcBef>
            </a:pPr>
            <a:endParaRPr lang="en-IN" b="1" dirty="0" smtClean="0">
              <a:solidFill>
                <a:srgbClr val="001F5F"/>
              </a:solidFill>
              <a:latin typeface="Carlito"/>
              <a:cs typeface="Carlito"/>
            </a:endParaRPr>
          </a:p>
          <a:p>
            <a:pPr marL="12700" algn="ctr">
              <a:lnSpc>
                <a:spcPct val="100000"/>
              </a:lnSpc>
              <a:spcBef>
                <a:spcPts val="100"/>
              </a:spcBef>
            </a:pPr>
            <a:r>
              <a:rPr b="1" dirty="0" smtClean="0">
                <a:solidFill>
                  <a:srgbClr val="001F5F"/>
                </a:solidFill>
                <a:latin typeface="Carlito"/>
                <a:cs typeface="Carlito"/>
              </a:rPr>
              <a:t>Skill</a:t>
            </a:r>
            <a:endParaRPr dirty="0">
              <a:latin typeface="Carlito"/>
              <a:cs typeface="Carlito"/>
            </a:endParaRPr>
          </a:p>
          <a:p>
            <a:pPr marL="299085" indent="-287020">
              <a:lnSpc>
                <a:spcPct val="100000"/>
              </a:lnSpc>
              <a:spcBef>
                <a:spcPts val="35"/>
              </a:spcBef>
              <a:buFont typeface="Wingdings"/>
              <a:buChar char=""/>
              <a:tabLst>
                <a:tab pos="299720" algn="l"/>
              </a:tabLst>
            </a:pPr>
            <a:r>
              <a:rPr sz="1800" spc="-10" dirty="0">
                <a:latin typeface="Carlito"/>
                <a:cs typeface="Carlito"/>
              </a:rPr>
              <a:t>Education</a:t>
            </a:r>
            <a:endParaRPr sz="1800" dirty="0">
              <a:latin typeface="Carlito"/>
              <a:cs typeface="Carlito"/>
            </a:endParaRPr>
          </a:p>
          <a:p>
            <a:pPr marL="299085" indent="-287020">
              <a:lnSpc>
                <a:spcPct val="100000"/>
              </a:lnSpc>
              <a:buFont typeface="Wingdings"/>
              <a:buChar char=""/>
              <a:tabLst>
                <a:tab pos="299720" algn="l"/>
              </a:tabLst>
            </a:pPr>
            <a:r>
              <a:rPr sz="1800" spc="-5" dirty="0">
                <a:latin typeface="Carlito"/>
                <a:cs typeface="Carlito"/>
              </a:rPr>
              <a:t>Experience</a:t>
            </a:r>
            <a:endParaRPr sz="1800" dirty="0">
              <a:latin typeface="Carlito"/>
              <a:cs typeface="Carlito"/>
            </a:endParaRPr>
          </a:p>
          <a:p>
            <a:pPr marL="299085" indent="-287020">
              <a:lnSpc>
                <a:spcPct val="100000"/>
              </a:lnSpc>
              <a:buFont typeface="Wingdings"/>
              <a:buChar char=""/>
              <a:tabLst>
                <a:tab pos="299720" algn="l"/>
              </a:tabLst>
            </a:pPr>
            <a:r>
              <a:rPr sz="1800" spc="-5" dirty="0">
                <a:latin typeface="Carlito"/>
                <a:cs typeface="Carlito"/>
              </a:rPr>
              <a:t>Initiative </a:t>
            </a:r>
            <a:r>
              <a:rPr sz="1800" dirty="0">
                <a:latin typeface="Carlito"/>
                <a:cs typeface="Carlito"/>
              </a:rPr>
              <a:t>&amp;</a:t>
            </a:r>
            <a:r>
              <a:rPr sz="1800" spc="-50" dirty="0">
                <a:latin typeface="Carlito"/>
                <a:cs typeface="Carlito"/>
              </a:rPr>
              <a:t> </a:t>
            </a:r>
            <a:r>
              <a:rPr sz="1800" spc="-10" dirty="0">
                <a:latin typeface="Carlito"/>
                <a:cs typeface="Carlito"/>
              </a:rPr>
              <a:t>ingenuity</a:t>
            </a:r>
            <a:endParaRPr sz="1800" dirty="0">
              <a:latin typeface="Carlito"/>
              <a:cs typeface="Carlito"/>
            </a:endParaRPr>
          </a:p>
        </p:txBody>
      </p:sp>
      <p:grpSp>
        <p:nvGrpSpPr>
          <p:cNvPr id="10" name="object 10"/>
          <p:cNvGrpSpPr/>
          <p:nvPr/>
        </p:nvGrpSpPr>
        <p:grpSpPr>
          <a:xfrm>
            <a:off x="3968496" y="3054095"/>
            <a:ext cx="2784475" cy="1501140"/>
            <a:chOff x="3968496" y="3054095"/>
            <a:chExt cx="2784475" cy="1501140"/>
          </a:xfrm>
        </p:grpSpPr>
        <p:sp>
          <p:nvSpPr>
            <p:cNvPr id="11" name="object 11"/>
            <p:cNvSpPr/>
            <p:nvPr/>
          </p:nvSpPr>
          <p:spPr>
            <a:xfrm>
              <a:off x="3991356" y="3078479"/>
              <a:ext cx="2761488" cy="1408176"/>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3968496" y="3054095"/>
              <a:ext cx="2784348" cy="1501139"/>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4038600" y="3105911"/>
              <a:ext cx="2667000" cy="1313688"/>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4038600" y="3105911"/>
              <a:ext cx="2667000" cy="1313815"/>
            </a:xfrm>
            <a:custGeom>
              <a:avLst/>
              <a:gdLst/>
              <a:ahLst/>
              <a:cxnLst/>
              <a:rect l="l" t="t" r="r" b="b"/>
              <a:pathLst>
                <a:path w="2667000" h="1313814">
                  <a:moveTo>
                    <a:pt x="0" y="218948"/>
                  </a:moveTo>
                  <a:lnTo>
                    <a:pt x="5783" y="168750"/>
                  </a:lnTo>
                  <a:lnTo>
                    <a:pt x="22257" y="122667"/>
                  </a:lnTo>
                  <a:lnTo>
                    <a:pt x="48105" y="82014"/>
                  </a:lnTo>
                  <a:lnTo>
                    <a:pt x="82014" y="48105"/>
                  </a:lnTo>
                  <a:lnTo>
                    <a:pt x="122667" y="22257"/>
                  </a:lnTo>
                  <a:lnTo>
                    <a:pt x="168750" y="5783"/>
                  </a:lnTo>
                  <a:lnTo>
                    <a:pt x="218948" y="0"/>
                  </a:lnTo>
                  <a:lnTo>
                    <a:pt x="2448052" y="0"/>
                  </a:lnTo>
                  <a:lnTo>
                    <a:pt x="2498249" y="5783"/>
                  </a:lnTo>
                  <a:lnTo>
                    <a:pt x="2544332" y="22257"/>
                  </a:lnTo>
                  <a:lnTo>
                    <a:pt x="2584985" y="48105"/>
                  </a:lnTo>
                  <a:lnTo>
                    <a:pt x="2618894" y="82014"/>
                  </a:lnTo>
                  <a:lnTo>
                    <a:pt x="2644742" y="122667"/>
                  </a:lnTo>
                  <a:lnTo>
                    <a:pt x="2661216" y="168750"/>
                  </a:lnTo>
                  <a:lnTo>
                    <a:pt x="2667000" y="218948"/>
                  </a:lnTo>
                  <a:lnTo>
                    <a:pt x="2667000" y="1094739"/>
                  </a:lnTo>
                  <a:lnTo>
                    <a:pt x="2661216" y="1144937"/>
                  </a:lnTo>
                  <a:lnTo>
                    <a:pt x="2644742" y="1191020"/>
                  </a:lnTo>
                  <a:lnTo>
                    <a:pt x="2618894" y="1231673"/>
                  </a:lnTo>
                  <a:lnTo>
                    <a:pt x="2584985" y="1265582"/>
                  </a:lnTo>
                  <a:lnTo>
                    <a:pt x="2544332" y="1291430"/>
                  </a:lnTo>
                  <a:lnTo>
                    <a:pt x="2498249" y="1307904"/>
                  </a:lnTo>
                  <a:lnTo>
                    <a:pt x="2448052" y="1313688"/>
                  </a:lnTo>
                  <a:lnTo>
                    <a:pt x="218948" y="1313688"/>
                  </a:lnTo>
                  <a:lnTo>
                    <a:pt x="168750" y="1307904"/>
                  </a:lnTo>
                  <a:lnTo>
                    <a:pt x="122667" y="1291430"/>
                  </a:lnTo>
                  <a:lnTo>
                    <a:pt x="82014" y="1265582"/>
                  </a:lnTo>
                  <a:lnTo>
                    <a:pt x="48105" y="1231673"/>
                  </a:lnTo>
                  <a:lnTo>
                    <a:pt x="22257" y="1191020"/>
                  </a:lnTo>
                  <a:lnTo>
                    <a:pt x="5783" y="1144937"/>
                  </a:lnTo>
                  <a:lnTo>
                    <a:pt x="0" y="1094739"/>
                  </a:lnTo>
                  <a:lnTo>
                    <a:pt x="0" y="218948"/>
                  </a:lnTo>
                  <a:close/>
                </a:path>
              </a:pathLst>
            </a:custGeom>
            <a:ln w="9144">
              <a:solidFill>
                <a:srgbClr val="BD4A47"/>
              </a:solidFill>
            </a:ln>
          </p:spPr>
          <p:txBody>
            <a:bodyPr wrap="square" lIns="0" tIns="0" rIns="0" bIns="0" rtlCol="0"/>
            <a:lstStyle/>
            <a:p>
              <a:endParaRPr/>
            </a:p>
          </p:txBody>
        </p:sp>
      </p:grpSp>
      <p:sp>
        <p:nvSpPr>
          <p:cNvPr id="15" name="object 15"/>
          <p:cNvSpPr txBox="1"/>
          <p:nvPr/>
        </p:nvSpPr>
        <p:spPr>
          <a:xfrm>
            <a:off x="4181983" y="3136468"/>
            <a:ext cx="2570861" cy="1219835"/>
          </a:xfrm>
          <a:prstGeom prst="rect">
            <a:avLst/>
          </a:prstGeom>
        </p:spPr>
        <p:txBody>
          <a:bodyPr vert="horz" wrap="square" lIns="0" tIns="12700" rIns="0" bIns="0" rtlCol="0">
            <a:spAutoFit/>
          </a:bodyPr>
          <a:lstStyle/>
          <a:p>
            <a:pPr marL="12700" algn="ctr">
              <a:lnSpc>
                <a:spcPct val="100000"/>
              </a:lnSpc>
              <a:spcBef>
                <a:spcPts val="100"/>
              </a:spcBef>
            </a:pPr>
            <a:r>
              <a:rPr sz="2400" b="1" spc="-30" dirty="0">
                <a:latin typeface="Carlito"/>
                <a:cs typeface="Carlito"/>
              </a:rPr>
              <a:t>Effort</a:t>
            </a:r>
            <a:endParaRPr sz="2400" b="1" dirty="0">
              <a:latin typeface="Carlito"/>
              <a:cs typeface="Carlito"/>
            </a:endParaRPr>
          </a:p>
          <a:p>
            <a:pPr marL="299085" indent="-287020">
              <a:lnSpc>
                <a:spcPct val="100000"/>
              </a:lnSpc>
              <a:spcBef>
                <a:spcPts val="40"/>
              </a:spcBef>
              <a:buFont typeface="Wingdings"/>
              <a:buChar char=""/>
              <a:tabLst>
                <a:tab pos="299720" algn="l"/>
              </a:tabLst>
            </a:pPr>
            <a:r>
              <a:rPr sz="1800" spc="-15" dirty="0">
                <a:latin typeface="Carlito"/>
                <a:cs typeface="Carlito"/>
              </a:rPr>
              <a:t>Physical</a:t>
            </a:r>
            <a:r>
              <a:rPr sz="1800" spc="-10" dirty="0">
                <a:latin typeface="Carlito"/>
                <a:cs typeface="Carlito"/>
              </a:rPr>
              <a:t> </a:t>
            </a:r>
            <a:r>
              <a:rPr sz="1800" spc="-5" dirty="0">
                <a:latin typeface="Carlito"/>
                <a:cs typeface="Carlito"/>
              </a:rPr>
              <a:t>demand</a:t>
            </a:r>
            <a:endParaRPr sz="1800" dirty="0">
              <a:latin typeface="Carlito"/>
              <a:cs typeface="Carlito"/>
            </a:endParaRPr>
          </a:p>
          <a:p>
            <a:pPr marL="299085" marR="5080" indent="-287020">
              <a:lnSpc>
                <a:spcPct val="100000"/>
              </a:lnSpc>
              <a:buFont typeface="Wingdings"/>
              <a:buChar char=""/>
              <a:tabLst>
                <a:tab pos="299720" algn="l"/>
              </a:tabLst>
            </a:pPr>
            <a:r>
              <a:rPr sz="1800" spc="-10" dirty="0">
                <a:latin typeface="Carlito"/>
                <a:cs typeface="Carlito"/>
              </a:rPr>
              <a:t>Mental </a:t>
            </a:r>
            <a:r>
              <a:rPr sz="1800" dirty="0">
                <a:latin typeface="Carlito"/>
                <a:cs typeface="Carlito"/>
              </a:rPr>
              <a:t>and / </a:t>
            </a:r>
            <a:r>
              <a:rPr sz="1800" spc="-5" dirty="0">
                <a:latin typeface="Carlito"/>
                <a:cs typeface="Carlito"/>
              </a:rPr>
              <a:t>or</a:t>
            </a:r>
            <a:r>
              <a:rPr sz="1800" spc="-40" dirty="0">
                <a:latin typeface="Carlito"/>
                <a:cs typeface="Carlito"/>
              </a:rPr>
              <a:t> </a:t>
            </a:r>
            <a:r>
              <a:rPr sz="1800" dirty="0">
                <a:latin typeface="Carlito"/>
                <a:cs typeface="Carlito"/>
              </a:rPr>
              <a:t>visual  demand</a:t>
            </a:r>
          </a:p>
        </p:txBody>
      </p:sp>
      <p:grpSp>
        <p:nvGrpSpPr>
          <p:cNvPr id="16" name="object 16"/>
          <p:cNvGrpSpPr/>
          <p:nvPr/>
        </p:nvGrpSpPr>
        <p:grpSpPr>
          <a:xfrm>
            <a:off x="105155" y="4849366"/>
            <a:ext cx="4543045" cy="1923414"/>
            <a:chOff x="105155" y="4849366"/>
            <a:chExt cx="4589145" cy="1923414"/>
          </a:xfrm>
        </p:grpSpPr>
        <p:sp>
          <p:nvSpPr>
            <p:cNvPr id="17" name="object 17"/>
            <p:cNvSpPr/>
            <p:nvPr/>
          </p:nvSpPr>
          <p:spPr>
            <a:xfrm>
              <a:off x="105155" y="4849366"/>
              <a:ext cx="4588764" cy="1923288"/>
            </a:xfrm>
            <a:prstGeom prst="rect">
              <a:avLst/>
            </a:prstGeom>
            <a:blipFill>
              <a:blip r:embed="rId8" cstate="print"/>
              <a:stretch>
                <a:fillRect/>
              </a:stretch>
            </a:blipFill>
          </p:spPr>
          <p:txBody>
            <a:bodyPr wrap="square" lIns="0" tIns="0" rIns="0" bIns="0" rtlCol="0"/>
            <a:lstStyle/>
            <a:p>
              <a:endParaRPr/>
            </a:p>
          </p:txBody>
        </p:sp>
        <p:sp>
          <p:nvSpPr>
            <p:cNvPr id="18" name="object 18"/>
            <p:cNvSpPr/>
            <p:nvPr/>
          </p:nvSpPr>
          <p:spPr>
            <a:xfrm>
              <a:off x="108203" y="4945380"/>
              <a:ext cx="4428744" cy="1775460"/>
            </a:xfrm>
            <a:prstGeom prst="rect">
              <a:avLst/>
            </a:prstGeom>
            <a:blipFill>
              <a:blip r:embed="rId9" cstate="print"/>
              <a:stretch>
                <a:fillRect/>
              </a:stretch>
            </a:blipFill>
          </p:spPr>
          <p:txBody>
            <a:bodyPr wrap="square" lIns="0" tIns="0" rIns="0" bIns="0" rtlCol="0"/>
            <a:lstStyle/>
            <a:p>
              <a:endParaRPr/>
            </a:p>
          </p:txBody>
        </p:sp>
        <p:sp>
          <p:nvSpPr>
            <p:cNvPr id="19" name="object 19"/>
            <p:cNvSpPr/>
            <p:nvPr/>
          </p:nvSpPr>
          <p:spPr>
            <a:xfrm>
              <a:off x="152399" y="4876800"/>
              <a:ext cx="4494276" cy="1828800"/>
            </a:xfrm>
            <a:prstGeom prst="rect">
              <a:avLst/>
            </a:prstGeom>
            <a:blipFill>
              <a:blip r:embed="rId10" cstate="print"/>
              <a:stretch>
                <a:fillRect/>
              </a:stretch>
            </a:blipFill>
          </p:spPr>
          <p:txBody>
            <a:bodyPr wrap="square" lIns="0" tIns="0" rIns="0" bIns="0" rtlCol="0"/>
            <a:lstStyle/>
            <a:p>
              <a:endParaRPr/>
            </a:p>
          </p:txBody>
        </p:sp>
        <p:sp>
          <p:nvSpPr>
            <p:cNvPr id="20" name="object 20"/>
            <p:cNvSpPr/>
            <p:nvPr/>
          </p:nvSpPr>
          <p:spPr>
            <a:xfrm>
              <a:off x="152399" y="4876800"/>
              <a:ext cx="4494530" cy="1828800"/>
            </a:xfrm>
            <a:custGeom>
              <a:avLst/>
              <a:gdLst/>
              <a:ahLst/>
              <a:cxnLst/>
              <a:rect l="l" t="t" r="r" b="b"/>
              <a:pathLst>
                <a:path w="4494530" h="1828800">
                  <a:moveTo>
                    <a:pt x="0" y="304800"/>
                  </a:moveTo>
                  <a:lnTo>
                    <a:pt x="3989" y="255374"/>
                  </a:lnTo>
                  <a:lnTo>
                    <a:pt x="15538" y="208483"/>
                  </a:lnTo>
                  <a:lnTo>
                    <a:pt x="34020" y="164753"/>
                  </a:lnTo>
                  <a:lnTo>
                    <a:pt x="58808" y="124815"/>
                  </a:lnTo>
                  <a:lnTo>
                    <a:pt x="89273" y="89296"/>
                  </a:lnTo>
                  <a:lnTo>
                    <a:pt x="124788" y="58826"/>
                  </a:lnTo>
                  <a:lnTo>
                    <a:pt x="164725" y="34032"/>
                  </a:lnTo>
                  <a:lnTo>
                    <a:pt x="208458" y="15544"/>
                  </a:lnTo>
                  <a:lnTo>
                    <a:pt x="255359" y="3990"/>
                  </a:lnTo>
                  <a:lnTo>
                    <a:pt x="304800" y="0"/>
                  </a:lnTo>
                  <a:lnTo>
                    <a:pt x="4189476" y="0"/>
                  </a:lnTo>
                  <a:lnTo>
                    <a:pt x="4238901" y="3990"/>
                  </a:lnTo>
                  <a:lnTo>
                    <a:pt x="4285792" y="15544"/>
                  </a:lnTo>
                  <a:lnTo>
                    <a:pt x="4329522" y="34032"/>
                  </a:lnTo>
                  <a:lnTo>
                    <a:pt x="4369460" y="58826"/>
                  </a:lnTo>
                  <a:lnTo>
                    <a:pt x="4404979" y="89296"/>
                  </a:lnTo>
                  <a:lnTo>
                    <a:pt x="4435449" y="124815"/>
                  </a:lnTo>
                  <a:lnTo>
                    <a:pt x="4460243" y="164753"/>
                  </a:lnTo>
                  <a:lnTo>
                    <a:pt x="4478731" y="208483"/>
                  </a:lnTo>
                  <a:lnTo>
                    <a:pt x="4490285" y="255374"/>
                  </a:lnTo>
                  <a:lnTo>
                    <a:pt x="4494276" y="304800"/>
                  </a:lnTo>
                  <a:lnTo>
                    <a:pt x="4494276" y="1524000"/>
                  </a:lnTo>
                  <a:lnTo>
                    <a:pt x="4490285" y="1573440"/>
                  </a:lnTo>
                  <a:lnTo>
                    <a:pt x="4478731" y="1620341"/>
                  </a:lnTo>
                  <a:lnTo>
                    <a:pt x="4460243" y="1664074"/>
                  </a:lnTo>
                  <a:lnTo>
                    <a:pt x="4435449" y="1704011"/>
                  </a:lnTo>
                  <a:lnTo>
                    <a:pt x="4404979" y="1739526"/>
                  </a:lnTo>
                  <a:lnTo>
                    <a:pt x="4369460" y="1769991"/>
                  </a:lnTo>
                  <a:lnTo>
                    <a:pt x="4329522" y="1794779"/>
                  </a:lnTo>
                  <a:lnTo>
                    <a:pt x="4285792" y="1813261"/>
                  </a:lnTo>
                  <a:lnTo>
                    <a:pt x="4238901" y="1824810"/>
                  </a:lnTo>
                  <a:lnTo>
                    <a:pt x="4189476" y="1828800"/>
                  </a:lnTo>
                  <a:lnTo>
                    <a:pt x="304800" y="1828800"/>
                  </a:lnTo>
                  <a:lnTo>
                    <a:pt x="255359" y="1824810"/>
                  </a:lnTo>
                  <a:lnTo>
                    <a:pt x="208458" y="1813261"/>
                  </a:lnTo>
                  <a:lnTo>
                    <a:pt x="164725" y="1794779"/>
                  </a:lnTo>
                  <a:lnTo>
                    <a:pt x="124788" y="1769991"/>
                  </a:lnTo>
                  <a:lnTo>
                    <a:pt x="89273" y="1739526"/>
                  </a:lnTo>
                  <a:lnTo>
                    <a:pt x="58808" y="1704011"/>
                  </a:lnTo>
                  <a:lnTo>
                    <a:pt x="34020" y="1664074"/>
                  </a:lnTo>
                  <a:lnTo>
                    <a:pt x="15538" y="1620341"/>
                  </a:lnTo>
                  <a:lnTo>
                    <a:pt x="3989" y="1573440"/>
                  </a:lnTo>
                  <a:lnTo>
                    <a:pt x="0" y="1524000"/>
                  </a:lnTo>
                  <a:lnTo>
                    <a:pt x="0" y="304800"/>
                  </a:lnTo>
                  <a:close/>
                </a:path>
              </a:pathLst>
            </a:custGeom>
            <a:ln w="9144">
              <a:solidFill>
                <a:srgbClr val="BD4A47"/>
              </a:solidFill>
            </a:ln>
          </p:spPr>
          <p:txBody>
            <a:bodyPr wrap="square" lIns="0" tIns="0" rIns="0" bIns="0" rtlCol="0"/>
            <a:lstStyle/>
            <a:p>
              <a:endParaRPr/>
            </a:p>
          </p:txBody>
        </p:sp>
      </p:grpSp>
      <p:sp>
        <p:nvSpPr>
          <p:cNvPr id="21" name="object 21"/>
          <p:cNvSpPr txBox="1"/>
          <p:nvPr/>
        </p:nvSpPr>
        <p:spPr>
          <a:xfrm>
            <a:off x="320446" y="5027752"/>
            <a:ext cx="3994150" cy="1951816"/>
          </a:xfrm>
          <a:prstGeom prst="rect">
            <a:avLst/>
          </a:prstGeom>
        </p:spPr>
        <p:txBody>
          <a:bodyPr vert="horz" wrap="square" lIns="0" tIns="12700" rIns="0" bIns="0" rtlCol="0">
            <a:spAutoFit/>
          </a:bodyPr>
          <a:lstStyle/>
          <a:p>
            <a:pPr marL="12700" algn="ctr">
              <a:lnSpc>
                <a:spcPct val="100000"/>
              </a:lnSpc>
              <a:spcBef>
                <a:spcPts val="100"/>
              </a:spcBef>
            </a:pPr>
            <a:r>
              <a:rPr b="1" spc="-10" dirty="0">
                <a:latin typeface="Carlito"/>
                <a:cs typeface="Carlito"/>
              </a:rPr>
              <a:t>Responsibility</a:t>
            </a:r>
            <a:endParaRPr b="1" dirty="0">
              <a:latin typeface="Carlito"/>
              <a:cs typeface="Carlito"/>
            </a:endParaRPr>
          </a:p>
          <a:p>
            <a:pPr marL="299085" indent="-287020">
              <a:lnSpc>
                <a:spcPct val="100000"/>
              </a:lnSpc>
              <a:spcBef>
                <a:spcPts val="40"/>
              </a:spcBef>
              <a:buFont typeface="Wingdings"/>
              <a:buChar char=""/>
              <a:tabLst>
                <a:tab pos="299720" algn="l"/>
              </a:tabLst>
            </a:pPr>
            <a:r>
              <a:rPr sz="1800" spc="-10" dirty="0">
                <a:latin typeface="Carlito"/>
                <a:cs typeface="Carlito"/>
              </a:rPr>
              <a:t>Responsibility </a:t>
            </a:r>
            <a:r>
              <a:rPr sz="1800" spc="-15" dirty="0">
                <a:latin typeface="Carlito"/>
                <a:cs typeface="Carlito"/>
              </a:rPr>
              <a:t>for </a:t>
            </a:r>
            <a:r>
              <a:rPr sz="1800" spc="-5" dirty="0">
                <a:latin typeface="Carlito"/>
                <a:cs typeface="Carlito"/>
              </a:rPr>
              <a:t>equipment </a:t>
            </a:r>
            <a:r>
              <a:rPr sz="1800" spc="-5" dirty="0" smtClean="0">
                <a:latin typeface="Carlito"/>
                <a:cs typeface="Carlito"/>
              </a:rPr>
              <a:t>or</a:t>
            </a:r>
            <a:r>
              <a:rPr lang="en-IN" sz="1800" spc="-5" dirty="0" smtClean="0">
                <a:latin typeface="Carlito"/>
                <a:cs typeface="Carlito"/>
              </a:rPr>
              <a:t> </a:t>
            </a:r>
            <a:r>
              <a:rPr sz="1800" spc="-10" dirty="0" smtClean="0">
                <a:latin typeface="Carlito"/>
                <a:cs typeface="Carlito"/>
              </a:rPr>
              <a:t>process</a:t>
            </a:r>
            <a:endParaRPr sz="1800" dirty="0">
              <a:latin typeface="Carlito"/>
              <a:cs typeface="Carlito"/>
            </a:endParaRPr>
          </a:p>
          <a:p>
            <a:pPr marL="299085" indent="-287020">
              <a:lnSpc>
                <a:spcPct val="100000"/>
              </a:lnSpc>
              <a:buFont typeface="Wingdings"/>
              <a:buChar char=""/>
              <a:tabLst>
                <a:tab pos="299720" algn="l"/>
              </a:tabLst>
            </a:pPr>
            <a:r>
              <a:rPr sz="1800" spc="-10" dirty="0">
                <a:latin typeface="Carlito"/>
                <a:cs typeface="Carlito"/>
              </a:rPr>
              <a:t>Responsibility </a:t>
            </a:r>
            <a:r>
              <a:rPr sz="1800" spc="-15" dirty="0">
                <a:latin typeface="Carlito"/>
                <a:cs typeface="Carlito"/>
              </a:rPr>
              <a:t>for </a:t>
            </a:r>
            <a:r>
              <a:rPr sz="1800" spc="-10" dirty="0">
                <a:latin typeface="Carlito"/>
                <a:cs typeface="Carlito"/>
              </a:rPr>
              <a:t>materials </a:t>
            </a:r>
            <a:r>
              <a:rPr sz="1800" spc="-5" dirty="0">
                <a:latin typeface="Carlito"/>
                <a:cs typeface="Carlito"/>
              </a:rPr>
              <a:t>or</a:t>
            </a:r>
            <a:r>
              <a:rPr sz="1800" spc="85" dirty="0">
                <a:latin typeface="Carlito"/>
                <a:cs typeface="Carlito"/>
              </a:rPr>
              <a:t> </a:t>
            </a:r>
            <a:r>
              <a:rPr sz="1800" spc="-10" dirty="0">
                <a:latin typeface="Carlito"/>
                <a:cs typeface="Carlito"/>
              </a:rPr>
              <a:t>product</a:t>
            </a:r>
            <a:endParaRPr sz="1800" dirty="0">
              <a:latin typeface="Carlito"/>
              <a:cs typeface="Carlito"/>
            </a:endParaRPr>
          </a:p>
          <a:p>
            <a:pPr marL="299085" indent="-287020">
              <a:lnSpc>
                <a:spcPct val="100000"/>
              </a:lnSpc>
              <a:buFont typeface="Wingdings"/>
              <a:buChar char=""/>
              <a:tabLst>
                <a:tab pos="299720" algn="l"/>
              </a:tabLst>
            </a:pPr>
            <a:r>
              <a:rPr sz="1800" spc="-10" dirty="0">
                <a:latin typeface="Carlito"/>
                <a:cs typeface="Carlito"/>
              </a:rPr>
              <a:t>Responsibility </a:t>
            </a:r>
            <a:r>
              <a:rPr sz="1800" spc="-15" dirty="0">
                <a:latin typeface="Carlito"/>
                <a:cs typeface="Carlito"/>
              </a:rPr>
              <a:t>for safety </a:t>
            </a:r>
            <a:r>
              <a:rPr sz="1800" spc="-5" dirty="0">
                <a:latin typeface="Carlito"/>
                <a:cs typeface="Carlito"/>
              </a:rPr>
              <a:t>of</a:t>
            </a:r>
            <a:r>
              <a:rPr sz="1800" spc="65" dirty="0">
                <a:latin typeface="Carlito"/>
                <a:cs typeface="Carlito"/>
              </a:rPr>
              <a:t> </a:t>
            </a:r>
            <a:r>
              <a:rPr sz="1800" spc="-10" dirty="0">
                <a:latin typeface="Carlito"/>
                <a:cs typeface="Carlito"/>
              </a:rPr>
              <a:t>others</a:t>
            </a:r>
            <a:endParaRPr sz="1800" dirty="0">
              <a:latin typeface="Carlito"/>
              <a:cs typeface="Carlito"/>
            </a:endParaRPr>
          </a:p>
          <a:p>
            <a:pPr marL="12065">
              <a:lnSpc>
                <a:spcPct val="100000"/>
              </a:lnSpc>
              <a:tabLst>
                <a:tab pos="299720" algn="l"/>
              </a:tabLst>
            </a:pPr>
            <a:endParaRPr sz="1800" dirty="0">
              <a:latin typeface="Carlito"/>
              <a:cs typeface="Carlito"/>
            </a:endParaRPr>
          </a:p>
        </p:txBody>
      </p:sp>
      <p:grpSp>
        <p:nvGrpSpPr>
          <p:cNvPr id="22" name="object 22"/>
          <p:cNvGrpSpPr/>
          <p:nvPr/>
        </p:nvGrpSpPr>
        <p:grpSpPr>
          <a:xfrm>
            <a:off x="5130209" y="4696235"/>
            <a:ext cx="3785191" cy="1923414"/>
            <a:chOff x="5439155" y="4849366"/>
            <a:chExt cx="2685415" cy="1923414"/>
          </a:xfrm>
        </p:grpSpPr>
        <p:sp>
          <p:nvSpPr>
            <p:cNvPr id="23" name="object 23"/>
            <p:cNvSpPr/>
            <p:nvPr/>
          </p:nvSpPr>
          <p:spPr>
            <a:xfrm>
              <a:off x="5439155" y="4849366"/>
              <a:ext cx="2685288" cy="1923288"/>
            </a:xfrm>
            <a:prstGeom prst="rect">
              <a:avLst/>
            </a:prstGeom>
            <a:blipFill>
              <a:blip r:embed="rId11" cstate="print"/>
              <a:stretch>
                <a:fillRect/>
              </a:stretch>
            </a:blipFill>
          </p:spPr>
          <p:txBody>
            <a:bodyPr wrap="square" lIns="0" tIns="0" rIns="0" bIns="0" rtlCol="0"/>
            <a:lstStyle/>
            <a:p>
              <a:endParaRPr/>
            </a:p>
          </p:txBody>
        </p:sp>
        <p:sp>
          <p:nvSpPr>
            <p:cNvPr id="24" name="object 24"/>
            <p:cNvSpPr/>
            <p:nvPr/>
          </p:nvSpPr>
          <p:spPr>
            <a:xfrm>
              <a:off x="5442203" y="5219700"/>
              <a:ext cx="2540507" cy="1226820"/>
            </a:xfrm>
            <a:prstGeom prst="rect">
              <a:avLst/>
            </a:prstGeom>
            <a:blipFill>
              <a:blip r:embed="rId12" cstate="print"/>
              <a:stretch>
                <a:fillRect/>
              </a:stretch>
            </a:blipFill>
          </p:spPr>
          <p:txBody>
            <a:bodyPr wrap="square" lIns="0" tIns="0" rIns="0" bIns="0" rtlCol="0"/>
            <a:lstStyle/>
            <a:p>
              <a:endParaRPr/>
            </a:p>
          </p:txBody>
        </p:sp>
        <p:sp>
          <p:nvSpPr>
            <p:cNvPr id="25" name="object 25"/>
            <p:cNvSpPr/>
            <p:nvPr/>
          </p:nvSpPr>
          <p:spPr>
            <a:xfrm>
              <a:off x="5486399" y="4876800"/>
              <a:ext cx="2590800" cy="1828800"/>
            </a:xfrm>
            <a:prstGeom prst="rect">
              <a:avLst/>
            </a:prstGeom>
            <a:blipFill>
              <a:blip r:embed="rId13" cstate="print"/>
              <a:stretch>
                <a:fillRect/>
              </a:stretch>
            </a:blipFill>
          </p:spPr>
          <p:txBody>
            <a:bodyPr wrap="square" lIns="0" tIns="0" rIns="0" bIns="0" rtlCol="0"/>
            <a:lstStyle/>
            <a:p>
              <a:endParaRPr/>
            </a:p>
          </p:txBody>
        </p:sp>
        <p:sp>
          <p:nvSpPr>
            <p:cNvPr id="26" name="object 26"/>
            <p:cNvSpPr/>
            <p:nvPr/>
          </p:nvSpPr>
          <p:spPr>
            <a:xfrm>
              <a:off x="5486399" y="4876800"/>
              <a:ext cx="2590800" cy="1828800"/>
            </a:xfrm>
            <a:custGeom>
              <a:avLst/>
              <a:gdLst/>
              <a:ahLst/>
              <a:cxnLst/>
              <a:rect l="l" t="t" r="r" b="b"/>
              <a:pathLst>
                <a:path w="2590800" h="182880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2286000" y="0"/>
                  </a:lnTo>
                  <a:lnTo>
                    <a:pt x="2335425" y="3990"/>
                  </a:lnTo>
                  <a:lnTo>
                    <a:pt x="2382316" y="15544"/>
                  </a:lnTo>
                  <a:lnTo>
                    <a:pt x="2426046" y="34032"/>
                  </a:lnTo>
                  <a:lnTo>
                    <a:pt x="2465984" y="58826"/>
                  </a:lnTo>
                  <a:lnTo>
                    <a:pt x="2501503" y="89296"/>
                  </a:lnTo>
                  <a:lnTo>
                    <a:pt x="2531973" y="124815"/>
                  </a:lnTo>
                  <a:lnTo>
                    <a:pt x="2556767" y="164753"/>
                  </a:lnTo>
                  <a:lnTo>
                    <a:pt x="2575255" y="208483"/>
                  </a:lnTo>
                  <a:lnTo>
                    <a:pt x="2586809" y="255374"/>
                  </a:lnTo>
                  <a:lnTo>
                    <a:pt x="2590800" y="304800"/>
                  </a:lnTo>
                  <a:lnTo>
                    <a:pt x="2590800" y="1524000"/>
                  </a:lnTo>
                  <a:lnTo>
                    <a:pt x="2586809" y="1573440"/>
                  </a:lnTo>
                  <a:lnTo>
                    <a:pt x="2575255" y="1620341"/>
                  </a:lnTo>
                  <a:lnTo>
                    <a:pt x="2556767" y="1664074"/>
                  </a:lnTo>
                  <a:lnTo>
                    <a:pt x="2531973" y="1704011"/>
                  </a:lnTo>
                  <a:lnTo>
                    <a:pt x="2501503" y="1739526"/>
                  </a:lnTo>
                  <a:lnTo>
                    <a:pt x="2465984" y="1769991"/>
                  </a:lnTo>
                  <a:lnTo>
                    <a:pt x="2426046" y="1794779"/>
                  </a:lnTo>
                  <a:lnTo>
                    <a:pt x="2382316" y="1813261"/>
                  </a:lnTo>
                  <a:lnTo>
                    <a:pt x="2335425" y="1824810"/>
                  </a:lnTo>
                  <a:lnTo>
                    <a:pt x="2286000" y="1828800"/>
                  </a:lnTo>
                  <a:lnTo>
                    <a:pt x="304800" y="1828800"/>
                  </a:lnTo>
                  <a:lnTo>
                    <a:pt x="255374" y="1824810"/>
                  </a:lnTo>
                  <a:lnTo>
                    <a:pt x="208483" y="1813261"/>
                  </a:lnTo>
                  <a:lnTo>
                    <a:pt x="164753" y="1794779"/>
                  </a:lnTo>
                  <a:lnTo>
                    <a:pt x="124815" y="1769991"/>
                  </a:lnTo>
                  <a:lnTo>
                    <a:pt x="89296" y="1739526"/>
                  </a:lnTo>
                  <a:lnTo>
                    <a:pt x="58826" y="1704011"/>
                  </a:lnTo>
                  <a:lnTo>
                    <a:pt x="34032" y="1664074"/>
                  </a:lnTo>
                  <a:lnTo>
                    <a:pt x="15544" y="1620341"/>
                  </a:lnTo>
                  <a:lnTo>
                    <a:pt x="3990" y="1573440"/>
                  </a:lnTo>
                  <a:lnTo>
                    <a:pt x="0" y="1524000"/>
                  </a:lnTo>
                  <a:lnTo>
                    <a:pt x="0" y="304800"/>
                  </a:lnTo>
                  <a:close/>
                </a:path>
              </a:pathLst>
            </a:custGeom>
            <a:ln w="9144">
              <a:solidFill>
                <a:srgbClr val="BD4A47"/>
              </a:solidFill>
            </a:ln>
          </p:spPr>
          <p:txBody>
            <a:bodyPr wrap="square" lIns="0" tIns="0" rIns="0" bIns="0" rtlCol="0"/>
            <a:lstStyle/>
            <a:p>
              <a:endParaRPr/>
            </a:p>
          </p:txBody>
        </p:sp>
      </p:grpSp>
      <p:sp>
        <p:nvSpPr>
          <p:cNvPr id="27" name="object 27"/>
          <p:cNvSpPr txBox="1"/>
          <p:nvPr/>
        </p:nvSpPr>
        <p:spPr>
          <a:xfrm>
            <a:off x="5655309" y="5302707"/>
            <a:ext cx="3060134" cy="936154"/>
          </a:xfrm>
          <a:prstGeom prst="rect">
            <a:avLst/>
          </a:prstGeom>
        </p:spPr>
        <p:txBody>
          <a:bodyPr vert="horz" wrap="square" lIns="0" tIns="12700" rIns="0" bIns="0" rtlCol="0">
            <a:spAutoFit/>
          </a:bodyPr>
          <a:lstStyle/>
          <a:p>
            <a:pPr marL="12700" algn="ctr">
              <a:lnSpc>
                <a:spcPct val="100000"/>
              </a:lnSpc>
              <a:spcBef>
                <a:spcPts val="100"/>
              </a:spcBef>
            </a:pPr>
            <a:r>
              <a:rPr sz="2400" b="1" dirty="0">
                <a:latin typeface="Carlito"/>
                <a:cs typeface="Carlito"/>
              </a:rPr>
              <a:t>Job</a:t>
            </a:r>
            <a:r>
              <a:rPr sz="2400" b="1" spc="-15" dirty="0">
                <a:latin typeface="Carlito"/>
                <a:cs typeface="Carlito"/>
              </a:rPr>
              <a:t> </a:t>
            </a:r>
            <a:r>
              <a:rPr sz="2400" b="1" spc="-10" dirty="0" smtClean="0">
                <a:latin typeface="Carlito"/>
                <a:cs typeface="Carlito"/>
              </a:rPr>
              <a:t>Conditions</a:t>
            </a:r>
            <a:endParaRPr sz="2400" b="1" dirty="0">
              <a:latin typeface="Carlito"/>
              <a:cs typeface="Carlito"/>
            </a:endParaRPr>
          </a:p>
          <a:p>
            <a:pPr marL="350520" indent="-338455">
              <a:lnSpc>
                <a:spcPct val="100000"/>
              </a:lnSpc>
              <a:spcBef>
                <a:spcPts val="35"/>
              </a:spcBef>
              <a:buFont typeface="Wingdings"/>
              <a:buChar char=""/>
              <a:tabLst>
                <a:tab pos="350520" algn="l"/>
                <a:tab pos="351155" algn="l"/>
              </a:tabLst>
            </a:pPr>
            <a:r>
              <a:rPr sz="1800" spc="-20" dirty="0">
                <a:latin typeface="Carlito"/>
                <a:cs typeface="Carlito"/>
              </a:rPr>
              <a:t>Working</a:t>
            </a:r>
            <a:r>
              <a:rPr sz="1800" spc="-15" dirty="0">
                <a:latin typeface="Carlito"/>
                <a:cs typeface="Carlito"/>
              </a:rPr>
              <a:t> </a:t>
            </a:r>
            <a:r>
              <a:rPr lang="en-IN" sz="1800" spc="-15" dirty="0" smtClean="0">
                <a:latin typeface="Carlito"/>
                <a:cs typeface="Carlito"/>
              </a:rPr>
              <a:t>c</a:t>
            </a:r>
            <a:r>
              <a:rPr sz="1800" spc="-10" dirty="0" err="1" smtClean="0">
                <a:latin typeface="Carlito"/>
                <a:cs typeface="Carlito"/>
              </a:rPr>
              <a:t>onditions</a:t>
            </a:r>
            <a:endParaRPr sz="1800" dirty="0">
              <a:latin typeface="Carlito"/>
              <a:cs typeface="Carlito"/>
            </a:endParaRPr>
          </a:p>
          <a:p>
            <a:pPr marL="350520" indent="-338455">
              <a:lnSpc>
                <a:spcPct val="100000"/>
              </a:lnSpc>
              <a:buFont typeface="Wingdings"/>
              <a:buChar char=""/>
              <a:tabLst>
                <a:tab pos="350520" algn="l"/>
                <a:tab pos="351155" algn="l"/>
              </a:tabLst>
            </a:pPr>
            <a:r>
              <a:rPr sz="1800" spc="-15" dirty="0">
                <a:latin typeface="Carlito"/>
                <a:cs typeface="Carlito"/>
              </a:rPr>
              <a:t>Hazards</a:t>
            </a:r>
            <a:endParaRPr sz="1800" dirty="0">
              <a:latin typeface="Carlito"/>
              <a:cs typeface="Carlito"/>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8942" y="626109"/>
            <a:ext cx="8090534" cy="5302092"/>
          </a:xfrm>
          <a:prstGeom prst="rect">
            <a:avLst/>
          </a:prstGeom>
        </p:spPr>
        <p:txBody>
          <a:bodyPr vert="horz" wrap="square" lIns="0" tIns="48895" rIns="0" bIns="0" rtlCol="0">
            <a:spAutoFit/>
          </a:bodyPr>
          <a:lstStyle/>
          <a:p>
            <a:pPr marL="12700">
              <a:lnSpc>
                <a:spcPct val="100000"/>
              </a:lnSpc>
              <a:spcBef>
                <a:spcPts val="385"/>
              </a:spcBef>
            </a:pPr>
            <a:r>
              <a:rPr sz="2400" b="1" u="heavy" spc="-10" dirty="0">
                <a:uFill>
                  <a:solidFill>
                    <a:srgbClr val="000000"/>
                  </a:solidFill>
                </a:uFill>
                <a:latin typeface="Carlito"/>
                <a:cs typeface="Carlito"/>
              </a:rPr>
              <a:t>PROCESS:</a:t>
            </a:r>
            <a:endParaRPr sz="2400" dirty="0">
              <a:latin typeface="Carlito"/>
              <a:cs typeface="Carlito"/>
            </a:endParaRPr>
          </a:p>
          <a:p>
            <a:pPr marL="756285" indent="-343535" algn="just">
              <a:lnSpc>
                <a:spcPct val="100000"/>
              </a:lnSpc>
              <a:spcBef>
                <a:spcPts val="290"/>
              </a:spcBef>
              <a:buFont typeface="Wingdings"/>
              <a:buChar char=""/>
              <a:tabLst>
                <a:tab pos="756920" algn="l"/>
              </a:tabLst>
            </a:pPr>
            <a:r>
              <a:rPr sz="2400" dirty="0">
                <a:latin typeface="Carlito"/>
                <a:cs typeface="Carlito"/>
              </a:rPr>
              <a:t>A </a:t>
            </a:r>
            <a:r>
              <a:rPr sz="2400" spc="-5" dirty="0">
                <a:latin typeface="Carlito"/>
                <a:cs typeface="Carlito"/>
              </a:rPr>
              <a:t>set of </a:t>
            </a:r>
            <a:r>
              <a:rPr sz="2400" spc="-10" dirty="0">
                <a:latin typeface="Carlito"/>
                <a:cs typeface="Carlito"/>
              </a:rPr>
              <a:t>compensable </a:t>
            </a:r>
            <a:r>
              <a:rPr sz="2400" spc="-20" dirty="0">
                <a:latin typeface="Carlito"/>
                <a:cs typeface="Carlito"/>
              </a:rPr>
              <a:t>factors </a:t>
            </a:r>
            <a:r>
              <a:rPr sz="2400" spc="-15" dirty="0">
                <a:latin typeface="Carlito"/>
                <a:cs typeface="Carlito"/>
              </a:rPr>
              <a:t>are</a:t>
            </a:r>
            <a:r>
              <a:rPr sz="2400" spc="-5" dirty="0">
                <a:latin typeface="Carlito"/>
                <a:cs typeface="Carlito"/>
              </a:rPr>
              <a:t> identified</a:t>
            </a:r>
            <a:endParaRPr sz="2400" dirty="0">
              <a:latin typeface="Carlito"/>
              <a:cs typeface="Carlito"/>
            </a:endParaRPr>
          </a:p>
          <a:p>
            <a:pPr marL="756285" marR="22225" indent="-342900" algn="just">
              <a:lnSpc>
                <a:spcPts val="2590"/>
              </a:lnSpc>
              <a:spcBef>
                <a:spcPts val="615"/>
              </a:spcBef>
              <a:buFont typeface="Wingdings"/>
              <a:buChar char=""/>
              <a:tabLst>
                <a:tab pos="756920" algn="l"/>
              </a:tabLst>
            </a:pPr>
            <a:r>
              <a:rPr sz="2400" dirty="0">
                <a:latin typeface="Carlito"/>
                <a:cs typeface="Carlito"/>
              </a:rPr>
              <a:t>Assign </a:t>
            </a:r>
            <a:r>
              <a:rPr sz="2400" spc="-10" dirty="0">
                <a:latin typeface="Carlito"/>
                <a:cs typeface="Carlito"/>
              </a:rPr>
              <a:t>points </a:t>
            </a:r>
            <a:r>
              <a:rPr sz="2400" spc="-15" dirty="0">
                <a:latin typeface="Carlito"/>
                <a:cs typeface="Carlito"/>
              </a:rPr>
              <a:t>to </a:t>
            </a:r>
            <a:r>
              <a:rPr sz="2400" dirty="0">
                <a:latin typeface="Carlito"/>
                <a:cs typeface="Carlito"/>
              </a:rPr>
              <a:t>a these </a:t>
            </a:r>
            <a:r>
              <a:rPr sz="2400" spc="-10" dirty="0">
                <a:latin typeface="Carlito"/>
                <a:cs typeface="Carlito"/>
              </a:rPr>
              <a:t>compensable </a:t>
            </a:r>
            <a:r>
              <a:rPr sz="2400" spc="-20" dirty="0">
                <a:latin typeface="Carlito"/>
                <a:cs typeface="Carlito"/>
              </a:rPr>
              <a:t>factors </a:t>
            </a:r>
            <a:r>
              <a:rPr sz="2400" spc="-10" dirty="0">
                <a:latin typeface="Carlito"/>
                <a:cs typeface="Carlito"/>
              </a:rPr>
              <a:t>based </a:t>
            </a:r>
            <a:r>
              <a:rPr sz="2400" spc="-5" dirty="0">
                <a:latin typeface="Carlito"/>
                <a:cs typeface="Carlito"/>
              </a:rPr>
              <a:t>on </a:t>
            </a:r>
            <a:r>
              <a:rPr sz="2400" dirty="0">
                <a:latin typeface="Carlito"/>
                <a:cs typeface="Carlito"/>
              </a:rPr>
              <a:t>the  </a:t>
            </a:r>
            <a:r>
              <a:rPr sz="2400" spc="-10" dirty="0">
                <a:latin typeface="Carlito"/>
                <a:cs typeface="Carlito"/>
              </a:rPr>
              <a:t>perceived </a:t>
            </a:r>
            <a:r>
              <a:rPr sz="2400" spc="-5" dirty="0">
                <a:latin typeface="Carlito"/>
                <a:cs typeface="Carlito"/>
              </a:rPr>
              <a:t>importance </a:t>
            </a:r>
            <a:r>
              <a:rPr sz="2400" spc="-15" dirty="0">
                <a:latin typeface="Carlito"/>
                <a:cs typeface="Carlito"/>
              </a:rPr>
              <a:t>to </a:t>
            </a:r>
            <a:r>
              <a:rPr sz="2400" spc="-5" dirty="0">
                <a:latin typeface="Carlito"/>
                <a:cs typeface="Carlito"/>
              </a:rPr>
              <a:t>the</a:t>
            </a:r>
            <a:r>
              <a:rPr sz="2400" spc="-20" dirty="0">
                <a:latin typeface="Carlito"/>
                <a:cs typeface="Carlito"/>
              </a:rPr>
              <a:t> </a:t>
            </a:r>
            <a:r>
              <a:rPr sz="2400" spc="-5" dirty="0">
                <a:latin typeface="Carlito"/>
                <a:cs typeface="Carlito"/>
              </a:rPr>
              <a:t>job</a:t>
            </a:r>
            <a:endParaRPr sz="2400" dirty="0">
              <a:latin typeface="Carlito"/>
              <a:cs typeface="Carlito"/>
            </a:endParaRPr>
          </a:p>
          <a:p>
            <a:pPr marL="756285" marR="22225" indent="-342900" algn="just">
              <a:lnSpc>
                <a:spcPts val="2590"/>
              </a:lnSpc>
              <a:spcBef>
                <a:spcPts val="585"/>
              </a:spcBef>
              <a:buFont typeface="Wingdings"/>
              <a:buChar char=""/>
              <a:tabLst>
                <a:tab pos="756920" algn="l"/>
              </a:tabLst>
            </a:pPr>
            <a:r>
              <a:rPr sz="2400" spc="-5" dirty="0">
                <a:latin typeface="Carlito"/>
                <a:cs typeface="Carlito"/>
              </a:rPr>
              <a:t>Once </a:t>
            </a:r>
            <a:r>
              <a:rPr sz="2400" dirty="0">
                <a:latin typeface="Carlito"/>
                <a:cs typeface="Carlito"/>
              </a:rPr>
              <a:t>this is </a:t>
            </a:r>
            <a:r>
              <a:rPr sz="2400" spc="-5" dirty="0">
                <a:latin typeface="Carlito"/>
                <a:cs typeface="Carlito"/>
              </a:rPr>
              <a:t>dine </a:t>
            </a:r>
            <a:r>
              <a:rPr sz="2400" spc="-20" dirty="0">
                <a:latin typeface="Carlito"/>
                <a:cs typeface="Carlito"/>
              </a:rPr>
              <a:t>for </a:t>
            </a:r>
            <a:r>
              <a:rPr sz="2400" dirty="0">
                <a:latin typeface="Carlito"/>
                <a:cs typeface="Carlito"/>
              </a:rPr>
              <a:t>all </a:t>
            </a:r>
            <a:r>
              <a:rPr sz="2400" spc="-10" dirty="0">
                <a:latin typeface="Carlito"/>
                <a:cs typeface="Carlito"/>
              </a:rPr>
              <a:t>compensable </a:t>
            </a:r>
            <a:r>
              <a:rPr sz="2400" spc="-20" dirty="0">
                <a:latin typeface="Carlito"/>
                <a:cs typeface="Carlito"/>
              </a:rPr>
              <a:t>factors, </a:t>
            </a:r>
            <a:r>
              <a:rPr sz="2400" spc="-15" dirty="0">
                <a:latin typeface="Carlito"/>
                <a:cs typeface="Carlito"/>
              </a:rPr>
              <a:t>evaluate </a:t>
            </a:r>
            <a:r>
              <a:rPr sz="2400" spc="-5" dirty="0">
                <a:latin typeface="Carlito"/>
                <a:cs typeface="Carlito"/>
              </a:rPr>
              <a:t>the  </a:t>
            </a:r>
            <a:r>
              <a:rPr sz="2400" spc="-10" dirty="0">
                <a:latin typeface="Carlito"/>
                <a:cs typeface="Carlito"/>
              </a:rPr>
              <a:t>level </a:t>
            </a:r>
            <a:r>
              <a:rPr sz="2400" spc="-15" dirty="0">
                <a:latin typeface="Carlito"/>
                <a:cs typeface="Carlito"/>
              </a:rPr>
              <a:t>to </a:t>
            </a:r>
            <a:r>
              <a:rPr sz="2400" dirty="0">
                <a:latin typeface="Carlito"/>
                <a:cs typeface="Carlito"/>
              </a:rPr>
              <a:t>which each </a:t>
            </a:r>
            <a:r>
              <a:rPr sz="2400" spc="-5" dirty="0">
                <a:latin typeface="Carlito"/>
                <a:cs typeface="Carlito"/>
              </a:rPr>
              <a:t>of </a:t>
            </a:r>
            <a:r>
              <a:rPr sz="2400" dirty="0">
                <a:latin typeface="Carlito"/>
                <a:cs typeface="Carlito"/>
              </a:rPr>
              <a:t>these </a:t>
            </a:r>
            <a:r>
              <a:rPr sz="2400" spc="-20" dirty="0">
                <a:latin typeface="Carlito"/>
                <a:cs typeface="Carlito"/>
              </a:rPr>
              <a:t>factors </a:t>
            </a:r>
            <a:r>
              <a:rPr sz="2400" spc="-15" dirty="0">
                <a:latin typeface="Carlito"/>
                <a:cs typeface="Carlito"/>
              </a:rPr>
              <a:t>are </a:t>
            </a:r>
            <a:r>
              <a:rPr sz="2400" spc="-10" dirty="0">
                <a:latin typeface="Carlito"/>
                <a:cs typeface="Carlito"/>
              </a:rPr>
              <a:t>present </a:t>
            </a:r>
            <a:r>
              <a:rPr sz="2400" dirty="0">
                <a:latin typeface="Carlito"/>
                <a:cs typeface="Carlito"/>
              </a:rPr>
              <a:t>in the </a:t>
            </a:r>
            <a:r>
              <a:rPr sz="2400" spc="-5" dirty="0">
                <a:latin typeface="Carlito"/>
                <a:cs typeface="Carlito"/>
              </a:rPr>
              <a:t>job  </a:t>
            </a:r>
            <a:r>
              <a:rPr sz="2400" dirty="0">
                <a:latin typeface="Carlito"/>
                <a:cs typeface="Carlito"/>
              </a:rPr>
              <a:t>and assign </a:t>
            </a:r>
            <a:r>
              <a:rPr sz="2400" spc="-10" dirty="0">
                <a:latin typeface="Carlito"/>
                <a:cs typeface="Carlito"/>
              </a:rPr>
              <a:t>points(weights)</a:t>
            </a:r>
            <a:r>
              <a:rPr sz="2400" spc="-40" dirty="0">
                <a:latin typeface="Carlito"/>
                <a:cs typeface="Carlito"/>
              </a:rPr>
              <a:t> </a:t>
            </a:r>
            <a:r>
              <a:rPr sz="2400" spc="-20" dirty="0">
                <a:latin typeface="Carlito"/>
                <a:cs typeface="Carlito"/>
              </a:rPr>
              <a:t>accordingly.</a:t>
            </a:r>
            <a:endParaRPr sz="2400" dirty="0">
              <a:latin typeface="Carlito"/>
              <a:cs typeface="Carlito"/>
            </a:endParaRPr>
          </a:p>
          <a:p>
            <a:pPr marL="756285" indent="-343535" algn="just">
              <a:lnSpc>
                <a:spcPts val="2735"/>
              </a:lnSpc>
              <a:spcBef>
                <a:spcPts val="254"/>
              </a:spcBef>
              <a:buFont typeface="Wingdings"/>
              <a:buChar char=""/>
              <a:tabLst>
                <a:tab pos="756920" algn="l"/>
              </a:tabLst>
            </a:pPr>
            <a:r>
              <a:rPr sz="2400" spc="-5" dirty="0">
                <a:latin typeface="Carlito"/>
                <a:cs typeface="Carlito"/>
              </a:rPr>
              <a:t>The </a:t>
            </a:r>
            <a:r>
              <a:rPr sz="2400" spc="-10" dirty="0">
                <a:latin typeface="Carlito"/>
                <a:cs typeface="Carlito"/>
              </a:rPr>
              <a:t>points </a:t>
            </a:r>
            <a:r>
              <a:rPr sz="2400" spc="-15" dirty="0">
                <a:latin typeface="Carlito"/>
                <a:cs typeface="Carlito"/>
              </a:rPr>
              <a:t>for </a:t>
            </a:r>
            <a:r>
              <a:rPr sz="2400" dirty="0">
                <a:latin typeface="Carlito"/>
                <a:cs typeface="Carlito"/>
              </a:rPr>
              <a:t>each </a:t>
            </a:r>
            <a:r>
              <a:rPr sz="2400" spc="-20" dirty="0">
                <a:latin typeface="Carlito"/>
                <a:cs typeface="Carlito"/>
              </a:rPr>
              <a:t>factor </a:t>
            </a:r>
            <a:r>
              <a:rPr sz="2400" spc="-15" dirty="0">
                <a:latin typeface="Carlito"/>
                <a:cs typeface="Carlito"/>
              </a:rPr>
              <a:t>are totaled to form </a:t>
            </a:r>
            <a:r>
              <a:rPr sz="2400" dirty="0">
                <a:latin typeface="Carlito"/>
                <a:cs typeface="Carlito"/>
              </a:rPr>
              <a:t>a </a:t>
            </a:r>
            <a:r>
              <a:rPr sz="2400" spc="-15" dirty="0">
                <a:latin typeface="Carlito"/>
                <a:cs typeface="Carlito"/>
              </a:rPr>
              <a:t>score</a:t>
            </a:r>
            <a:r>
              <a:rPr sz="2400" spc="210" dirty="0">
                <a:latin typeface="Carlito"/>
                <a:cs typeface="Carlito"/>
              </a:rPr>
              <a:t> </a:t>
            </a:r>
            <a:r>
              <a:rPr sz="2400" spc="-20" dirty="0" smtClean="0">
                <a:latin typeface="Carlito"/>
                <a:cs typeface="Carlito"/>
              </a:rPr>
              <a:t>for</a:t>
            </a:r>
            <a:r>
              <a:rPr lang="en-GB" sz="2400" spc="-20" dirty="0" smtClean="0">
                <a:latin typeface="Carlito"/>
                <a:cs typeface="Carlito"/>
              </a:rPr>
              <a:t> </a:t>
            </a:r>
            <a:r>
              <a:rPr sz="2400" dirty="0" smtClean="0">
                <a:latin typeface="Carlito"/>
                <a:cs typeface="Carlito"/>
              </a:rPr>
              <a:t>the</a:t>
            </a:r>
            <a:r>
              <a:rPr sz="2400" spc="-5" dirty="0" smtClean="0">
                <a:latin typeface="Carlito"/>
                <a:cs typeface="Carlito"/>
              </a:rPr>
              <a:t> </a:t>
            </a:r>
            <a:r>
              <a:rPr sz="2400" spc="-5" dirty="0">
                <a:latin typeface="Carlito"/>
                <a:cs typeface="Carlito"/>
              </a:rPr>
              <a:t>job.</a:t>
            </a:r>
            <a:endParaRPr sz="2400" dirty="0">
              <a:latin typeface="Carlito"/>
              <a:cs typeface="Carlito"/>
            </a:endParaRPr>
          </a:p>
          <a:p>
            <a:pPr>
              <a:lnSpc>
                <a:spcPct val="100000"/>
              </a:lnSpc>
            </a:pPr>
            <a:endParaRPr sz="2400" dirty="0">
              <a:latin typeface="Carlito"/>
              <a:cs typeface="Carlito"/>
            </a:endParaRPr>
          </a:p>
          <a:p>
            <a:pPr marL="31115">
              <a:lnSpc>
                <a:spcPct val="100000"/>
              </a:lnSpc>
            </a:pPr>
            <a:r>
              <a:rPr sz="2400" b="1" u="heavy" spc="-45" dirty="0" smtClean="0">
                <a:uFill>
                  <a:solidFill>
                    <a:srgbClr val="000000"/>
                  </a:solidFill>
                </a:uFill>
                <a:latin typeface="Carlito"/>
                <a:cs typeface="Carlito"/>
              </a:rPr>
              <a:t>RESULT</a:t>
            </a:r>
            <a:r>
              <a:rPr sz="2400" b="1" u="heavy" spc="-45" dirty="0">
                <a:uFill>
                  <a:solidFill>
                    <a:srgbClr val="000000"/>
                  </a:solidFill>
                </a:uFill>
                <a:latin typeface="Carlito"/>
                <a:cs typeface="Carlito"/>
              </a:rPr>
              <a:t>:</a:t>
            </a:r>
            <a:endParaRPr sz="2400" dirty="0">
              <a:latin typeface="Carlito"/>
              <a:cs typeface="Carlito"/>
            </a:endParaRPr>
          </a:p>
          <a:p>
            <a:pPr marL="775335" marR="5080" indent="-343535" algn="just">
              <a:lnSpc>
                <a:spcPct val="100000"/>
              </a:lnSpc>
              <a:spcBef>
                <a:spcPts val="580"/>
              </a:spcBef>
              <a:buFont typeface="Wingdings"/>
              <a:buChar char=""/>
              <a:tabLst>
                <a:tab pos="775970" algn="l"/>
              </a:tabLst>
            </a:pPr>
            <a:r>
              <a:rPr sz="2400" spc="-5" dirty="0">
                <a:latin typeface="Carlito"/>
                <a:cs typeface="Carlito"/>
              </a:rPr>
              <a:t>Jobs </a:t>
            </a:r>
            <a:r>
              <a:rPr sz="2400" spc="-15" dirty="0">
                <a:latin typeface="Carlito"/>
                <a:cs typeface="Carlito"/>
              </a:rPr>
              <a:t>are </a:t>
            </a:r>
            <a:r>
              <a:rPr sz="2400" dirty="0">
                <a:latin typeface="Carlito"/>
                <a:cs typeface="Carlito"/>
              </a:rPr>
              <a:t>then </a:t>
            </a:r>
            <a:r>
              <a:rPr sz="2400" spc="-10" dirty="0">
                <a:latin typeface="Carlito"/>
                <a:cs typeface="Carlito"/>
              </a:rPr>
              <a:t>grouped </a:t>
            </a:r>
            <a:r>
              <a:rPr sz="2400" spc="-5" dirty="0">
                <a:latin typeface="Carlito"/>
                <a:cs typeface="Carlito"/>
              </a:rPr>
              <a:t>by </a:t>
            </a:r>
            <a:r>
              <a:rPr sz="2400" spc="-15" dirty="0">
                <a:latin typeface="Carlito"/>
                <a:cs typeface="Carlito"/>
              </a:rPr>
              <a:t>total score </a:t>
            </a:r>
            <a:r>
              <a:rPr sz="2400" dirty="0">
                <a:latin typeface="Carlito"/>
                <a:cs typeface="Carlito"/>
              </a:rPr>
              <a:t>and assigned </a:t>
            </a:r>
            <a:r>
              <a:rPr sz="2400" spc="-15" dirty="0">
                <a:latin typeface="Carlito"/>
                <a:cs typeface="Carlito"/>
              </a:rPr>
              <a:t>to </a:t>
            </a:r>
            <a:r>
              <a:rPr sz="2400" spc="-5" dirty="0">
                <a:latin typeface="Carlito"/>
                <a:cs typeface="Carlito"/>
              </a:rPr>
              <a:t>salary  </a:t>
            </a:r>
            <a:r>
              <a:rPr sz="2400" spc="-10" dirty="0">
                <a:latin typeface="Carlito"/>
                <a:cs typeface="Carlito"/>
              </a:rPr>
              <a:t>grades </a:t>
            </a:r>
            <a:r>
              <a:rPr sz="2400" spc="-5" dirty="0">
                <a:latin typeface="Carlito"/>
                <a:cs typeface="Carlito"/>
              </a:rPr>
              <a:t>so </a:t>
            </a:r>
            <a:r>
              <a:rPr sz="2400" spc="-10" dirty="0">
                <a:latin typeface="Carlito"/>
                <a:cs typeface="Carlito"/>
              </a:rPr>
              <a:t>that jobs </a:t>
            </a:r>
            <a:r>
              <a:rPr sz="2400" dirty="0">
                <a:latin typeface="Carlito"/>
                <a:cs typeface="Carlito"/>
              </a:rPr>
              <a:t>with the </a:t>
            </a:r>
            <a:r>
              <a:rPr sz="2400" spc="-10" dirty="0">
                <a:latin typeface="Carlito"/>
                <a:cs typeface="Carlito"/>
              </a:rPr>
              <a:t>highest points would </a:t>
            </a:r>
            <a:r>
              <a:rPr sz="2400" spc="-20" dirty="0">
                <a:latin typeface="Carlito"/>
                <a:cs typeface="Carlito"/>
              </a:rPr>
              <a:t>have </a:t>
            </a:r>
            <a:r>
              <a:rPr sz="2400" dirty="0">
                <a:latin typeface="Carlito"/>
                <a:cs typeface="Carlito"/>
              </a:rPr>
              <a:t>the  </a:t>
            </a:r>
            <a:r>
              <a:rPr sz="2400" spc="-10" dirty="0">
                <a:latin typeface="Carlito"/>
                <a:cs typeface="Carlito"/>
              </a:rPr>
              <a:t>highest</a:t>
            </a:r>
            <a:r>
              <a:rPr sz="2400" spc="-15" dirty="0">
                <a:latin typeface="Carlito"/>
                <a:cs typeface="Carlito"/>
              </a:rPr>
              <a:t> </a:t>
            </a:r>
            <a:r>
              <a:rPr sz="2400" spc="-55" dirty="0">
                <a:latin typeface="Carlito"/>
                <a:cs typeface="Carlito"/>
              </a:rPr>
              <a:t>pay.</a:t>
            </a:r>
            <a:endParaRPr sz="2400" dirty="0">
              <a:latin typeface="Carlito"/>
              <a:cs typeface="Carlito"/>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46050" y="169545"/>
          <a:ext cx="8836656" cy="6377299"/>
        </p:xfrm>
        <a:graphic>
          <a:graphicData uri="http://schemas.openxmlformats.org/drawingml/2006/table">
            <a:tbl>
              <a:tblPr firstRow="1" bandRow="1">
                <a:tableStyleId>{2D5ABB26-0587-4C30-8999-92F81FD0307C}</a:tableStyleId>
              </a:tblPr>
              <a:tblGrid>
                <a:gridCol w="3272154"/>
                <a:gridCol w="1320164"/>
                <a:gridCol w="1026794"/>
                <a:gridCol w="1026795"/>
                <a:gridCol w="1026795"/>
                <a:gridCol w="1163954"/>
              </a:tblGrid>
              <a:tr h="704976">
                <a:tc>
                  <a:txBody>
                    <a:bodyPr/>
                    <a:lstStyle/>
                    <a:p>
                      <a:pPr marL="90805">
                        <a:lnSpc>
                          <a:spcPct val="100000"/>
                        </a:lnSpc>
                        <a:spcBef>
                          <a:spcPts val="260"/>
                        </a:spcBef>
                      </a:pPr>
                      <a:r>
                        <a:rPr sz="1600" b="1" spc="-15" dirty="0">
                          <a:latin typeface="Carlito"/>
                          <a:cs typeface="Carlito"/>
                        </a:rPr>
                        <a:t>Factors</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1440">
                        <a:lnSpc>
                          <a:spcPts val="1700"/>
                        </a:lnSpc>
                      </a:pPr>
                      <a:r>
                        <a:rPr sz="2400" b="1" spc="-7" baseline="-17361" dirty="0">
                          <a:latin typeface="Carlito"/>
                          <a:cs typeface="Carlito"/>
                        </a:rPr>
                        <a:t>1</a:t>
                      </a:r>
                      <a:r>
                        <a:rPr sz="1050" b="1" spc="-5" dirty="0">
                          <a:latin typeface="Carlito"/>
                          <a:cs typeface="Carlito"/>
                        </a:rPr>
                        <a:t>st</a:t>
                      </a:r>
                      <a:endParaRPr sz="1050">
                        <a:latin typeface="Carlito"/>
                        <a:cs typeface="Carlito"/>
                      </a:endParaRPr>
                    </a:p>
                    <a:p>
                      <a:pPr marL="91440">
                        <a:lnSpc>
                          <a:spcPct val="100000"/>
                        </a:lnSpc>
                        <a:spcBef>
                          <a:spcPts val="480"/>
                        </a:spcBef>
                      </a:pPr>
                      <a:r>
                        <a:rPr sz="1600" b="1" spc="-10" dirty="0">
                          <a:latin typeface="Carlito"/>
                          <a:cs typeface="Carlito"/>
                        </a:rPr>
                        <a:t>Degree</a:t>
                      </a:r>
                      <a:endParaRPr sz="1600">
                        <a:latin typeface="Carlito"/>
                        <a:cs typeface="Carlito"/>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ts val="1700"/>
                        </a:lnSpc>
                      </a:pPr>
                      <a:r>
                        <a:rPr sz="2400" b="1" spc="7" baseline="-17361" dirty="0">
                          <a:latin typeface="Carlito"/>
                          <a:cs typeface="Carlito"/>
                        </a:rPr>
                        <a:t>2</a:t>
                      </a:r>
                      <a:r>
                        <a:rPr sz="1050" b="1" spc="5" dirty="0">
                          <a:latin typeface="Carlito"/>
                          <a:cs typeface="Carlito"/>
                        </a:rPr>
                        <a:t>nd</a:t>
                      </a:r>
                      <a:endParaRPr sz="1050">
                        <a:latin typeface="Carlito"/>
                        <a:cs typeface="Carlito"/>
                      </a:endParaRPr>
                    </a:p>
                    <a:p>
                      <a:pPr marL="92075">
                        <a:lnSpc>
                          <a:spcPct val="100000"/>
                        </a:lnSpc>
                        <a:spcBef>
                          <a:spcPts val="480"/>
                        </a:spcBef>
                      </a:pPr>
                      <a:r>
                        <a:rPr sz="1600" b="1" spc="-10" dirty="0">
                          <a:latin typeface="Carlito"/>
                          <a:cs typeface="Carlito"/>
                        </a:rPr>
                        <a:t>Degree</a:t>
                      </a:r>
                      <a:endParaRPr sz="1600">
                        <a:latin typeface="Carlito"/>
                        <a:cs typeface="Carlito"/>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ts val="1700"/>
                        </a:lnSpc>
                      </a:pPr>
                      <a:r>
                        <a:rPr sz="2400" b="1" spc="-7" baseline="-17361" dirty="0">
                          <a:latin typeface="Carlito"/>
                          <a:cs typeface="Carlito"/>
                        </a:rPr>
                        <a:t>3</a:t>
                      </a:r>
                      <a:r>
                        <a:rPr sz="1050" b="1" spc="-5" dirty="0">
                          <a:latin typeface="Carlito"/>
                          <a:cs typeface="Carlito"/>
                        </a:rPr>
                        <a:t>rd</a:t>
                      </a:r>
                      <a:endParaRPr sz="1050">
                        <a:latin typeface="Carlito"/>
                        <a:cs typeface="Carlito"/>
                      </a:endParaRPr>
                    </a:p>
                    <a:p>
                      <a:pPr marL="92075">
                        <a:lnSpc>
                          <a:spcPct val="100000"/>
                        </a:lnSpc>
                        <a:spcBef>
                          <a:spcPts val="480"/>
                        </a:spcBef>
                      </a:pPr>
                      <a:r>
                        <a:rPr sz="1600" b="1" spc="-10" dirty="0">
                          <a:latin typeface="Carlito"/>
                          <a:cs typeface="Carlito"/>
                        </a:rPr>
                        <a:t>Degree</a:t>
                      </a:r>
                      <a:endParaRPr sz="1600">
                        <a:latin typeface="Carlito"/>
                        <a:cs typeface="Carlito"/>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ts val="1700"/>
                        </a:lnSpc>
                      </a:pPr>
                      <a:r>
                        <a:rPr sz="2400" b="1" baseline="-17361" dirty="0">
                          <a:latin typeface="Carlito"/>
                          <a:cs typeface="Carlito"/>
                        </a:rPr>
                        <a:t>4</a:t>
                      </a:r>
                      <a:r>
                        <a:rPr sz="1050" b="1" dirty="0">
                          <a:latin typeface="Carlito"/>
                          <a:cs typeface="Carlito"/>
                        </a:rPr>
                        <a:t>th</a:t>
                      </a:r>
                      <a:endParaRPr sz="1050">
                        <a:latin typeface="Carlito"/>
                        <a:cs typeface="Carlito"/>
                      </a:endParaRPr>
                    </a:p>
                    <a:p>
                      <a:pPr marL="92075">
                        <a:lnSpc>
                          <a:spcPct val="100000"/>
                        </a:lnSpc>
                        <a:spcBef>
                          <a:spcPts val="480"/>
                        </a:spcBef>
                      </a:pPr>
                      <a:r>
                        <a:rPr sz="1600" b="1" spc="-10" dirty="0">
                          <a:latin typeface="Carlito"/>
                          <a:cs typeface="Carlito"/>
                        </a:rPr>
                        <a:t>Degree</a:t>
                      </a:r>
                      <a:endParaRPr sz="1600">
                        <a:latin typeface="Carlito"/>
                        <a:cs typeface="Carlito"/>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92075">
                        <a:lnSpc>
                          <a:spcPct val="100000"/>
                        </a:lnSpc>
                        <a:spcBef>
                          <a:spcPts val="260"/>
                        </a:spcBef>
                      </a:pPr>
                      <a:r>
                        <a:rPr sz="1600" b="1" dirty="0">
                          <a:latin typeface="Carlito"/>
                          <a:cs typeface="Carlito"/>
                        </a:rPr>
                        <a:t>5</a:t>
                      </a:r>
                      <a:r>
                        <a:rPr sz="1575" b="1" baseline="26455" dirty="0">
                          <a:latin typeface="Carlito"/>
                          <a:cs typeface="Carlito"/>
                        </a:rPr>
                        <a:t>th</a:t>
                      </a:r>
                      <a:r>
                        <a:rPr sz="1575" b="1" spc="179" baseline="26455" dirty="0">
                          <a:latin typeface="Carlito"/>
                          <a:cs typeface="Carlito"/>
                        </a:rPr>
                        <a:t> </a:t>
                      </a:r>
                      <a:r>
                        <a:rPr sz="1600" b="1" spc="-10" dirty="0">
                          <a:latin typeface="Carlito"/>
                          <a:cs typeface="Carlito"/>
                        </a:rPr>
                        <a:t>Degree</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r>
              <a:tr h="335279">
                <a:tc>
                  <a:txBody>
                    <a:bodyPr/>
                    <a:lstStyle/>
                    <a:p>
                      <a:pPr marL="90805">
                        <a:lnSpc>
                          <a:spcPct val="100000"/>
                        </a:lnSpc>
                        <a:spcBef>
                          <a:spcPts val="260"/>
                        </a:spcBef>
                      </a:pPr>
                      <a:r>
                        <a:rPr sz="1600" spc="-5" dirty="0">
                          <a:latin typeface="Carlito"/>
                          <a:cs typeface="Carlito"/>
                        </a:rPr>
                        <a:t>SKILL</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r>
              <a:tr h="335280">
                <a:tc>
                  <a:txBody>
                    <a:bodyPr/>
                    <a:lstStyle/>
                    <a:p>
                      <a:pPr marL="434340" indent="-343535">
                        <a:lnSpc>
                          <a:spcPct val="100000"/>
                        </a:lnSpc>
                        <a:spcBef>
                          <a:spcPts val="260"/>
                        </a:spcBef>
                        <a:buFont typeface="Arial"/>
                        <a:buChar char="•"/>
                        <a:tabLst>
                          <a:tab pos="433705" algn="l"/>
                          <a:tab pos="434340" algn="l"/>
                        </a:tabLst>
                      </a:pPr>
                      <a:r>
                        <a:rPr sz="1600" spc="-10" dirty="0">
                          <a:latin typeface="Carlito"/>
                          <a:cs typeface="Carlito"/>
                        </a:rPr>
                        <a:t>Education</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1440">
                        <a:lnSpc>
                          <a:spcPct val="100000"/>
                        </a:lnSpc>
                        <a:spcBef>
                          <a:spcPts val="260"/>
                        </a:spcBef>
                      </a:pPr>
                      <a:r>
                        <a:rPr sz="1600" spc="-10" dirty="0">
                          <a:latin typeface="Carlito"/>
                          <a:cs typeface="Carlito"/>
                        </a:rPr>
                        <a:t>15</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0"/>
                        </a:spcBef>
                      </a:pPr>
                      <a:r>
                        <a:rPr sz="1600" spc="-10" dirty="0">
                          <a:latin typeface="Carlito"/>
                          <a:cs typeface="Carlito"/>
                        </a:rPr>
                        <a:t>30</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0"/>
                        </a:spcBef>
                      </a:pPr>
                      <a:r>
                        <a:rPr sz="1600" spc="-10" dirty="0">
                          <a:latin typeface="Carlito"/>
                          <a:cs typeface="Carlito"/>
                        </a:rPr>
                        <a:t>45</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0"/>
                        </a:spcBef>
                      </a:pPr>
                      <a:r>
                        <a:rPr sz="1600" spc="-10" dirty="0">
                          <a:latin typeface="Carlito"/>
                          <a:cs typeface="Carlito"/>
                        </a:rPr>
                        <a:t>60</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0"/>
                        </a:spcBef>
                      </a:pPr>
                      <a:r>
                        <a:rPr sz="1600" spc="-10" dirty="0">
                          <a:latin typeface="Carlito"/>
                          <a:cs typeface="Carlito"/>
                        </a:rPr>
                        <a:t>75</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r h="335279">
                <a:tc>
                  <a:txBody>
                    <a:bodyPr/>
                    <a:lstStyle/>
                    <a:p>
                      <a:pPr marL="434340" indent="-343535">
                        <a:lnSpc>
                          <a:spcPct val="100000"/>
                        </a:lnSpc>
                        <a:spcBef>
                          <a:spcPts val="260"/>
                        </a:spcBef>
                        <a:buFont typeface="Arial"/>
                        <a:buChar char="•"/>
                        <a:tabLst>
                          <a:tab pos="433705" algn="l"/>
                          <a:tab pos="434340" algn="l"/>
                        </a:tabLst>
                      </a:pPr>
                      <a:r>
                        <a:rPr sz="1600" spc="-5" dirty="0">
                          <a:latin typeface="Carlito"/>
                          <a:cs typeface="Carlito"/>
                        </a:rPr>
                        <a:t>Experience</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1440">
                        <a:lnSpc>
                          <a:spcPct val="100000"/>
                        </a:lnSpc>
                        <a:spcBef>
                          <a:spcPts val="260"/>
                        </a:spcBef>
                      </a:pPr>
                      <a:r>
                        <a:rPr sz="1600" spc="-10" dirty="0">
                          <a:latin typeface="Carlito"/>
                          <a:cs typeface="Carlito"/>
                        </a:rPr>
                        <a:t>20</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0"/>
                        </a:spcBef>
                      </a:pPr>
                      <a:r>
                        <a:rPr sz="1600" spc="-10" dirty="0">
                          <a:latin typeface="Carlito"/>
                          <a:cs typeface="Carlito"/>
                        </a:rPr>
                        <a:t>40</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0"/>
                        </a:spcBef>
                      </a:pPr>
                      <a:r>
                        <a:rPr sz="1600" spc="-10" dirty="0">
                          <a:latin typeface="Carlito"/>
                          <a:cs typeface="Carlito"/>
                        </a:rPr>
                        <a:t>60</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0"/>
                        </a:spcBef>
                      </a:pPr>
                      <a:r>
                        <a:rPr sz="1600" spc="-10" dirty="0">
                          <a:latin typeface="Carlito"/>
                          <a:cs typeface="Carlito"/>
                        </a:rPr>
                        <a:t>80</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0"/>
                        </a:spcBef>
                      </a:pPr>
                      <a:r>
                        <a:rPr sz="1600" spc="-10" dirty="0">
                          <a:latin typeface="Carlito"/>
                          <a:cs typeface="Carlito"/>
                        </a:rPr>
                        <a:t>100</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r>
              <a:tr h="496062">
                <a:tc>
                  <a:txBody>
                    <a:bodyPr/>
                    <a:lstStyle/>
                    <a:p>
                      <a:pPr marL="434340" indent="-343535">
                        <a:lnSpc>
                          <a:spcPct val="100000"/>
                        </a:lnSpc>
                        <a:spcBef>
                          <a:spcPts val="260"/>
                        </a:spcBef>
                        <a:buFont typeface="Arial"/>
                        <a:buChar char="•"/>
                        <a:tabLst>
                          <a:tab pos="433705" algn="l"/>
                          <a:tab pos="434340" algn="l"/>
                        </a:tabLst>
                      </a:pPr>
                      <a:r>
                        <a:rPr sz="1600" spc="-5" dirty="0">
                          <a:latin typeface="Carlito"/>
                          <a:cs typeface="Carlito"/>
                        </a:rPr>
                        <a:t>Initiative and</a:t>
                      </a:r>
                      <a:r>
                        <a:rPr sz="1600" spc="-45" dirty="0">
                          <a:latin typeface="Carlito"/>
                          <a:cs typeface="Carlito"/>
                        </a:rPr>
                        <a:t> </a:t>
                      </a:r>
                      <a:r>
                        <a:rPr sz="1600" spc="-5" dirty="0">
                          <a:latin typeface="Carlito"/>
                          <a:cs typeface="Carlito"/>
                        </a:rPr>
                        <a:t>Ingenuity</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1440">
                        <a:lnSpc>
                          <a:spcPct val="100000"/>
                        </a:lnSpc>
                        <a:spcBef>
                          <a:spcPts val="260"/>
                        </a:spcBef>
                      </a:pPr>
                      <a:r>
                        <a:rPr sz="1600" spc="-15" dirty="0">
                          <a:latin typeface="Carlito"/>
                          <a:cs typeface="Carlito"/>
                        </a:rPr>
                        <a:t>15</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0"/>
                        </a:spcBef>
                      </a:pPr>
                      <a:r>
                        <a:rPr sz="1600" spc="-15" dirty="0">
                          <a:latin typeface="Carlito"/>
                          <a:cs typeface="Carlito"/>
                        </a:rPr>
                        <a:t>30</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0"/>
                        </a:spcBef>
                      </a:pPr>
                      <a:r>
                        <a:rPr sz="1600" spc="-15" dirty="0">
                          <a:latin typeface="Carlito"/>
                          <a:cs typeface="Carlito"/>
                        </a:rPr>
                        <a:t>45</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0"/>
                        </a:spcBef>
                      </a:pPr>
                      <a:r>
                        <a:rPr sz="1600" spc="-15" dirty="0">
                          <a:latin typeface="Carlito"/>
                          <a:cs typeface="Carlito"/>
                        </a:rPr>
                        <a:t>60</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0"/>
                        </a:spcBef>
                      </a:pPr>
                      <a:r>
                        <a:rPr sz="1600" spc="-10" dirty="0">
                          <a:latin typeface="Carlito"/>
                          <a:cs typeface="Carlito"/>
                        </a:rPr>
                        <a:t>75</a:t>
                      </a:r>
                      <a:endParaRPr sz="16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r h="335279">
                <a:tc>
                  <a:txBody>
                    <a:bodyPr/>
                    <a:lstStyle/>
                    <a:p>
                      <a:pPr marL="90805">
                        <a:lnSpc>
                          <a:spcPct val="100000"/>
                        </a:lnSpc>
                        <a:spcBef>
                          <a:spcPts val="265"/>
                        </a:spcBef>
                      </a:pPr>
                      <a:r>
                        <a:rPr sz="1600" spc="-15" dirty="0">
                          <a:latin typeface="Carlito"/>
                          <a:cs typeface="Carlito"/>
                        </a:rPr>
                        <a:t>EFFORT</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r>
              <a:tr h="335280">
                <a:tc>
                  <a:txBody>
                    <a:bodyPr/>
                    <a:lstStyle/>
                    <a:p>
                      <a:pPr marL="393065" indent="-302895">
                        <a:lnSpc>
                          <a:spcPct val="100000"/>
                        </a:lnSpc>
                        <a:spcBef>
                          <a:spcPts val="265"/>
                        </a:spcBef>
                        <a:buFont typeface="Arial"/>
                        <a:buChar char="•"/>
                        <a:tabLst>
                          <a:tab pos="393065" algn="l"/>
                          <a:tab pos="393700" algn="l"/>
                        </a:tabLst>
                      </a:pPr>
                      <a:r>
                        <a:rPr sz="1600" spc="-10" dirty="0">
                          <a:latin typeface="Carlito"/>
                          <a:cs typeface="Carlito"/>
                        </a:rPr>
                        <a:t>Physical</a:t>
                      </a:r>
                      <a:r>
                        <a:rPr sz="1600" spc="-30" dirty="0">
                          <a:latin typeface="Carlito"/>
                          <a:cs typeface="Carlito"/>
                        </a:rPr>
                        <a:t> </a:t>
                      </a:r>
                      <a:r>
                        <a:rPr sz="1600" spc="-5" dirty="0">
                          <a:latin typeface="Carlito"/>
                          <a:cs typeface="Carlito"/>
                        </a:rPr>
                        <a:t>demand</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1440">
                        <a:lnSpc>
                          <a:spcPct val="100000"/>
                        </a:lnSpc>
                        <a:spcBef>
                          <a:spcPts val="265"/>
                        </a:spcBef>
                      </a:pPr>
                      <a:r>
                        <a:rPr sz="1600" spc="-15" dirty="0">
                          <a:latin typeface="Carlito"/>
                          <a:cs typeface="Carlito"/>
                        </a:rPr>
                        <a:t>10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5"/>
                        </a:spcBef>
                      </a:pPr>
                      <a:r>
                        <a:rPr sz="1600" spc="-15" dirty="0">
                          <a:latin typeface="Carlito"/>
                          <a:cs typeface="Carlito"/>
                        </a:rPr>
                        <a:t>20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5"/>
                        </a:spcBef>
                      </a:pPr>
                      <a:r>
                        <a:rPr sz="1600" spc="-15" dirty="0">
                          <a:latin typeface="Carlito"/>
                          <a:cs typeface="Carlito"/>
                        </a:rPr>
                        <a:t>30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5"/>
                        </a:spcBef>
                      </a:pPr>
                      <a:r>
                        <a:rPr sz="1600" spc="-15" dirty="0">
                          <a:latin typeface="Carlito"/>
                          <a:cs typeface="Carlito"/>
                        </a:rPr>
                        <a:t>40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5"/>
                        </a:spcBef>
                      </a:pPr>
                      <a:r>
                        <a:rPr sz="1600" spc="-10" dirty="0">
                          <a:latin typeface="Carlito"/>
                          <a:cs typeface="Carlito"/>
                        </a:rPr>
                        <a:t>50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r h="496062">
                <a:tc>
                  <a:txBody>
                    <a:bodyPr/>
                    <a:lstStyle/>
                    <a:p>
                      <a:pPr marL="393065" indent="-302895">
                        <a:lnSpc>
                          <a:spcPct val="100000"/>
                        </a:lnSpc>
                        <a:spcBef>
                          <a:spcPts val="265"/>
                        </a:spcBef>
                        <a:buFont typeface="Arial"/>
                        <a:buChar char="•"/>
                        <a:tabLst>
                          <a:tab pos="393065" algn="l"/>
                          <a:tab pos="393700" algn="l"/>
                        </a:tabLst>
                      </a:pPr>
                      <a:r>
                        <a:rPr sz="1600" spc="-10" dirty="0">
                          <a:latin typeface="Carlito"/>
                          <a:cs typeface="Carlito"/>
                        </a:rPr>
                        <a:t>Mental </a:t>
                      </a:r>
                      <a:r>
                        <a:rPr sz="1600" spc="-5" dirty="0">
                          <a:latin typeface="Carlito"/>
                          <a:cs typeface="Carlito"/>
                        </a:rPr>
                        <a:t>or visual</a:t>
                      </a:r>
                      <a:r>
                        <a:rPr sz="1600" spc="-15" dirty="0">
                          <a:latin typeface="Carlito"/>
                          <a:cs typeface="Carlito"/>
                        </a:rPr>
                        <a:t> </a:t>
                      </a:r>
                      <a:r>
                        <a:rPr sz="1600" spc="-10" dirty="0">
                          <a:latin typeface="Carlito"/>
                          <a:cs typeface="Carlito"/>
                        </a:rPr>
                        <a:t>demand</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1440">
                        <a:lnSpc>
                          <a:spcPct val="100000"/>
                        </a:lnSpc>
                        <a:spcBef>
                          <a:spcPts val="265"/>
                        </a:spcBef>
                      </a:pPr>
                      <a:r>
                        <a:rPr sz="1600" dirty="0">
                          <a:latin typeface="Carlito"/>
                          <a:cs typeface="Carlito"/>
                        </a:rPr>
                        <a:t>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5"/>
                        </a:spcBef>
                      </a:pPr>
                      <a:r>
                        <a:rPr sz="1600" spc="-10" dirty="0">
                          <a:latin typeface="Carlito"/>
                          <a:cs typeface="Carlito"/>
                        </a:rPr>
                        <a:t>10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5"/>
                        </a:spcBef>
                      </a:pPr>
                      <a:r>
                        <a:rPr sz="1600" spc="-10" dirty="0">
                          <a:latin typeface="Carlito"/>
                          <a:cs typeface="Carlito"/>
                        </a:rPr>
                        <a:t>15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5"/>
                        </a:spcBef>
                      </a:pPr>
                      <a:r>
                        <a:rPr sz="1600" spc="-10" dirty="0">
                          <a:latin typeface="Carlito"/>
                          <a:cs typeface="Carlito"/>
                        </a:rPr>
                        <a:t>20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5"/>
                        </a:spcBef>
                      </a:pPr>
                      <a:r>
                        <a:rPr sz="1600" spc="-10" dirty="0">
                          <a:latin typeface="Carlito"/>
                          <a:cs typeface="Carlito"/>
                        </a:rPr>
                        <a:t>25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r>
              <a:tr h="335279">
                <a:tc>
                  <a:txBody>
                    <a:bodyPr/>
                    <a:lstStyle/>
                    <a:p>
                      <a:pPr marL="90805">
                        <a:lnSpc>
                          <a:spcPct val="100000"/>
                        </a:lnSpc>
                        <a:spcBef>
                          <a:spcPts val="265"/>
                        </a:spcBef>
                      </a:pPr>
                      <a:r>
                        <a:rPr sz="1600" spc="-10" dirty="0">
                          <a:latin typeface="Carlito"/>
                          <a:cs typeface="Carlito"/>
                        </a:rPr>
                        <a:t>RESPONSIBILITY</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r h="496062">
                <a:tc>
                  <a:txBody>
                    <a:bodyPr/>
                    <a:lstStyle/>
                    <a:p>
                      <a:pPr marL="393065" indent="-302895">
                        <a:lnSpc>
                          <a:spcPct val="100000"/>
                        </a:lnSpc>
                        <a:spcBef>
                          <a:spcPts val="265"/>
                        </a:spcBef>
                        <a:buFont typeface="Arial"/>
                        <a:buChar char="•"/>
                        <a:tabLst>
                          <a:tab pos="393065" algn="l"/>
                          <a:tab pos="393700" algn="l"/>
                        </a:tabLst>
                      </a:pPr>
                      <a:r>
                        <a:rPr sz="1600" spc="-10" dirty="0">
                          <a:latin typeface="Carlito"/>
                          <a:cs typeface="Carlito"/>
                        </a:rPr>
                        <a:t>Equipment </a:t>
                      </a:r>
                      <a:r>
                        <a:rPr sz="1600" spc="-5" dirty="0">
                          <a:latin typeface="Carlito"/>
                          <a:cs typeface="Carlito"/>
                        </a:rPr>
                        <a:t>or</a:t>
                      </a:r>
                      <a:r>
                        <a:rPr sz="1600" spc="15" dirty="0">
                          <a:latin typeface="Carlito"/>
                          <a:cs typeface="Carlito"/>
                        </a:rPr>
                        <a:t> </a:t>
                      </a:r>
                      <a:r>
                        <a:rPr sz="1600" spc="-15" dirty="0">
                          <a:latin typeface="Carlito"/>
                          <a:cs typeface="Carlito"/>
                        </a:rPr>
                        <a:t>process</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1440">
                        <a:lnSpc>
                          <a:spcPct val="100000"/>
                        </a:lnSpc>
                        <a:spcBef>
                          <a:spcPts val="265"/>
                        </a:spcBef>
                      </a:pPr>
                      <a:r>
                        <a:rPr sz="1600" dirty="0">
                          <a:latin typeface="Carlito"/>
                          <a:cs typeface="Carlito"/>
                        </a:rPr>
                        <a:t>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5"/>
                        </a:spcBef>
                      </a:pPr>
                      <a:r>
                        <a:rPr sz="1600" spc="-10" dirty="0">
                          <a:latin typeface="Carlito"/>
                          <a:cs typeface="Carlito"/>
                        </a:rPr>
                        <a:t>10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5"/>
                        </a:spcBef>
                      </a:pPr>
                      <a:r>
                        <a:rPr sz="1600" spc="-10" dirty="0">
                          <a:latin typeface="Carlito"/>
                          <a:cs typeface="Carlito"/>
                        </a:rPr>
                        <a:t>15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5"/>
                        </a:spcBef>
                      </a:pPr>
                      <a:r>
                        <a:rPr sz="1600" spc="-10" dirty="0">
                          <a:latin typeface="Carlito"/>
                          <a:cs typeface="Carlito"/>
                        </a:rPr>
                        <a:t>20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5"/>
                        </a:spcBef>
                      </a:pPr>
                      <a:r>
                        <a:rPr sz="1600" spc="-10" dirty="0">
                          <a:latin typeface="Carlito"/>
                          <a:cs typeface="Carlito"/>
                        </a:rPr>
                        <a:t>25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r>
              <a:tr h="335280">
                <a:tc>
                  <a:txBody>
                    <a:bodyPr/>
                    <a:lstStyle/>
                    <a:p>
                      <a:pPr marL="393065" indent="-302895">
                        <a:lnSpc>
                          <a:spcPct val="100000"/>
                        </a:lnSpc>
                        <a:spcBef>
                          <a:spcPts val="265"/>
                        </a:spcBef>
                        <a:buFont typeface="Arial"/>
                        <a:buChar char="•"/>
                        <a:tabLst>
                          <a:tab pos="393065" algn="l"/>
                          <a:tab pos="393700" algn="l"/>
                        </a:tabLst>
                      </a:pPr>
                      <a:r>
                        <a:rPr sz="1600" spc="-5" dirty="0">
                          <a:latin typeface="Carlito"/>
                          <a:cs typeface="Carlito"/>
                        </a:rPr>
                        <a:t>Material or</a:t>
                      </a:r>
                      <a:r>
                        <a:rPr sz="1600" spc="-15" dirty="0">
                          <a:latin typeface="Carlito"/>
                          <a:cs typeface="Carlito"/>
                        </a:rPr>
                        <a:t> </a:t>
                      </a:r>
                      <a:r>
                        <a:rPr sz="1600" spc="-10" dirty="0">
                          <a:latin typeface="Carlito"/>
                          <a:cs typeface="Carlito"/>
                        </a:rPr>
                        <a:t>product</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1440">
                        <a:lnSpc>
                          <a:spcPct val="100000"/>
                        </a:lnSpc>
                        <a:spcBef>
                          <a:spcPts val="265"/>
                        </a:spcBef>
                      </a:pPr>
                      <a:r>
                        <a:rPr sz="1600" dirty="0">
                          <a:latin typeface="Carlito"/>
                          <a:cs typeface="Carlito"/>
                        </a:rPr>
                        <a:t>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5"/>
                        </a:spcBef>
                      </a:pPr>
                      <a:r>
                        <a:rPr sz="1600" spc="-15" dirty="0">
                          <a:latin typeface="Carlito"/>
                          <a:cs typeface="Carlito"/>
                        </a:rPr>
                        <a:t>10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5"/>
                        </a:spcBef>
                      </a:pPr>
                      <a:r>
                        <a:rPr sz="1600" spc="-15" dirty="0">
                          <a:latin typeface="Carlito"/>
                          <a:cs typeface="Carlito"/>
                        </a:rPr>
                        <a:t>15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5"/>
                        </a:spcBef>
                      </a:pPr>
                      <a:r>
                        <a:rPr sz="1600" spc="-15" dirty="0">
                          <a:latin typeface="Carlito"/>
                          <a:cs typeface="Carlito"/>
                        </a:rPr>
                        <a:t>20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5"/>
                        </a:spcBef>
                      </a:pPr>
                      <a:r>
                        <a:rPr sz="1600" spc="-10" dirty="0">
                          <a:latin typeface="Carlito"/>
                          <a:cs typeface="Carlito"/>
                        </a:rPr>
                        <a:t>25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r h="335280">
                <a:tc>
                  <a:txBody>
                    <a:bodyPr/>
                    <a:lstStyle/>
                    <a:p>
                      <a:pPr marL="393065" indent="-302895">
                        <a:lnSpc>
                          <a:spcPct val="100000"/>
                        </a:lnSpc>
                        <a:spcBef>
                          <a:spcPts val="265"/>
                        </a:spcBef>
                        <a:buFont typeface="Arial"/>
                        <a:buChar char="•"/>
                        <a:tabLst>
                          <a:tab pos="393065" algn="l"/>
                          <a:tab pos="393700" algn="l"/>
                        </a:tabLst>
                      </a:pPr>
                      <a:r>
                        <a:rPr sz="1600" spc="-15" dirty="0">
                          <a:latin typeface="Carlito"/>
                          <a:cs typeface="Carlito"/>
                        </a:rPr>
                        <a:t>Safety </a:t>
                      </a:r>
                      <a:r>
                        <a:rPr sz="1600" spc="-5" dirty="0">
                          <a:latin typeface="Carlito"/>
                          <a:cs typeface="Carlito"/>
                        </a:rPr>
                        <a:t>of</a:t>
                      </a:r>
                      <a:r>
                        <a:rPr sz="1600" spc="25" dirty="0">
                          <a:latin typeface="Carlito"/>
                          <a:cs typeface="Carlito"/>
                        </a:rPr>
                        <a:t> </a:t>
                      </a:r>
                      <a:r>
                        <a:rPr sz="1600" spc="-10" dirty="0">
                          <a:latin typeface="Carlito"/>
                          <a:cs typeface="Carlito"/>
                        </a:rPr>
                        <a:t>others</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1440">
                        <a:lnSpc>
                          <a:spcPct val="100000"/>
                        </a:lnSpc>
                        <a:spcBef>
                          <a:spcPts val="265"/>
                        </a:spcBef>
                      </a:pPr>
                      <a:r>
                        <a:rPr sz="1600" dirty="0">
                          <a:latin typeface="Carlito"/>
                          <a:cs typeface="Carlito"/>
                        </a:rPr>
                        <a:t>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5"/>
                        </a:spcBef>
                      </a:pPr>
                      <a:r>
                        <a:rPr sz="1600" spc="-10" dirty="0">
                          <a:latin typeface="Carlito"/>
                          <a:cs typeface="Carlito"/>
                        </a:rPr>
                        <a:t>10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5"/>
                        </a:spcBef>
                      </a:pPr>
                      <a:r>
                        <a:rPr sz="1600" spc="-10" dirty="0">
                          <a:latin typeface="Carlito"/>
                          <a:cs typeface="Carlito"/>
                        </a:rPr>
                        <a:t>15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5"/>
                        </a:spcBef>
                      </a:pPr>
                      <a:r>
                        <a:rPr sz="1600" spc="-10" dirty="0">
                          <a:latin typeface="Carlito"/>
                          <a:cs typeface="Carlito"/>
                        </a:rPr>
                        <a:t>20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65"/>
                        </a:spcBef>
                      </a:pPr>
                      <a:r>
                        <a:rPr sz="1600" spc="-10" dirty="0">
                          <a:latin typeface="Carlito"/>
                          <a:cs typeface="Carlito"/>
                        </a:rPr>
                        <a:t>25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r>
              <a:tr h="496061">
                <a:tc>
                  <a:txBody>
                    <a:bodyPr/>
                    <a:lstStyle/>
                    <a:p>
                      <a:pPr marL="393065" indent="-302895">
                        <a:lnSpc>
                          <a:spcPct val="100000"/>
                        </a:lnSpc>
                        <a:spcBef>
                          <a:spcPts val="265"/>
                        </a:spcBef>
                        <a:buFont typeface="Arial"/>
                        <a:buChar char="•"/>
                        <a:tabLst>
                          <a:tab pos="393065" algn="l"/>
                          <a:tab pos="393700" algn="l"/>
                        </a:tabLst>
                      </a:pPr>
                      <a:r>
                        <a:rPr sz="1600" spc="-30" dirty="0">
                          <a:latin typeface="Carlito"/>
                          <a:cs typeface="Carlito"/>
                        </a:rPr>
                        <a:t>Work </a:t>
                      </a:r>
                      <a:r>
                        <a:rPr sz="1600" spc="-5" dirty="0">
                          <a:latin typeface="Carlito"/>
                          <a:cs typeface="Carlito"/>
                        </a:rPr>
                        <a:t>of other </a:t>
                      </a:r>
                      <a:r>
                        <a:rPr sz="1600" spc="-10" dirty="0">
                          <a:latin typeface="Carlito"/>
                          <a:cs typeface="Carlito"/>
                        </a:rPr>
                        <a:t>job</a:t>
                      </a:r>
                      <a:r>
                        <a:rPr sz="1600" spc="95" dirty="0">
                          <a:latin typeface="Carlito"/>
                          <a:cs typeface="Carlito"/>
                        </a:rPr>
                        <a:t> </a:t>
                      </a:r>
                      <a:r>
                        <a:rPr sz="1600" spc="-10" dirty="0">
                          <a:latin typeface="Carlito"/>
                          <a:cs typeface="Carlito"/>
                        </a:rPr>
                        <a:t>conditions</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1440">
                        <a:lnSpc>
                          <a:spcPct val="100000"/>
                        </a:lnSpc>
                        <a:spcBef>
                          <a:spcPts val="265"/>
                        </a:spcBef>
                      </a:pPr>
                      <a:r>
                        <a:rPr sz="1600" dirty="0">
                          <a:latin typeface="Carlito"/>
                          <a:cs typeface="Carlito"/>
                        </a:rPr>
                        <a:t>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5"/>
                        </a:spcBef>
                      </a:pPr>
                      <a:r>
                        <a:rPr sz="1600" spc="-10" dirty="0">
                          <a:latin typeface="Carlito"/>
                          <a:cs typeface="Carlito"/>
                        </a:rPr>
                        <a:t>10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5"/>
                        </a:spcBef>
                      </a:pPr>
                      <a:r>
                        <a:rPr sz="1600" spc="-10" dirty="0">
                          <a:latin typeface="Carlito"/>
                          <a:cs typeface="Carlito"/>
                        </a:rPr>
                        <a:t>15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5"/>
                        </a:spcBef>
                      </a:pPr>
                      <a:r>
                        <a:rPr sz="1600" spc="-10" dirty="0">
                          <a:latin typeface="Carlito"/>
                          <a:cs typeface="Carlito"/>
                        </a:rPr>
                        <a:t>20</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65"/>
                        </a:spcBef>
                      </a:pPr>
                      <a:r>
                        <a:rPr sz="1600" spc="-10" dirty="0">
                          <a:latin typeface="Carlito"/>
                          <a:cs typeface="Carlito"/>
                        </a:rPr>
                        <a:t>25</a:t>
                      </a:r>
                      <a:endParaRPr sz="1600">
                        <a:latin typeface="Carlito"/>
                        <a:cs typeface="Carlito"/>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r h="335280">
                <a:tc>
                  <a:txBody>
                    <a:bodyPr/>
                    <a:lstStyle/>
                    <a:p>
                      <a:pPr marL="90805">
                        <a:lnSpc>
                          <a:spcPct val="100000"/>
                        </a:lnSpc>
                        <a:spcBef>
                          <a:spcPts val="270"/>
                        </a:spcBef>
                      </a:pPr>
                      <a:r>
                        <a:rPr sz="1600" spc="-10" dirty="0">
                          <a:latin typeface="Carlito"/>
                          <a:cs typeface="Carlito"/>
                        </a:rPr>
                        <a:t>JOB</a:t>
                      </a:r>
                      <a:r>
                        <a:rPr sz="1600" spc="10" dirty="0">
                          <a:latin typeface="Carlito"/>
                          <a:cs typeface="Carlito"/>
                        </a:rPr>
                        <a:t> </a:t>
                      </a:r>
                      <a:r>
                        <a:rPr sz="1600" spc="-10" dirty="0">
                          <a:latin typeface="Carlito"/>
                          <a:cs typeface="Carlito"/>
                        </a:rPr>
                        <a:t>CONDITIONS</a:t>
                      </a:r>
                      <a:endParaRPr sz="1600">
                        <a:latin typeface="Carlito"/>
                        <a:cs typeface="Carlito"/>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r>
              <a:tr h="335280">
                <a:tc>
                  <a:txBody>
                    <a:bodyPr/>
                    <a:lstStyle/>
                    <a:p>
                      <a:pPr marL="393065" indent="-302895">
                        <a:lnSpc>
                          <a:spcPct val="100000"/>
                        </a:lnSpc>
                        <a:spcBef>
                          <a:spcPts val="270"/>
                        </a:spcBef>
                        <a:buFont typeface="Arial"/>
                        <a:buChar char="•"/>
                        <a:tabLst>
                          <a:tab pos="393065" algn="l"/>
                          <a:tab pos="393700" algn="l"/>
                        </a:tabLst>
                      </a:pPr>
                      <a:r>
                        <a:rPr sz="1600" spc="-20" dirty="0">
                          <a:latin typeface="Carlito"/>
                          <a:cs typeface="Carlito"/>
                        </a:rPr>
                        <a:t>Working</a:t>
                      </a:r>
                      <a:r>
                        <a:rPr sz="1600" spc="20" dirty="0">
                          <a:latin typeface="Carlito"/>
                          <a:cs typeface="Carlito"/>
                        </a:rPr>
                        <a:t> </a:t>
                      </a:r>
                      <a:r>
                        <a:rPr sz="1600" spc="-10" dirty="0">
                          <a:latin typeface="Carlito"/>
                          <a:cs typeface="Carlito"/>
                        </a:rPr>
                        <a:t>conditions</a:t>
                      </a:r>
                      <a:endParaRPr sz="1600">
                        <a:latin typeface="Carlito"/>
                        <a:cs typeface="Carlito"/>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1440">
                        <a:lnSpc>
                          <a:spcPct val="100000"/>
                        </a:lnSpc>
                        <a:spcBef>
                          <a:spcPts val="270"/>
                        </a:spcBef>
                      </a:pPr>
                      <a:r>
                        <a:rPr sz="1600" spc="-10" dirty="0">
                          <a:latin typeface="Carlito"/>
                          <a:cs typeface="Carlito"/>
                        </a:rPr>
                        <a:t>10</a:t>
                      </a:r>
                      <a:endParaRPr sz="1600">
                        <a:latin typeface="Carlito"/>
                        <a:cs typeface="Carlito"/>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70"/>
                        </a:spcBef>
                      </a:pPr>
                      <a:r>
                        <a:rPr sz="1600" spc="-10" dirty="0">
                          <a:latin typeface="Carlito"/>
                          <a:cs typeface="Carlito"/>
                        </a:rPr>
                        <a:t>20</a:t>
                      </a:r>
                      <a:endParaRPr sz="1600">
                        <a:latin typeface="Carlito"/>
                        <a:cs typeface="Carlito"/>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70"/>
                        </a:spcBef>
                      </a:pPr>
                      <a:r>
                        <a:rPr sz="1600" spc="-10" dirty="0">
                          <a:latin typeface="Carlito"/>
                          <a:cs typeface="Carlito"/>
                        </a:rPr>
                        <a:t>30</a:t>
                      </a:r>
                      <a:endParaRPr sz="1600">
                        <a:latin typeface="Carlito"/>
                        <a:cs typeface="Carlito"/>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70"/>
                        </a:spcBef>
                      </a:pPr>
                      <a:r>
                        <a:rPr sz="1600" spc="-10" dirty="0">
                          <a:latin typeface="Carlito"/>
                          <a:cs typeface="Carlito"/>
                        </a:rPr>
                        <a:t>40</a:t>
                      </a:r>
                      <a:endParaRPr sz="1600">
                        <a:latin typeface="Carlito"/>
                        <a:cs typeface="Carlito"/>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70"/>
                        </a:spcBef>
                      </a:pPr>
                      <a:r>
                        <a:rPr sz="1600" spc="-10" dirty="0">
                          <a:latin typeface="Carlito"/>
                          <a:cs typeface="Carlito"/>
                        </a:rPr>
                        <a:t>50</a:t>
                      </a:r>
                      <a:endParaRPr sz="1600">
                        <a:latin typeface="Carlito"/>
                        <a:cs typeface="Carlito"/>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r>
              <a:tr h="335280">
                <a:tc>
                  <a:txBody>
                    <a:bodyPr/>
                    <a:lstStyle/>
                    <a:p>
                      <a:pPr marL="393065" indent="-302895">
                        <a:lnSpc>
                          <a:spcPct val="100000"/>
                        </a:lnSpc>
                        <a:spcBef>
                          <a:spcPts val="270"/>
                        </a:spcBef>
                        <a:buFont typeface="Arial"/>
                        <a:buChar char="•"/>
                        <a:tabLst>
                          <a:tab pos="393065" algn="l"/>
                          <a:tab pos="393700" algn="l"/>
                        </a:tabLst>
                      </a:pPr>
                      <a:r>
                        <a:rPr sz="1600" spc="-10" dirty="0">
                          <a:latin typeface="Carlito"/>
                          <a:cs typeface="Carlito"/>
                        </a:rPr>
                        <a:t>Unavoidable</a:t>
                      </a:r>
                      <a:r>
                        <a:rPr sz="1600" spc="-25" dirty="0">
                          <a:latin typeface="Carlito"/>
                          <a:cs typeface="Carlito"/>
                        </a:rPr>
                        <a:t> </a:t>
                      </a:r>
                      <a:r>
                        <a:rPr sz="1600" spc="-15" dirty="0">
                          <a:latin typeface="Carlito"/>
                          <a:cs typeface="Carlito"/>
                        </a:rPr>
                        <a:t>hazards</a:t>
                      </a:r>
                      <a:endParaRPr sz="1600">
                        <a:latin typeface="Carlito"/>
                        <a:cs typeface="Carlito"/>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1440">
                        <a:lnSpc>
                          <a:spcPct val="100000"/>
                        </a:lnSpc>
                        <a:spcBef>
                          <a:spcPts val="270"/>
                        </a:spcBef>
                      </a:pPr>
                      <a:r>
                        <a:rPr sz="1600" dirty="0">
                          <a:latin typeface="Carlito"/>
                          <a:cs typeface="Carlito"/>
                        </a:rPr>
                        <a:t>5</a:t>
                      </a:r>
                      <a:endParaRPr sz="1600">
                        <a:latin typeface="Carlito"/>
                        <a:cs typeface="Carlito"/>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70"/>
                        </a:spcBef>
                      </a:pPr>
                      <a:r>
                        <a:rPr sz="1600" spc="-10" dirty="0">
                          <a:latin typeface="Carlito"/>
                          <a:cs typeface="Carlito"/>
                        </a:rPr>
                        <a:t>10</a:t>
                      </a:r>
                      <a:endParaRPr sz="1600">
                        <a:latin typeface="Carlito"/>
                        <a:cs typeface="Carlito"/>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70"/>
                        </a:spcBef>
                      </a:pPr>
                      <a:r>
                        <a:rPr sz="1600" spc="-10" dirty="0">
                          <a:latin typeface="Carlito"/>
                          <a:cs typeface="Carlito"/>
                        </a:rPr>
                        <a:t>15</a:t>
                      </a:r>
                      <a:endParaRPr sz="1600">
                        <a:latin typeface="Carlito"/>
                        <a:cs typeface="Carlito"/>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70"/>
                        </a:spcBef>
                      </a:pPr>
                      <a:r>
                        <a:rPr sz="1600" spc="-10" dirty="0">
                          <a:latin typeface="Carlito"/>
                          <a:cs typeface="Carlito"/>
                        </a:rPr>
                        <a:t>20</a:t>
                      </a:r>
                      <a:endParaRPr sz="1600">
                        <a:latin typeface="Carlito"/>
                        <a:cs typeface="Carlito"/>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70"/>
                        </a:spcBef>
                      </a:pPr>
                      <a:r>
                        <a:rPr sz="1600" spc="-10" dirty="0">
                          <a:latin typeface="Carlito"/>
                          <a:cs typeface="Carlito"/>
                        </a:rPr>
                        <a:t>25</a:t>
                      </a:r>
                      <a:endParaRPr sz="1600">
                        <a:latin typeface="Carlito"/>
                        <a:cs typeface="Carlito"/>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8" y="-70333"/>
            <a:ext cx="7136468" cy="627736"/>
          </a:xfrm>
          <a:prstGeom prst="rect">
            <a:avLst/>
          </a:prstGeom>
        </p:spPr>
        <p:txBody>
          <a:bodyPr vert="horz" wrap="square" lIns="0" tIns="12065" rIns="0" bIns="0" rtlCol="0">
            <a:spAutoFit/>
          </a:bodyPr>
          <a:lstStyle/>
          <a:p>
            <a:pPr marL="12700">
              <a:lnSpc>
                <a:spcPct val="100000"/>
              </a:lnSpc>
              <a:spcBef>
                <a:spcPts val="95"/>
              </a:spcBef>
            </a:pPr>
            <a:r>
              <a:rPr sz="4000" spc="-5" dirty="0">
                <a:uFill>
                  <a:solidFill>
                    <a:srgbClr val="00AF50"/>
                  </a:solidFill>
                </a:uFill>
              </a:rPr>
              <a:t>The </a:t>
            </a:r>
            <a:r>
              <a:rPr sz="4000" spc="-20" dirty="0">
                <a:uFill>
                  <a:solidFill>
                    <a:srgbClr val="00AF50"/>
                  </a:solidFill>
                </a:uFill>
              </a:rPr>
              <a:t>Factor </a:t>
            </a:r>
            <a:r>
              <a:rPr sz="4000" spc="-10" dirty="0">
                <a:uFill>
                  <a:solidFill>
                    <a:srgbClr val="00AF50"/>
                  </a:solidFill>
                </a:uFill>
              </a:rPr>
              <a:t>Comparison</a:t>
            </a:r>
            <a:r>
              <a:rPr sz="4000" spc="25" dirty="0">
                <a:uFill>
                  <a:solidFill>
                    <a:srgbClr val="00AF50"/>
                  </a:solidFill>
                </a:uFill>
              </a:rPr>
              <a:t> </a:t>
            </a:r>
            <a:r>
              <a:rPr sz="4000" spc="-10" dirty="0">
                <a:uFill>
                  <a:solidFill>
                    <a:srgbClr val="00AF50"/>
                  </a:solidFill>
                </a:uFill>
              </a:rPr>
              <a:t>Method</a:t>
            </a:r>
          </a:p>
        </p:txBody>
      </p:sp>
      <p:sp>
        <p:nvSpPr>
          <p:cNvPr id="3" name="object 3"/>
          <p:cNvSpPr txBox="1"/>
          <p:nvPr/>
        </p:nvSpPr>
        <p:spPr>
          <a:xfrm>
            <a:off x="231140" y="623061"/>
            <a:ext cx="8681720" cy="6014467"/>
          </a:xfrm>
          <a:prstGeom prst="rect">
            <a:avLst/>
          </a:prstGeom>
        </p:spPr>
        <p:txBody>
          <a:bodyPr vert="horz" wrap="square" lIns="0" tIns="12700" rIns="0" bIns="0" rtlCol="0">
            <a:spAutoFit/>
          </a:bodyPr>
          <a:lstStyle/>
          <a:p>
            <a:pPr marL="12700" marR="5715" indent="914400" algn="just">
              <a:lnSpc>
                <a:spcPct val="100000"/>
              </a:lnSpc>
              <a:spcBef>
                <a:spcPts val="100"/>
              </a:spcBef>
            </a:pPr>
            <a:r>
              <a:rPr sz="2400" spc="-5" dirty="0">
                <a:latin typeface="Carlito"/>
                <a:cs typeface="Carlito"/>
              </a:rPr>
              <a:t>This method </a:t>
            </a:r>
            <a:r>
              <a:rPr sz="2400" dirty="0">
                <a:latin typeface="Carlito"/>
                <a:cs typeface="Carlito"/>
              </a:rPr>
              <a:t>is </a:t>
            </a:r>
            <a:r>
              <a:rPr sz="2400" spc="-5" dirty="0">
                <a:latin typeface="Carlito"/>
                <a:cs typeface="Carlito"/>
              </a:rPr>
              <a:t>based on </a:t>
            </a:r>
            <a:r>
              <a:rPr sz="2400" dirty="0">
                <a:latin typeface="Carlito"/>
                <a:cs typeface="Carlito"/>
              </a:rPr>
              <a:t>the </a:t>
            </a:r>
            <a:r>
              <a:rPr sz="2400" spc="-5" dirty="0">
                <a:latin typeface="Carlito"/>
                <a:cs typeface="Carlito"/>
              </a:rPr>
              <a:t>assumption </a:t>
            </a:r>
            <a:r>
              <a:rPr sz="2400" spc="-10" dirty="0">
                <a:latin typeface="Carlito"/>
                <a:cs typeface="Carlito"/>
              </a:rPr>
              <a:t>that </a:t>
            </a:r>
            <a:r>
              <a:rPr sz="2400" spc="-5" dirty="0">
                <a:latin typeface="Carlito"/>
                <a:cs typeface="Carlito"/>
              </a:rPr>
              <a:t>all </a:t>
            </a:r>
            <a:r>
              <a:rPr sz="2400" spc="-10" dirty="0">
                <a:latin typeface="Carlito"/>
                <a:cs typeface="Carlito"/>
              </a:rPr>
              <a:t>jobs </a:t>
            </a:r>
            <a:r>
              <a:rPr sz="2400" spc="-15" dirty="0">
                <a:latin typeface="Carlito"/>
                <a:cs typeface="Carlito"/>
              </a:rPr>
              <a:t>contain  </a:t>
            </a:r>
            <a:r>
              <a:rPr sz="2400" spc="-5" dirty="0">
                <a:latin typeface="Carlito"/>
                <a:cs typeface="Carlito"/>
              </a:rPr>
              <a:t>certain </a:t>
            </a:r>
            <a:r>
              <a:rPr sz="2400" spc="-10" dirty="0">
                <a:latin typeface="Carlito"/>
                <a:cs typeface="Carlito"/>
              </a:rPr>
              <a:t>common </a:t>
            </a:r>
            <a:r>
              <a:rPr sz="2400" spc="-20" dirty="0">
                <a:latin typeface="Carlito"/>
                <a:cs typeface="Carlito"/>
              </a:rPr>
              <a:t>factors </a:t>
            </a:r>
            <a:r>
              <a:rPr sz="2400" spc="-15" dirty="0">
                <a:latin typeface="Carlito"/>
                <a:cs typeface="Carlito"/>
              </a:rPr>
              <a:t>to </a:t>
            </a:r>
            <a:r>
              <a:rPr sz="2400" spc="-5" dirty="0">
                <a:latin typeface="Carlito"/>
                <a:cs typeface="Carlito"/>
              </a:rPr>
              <a:t>determine </a:t>
            </a:r>
            <a:r>
              <a:rPr sz="2400" dirty="0">
                <a:latin typeface="Carlito"/>
                <a:cs typeface="Carlito"/>
              </a:rPr>
              <a:t>the </a:t>
            </a:r>
            <a:r>
              <a:rPr sz="2400" spc="-10" dirty="0">
                <a:latin typeface="Carlito"/>
                <a:cs typeface="Carlito"/>
              </a:rPr>
              <a:t>worth </a:t>
            </a:r>
            <a:r>
              <a:rPr sz="2400" spc="-5" dirty="0">
                <a:latin typeface="Carlito"/>
                <a:cs typeface="Carlito"/>
              </a:rPr>
              <a:t>of jobs. These  </a:t>
            </a:r>
            <a:r>
              <a:rPr sz="2400" spc="-20" dirty="0">
                <a:latin typeface="Carlito"/>
                <a:cs typeface="Carlito"/>
              </a:rPr>
              <a:t>factors </a:t>
            </a:r>
            <a:r>
              <a:rPr sz="2400" spc="-15" dirty="0">
                <a:latin typeface="Carlito"/>
                <a:cs typeface="Carlito"/>
              </a:rPr>
              <a:t>may </a:t>
            </a:r>
            <a:r>
              <a:rPr sz="2400" spc="-20" dirty="0">
                <a:latin typeface="Carlito"/>
                <a:cs typeface="Carlito"/>
              </a:rPr>
              <a:t>differ </a:t>
            </a:r>
            <a:r>
              <a:rPr sz="2400" dirty="0">
                <a:latin typeface="Carlito"/>
                <a:cs typeface="Carlito"/>
              </a:rPr>
              <a:t>in the </a:t>
            </a:r>
            <a:r>
              <a:rPr sz="2400" spc="-10" dirty="0">
                <a:latin typeface="Carlito"/>
                <a:cs typeface="Carlito"/>
              </a:rPr>
              <a:t>degree </a:t>
            </a:r>
            <a:r>
              <a:rPr sz="2400" spc="-15" dirty="0">
                <a:latin typeface="Carlito"/>
                <a:cs typeface="Carlito"/>
              </a:rPr>
              <a:t>to </a:t>
            </a:r>
            <a:r>
              <a:rPr sz="2400" spc="-10" dirty="0">
                <a:latin typeface="Carlito"/>
                <a:cs typeface="Carlito"/>
              </a:rPr>
              <a:t>which </a:t>
            </a:r>
            <a:r>
              <a:rPr sz="2400" spc="-5" dirty="0">
                <a:latin typeface="Carlito"/>
                <a:cs typeface="Carlito"/>
              </a:rPr>
              <a:t>they </a:t>
            </a:r>
            <a:r>
              <a:rPr sz="2400" spc="-15" dirty="0">
                <a:latin typeface="Carlito"/>
                <a:cs typeface="Carlito"/>
              </a:rPr>
              <a:t>are </a:t>
            </a:r>
            <a:r>
              <a:rPr sz="2400" spc="-10" dirty="0">
                <a:latin typeface="Carlito"/>
                <a:cs typeface="Carlito"/>
              </a:rPr>
              <a:t>present </a:t>
            </a:r>
            <a:r>
              <a:rPr sz="2400" dirty="0">
                <a:latin typeface="Carlito"/>
                <a:cs typeface="Carlito"/>
              </a:rPr>
              <a:t>in </a:t>
            </a:r>
            <a:r>
              <a:rPr sz="2400" spc="-20" dirty="0">
                <a:latin typeface="Carlito"/>
                <a:cs typeface="Carlito"/>
              </a:rPr>
              <a:t>different  </a:t>
            </a:r>
            <a:r>
              <a:rPr sz="2400" spc="-10" dirty="0">
                <a:latin typeface="Carlito"/>
                <a:cs typeface="Carlito"/>
              </a:rPr>
              <a:t>jobs. </a:t>
            </a:r>
            <a:r>
              <a:rPr sz="2400" spc="-15" dirty="0">
                <a:latin typeface="Carlito"/>
                <a:cs typeface="Carlito"/>
              </a:rPr>
              <a:t>Typically </a:t>
            </a:r>
            <a:r>
              <a:rPr sz="2400" spc="-5" dirty="0">
                <a:latin typeface="Carlito"/>
                <a:cs typeface="Carlito"/>
              </a:rPr>
              <a:t>the number of compensable </a:t>
            </a:r>
            <a:r>
              <a:rPr sz="2400" spc="-20" dirty="0">
                <a:latin typeface="Carlito"/>
                <a:cs typeface="Carlito"/>
              </a:rPr>
              <a:t>factors </a:t>
            </a:r>
            <a:r>
              <a:rPr sz="2400" dirty="0">
                <a:latin typeface="Carlito"/>
                <a:cs typeface="Carlito"/>
              </a:rPr>
              <a:t>is </a:t>
            </a:r>
            <a:r>
              <a:rPr sz="2400" spc="-5" dirty="0">
                <a:latin typeface="Carlito"/>
                <a:cs typeface="Carlito"/>
              </a:rPr>
              <a:t>small </a:t>
            </a:r>
            <a:r>
              <a:rPr sz="2400" dirty="0">
                <a:latin typeface="Carlito"/>
                <a:cs typeface="Carlito"/>
              </a:rPr>
              <a:t>(4 </a:t>
            </a:r>
            <a:r>
              <a:rPr sz="2400" spc="-5" dirty="0">
                <a:latin typeface="Carlito"/>
                <a:cs typeface="Carlito"/>
              </a:rPr>
              <a:t>or</a:t>
            </a:r>
            <a:r>
              <a:rPr sz="2400" spc="-35" dirty="0">
                <a:latin typeface="Carlito"/>
                <a:cs typeface="Carlito"/>
              </a:rPr>
              <a:t> </a:t>
            </a:r>
            <a:r>
              <a:rPr sz="2400" spc="-5" dirty="0">
                <a:latin typeface="Carlito"/>
                <a:cs typeface="Carlito"/>
              </a:rPr>
              <a:t>5).</a:t>
            </a:r>
            <a:endParaRPr sz="2400" dirty="0">
              <a:latin typeface="Carlito"/>
              <a:cs typeface="Carlito"/>
            </a:endParaRPr>
          </a:p>
          <a:p>
            <a:pPr marL="12700">
              <a:lnSpc>
                <a:spcPct val="100000"/>
              </a:lnSpc>
              <a:spcBef>
                <a:spcPts val="575"/>
              </a:spcBef>
            </a:pPr>
            <a:r>
              <a:rPr sz="2400" b="1" u="heavy" spc="-10" dirty="0">
                <a:uFill>
                  <a:solidFill>
                    <a:srgbClr val="000000"/>
                  </a:solidFill>
                </a:uFill>
                <a:latin typeface="Carlito"/>
                <a:cs typeface="Carlito"/>
              </a:rPr>
              <a:t>PROCESS:</a:t>
            </a:r>
            <a:endParaRPr sz="2400" dirty="0">
              <a:latin typeface="Carlito"/>
              <a:cs typeface="Carlito"/>
            </a:endParaRPr>
          </a:p>
          <a:p>
            <a:pPr marL="857250" indent="-299720">
              <a:lnSpc>
                <a:spcPct val="100000"/>
              </a:lnSpc>
              <a:spcBef>
                <a:spcPts val="580"/>
              </a:spcBef>
              <a:buAutoNum type="arabicPeriod"/>
              <a:tabLst>
                <a:tab pos="857885" algn="l"/>
              </a:tabLst>
            </a:pPr>
            <a:r>
              <a:rPr sz="2400" dirty="0">
                <a:latin typeface="Carlito"/>
                <a:cs typeface="Carlito"/>
              </a:rPr>
              <a:t>Select the </a:t>
            </a:r>
            <a:r>
              <a:rPr sz="2400" spc="-5" dirty="0">
                <a:latin typeface="Carlito"/>
                <a:cs typeface="Carlito"/>
              </a:rPr>
              <a:t>set of Benchmark</a:t>
            </a:r>
            <a:r>
              <a:rPr sz="2400" spc="-40" dirty="0">
                <a:latin typeface="Carlito"/>
                <a:cs typeface="Carlito"/>
              </a:rPr>
              <a:t> </a:t>
            </a:r>
            <a:r>
              <a:rPr sz="2400" spc="-5" dirty="0">
                <a:latin typeface="Carlito"/>
                <a:cs typeface="Carlito"/>
              </a:rPr>
              <a:t>Jobs</a:t>
            </a:r>
            <a:endParaRPr sz="2400" dirty="0">
              <a:latin typeface="Carlito"/>
              <a:cs typeface="Carlito"/>
            </a:endParaRPr>
          </a:p>
          <a:p>
            <a:pPr marL="927100" marR="5080" indent="-367665">
              <a:lnSpc>
                <a:spcPct val="100000"/>
              </a:lnSpc>
              <a:spcBef>
                <a:spcPts val="575"/>
              </a:spcBef>
              <a:buAutoNum type="arabicPeriod"/>
              <a:tabLst>
                <a:tab pos="900430" algn="l"/>
              </a:tabLst>
            </a:pPr>
            <a:r>
              <a:rPr sz="2400" spc="-5" dirty="0">
                <a:latin typeface="Carlito"/>
                <a:cs typeface="Carlito"/>
              </a:rPr>
              <a:t>Rank </a:t>
            </a:r>
            <a:r>
              <a:rPr sz="2400" dirty="0">
                <a:latin typeface="Carlito"/>
                <a:cs typeface="Carlito"/>
              </a:rPr>
              <a:t>the </a:t>
            </a:r>
            <a:r>
              <a:rPr sz="2400" spc="-5" dirty="0">
                <a:latin typeface="Carlito"/>
                <a:cs typeface="Carlito"/>
              </a:rPr>
              <a:t>Benchmark </a:t>
            </a:r>
            <a:r>
              <a:rPr sz="2400" spc="-10" dirty="0">
                <a:latin typeface="Carlito"/>
                <a:cs typeface="Carlito"/>
              </a:rPr>
              <a:t>jobs on </a:t>
            </a:r>
            <a:r>
              <a:rPr sz="2400" dirty="0">
                <a:latin typeface="Carlito"/>
                <a:cs typeface="Carlito"/>
              </a:rPr>
              <a:t>the </a:t>
            </a:r>
            <a:r>
              <a:rPr sz="2400" spc="-5" dirty="0">
                <a:latin typeface="Carlito"/>
                <a:cs typeface="Carlito"/>
              </a:rPr>
              <a:t>basis of </a:t>
            </a:r>
            <a:r>
              <a:rPr sz="2400" dirty="0">
                <a:latin typeface="Carlito"/>
                <a:cs typeface="Carlito"/>
              </a:rPr>
              <a:t>each </a:t>
            </a:r>
            <a:r>
              <a:rPr sz="2400" spc="-10" dirty="0">
                <a:latin typeface="Carlito"/>
                <a:cs typeface="Carlito"/>
              </a:rPr>
              <a:t>compensable </a:t>
            </a:r>
            <a:r>
              <a:rPr sz="2400" spc="-45" dirty="0" smtClean="0">
                <a:latin typeface="Carlito"/>
                <a:cs typeface="Carlito"/>
              </a:rPr>
              <a:t>factor</a:t>
            </a:r>
            <a:r>
              <a:rPr sz="2400" spc="-45" dirty="0">
                <a:latin typeface="Carlito"/>
                <a:cs typeface="Carlito"/>
              </a:rPr>
              <a:t>.</a:t>
            </a:r>
            <a:endParaRPr sz="2400" dirty="0">
              <a:latin typeface="Carlito"/>
              <a:cs typeface="Carlito"/>
            </a:endParaRPr>
          </a:p>
          <a:p>
            <a:pPr marL="927100" marR="942340" indent="-369570">
              <a:lnSpc>
                <a:spcPct val="100000"/>
              </a:lnSpc>
              <a:spcBef>
                <a:spcPts val="580"/>
              </a:spcBef>
              <a:buAutoNum type="arabicPeriod"/>
              <a:tabLst>
                <a:tab pos="857885" algn="l"/>
                <a:tab pos="2710815" algn="l"/>
              </a:tabLst>
            </a:pPr>
            <a:r>
              <a:rPr sz="2400" spc="-15" dirty="0">
                <a:latin typeface="Carlito"/>
                <a:cs typeface="Carlito"/>
              </a:rPr>
              <a:t>For </a:t>
            </a:r>
            <a:r>
              <a:rPr sz="2400" dirty="0">
                <a:latin typeface="Carlito"/>
                <a:cs typeface="Carlito"/>
              </a:rPr>
              <a:t>each </a:t>
            </a:r>
            <a:r>
              <a:rPr sz="2400" spc="-5" dirty="0">
                <a:latin typeface="Carlito"/>
                <a:cs typeface="Carlito"/>
              </a:rPr>
              <a:t>Benchmark job, </a:t>
            </a:r>
            <a:r>
              <a:rPr sz="2400" spc="-10" dirty="0">
                <a:latin typeface="Carlito"/>
                <a:cs typeface="Carlito"/>
              </a:rPr>
              <a:t>allocate </a:t>
            </a:r>
            <a:r>
              <a:rPr sz="2400" spc="-15" dirty="0">
                <a:latin typeface="Carlito"/>
                <a:cs typeface="Carlito"/>
              </a:rPr>
              <a:t>market </a:t>
            </a:r>
            <a:r>
              <a:rPr sz="2400" spc="-20" dirty="0">
                <a:latin typeface="Carlito"/>
                <a:cs typeface="Carlito"/>
              </a:rPr>
              <a:t>pay </a:t>
            </a:r>
            <a:r>
              <a:rPr sz="2400" spc="-10" dirty="0">
                <a:latin typeface="Carlito"/>
                <a:cs typeface="Carlito"/>
              </a:rPr>
              <a:t>across </a:t>
            </a:r>
            <a:r>
              <a:rPr sz="2400" dirty="0">
                <a:latin typeface="Carlito"/>
                <a:cs typeface="Carlito"/>
              </a:rPr>
              <a:t>the </a:t>
            </a:r>
            <a:r>
              <a:rPr sz="2400" spc="-10" dirty="0" smtClean="0">
                <a:latin typeface="Carlito"/>
                <a:cs typeface="Carlito"/>
              </a:rPr>
              <a:t>compensable</a:t>
            </a:r>
            <a:r>
              <a:rPr lang="en-IN" sz="2400" spc="-10" dirty="0" smtClean="0">
                <a:latin typeface="Carlito"/>
                <a:cs typeface="Carlito"/>
              </a:rPr>
              <a:t> </a:t>
            </a:r>
            <a:r>
              <a:rPr sz="2400" spc="-15" dirty="0" smtClean="0">
                <a:latin typeface="Carlito"/>
                <a:cs typeface="Carlito"/>
              </a:rPr>
              <a:t>factor</a:t>
            </a:r>
            <a:endParaRPr sz="2400" dirty="0">
              <a:latin typeface="Carlito"/>
              <a:cs typeface="Carlito"/>
            </a:endParaRPr>
          </a:p>
          <a:p>
            <a:pPr marL="927100" marR="578485" indent="-436245">
              <a:lnSpc>
                <a:spcPct val="100000"/>
              </a:lnSpc>
              <a:spcBef>
                <a:spcPts val="575"/>
              </a:spcBef>
              <a:buAutoNum type="arabicPeriod"/>
              <a:tabLst>
                <a:tab pos="789305" algn="l"/>
                <a:tab pos="3235325" algn="l"/>
                <a:tab pos="6118225" algn="l"/>
              </a:tabLst>
            </a:pPr>
            <a:r>
              <a:rPr sz="2400" spc="-5" dirty="0">
                <a:latin typeface="Carlito"/>
                <a:cs typeface="Carlito"/>
              </a:rPr>
              <a:t>Determine</a:t>
            </a:r>
            <a:r>
              <a:rPr sz="2400" spc="-10" dirty="0">
                <a:latin typeface="Carlito"/>
                <a:cs typeface="Carlito"/>
              </a:rPr>
              <a:t> </a:t>
            </a:r>
            <a:r>
              <a:rPr sz="2400" dirty="0">
                <a:latin typeface="Carlito"/>
                <a:cs typeface="Carlito"/>
              </a:rPr>
              <a:t>the</a:t>
            </a:r>
            <a:r>
              <a:rPr sz="2400" spc="-5" dirty="0">
                <a:latin typeface="Carlito"/>
                <a:cs typeface="Carlito"/>
              </a:rPr>
              <a:t> </a:t>
            </a:r>
            <a:r>
              <a:rPr sz="2400" spc="-20" dirty="0" smtClean="0">
                <a:latin typeface="Carlito"/>
                <a:cs typeface="Carlito"/>
              </a:rPr>
              <a:t>pay</a:t>
            </a:r>
            <a:r>
              <a:rPr lang="en-IN" sz="2400" spc="-20" dirty="0" smtClean="0">
                <a:latin typeface="Carlito"/>
                <a:cs typeface="Carlito"/>
              </a:rPr>
              <a:t> </a:t>
            </a:r>
            <a:r>
              <a:rPr sz="2400" spc="-20" dirty="0" smtClean="0">
                <a:latin typeface="Carlito"/>
                <a:cs typeface="Carlito"/>
              </a:rPr>
              <a:t>for </a:t>
            </a:r>
            <a:r>
              <a:rPr sz="2400" dirty="0">
                <a:latin typeface="Carlito"/>
                <a:cs typeface="Carlito"/>
              </a:rPr>
              <a:t>each </a:t>
            </a:r>
            <a:r>
              <a:rPr sz="2400" spc="-5" dirty="0">
                <a:latin typeface="Carlito"/>
                <a:cs typeface="Carlito"/>
              </a:rPr>
              <a:t>job</a:t>
            </a:r>
            <a:r>
              <a:rPr sz="2400" spc="5" dirty="0">
                <a:latin typeface="Carlito"/>
                <a:cs typeface="Carlito"/>
              </a:rPr>
              <a:t> </a:t>
            </a:r>
            <a:r>
              <a:rPr sz="2400" spc="-10" dirty="0">
                <a:latin typeface="Carlito"/>
                <a:cs typeface="Carlito"/>
              </a:rPr>
              <a:t>by</a:t>
            </a:r>
            <a:r>
              <a:rPr sz="2400" dirty="0">
                <a:latin typeface="Carlito"/>
                <a:cs typeface="Carlito"/>
              </a:rPr>
              <a:t> </a:t>
            </a:r>
            <a:r>
              <a:rPr sz="2400" dirty="0" smtClean="0">
                <a:latin typeface="Carlito"/>
                <a:cs typeface="Carlito"/>
              </a:rPr>
              <a:t>adding</a:t>
            </a:r>
            <a:r>
              <a:rPr lang="en-IN" sz="2400" dirty="0" smtClean="0">
                <a:latin typeface="Carlito"/>
                <a:cs typeface="Carlito"/>
              </a:rPr>
              <a:t> </a:t>
            </a:r>
            <a:r>
              <a:rPr sz="2400" spc="-5" dirty="0" smtClean="0">
                <a:latin typeface="Carlito"/>
                <a:cs typeface="Carlito"/>
              </a:rPr>
              <a:t>up </a:t>
            </a:r>
            <a:r>
              <a:rPr sz="2400" dirty="0">
                <a:latin typeface="Carlito"/>
                <a:cs typeface="Carlito"/>
              </a:rPr>
              <a:t>the </a:t>
            </a:r>
            <a:r>
              <a:rPr sz="2400" spc="-20" dirty="0">
                <a:latin typeface="Carlito"/>
                <a:cs typeface="Carlito"/>
              </a:rPr>
              <a:t>pay</a:t>
            </a:r>
            <a:r>
              <a:rPr sz="2400" spc="-90" dirty="0">
                <a:latin typeface="Carlito"/>
                <a:cs typeface="Carlito"/>
              </a:rPr>
              <a:t> </a:t>
            </a:r>
            <a:r>
              <a:rPr sz="2400" spc="-15" dirty="0">
                <a:latin typeface="Carlito"/>
                <a:cs typeface="Carlito"/>
              </a:rPr>
              <a:t>from  </a:t>
            </a:r>
            <a:r>
              <a:rPr sz="2400" dirty="0">
                <a:latin typeface="Carlito"/>
                <a:cs typeface="Carlito"/>
              </a:rPr>
              <a:t>each </a:t>
            </a:r>
            <a:r>
              <a:rPr sz="2400" spc="-5" dirty="0">
                <a:latin typeface="Carlito"/>
                <a:cs typeface="Carlito"/>
              </a:rPr>
              <a:t>compensable</a:t>
            </a:r>
            <a:r>
              <a:rPr sz="2400" spc="-25" dirty="0">
                <a:latin typeface="Carlito"/>
                <a:cs typeface="Carlito"/>
              </a:rPr>
              <a:t> </a:t>
            </a:r>
            <a:r>
              <a:rPr sz="2400" spc="-50" dirty="0">
                <a:latin typeface="Carlito"/>
                <a:cs typeface="Carlito"/>
              </a:rPr>
              <a:t>factor.</a:t>
            </a:r>
            <a:endParaRPr sz="2400" dirty="0">
              <a:latin typeface="Carlito"/>
              <a:cs typeface="Carlito"/>
            </a:endParaRPr>
          </a:p>
          <a:p>
            <a:pPr marL="12700">
              <a:lnSpc>
                <a:spcPct val="100000"/>
              </a:lnSpc>
              <a:spcBef>
                <a:spcPts val="575"/>
              </a:spcBef>
            </a:pPr>
            <a:r>
              <a:rPr sz="2400" b="1" u="heavy" spc="-25" dirty="0" smtClean="0">
                <a:uFill>
                  <a:solidFill>
                    <a:srgbClr val="000000"/>
                  </a:solidFill>
                </a:uFill>
                <a:latin typeface="Carlito"/>
                <a:cs typeface="Carlito"/>
              </a:rPr>
              <a:t>RESULTS:</a:t>
            </a:r>
            <a:r>
              <a:rPr lang="en-IN" sz="2400" b="1" u="heavy" spc="-25" dirty="0" smtClean="0">
                <a:uFill>
                  <a:solidFill>
                    <a:srgbClr val="000000"/>
                  </a:solidFill>
                </a:uFill>
                <a:latin typeface="Carlito"/>
                <a:cs typeface="Carlito"/>
              </a:rPr>
              <a:t> </a:t>
            </a:r>
            <a:r>
              <a:rPr sz="2400" spc="-35" dirty="0" smtClean="0">
                <a:latin typeface="Carlito"/>
                <a:cs typeface="Carlito"/>
              </a:rPr>
              <a:t>Pay </a:t>
            </a:r>
            <a:r>
              <a:rPr sz="2400" spc="-5" dirty="0">
                <a:latin typeface="Carlito"/>
                <a:cs typeface="Carlito"/>
              </a:rPr>
              <a:t>Range= </a:t>
            </a:r>
            <a:r>
              <a:rPr sz="2400" spc="-35" dirty="0">
                <a:latin typeface="Carlito"/>
                <a:cs typeface="Carlito"/>
              </a:rPr>
              <a:t>Pay </a:t>
            </a:r>
            <a:r>
              <a:rPr sz="2400" spc="-15" dirty="0">
                <a:latin typeface="Carlito"/>
                <a:cs typeface="Carlito"/>
              </a:rPr>
              <a:t>from </a:t>
            </a:r>
            <a:r>
              <a:rPr sz="2400" spc="-5" dirty="0">
                <a:latin typeface="Carlito"/>
                <a:cs typeface="Carlito"/>
              </a:rPr>
              <a:t>skill </a:t>
            </a:r>
            <a:r>
              <a:rPr sz="2400" dirty="0">
                <a:latin typeface="Carlito"/>
                <a:cs typeface="Carlito"/>
              </a:rPr>
              <a:t>+ </a:t>
            </a:r>
            <a:r>
              <a:rPr sz="2400" spc="-35" dirty="0">
                <a:latin typeface="Carlito"/>
                <a:cs typeface="Carlito"/>
              </a:rPr>
              <a:t>Pay </a:t>
            </a:r>
            <a:r>
              <a:rPr sz="2400" spc="-15" dirty="0">
                <a:latin typeface="Carlito"/>
                <a:cs typeface="Carlito"/>
              </a:rPr>
              <a:t>from </a:t>
            </a:r>
            <a:r>
              <a:rPr sz="2400" spc="-20" dirty="0">
                <a:latin typeface="Carlito"/>
                <a:cs typeface="Carlito"/>
              </a:rPr>
              <a:t>effort </a:t>
            </a:r>
            <a:r>
              <a:rPr sz="2400" dirty="0">
                <a:latin typeface="Carlito"/>
                <a:cs typeface="Carlito"/>
              </a:rPr>
              <a:t>+ </a:t>
            </a:r>
            <a:r>
              <a:rPr sz="2400" spc="-35" dirty="0">
                <a:latin typeface="Carlito"/>
                <a:cs typeface="Carlito"/>
              </a:rPr>
              <a:t>Pay </a:t>
            </a:r>
            <a:r>
              <a:rPr sz="2400" spc="-15" dirty="0">
                <a:latin typeface="Carlito"/>
                <a:cs typeface="Carlito"/>
              </a:rPr>
              <a:t>from  </a:t>
            </a:r>
            <a:r>
              <a:rPr sz="2400" spc="-5" dirty="0">
                <a:latin typeface="Carlito"/>
                <a:cs typeface="Carlito"/>
              </a:rPr>
              <a:t>responsibility </a:t>
            </a:r>
            <a:r>
              <a:rPr sz="2400" dirty="0">
                <a:latin typeface="Carlito"/>
                <a:cs typeface="Carlito"/>
              </a:rPr>
              <a:t>+</a:t>
            </a:r>
            <a:r>
              <a:rPr sz="2400" spc="5" dirty="0">
                <a:latin typeface="Carlito"/>
                <a:cs typeface="Carlito"/>
              </a:rPr>
              <a:t> </a:t>
            </a:r>
            <a:r>
              <a:rPr sz="2400" spc="-35" dirty="0">
                <a:latin typeface="Carlito"/>
                <a:cs typeface="Carlito"/>
              </a:rPr>
              <a:t>Pay</a:t>
            </a:r>
            <a:r>
              <a:rPr sz="2400" spc="10" dirty="0">
                <a:latin typeface="Carlito"/>
                <a:cs typeface="Carlito"/>
              </a:rPr>
              <a:t> </a:t>
            </a:r>
            <a:r>
              <a:rPr sz="2400" spc="-15" dirty="0" smtClean="0">
                <a:latin typeface="Carlito"/>
                <a:cs typeface="Carlito"/>
              </a:rPr>
              <a:t>from</a:t>
            </a:r>
            <a:r>
              <a:rPr lang="en-IN" sz="2400" spc="-15" dirty="0" smtClean="0">
                <a:latin typeface="Carlito"/>
                <a:cs typeface="Carlito"/>
              </a:rPr>
              <a:t> </a:t>
            </a:r>
            <a:r>
              <a:rPr sz="2400" spc="-10" dirty="0" smtClean="0">
                <a:latin typeface="Carlito"/>
                <a:cs typeface="Carlito"/>
              </a:rPr>
              <a:t>working</a:t>
            </a:r>
            <a:r>
              <a:rPr sz="2400" spc="-75" dirty="0" smtClean="0">
                <a:latin typeface="Carlito"/>
                <a:cs typeface="Carlito"/>
              </a:rPr>
              <a:t> </a:t>
            </a:r>
            <a:r>
              <a:rPr sz="2400" spc="-10" dirty="0">
                <a:latin typeface="Carlito"/>
                <a:cs typeface="Carlito"/>
              </a:rPr>
              <a:t>conditions</a:t>
            </a:r>
            <a:endParaRPr sz="2400" dirty="0">
              <a:latin typeface="Carlito"/>
              <a:cs typeface="Carlito"/>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0207" y="140207"/>
            <a:ext cx="8636635" cy="2997835"/>
            <a:chOff x="140207" y="140207"/>
            <a:chExt cx="8636635" cy="2997835"/>
          </a:xfrm>
        </p:grpSpPr>
        <p:sp>
          <p:nvSpPr>
            <p:cNvPr id="3" name="object 3"/>
            <p:cNvSpPr/>
            <p:nvPr/>
          </p:nvSpPr>
          <p:spPr>
            <a:xfrm>
              <a:off x="153161" y="153161"/>
              <a:ext cx="8610600" cy="2971800"/>
            </a:xfrm>
            <a:custGeom>
              <a:avLst/>
              <a:gdLst/>
              <a:ahLst/>
              <a:cxnLst/>
              <a:rect l="l" t="t" r="r" b="b"/>
              <a:pathLst>
                <a:path w="8610600" h="2971800">
                  <a:moveTo>
                    <a:pt x="8115300" y="0"/>
                  </a:moveTo>
                  <a:lnTo>
                    <a:pt x="495312" y="0"/>
                  </a:lnTo>
                  <a:lnTo>
                    <a:pt x="447610" y="2267"/>
                  </a:lnTo>
                  <a:lnTo>
                    <a:pt x="401190" y="8930"/>
                  </a:lnTo>
                  <a:lnTo>
                    <a:pt x="356261" y="19782"/>
                  </a:lnTo>
                  <a:lnTo>
                    <a:pt x="313030" y="34615"/>
                  </a:lnTo>
                  <a:lnTo>
                    <a:pt x="271705" y="53222"/>
                  </a:lnTo>
                  <a:lnTo>
                    <a:pt x="232493" y="75394"/>
                  </a:lnTo>
                  <a:lnTo>
                    <a:pt x="195603" y="100925"/>
                  </a:lnTo>
                  <a:lnTo>
                    <a:pt x="161240" y="129607"/>
                  </a:lnTo>
                  <a:lnTo>
                    <a:pt x="129613" y="161233"/>
                  </a:lnTo>
                  <a:lnTo>
                    <a:pt x="100930" y="195594"/>
                  </a:lnTo>
                  <a:lnTo>
                    <a:pt x="75398" y="232484"/>
                  </a:lnTo>
                  <a:lnTo>
                    <a:pt x="53224" y="271695"/>
                  </a:lnTo>
                  <a:lnTo>
                    <a:pt x="34617" y="313019"/>
                  </a:lnTo>
                  <a:lnTo>
                    <a:pt x="19783" y="356249"/>
                  </a:lnTo>
                  <a:lnTo>
                    <a:pt x="8931" y="401178"/>
                  </a:lnTo>
                  <a:lnTo>
                    <a:pt x="2267" y="447597"/>
                  </a:lnTo>
                  <a:lnTo>
                    <a:pt x="0" y="495300"/>
                  </a:lnTo>
                  <a:lnTo>
                    <a:pt x="0" y="2476500"/>
                  </a:lnTo>
                  <a:lnTo>
                    <a:pt x="2267" y="2524202"/>
                  </a:lnTo>
                  <a:lnTo>
                    <a:pt x="8931" y="2570621"/>
                  </a:lnTo>
                  <a:lnTo>
                    <a:pt x="19783" y="2615550"/>
                  </a:lnTo>
                  <a:lnTo>
                    <a:pt x="34617" y="2658780"/>
                  </a:lnTo>
                  <a:lnTo>
                    <a:pt x="53224" y="2700104"/>
                  </a:lnTo>
                  <a:lnTo>
                    <a:pt x="75398" y="2739315"/>
                  </a:lnTo>
                  <a:lnTo>
                    <a:pt x="100930" y="2776205"/>
                  </a:lnTo>
                  <a:lnTo>
                    <a:pt x="129613" y="2810566"/>
                  </a:lnTo>
                  <a:lnTo>
                    <a:pt x="161240" y="2842192"/>
                  </a:lnTo>
                  <a:lnTo>
                    <a:pt x="195603" y="2870874"/>
                  </a:lnTo>
                  <a:lnTo>
                    <a:pt x="232493" y="2896405"/>
                  </a:lnTo>
                  <a:lnTo>
                    <a:pt x="271705" y="2918577"/>
                  </a:lnTo>
                  <a:lnTo>
                    <a:pt x="313030" y="2937184"/>
                  </a:lnTo>
                  <a:lnTo>
                    <a:pt x="356261" y="2952017"/>
                  </a:lnTo>
                  <a:lnTo>
                    <a:pt x="401190" y="2962869"/>
                  </a:lnTo>
                  <a:lnTo>
                    <a:pt x="447610" y="2969532"/>
                  </a:lnTo>
                  <a:lnTo>
                    <a:pt x="495312" y="2971800"/>
                  </a:lnTo>
                  <a:lnTo>
                    <a:pt x="8115300" y="2971800"/>
                  </a:lnTo>
                  <a:lnTo>
                    <a:pt x="8163002" y="2969532"/>
                  </a:lnTo>
                  <a:lnTo>
                    <a:pt x="8209421" y="2962869"/>
                  </a:lnTo>
                  <a:lnTo>
                    <a:pt x="8254350" y="2952017"/>
                  </a:lnTo>
                  <a:lnTo>
                    <a:pt x="8297580" y="2937184"/>
                  </a:lnTo>
                  <a:lnTo>
                    <a:pt x="8338904" y="2918577"/>
                  </a:lnTo>
                  <a:lnTo>
                    <a:pt x="8378115" y="2896405"/>
                  </a:lnTo>
                  <a:lnTo>
                    <a:pt x="8415005" y="2870874"/>
                  </a:lnTo>
                  <a:lnTo>
                    <a:pt x="8449366" y="2842192"/>
                  </a:lnTo>
                  <a:lnTo>
                    <a:pt x="8480992" y="2810566"/>
                  </a:lnTo>
                  <a:lnTo>
                    <a:pt x="8509674" y="2776205"/>
                  </a:lnTo>
                  <a:lnTo>
                    <a:pt x="8535205" y="2739315"/>
                  </a:lnTo>
                  <a:lnTo>
                    <a:pt x="8557377" y="2700104"/>
                  </a:lnTo>
                  <a:lnTo>
                    <a:pt x="8575984" y="2658780"/>
                  </a:lnTo>
                  <a:lnTo>
                    <a:pt x="8590817" y="2615550"/>
                  </a:lnTo>
                  <a:lnTo>
                    <a:pt x="8601669" y="2570621"/>
                  </a:lnTo>
                  <a:lnTo>
                    <a:pt x="8608332" y="2524202"/>
                  </a:lnTo>
                  <a:lnTo>
                    <a:pt x="8610600" y="2476500"/>
                  </a:lnTo>
                  <a:lnTo>
                    <a:pt x="8610600" y="495300"/>
                  </a:lnTo>
                  <a:lnTo>
                    <a:pt x="8608332" y="447597"/>
                  </a:lnTo>
                  <a:lnTo>
                    <a:pt x="8601669" y="401178"/>
                  </a:lnTo>
                  <a:lnTo>
                    <a:pt x="8590817" y="356249"/>
                  </a:lnTo>
                  <a:lnTo>
                    <a:pt x="8575984" y="313019"/>
                  </a:lnTo>
                  <a:lnTo>
                    <a:pt x="8557377" y="271695"/>
                  </a:lnTo>
                  <a:lnTo>
                    <a:pt x="8535205" y="232484"/>
                  </a:lnTo>
                  <a:lnTo>
                    <a:pt x="8509674" y="195594"/>
                  </a:lnTo>
                  <a:lnTo>
                    <a:pt x="8480992" y="161233"/>
                  </a:lnTo>
                  <a:lnTo>
                    <a:pt x="8449366" y="129607"/>
                  </a:lnTo>
                  <a:lnTo>
                    <a:pt x="8415005" y="100925"/>
                  </a:lnTo>
                  <a:lnTo>
                    <a:pt x="8378115" y="75394"/>
                  </a:lnTo>
                  <a:lnTo>
                    <a:pt x="8338904" y="53222"/>
                  </a:lnTo>
                  <a:lnTo>
                    <a:pt x="8297580" y="34615"/>
                  </a:lnTo>
                  <a:lnTo>
                    <a:pt x="8254350" y="19782"/>
                  </a:lnTo>
                  <a:lnTo>
                    <a:pt x="8209421" y="8930"/>
                  </a:lnTo>
                  <a:lnTo>
                    <a:pt x="8163002" y="2267"/>
                  </a:lnTo>
                  <a:lnTo>
                    <a:pt x="8115300" y="0"/>
                  </a:lnTo>
                  <a:close/>
                </a:path>
              </a:pathLst>
            </a:custGeom>
            <a:solidFill>
              <a:srgbClr val="4F81BC"/>
            </a:solidFill>
          </p:spPr>
          <p:txBody>
            <a:bodyPr wrap="square" lIns="0" tIns="0" rIns="0" bIns="0" rtlCol="0"/>
            <a:lstStyle/>
            <a:p>
              <a:endParaRPr/>
            </a:p>
          </p:txBody>
        </p:sp>
        <p:sp>
          <p:nvSpPr>
            <p:cNvPr id="4" name="object 4"/>
            <p:cNvSpPr/>
            <p:nvPr/>
          </p:nvSpPr>
          <p:spPr>
            <a:xfrm>
              <a:off x="153161" y="153161"/>
              <a:ext cx="8610600" cy="2971800"/>
            </a:xfrm>
            <a:custGeom>
              <a:avLst/>
              <a:gdLst/>
              <a:ahLst/>
              <a:cxnLst/>
              <a:rect l="l" t="t" r="r" b="b"/>
              <a:pathLst>
                <a:path w="8610600" h="2971800">
                  <a:moveTo>
                    <a:pt x="0" y="495300"/>
                  </a:moveTo>
                  <a:lnTo>
                    <a:pt x="2267" y="447597"/>
                  </a:lnTo>
                  <a:lnTo>
                    <a:pt x="8931" y="401178"/>
                  </a:lnTo>
                  <a:lnTo>
                    <a:pt x="19783" y="356249"/>
                  </a:lnTo>
                  <a:lnTo>
                    <a:pt x="34617" y="313019"/>
                  </a:lnTo>
                  <a:lnTo>
                    <a:pt x="53224" y="271695"/>
                  </a:lnTo>
                  <a:lnTo>
                    <a:pt x="75398" y="232484"/>
                  </a:lnTo>
                  <a:lnTo>
                    <a:pt x="100930" y="195594"/>
                  </a:lnTo>
                  <a:lnTo>
                    <a:pt x="129613" y="161233"/>
                  </a:lnTo>
                  <a:lnTo>
                    <a:pt x="161240" y="129607"/>
                  </a:lnTo>
                  <a:lnTo>
                    <a:pt x="195603" y="100925"/>
                  </a:lnTo>
                  <a:lnTo>
                    <a:pt x="232493" y="75394"/>
                  </a:lnTo>
                  <a:lnTo>
                    <a:pt x="271705" y="53222"/>
                  </a:lnTo>
                  <a:lnTo>
                    <a:pt x="313030" y="34615"/>
                  </a:lnTo>
                  <a:lnTo>
                    <a:pt x="356261" y="19782"/>
                  </a:lnTo>
                  <a:lnTo>
                    <a:pt x="401190" y="8930"/>
                  </a:lnTo>
                  <a:lnTo>
                    <a:pt x="447610" y="2267"/>
                  </a:lnTo>
                  <a:lnTo>
                    <a:pt x="495312" y="0"/>
                  </a:lnTo>
                  <a:lnTo>
                    <a:pt x="8115300" y="0"/>
                  </a:lnTo>
                  <a:lnTo>
                    <a:pt x="8163002" y="2267"/>
                  </a:lnTo>
                  <a:lnTo>
                    <a:pt x="8209421" y="8930"/>
                  </a:lnTo>
                  <a:lnTo>
                    <a:pt x="8254350" y="19782"/>
                  </a:lnTo>
                  <a:lnTo>
                    <a:pt x="8297580" y="34615"/>
                  </a:lnTo>
                  <a:lnTo>
                    <a:pt x="8338904" y="53222"/>
                  </a:lnTo>
                  <a:lnTo>
                    <a:pt x="8378115" y="75394"/>
                  </a:lnTo>
                  <a:lnTo>
                    <a:pt x="8415005" y="100925"/>
                  </a:lnTo>
                  <a:lnTo>
                    <a:pt x="8449366" y="129607"/>
                  </a:lnTo>
                  <a:lnTo>
                    <a:pt x="8480992" y="161233"/>
                  </a:lnTo>
                  <a:lnTo>
                    <a:pt x="8509674" y="195594"/>
                  </a:lnTo>
                  <a:lnTo>
                    <a:pt x="8535205" y="232484"/>
                  </a:lnTo>
                  <a:lnTo>
                    <a:pt x="8557377" y="271695"/>
                  </a:lnTo>
                  <a:lnTo>
                    <a:pt x="8575984" y="313019"/>
                  </a:lnTo>
                  <a:lnTo>
                    <a:pt x="8590817" y="356249"/>
                  </a:lnTo>
                  <a:lnTo>
                    <a:pt x="8601669" y="401178"/>
                  </a:lnTo>
                  <a:lnTo>
                    <a:pt x="8608332" y="447597"/>
                  </a:lnTo>
                  <a:lnTo>
                    <a:pt x="8610600" y="495300"/>
                  </a:lnTo>
                  <a:lnTo>
                    <a:pt x="8610600" y="2476500"/>
                  </a:lnTo>
                  <a:lnTo>
                    <a:pt x="8608332" y="2524202"/>
                  </a:lnTo>
                  <a:lnTo>
                    <a:pt x="8601669" y="2570621"/>
                  </a:lnTo>
                  <a:lnTo>
                    <a:pt x="8590817" y="2615550"/>
                  </a:lnTo>
                  <a:lnTo>
                    <a:pt x="8575984" y="2658780"/>
                  </a:lnTo>
                  <a:lnTo>
                    <a:pt x="8557377" y="2700104"/>
                  </a:lnTo>
                  <a:lnTo>
                    <a:pt x="8535205" y="2739315"/>
                  </a:lnTo>
                  <a:lnTo>
                    <a:pt x="8509674" y="2776205"/>
                  </a:lnTo>
                  <a:lnTo>
                    <a:pt x="8480992" y="2810566"/>
                  </a:lnTo>
                  <a:lnTo>
                    <a:pt x="8449366" y="2842192"/>
                  </a:lnTo>
                  <a:lnTo>
                    <a:pt x="8415005" y="2870874"/>
                  </a:lnTo>
                  <a:lnTo>
                    <a:pt x="8378115" y="2896405"/>
                  </a:lnTo>
                  <a:lnTo>
                    <a:pt x="8338904" y="2918577"/>
                  </a:lnTo>
                  <a:lnTo>
                    <a:pt x="8297580" y="2937184"/>
                  </a:lnTo>
                  <a:lnTo>
                    <a:pt x="8254350" y="2952017"/>
                  </a:lnTo>
                  <a:lnTo>
                    <a:pt x="8209421" y="2962869"/>
                  </a:lnTo>
                  <a:lnTo>
                    <a:pt x="8163002" y="2969532"/>
                  </a:lnTo>
                  <a:lnTo>
                    <a:pt x="8115300" y="2971800"/>
                  </a:lnTo>
                  <a:lnTo>
                    <a:pt x="495312" y="2971800"/>
                  </a:lnTo>
                  <a:lnTo>
                    <a:pt x="447610" y="2969532"/>
                  </a:lnTo>
                  <a:lnTo>
                    <a:pt x="401190" y="2962869"/>
                  </a:lnTo>
                  <a:lnTo>
                    <a:pt x="356261" y="2952017"/>
                  </a:lnTo>
                  <a:lnTo>
                    <a:pt x="313030" y="2937184"/>
                  </a:lnTo>
                  <a:lnTo>
                    <a:pt x="271705" y="2918577"/>
                  </a:lnTo>
                  <a:lnTo>
                    <a:pt x="232493" y="2896405"/>
                  </a:lnTo>
                  <a:lnTo>
                    <a:pt x="195603" y="2870874"/>
                  </a:lnTo>
                  <a:lnTo>
                    <a:pt x="161240" y="2842192"/>
                  </a:lnTo>
                  <a:lnTo>
                    <a:pt x="129613" y="2810566"/>
                  </a:lnTo>
                  <a:lnTo>
                    <a:pt x="100930" y="2776205"/>
                  </a:lnTo>
                  <a:lnTo>
                    <a:pt x="75398" y="2739315"/>
                  </a:lnTo>
                  <a:lnTo>
                    <a:pt x="53224" y="2700104"/>
                  </a:lnTo>
                  <a:lnTo>
                    <a:pt x="34617" y="2658780"/>
                  </a:lnTo>
                  <a:lnTo>
                    <a:pt x="19783" y="2615550"/>
                  </a:lnTo>
                  <a:lnTo>
                    <a:pt x="8931" y="2570621"/>
                  </a:lnTo>
                  <a:lnTo>
                    <a:pt x="2267" y="2524202"/>
                  </a:lnTo>
                  <a:lnTo>
                    <a:pt x="0" y="2476500"/>
                  </a:lnTo>
                  <a:lnTo>
                    <a:pt x="0" y="495300"/>
                  </a:lnTo>
                  <a:close/>
                </a:path>
              </a:pathLst>
            </a:custGeom>
            <a:ln w="25908">
              <a:solidFill>
                <a:srgbClr val="385D89"/>
              </a:solidFill>
            </a:ln>
          </p:spPr>
          <p:txBody>
            <a:bodyPr wrap="square" lIns="0" tIns="0" rIns="0" bIns="0" rtlCol="0"/>
            <a:lstStyle/>
            <a:p>
              <a:endParaRPr/>
            </a:p>
          </p:txBody>
        </p:sp>
      </p:grpSp>
      <p:sp>
        <p:nvSpPr>
          <p:cNvPr id="5" name="object 5"/>
          <p:cNvSpPr txBox="1"/>
          <p:nvPr/>
        </p:nvSpPr>
        <p:spPr>
          <a:xfrm>
            <a:off x="376224" y="810513"/>
            <a:ext cx="7330440" cy="1974258"/>
          </a:xfrm>
          <a:prstGeom prst="rect">
            <a:avLst/>
          </a:prstGeom>
        </p:spPr>
        <p:txBody>
          <a:bodyPr vert="horz" wrap="square" lIns="0" tIns="12065" rIns="0" bIns="0" rtlCol="0">
            <a:spAutoFit/>
          </a:bodyPr>
          <a:lstStyle/>
          <a:p>
            <a:pPr marL="12700">
              <a:lnSpc>
                <a:spcPct val="100000"/>
              </a:lnSpc>
              <a:spcBef>
                <a:spcPts val="95"/>
              </a:spcBef>
            </a:pPr>
            <a:r>
              <a:rPr sz="2800" b="1" spc="-20" dirty="0">
                <a:uFill>
                  <a:solidFill>
                    <a:srgbClr val="FFFFFF"/>
                  </a:solidFill>
                </a:uFill>
                <a:latin typeface="Carlito"/>
                <a:cs typeface="Carlito"/>
              </a:rPr>
              <a:t>Advantages:</a:t>
            </a:r>
            <a:endParaRPr sz="2800" dirty="0">
              <a:latin typeface="Carlito"/>
              <a:cs typeface="Carlito"/>
            </a:endParaRPr>
          </a:p>
          <a:p>
            <a:pPr>
              <a:lnSpc>
                <a:spcPct val="100000"/>
              </a:lnSpc>
              <a:spcBef>
                <a:spcPts val="30"/>
              </a:spcBef>
            </a:pPr>
            <a:endParaRPr sz="2750" dirty="0">
              <a:latin typeface="Carlito"/>
              <a:cs typeface="Carlito"/>
            </a:endParaRPr>
          </a:p>
          <a:p>
            <a:pPr marL="299085" indent="-287020">
              <a:lnSpc>
                <a:spcPct val="100000"/>
              </a:lnSpc>
              <a:buFont typeface="Wingdings"/>
              <a:buChar char=""/>
              <a:tabLst>
                <a:tab pos="299720" algn="l"/>
              </a:tabLst>
            </a:pPr>
            <a:r>
              <a:rPr sz="2400" dirty="0">
                <a:latin typeface="Carlito"/>
                <a:cs typeface="Carlito"/>
              </a:rPr>
              <a:t>Analytical and</a:t>
            </a:r>
            <a:r>
              <a:rPr sz="2400" spc="-35" dirty="0">
                <a:latin typeface="Carlito"/>
                <a:cs typeface="Carlito"/>
              </a:rPr>
              <a:t> </a:t>
            </a:r>
            <a:r>
              <a:rPr sz="2400" spc="-10" dirty="0">
                <a:latin typeface="Carlito"/>
                <a:cs typeface="Carlito"/>
              </a:rPr>
              <a:t>objective</a:t>
            </a:r>
            <a:endParaRPr sz="2400" dirty="0">
              <a:latin typeface="Carlito"/>
              <a:cs typeface="Carlito"/>
            </a:endParaRPr>
          </a:p>
          <a:p>
            <a:pPr marL="299085" indent="-287020">
              <a:lnSpc>
                <a:spcPct val="100000"/>
              </a:lnSpc>
              <a:spcBef>
                <a:spcPts val="5"/>
              </a:spcBef>
              <a:buFont typeface="Wingdings"/>
              <a:buChar char=""/>
              <a:tabLst>
                <a:tab pos="299720" algn="l"/>
              </a:tabLst>
            </a:pPr>
            <a:r>
              <a:rPr sz="2400" spc="-5" dirty="0">
                <a:latin typeface="Carlito"/>
                <a:cs typeface="Carlito"/>
              </a:rPr>
              <a:t>Reliable </a:t>
            </a:r>
            <a:r>
              <a:rPr sz="2400" dirty="0">
                <a:latin typeface="Carlito"/>
                <a:cs typeface="Carlito"/>
              </a:rPr>
              <a:t>and </a:t>
            </a:r>
            <a:r>
              <a:rPr sz="2400" spc="-10" dirty="0">
                <a:latin typeface="Carlito"/>
                <a:cs typeface="Carlito"/>
              </a:rPr>
              <a:t>valid </a:t>
            </a:r>
            <a:r>
              <a:rPr sz="2400" dirty="0">
                <a:latin typeface="Carlito"/>
                <a:cs typeface="Carlito"/>
              </a:rPr>
              <a:t>as each </a:t>
            </a:r>
            <a:r>
              <a:rPr sz="2400" spc="-5" dirty="0">
                <a:latin typeface="Carlito"/>
                <a:cs typeface="Carlito"/>
              </a:rPr>
              <a:t>job </a:t>
            </a:r>
            <a:r>
              <a:rPr sz="2400" dirty="0">
                <a:latin typeface="Carlito"/>
                <a:cs typeface="Carlito"/>
              </a:rPr>
              <a:t>is </a:t>
            </a:r>
            <a:r>
              <a:rPr sz="2400" spc="-10" dirty="0">
                <a:latin typeface="Carlito"/>
                <a:cs typeface="Carlito"/>
              </a:rPr>
              <a:t>compared </a:t>
            </a:r>
            <a:r>
              <a:rPr sz="2400" dirty="0">
                <a:latin typeface="Carlito"/>
                <a:cs typeface="Carlito"/>
              </a:rPr>
              <a:t>with </a:t>
            </a:r>
            <a:r>
              <a:rPr sz="2400" spc="-5" dirty="0">
                <a:latin typeface="Carlito"/>
                <a:cs typeface="Carlito"/>
              </a:rPr>
              <a:t>other</a:t>
            </a:r>
            <a:r>
              <a:rPr sz="2400" spc="-135" dirty="0">
                <a:latin typeface="Carlito"/>
                <a:cs typeface="Carlito"/>
              </a:rPr>
              <a:t> </a:t>
            </a:r>
            <a:r>
              <a:rPr sz="2400" spc="-5" dirty="0">
                <a:latin typeface="Carlito"/>
                <a:cs typeface="Carlito"/>
              </a:rPr>
              <a:t>job</a:t>
            </a:r>
            <a:endParaRPr sz="2400" dirty="0">
              <a:latin typeface="Carlito"/>
              <a:cs typeface="Carlito"/>
            </a:endParaRPr>
          </a:p>
        </p:txBody>
      </p:sp>
      <p:grpSp>
        <p:nvGrpSpPr>
          <p:cNvPr id="6" name="object 6"/>
          <p:cNvGrpSpPr/>
          <p:nvPr/>
        </p:nvGrpSpPr>
        <p:grpSpPr>
          <a:xfrm>
            <a:off x="140207" y="3340608"/>
            <a:ext cx="8712835" cy="3378835"/>
            <a:chOff x="140207" y="3340608"/>
            <a:chExt cx="8712835" cy="3378835"/>
          </a:xfrm>
        </p:grpSpPr>
        <p:sp>
          <p:nvSpPr>
            <p:cNvPr id="7" name="object 7"/>
            <p:cNvSpPr/>
            <p:nvPr/>
          </p:nvSpPr>
          <p:spPr>
            <a:xfrm>
              <a:off x="153161" y="3353562"/>
              <a:ext cx="8686800" cy="3352800"/>
            </a:xfrm>
            <a:custGeom>
              <a:avLst/>
              <a:gdLst/>
              <a:ahLst/>
              <a:cxnLst/>
              <a:rect l="l" t="t" r="r" b="b"/>
              <a:pathLst>
                <a:path w="8686800" h="3352800">
                  <a:moveTo>
                    <a:pt x="8128000" y="0"/>
                  </a:moveTo>
                  <a:lnTo>
                    <a:pt x="558812" y="0"/>
                  </a:lnTo>
                  <a:lnTo>
                    <a:pt x="510596" y="2051"/>
                  </a:lnTo>
                  <a:lnTo>
                    <a:pt x="463518" y="8092"/>
                  </a:lnTo>
                  <a:lnTo>
                    <a:pt x="417748" y="17957"/>
                  </a:lnTo>
                  <a:lnTo>
                    <a:pt x="373451" y="31476"/>
                  </a:lnTo>
                  <a:lnTo>
                    <a:pt x="330797" y="48483"/>
                  </a:lnTo>
                  <a:lnTo>
                    <a:pt x="289953" y="68809"/>
                  </a:lnTo>
                  <a:lnTo>
                    <a:pt x="251086" y="92288"/>
                  </a:lnTo>
                  <a:lnTo>
                    <a:pt x="214365" y="118750"/>
                  </a:lnTo>
                  <a:lnTo>
                    <a:pt x="179957" y="148028"/>
                  </a:lnTo>
                  <a:lnTo>
                    <a:pt x="148029" y="179955"/>
                  </a:lnTo>
                  <a:lnTo>
                    <a:pt x="118751" y="214362"/>
                  </a:lnTo>
                  <a:lnTo>
                    <a:pt x="92288" y="251083"/>
                  </a:lnTo>
                  <a:lnTo>
                    <a:pt x="68810" y="289949"/>
                  </a:lnTo>
                  <a:lnTo>
                    <a:pt x="48483" y="330792"/>
                  </a:lnTo>
                  <a:lnTo>
                    <a:pt x="31477" y="373445"/>
                  </a:lnTo>
                  <a:lnTo>
                    <a:pt x="17957" y="417740"/>
                  </a:lnTo>
                  <a:lnTo>
                    <a:pt x="8092" y="463509"/>
                  </a:lnTo>
                  <a:lnTo>
                    <a:pt x="2051" y="510585"/>
                  </a:lnTo>
                  <a:lnTo>
                    <a:pt x="0" y="558800"/>
                  </a:lnTo>
                  <a:lnTo>
                    <a:pt x="0" y="2793987"/>
                  </a:lnTo>
                  <a:lnTo>
                    <a:pt x="2051" y="2842203"/>
                  </a:lnTo>
                  <a:lnTo>
                    <a:pt x="8092" y="2889281"/>
                  </a:lnTo>
                  <a:lnTo>
                    <a:pt x="17957" y="2935051"/>
                  </a:lnTo>
                  <a:lnTo>
                    <a:pt x="31477" y="2979348"/>
                  </a:lnTo>
                  <a:lnTo>
                    <a:pt x="48483" y="3022002"/>
                  </a:lnTo>
                  <a:lnTo>
                    <a:pt x="68810" y="3062846"/>
                  </a:lnTo>
                  <a:lnTo>
                    <a:pt x="92288" y="3101713"/>
                  </a:lnTo>
                  <a:lnTo>
                    <a:pt x="118751" y="3138434"/>
                  </a:lnTo>
                  <a:lnTo>
                    <a:pt x="148029" y="3172842"/>
                  </a:lnTo>
                  <a:lnTo>
                    <a:pt x="179957" y="3204770"/>
                  </a:lnTo>
                  <a:lnTo>
                    <a:pt x="214365" y="3234048"/>
                  </a:lnTo>
                  <a:lnTo>
                    <a:pt x="251086" y="3260511"/>
                  </a:lnTo>
                  <a:lnTo>
                    <a:pt x="289953" y="3283989"/>
                  </a:lnTo>
                  <a:lnTo>
                    <a:pt x="330797" y="3304316"/>
                  </a:lnTo>
                  <a:lnTo>
                    <a:pt x="373451" y="3321322"/>
                  </a:lnTo>
                  <a:lnTo>
                    <a:pt x="417748" y="3334842"/>
                  </a:lnTo>
                  <a:lnTo>
                    <a:pt x="463518" y="3344707"/>
                  </a:lnTo>
                  <a:lnTo>
                    <a:pt x="510596" y="3350748"/>
                  </a:lnTo>
                  <a:lnTo>
                    <a:pt x="558812" y="3352800"/>
                  </a:lnTo>
                  <a:lnTo>
                    <a:pt x="8128000" y="3352800"/>
                  </a:lnTo>
                  <a:lnTo>
                    <a:pt x="8176214" y="3350748"/>
                  </a:lnTo>
                  <a:lnTo>
                    <a:pt x="8223290" y="3344707"/>
                  </a:lnTo>
                  <a:lnTo>
                    <a:pt x="8269059" y="3334842"/>
                  </a:lnTo>
                  <a:lnTo>
                    <a:pt x="8313354" y="3321322"/>
                  </a:lnTo>
                  <a:lnTo>
                    <a:pt x="8356007" y="3304316"/>
                  </a:lnTo>
                  <a:lnTo>
                    <a:pt x="8396850" y="3283989"/>
                  </a:lnTo>
                  <a:lnTo>
                    <a:pt x="8435716" y="3260511"/>
                  </a:lnTo>
                  <a:lnTo>
                    <a:pt x="8472437" y="3234048"/>
                  </a:lnTo>
                  <a:lnTo>
                    <a:pt x="8506844" y="3204770"/>
                  </a:lnTo>
                  <a:lnTo>
                    <a:pt x="8538771" y="3172842"/>
                  </a:lnTo>
                  <a:lnTo>
                    <a:pt x="8568049" y="3138434"/>
                  </a:lnTo>
                  <a:lnTo>
                    <a:pt x="8594511" y="3101713"/>
                  </a:lnTo>
                  <a:lnTo>
                    <a:pt x="8617990" y="3062846"/>
                  </a:lnTo>
                  <a:lnTo>
                    <a:pt x="8638316" y="3022002"/>
                  </a:lnTo>
                  <a:lnTo>
                    <a:pt x="8655323" y="2979348"/>
                  </a:lnTo>
                  <a:lnTo>
                    <a:pt x="8668842" y="2935051"/>
                  </a:lnTo>
                  <a:lnTo>
                    <a:pt x="8678707" y="2889281"/>
                  </a:lnTo>
                  <a:lnTo>
                    <a:pt x="8684748" y="2842203"/>
                  </a:lnTo>
                  <a:lnTo>
                    <a:pt x="8686800" y="2793987"/>
                  </a:lnTo>
                  <a:lnTo>
                    <a:pt x="8686800" y="558800"/>
                  </a:lnTo>
                  <a:lnTo>
                    <a:pt x="8684748" y="510585"/>
                  </a:lnTo>
                  <a:lnTo>
                    <a:pt x="8678707" y="463509"/>
                  </a:lnTo>
                  <a:lnTo>
                    <a:pt x="8668842" y="417740"/>
                  </a:lnTo>
                  <a:lnTo>
                    <a:pt x="8655323" y="373445"/>
                  </a:lnTo>
                  <a:lnTo>
                    <a:pt x="8638316" y="330792"/>
                  </a:lnTo>
                  <a:lnTo>
                    <a:pt x="8617990" y="289949"/>
                  </a:lnTo>
                  <a:lnTo>
                    <a:pt x="8594511" y="251083"/>
                  </a:lnTo>
                  <a:lnTo>
                    <a:pt x="8568049" y="214362"/>
                  </a:lnTo>
                  <a:lnTo>
                    <a:pt x="8538771" y="179955"/>
                  </a:lnTo>
                  <a:lnTo>
                    <a:pt x="8506844" y="148028"/>
                  </a:lnTo>
                  <a:lnTo>
                    <a:pt x="8472437" y="118750"/>
                  </a:lnTo>
                  <a:lnTo>
                    <a:pt x="8435716" y="92288"/>
                  </a:lnTo>
                  <a:lnTo>
                    <a:pt x="8396850" y="68809"/>
                  </a:lnTo>
                  <a:lnTo>
                    <a:pt x="8356007" y="48483"/>
                  </a:lnTo>
                  <a:lnTo>
                    <a:pt x="8313354" y="31476"/>
                  </a:lnTo>
                  <a:lnTo>
                    <a:pt x="8269059" y="17957"/>
                  </a:lnTo>
                  <a:lnTo>
                    <a:pt x="8223290" y="8092"/>
                  </a:lnTo>
                  <a:lnTo>
                    <a:pt x="8176214" y="2051"/>
                  </a:lnTo>
                  <a:lnTo>
                    <a:pt x="8128000" y="0"/>
                  </a:lnTo>
                  <a:close/>
                </a:path>
              </a:pathLst>
            </a:custGeom>
            <a:solidFill>
              <a:srgbClr val="4F81BC"/>
            </a:solidFill>
          </p:spPr>
          <p:txBody>
            <a:bodyPr wrap="square" lIns="0" tIns="0" rIns="0" bIns="0" rtlCol="0"/>
            <a:lstStyle/>
            <a:p>
              <a:endParaRPr/>
            </a:p>
          </p:txBody>
        </p:sp>
        <p:sp>
          <p:nvSpPr>
            <p:cNvPr id="8" name="object 8"/>
            <p:cNvSpPr/>
            <p:nvPr/>
          </p:nvSpPr>
          <p:spPr>
            <a:xfrm>
              <a:off x="153161" y="3353562"/>
              <a:ext cx="8686800" cy="3352800"/>
            </a:xfrm>
            <a:custGeom>
              <a:avLst/>
              <a:gdLst/>
              <a:ahLst/>
              <a:cxnLst/>
              <a:rect l="l" t="t" r="r" b="b"/>
              <a:pathLst>
                <a:path w="8686800" h="3352800">
                  <a:moveTo>
                    <a:pt x="0" y="558800"/>
                  </a:moveTo>
                  <a:lnTo>
                    <a:pt x="2051" y="510585"/>
                  </a:lnTo>
                  <a:lnTo>
                    <a:pt x="8092" y="463509"/>
                  </a:lnTo>
                  <a:lnTo>
                    <a:pt x="17957" y="417740"/>
                  </a:lnTo>
                  <a:lnTo>
                    <a:pt x="31477" y="373445"/>
                  </a:lnTo>
                  <a:lnTo>
                    <a:pt x="48483" y="330792"/>
                  </a:lnTo>
                  <a:lnTo>
                    <a:pt x="68810" y="289949"/>
                  </a:lnTo>
                  <a:lnTo>
                    <a:pt x="92288" y="251083"/>
                  </a:lnTo>
                  <a:lnTo>
                    <a:pt x="118751" y="214362"/>
                  </a:lnTo>
                  <a:lnTo>
                    <a:pt x="148029" y="179955"/>
                  </a:lnTo>
                  <a:lnTo>
                    <a:pt x="179957" y="148028"/>
                  </a:lnTo>
                  <a:lnTo>
                    <a:pt x="214365" y="118750"/>
                  </a:lnTo>
                  <a:lnTo>
                    <a:pt x="251086" y="92288"/>
                  </a:lnTo>
                  <a:lnTo>
                    <a:pt x="289953" y="68809"/>
                  </a:lnTo>
                  <a:lnTo>
                    <a:pt x="330797" y="48483"/>
                  </a:lnTo>
                  <a:lnTo>
                    <a:pt x="373451" y="31476"/>
                  </a:lnTo>
                  <a:lnTo>
                    <a:pt x="417748" y="17957"/>
                  </a:lnTo>
                  <a:lnTo>
                    <a:pt x="463518" y="8092"/>
                  </a:lnTo>
                  <a:lnTo>
                    <a:pt x="510596" y="2051"/>
                  </a:lnTo>
                  <a:lnTo>
                    <a:pt x="558812" y="0"/>
                  </a:lnTo>
                  <a:lnTo>
                    <a:pt x="8128000" y="0"/>
                  </a:lnTo>
                  <a:lnTo>
                    <a:pt x="8176214" y="2051"/>
                  </a:lnTo>
                  <a:lnTo>
                    <a:pt x="8223290" y="8092"/>
                  </a:lnTo>
                  <a:lnTo>
                    <a:pt x="8269059" y="17957"/>
                  </a:lnTo>
                  <a:lnTo>
                    <a:pt x="8313354" y="31476"/>
                  </a:lnTo>
                  <a:lnTo>
                    <a:pt x="8356007" y="48483"/>
                  </a:lnTo>
                  <a:lnTo>
                    <a:pt x="8396850" y="68809"/>
                  </a:lnTo>
                  <a:lnTo>
                    <a:pt x="8435716" y="92288"/>
                  </a:lnTo>
                  <a:lnTo>
                    <a:pt x="8472437" y="118750"/>
                  </a:lnTo>
                  <a:lnTo>
                    <a:pt x="8506844" y="148028"/>
                  </a:lnTo>
                  <a:lnTo>
                    <a:pt x="8538771" y="179955"/>
                  </a:lnTo>
                  <a:lnTo>
                    <a:pt x="8568049" y="214362"/>
                  </a:lnTo>
                  <a:lnTo>
                    <a:pt x="8594511" y="251083"/>
                  </a:lnTo>
                  <a:lnTo>
                    <a:pt x="8617990" y="289949"/>
                  </a:lnTo>
                  <a:lnTo>
                    <a:pt x="8638316" y="330792"/>
                  </a:lnTo>
                  <a:lnTo>
                    <a:pt x="8655323" y="373445"/>
                  </a:lnTo>
                  <a:lnTo>
                    <a:pt x="8668842" y="417740"/>
                  </a:lnTo>
                  <a:lnTo>
                    <a:pt x="8678707" y="463509"/>
                  </a:lnTo>
                  <a:lnTo>
                    <a:pt x="8684748" y="510585"/>
                  </a:lnTo>
                  <a:lnTo>
                    <a:pt x="8686800" y="558800"/>
                  </a:lnTo>
                  <a:lnTo>
                    <a:pt x="8686800" y="2793987"/>
                  </a:lnTo>
                  <a:lnTo>
                    <a:pt x="8684748" y="2842203"/>
                  </a:lnTo>
                  <a:lnTo>
                    <a:pt x="8678707" y="2889281"/>
                  </a:lnTo>
                  <a:lnTo>
                    <a:pt x="8668842" y="2935051"/>
                  </a:lnTo>
                  <a:lnTo>
                    <a:pt x="8655323" y="2979348"/>
                  </a:lnTo>
                  <a:lnTo>
                    <a:pt x="8638316" y="3022002"/>
                  </a:lnTo>
                  <a:lnTo>
                    <a:pt x="8617990" y="3062846"/>
                  </a:lnTo>
                  <a:lnTo>
                    <a:pt x="8594511" y="3101713"/>
                  </a:lnTo>
                  <a:lnTo>
                    <a:pt x="8568049" y="3138434"/>
                  </a:lnTo>
                  <a:lnTo>
                    <a:pt x="8538771" y="3172842"/>
                  </a:lnTo>
                  <a:lnTo>
                    <a:pt x="8506844" y="3204770"/>
                  </a:lnTo>
                  <a:lnTo>
                    <a:pt x="8472437" y="3234048"/>
                  </a:lnTo>
                  <a:lnTo>
                    <a:pt x="8435716" y="3260511"/>
                  </a:lnTo>
                  <a:lnTo>
                    <a:pt x="8396850" y="3283989"/>
                  </a:lnTo>
                  <a:lnTo>
                    <a:pt x="8356007" y="3304316"/>
                  </a:lnTo>
                  <a:lnTo>
                    <a:pt x="8313354" y="3321322"/>
                  </a:lnTo>
                  <a:lnTo>
                    <a:pt x="8269059" y="3334842"/>
                  </a:lnTo>
                  <a:lnTo>
                    <a:pt x="8223290" y="3344707"/>
                  </a:lnTo>
                  <a:lnTo>
                    <a:pt x="8176214" y="3350748"/>
                  </a:lnTo>
                  <a:lnTo>
                    <a:pt x="8128000" y="3352800"/>
                  </a:lnTo>
                  <a:lnTo>
                    <a:pt x="558812" y="3352800"/>
                  </a:lnTo>
                  <a:lnTo>
                    <a:pt x="510596" y="3350748"/>
                  </a:lnTo>
                  <a:lnTo>
                    <a:pt x="463518" y="3344707"/>
                  </a:lnTo>
                  <a:lnTo>
                    <a:pt x="417748" y="3334842"/>
                  </a:lnTo>
                  <a:lnTo>
                    <a:pt x="373451" y="3321322"/>
                  </a:lnTo>
                  <a:lnTo>
                    <a:pt x="330797" y="3304316"/>
                  </a:lnTo>
                  <a:lnTo>
                    <a:pt x="289953" y="3283989"/>
                  </a:lnTo>
                  <a:lnTo>
                    <a:pt x="251086" y="3260511"/>
                  </a:lnTo>
                  <a:lnTo>
                    <a:pt x="214365" y="3234048"/>
                  </a:lnTo>
                  <a:lnTo>
                    <a:pt x="179957" y="3204770"/>
                  </a:lnTo>
                  <a:lnTo>
                    <a:pt x="148029" y="3172842"/>
                  </a:lnTo>
                  <a:lnTo>
                    <a:pt x="118751" y="3138434"/>
                  </a:lnTo>
                  <a:lnTo>
                    <a:pt x="92288" y="3101713"/>
                  </a:lnTo>
                  <a:lnTo>
                    <a:pt x="68810" y="3062846"/>
                  </a:lnTo>
                  <a:lnTo>
                    <a:pt x="48483" y="3022002"/>
                  </a:lnTo>
                  <a:lnTo>
                    <a:pt x="31477" y="2979348"/>
                  </a:lnTo>
                  <a:lnTo>
                    <a:pt x="17957" y="2935051"/>
                  </a:lnTo>
                  <a:lnTo>
                    <a:pt x="8092" y="2889281"/>
                  </a:lnTo>
                  <a:lnTo>
                    <a:pt x="2051" y="2842203"/>
                  </a:lnTo>
                  <a:lnTo>
                    <a:pt x="0" y="2793987"/>
                  </a:lnTo>
                  <a:lnTo>
                    <a:pt x="0" y="558800"/>
                  </a:lnTo>
                  <a:close/>
                </a:path>
              </a:pathLst>
            </a:custGeom>
            <a:ln w="25908">
              <a:solidFill>
                <a:srgbClr val="385D89"/>
              </a:solidFill>
            </a:ln>
          </p:spPr>
          <p:txBody>
            <a:bodyPr wrap="square" lIns="0" tIns="0" rIns="0" bIns="0" rtlCol="0"/>
            <a:lstStyle/>
            <a:p>
              <a:endParaRPr/>
            </a:p>
          </p:txBody>
        </p:sp>
      </p:grpSp>
      <p:sp>
        <p:nvSpPr>
          <p:cNvPr id="9" name="object 9"/>
          <p:cNvSpPr txBox="1"/>
          <p:nvPr/>
        </p:nvSpPr>
        <p:spPr>
          <a:xfrm>
            <a:off x="394817" y="3836289"/>
            <a:ext cx="8018145" cy="2343590"/>
          </a:xfrm>
          <a:prstGeom prst="rect">
            <a:avLst/>
          </a:prstGeom>
        </p:spPr>
        <p:txBody>
          <a:bodyPr vert="horz" wrap="square" lIns="0" tIns="12065" rIns="0" bIns="0" rtlCol="0">
            <a:spAutoFit/>
          </a:bodyPr>
          <a:lstStyle/>
          <a:p>
            <a:pPr marL="12700">
              <a:lnSpc>
                <a:spcPct val="100000"/>
              </a:lnSpc>
              <a:spcBef>
                <a:spcPts val="95"/>
              </a:spcBef>
            </a:pPr>
            <a:r>
              <a:rPr sz="2800" b="1" spc="-15" dirty="0">
                <a:uFill>
                  <a:solidFill>
                    <a:srgbClr val="FFFFFF"/>
                  </a:solidFill>
                </a:uFill>
                <a:latin typeface="Carlito"/>
                <a:cs typeface="Carlito"/>
              </a:rPr>
              <a:t>Disadvantages</a:t>
            </a:r>
            <a:endParaRPr sz="2800" dirty="0">
              <a:latin typeface="Carlito"/>
              <a:cs typeface="Carlito"/>
            </a:endParaRPr>
          </a:p>
          <a:p>
            <a:pPr>
              <a:lnSpc>
                <a:spcPct val="100000"/>
              </a:lnSpc>
              <a:spcBef>
                <a:spcPts val="30"/>
              </a:spcBef>
            </a:pPr>
            <a:endParaRPr sz="2750" dirty="0">
              <a:latin typeface="Carlito"/>
              <a:cs typeface="Carlito"/>
            </a:endParaRPr>
          </a:p>
          <a:p>
            <a:pPr marL="299085" indent="-287020">
              <a:lnSpc>
                <a:spcPct val="100000"/>
              </a:lnSpc>
              <a:buFont typeface="Wingdings"/>
              <a:buChar char=""/>
              <a:tabLst>
                <a:tab pos="299720" algn="l"/>
              </a:tabLst>
            </a:pPr>
            <a:r>
              <a:rPr sz="2400" dirty="0">
                <a:latin typeface="Carlito"/>
                <a:cs typeface="Carlito"/>
              </a:rPr>
              <a:t>It is </a:t>
            </a:r>
            <a:r>
              <a:rPr sz="2400" spc="-10" dirty="0">
                <a:latin typeface="Carlito"/>
                <a:cs typeface="Carlito"/>
              </a:rPr>
              <a:t>difficult </a:t>
            </a:r>
            <a:r>
              <a:rPr sz="2400" spc="-15" dirty="0">
                <a:latin typeface="Carlito"/>
                <a:cs typeface="Carlito"/>
              </a:rPr>
              <a:t>to understand </a:t>
            </a:r>
            <a:r>
              <a:rPr sz="2400" dirty="0">
                <a:latin typeface="Carlito"/>
                <a:cs typeface="Carlito"/>
              </a:rPr>
              <a:t>and</a:t>
            </a:r>
            <a:r>
              <a:rPr sz="2400" spc="-20" dirty="0">
                <a:latin typeface="Carlito"/>
                <a:cs typeface="Carlito"/>
              </a:rPr>
              <a:t> </a:t>
            </a:r>
            <a:r>
              <a:rPr sz="2400" spc="-10" dirty="0">
                <a:latin typeface="Carlito"/>
                <a:cs typeface="Carlito"/>
              </a:rPr>
              <a:t>explain</a:t>
            </a:r>
            <a:endParaRPr sz="2400" dirty="0">
              <a:latin typeface="Carlito"/>
              <a:cs typeface="Carlito"/>
            </a:endParaRPr>
          </a:p>
          <a:p>
            <a:pPr marL="299085" indent="-287020">
              <a:lnSpc>
                <a:spcPct val="100000"/>
              </a:lnSpc>
              <a:buFont typeface="Wingdings"/>
              <a:buChar char=""/>
              <a:tabLst>
                <a:tab pos="299720" algn="l"/>
                <a:tab pos="5286375" algn="l"/>
              </a:tabLst>
            </a:pPr>
            <a:r>
              <a:rPr sz="2400" spc="-5" dirty="0">
                <a:latin typeface="Carlito"/>
                <a:cs typeface="Carlito"/>
              </a:rPr>
              <a:t>Using </a:t>
            </a:r>
            <a:r>
              <a:rPr sz="2400" dirty="0">
                <a:latin typeface="Carlito"/>
                <a:cs typeface="Carlito"/>
              </a:rPr>
              <a:t>the </a:t>
            </a:r>
            <a:r>
              <a:rPr sz="2400" spc="-5" dirty="0">
                <a:latin typeface="Carlito"/>
                <a:cs typeface="Carlito"/>
              </a:rPr>
              <a:t>same criteria </a:t>
            </a:r>
            <a:r>
              <a:rPr sz="2400" spc="-15" dirty="0">
                <a:latin typeface="Carlito"/>
                <a:cs typeface="Carlito"/>
              </a:rPr>
              <a:t>to </a:t>
            </a:r>
            <a:r>
              <a:rPr sz="2400" dirty="0">
                <a:latin typeface="Carlito"/>
                <a:cs typeface="Carlito"/>
              </a:rPr>
              <a:t>access all</a:t>
            </a:r>
            <a:r>
              <a:rPr sz="2400" spc="-5" dirty="0">
                <a:latin typeface="Carlito"/>
                <a:cs typeface="Carlito"/>
              </a:rPr>
              <a:t> </a:t>
            </a:r>
            <a:r>
              <a:rPr sz="2400" spc="-5" dirty="0" smtClean="0">
                <a:latin typeface="Carlito"/>
                <a:cs typeface="Carlito"/>
              </a:rPr>
              <a:t>job</a:t>
            </a:r>
            <a:r>
              <a:rPr lang="en-IN" sz="2400" spc="-5" dirty="0" smtClean="0">
                <a:latin typeface="Carlito"/>
                <a:cs typeface="Carlito"/>
              </a:rPr>
              <a:t> </a:t>
            </a:r>
            <a:r>
              <a:rPr sz="2400" dirty="0" smtClean="0">
                <a:latin typeface="Carlito"/>
                <a:cs typeface="Carlito"/>
              </a:rPr>
              <a:t>is </a:t>
            </a:r>
            <a:r>
              <a:rPr sz="2400" spc="-5" dirty="0">
                <a:latin typeface="Carlito"/>
                <a:cs typeface="Carlito"/>
              </a:rPr>
              <a:t>not </a:t>
            </a:r>
            <a:r>
              <a:rPr sz="2400" spc="-15" dirty="0">
                <a:latin typeface="Carlito"/>
                <a:cs typeface="Carlito"/>
              </a:rPr>
              <a:t>accurate </a:t>
            </a:r>
            <a:r>
              <a:rPr sz="2400" dirty="0">
                <a:latin typeface="Carlito"/>
                <a:cs typeface="Carlito"/>
              </a:rPr>
              <a:t>as</a:t>
            </a:r>
            <a:r>
              <a:rPr sz="2400" spc="-75" dirty="0">
                <a:latin typeface="Carlito"/>
                <a:cs typeface="Carlito"/>
              </a:rPr>
              <a:t> </a:t>
            </a:r>
            <a:r>
              <a:rPr sz="2400" spc="-10" dirty="0" smtClean="0">
                <a:latin typeface="Carlito"/>
                <a:cs typeface="Carlito"/>
              </a:rPr>
              <a:t>jobs</a:t>
            </a:r>
            <a:r>
              <a:rPr lang="en-GB" sz="2400" spc="-10" dirty="0" smtClean="0">
                <a:latin typeface="Carlito"/>
                <a:cs typeface="Carlito"/>
              </a:rPr>
              <a:t> </a:t>
            </a:r>
            <a:r>
              <a:rPr sz="2400" spc="-20" dirty="0" smtClean="0">
                <a:latin typeface="Carlito"/>
                <a:cs typeface="Carlito"/>
              </a:rPr>
              <a:t>differ </a:t>
            </a:r>
            <a:r>
              <a:rPr sz="2400" dirty="0">
                <a:latin typeface="Carlito"/>
                <a:cs typeface="Carlito"/>
              </a:rPr>
              <a:t>within </a:t>
            </a:r>
            <a:r>
              <a:rPr sz="2400" spc="-15" dirty="0">
                <a:latin typeface="Carlito"/>
                <a:cs typeface="Carlito"/>
              </a:rPr>
              <a:t>organization </a:t>
            </a:r>
            <a:r>
              <a:rPr sz="2400" dirty="0">
                <a:latin typeface="Carlito"/>
                <a:cs typeface="Carlito"/>
              </a:rPr>
              <a:t>as with </a:t>
            </a:r>
            <a:r>
              <a:rPr sz="2400" spc="-10" dirty="0">
                <a:latin typeface="Carlito"/>
                <a:cs typeface="Carlito"/>
              </a:rPr>
              <a:t>point</a:t>
            </a:r>
            <a:r>
              <a:rPr sz="2400" spc="-15" dirty="0">
                <a:latin typeface="Carlito"/>
                <a:cs typeface="Carlito"/>
              </a:rPr>
              <a:t> </a:t>
            </a:r>
            <a:r>
              <a:rPr sz="2400" spc="-5" dirty="0">
                <a:latin typeface="Carlito"/>
                <a:cs typeface="Carlito"/>
              </a:rPr>
              <a:t>method.</a:t>
            </a:r>
            <a:endParaRPr sz="2400" dirty="0">
              <a:latin typeface="Carlito"/>
              <a:cs typeface="Carlito"/>
            </a:endParaRPr>
          </a:p>
          <a:p>
            <a:pPr marL="299085" indent="-287020">
              <a:lnSpc>
                <a:spcPct val="100000"/>
              </a:lnSpc>
              <a:buFont typeface="Wingdings"/>
              <a:buChar char=""/>
              <a:tabLst>
                <a:tab pos="299720" algn="l"/>
              </a:tabLst>
            </a:pPr>
            <a:r>
              <a:rPr sz="2400" spc="-5" dirty="0">
                <a:latin typeface="Carlito"/>
                <a:cs typeface="Carlito"/>
              </a:rPr>
              <a:t>Time </a:t>
            </a:r>
            <a:r>
              <a:rPr sz="2400" spc="-10" dirty="0">
                <a:latin typeface="Carlito"/>
                <a:cs typeface="Carlito"/>
              </a:rPr>
              <a:t>consuming </a:t>
            </a:r>
            <a:r>
              <a:rPr sz="2400" dirty="0">
                <a:latin typeface="Carlito"/>
                <a:cs typeface="Carlito"/>
              </a:rPr>
              <a:t>and</a:t>
            </a:r>
            <a:r>
              <a:rPr sz="2400" spc="-20" dirty="0">
                <a:latin typeface="Carlito"/>
                <a:cs typeface="Carlito"/>
              </a:rPr>
              <a:t> </a:t>
            </a:r>
            <a:r>
              <a:rPr sz="2400" spc="-35" dirty="0">
                <a:latin typeface="Carlito"/>
                <a:cs typeface="Carlito"/>
              </a:rPr>
              <a:t>costly.</a:t>
            </a:r>
            <a:endParaRPr sz="2400" dirty="0">
              <a:latin typeface="Carlito"/>
              <a:cs typeface="Carlito"/>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10" dirty="0" smtClean="0">
                <a:uFill>
                  <a:solidFill>
                    <a:srgbClr val="00AF50"/>
                  </a:solidFill>
                </a:uFill>
              </a:rPr>
              <a:t>Conclusion</a:t>
            </a:r>
            <a:endParaRPr lang="en-US" dirty="0"/>
          </a:p>
        </p:txBody>
      </p:sp>
      <p:sp>
        <p:nvSpPr>
          <p:cNvPr id="3" name="Content Placeholder 2"/>
          <p:cNvSpPr>
            <a:spLocks noGrp="1"/>
          </p:cNvSpPr>
          <p:nvPr>
            <p:ph idx="1"/>
          </p:nvPr>
        </p:nvSpPr>
        <p:spPr/>
        <p:txBody>
          <a:bodyPr/>
          <a:lstStyle/>
          <a:p>
            <a:r>
              <a:rPr lang="en-US" dirty="0" smtClean="0">
                <a:latin typeface="Carlito"/>
                <a:cs typeface="Carlito"/>
              </a:rPr>
              <a:t>A </a:t>
            </a:r>
            <a:r>
              <a:rPr lang="en-US" spc="-5" dirty="0" smtClean="0">
                <a:latin typeface="Carlito"/>
                <a:cs typeface="Carlito"/>
              </a:rPr>
              <a:t>job </a:t>
            </a:r>
            <a:r>
              <a:rPr lang="en-US" spc="-10" dirty="0" smtClean="0">
                <a:latin typeface="Carlito"/>
                <a:cs typeface="Carlito"/>
              </a:rPr>
              <a:t>evaluation </a:t>
            </a:r>
            <a:r>
              <a:rPr lang="en-US" spc="-5" dirty="0" smtClean="0">
                <a:latin typeface="Carlito"/>
                <a:cs typeface="Carlito"/>
              </a:rPr>
              <a:t>scheme should be </a:t>
            </a:r>
            <a:r>
              <a:rPr lang="en-US" dirty="0" smtClean="0">
                <a:latin typeface="Carlito"/>
                <a:cs typeface="Carlito"/>
              </a:rPr>
              <a:t>chosen  </a:t>
            </a:r>
            <a:r>
              <a:rPr lang="en-US" spc="-20" dirty="0" smtClean="0">
                <a:latin typeface="Carlito"/>
                <a:cs typeface="Carlito"/>
              </a:rPr>
              <a:t>cautiously. </a:t>
            </a:r>
            <a:r>
              <a:rPr lang="en-US" spc="-5" dirty="0" smtClean="0">
                <a:latin typeface="Carlito"/>
                <a:cs typeface="Carlito"/>
              </a:rPr>
              <a:t>It should be </a:t>
            </a:r>
            <a:r>
              <a:rPr lang="en-US" dirty="0" smtClean="0">
                <a:latin typeface="Carlito"/>
                <a:cs typeface="Carlito"/>
              </a:rPr>
              <a:t>devised and  </a:t>
            </a:r>
            <a:r>
              <a:rPr lang="en-US" spc="-10" dirty="0" smtClean="0">
                <a:latin typeface="Carlito"/>
                <a:cs typeface="Carlito"/>
              </a:rPr>
              <a:t>administered </a:t>
            </a:r>
            <a:r>
              <a:rPr lang="en-US" spc="-5" dirty="0" smtClean="0">
                <a:latin typeface="Carlito"/>
                <a:cs typeface="Carlito"/>
              </a:rPr>
              <a:t>on </a:t>
            </a:r>
            <a:r>
              <a:rPr lang="en-US" dirty="0" smtClean="0">
                <a:latin typeface="Carlito"/>
                <a:cs typeface="Carlito"/>
              </a:rPr>
              <a:t>the </a:t>
            </a:r>
            <a:r>
              <a:rPr lang="en-US" spc="-5" dirty="0" smtClean="0">
                <a:latin typeface="Carlito"/>
                <a:cs typeface="Carlito"/>
              </a:rPr>
              <a:t>basis of employment  </a:t>
            </a:r>
            <a:r>
              <a:rPr lang="en-US" spc="-15" dirty="0" smtClean="0">
                <a:latin typeface="Carlito"/>
                <a:cs typeface="Carlito"/>
              </a:rPr>
              <a:t>market, </a:t>
            </a:r>
            <a:r>
              <a:rPr lang="en-US" spc="-5" dirty="0" smtClean="0">
                <a:latin typeface="Carlito"/>
                <a:cs typeface="Carlito"/>
              </a:rPr>
              <a:t>demand </a:t>
            </a:r>
            <a:r>
              <a:rPr lang="en-US" spc="-20" dirty="0" smtClean="0">
                <a:latin typeface="Carlito"/>
                <a:cs typeface="Carlito"/>
              </a:rPr>
              <a:t>for </a:t>
            </a:r>
            <a:r>
              <a:rPr lang="en-US" spc="-35" dirty="0" smtClean="0">
                <a:latin typeface="Carlito"/>
                <a:cs typeface="Carlito"/>
              </a:rPr>
              <a:t>labor, </a:t>
            </a:r>
            <a:r>
              <a:rPr lang="en-US" spc="-10" dirty="0" smtClean="0">
                <a:latin typeface="Carlito"/>
                <a:cs typeface="Carlito"/>
              </a:rPr>
              <a:t>bargaining power  </a:t>
            </a:r>
            <a:r>
              <a:rPr lang="en-US" spc="-5" dirty="0" smtClean="0">
                <a:latin typeface="Carlito"/>
                <a:cs typeface="Carlito"/>
              </a:rPr>
              <a:t>of the parties </a:t>
            </a:r>
            <a:r>
              <a:rPr lang="en-US" dirty="0" smtClean="0">
                <a:latin typeface="Carlito"/>
                <a:cs typeface="Carlito"/>
              </a:rPr>
              <a:t>&amp; </a:t>
            </a:r>
            <a:r>
              <a:rPr lang="en-US" spc="-5" dirty="0" smtClean="0">
                <a:latin typeface="Carlito"/>
                <a:cs typeface="Carlito"/>
              </a:rPr>
              <a:t>job</a:t>
            </a:r>
            <a:r>
              <a:rPr lang="en-US" spc="-15" dirty="0" smtClean="0">
                <a:latin typeface="Carlito"/>
                <a:cs typeface="Carlito"/>
              </a:rPr>
              <a:t> </a:t>
            </a:r>
            <a:r>
              <a:rPr lang="en-US" spc="-10" dirty="0" smtClean="0">
                <a:latin typeface="Carlito"/>
                <a:cs typeface="Carlito"/>
              </a:rPr>
              <a:t>conditions</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Job satisfaction</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JOB SATISFACTION</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Job satisfaction is the feeling of pleasure and achievement which an employee experience at their job, when the work is worth doing, or the degree to which their works gives them satisfaction. </a:t>
            </a:r>
          </a:p>
          <a:p>
            <a:pPr algn="just"/>
            <a:r>
              <a:rPr lang="en-US" dirty="0" smtClean="0"/>
              <a:t>Job satisfaction is the collection of feelings and beliefs people have about their current jobs.</a:t>
            </a:r>
          </a:p>
          <a:p>
            <a:pPr algn="just"/>
            <a:r>
              <a:rPr lang="en-US" dirty="0" smtClean="0"/>
              <a:t>It defined as  the level of contentment a person feels regarding his or her job.</a:t>
            </a:r>
          </a:p>
          <a:p>
            <a:pPr algn="just"/>
            <a:r>
              <a:rPr lang="en-US" dirty="0" smtClean="0"/>
              <a:t> This feeling is mainly based on an individual's perception of satisfaction</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Measuring Job Satisfaction </a:t>
            </a:r>
            <a:endParaRPr lang="en-US" dirty="0"/>
          </a:p>
        </p:txBody>
      </p:sp>
      <p:sp>
        <p:nvSpPr>
          <p:cNvPr id="4" name="Content Placeholder 3"/>
          <p:cNvSpPr>
            <a:spLocks noGrp="1"/>
          </p:cNvSpPr>
          <p:nvPr>
            <p:ph sz="half" idx="2"/>
          </p:nvPr>
        </p:nvSpPr>
        <p:spPr>
          <a:xfrm>
            <a:off x="457200" y="1428736"/>
            <a:ext cx="4040188" cy="4697427"/>
          </a:xfrm>
        </p:spPr>
        <p:txBody>
          <a:bodyPr>
            <a:normAutofit/>
          </a:bodyPr>
          <a:lstStyle/>
          <a:p>
            <a:pPr algn="just"/>
            <a:r>
              <a:rPr lang="en-US" sz="2800" b="1" dirty="0" smtClean="0"/>
              <a:t>Summation score </a:t>
            </a:r>
          </a:p>
          <a:p>
            <a:pPr algn="just"/>
            <a:r>
              <a:rPr lang="en-US" sz="2800" dirty="0" smtClean="0"/>
              <a:t>Element considered are: the nature of work, supervision,</a:t>
            </a:r>
          </a:p>
          <a:p>
            <a:pPr algn="just"/>
            <a:r>
              <a:rPr lang="en-US" sz="2800" dirty="0" smtClean="0"/>
              <a:t> present pay, </a:t>
            </a:r>
          </a:p>
          <a:p>
            <a:pPr algn="just"/>
            <a:r>
              <a:rPr lang="en-US" sz="2800" dirty="0" smtClean="0"/>
              <a:t>promotion opportunities,</a:t>
            </a:r>
          </a:p>
          <a:p>
            <a:pPr algn="just"/>
            <a:r>
              <a:rPr lang="en-US" sz="2800" dirty="0" smtClean="0"/>
              <a:t> and relations with coworkers</a:t>
            </a:r>
          </a:p>
          <a:p>
            <a:endParaRPr lang="en-US" dirty="0"/>
          </a:p>
        </p:txBody>
      </p:sp>
      <p:pic>
        <p:nvPicPr>
          <p:cNvPr id="3074" name="Picture 2"/>
          <p:cNvPicPr>
            <a:picLocks noGrp="1" noChangeAspect="1" noChangeArrowheads="1"/>
          </p:cNvPicPr>
          <p:nvPr>
            <p:ph sz="quarter" idx="4"/>
          </p:nvPr>
        </p:nvPicPr>
        <p:blipFill>
          <a:blip r:embed="rId2" cstate="print"/>
          <a:srcRect/>
          <a:stretch>
            <a:fillRect/>
          </a:stretch>
        </p:blipFill>
        <p:spPr bwMode="auto">
          <a:xfrm>
            <a:off x="4786314" y="2643182"/>
            <a:ext cx="3900486" cy="300039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smtClean="0"/>
              <a:t>How Satisfied are People in their Jobs?</a:t>
            </a:r>
            <a:endParaRPr lang="en-US" dirty="0"/>
          </a:p>
        </p:txBody>
      </p:sp>
      <p:pic>
        <p:nvPicPr>
          <p:cNvPr id="4098" name="Picture 2"/>
          <p:cNvPicPr>
            <a:picLocks noGrp="1" noChangeAspect="1" noChangeArrowheads="1"/>
          </p:cNvPicPr>
          <p:nvPr>
            <p:ph idx="1"/>
          </p:nvPr>
        </p:nvPicPr>
        <p:blipFill>
          <a:blip r:embed="rId2" cstate="print"/>
          <a:srcRect/>
          <a:stretch>
            <a:fillRect/>
          </a:stretch>
        </p:blipFill>
        <p:spPr bwMode="auto">
          <a:xfrm>
            <a:off x="642910" y="1071547"/>
            <a:ext cx="7858180" cy="3214709"/>
          </a:xfrm>
          <a:prstGeom prst="rect">
            <a:avLst/>
          </a:prstGeom>
          <a:noFill/>
          <a:ln w="9525">
            <a:noFill/>
            <a:miter lim="800000"/>
            <a:headEnd/>
            <a:tailEnd/>
          </a:ln>
          <a:effectLst/>
        </p:spPr>
      </p:pic>
      <p:sp>
        <p:nvSpPr>
          <p:cNvPr id="13" name="TextBox 12"/>
          <p:cNvSpPr txBox="1"/>
          <p:nvPr/>
        </p:nvSpPr>
        <p:spPr>
          <a:xfrm>
            <a:off x="642910" y="4643446"/>
            <a:ext cx="8215370" cy="1815882"/>
          </a:xfrm>
          <a:prstGeom prst="rect">
            <a:avLst/>
          </a:prstGeom>
          <a:noFill/>
        </p:spPr>
        <p:txBody>
          <a:bodyPr wrap="square" rtlCol="0">
            <a:spAutoFit/>
          </a:bodyPr>
          <a:lstStyle/>
          <a:p>
            <a:pPr marL="179388" indent="-179388" algn="just">
              <a:buFont typeface="Arial" pitchFamily="34" charset="0"/>
              <a:buChar char="•"/>
            </a:pPr>
            <a:r>
              <a:rPr lang="en-US" sz="2800" dirty="0" smtClean="0"/>
              <a:t>People are on average-satisfied with their jobs with the work itself, with their supervisors and coworkers</a:t>
            </a:r>
          </a:p>
          <a:p>
            <a:pPr marL="179388" indent="-179388" algn="just">
              <a:buFont typeface="Arial" pitchFamily="34" charset="0"/>
              <a:buChar char="•"/>
            </a:pPr>
            <a:r>
              <a:rPr lang="en-US" sz="2800" dirty="0" smtClean="0"/>
              <a:t> However, they tend to be less satisfied with their pay and with promotion opportunities</a:t>
            </a:r>
            <a:endParaRPr lang="en-US" sz="28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causes Job Satisfaction? </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Their is strong correspondence between how well people enjoy the social context of their workplace and how satisfied they are overall. </a:t>
            </a:r>
          </a:p>
          <a:p>
            <a:pPr algn="just"/>
            <a:r>
              <a:rPr lang="en-US" dirty="0" smtClean="0"/>
              <a:t>Interdependence, feedback, social support and interaction with co-workers are strongly related to job satisfaction even after accounting for characteristics of work itself.</a:t>
            </a:r>
          </a:p>
          <a:p>
            <a:pPr algn="just"/>
            <a:r>
              <a:rPr lang="en-US" dirty="0" smtClean="0"/>
              <a:t>Pay comes up often when people discuss job satisfaction. For poor people or people living in poor countries pay does correlate with job satisfaction and overall happiness.</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483245"/>
          </a:xfrm>
        </p:spPr>
        <p:txBody>
          <a:bodyPr>
            <a:normAutofit lnSpcReduction="10000"/>
          </a:bodyPr>
          <a:lstStyle/>
          <a:p>
            <a:r>
              <a:rPr lang="en-US" dirty="0" smtClean="0"/>
              <a:t>Money does motivate people. But what motivates people is not necessarily the same as what makes them happy. </a:t>
            </a:r>
          </a:p>
          <a:p>
            <a:r>
              <a:rPr lang="en-US" dirty="0" smtClean="0"/>
              <a:t>Job satisfaction is not just about job conditions. </a:t>
            </a:r>
          </a:p>
          <a:p>
            <a:r>
              <a:rPr lang="en-US" dirty="0" smtClean="0"/>
              <a:t>Personality also plays a role.</a:t>
            </a:r>
          </a:p>
          <a:p>
            <a:r>
              <a:rPr lang="en-US" dirty="0" smtClean="0"/>
              <a:t>Research shows that people who has Positive core self-evaluation (who believe in their inner worth and basic competence) are more satisfied with their jobs than those with negative core self-evaluation.</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Job dissatisfaction </a:t>
            </a:r>
            <a:endParaRPr lang="en-US" dirty="0"/>
          </a:p>
        </p:txBody>
      </p:sp>
      <p:sp>
        <p:nvSpPr>
          <p:cNvPr id="3" name="Content Placeholder 2"/>
          <p:cNvSpPr>
            <a:spLocks noGrp="1"/>
          </p:cNvSpPr>
          <p:nvPr>
            <p:ph idx="1"/>
          </p:nvPr>
        </p:nvSpPr>
        <p:spPr/>
        <p:txBody>
          <a:bodyPr/>
          <a:lstStyle/>
          <a:p>
            <a:pPr algn="just"/>
            <a:r>
              <a:rPr lang="en-US" dirty="0" smtClean="0"/>
              <a:t>When employee Dislike their Jobs?</a:t>
            </a:r>
          </a:p>
          <a:p>
            <a:pPr algn="just"/>
            <a:r>
              <a:rPr lang="en-US" dirty="0" smtClean="0"/>
              <a:t> One theoretical model – the exit-voice-loyalty- neglect framework is helpful in understanding dissatisfaction. The four responses differ along two dimensions : </a:t>
            </a:r>
          </a:p>
          <a:p>
            <a:pPr marL="719138" indent="-179388" algn="just">
              <a:buFont typeface="Wingdings" pitchFamily="2" charset="2"/>
              <a:buChar char="§"/>
            </a:pPr>
            <a:r>
              <a:rPr lang="en-US" dirty="0" smtClean="0"/>
              <a:t>Constructive/destructive </a:t>
            </a:r>
          </a:p>
          <a:p>
            <a:pPr marL="719138" indent="-179388" algn="just">
              <a:buFont typeface="Wingdings" pitchFamily="2" charset="2"/>
              <a:buChar char="§"/>
            </a:pPr>
            <a:r>
              <a:rPr lang="en-US" dirty="0" smtClean="0"/>
              <a:t>Active/ passive</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r>
              <a:rPr lang="en-US" sz="4000" dirty="0" smtClean="0"/>
              <a:t>Impact of Satisfied and Dissatisfied Employees on the Workforce</a:t>
            </a:r>
            <a:endParaRPr lang="en-US" dirty="0"/>
          </a:p>
        </p:txBody>
      </p:sp>
      <p:sp>
        <p:nvSpPr>
          <p:cNvPr id="3" name="Content Placeholder 2"/>
          <p:cNvSpPr>
            <a:spLocks noGrp="1"/>
          </p:cNvSpPr>
          <p:nvPr>
            <p:ph idx="1"/>
          </p:nvPr>
        </p:nvSpPr>
        <p:spPr>
          <a:xfrm>
            <a:off x="457200" y="1600200"/>
            <a:ext cx="8229600" cy="4614882"/>
          </a:xfrm>
        </p:spPr>
        <p:txBody>
          <a:bodyPr/>
          <a:lstStyle/>
          <a:p>
            <a:endParaRPr lang="en-US" dirty="0"/>
          </a:p>
        </p:txBody>
      </p:sp>
      <p:sp>
        <p:nvSpPr>
          <p:cNvPr id="4" name="Up-Down Arrow 3"/>
          <p:cNvSpPr/>
          <p:nvPr/>
        </p:nvSpPr>
        <p:spPr>
          <a:xfrm>
            <a:off x="4357686" y="2000240"/>
            <a:ext cx="357190" cy="3786214"/>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Left-Right Arrow 5"/>
          <p:cNvSpPr/>
          <p:nvPr/>
        </p:nvSpPr>
        <p:spPr>
          <a:xfrm>
            <a:off x="1714480" y="3929066"/>
            <a:ext cx="5929354" cy="50006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1714480" y="2428868"/>
            <a:ext cx="2071702"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smtClean="0">
                <a:solidFill>
                  <a:schemeClr val="tx1"/>
                </a:solidFill>
              </a:rPr>
              <a:t>EXIT</a:t>
            </a:r>
            <a:endParaRPr lang="en-US" sz="2000" dirty="0">
              <a:solidFill>
                <a:schemeClr val="tx1"/>
              </a:solidFill>
            </a:endParaRPr>
          </a:p>
        </p:txBody>
      </p:sp>
      <p:sp>
        <p:nvSpPr>
          <p:cNvPr id="8" name="Rounded Rectangle 7"/>
          <p:cNvSpPr/>
          <p:nvPr/>
        </p:nvSpPr>
        <p:spPr>
          <a:xfrm>
            <a:off x="4929190" y="2500306"/>
            <a:ext cx="2357454" cy="12144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smtClean="0">
                <a:solidFill>
                  <a:schemeClr val="tx1"/>
                </a:solidFill>
              </a:rPr>
              <a:t>VOICE</a:t>
            </a:r>
            <a:endParaRPr lang="en-US" sz="2000" dirty="0">
              <a:solidFill>
                <a:schemeClr val="tx1"/>
              </a:solidFill>
            </a:endParaRPr>
          </a:p>
        </p:txBody>
      </p:sp>
      <p:sp>
        <p:nvSpPr>
          <p:cNvPr id="9" name="Rounded Rectangle 8"/>
          <p:cNvSpPr/>
          <p:nvPr/>
        </p:nvSpPr>
        <p:spPr>
          <a:xfrm>
            <a:off x="1714480" y="4500570"/>
            <a:ext cx="2286016"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smtClean="0">
                <a:solidFill>
                  <a:schemeClr val="tx1"/>
                </a:solidFill>
              </a:rPr>
              <a:t>NEGLECT </a:t>
            </a:r>
            <a:endParaRPr lang="en-US" sz="2000" dirty="0">
              <a:solidFill>
                <a:schemeClr val="tx1"/>
              </a:solidFill>
            </a:endParaRPr>
          </a:p>
        </p:txBody>
      </p:sp>
      <p:sp>
        <p:nvSpPr>
          <p:cNvPr id="10" name="Rounded Rectangle 9"/>
          <p:cNvSpPr/>
          <p:nvPr/>
        </p:nvSpPr>
        <p:spPr>
          <a:xfrm>
            <a:off x="5214942" y="4357694"/>
            <a:ext cx="2071702" cy="12144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smtClean="0">
                <a:solidFill>
                  <a:schemeClr val="tx1"/>
                </a:solidFill>
              </a:rPr>
              <a:t>LOYALTY</a:t>
            </a:r>
            <a:endParaRPr lang="en-US" sz="2000" dirty="0">
              <a:solidFill>
                <a:schemeClr val="tx1"/>
              </a:solidFill>
            </a:endParaRPr>
          </a:p>
        </p:txBody>
      </p:sp>
      <p:sp>
        <p:nvSpPr>
          <p:cNvPr id="11" name="TextBox 10"/>
          <p:cNvSpPr txBox="1"/>
          <p:nvPr/>
        </p:nvSpPr>
        <p:spPr>
          <a:xfrm>
            <a:off x="3714744" y="1643050"/>
            <a:ext cx="1643074" cy="400110"/>
          </a:xfrm>
          <a:prstGeom prst="rect">
            <a:avLst/>
          </a:prstGeom>
          <a:noFill/>
        </p:spPr>
        <p:txBody>
          <a:bodyPr wrap="square" rtlCol="0">
            <a:spAutoFit/>
          </a:bodyPr>
          <a:lstStyle/>
          <a:p>
            <a:pPr algn="ctr"/>
            <a:r>
              <a:rPr lang="en-GB" sz="2000" dirty="0" smtClean="0"/>
              <a:t>Active</a:t>
            </a:r>
            <a:endParaRPr lang="en-US" sz="2000" dirty="0"/>
          </a:p>
        </p:txBody>
      </p:sp>
      <p:sp>
        <p:nvSpPr>
          <p:cNvPr id="15" name="TextBox 14"/>
          <p:cNvSpPr txBox="1"/>
          <p:nvPr/>
        </p:nvSpPr>
        <p:spPr>
          <a:xfrm>
            <a:off x="571472" y="4000504"/>
            <a:ext cx="1214446" cy="369332"/>
          </a:xfrm>
          <a:prstGeom prst="rect">
            <a:avLst/>
          </a:prstGeom>
          <a:noFill/>
        </p:spPr>
        <p:txBody>
          <a:bodyPr wrap="square" rtlCol="0">
            <a:spAutoFit/>
          </a:bodyPr>
          <a:lstStyle/>
          <a:p>
            <a:pPr algn="ctr"/>
            <a:r>
              <a:rPr lang="en-GB" dirty="0" smtClean="0"/>
              <a:t>Distractive</a:t>
            </a:r>
            <a:r>
              <a:rPr lang="en-GB" sz="1600" dirty="0" smtClean="0"/>
              <a:t> </a:t>
            </a:r>
            <a:endParaRPr lang="en-US" sz="1600" dirty="0"/>
          </a:p>
        </p:txBody>
      </p:sp>
      <p:sp>
        <p:nvSpPr>
          <p:cNvPr id="16" name="TextBox 15"/>
          <p:cNvSpPr txBox="1"/>
          <p:nvPr/>
        </p:nvSpPr>
        <p:spPr>
          <a:xfrm>
            <a:off x="3286116" y="5857892"/>
            <a:ext cx="2428892" cy="400110"/>
          </a:xfrm>
          <a:prstGeom prst="rect">
            <a:avLst/>
          </a:prstGeom>
          <a:noFill/>
        </p:spPr>
        <p:txBody>
          <a:bodyPr wrap="square" rtlCol="0">
            <a:spAutoFit/>
          </a:bodyPr>
          <a:lstStyle/>
          <a:p>
            <a:pPr algn="ctr"/>
            <a:r>
              <a:rPr lang="en-GB" sz="2000" dirty="0" smtClean="0"/>
              <a:t>passive</a:t>
            </a:r>
            <a:endParaRPr lang="en-US" sz="2000" dirty="0"/>
          </a:p>
        </p:txBody>
      </p:sp>
      <p:sp>
        <p:nvSpPr>
          <p:cNvPr id="17" name="TextBox 16"/>
          <p:cNvSpPr txBox="1"/>
          <p:nvPr/>
        </p:nvSpPr>
        <p:spPr>
          <a:xfrm>
            <a:off x="7500926" y="3929066"/>
            <a:ext cx="1643074" cy="369332"/>
          </a:xfrm>
          <a:prstGeom prst="rect">
            <a:avLst/>
          </a:prstGeom>
          <a:noFill/>
        </p:spPr>
        <p:txBody>
          <a:bodyPr wrap="square" rtlCol="0">
            <a:spAutoFit/>
          </a:bodyPr>
          <a:lstStyle/>
          <a:p>
            <a:r>
              <a:rPr lang="en-GB" dirty="0" smtClean="0"/>
              <a:t>constructive</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The </a:t>
            </a:r>
            <a:r>
              <a:rPr lang="en-US" b="1" dirty="0" smtClean="0"/>
              <a:t>EXIT</a:t>
            </a:r>
            <a:r>
              <a:rPr lang="en-US" dirty="0" smtClean="0"/>
              <a:t> response directs behavior toward leaving the organization, including looking for a new position as well as resigning. </a:t>
            </a:r>
          </a:p>
          <a:p>
            <a:r>
              <a:rPr lang="en-US" dirty="0" smtClean="0"/>
              <a:t>Dissatisfaction expressed through behavior directed toward leaving the organization.</a:t>
            </a:r>
          </a:p>
          <a:p>
            <a:r>
              <a:rPr lang="en-US" b="1" dirty="0" smtClean="0"/>
              <a:t>VOICE </a:t>
            </a:r>
            <a:r>
              <a:rPr lang="en-US" dirty="0" smtClean="0"/>
              <a:t>The voice response includes actively and constructively attempting to improve conditions, including suggesting improvements, discussing problems with superiors, and undertaking some forms of union activity. </a:t>
            </a:r>
          </a:p>
          <a:p>
            <a:r>
              <a:rPr lang="en-US" dirty="0" smtClean="0"/>
              <a:t>Dissatisfaction expressed through active and constructive attempts to improve conditions.</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The loyalty response means Passively but optimistically waiting for conditions to improve.</a:t>
            </a:r>
          </a:p>
          <a:p>
            <a:pPr marL="719138" indent="-358775"/>
            <a:r>
              <a:rPr lang="en-US" dirty="0" smtClean="0"/>
              <a:t> Speaking up for the organization in the face of external criticism </a:t>
            </a:r>
          </a:p>
          <a:p>
            <a:pPr marL="719138" indent="-358775"/>
            <a:r>
              <a:rPr lang="en-US" dirty="0" smtClean="0"/>
              <a:t>Trusting the organization and its management to “do the right thing”. </a:t>
            </a:r>
          </a:p>
          <a:p>
            <a:r>
              <a:rPr lang="en-US" dirty="0" smtClean="0"/>
              <a:t>Dissatisfaction expressed by passively waiting for conditions to improve.</a:t>
            </a:r>
          </a:p>
          <a:p>
            <a:r>
              <a:rPr lang="en-US" dirty="0" smtClean="0">
                <a:hlinkClick r:id="rId2" tooltip="NEGLECT &#10;The neglect response passively allows &#10;conditions ..."/>
              </a:rPr>
              <a:t> </a:t>
            </a:r>
            <a:r>
              <a:rPr lang="en-US" dirty="0" smtClean="0"/>
              <a:t>NEGLECT The neglect response passively allows conditions to worsen and includes chronic absenteeism or lateness, reduced effort, and increased error rate.</a:t>
            </a:r>
          </a:p>
          <a:p>
            <a:r>
              <a:rPr lang="en-US" dirty="0" smtClean="0"/>
              <a:t> Dissatisfaction expressed through allowing conditions to worsen.</a:t>
            </a:r>
          </a:p>
          <a:p>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smtClean="0"/>
              <a:t>Exit and Neglect behaviors encompass our performance variables such as productivity, absenteeism, and turnover. </a:t>
            </a:r>
          </a:p>
          <a:p>
            <a:pPr algn="just"/>
            <a:r>
              <a:rPr lang="en-US" dirty="0" smtClean="0"/>
              <a:t>Voice and loyalty encompasses constructive behavior that allow individuals to tolerate unpleasant situations or revive satisfactory working conditions.</a:t>
            </a:r>
          </a:p>
          <a:p>
            <a:pPr algn="just"/>
            <a:r>
              <a:rPr lang="en-US" dirty="0" smtClean="0"/>
              <a:t>Satisfaction was a likely cause of better performance (productivity), but higher performance was not a cause of higher job satisfaction.</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1266</TotalTime>
  <Words>2148</Words>
  <Application>Microsoft Office PowerPoint</Application>
  <PresentationFormat>On-screen Show (4:3)</PresentationFormat>
  <Paragraphs>327</Paragraphs>
  <Slides>44</Slides>
  <Notes>0</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Compensation and recongintion </vt:lpstr>
      <vt:lpstr>Employee Compensation </vt:lpstr>
      <vt:lpstr>Slide 3</vt:lpstr>
      <vt:lpstr>Objective of compensation </vt:lpstr>
      <vt:lpstr>Slide 5</vt:lpstr>
      <vt:lpstr>Slide 6</vt:lpstr>
      <vt:lpstr>Slide 7</vt:lpstr>
      <vt:lpstr>Type of compensation </vt:lpstr>
      <vt:lpstr>Direct compensation </vt:lpstr>
      <vt:lpstr>Indirect compensation </vt:lpstr>
      <vt:lpstr>Constituents of Compensation </vt:lpstr>
      <vt:lpstr>Slide 12</vt:lpstr>
      <vt:lpstr> Employee Compensation- characteristics of</vt:lpstr>
      <vt:lpstr>Slide 14</vt:lpstr>
      <vt:lpstr>Slide 15</vt:lpstr>
      <vt:lpstr>Job evaluation</vt:lpstr>
      <vt:lpstr>Outline:</vt:lpstr>
      <vt:lpstr>Slide 18</vt:lpstr>
      <vt:lpstr>The following objectives are derived from the analysis</vt:lpstr>
      <vt:lpstr>The role of job evaluation in organizations</vt:lpstr>
      <vt:lpstr>Principles of job evaluation program</vt:lpstr>
      <vt:lpstr>Benefits of Job Evaluation </vt:lpstr>
      <vt:lpstr>Job Evaluation Process</vt:lpstr>
      <vt:lpstr>Methods </vt:lpstr>
      <vt:lpstr>Ranking method</vt:lpstr>
      <vt:lpstr>Classification method</vt:lpstr>
      <vt:lpstr>Advantages:</vt:lpstr>
      <vt:lpstr>Point Method</vt:lpstr>
      <vt:lpstr>Slide 29</vt:lpstr>
      <vt:lpstr>Slide 30</vt:lpstr>
      <vt:lpstr>The Factor Comparison Method</vt:lpstr>
      <vt:lpstr>Slide 32</vt:lpstr>
      <vt:lpstr>Conclusion</vt:lpstr>
      <vt:lpstr>Job satisfaction</vt:lpstr>
      <vt:lpstr>WHAT IS JOB SATISFACTION</vt:lpstr>
      <vt:lpstr>Measuring Job Satisfaction </vt:lpstr>
      <vt:lpstr>How Satisfied are People in their Jobs?</vt:lpstr>
      <vt:lpstr>causes Job Satisfaction? </vt:lpstr>
      <vt:lpstr>Slide 39</vt:lpstr>
      <vt:lpstr>Job dissatisfaction </vt:lpstr>
      <vt:lpstr> Impact of Satisfied and Dissatisfied Employees on the Workforce</vt:lpstr>
      <vt:lpstr>Slide 42</vt:lpstr>
      <vt:lpstr>Slide 43</vt:lpstr>
      <vt:lpstr>Slide 44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Compensation and recongintion</dc:title>
  <dc:creator>user</dc:creator>
  <cp:lastModifiedBy>user</cp:lastModifiedBy>
  <cp:revision>13</cp:revision>
  <dcterms:created xsi:type="dcterms:W3CDTF">2022-05-10T09:16:11Z</dcterms:created>
  <dcterms:modified xsi:type="dcterms:W3CDTF">2022-05-17T05:02:07Z</dcterms:modified>
</cp:coreProperties>
</file>