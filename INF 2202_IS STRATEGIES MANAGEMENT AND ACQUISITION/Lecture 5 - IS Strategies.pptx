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handoutMasterIdLst>
    <p:handoutMasterId r:id="rId46"/>
  </p:handoutMasterIdLst>
  <p:sldIdLst>
    <p:sldId id="256" r:id="rId2"/>
    <p:sldId id="343" r:id="rId3"/>
    <p:sldId id="344" r:id="rId4"/>
    <p:sldId id="345" r:id="rId5"/>
    <p:sldId id="346" r:id="rId6"/>
    <p:sldId id="347" r:id="rId7"/>
    <p:sldId id="382" r:id="rId8"/>
    <p:sldId id="349" r:id="rId9"/>
    <p:sldId id="350" r:id="rId10"/>
    <p:sldId id="351" r:id="rId11"/>
    <p:sldId id="352" r:id="rId12"/>
    <p:sldId id="353" r:id="rId13"/>
    <p:sldId id="389" r:id="rId14"/>
    <p:sldId id="390" r:id="rId15"/>
    <p:sldId id="391" r:id="rId16"/>
    <p:sldId id="392" r:id="rId17"/>
    <p:sldId id="393" r:id="rId18"/>
    <p:sldId id="394" r:id="rId19"/>
    <p:sldId id="395" r:id="rId20"/>
    <p:sldId id="396" r:id="rId21"/>
    <p:sldId id="356" r:id="rId22"/>
    <p:sldId id="359" r:id="rId23"/>
    <p:sldId id="360" r:id="rId24"/>
    <p:sldId id="361" r:id="rId25"/>
    <p:sldId id="362" r:id="rId26"/>
    <p:sldId id="383" r:id="rId27"/>
    <p:sldId id="364" r:id="rId28"/>
    <p:sldId id="365" r:id="rId29"/>
    <p:sldId id="366" r:id="rId30"/>
    <p:sldId id="384" r:id="rId31"/>
    <p:sldId id="368" r:id="rId32"/>
    <p:sldId id="369" r:id="rId33"/>
    <p:sldId id="370" r:id="rId34"/>
    <p:sldId id="385" r:id="rId35"/>
    <p:sldId id="386" r:id="rId36"/>
    <p:sldId id="373" r:id="rId37"/>
    <p:sldId id="387" r:id="rId38"/>
    <p:sldId id="388" r:id="rId39"/>
    <p:sldId id="376" r:id="rId40"/>
    <p:sldId id="377" r:id="rId41"/>
    <p:sldId id="378" r:id="rId42"/>
    <p:sldId id="380" r:id="rId43"/>
    <p:sldId id="381"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3BD15"/>
    <a:srgbClr val="0000FF"/>
    <a:srgbClr val="0D01A3"/>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343" autoAdjust="0"/>
  </p:normalViewPr>
  <p:slideViewPr>
    <p:cSldViewPr>
      <p:cViewPr varScale="1">
        <p:scale>
          <a:sx n="73" d="100"/>
          <a:sy n="73" d="100"/>
        </p:scale>
        <p:origin x="132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FAF9EFD-F9E0-41E1-B912-6A9AE698A79C}" type="doc">
      <dgm:prSet loTypeId="urn:microsoft.com/office/officeart/2005/8/layout/vList3" loCatId="list" qsTypeId="urn:microsoft.com/office/officeart/2005/8/quickstyle/simple2" qsCatId="simple" csTypeId="urn:microsoft.com/office/officeart/2005/8/colors/accent3_1" csCatId="accent3"/>
      <dgm:spPr/>
      <dgm:t>
        <a:bodyPr/>
        <a:lstStyle/>
        <a:p>
          <a:endParaRPr lang="en-US"/>
        </a:p>
      </dgm:t>
    </dgm:pt>
    <dgm:pt modelId="{A410835B-9215-4E63-AAE9-36E12C0AE6D9}">
      <dgm:prSet custT="1"/>
      <dgm:spPr/>
      <dgm:t>
        <a:bodyPr/>
        <a:lstStyle/>
        <a:p>
          <a:pPr algn="just" rtl="0"/>
          <a:r>
            <a:rPr lang="en-US" sz="2000" smtClean="0">
              <a:latin typeface="Tahoma" panose="020B0604030504040204" pitchFamily="34" charset="0"/>
              <a:ea typeface="Tahoma" panose="020B0604030504040204" pitchFamily="34" charset="0"/>
              <a:cs typeface="Tahoma" panose="020B0604030504040204" pitchFamily="34" charset="0"/>
            </a:rPr>
            <a:t>Determine the role general managers must take in decisions about IS.</a:t>
          </a:r>
          <a:endParaRPr lang="en-GB" sz="2000">
            <a:latin typeface="Tahoma" panose="020B0604030504040204" pitchFamily="34" charset="0"/>
            <a:ea typeface="Tahoma" panose="020B0604030504040204" pitchFamily="34" charset="0"/>
            <a:cs typeface="Tahoma" panose="020B0604030504040204" pitchFamily="34" charset="0"/>
          </a:endParaRPr>
        </a:p>
      </dgm:t>
    </dgm:pt>
    <dgm:pt modelId="{ED4D91E3-D0AB-4E5B-A7FC-9A819C6765B7}" type="parTrans" cxnId="{E8D435A7-8EBE-40DC-B53E-DE27FF5E2F80}">
      <dgm:prSet/>
      <dgm:spPr/>
      <dgm:t>
        <a:bodyPr/>
        <a:lstStyle/>
        <a:p>
          <a:pPr algn="just"/>
          <a:endParaRPr lang="en-US" sz="2000">
            <a:latin typeface="Tahoma" panose="020B0604030504040204" pitchFamily="34" charset="0"/>
            <a:ea typeface="Tahoma" panose="020B0604030504040204" pitchFamily="34" charset="0"/>
            <a:cs typeface="Tahoma" panose="020B0604030504040204" pitchFamily="34" charset="0"/>
          </a:endParaRPr>
        </a:p>
      </dgm:t>
    </dgm:pt>
    <dgm:pt modelId="{EC6A1522-5CF1-463E-83D2-155737CAFB76}" type="sibTrans" cxnId="{E8D435A7-8EBE-40DC-B53E-DE27FF5E2F80}">
      <dgm:prSet/>
      <dgm:spPr/>
      <dgm:t>
        <a:bodyPr/>
        <a:lstStyle/>
        <a:p>
          <a:pPr algn="just"/>
          <a:endParaRPr lang="en-US" sz="2000">
            <a:latin typeface="Tahoma" panose="020B0604030504040204" pitchFamily="34" charset="0"/>
            <a:ea typeface="Tahoma" panose="020B0604030504040204" pitchFamily="34" charset="0"/>
            <a:cs typeface="Tahoma" panose="020B0604030504040204" pitchFamily="34" charset="0"/>
          </a:endParaRPr>
        </a:p>
      </dgm:t>
    </dgm:pt>
    <dgm:pt modelId="{BFC2181B-A2A3-4BDE-BCAC-AB5A593CCBAA}">
      <dgm:prSet custT="1"/>
      <dgm:spPr/>
      <dgm:t>
        <a:bodyPr/>
        <a:lstStyle/>
        <a:p>
          <a:pPr algn="just" rtl="0"/>
          <a:r>
            <a:rPr lang="en-US" sz="2000" smtClean="0">
              <a:latin typeface="Tahoma" panose="020B0604030504040204" pitchFamily="34" charset="0"/>
              <a:ea typeface="Tahoma" panose="020B0604030504040204" pitchFamily="34" charset="0"/>
              <a:cs typeface="Tahoma" panose="020B0604030504040204" pitchFamily="34" charset="0"/>
            </a:rPr>
            <a:t>Define and explain the Information Systems Strategy Triangle.</a:t>
          </a:r>
          <a:endParaRPr lang="en-GB" sz="2000">
            <a:latin typeface="Tahoma" panose="020B0604030504040204" pitchFamily="34" charset="0"/>
            <a:ea typeface="Tahoma" panose="020B0604030504040204" pitchFamily="34" charset="0"/>
            <a:cs typeface="Tahoma" panose="020B0604030504040204" pitchFamily="34" charset="0"/>
          </a:endParaRPr>
        </a:p>
      </dgm:t>
    </dgm:pt>
    <dgm:pt modelId="{217B604E-1AAB-4820-B6BF-FD6881A5104D}" type="parTrans" cxnId="{79E094B5-6201-4961-A1AE-3193635BED4A}">
      <dgm:prSet/>
      <dgm:spPr/>
      <dgm:t>
        <a:bodyPr/>
        <a:lstStyle/>
        <a:p>
          <a:pPr algn="just"/>
          <a:endParaRPr lang="en-US" sz="2000">
            <a:latin typeface="Tahoma" panose="020B0604030504040204" pitchFamily="34" charset="0"/>
            <a:ea typeface="Tahoma" panose="020B0604030504040204" pitchFamily="34" charset="0"/>
            <a:cs typeface="Tahoma" panose="020B0604030504040204" pitchFamily="34" charset="0"/>
          </a:endParaRPr>
        </a:p>
      </dgm:t>
    </dgm:pt>
    <dgm:pt modelId="{2D59414B-322E-4B83-944E-4147BA28B729}" type="sibTrans" cxnId="{79E094B5-6201-4961-A1AE-3193635BED4A}">
      <dgm:prSet/>
      <dgm:spPr/>
      <dgm:t>
        <a:bodyPr/>
        <a:lstStyle/>
        <a:p>
          <a:pPr algn="just"/>
          <a:endParaRPr lang="en-US" sz="2000">
            <a:latin typeface="Tahoma" panose="020B0604030504040204" pitchFamily="34" charset="0"/>
            <a:ea typeface="Tahoma" panose="020B0604030504040204" pitchFamily="34" charset="0"/>
            <a:cs typeface="Tahoma" panose="020B0604030504040204" pitchFamily="34" charset="0"/>
          </a:endParaRPr>
        </a:p>
      </dgm:t>
    </dgm:pt>
    <dgm:pt modelId="{42CF7567-D4AA-4735-966C-4E3ABCA9B2B2}">
      <dgm:prSet custT="1"/>
      <dgm:spPr/>
      <dgm:t>
        <a:bodyPr/>
        <a:lstStyle/>
        <a:p>
          <a:pPr algn="just" rtl="0"/>
          <a:r>
            <a:rPr lang="en-US" sz="2000" smtClean="0">
              <a:latin typeface="Tahoma" panose="020B0604030504040204" pitchFamily="34" charset="0"/>
              <a:ea typeface="Tahoma" panose="020B0604030504040204" pitchFamily="34" charset="0"/>
              <a:cs typeface="Tahoma" panose="020B0604030504040204" pitchFamily="34" charset="0"/>
            </a:rPr>
            <a:t>Identify and define the various business strategy frameworks.</a:t>
          </a:r>
          <a:endParaRPr lang="en-GB" sz="2000">
            <a:latin typeface="Tahoma" panose="020B0604030504040204" pitchFamily="34" charset="0"/>
            <a:ea typeface="Tahoma" panose="020B0604030504040204" pitchFamily="34" charset="0"/>
            <a:cs typeface="Tahoma" panose="020B0604030504040204" pitchFamily="34" charset="0"/>
          </a:endParaRPr>
        </a:p>
      </dgm:t>
    </dgm:pt>
    <dgm:pt modelId="{A854DE72-F010-412B-A8A9-988773617153}" type="parTrans" cxnId="{94DFD495-EB5F-490E-A691-1DF1569741B8}">
      <dgm:prSet/>
      <dgm:spPr/>
      <dgm:t>
        <a:bodyPr/>
        <a:lstStyle/>
        <a:p>
          <a:pPr algn="just"/>
          <a:endParaRPr lang="en-US" sz="2000">
            <a:latin typeface="Tahoma" panose="020B0604030504040204" pitchFamily="34" charset="0"/>
            <a:ea typeface="Tahoma" panose="020B0604030504040204" pitchFamily="34" charset="0"/>
            <a:cs typeface="Tahoma" panose="020B0604030504040204" pitchFamily="34" charset="0"/>
          </a:endParaRPr>
        </a:p>
      </dgm:t>
    </dgm:pt>
    <dgm:pt modelId="{6D49A12A-8FF3-418A-9A9C-FE8E21090423}" type="sibTrans" cxnId="{94DFD495-EB5F-490E-A691-1DF1569741B8}">
      <dgm:prSet/>
      <dgm:spPr/>
      <dgm:t>
        <a:bodyPr/>
        <a:lstStyle/>
        <a:p>
          <a:pPr algn="just"/>
          <a:endParaRPr lang="en-US" sz="2000">
            <a:latin typeface="Tahoma" panose="020B0604030504040204" pitchFamily="34" charset="0"/>
            <a:ea typeface="Tahoma" panose="020B0604030504040204" pitchFamily="34" charset="0"/>
            <a:cs typeface="Tahoma" panose="020B0604030504040204" pitchFamily="34" charset="0"/>
          </a:endParaRPr>
        </a:p>
      </dgm:t>
    </dgm:pt>
    <dgm:pt modelId="{C072AB15-7AF8-44AC-89D1-93E86297A1FE}">
      <dgm:prSet custT="1"/>
      <dgm:spPr/>
      <dgm:t>
        <a:bodyPr/>
        <a:lstStyle/>
        <a:p>
          <a:pPr algn="just" rtl="0"/>
          <a:r>
            <a:rPr lang="en-US" sz="2000" smtClean="0">
              <a:latin typeface="Tahoma" panose="020B0604030504040204" pitchFamily="34" charset="0"/>
              <a:ea typeface="Tahoma" panose="020B0604030504040204" pitchFamily="34" charset="0"/>
              <a:cs typeface="Tahoma" panose="020B0604030504040204" pitchFamily="34" charset="0"/>
            </a:rPr>
            <a:t>Explain the information system strategy matrix.</a:t>
          </a:r>
          <a:endParaRPr lang="en-GB" sz="2000">
            <a:latin typeface="Tahoma" panose="020B0604030504040204" pitchFamily="34" charset="0"/>
            <a:ea typeface="Tahoma" panose="020B0604030504040204" pitchFamily="34" charset="0"/>
            <a:cs typeface="Tahoma" panose="020B0604030504040204" pitchFamily="34" charset="0"/>
          </a:endParaRPr>
        </a:p>
      </dgm:t>
    </dgm:pt>
    <dgm:pt modelId="{4CFE8676-32C9-4393-9E5B-C70116F73914}" type="parTrans" cxnId="{8E971E19-18C6-43DA-9FF6-22FFCCBB0501}">
      <dgm:prSet/>
      <dgm:spPr/>
      <dgm:t>
        <a:bodyPr/>
        <a:lstStyle/>
        <a:p>
          <a:pPr algn="just"/>
          <a:endParaRPr lang="en-US" sz="2000">
            <a:latin typeface="Tahoma" panose="020B0604030504040204" pitchFamily="34" charset="0"/>
            <a:ea typeface="Tahoma" panose="020B0604030504040204" pitchFamily="34" charset="0"/>
            <a:cs typeface="Tahoma" panose="020B0604030504040204" pitchFamily="34" charset="0"/>
          </a:endParaRPr>
        </a:p>
      </dgm:t>
    </dgm:pt>
    <dgm:pt modelId="{36EA2EED-D3DA-4E5A-9DB2-FE6CDBFFDEEA}" type="sibTrans" cxnId="{8E971E19-18C6-43DA-9FF6-22FFCCBB0501}">
      <dgm:prSet/>
      <dgm:spPr/>
      <dgm:t>
        <a:bodyPr/>
        <a:lstStyle/>
        <a:p>
          <a:pPr algn="just"/>
          <a:endParaRPr lang="en-US" sz="2000">
            <a:latin typeface="Tahoma" panose="020B0604030504040204" pitchFamily="34" charset="0"/>
            <a:ea typeface="Tahoma" panose="020B0604030504040204" pitchFamily="34" charset="0"/>
            <a:cs typeface="Tahoma" panose="020B0604030504040204" pitchFamily="34" charset="0"/>
          </a:endParaRPr>
        </a:p>
      </dgm:t>
    </dgm:pt>
    <dgm:pt modelId="{6C67AAD9-BC98-470F-AD4D-E977632D7204}">
      <dgm:prSet custT="1"/>
      <dgm:spPr/>
      <dgm:t>
        <a:bodyPr/>
        <a:lstStyle/>
        <a:p>
          <a:pPr algn="just" rtl="0"/>
          <a:r>
            <a:rPr lang="en-US" sz="2000" smtClean="0">
              <a:latin typeface="Tahoma" panose="020B0604030504040204" pitchFamily="34" charset="0"/>
              <a:ea typeface="Tahoma" panose="020B0604030504040204" pitchFamily="34" charset="0"/>
              <a:cs typeface="Tahoma" panose="020B0604030504040204" pitchFamily="34" charset="0"/>
            </a:rPr>
            <a:t>Understand and apply these models to different organizations.</a:t>
          </a:r>
          <a:endParaRPr lang="en-GB" sz="2000">
            <a:latin typeface="Tahoma" panose="020B0604030504040204" pitchFamily="34" charset="0"/>
            <a:ea typeface="Tahoma" panose="020B0604030504040204" pitchFamily="34" charset="0"/>
            <a:cs typeface="Tahoma" panose="020B0604030504040204" pitchFamily="34" charset="0"/>
          </a:endParaRPr>
        </a:p>
      </dgm:t>
    </dgm:pt>
    <dgm:pt modelId="{4C06E8BD-E36D-4708-B5DD-263631F7E251}" type="parTrans" cxnId="{BF59BFB7-D0AA-4C91-AA87-1E438747FCAF}">
      <dgm:prSet/>
      <dgm:spPr/>
      <dgm:t>
        <a:bodyPr/>
        <a:lstStyle/>
        <a:p>
          <a:pPr algn="just"/>
          <a:endParaRPr lang="en-US" sz="2000">
            <a:latin typeface="Tahoma" panose="020B0604030504040204" pitchFamily="34" charset="0"/>
            <a:ea typeface="Tahoma" panose="020B0604030504040204" pitchFamily="34" charset="0"/>
            <a:cs typeface="Tahoma" panose="020B0604030504040204" pitchFamily="34" charset="0"/>
          </a:endParaRPr>
        </a:p>
      </dgm:t>
    </dgm:pt>
    <dgm:pt modelId="{0D145FF9-ACD6-477A-A0D7-ECBF33951545}" type="sibTrans" cxnId="{BF59BFB7-D0AA-4C91-AA87-1E438747FCAF}">
      <dgm:prSet/>
      <dgm:spPr/>
      <dgm:t>
        <a:bodyPr/>
        <a:lstStyle/>
        <a:p>
          <a:pPr algn="just"/>
          <a:endParaRPr lang="en-US" sz="2000">
            <a:latin typeface="Tahoma" panose="020B0604030504040204" pitchFamily="34" charset="0"/>
            <a:ea typeface="Tahoma" panose="020B0604030504040204" pitchFamily="34" charset="0"/>
            <a:cs typeface="Tahoma" panose="020B0604030504040204" pitchFamily="34" charset="0"/>
          </a:endParaRPr>
        </a:p>
      </dgm:t>
    </dgm:pt>
    <dgm:pt modelId="{8593222D-69D4-4974-AFCA-191B96EF5CFE}" type="pres">
      <dgm:prSet presAssocID="{EFAF9EFD-F9E0-41E1-B912-6A9AE698A79C}" presName="linearFlow" presStyleCnt="0">
        <dgm:presLayoutVars>
          <dgm:dir/>
          <dgm:resizeHandles val="exact"/>
        </dgm:presLayoutVars>
      </dgm:prSet>
      <dgm:spPr/>
      <dgm:t>
        <a:bodyPr/>
        <a:lstStyle/>
        <a:p>
          <a:endParaRPr lang="en-US"/>
        </a:p>
      </dgm:t>
    </dgm:pt>
    <dgm:pt modelId="{820281B4-5CF8-4BAA-A4D8-28378485508D}" type="pres">
      <dgm:prSet presAssocID="{A410835B-9215-4E63-AAE9-36E12C0AE6D9}" presName="composite" presStyleCnt="0"/>
      <dgm:spPr/>
    </dgm:pt>
    <dgm:pt modelId="{9E9E1DDC-F637-403C-92ED-2E02326E9956}" type="pres">
      <dgm:prSet presAssocID="{A410835B-9215-4E63-AAE9-36E12C0AE6D9}" presName="imgShp" presStyleLbl="fgImgPlace1" presStyleIdx="0" presStyleCnt="5"/>
      <dgm:spPr/>
    </dgm:pt>
    <dgm:pt modelId="{2748D054-B306-4E50-ABF4-A32087772EC5}" type="pres">
      <dgm:prSet presAssocID="{A410835B-9215-4E63-AAE9-36E12C0AE6D9}" presName="txShp" presStyleLbl="node1" presStyleIdx="0" presStyleCnt="5">
        <dgm:presLayoutVars>
          <dgm:bulletEnabled val="1"/>
        </dgm:presLayoutVars>
      </dgm:prSet>
      <dgm:spPr/>
      <dgm:t>
        <a:bodyPr/>
        <a:lstStyle/>
        <a:p>
          <a:endParaRPr lang="en-US"/>
        </a:p>
      </dgm:t>
    </dgm:pt>
    <dgm:pt modelId="{A6F1FE2D-48BF-4B24-96FE-F1F9830E8557}" type="pres">
      <dgm:prSet presAssocID="{EC6A1522-5CF1-463E-83D2-155737CAFB76}" presName="spacing" presStyleCnt="0"/>
      <dgm:spPr/>
    </dgm:pt>
    <dgm:pt modelId="{BC474306-1A6A-4A25-B755-5E0AF96BB643}" type="pres">
      <dgm:prSet presAssocID="{BFC2181B-A2A3-4BDE-BCAC-AB5A593CCBAA}" presName="composite" presStyleCnt="0"/>
      <dgm:spPr/>
    </dgm:pt>
    <dgm:pt modelId="{A50D66FF-E7A1-4CFA-B96F-9ED6237A26B2}" type="pres">
      <dgm:prSet presAssocID="{BFC2181B-A2A3-4BDE-BCAC-AB5A593CCBAA}" presName="imgShp" presStyleLbl="fgImgPlace1" presStyleIdx="1" presStyleCnt="5"/>
      <dgm:spPr/>
    </dgm:pt>
    <dgm:pt modelId="{4EA8E967-FF49-4D92-9529-CE0956D9AF63}" type="pres">
      <dgm:prSet presAssocID="{BFC2181B-A2A3-4BDE-BCAC-AB5A593CCBAA}" presName="txShp" presStyleLbl="node1" presStyleIdx="1" presStyleCnt="5">
        <dgm:presLayoutVars>
          <dgm:bulletEnabled val="1"/>
        </dgm:presLayoutVars>
      </dgm:prSet>
      <dgm:spPr/>
      <dgm:t>
        <a:bodyPr/>
        <a:lstStyle/>
        <a:p>
          <a:endParaRPr lang="en-US"/>
        </a:p>
      </dgm:t>
    </dgm:pt>
    <dgm:pt modelId="{3A27F52C-0245-40A7-8B24-DB3961FD7274}" type="pres">
      <dgm:prSet presAssocID="{2D59414B-322E-4B83-944E-4147BA28B729}" presName="spacing" presStyleCnt="0"/>
      <dgm:spPr/>
    </dgm:pt>
    <dgm:pt modelId="{28278F26-B857-432C-97BD-70A587836B73}" type="pres">
      <dgm:prSet presAssocID="{42CF7567-D4AA-4735-966C-4E3ABCA9B2B2}" presName="composite" presStyleCnt="0"/>
      <dgm:spPr/>
    </dgm:pt>
    <dgm:pt modelId="{2162CE40-59CB-41B5-8225-55EA1168B481}" type="pres">
      <dgm:prSet presAssocID="{42CF7567-D4AA-4735-966C-4E3ABCA9B2B2}" presName="imgShp" presStyleLbl="fgImgPlace1" presStyleIdx="2" presStyleCnt="5"/>
      <dgm:spPr/>
    </dgm:pt>
    <dgm:pt modelId="{DE6540F9-0F81-4924-8C85-D16E98B4BDDE}" type="pres">
      <dgm:prSet presAssocID="{42CF7567-D4AA-4735-966C-4E3ABCA9B2B2}" presName="txShp" presStyleLbl="node1" presStyleIdx="2" presStyleCnt="5">
        <dgm:presLayoutVars>
          <dgm:bulletEnabled val="1"/>
        </dgm:presLayoutVars>
      </dgm:prSet>
      <dgm:spPr/>
      <dgm:t>
        <a:bodyPr/>
        <a:lstStyle/>
        <a:p>
          <a:endParaRPr lang="en-US"/>
        </a:p>
      </dgm:t>
    </dgm:pt>
    <dgm:pt modelId="{4A93D222-8976-46C0-83C8-8F2D981FAF50}" type="pres">
      <dgm:prSet presAssocID="{6D49A12A-8FF3-418A-9A9C-FE8E21090423}" presName="spacing" presStyleCnt="0"/>
      <dgm:spPr/>
    </dgm:pt>
    <dgm:pt modelId="{2B55A181-471A-4BC6-9EFE-0C0A94AC9D42}" type="pres">
      <dgm:prSet presAssocID="{C072AB15-7AF8-44AC-89D1-93E86297A1FE}" presName="composite" presStyleCnt="0"/>
      <dgm:spPr/>
    </dgm:pt>
    <dgm:pt modelId="{C9D98983-11E9-427D-8581-E6AFD59DFA37}" type="pres">
      <dgm:prSet presAssocID="{C072AB15-7AF8-44AC-89D1-93E86297A1FE}" presName="imgShp" presStyleLbl="fgImgPlace1" presStyleIdx="3" presStyleCnt="5"/>
      <dgm:spPr/>
    </dgm:pt>
    <dgm:pt modelId="{3D751EA0-8847-4A61-ADBE-C19566835491}" type="pres">
      <dgm:prSet presAssocID="{C072AB15-7AF8-44AC-89D1-93E86297A1FE}" presName="txShp" presStyleLbl="node1" presStyleIdx="3" presStyleCnt="5">
        <dgm:presLayoutVars>
          <dgm:bulletEnabled val="1"/>
        </dgm:presLayoutVars>
      </dgm:prSet>
      <dgm:spPr/>
      <dgm:t>
        <a:bodyPr/>
        <a:lstStyle/>
        <a:p>
          <a:endParaRPr lang="en-US"/>
        </a:p>
      </dgm:t>
    </dgm:pt>
    <dgm:pt modelId="{2E5208F8-1260-4497-A4EF-AE4235215BD7}" type="pres">
      <dgm:prSet presAssocID="{36EA2EED-D3DA-4E5A-9DB2-FE6CDBFFDEEA}" presName="spacing" presStyleCnt="0"/>
      <dgm:spPr/>
    </dgm:pt>
    <dgm:pt modelId="{B28DC9DF-2EF1-496D-B0C0-F6B7032C58A7}" type="pres">
      <dgm:prSet presAssocID="{6C67AAD9-BC98-470F-AD4D-E977632D7204}" presName="composite" presStyleCnt="0"/>
      <dgm:spPr/>
    </dgm:pt>
    <dgm:pt modelId="{4EE85E5A-30B6-41D2-BD47-949743547EC0}" type="pres">
      <dgm:prSet presAssocID="{6C67AAD9-BC98-470F-AD4D-E977632D7204}" presName="imgShp" presStyleLbl="fgImgPlace1" presStyleIdx="4" presStyleCnt="5"/>
      <dgm:spPr/>
    </dgm:pt>
    <dgm:pt modelId="{6DFD0A31-4FB1-4DEE-94B4-A389042463A3}" type="pres">
      <dgm:prSet presAssocID="{6C67AAD9-BC98-470F-AD4D-E977632D7204}" presName="txShp" presStyleLbl="node1" presStyleIdx="4" presStyleCnt="5">
        <dgm:presLayoutVars>
          <dgm:bulletEnabled val="1"/>
        </dgm:presLayoutVars>
      </dgm:prSet>
      <dgm:spPr/>
      <dgm:t>
        <a:bodyPr/>
        <a:lstStyle/>
        <a:p>
          <a:endParaRPr lang="en-US"/>
        </a:p>
      </dgm:t>
    </dgm:pt>
  </dgm:ptLst>
  <dgm:cxnLst>
    <dgm:cxn modelId="{2709F01D-0612-417D-8BAC-1621AED5839A}" type="presOf" srcId="{EFAF9EFD-F9E0-41E1-B912-6A9AE698A79C}" destId="{8593222D-69D4-4974-AFCA-191B96EF5CFE}" srcOrd="0" destOrd="0" presId="urn:microsoft.com/office/officeart/2005/8/layout/vList3"/>
    <dgm:cxn modelId="{190FB7FC-5DE7-4136-B084-C9BDFB77AFC1}" type="presOf" srcId="{42CF7567-D4AA-4735-966C-4E3ABCA9B2B2}" destId="{DE6540F9-0F81-4924-8C85-D16E98B4BDDE}" srcOrd="0" destOrd="0" presId="urn:microsoft.com/office/officeart/2005/8/layout/vList3"/>
    <dgm:cxn modelId="{BF59BFB7-D0AA-4C91-AA87-1E438747FCAF}" srcId="{EFAF9EFD-F9E0-41E1-B912-6A9AE698A79C}" destId="{6C67AAD9-BC98-470F-AD4D-E977632D7204}" srcOrd="4" destOrd="0" parTransId="{4C06E8BD-E36D-4708-B5DD-263631F7E251}" sibTransId="{0D145FF9-ACD6-477A-A0D7-ECBF33951545}"/>
    <dgm:cxn modelId="{CE9D6429-AE23-4930-9AE8-D02FF80A0C4B}" type="presOf" srcId="{BFC2181B-A2A3-4BDE-BCAC-AB5A593CCBAA}" destId="{4EA8E967-FF49-4D92-9529-CE0956D9AF63}" srcOrd="0" destOrd="0" presId="urn:microsoft.com/office/officeart/2005/8/layout/vList3"/>
    <dgm:cxn modelId="{79E094B5-6201-4961-A1AE-3193635BED4A}" srcId="{EFAF9EFD-F9E0-41E1-B912-6A9AE698A79C}" destId="{BFC2181B-A2A3-4BDE-BCAC-AB5A593CCBAA}" srcOrd="1" destOrd="0" parTransId="{217B604E-1AAB-4820-B6BF-FD6881A5104D}" sibTransId="{2D59414B-322E-4B83-944E-4147BA28B729}"/>
    <dgm:cxn modelId="{28E128DA-FD77-4425-9713-A0236896907C}" type="presOf" srcId="{A410835B-9215-4E63-AAE9-36E12C0AE6D9}" destId="{2748D054-B306-4E50-ABF4-A32087772EC5}" srcOrd="0" destOrd="0" presId="urn:microsoft.com/office/officeart/2005/8/layout/vList3"/>
    <dgm:cxn modelId="{6B47710F-9150-4031-AD8F-413B63840287}" type="presOf" srcId="{C072AB15-7AF8-44AC-89D1-93E86297A1FE}" destId="{3D751EA0-8847-4A61-ADBE-C19566835491}" srcOrd="0" destOrd="0" presId="urn:microsoft.com/office/officeart/2005/8/layout/vList3"/>
    <dgm:cxn modelId="{C11576B6-3FFE-4D6E-96F8-CF50863AF34B}" type="presOf" srcId="{6C67AAD9-BC98-470F-AD4D-E977632D7204}" destId="{6DFD0A31-4FB1-4DEE-94B4-A389042463A3}" srcOrd="0" destOrd="0" presId="urn:microsoft.com/office/officeart/2005/8/layout/vList3"/>
    <dgm:cxn modelId="{8E971E19-18C6-43DA-9FF6-22FFCCBB0501}" srcId="{EFAF9EFD-F9E0-41E1-B912-6A9AE698A79C}" destId="{C072AB15-7AF8-44AC-89D1-93E86297A1FE}" srcOrd="3" destOrd="0" parTransId="{4CFE8676-32C9-4393-9E5B-C70116F73914}" sibTransId="{36EA2EED-D3DA-4E5A-9DB2-FE6CDBFFDEEA}"/>
    <dgm:cxn modelId="{94DFD495-EB5F-490E-A691-1DF1569741B8}" srcId="{EFAF9EFD-F9E0-41E1-B912-6A9AE698A79C}" destId="{42CF7567-D4AA-4735-966C-4E3ABCA9B2B2}" srcOrd="2" destOrd="0" parTransId="{A854DE72-F010-412B-A8A9-988773617153}" sibTransId="{6D49A12A-8FF3-418A-9A9C-FE8E21090423}"/>
    <dgm:cxn modelId="{E8D435A7-8EBE-40DC-B53E-DE27FF5E2F80}" srcId="{EFAF9EFD-F9E0-41E1-B912-6A9AE698A79C}" destId="{A410835B-9215-4E63-AAE9-36E12C0AE6D9}" srcOrd="0" destOrd="0" parTransId="{ED4D91E3-D0AB-4E5B-A7FC-9A819C6765B7}" sibTransId="{EC6A1522-5CF1-463E-83D2-155737CAFB76}"/>
    <dgm:cxn modelId="{AEF6D084-67FC-4690-B141-D3DF6969F1D8}" type="presParOf" srcId="{8593222D-69D4-4974-AFCA-191B96EF5CFE}" destId="{820281B4-5CF8-4BAA-A4D8-28378485508D}" srcOrd="0" destOrd="0" presId="urn:microsoft.com/office/officeart/2005/8/layout/vList3"/>
    <dgm:cxn modelId="{1E1F85D1-F707-49F6-99BC-4DEDD9786489}" type="presParOf" srcId="{820281B4-5CF8-4BAA-A4D8-28378485508D}" destId="{9E9E1DDC-F637-403C-92ED-2E02326E9956}" srcOrd="0" destOrd="0" presId="urn:microsoft.com/office/officeart/2005/8/layout/vList3"/>
    <dgm:cxn modelId="{9B4C3C5C-B560-4C45-9B16-6348AD8563E9}" type="presParOf" srcId="{820281B4-5CF8-4BAA-A4D8-28378485508D}" destId="{2748D054-B306-4E50-ABF4-A32087772EC5}" srcOrd="1" destOrd="0" presId="urn:microsoft.com/office/officeart/2005/8/layout/vList3"/>
    <dgm:cxn modelId="{2E0B0610-B097-4EDD-BC71-DDC26027190D}" type="presParOf" srcId="{8593222D-69D4-4974-AFCA-191B96EF5CFE}" destId="{A6F1FE2D-48BF-4B24-96FE-F1F9830E8557}" srcOrd="1" destOrd="0" presId="urn:microsoft.com/office/officeart/2005/8/layout/vList3"/>
    <dgm:cxn modelId="{2A057813-1E4F-46CD-859C-48008191E52E}" type="presParOf" srcId="{8593222D-69D4-4974-AFCA-191B96EF5CFE}" destId="{BC474306-1A6A-4A25-B755-5E0AF96BB643}" srcOrd="2" destOrd="0" presId="urn:microsoft.com/office/officeart/2005/8/layout/vList3"/>
    <dgm:cxn modelId="{BEE6D8F8-AE82-4F51-B3EE-772BD4FF75AC}" type="presParOf" srcId="{BC474306-1A6A-4A25-B755-5E0AF96BB643}" destId="{A50D66FF-E7A1-4CFA-B96F-9ED6237A26B2}" srcOrd="0" destOrd="0" presId="urn:microsoft.com/office/officeart/2005/8/layout/vList3"/>
    <dgm:cxn modelId="{1A9BB741-FC6B-425F-925A-58528D24EE7E}" type="presParOf" srcId="{BC474306-1A6A-4A25-B755-5E0AF96BB643}" destId="{4EA8E967-FF49-4D92-9529-CE0956D9AF63}" srcOrd="1" destOrd="0" presId="urn:microsoft.com/office/officeart/2005/8/layout/vList3"/>
    <dgm:cxn modelId="{4698B883-E5E6-4B9E-96AA-296E36FDA8EA}" type="presParOf" srcId="{8593222D-69D4-4974-AFCA-191B96EF5CFE}" destId="{3A27F52C-0245-40A7-8B24-DB3961FD7274}" srcOrd="3" destOrd="0" presId="urn:microsoft.com/office/officeart/2005/8/layout/vList3"/>
    <dgm:cxn modelId="{268BF9A8-47AC-40A4-A39B-08CE709BDDF0}" type="presParOf" srcId="{8593222D-69D4-4974-AFCA-191B96EF5CFE}" destId="{28278F26-B857-432C-97BD-70A587836B73}" srcOrd="4" destOrd="0" presId="urn:microsoft.com/office/officeart/2005/8/layout/vList3"/>
    <dgm:cxn modelId="{A4715796-6DDB-45D8-88AA-ADF722C99461}" type="presParOf" srcId="{28278F26-B857-432C-97BD-70A587836B73}" destId="{2162CE40-59CB-41B5-8225-55EA1168B481}" srcOrd="0" destOrd="0" presId="urn:microsoft.com/office/officeart/2005/8/layout/vList3"/>
    <dgm:cxn modelId="{2E0DEFB4-AAAD-42EA-A3D1-8CFC1BA55B7A}" type="presParOf" srcId="{28278F26-B857-432C-97BD-70A587836B73}" destId="{DE6540F9-0F81-4924-8C85-D16E98B4BDDE}" srcOrd="1" destOrd="0" presId="urn:microsoft.com/office/officeart/2005/8/layout/vList3"/>
    <dgm:cxn modelId="{7B339418-79A4-433E-8FFB-A546EFF3F51F}" type="presParOf" srcId="{8593222D-69D4-4974-AFCA-191B96EF5CFE}" destId="{4A93D222-8976-46C0-83C8-8F2D981FAF50}" srcOrd="5" destOrd="0" presId="urn:microsoft.com/office/officeart/2005/8/layout/vList3"/>
    <dgm:cxn modelId="{BE9595AB-5478-4CEA-A060-9B9C81EA6F19}" type="presParOf" srcId="{8593222D-69D4-4974-AFCA-191B96EF5CFE}" destId="{2B55A181-471A-4BC6-9EFE-0C0A94AC9D42}" srcOrd="6" destOrd="0" presId="urn:microsoft.com/office/officeart/2005/8/layout/vList3"/>
    <dgm:cxn modelId="{37376417-11B8-44A5-80B0-5DC165E0694B}" type="presParOf" srcId="{2B55A181-471A-4BC6-9EFE-0C0A94AC9D42}" destId="{C9D98983-11E9-427D-8581-E6AFD59DFA37}" srcOrd="0" destOrd="0" presId="urn:microsoft.com/office/officeart/2005/8/layout/vList3"/>
    <dgm:cxn modelId="{703B258A-D994-49A1-85E3-D9D3589B2D16}" type="presParOf" srcId="{2B55A181-471A-4BC6-9EFE-0C0A94AC9D42}" destId="{3D751EA0-8847-4A61-ADBE-C19566835491}" srcOrd="1" destOrd="0" presId="urn:microsoft.com/office/officeart/2005/8/layout/vList3"/>
    <dgm:cxn modelId="{5F88BB56-770E-424F-A3FC-768A108DD648}" type="presParOf" srcId="{8593222D-69D4-4974-AFCA-191B96EF5CFE}" destId="{2E5208F8-1260-4497-A4EF-AE4235215BD7}" srcOrd="7" destOrd="0" presId="urn:microsoft.com/office/officeart/2005/8/layout/vList3"/>
    <dgm:cxn modelId="{A6ECE5C6-478B-4F4F-BA0B-7C1D8279B5D5}" type="presParOf" srcId="{8593222D-69D4-4974-AFCA-191B96EF5CFE}" destId="{B28DC9DF-2EF1-496D-B0C0-F6B7032C58A7}" srcOrd="8" destOrd="0" presId="urn:microsoft.com/office/officeart/2005/8/layout/vList3"/>
    <dgm:cxn modelId="{8092F275-21E2-430D-BAE3-F18DE4551303}" type="presParOf" srcId="{B28DC9DF-2EF1-496D-B0C0-F6B7032C58A7}" destId="{4EE85E5A-30B6-41D2-BD47-949743547EC0}" srcOrd="0" destOrd="0" presId="urn:microsoft.com/office/officeart/2005/8/layout/vList3"/>
    <dgm:cxn modelId="{747E4675-0B59-4EC8-B406-35FBD7138711}" type="presParOf" srcId="{B28DC9DF-2EF1-496D-B0C0-F6B7032C58A7}" destId="{6DFD0A31-4FB1-4DEE-94B4-A389042463A3}"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0428C18-A3F6-4CE7-B222-13EB3716F84D}" type="doc">
      <dgm:prSet loTypeId="urn:microsoft.com/office/officeart/2005/8/layout/cycle7" loCatId="cycle" qsTypeId="urn:microsoft.com/office/officeart/2005/8/quickstyle/3d3" qsCatId="3D" csTypeId="urn:microsoft.com/office/officeart/2005/8/colors/accent3_2" csCatId="accent3" phldr="1"/>
      <dgm:spPr/>
      <dgm:t>
        <a:bodyPr/>
        <a:lstStyle/>
        <a:p>
          <a:endParaRPr lang="en-US"/>
        </a:p>
      </dgm:t>
    </dgm:pt>
    <dgm:pt modelId="{D7AD92CD-6D4A-4200-B13F-E84A0D60450F}">
      <dgm:prSet phldrT="[Text]" custT="1"/>
      <dgm:spPr/>
      <dgm:t>
        <a:bodyPr/>
        <a:lstStyle/>
        <a:p>
          <a:r>
            <a:rPr lang="en-US" sz="2400" dirty="0" smtClean="0">
              <a:latin typeface="Tahoma" panose="020B0604030504040204" pitchFamily="34" charset="0"/>
              <a:ea typeface="Tahoma" panose="020B0604030504040204" pitchFamily="34" charset="0"/>
              <a:cs typeface="Tahoma" panose="020B0604030504040204" pitchFamily="34" charset="0"/>
            </a:rPr>
            <a:t>Business Strategy</a:t>
          </a:r>
          <a:endParaRPr lang="en-US" sz="2400" dirty="0">
            <a:latin typeface="Tahoma" panose="020B0604030504040204" pitchFamily="34" charset="0"/>
            <a:ea typeface="Tahoma" panose="020B0604030504040204" pitchFamily="34" charset="0"/>
            <a:cs typeface="Tahoma" panose="020B0604030504040204" pitchFamily="34" charset="0"/>
          </a:endParaRPr>
        </a:p>
      </dgm:t>
    </dgm:pt>
    <dgm:pt modelId="{365C9D92-7D36-45C7-A0CA-573D5B0CC4DE}" type="parTrans" cxnId="{2C22B52D-52ED-4739-B114-89DA652D524F}">
      <dgm:prSet/>
      <dgm:spPr/>
      <dgm:t>
        <a:bodyPr/>
        <a:lstStyle/>
        <a:p>
          <a:endParaRPr lang="en-US" sz="2000">
            <a:latin typeface="Tahoma" panose="020B0604030504040204" pitchFamily="34" charset="0"/>
            <a:ea typeface="Tahoma" panose="020B0604030504040204" pitchFamily="34" charset="0"/>
            <a:cs typeface="Tahoma" panose="020B0604030504040204" pitchFamily="34" charset="0"/>
          </a:endParaRPr>
        </a:p>
      </dgm:t>
    </dgm:pt>
    <dgm:pt modelId="{DEAEC180-FE23-4D1A-A58F-8D76574E55A6}" type="sibTrans" cxnId="{2C22B52D-52ED-4739-B114-89DA652D524F}">
      <dgm:prSet custT="1"/>
      <dgm:spPr/>
      <dgm:t>
        <a:bodyPr/>
        <a:lstStyle/>
        <a:p>
          <a:endParaRPr lang="en-US" sz="1800">
            <a:latin typeface="Tahoma" panose="020B0604030504040204" pitchFamily="34" charset="0"/>
            <a:ea typeface="Tahoma" panose="020B0604030504040204" pitchFamily="34" charset="0"/>
            <a:cs typeface="Tahoma" panose="020B0604030504040204" pitchFamily="34" charset="0"/>
          </a:endParaRPr>
        </a:p>
      </dgm:t>
    </dgm:pt>
    <dgm:pt modelId="{539787BD-D283-48B4-B3C8-21392BE1F654}">
      <dgm:prSet phldrT="[Text]" custT="1"/>
      <dgm:spPr/>
      <dgm:t>
        <a:bodyPr/>
        <a:lstStyle/>
        <a:p>
          <a:r>
            <a:rPr lang="en-US" sz="2400" dirty="0" smtClean="0">
              <a:latin typeface="Tahoma" panose="020B0604030504040204" pitchFamily="34" charset="0"/>
              <a:ea typeface="Tahoma" panose="020B0604030504040204" pitchFamily="34" charset="0"/>
              <a:cs typeface="Tahoma" panose="020B0604030504040204" pitchFamily="34" charset="0"/>
            </a:rPr>
            <a:t>Information Strategy</a:t>
          </a:r>
          <a:endParaRPr lang="en-US" sz="2400" dirty="0">
            <a:latin typeface="Tahoma" panose="020B0604030504040204" pitchFamily="34" charset="0"/>
            <a:ea typeface="Tahoma" panose="020B0604030504040204" pitchFamily="34" charset="0"/>
            <a:cs typeface="Tahoma" panose="020B0604030504040204" pitchFamily="34" charset="0"/>
          </a:endParaRPr>
        </a:p>
      </dgm:t>
    </dgm:pt>
    <dgm:pt modelId="{C1F77B38-5A4F-407F-9E6A-42BE282377C0}" type="parTrans" cxnId="{EA0FCB31-015A-4C6F-BBBD-E8A755991E11}">
      <dgm:prSet/>
      <dgm:spPr/>
      <dgm:t>
        <a:bodyPr/>
        <a:lstStyle/>
        <a:p>
          <a:endParaRPr lang="en-US" sz="2000">
            <a:latin typeface="Tahoma" panose="020B0604030504040204" pitchFamily="34" charset="0"/>
            <a:ea typeface="Tahoma" panose="020B0604030504040204" pitchFamily="34" charset="0"/>
            <a:cs typeface="Tahoma" panose="020B0604030504040204" pitchFamily="34" charset="0"/>
          </a:endParaRPr>
        </a:p>
      </dgm:t>
    </dgm:pt>
    <dgm:pt modelId="{C1390028-B73C-4070-B897-6FB58C50E45F}" type="sibTrans" cxnId="{EA0FCB31-015A-4C6F-BBBD-E8A755991E11}">
      <dgm:prSet custT="1"/>
      <dgm:spPr/>
      <dgm:t>
        <a:bodyPr/>
        <a:lstStyle/>
        <a:p>
          <a:endParaRPr lang="en-US" sz="1800">
            <a:latin typeface="Tahoma" panose="020B0604030504040204" pitchFamily="34" charset="0"/>
            <a:ea typeface="Tahoma" panose="020B0604030504040204" pitchFamily="34" charset="0"/>
            <a:cs typeface="Tahoma" panose="020B0604030504040204" pitchFamily="34" charset="0"/>
          </a:endParaRPr>
        </a:p>
      </dgm:t>
    </dgm:pt>
    <dgm:pt modelId="{CDF47979-A196-46DE-B20A-BBDC6B7DFFBB}">
      <dgm:prSet phldrT="[Text]" custT="1"/>
      <dgm:spPr/>
      <dgm:t>
        <a:bodyPr/>
        <a:lstStyle/>
        <a:p>
          <a:r>
            <a:rPr lang="en-US" sz="2400" dirty="0" smtClean="0">
              <a:latin typeface="Tahoma" panose="020B0604030504040204" pitchFamily="34" charset="0"/>
              <a:ea typeface="Tahoma" panose="020B0604030504040204" pitchFamily="34" charset="0"/>
              <a:cs typeface="Tahoma" panose="020B0604030504040204" pitchFamily="34" charset="0"/>
            </a:rPr>
            <a:t>Organizational Strategy</a:t>
          </a:r>
          <a:endParaRPr lang="en-US" sz="2400" dirty="0">
            <a:latin typeface="Tahoma" panose="020B0604030504040204" pitchFamily="34" charset="0"/>
            <a:ea typeface="Tahoma" panose="020B0604030504040204" pitchFamily="34" charset="0"/>
            <a:cs typeface="Tahoma" panose="020B0604030504040204" pitchFamily="34" charset="0"/>
          </a:endParaRPr>
        </a:p>
      </dgm:t>
    </dgm:pt>
    <dgm:pt modelId="{148F2D5A-3E1B-49A8-829B-03CA51640937}" type="parTrans" cxnId="{3E790284-5EFF-444A-B18D-F55C4B6E201F}">
      <dgm:prSet/>
      <dgm:spPr/>
      <dgm:t>
        <a:bodyPr/>
        <a:lstStyle/>
        <a:p>
          <a:endParaRPr lang="en-US" sz="2000">
            <a:latin typeface="Tahoma" panose="020B0604030504040204" pitchFamily="34" charset="0"/>
            <a:ea typeface="Tahoma" panose="020B0604030504040204" pitchFamily="34" charset="0"/>
            <a:cs typeface="Tahoma" panose="020B0604030504040204" pitchFamily="34" charset="0"/>
          </a:endParaRPr>
        </a:p>
      </dgm:t>
    </dgm:pt>
    <dgm:pt modelId="{6632A655-B238-4873-8070-9899AE88E01F}" type="sibTrans" cxnId="{3E790284-5EFF-444A-B18D-F55C4B6E201F}">
      <dgm:prSet custT="1"/>
      <dgm:spPr/>
      <dgm:t>
        <a:bodyPr/>
        <a:lstStyle/>
        <a:p>
          <a:endParaRPr lang="en-US" sz="1800">
            <a:latin typeface="Tahoma" panose="020B0604030504040204" pitchFamily="34" charset="0"/>
            <a:ea typeface="Tahoma" panose="020B0604030504040204" pitchFamily="34" charset="0"/>
            <a:cs typeface="Tahoma" panose="020B0604030504040204" pitchFamily="34" charset="0"/>
          </a:endParaRPr>
        </a:p>
      </dgm:t>
    </dgm:pt>
    <dgm:pt modelId="{90712F05-2A15-4ADC-BF40-FB1F748B2D03}" type="pres">
      <dgm:prSet presAssocID="{10428C18-A3F6-4CE7-B222-13EB3716F84D}" presName="Name0" presStyleCnt="0">
        <dgm:presLayoutVars>
          <dgm:dir/>
          <dgm:resizeHandles val="exact"/>
        </dgm:presLayoutVars>
      </dgm:prSet>
      <dgm:spPr/>
      <dgm:t>
        <a:bodyPr/>
        <a:lstStyle/>
        <a:p>
          <a:endParaRPr lang="en-US"/>
        </a:p>
      </dgm:t>
    </dgm:pt>
    <dgm:pt modelId="{6B2D159B-423C-405D-A1B9-1D61A7FD64A5}" type="pres">
      <dgm:prSet presAssocID="{D7AD92CD-6D4A-4200-B13F-E84A0D60450F}" presName="node" presStyleLbl="node1" presStyleIdx="0" presStyleCnt="3">
        <dgm:presLayoutVars>
          <dgm:bulletEnabled val="1"/>
        </dgm:presLayoutVars>
      </dgm:prSet>
      <dgm:spPr/>
      <dgm:t>
        <a:bodyPr/>
        <a:lstStyle/>
        <a:p>
          <a:endParaRPr lang="en-US"/>
        </a:p>
      </dgm:t>
    </dgm:pt>
    <dgm:pt modelId="{69382395-10C6-475D-9708-33CC713515AB}" type="pres">
      <dgm:prSet presAssocID="{DEAEC180-FE23-4D1A-A58F-8D76574E55A6}" presName="sibTrans" presStyleLbl="sibTrans2D1" presStyleIdx="0" presStyleCnt="3"/>
      <dgm:spPr/>
      <dgm:t>
        <a:bodyPr/>
        <a:lstStyle/>
        <a:p>
          <a:endParaRPr lang="en-US"/>
        </a:p>
      </dgm:t>
    </dgm:pt>
    <dgm:pt modelId="{D7420262-3FC7-472D-9638-171F5741E716}" type="pres">
      <dgm:prSet presAssocID="{DEAEC180-FE23-4D1A-A58F-8D76574E55A6}" presName="connectorText" presStyleLbl="sibTrans2D1" presStyleIdx="0" presStyleCnt="3"/>
      <dgm:spPr/>
      <dgm:t>
        <a:bodyPr/>
        <a:lstStyle/>
        <a:p>
          <a:endParaRPr lang="en-US"/>
        </a:p>
      </dgm:t>
    </dgm:pt>
    <dgm:pt modelId="{4320F1D5-7A14-49BD-A924-8E2C137FF574}" type="pres">
      <dgm:prSet presAssocID="{539787BD-D283-48B4-B3C8-21392BE1F654}" presName="node" presStyleLbl="node1" presStyleIdx="1" presStyleCnt="3">
        <dgm:presLayoutVars>
          <dgm:bulletEnabled val="1"/>
        </dgm:presLayoutVars>
      </dgm:prSet>
      <dgm:spPr/>
      <dgm:t>
        <a:bodyPr/>
        <a:lstStyle/>
        <a:p>
          <a:endParaRPr lang="en-US"/>
        </a:p>
      </dgm:t>
    </dgm:pt>
    <dgm:pt modelId="{1AD9F769-B8A2-4A5E-9CCE-FE3BA1111F4A}" type="pres">
      <dgm:prSet presAssocID="{C1390028-B73C-4070-B897-6FB58C50E45F}" presName="sibTrans" presStyleLbl="sibTrans2D1" presStyleIdx="1" presStyleCnt="3"/>
      <dgm:spPr/>
      <dgm:t>
        <a:bodyPr/>
        <a:lstStyle/>
        <a:p>
          <a:endParaRPr lang="en-US"/>
        </a:p>
      </dgm:t>
    </dgm:pt>
    <dgm:pt modelId="{9136F886-61C0-4D91-8E60-B891B0DC27D9}" type="pres">
      <dgm:prSet presAssocID="{C1390028-B73C-4070-B897-6FB58C50E45F}" presName="connectorText" presStyleLbl="sibTrans2D1" presStyleIdx="1" presStyleCnt="3"/>
      <dgm:spPr/>
      <dgm:t>
        <a:bodyPr/>
        <a:lstStyle/>
        <a:p>
          <a:endParaRPr lang="en-US"/>
        </a:p>
      </dgm:t>
    </dgm:pt>
    <dgm:pt modelId="{EDBC6483-6078-41AD-9CBD-D93BF4228C76}" type="pres">
      <dgm:prSet presAssocID="{CDF47979-A196-46DE-B20A-BBDC6B7DFFBB}" presName="node" presStyleLbl="node1" presStyleIdx="2" presStyleCnt="3" custScaleX="117305">
        <dgm:presLayoutVars>
          <dgm:bulletEnabled val="1"/>
        </dgm:presLayoutVars>
      </dgm:prSet>
      <dgm:spPr/>
      <dgm:t>
        <a:bodyPr/>
        <a:lstStyle/>
        <a:p>
          <a:endParaRPr lang="en-US"/>
        </a:p>
      </dgm:t>
    </dgm:pt>
    <dgm:pt modelId="{1B56B529-5515-4799-8FB8-8FC44E50CB0E}" type="pres">
      <dgm:prSet presAssocID="{6632A655-B238-4873-8070-9899AE88E01F}" presName="sibTrans" presStyleLbl="sibTrans2D1" presStyleIdx="2" presStyleCnt="3"/>
      <dgm:spPr/>
      <dgm:t>
        <a:bodyPr/>
        <a:lstStyle/>
        <a:p>
          <a:endParaRPr lang="en-US"/>
        </a:p>
      </dgm:t>
    </dgm:pt>
    <dgm:pt modelId="{D470FD72-BE33-4E8E-8053-A52D5F52C500}" type="pres">
      <dgm:prSet presAssocID="{6632A655-B238-4873-8070-9899AE88E01F}" presName="connectorText" presStyleLbl="sibTrans2D1" presStyleIdx="2" presStyleCnt="3"/>
      <dgm:spPr/>
      <dgm:t>
        <a:bodyPr/>
        <a:lstStyle/>
        <a:p>
          <a:endParaRPr lang="en-US"/>
        </a:p>
      </dgm:t>
    </dgm:pt>
  </dgm:ptLst>
  <dgm:cxnLst>
    <dgm:cxn modelId="{4D8AE6F9-23AF-4D38-A30A-7E58ECD288A5}" type="presOf" srcId="{6632A655-B238-4873-8070-9899AE88E01F}" destId="{D470FD72-BE33-4E8E-8053-A52D5F52C500}" srcOrd="1" destOrd="0" presId="urn:microsoft.com/office/officeart/2005/8/layout/cycle7"/>
    <dgm:cxn modelId="{2C22B52D-52ED-4739-B114-89DA652D524F}" srcId="{10428C18-A3F6-4CE7-B222-13EB3716F84D}" destId="{D7AD92CD-6D4A-4200-B13F-E84A0D60450F}" srcOrd="0" destOrd="0" parTransId="{365C9D92-7D36-45C7-A0CA-573D5B0CC4DE}" sibTransId="{DEAEC180-FE23-4D1A-A58F-8D76574E55A6}"/>
    <dgm:cxn modelId="{EA0FCB31-015A-4C6F-BBBD-E8A755991E11}" srcId="{10428C18-A3F6-4CE7-B222-13EB3716F84D}" destId="{539787BD-D283-48B4-B3C8-21392BE1F654}" srcOrd="1" destOrd="0" parTransId="{C1F77B38-5A4F-407F-9E6A-42BE282377C0}" sibTransId="{C1390028-B73C-4070-B897-6FB58C50E45F}"/>
    <dgm:cxn modelId="{CDF6C205-F1D6-4F24-A4E1-52985FC05D0A}" type="presOf" srcId="{D7AD92CD-6D4A-4200-B13F-E84A0D60450F}" destId="{6B2D159B-423C-405D-A1B9-1D61A7FD64A5}" srcOrd="0" destOrd="0" presId="urn:microsoft.com/office/officeart/2005/8/layout/cycle7"/>
    <dgm:cxn modelId="{AD471497-52DF-4EB8-8C19-443ADE1F3BAE}" type="presOf" srcId="{10428C18-A3F6-4CE7-B222-13EB3716F84D}" destId="{90712F05-2A15-4ADC-BF40-FB1F748B2D03}" srcOrd="0" destOrd="0" presId="urn:microsoft.com/office/officeart/2005/8/layout/cycle7"/>
    <dgm:cxn modelId="{0CBFFB4C-2624-425A-8EFC-EBFD3BCB1215}" type="presOf" srcId="{DEAEC180-FE23-4D1A-A58F-8D76574E55A6}" destId="{D7420262-3FC7-472D-9638-171F5741E716}" srcOrd="1" destOrd="0" presId="urn:microsoft.com/office/officeart/2005/8/layout/cycle7"/>
    <dgm:cxn modelId="{3E790284-5EFF-444A-B18D-F55C4B6E201F}" srcId="{10428C18-A3F6-4CE7-B222-13EB3716F84D}" destId="{CDF47979-A196-46DE-B20A-BBDC6B7DFFBB}" srcOrd="2" destOrd="0" parTransId="{148F2D5A-3E1B-49A8-829B-03CA51640937}" sibTransId="{6632A655-B238-4873-8070-9899AE88E01F}"/>
    <dgm:cxn modelId="{86695473-8E51-4C88-9ADA-F4B9B739A395}" type="presOf" srcId="{539787BD-D283-48B4-B3C8-21392BE1F654}" destId="{4320F1D5-7A14-49BD-A924-8E2C137FF574}" srcOrd="0" destOrd="0" presId="urn:microsoft.com/office/officeart/2005/8/layout/cycle7"/>
    <dgm:cxn modelId="{506ADCA9-9D5D-42C7-8EEF-0E0B9B1DD8B2}" type="presOf" srcId="{C1390028-B73C-4070-B897-6FB58C50E45F}" destId="{9136F886-61C0-4D91-8E60-B891B0DC27D9}" srcOrd="1" destOrd="0" presId="urn:microsoft.com/office/officeart/2005/8/layout/cycle7"/>
    <dgm:cxn modelId="{3D9123F6-8BBD-4241-B1DC-DD822FF88EFC}" type="presOf" srcId="{DEAEC180-FE23-4D1A-A58F-8D76574E55A6}" destId="{69382395-10C6-475D-9708-33CC713515AB}" srcOrd="0" destOrd="0" presId="urn:microsoft.com/office/officeart/2005/8/layout/cycle7"/>
    <dgm:cxn modelId="{912E1138-3EC8-45D3-9956-8C09FE59AE1F}" type="presOf" srcId="{C1390028-B73C-4070-B897-6FB58C50E45F}" destId="{1AD9F769-B8A2-4A5E-9CCE-FE3BA1111F4A}" srcOrd="0" destOrd="0" presId="urn:microsoft.com/office/officeart/2005/8/layout/cycle7"/>
    <dgm:cxn modelId="{CDEB5CC0-C35F-4B63-9B8E-1F720A8E3CE0}" type="presOf" srcId="{CDF47979-A196-46DE-B20A-BBDC6B7DFFBB}" destId="{EDBC6483-6078-41AD-9CBD-D93BF4228C76}" srcOrd="0" destOrd="0" presId="urn:microsoft.com/office/officeart/2005/8/layout/cycle7"/>
    <dgm:cxn modelId="{97F3B5BA-D0F5-466D-A373-352E2767EE61}" type="presOf" srcId="{6632A655-B238-4873-8070-9899AE88E01F}" destId="{1B56B529-5515-4799-8FB8-8FC44E50CB0E}" srcOrd="0" destOrd="0" presId="urn:microsoft.com/office/officeart/2005/8/layout/cycle7"/>
    <dgm:cxn modelId="{878A71AE-7E34-4284-942E-19CE413FB085}" type="presParOf" srcId="{90712F05-2A15-4ADC-BF40-FB1F748B2D03}" destId="{6B2D159B-423C-405D-A1B9-1D61A7FD64A5}" srcOrd="0" destOrd="0" presId="urn:microsoft.com/office/officeart/2005/8/layout/cycle7"/>
    <dgm:cxn modelId="{05990A57-885F-46E0-ABC9-32D74843A9A1}" type="presParOf" srcId="{90712F05-2A15-4ADC-BF40-FB1F748B2D03}" destId="{69382395-10C6-475D-9708-33CC713515AB}" srcOrd="1" destOrd="0" presId="urn:microsoft.com/office/officeart/2005/8/layout/cycle7"/>
    <dgm:cxn modelId="{8DA781A5-675F-4490-B300-C4D935034E56}" type="presParOf" srcId="{69382395-10C6-475D-9708-33CC713515AB}" destId="{D7420262-3FC7-472D-9638-171F5741E716}" srcOrd="0" destOrd="0" presId="urn:microsoft.com/office/officeart/2005/8/layout/cycle7"/>
    <dgm:cxn modelId="{51EB66B3-E064-46C9-B8E0-7A364BC4448C}" type="presParOf" srcId="{90712F05-2A15-4ADC-BF40-FB1F748B2D03}" destId="{4320F1D5-7A14-49BD-A924-8E2C137FF574}" srcOrd="2" destOrd="0" presId="urn:microsoft.com/office/officeart/2005/8/layout/cycle7"/>
    <dgm:cxn modelId="{6F100268-3F99-4522-9849-A1D0E5ABCD6B}" type="presParOf" srcId="{90712F05-2A15-4ADC-BF40-FB1F748B2D03}" destId="{1AD9F769-B8A2-4A5E-9CCE-FE3BA1111F4A}" srcOrd="3" destOrd="0" presId="urn:microsoft.com/office/officeart/2005/8/layout/cycle7"/>
    <dgm:cxn modelId="{1612C0B5-DA0D-4DD4-8D2A-8BF31AE5C9E2}" type="presParOf" srcId="{1AD9F769-B8A2-4A5E-9CCE-FE3BA1111F4A}" destId="{9136F886-61C0-4D91-8E60-B891B0DC27D9}" srcOrd="0" destOrd="0" presId="urn:microsoft.com/office/officeart/2005/8/layout/cycle7"/>
    <dgm:cxn modelId="{7DBB0EB0-2F98-410A-915E-87B4FFC2CBCA}" type="presParOf" srcId="{90712F05-2A15-4ADC-BF40-FB1F748B2D03}" destId="{EDBC6483-6078-41AD-9CBD-D93BF4228C76}" srcOrd="4" destOrd="0" presId="urn:microsoft.com/office/officeart/2005/8/layout/cycle7"/>
    <dgm:cxn modelId="{69AF73FB-E8A1-4C68-9402-05761B9F8AAB}" type="presParOf" srcId="{90712F05-2A15-4ADC-BF40-FB1F748B2D03}" destId="{1B56B529-5515-4799-8FB8-8FC44E50CB0E}" srcOrd="5" destOrd="0" presId="urn:microsoft.com/office/officeart/2005/8/layout/cycle7"/>
    <dgm:cxn modelId="{8AA41AAA-3909-4F50-8531-852075B8AF95}" type="presParOf" srcId="{1B56B529-5515-4799-8FB8-8FC44E50CB0E}" destId="{D470FD72-BE33-4E8E-8053-A52D5F52C500}" srcOrd="0" destOrd="0" presId="urn:microsoft.com/office/officeart/2005/8/layout/cycle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E897858-F3B8-4383-AB9B-F5E25BB2E6F5}" type="doc">
      <dgm:prSet loTypeId="urn:microsoft.com/office/officeart/2005/8/layout/hList6" loCatId="list" qsTypeId="urn:microsoft.com/office/officeart/2005/8/quickstyle/simple2" qsCatId="simple" csTypeId="urn:microsoft.com/office/officeart/2005/8/colors/colorful1" csCatId="colorful"/>
      <dgm:spPr/>
      <dgm:t>
        <a:bodyPr/>
        <a:lstStyle/>
        <a:p>
          <a:endParaRPr lang="en-US"/>
        </a:p>
      </dgm:t>
    </dgm:pt>
    <dgm:pt modelId="{D58499E2-0388-4BC0-B1F2-F2A8A9D8B921}">
      <dgm:prSet custT="1"/>
      <dgm:spPr/>
      <dgm:t>
        <a:bodyPr/>
        <a:lstStyle/>
        <a:p>
          <a:pPr rtl="0"/>
          <a:r>
            <a:rPr lang="en-US" sz="2400" smtClean="0">
              <a:latin typeface="Tahoma" panose="020B0604030504040204" pitchFamily="34" charset="0"/>
              <a:ea typeface="Tahoma" panose="020B0604030504040204" pitchFamily="34" charset="0"/>
              <a:cs typeface="Tahoma" panose="020B0604030504040204" pitchFamily="34" charset="0"/>
            </a:rPr>
            <a:t>What is a business strategy?</a:t>
          </a:r>
          <a:endParaRPr lang="en-GB" sz="2400">
            <a:latin typeface="Tahoma" panose="020B0604030504040204" pitchFamily="34" charset="0"/>
            <a:ea typeface="Tahoma" panose="020B0604030504040204" pitchFamily="34" charset="0"/>
            <a:cs typeface="Tahoma" panose="020B0604030504040204" pitchFamily="34" charset="0"/>
          </a:endParaRPr>
        </a:p>
      </dgm:t>
    </dgm:pt>
    <dgm:pt modelId="{B8621ECF-82E9-4963-9C52-35BA557DEA20}" type="parTrans" cxnId="{FB042764-A14D-4A46-9879-7C14970326A6}">
      <dgm:prSet/>
      <dgm:spPr/>
      <dgm:t>
        <a:bodyPr/>
        <a:lstStyle/>
        <a:p>
          <a:endParaRPr lang="en-US" sz="2400">
            <a:latin typeface="Tahoma" panose="020B0604030504040204" pitchFamily="34" charset="0"/>
            <a:ea typeface="Tahoma" panose="020B0604030504040204" pitchFamily="34" charset="0"/>
            <a:cs typeface="Tahoma" panose="020B0604030504040204" pitchFamily="34" charset="0"/>
          </a:endParaRPr>
        </a:p>
      </dgm:t>
    </dgm:pt>
    <dgm:pt modelId="{FD874CAE-1C9A-4311-9D81-65111AA35584}" type="sibTrans" cxnId="{FB042764-A14D-4A46-9879-7C14970326A6}">
      <dgm:prSet/>
      <dgm:spPr/>
      <dgm:t>
        <a:bodyPr/>
        <a:lstStyle/>
        <a:p>
          <a:endParaRPr lang="en-US" sz="2400">
            <a:latin typeface="Tahoma" panose="020B0604030504040204" pitchFamily="34" charset="0"/>
            <a:ea typeface="Tahoma" panose="020B0604030504040204" pitchFamily="34" charset="0"/>
            <a:cs typeface="Tahoma" panose="020B0604030504040204" pitchFamily="34" charset="0"/>
          </a:endParaRPr>
        </a:p>
      </dgm:t>
    </dgm:pt>
    <dgm:pt modelId="{98D715F7-19BB-4BDA-A703-5800C297F77E}">
      <dgm:prSet custT="1"/>
      <dgm:spPr/>
      <dgm:t>
        <a:bodyPr/>
        <a:lstStyle/>
        <a:p>
          <a:pPr rtl="0"/>
          <a:r>
            <a:rPr lang="en-US" sz="2400" smtClean="0">
              <a:latin typeface="Tahoma" panose="020B0604030504040204" pitchFamily="34" charset="0"/>
              <a:ea typeface="Tahoma" panose="020B0604030504040204" pitchFamily="34" charset="0"/>
              <a:cs typeface="Tahoma" panose="020B0604030504040204" pitchFamily="34" charset="0"/>
            </a:rPr>
            <a:t>Which factors influences a business strategy?</a:t>
          </a:r>
          <a:endParaRPr lang="en-GB" sz="2400">
            <a:latin typeface="Tahoma" panose="020B0604030504040204" pitchFamily="34" charset="0"/>
            <a:ea typeface="Tahoma" panose="020B0604030504040204" pitchFamily="34" charset="0"/>
            <a:cs typeface="Tahoma" panose="020B0604030504040204" pitchFamily="34" charset="0"/>
          </a:endParaRPr>
        </a:p>
      </dgm:t>
    </dgm:pt>
    <dgm:pt modelId="{D6F9A142-45FF-46DB-A564-9863FC0510D0}" type="parTrans" cxnId="{89FFBB26-9F83-47A8-A14D-165B054F850F}">
      <dgm:prSet/>
      <dgm:spPr/>
      <dgm:t>
        <a:bodyPr/>
        <a:lstStyle/>
        <a:p>
          <a:endParaRPr lang="en-US" sz="2400">
            <a:latin typeface="Tahoma" panose="020B0604030504040204" pitchFamily="34" charset="0"/>
            <a:ea typeface="Tahoma" panose="020B0604030504040204" pitchFamily="34" charset="0"/>
            <a:cs typeface="Tahoma" panose="020B0604030504040204" pitchFamily="34" charset="0"/>
          </a:endParaRPr>
        </a:p>
      </dgm:t>
    </dgm:pt>
    <dgm:pt modelId="{FFB14C7B-E3F7-4897-B086-C9FD2C947C82}" type="sibTrans" cxnId="{89FFBB26-9F83-47A8-A14D-165B054F850F}">
      <dgm:prSet/>
      <dgm:spPr/>
      <dgm:t>
        <a:bodyPr/>
        <a:lstStyle/>
        <a:p>
          <a:endParaRPr lang="en-US" sz="2400">
            <a:latin typeface="Tahoma" panose="020B0604030504040204" pitchFamily="34" charset="0"/>
            <a:ea typeface="Tahoma" panose="020B0604030504040204" pitchFamily="34" charset="0"/>
            <a:cs typeface="Tahoma" panose="020B0604030504040204" pitchFamily="34" charset="0"/>
          </a:endParaRPr>
        </a:p>
      </dgm:t>
    </dgm:pt>
    <dgm:pt modelId="{28E7632B-D238-4D87-861B-D8D2DA224C2D}">
      <dgm:prSet custT="1"/>
      <dgm:spPr/>
      <dgm:t>
        <a:bodyPr/>
        <a:lstStyle/>
        <a:p>
          <a:pPr rtl="0"/>
          <a:r>
            <a:rPr lang="en-US" sz="2400" smtClean="0">
              <a:latin typeface="Tahoma" panose="020B0604030504040204" pitchFamily="34" charset="0"/>
              <a:ea typeface="Tahoma" panose="020B0604030504040204" pitchFamily="34" charset="0"/>
              <a:cs typeface="Tahoma" panose="020B0604030504040204" pitchFamily="34" charset="0"/>
            </a:rPr>
            <a:t>How does a business change its strategy without losing balance or becoming out of alignment?</a:t>
          </a:r>
          <a:endParaRPr lang="en-GB" sz="2400">
            <a:latin typeface="Tahoma" panose="020B0604030504040204" pitchFamily="34" charset="0"/>
            <a:ea typeface="Tahoma" panose="020B0604030504040204" pitchFamily="34" charset="0"/>
            <a:cs typeface="Tahoma" panose="020B0604030504040204" pitchFamily="34" charset="0"/>
          </a:endParaRPr>
        </a:p>
      </dgm:t>
    </dgm:pt>
    <dgm:pt modelId="{E631CF02-FB0B-4950-8DD8-30427E2967A7}" type="parTrans" cxnId="{EA7F8D0D-0C64-4B3E-9661-267416CCF598}">
      <dgm:prSet/>
      <dgm:spPr/>
      <dgm:t>
        <a:bodyPr/>
        <a:lstStyle/>
        <a:p>
          <a:endParaRPr lang="en-US" sz="2400">
            <a:latin typeface="Tahoma" panose="020B0604030504040204" pitchFamily="34" charset="0"/>
            <a:ea typeface="Tahoma" panose="020B0604030504040204" pitchFamily="34" charset="0"/>
            <a:cs typeface="Tahoma" panose="020B0604030504040204" pitchFamily="34" charset="0"/>
          </a:endParaRPr>
        </a:p>
      </dgm:t>
    </dgm:pt>
    <dgm:pt modelId="{C36177F6-2471-474F-B364-B5C755E29596}" type="sibTrans" cxnId="{EA7F8D0D-0C64-4B3E-9661-267416CCF598}">
      <dgm:prSet/>
      <dgm:spPr/>
      <dgm:t>
        <a:bodyPr/>
        <a:lstStyle/>
        <a:p>
          <a:endParaRPr lang="en-US" sz="2400">
            <a:latin typeface="Tahoma" panose="020B0604030504040204" pitchFamily="34" charset="0"/>
            <a:ea typeface="Tahoma" panose="020B0604030504040204" pitchFamily="34" charset="0"/>
            <a:cs typeface="Tahoma" panose="020B0604030504040204" pitchFamily="34" charset="0"/>
          </a:endParaRPr>
        </a:p>
      </dgm:t>
    </dgm:pt>
    <dgm:pt modelId="{5AA15D33-82F3-4876-B97B-8F21D17C3CE2}">
      <dgm:prSet custT="1"/>
      <dgm:spPr/>
      <dgm:t>
        <a:bodyPr/>
        <a:lstStyle/>
        <a:p>
          <a:pPr rtl="0"/>
          <a:r>
            <a:rPr lang="en-US" sz="2400" smtClean="0">
              <a:latin typeface="Tahoma" panose="020B0604030504040204" pitchFamily="34" charset="0"/>
              <a:ea typeface="Tahoma" panose="020B0604030504040204" pitchFamily="34" charset="0"/>
              <a:cs typeface="Tahoma" panose="020B0604030504040204" pitchFamily="34" charset="0"/>
            </a:rPr>
            <a:t>Are there specific events that induce a business to change its strategies?  What are they?</a:t>
          </a:r>
          <a:endParaRPr lang="en-GB" sz="2400">
            <a:latin typeface="Tahoma" panose="020B0604030504040204" pitchFamily="34" charset="0"/>
            <a:ea typeface="Tahoma" panose="020B0604030504040204" pitchFamily="34" charset="0"/>
            <a:cs typeface="Tahoma" panose="020B0604030504040204" pitchFamily="34" charset="0"/>
          </a:endParaRPr>
        </a:p>
      </dgm:t>
    </dgm:pt>
    <dgm:pt modelId="{9C0E3584-3285-412D-82D6-EF59E6B3EA21}" type="parTrans" cxnId="{FC737988-2F96-4E9A-9F8B-D4AA05CF33CA}">
      <dgm:prSet/>
      <dgm:spPr/>
      <dgm:t>
        <a:bodyPr/>
        <a:lstStyle/>
        <a:p>
          <a:endParaRPr lang="en-US" sz="2400">
            <a:latin typeface="Tahoma" panose="020B0604030504040204" pitchFamily="34" charset="0"/>
            <a:ea typeface="Tahoma" panose="020B0604030504040204" pitchFamily="34" charset="0"/>
            <a:cs typeface="Tahoma" panose="020B0604030504040204" pitchFamily="34" charset="0"/>
          </a:endParaRPr>
        </a:p>
      </dgm:t>
    </dgm:pt>
    <dgm:pt modelId="{BE68D298-42BF-4B54-9B23-5123CEE3120D}" type="sibTrans" cxnId="{FC737988-2F96-4E9A-9F8B-D4AA05CF33CA}">
      <dgm:prSet/>
      <dgm:spPr/>
      <dgm:t>
        <a:bodyPr/>
        <a:lstStyle/>
        <a:p>
          <a:endParaRPr lang="en-US" sz="2400">
            <a:latin typeface="Tahoma" panose="020B0604030504040204" pitchFamily="34" charset="0"/>
            <a:ea typeface="Tahoma" panose="020B0604030504040204" pitchFamily="34" charset="0"/>
            <a:cs typeface="Tahoma" panose="020B0604030504040204" pitchFamily="34" charset="0"/>
          </a:endParaRPr>
        </a:p>
      </dgm:t>
    </dgm:pt>
    <dgm:pt modelId="{190D676A-9136-48BE-A0B1-BBCAB58F0798}" type="pres">
      <dgm:prSet presAssocID="{EE897858-F3B8-4383-AB9B-F5E25BB2E6F5}" presName="Name0" presStyleCnt="0">
        <dgm:presLayoutVars>
          <dgm:dir/>
          <dgm:resizeHandles val="exact"/>
        </dgm:presLayoutVars>
      </dgm:prSet>
      <dgm:spPr/>
      <dgm:t>
        <a:bodyPr/>
        <a:lstStyle/>
        <a:p>
          <a:endParaRPr lang="en-US"/>
        </a:p>
      </dgm:t>
    </dgm:pt>
    <dgm:pt modelId="{2DFE9E2D-E28C-4015-A693-A1F89945F11A}" type="pres">
      <dgm:prSet presAssocID="{D58499E2-0388-4BC0-B1F2-F2A8A9D8B921}" presName="node" presStyleLbl="node1" presStyleIdx="0" presStyleCnt="4">
        <dgm:presLayoutVars>
          <dgm:bulletEnabled val="1"/>
        </dgm:presLayoutVars>
      </dgm:prSet>
      <dgm:spPr/>
      <dgm:t>
        <a:bodyPr/>
        <a:lstStyle/>
        <a:p>
          <a:endParaRPr lang="en-US"/>
        </a:p>
      </dgm:t>
    </dgm:pt>
    <dgm:pt modelId="{2897C8F2-61F7-4798-9637-7BC509FF3F3D}" type="pres">
      <dgm:prSet presAssocID="{FD874CAE-1C9A-4311-9D81-65111AA35584}" presName="sibTrans" presStyleCnt="0"/>
      <dgm:spPr/>
    </dgm:pt>
    <dgm:pt modelId="{25FB90C5-A926-41D8-A82C-C085751AA244}" type="pres">
      <dgm:prSet presAssocID="{98D715F7-19BB-4BDA-A703-5800C297F77E}" presName="node" presStyleLbl="node1" presStyleIdx="1" presStyleCnt="4">
        <dgm:presLayoutVars>
          <dgm:bulletEnabled val="1"/>
        </dgm:presLayoutVars>
      </dgm:prSet>
      <dgm:spPr/>
      <dgm:t>
        <a:bodyPr/>
        <a:lstStyle/>
        <a:p>
          <a:endParaRPr lang="en-US"/>
        </a:p>
      </dgm:t>
    </dgm:pt>
    <dgm:pt modelId="{6C7C6796-16F7-4D01-8D57-9BE3C4FC40FF}" type="pres">
      <dgm:prSet presAssocID="{FFB14C7B-E3F7-4897-B086-C9FD2C947C82}" presName="sibTrans" presStyleCnt="0"/>
      <dgm:spPr/>
    </dgm:pt>
    <dgm:pt modelId="{03932A12-8334-4E72-9158-A3AF213CF60F}" type="pres">
      <dgm:prSet presAssocID="{28E7632B-D238-4D87-861B-D8D2DA224C2D}" presName="node" presStyleLbl="node1" presStyleIdx="2" presStyleCnt="4">
        <dgm:presLayoutVars>
          <dgm:bulletEnabled val="1"/>
        </dgm:presLayoutVars>
      </dgm:prSet>
      <dgm:spPr/>
      <dgm:t>
        <a:bodyPr/>
        <a:lstStyle/>
        <a:p>
          <a:endParaRPr lang="en-US"/>
        </a:p>
      </dgm:t>
    </dgm:pt>
    <dgm:pt modelId="{4BDA04E3-59C7-4BBE-AD3F-EC60985447BE}" type="pres">
      <dgm:prSet presAssocID="{C36177F6-2471-474F-B364-B5C755E29596}" presName="sibTrans" presStyleCnt="0"/>
      <dgm:spPr/>
    </dgm:pt>
    <dgm:pt modelId="{90FC5EAF-AA3F-4654-871F-59B69176274D}" type="pres">
      <dgm:prSet presAssocID="{5AA15D33-82F3-4876-B97B-8F21D17C3CE2}" presName="node" presStyleLbl="node1" presStyleIdx="3" presStyleCnt="4">
        <dgm:presLayoutVars>
          <dgm:bulletEnabled val="1"/>
        </dgm:presLayoutVars>
      </dgm:prSet>
      <dgm:spPr/>
      <dgm:t>
        <a:bodyPr/>
        <a:lstStyle/>
        <a:p>
          <a:endParaRPr lang="en-US"/>
        </a:p>
      </dgm:t>
    </dgm:pt>
  </dgm:ptLst>
  <dgm:cxnLst>
    <dgm:cxn modelId="{EA7F8D0D-0C64-4B3E-9661-267416CCF598}" srcId="{EE897858-F3B8-4383-AB9B-F5E25BB2E6F5}" destId="{28E7632B-D238-4D87-861B-D8D2DA224C2D}" srcOrd="2" destOrd="0" parTransId="{E631CF02-FB0B-4950-8DD8-30427E2967A7}" sibTransId="{C36177F6-2471-474F-B364-B5C755E29596}"/>
    <dgm:cxn modelId="{FB042764-A14D-4A46-9879-7C14970326A6}" srcId="{EE897858-F3B8-4383-AB9B-F5E25BB2E6F5}" destId="{D58499E2-0388-4BC0-B1F2-F2A8A9D8B921}" srcOrd="0" destOrd="0" parTransId="{B8621ECF-82E9-4963-9C52-35BA557DEA20}" sibTransId="{FD874CAE-1C9A-4311-9D81-65111AA35584}"/>
    <dgm:cxn modelId="{89FFBB26-9F83-47A8-A14D-165B054F850F}" srcId="{EE897858-F3B8-4383-AB9B-F5E25BB2E6F5}" destId="{98D715F7-19BB-4BDA-A703-5800C297F77E}" srcOrd="1" destOrd="0" parTransId="{D6F9A142-45FF-46DB-A564-9863FC0510D0}" sibTransId="{FFB14C7B-E3F7-4897-B086-C9FD2C947C82}"/>
    <dgm:cxn modelId="{9657147F-80BF-42BD-BCB7-46B176A46B1A}" type="presOf" srcId="{5AA15D33-82F3-4876-B97B-8F21D17C3CE2}" destId="{90FC5EAF-AA3F-4654-871F-59B69176274D}" srcOrd="0" destOrd="0" presId="urn:microsoft.com/office/officeart/2005/8/layout/hList6"/>
    <dgm:cxn modelId="{6C36F99C-4F0C-4ADB-B3C3-BE96BEE5DE79}" type="presOf" srcId="{EE897858-F3B8-4383-AB9B-F5E25BB2E6F5}" destId="{190D676A-9136-48BE-A0B1-BBCAB58F0798}" srcOrd="0" destOrd="0" presId="urn:microsoft.com/office/officeart/2005/8/layout/hList6"/>
    <dgm:cxn modelId="{868DCBDF-39BD-4B74-AF58-EC278E3B81FE}" type="presOf" srcId="{28E7632B-D238-4D87-861B-D8D2DA224C2D}" destId="{03932A12-8334-4E72-9158-A3AF213CF60F}" srcOrd="0" destOrd="0" presId="urn:microsoft.com/office/officeart/2005/8/layout/hList6"/>
    <dgm:cxn modelId="{561B24B6-D5BA-4F14-8CD8-D0403AA4EFCD}" type="presOf" srcId="{98D715F7-19BB-4BDA-A703-5800C297F77E}" destId="{25FB90C5-A926-41D8-A82C-C085751AA244}" srcOrd="0" destOrd="0" presId="urn:microsoft.com/office/officeart/2005/8/layout/hList6"/>
    <dgm:cxn modelId="{FC737988-2F96-4E9A-9F8B-D4AA05CF33CA}" srcId="{EE897858-F3B8-4383-AB9B-F5E25BB2E6F5}" destId="{5AA15D33-82F3-4876-B97B-8F21D17C3CE2}" srcOrd="3" destOrd="0" parTransId="{9C0E3584-3285-412D-82D6-EF59E6B3EA21}" sibTransId="{BE68D298-42BF-4B54-9B23-5123CEE3120D}"/>
    <dgm:cxn modelId="{BE78C12E-48F0-4EBA-A931-747C5C02300E}" type="presOf" srcId="{D58499E2-0388-4BC0-B1F2-F2A8A9D8B921}" destId="{2DFE9E2D-E28C-4015-A693-A1F89945F11A}" srcOrd="0" destOrd="0" presId="urn:microsoft.com/office/officeart/2005/8/layout/hList6"/>
    <dgm:cxn modelId="{84D22D22-8D7E-4524-84D3-6C0683F07E6A}" type="presParOf" srcId="{190D676A-9136-48BE-A0B1-BBCAB58F0798}" destId="{2DFE9E2D-E28C-4015-A693-A1F89945F11A}" srcOrd="0" destOrd="0" presId="urn:microsoft.com/office/officeart/2005/8/layout/hList6"/>
    <dgm:cxn modelId="{6C6ED578-FB37-4984-9F5D-4AC56C25010E}" type="presParOf" srcId="{190D676A-9136-48BE-A0B1-BBCAB58F0798}" destId="{2897C8F2-61F7-4798-9637-7BC509FF3F3D}" srcOrd="1" destOrd="0" presId="urn:microsoft.com/office/officeart/2005/8/layout/hList6"/>
    <dgm:cxn modelId="{89EEC244-7B19-447F-8AB6-52368C269906}" type="presParOf" srcId="{190D676A-9136-48BE-A0B1-BBCAB58F0798}" destId="{25FB90C5-A926-41D8-A82C-C085751AA244}" srcOrd="2" destOrd="0" presId="urn:microsoft.com/office/officeart/2005/8/layout/hList6"/>
    <dgm:cxn modelId="{EDF35AEE-2DF1-4C05-8707-174270294A80}" type="presParOf" srcId="{190D676A-9136-48BE-A0B1-BBCAB58F0798}" destId="{6C7C6796-16F7-4D01-8D57-9BE3C4FC40FF}" srcOrd="3" destOrd="0" presId="urn:microsoft.com/office/officeart/2005/8/layout/hList6"/>
    <dgm:cxn modelId="{0B4149FA-CF82-40A2-9C84-A11E6F446BB3}" type="presParOf" srcId="{190D676A-9136-48BE-A0B1-BBCAB58F0798}" destId="{03932A12-8334-4E72-9158-A3AF213CF60F}" srcOrd="4" destOrd="0" presId="urn:microsoft.com/office/officeart/2005/8/layout/hList6"/>
    <dgm:cxn modelId="{AF49C2EF-2F6E-4D35-B6B5-007FA68F62B3}" type="presParOf" srcId="{190D676A-9136-48BE-A0B1-BBCAB58F0798}" destId="{4BDA04E3-59C7-4BBE-AD3F-EC60985447BE}" srcOrd="5" destOrd="0" presId="urn:microsoft.com/office/officeart/2005/8/layout/hList6"/>
    <dgm:cxn modelId="{B3728B06-FED9-49E8-A195-171DD1BD309E}" type="presParOf" srcId="{190D676A-9136-48BE-A0B1-BBCAB58F0798}" destId="{90FC5EAF-AA3F-4654-871F-59B69176274D}" srcOrd="6"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50338A4-5827-4373-A564-8002C2FFEE6B}" type="doc">
      <dgm:prSet loTypeId="urn:microsoft.com/office/officeart/2005/8/layout/hierarchy3" loCatId="hierarchy" qsTypeId="urn:microsoft.com/office/officeart/2005/8/quickstyle/simple1" qsCatId="simple" csTypeId="urn:microsoft.com/office/officeart/2005/8/colors/accent3_1" csCatId="accent3" phldr="1"/>
      <dgm:spPr/>
      <dgm:t>
        <a:bodyPr/>
        <a:lstStyle/>
        <a:p>
          <a:endParaRPr lang="en-US"/>
        </a:p>
      </dgm:t>
    </dgm:pt>
    <dgm:pt modelId="{B1E70FAB-632E-4CF0-9D2F-C9C44F4E5103}">
      <dgm:prSet phldrT="[Text]"/>
      <dgm:spPr/>
      <dgm:t>
        <a:bodyPr/>
        <a:lstStyle/>
        <a:p>
          <a:r>
            <a:rPr lang="en-US" dirty="0" smtClean="0">
              <a:latin typeface="Tahoma" panose="020B0604030504040204" pitchFamily="34" charset="0"/>
              <a:ea typeface="Tahoma" panose="020B0604030504040204" pitchFamily="34" charset="0"/>
              <a:cs typeface="Tahoma" panose="020B0604030504040204" pitchFamily="34" charset="0"/>
            </a:rPr>
            <a:t>IBM</a:t>
          </a:r>
          <a:endParaRPr lang="en-US" dirty="0">
            <a:latin typeface="Tahoma" panose="020B0604030504040204" pitchFamily="34" charset="0"/>
            <a:ea typeface="Tahoma" panose="020B0604030504040204" pitchFamily="34" charset="0"/>
            <a:cs typeface="Tahoma" panose="020B0604030504040204" pitchFamily="34" charset="0"/>
          </a:endParaRPr>
        </a:p>
      </dgm:t>
    </dgm:pt>
    <dgm:pt modelId="{8A589DF3-FAFB-4273-A17A-56A13952941E}" type="parTrans" cxnId="{234F5346-BB14-4C03-A556-D0051C6B3118}">
      <dgm:prSet/>
      <dgm:spPr/>
      <dgm:t>
        <a:bodyPr/>
        <a:lstStyle/>
        <a:p>
          <a:endParaRPr lang="en-US">
            <a:latin typeface="Tahoma" panose="020B0604030504040204" pitchFamily="34" charset="0"/>
            <a:ea typeface="Tahoma" panose="020B0604030504040204" pitchFamily="34" charset="0"/>
            <a:cs typeface="Tahoma" panose="020B0604030504040204" pitchFamily="34" charset="0"/>
          </a:endParaRPr>
        </a:p>
      </dgm:t>
    </dgm:pt>
    <dgm:pt modelId="{8721AA79-CF46-4EA9-AFB7-1430E1FEA697}" type="sibTrans" cxnId="{234F5346-BB14-4C03-A556-D0051C6B3118}">
      <dgm:prSet/>
      <dgm:spPr/>
      <dgm:t>
        <a:bodyPr/>
        <a:lstStyle/>
        <a:p>
          <a:endParaRPr lang="en-US">
            <a:latin typeface="Tahoma" panose="020B0604030504040204" pitchFamily="34" charset="0"/>
            <a:ea typeface="Tahoma" panose="020B0604030504040204" pitchFamily="34" charset="0"/>
            <a:cs typeface="Tahoma" panose="020B0604030504040204" pitchFamily="34" charset="0"/>
          </a:endParaRPr>
        </a:p>
      </dgm:t>
    </dgm:pt>
    <dgm:pt modelId="{90860E2B-14AB-49D0-8ED6-B885FAF20A10}">
      <dgm:prSet phldrT="[Text]" custT="1"/>
      <dgm:spPr/>
      <dgm:t>
        <a:bodyPr/>
        <a:lstStyle/>
        <a:p>
          <a:r>
            <a:rPr lang="en-US" sz="1400" dirty="0" smtClean="0">
              <a:latin typeface="Tahoma" panose="020B0604030504040204" pitchFamily="34" charset="0"/>
              <a:ea typeface="Tahoma" panose="020B0604030504040204" pitchFamily="34" charset="0"/>
              <a:cs typeface="Tahoma" panose="020B0604030504040204" pitchFamily="34" charset="0"/>
            </a:rPr>
            <a:t>At IBM, we strive to lead in the creation, development and manufacture of the industry's most advanced information technologies, including computer systems, software, networking systems, storage devices and microelectronics.  We translate these advanced technologies into value for our customers through our professional solutions and services businesses worldwide. </a:t>
          </a:r>
          <a:endParaRPr lang="en-US" sz="1400" dirty="0">
            <a:latin typeface="Tahoma" panose="020B0604030504040204" pitchFamily="34" charset="0"/>
            <a:ea typeface="Tahoma" panose="020B0604030504040204" pitchFamily="34" charset="0"/>
            <a:cs typeface="Tahoma" panose="020B0604030504040204" pitchFamily="34" charset="0"/>
          </a:endParaRPr>
        </a:p>
      </dgm:t>
    </dgm:pt>
    <dgm:pt modelId="{B3B6C2FB-9C36-475D-ACBF-599579B57896}" type="parTrans" cxnId="{47162ED4-482D-4CC9-96A1-143147B6706E}">
      <dgm:prSet/>
      <dgm:spPr/>
      <dgm:t>
        <a:bodyPr/>
        <a:lstStyle/>
        <a:p>
          <a:endParaRPr lang="en-US">
            <a:latin typeface="Tahoma" panose="020B0604030504040204" pitchFamily="34" charset="0"/>
            <a:ea typeface="Tahoma" panose="020B0604030504040204" pitchFamily="34" charset="0"/>
            <a:cs typeface="Tahoma" panose="020B0604030504040204" pitchFamily="34" charset="0"/>
          </a:endParaRPr>
        </a:p>
      </dgm:t>
    </dgm:pt>
    <dgm:pt modelId="{3AF436D9-8452-4B1C-A0F3-068B5A6E2DCC}" type="sibTrans" cxnId="{47162ED4-482D-4CC9-96A1-143147B6706E}">
      <dgm:prSet/>
      <dgm:spPr/>
      <dgm:t>
        <a:bodyPr/>
        <a:lstStyle/>
        <a:p>
          <a:endParaRPr lang="en-US">
            <a:latin typeface="Tahoma" panose="020B0604030504040204" pitchFamily="34" charset="0"/>
            <a:ea typeface="Tahoma" panose="020B0604030504040204" pitchFamily="34" charset="0"/>
            <a:cs typeface="Tahoma" panose="020B0604030504040204" pitchFamily="34" charset="0"/>
          </a:endParaRPr>
        </a:p>
      </dgm:t>
    </dgm:pt>
    <dgm:pt modelId="{95B1FF9B-6719-4D13-98DE-A887C36444D4}">
      <dgm:prSet phldrT="[Text]"/>
      <dgm:spPr/>
      <dgm:t>
        <a:bodyPr/>
        <a:lstStyle/>
        <a:p>
          <a:r>
            <a:rPr lang="en-US" dirty="0" smtClean="0">
              <a:latin typeface="Tahoma" panose="020B0604030504040204" pitchFamily="34" charset="0"/>
              <a:ea typeface="Tahoma" panose="020B0604030504040204" pitchFamily="34" charset="0"/>
              <a:cs typeface="Tahoma" panose="020B0604030504040204" pitchFamily="34" charset="0"/>
            </a:rPr>
            <a:t>DELL</a:t>
          </a:r>
          <a:endParaRPr lang="en-US" dirty="0">
            <a:latin typeface="Tahoma" panose="020B0604030504040204" pitchFamily="34" charset="0"/>
            <a:ea typeface="Tahoma" panose="020B0604030504040204" pitchFamily="34" charset="0"/>
            <a:cs typeface="Tahoma" panose="020B0604030504040204" pitchFamily="34" charset="0"/>
          </a:endParaRPr>
        </a:p>
      </dgm:t>
    </dgm:pt>
    <dgm:pt modelId="{F2BC91F8-8F68-4217-AAE0-2462CC88E442}" type="parTrans" cxnId="{3DA7BC2B-CDF9-43D0-B9C0-B49E8A8EEE5F}">
      <dgm:prSet/>
      <dgm:spPr/>
      <dgm:t>
        <a:bodyPr/>
        <a:lstStyle/>
        <a:p>
          <a:endParaRPr lang="en-US">
            <a:latin typeface="Tahoma" panose="020B0604030504040204" pitchFamily="34" charset="0"/>
            <a:ea typeface="Tahoma" panose="020B0604030504040204" pitchFamily="34" charset="0"/>
            <a:cs typeface="Tahoma" panose="020B0604030504040204" pitchFamily="34" charset="0"/>
          </a:endParaRPr>
        </a:p>
      </dgm:t>
    </dgm:pt>
    <dgm:pt modelId="{EDE6A133-D88D-4328-B104-D4DE4FFBD6E3}" type="sibTrans" cxnId="{3DA7BC2B-CDF9-43D0-B9C0-B49E8A8EEE5F}">
      <dgm:prSet/>
      <dgm:spPr/>
      <dgm:t>
        <a:bodyPr/>
        <a:lstStyle/>
        <a:p>
          <a:endParaRPr lang="en-US">
            <a:latin typeface="Tahoma" panose="020B0604030504040204" pitchFamily="34" charset="0"/>
            <a:ea typeface="Tahoma" panose="020B0604030504040204" pitchFamily="34" charset="0"/>
            <a:cs typeface="Tahoma" panose="020B0604030504040204" pitchFamily="34" charset="0"/>
          </a:endParaRPr>
        </a:p>
      </dgm:t>
    </dgm:pt>
    <dgm:pt modelId="{30A8755C-7BE6-48F2-8763-938789608683}">
      <dgm:prSet phldrT="[Text]" custT="1"/>
      <dgm:spPr/>
      <dgm:t>
        <a:bodyPr/>
        <a:lstStyle/>
        <a:p>
          <a:r>
            <a:rPr lang="en-US" sz="2000" smtClean="0">
              <a:latin typeface="Tahoma" panose="020B0604030504040204" pitchFamily="34" charset="0"/>
              <a:ea typeface="Tahoma" panose="020B0604030504040204" pitchFamily="34" charset="0"/>
              <a:cs typeface="Tahoma" panose="020B0604030504040204" pitchFamily="34" charset="0"/>
            </a:rPr>
            <a:t>Dell's mission is to be the most successful computer company in the world at delivering the best customer experience in markets we serve.</a:t>
          </a:r>
          <a:endParaRPr lang="en-US" sz="2000" dirty="0">
            <a:latin typeface="Tahoma" panose="020B0604030504040204" pitchFamily="34" charset="0"/>
            <a:ea typeface="Tahoma" panose="020B0604030504040204" pitchFamily="34" charset="0"/>
            <a:cs typeface="Tahoma" panose="020B0604030504040204" pitchFamily="34" charset="0"/>
          </a:endParaRPr>
        </a:p>
      </dgm:t>
    </dgm:pt>
    <dgm:pt modelId="{7D1503CE-DE81-44AD-B8E2-9151471B5C94}" type="parTrans" cxnId="{4304F395-A3B8-4FC0-8782-1C679FA8B308}">
      <dgm:prSet/>
      <dgm:spPr/>
      <dgm:t>
        <a:bodyPr/>
        <a:lstStyle/>
        <a:p>
          <a:endParaRPr lang="en-US">
            <a:latin typeface="Tahoma" panose="020B0604030504040204" pitchFamily="34" charset="0"/>
            <a:ea typeface="Tahoma" panose="020B0604030504040204" pitchFamily="34" charset="0"/>
            <a:cs typeface="Tahoma" panose="020B0604030504040204" pitchFamily="34" charset="0"/>
          </a:endParaRPr>
        </a:p>
      </dgm:t>
    </dgm:pt>
    <dgm:pt modelId="{785E9AF9-FD8F-400E-B3B0-EC80D777C45A}" type="sibTrans" cxnId="{4304F395-A3B8-4FC0-8782-1C679FA8B308}">
      <dgm:prSet/>
      <dgm:spPr/>
      <dgm:t>
        <a:bodyPr/>
        <a:lstStyle/>
        <a:p>
          <a:endParaRPr lang="en-US">
            <a:latin typeface="Tahoma" panose="020B0604030504040204" pitchFamily="34" charset="0"/>
            <a:ea typeface="Tahoma" panose="020B0604030504040204" pitchFamily="34" charset="0"/>
            <a:cs typeface="Tahoma" panose="020B0604030504040204" pitchFamily="34" charset="0"/>
          </a:endParaRPr>
        </a:p>
      </dgm:t>
    </dgm:pt>
    <dgm:pt modelId="{A54237E3-05C0-42EB-8F9B-8A707D71996B}">
      <dgm:prSet phldrT="[Text]"/>
      <dgm:spPr/>
      <dgm:t>
        <a:bodyPr/>
        <a:lstStyle/>
        <a:p>
          <a:r>
            <a:rPr lang="en-US" dirty="0" smtClean="0">
              <a:latin typeface="Tahoma" panose="020B0604030504040204" pitchFamily="34" charset="0"/>
              <a:ea typeface="Tahoma" panose="020B0604030504040204" pitchFamily="34" charset="0"/>
              <a:cs typeface="Tahoma" panose="020B0604030504040204" pitchFamily="34" charset="0"/>
            </a:rPr>
            <a:t>APPLE</a:t>
          </a:r>
          <a:endParaRPr lang="en-US" dirty="0">
            <a:latin typeface="Tahoma" panose="020B0604030504040204" pitchFamily="34" charset="0"/>
            <a:ea typeface="Tahoma" panose="020B0604030504040204" pitchFamily="34" charset="0"/>
            <a:cs typeface="Tahoma" panose="020B0604030504040204" pitchFamily="34" charset="0"/>
          </a:endParaRPr>
        </a:p>
      </dgm:t>
    </dgm:pt>
    <dgm:pt modelId="{1502A9F6-D0D0-4D83-9945-421EAF27F094}" type="parTrans" cxnId="{503E6987-1669-49FF-9AD6-54A34672989B}">
      <dgm:prSet/>
      <dgm:spPr/>
      <dgm:t>
        <a:bodyPr/>
        <a:lstStyle/>
        <a:p>
          <a:endParaRPr lang="en-US">
            <a:latin typeface="Tahoma" panose="020B0604030504040204" pitchFamily="34" charset="0"/>
            <a:ea typeface="Tahoma" panose="020B0604030504040204" pitchFamily="34" charset="0"/>
            <a:cs typeface="Tahoma" panose="020B0604030504040204" pitchFamily="34" charset="0"/>
          </a:endParaRPr>
        </a:p>
      </dgm:t>
    </dgm:pt>
    <dgm:pt modelId="{054BD64A-B8B5-4DCC-9C4C-202E854FCF63}" type="sibTrans" cxnId="{503E6987-1669-49FF-9AD6-54A34672989B}">
      <dgm:prSet/>
      <dgm:spPr/>
      <dgm:t>
        <a:bodyPr/>
        <a:lstStyle/>
        <a:p>
          <a:endParaRPr lang="en-US">
            <a:latin typeface="Tahoma" panose="020B0604030504040204" pitchFamily="34" charset="0"/>
            <a:ea typeface="Tahoma" panose="020B0604030504040204" pitchFamily="34" charset="0"/>
            <a:cs typeface="Tahoma" panose="020B0604030504040204" pitchFamily="34" charset="0"/>
          </a:endParaRPr>
        </a:p>
      </dgm:t>
    </dgm:pt>
    <dgm:pt modelId="{3B59ED5F-AFA5-457D-A2B0-176013379C6B}">
      <dgm:prSet phldrT="[Text]" custT="1"/>
      <dgm:spPr/>
      <dgm:t>
        <a:bodyPr/>
        <a:lstStyle/>
        <a:p>
          <a:r>
            <a:rPr lang="en-US" sz="1400" dirty="0" smtClean="0">
              <a:latin typeface="Tahoma" panose="020B0604030504040204" pitchFamily="34" charset="0"/>
              <a:ea typeface="Tahoma" panose="020B0604030504040204" pitchFamily="34" charset="0"/>
              <a:cs typeface="Tahoma" panose="020B0604030504040204" pitchFamily="34" charset="0"/>
            </a:rPr>
            <a:t>Apple ignited the personal computer revolution in the 1970s with the Apple II and reinvented the personal computer in the 1980s with the Macintosh. Apple is committed to bringing the best personal computing experience to students, educators, creative professionals and consumers around the world through its innovative hardware, software and Internet offerings.</a:t>
          </a:r>
          <a:endParaRPr lang="en-US" sz="1400" dirty="0">
            <a:latin typeface="Tahoma" panose="020B0604030504040204" pitchFamily="34" charset="0"/>
            <a:ea typeface="Tahoma" panose="020B0604030504040204" pitchFamily="34" charset="0"/>
            <a:cs typeface="Tahoma" panose="020B0604030504040204" pitchFamily="34" charset="0"/>
          </a:endParaRPr>
        </a:p>
      </dgm:t>
    </dgm:pt>
    <dgm:pt modelId="{60AEF26B-0951-4FB4-B894-2994AECDAF9B}" type="parTrans" cxnId="{6203C8B4-668D-417E-9138-1FFD63914C66}">
      <dgm:prSet/>
      <dgm:spPr/>
      <dgm:t>
        <a:bodyPr/>
        <a:lstStyle/>
        <a:p>
          <a:endParaRPr lang="en-US">
            <a:latin typeface="Tahoma" panose="020B0604030504040204" pitchFamily="34" charset="0"/>
            <a:ea typeface="Tahoma" panose="020B0604030504040204" pitchFamily="34" charset="0"/>
            <a:cs typeface="Tahoma" panose="020B0604030504040204" pitchFamily="34" charset="0"/>
          </a:endParaRPr>
        </a:p>
      </dgm:t>
    </dgm:pt>
    <dgm:pt modelId="{AE7C491A-A558-408C-96CE-FD7B0459DF63}" type="sibTrans" cxnId="{6203C8B4-668D-417E-9138-1FFD63914C66}">
      <dgm:prSet/>
      <dgm:spPr/>
      <dgm:t>
        <a:bodyPr/>
        <a:lstStyle/>
        <a:p>
          <a:endParaRPr lang="en-US">
            <a:latin typeface="Tahoma" panose="020B0604030504040204" pitchFamily="34" charset="0"/>
            <a:ea typeface="Tahoma" panose="020B0604030504040204" pitchFamily="34" charset="0"/>
            <a:cs typeface="Tahoma" panose="020B0604030504040204" pitchFamily="34" charset="0"/>
          </a:endParaRPr>
        </a:p>
      </dgm:t>
    </dgm:pt>
    <dgm:pt modelId="{AFADD868-2806-4069-86A2-C3AEACC53E6F}" type="pres">
      <dgm:prSet presAssocID="{250338A4-5827-4373-A564-8002C2FFEE6B}" presName="diagram" presStyleCnt="0">
        <dgm:presLayoutVars>
          <dgm:chPref val="1"/>
          <dgm:dir/>
          <dgm:animOne val="branch"/>
          <dgm:animLvl val="lvl"/>
          <dgm:resizeHandles/>
        </dgm:presLayoutVars>
      </dgm:prSet>
      <dgm:spPr/>
      <dgm:t>
        <a:bodyPr/>
        <a:lstStyle/>
        <a:p>
          <a:endParaRPr lang="en-US"/>
        </a:p>
      </dgm:t>
    </dgm:pt>
    <dgm:pt modelId="{A5564383-4472-46BE-8954-E8541AADAF5B}" type="pres">
      <dgm:prSet presAssocID="{B1E70FAB-632E-4CF0-9D2F-C9C44F4E5103}" presName="root" presStyleCnt="0"/>
      <dgm:spPr/>
    </dgm:pt>
    <dgm:pt modelId="{5FCC91C3-C521-4411-B066-93E6F5684E72}" type="pres">
      <dgm:prSet presAssocID="{B1E70FAB-632E-4CF0-9D2F-C9C44F4E5103}" presName="rootComposite" presStyleCnt="0"/>
      <dgm:spPr/>
    </dgm:pt>
    <dgm:pt modelId="{E05312F6-1C67-48C1-B5BE-0A55E0C7DB94}" type="pres">
      <dgm:prSet presAssocID="{B1E70FAB-632E-4CF0-9D2F-C9C44F4E5103}" presName="rootText" presStyleLbl="node1" presStyleIdx="0" presStyleCnt="3" custLinFactNeighborX="1710" custLinFactNeighborY="-26144"/>
      <dgm:spPr/>
      <dgm:t>
        <a:bodyPr/>
        <a:lstStyle/>
        <a:p>
          <a:endParaRPr lang="en-US"/>
        </a:p>
      </dgm:t>
    </dgm:pt>
    <dgm:pt modelId="{78CC1BA2-F48C-4C2B-941E-8E3716FDEB1F}" type="pres">
      <dgm:prSet presAssocID="{B1E70FAB-632E-4CF0-9D2F-C9C44F4E5103}" presName="rootConnector" presStyleLbl="node1" presStyleIdx="0" presStyleCnt="3"/>
      <dgm:spPr/>
      <dgm:t>
        <a:bodyPr/>
        <a:lstStyle/>
        <a:p>
          <a:endParaRPr lang="en-US"/>
        </a:p>
      </dgm:t>
    </dgm:pt>
    <dgm:pt modelId="{EAFAB528-9D04-4CE5-9796-B7557579190E}" type="pres">
      <dgm:prSet presAssocID="{B1E70FAB-632E-4CF0-9D2F-C9C44F4E5103}" presName="childShape" presStyleCnt="0"/>
      <dgm:spPr/>
    </dgm:pt>
    <dgm:pt modelId="{F861F12B-5AE2-41AE-9851-2F877647E90D}" type="pres">
      <dgm:prSet presAssocID="{B3B6C2FB-9C36-475D-ACBF-599579B57896}" presName="Name13" presStyleLbl="parChTrans1D2" presStyleIdx="0" presStyleCnt="3"/>
      <dgm:spPr/>
      <dgm:t>
        <a:bodyPr/>
        <a:lstStyle/>
        <a:p>
          <a:endParaRPr lang="en-US"/>
        </a:p>
      </dgm:t>
    </dgm:pt>
    <dgm:pt modelId="{7885D2FB-0193-4FA5-90C2-B4653F5F328A}" type="pres">
      <dgm:prSet presAssocID="{90860E2B-14AB-49D0-8ED6-B885FAF20A10}" presName="childText" presStyleLbl="bgAcc1" presStyleIdx="0" presStyleCnt="3" custScaleX="158712" custScaleY="515115">
        <dgm:presLayoutVars>
          <dgm:bulletEnabled val="1"/>
        </dgm:presLayoutVars>
      </dgm:prSet>
      <dgm:spPr/>
      <dgm:t>
        <a:bodyPr/>
        <a:lstStyle/>
        <a:p>
          <a:endParaRPr lang="en-US"/>
        </a:p>
      </dgm:t>
    </dgm:pt>
    <dgm:pt modelId="{9BA6BED1-3C7C-45B4-91AA-08D3A3ABC055}" type="pres">
      <dgm:prSet presAssocID="{95B1FF9B-6719-4D13-98DE-A887C36444D4}" presName="root" presStyleCnt="0"/>
      <dgm:spPr/>
    </dgm:pt>
    <dgm:pt modelId="{7AE47047-045E-4D25-A116-A14BDC0AA6A2}" type="pres">
      <dgm:prSet presAssocID="{95B1FF9B-6719-4D13-98DE-A887C36444D4}" presName="rootComposite" presStyleCnt="0"/>
      <dgm:spPr/>
    </dgm:pt>
    <dgm:pt modelId="{9E6C7B23-FF03-4089-8C3C-CFE2EEB8B42D}" type="pres">
      <dgm:prSet presAssocID="{95B1FF9B-6719-4D13-98DE-A887C36444D4}" presName="rootText" presStyleLbl="node1" presStyleIdx="1" presStyleCnt="3" custLinFactNeighborX="-4030" custLinFactNeighborY="-26144"/>
      <dgm:spPr/>
      <dgm:t>
        <a:bodyPr/>
        <a:lstStyle/>
        <a:p>
          <a:endParaRPr lang="en-US"/>
        </a:p>
      </dgm:t>
    </dgm:pt>
    <dgm:pt modelId="{1C865267-8B4B-4AAA-BDC6-88600154C374}" type="pres">
      <dgm:prSet presAssocID="{95B1FF9B-6719-4D13-98DE-A887C36444D4}" presName="rootConnector" presStyleLbl="node1" presStyleIdx="1" presStyleCnt="3"/>
      <dgm:spPr/>
      <dgm:t>
        <a:bodyPr/>
        <a:lstStyle/>
        <a:p>
          <a:endParaRPr lang="en-US"/>
        </a:p>
      </dgm:t>
    </dgm:pt>
    <dgm:pt modelId="{D5954D5F-902B-43D7-9467-0A6814B426B3}" type="pres">
      <dgm:prSet presAssocID="{95B1FF9B-6719-4D13-98DE-A887C36444D4}" presName="childShape" presStyleCnt="0"/>
      <dgm:spPr/>
    </dgm:pt>
    <dgm:pt modelId="{C5E865DE-E7BD-4C1E-B71A-52027C8542A6}" type="pres">
      <dgm:prSet presAssocID="{7D1503CE-DE81-44AD-B8E2-9151471B5C94}" presName="Name13" presStyleLbl="parChTrans1D2" presStyleIdx="1" presStyleCnt="3"/>
      <dgm:spPr/>
      <dgm:t>
        <a:bodyPr/>
        <a:lstStyle/>
        <a:p>
          <a:endParaRPr lang="en-US"/>
        </a:p>
      </dgm:t>
    </dgm:pt>
    <dgm:pt modelId="{BEB415F6-7C92-446E-B02B-CE8E327A3DBB}" type="pres">
      <dgm:prSet presAssocID="{30A8755C-7BE6-48F2-8763-938789608683}" presName="childText" presStyleLbl="bgAcc1" presStyleIdx="1" presStyleCnt="3" custScaleX="137488" custScaleY="520478">
        <dgm:presLayoutVars>
          <dgm:bulletEnabled val="1"/>
        </dgm:presLayoutVars>
      </dgm:prSet>
      <dgm:spPr/>
      <dgm:t>
        <a:bodyPr/>
        <a:lstStyle/>
        <a:p>
          <a:endParaRPr lang="en-US"/>
        </a:p>
      </dgm:t>
    </dgm:pt>
    <dgm:pt modelId="{BC87E347-E6BD-4DEC-A7D1-E6112C4963B5}" type="pres">
      <dgm:prSet presAssocID="{A54237E3-05C0-42EB-8F9B-8A707D71996B}" presName="root" presStyleCnt="0"/>
      <dgm:spPr/>
    </dgm:pt>
    <dgm:pt modelId="{1BF962F3-760D-4CBA-BB65-498D7106936C}" type="pres">
      <dgm:prSet presAssocID="{A54237E3-05C0-42EB-8F9B-8A707D71996B}" presName="rootComposite" presStyleCnt="0"/>
      <dgm:spPr/>
    </dgm:pt>
    <dgm:pt modelId="{0D3954D8-22BE-4049-94FC-85D4C4C1D9A0}" type="pres">
      <dgm:prSet presAssocID="{A54237E3-05C0-42EB-8F9B-8A707D71996B}" presName="rootText" presStyleLbl="node1" presStyleIdx="2" presStyleCnt="3" custLinFactNeighborX="-2460" custLinFactNeighborY="-26144"/>
      <dgm:spPr/>
      <dgm:t>
        <a:bodyPr/>
        <a:lstStyle/>
        <a:p>
          <a:endParaRPr lang="en-US"/>
        </a:p>
      </dgm:t>
    </dgm:pt>
    <dgm:pt modelId="{9CEFF8DD-2EC8-496D-B6E8-C6F4589A7944}" type="pres">
      <dgm:prSet presAssocID="{A54237E3-05C0-42EB-8F9B-8A707D71996B}" presName="rootConnector" presStyleLbl="node1" presStyleIdx="2" presStyleCnt="3"/>
      <dgm:spPr/>
      <dgm:t>
        <a:bodyPr/>
        <a:lstStyle/>
        <a:p>
          <a:endParaRPr lang="en-US"/>
        </a:p>
      </dgm:t>
    </dgm:pt>
    <dgm:pt modelId="{866721C0-D033-4F93-B724-732C015889CA}" type="pres">
      <dgm:prSet presAssocID="{A54237E3-05C0-42EB-8F9B-8A707D71996B}" presName="childShape" presStyleCnt="0"/>
      <dgm:spPr/>
    </dgm:pt>
    <dgm:pt modelId="{E07C4464-2EAB-4753-98F2-FC7418551129}" type="pres">
      <dgm:prSet presAssocID="{60AEF26B-0951-4FB4-B894-2994AECDAF9B}" presName="Name13" presStyleLbl="parChTrans1D2" presStyleIdx="2" presStyleCnt="3"/>
      <dgm:spPr/>
      <dgm:t>
        <a:bodyPr/>
        <a:lstStyle/>
        <a:p>
          <a:endParaRPr lang="en-US"/>
        </a:p>
      </dgm:t>
    </dgm:pt>
    <dgm:pt modelId="{199EF830-327A-4D06-BCE0-0D2B59B304EA}" type="pres">
      <dgm:prSet presAssocID="{3B59ED5F-AFA5-457D-A2B0-176013379C6B}" presName="childText" presStyleLbl="bgAcc1" presStyleIdx="2" presStyleCnt="3" custScaleX="158759" custScaleY="520478">
        <dgm:presLayoutVars>
          <dgm:bulletEnabled val="1"/>
        </dgm:presLayoutVars>
      </dgm:prSet>
      <dgm:spPr/>
      <dgm:t>
        <a:bodyPr/>
        <a:lstStyle/>
        <a:p>
          <a:endParaRPr lang="en-US"/>
        </a:p>
      </dgm:t>
    </dgm:pt>
  </dgm:ptLst>
  <dgm:cxnLst>
    <dgm:cxn modelId="{6203C8B4-668D-417E-9138-1FFD63914C66}" srcId="{A54237E3-05C0-42EB-8F9B-8A707D71996B}" destId="{3B59ED5F-AFA5-457D-A2B0-176013379C6B}" srcOrd="0" destOrd="0" parTransId="{60AEF26B-0951-4FB4-B894-2994AECDAF9B}" sibTransId="{AE7C491A-A558-408C-96CE-FD7B0459DF63}"/>
    <dgm:cxn modelId="{3DA7BC2B-CDF9-43D0-B9C0-B49E8A8EEE5F}" srcId="{250338A4-5827-4373-A564-8002C2FFEE6B}" destId="{95B1FF9B-6719-4D13-98DE-A887C36444D4}" srcOrd="1" destOrd="0" parTransId="{F2BC91F8-8F68-4217-AAE0-2462CC88E442}" sibTransId="{EDE6A133-D88D-4328-B104-D4DE4FFBD6E3}"/>
    <dgm:cxn modelId="{503E6987-1669-49FF-9AD6-54A34672989B}" srcId="{250338A4-5827-4373-A564-8002C2FFEE6B}" destId="{A54237E3-05C0-42EB-8F9B-8A707D71996B}" srcOrd="2" destOrd="0" parTransId="{1502A9F6-D0D0-4D83-9945-421EAF27F094}" sibTransId="{054BD64A-B8B5-4DCC-9C4C-202E854FCF63}"/>
    <dgm:cxn modelId="{4304F395-A3B8-4FC0-8782-1C679FA8B308}" srcId="{95B1FF9B-6719-4D13-98DE-A887C36444D4}" destId="{30A8755C-7BE6-48F2-8763-938789608683}" srcOrd="0" destOrd="0" parTransId="{7D1503CE-DE81-44AD-B8E2-9151471B5C94}" sibTransId="{785E9AF9-FD8F-400E-B3B0-EC80D777C45A}"/>
    <dgm:cxn modelId="{2B9D054D-CECE-4963-A7E1-7B531085D784}" type="presOf" srcId="{90860E2B-14AB-49D0-8ED6-B885FAF20A10}" destId="{7885D2FB-0193-4FA5-90C2-B4653F5F328A}" srcOrd="0" destOrd="0" presId="urn:microsoft.com/office/officeart/2005/8/layout/hierarchy3"/>
    <dgm:cxn modelId="{1B31CA33-4D42-402E-AB2E-324369C038A6}" type="presOf" srcId="{7D1503CE-DE81-44AD-B8E2-9151471B5C94}" destId="{C5E865DE-E7BD-4C1E-B71A-52027C8542A6}" srcOrd="0" destOrd="0" presId="urn:microsoft.com/office/officeart/2005/8/layout/hierarchy3"/>
    <dgm:cxn modelId="{47162ED4-482D-4CC9-96A1-143147B6706E}" srcId="{B1E70FAB-632E-4CF0-9D2F-C9C44F4E5103}" destId="{90860E2B-14AB-49D0-8ED6-B885FAF20A10}" srcOrd="0" destOrd="0" parTransId="{B3B6C2FB-9C36-475D-ACBF-599579B57896}" sibTransId="{3AF436D9-8452-4B1C-A0F3-068B5A6E2DCC}"/>
    <dgm:cxn modelId="{42672039-FEC0-4620-BC42-79C28B899FC6}" type="presOf" srcId="{B3B6C2FB-9C36-475D-ACBF-599579B57896}" destId="{F861F12B-5AE2-41AE-9851-2F877647E90D}" srcOrd="0" destOrd="0" presId="urn:microsoft.com/office/officeart/2005/8/layout/hierarchy3"/>
    <dgm:cxn modelId="{4D732A5D-3931-4877-B310-95BBE91A292C}" type="presOf" srcId="{95B1FF9B-6719-4D13-98DE-A887C36444D4}" destId="{1C865267-8B4B-4AAA-BDC6-88600154C374}" srcOrd="1" destOrd="0" presId="urn:microsoft.com/office/officeart/2005/8/layout/hierarchy3"/>
    <dgm:cxn modelId="{782FFEA6-CC0F-4A97-B43E-0C3EA35657B8}" type="presOf" srcId="{30A8755C-7BE6-48F2-8763-938789608683}" destId="{BEB415F6-7C92-446E-B02B-CE8E327A3DBB}" srcOrd="0" destOrd="0" presId="urn:microsoft.com/office/officeart/2005/8/layout/hierarchy3"/>
    <dgm:cxn modelId="{5DC0A9FC-D5BD-4F79-AE1B-F6ECDA8BE912}" type="presOf" srcId="{B1E70FAB-632E-4CF0-9D2F-C9C44F4E5103}" destId="{78CC1BA2-F48C-4C2B-941E-8E3716FDEB1F}" srcOrd="1" destOrd="0" presId="urn:microsoft.com/office/officeart/2005/8/layout/hierarchy3"/>
    <dgm:cxn modelId="{B4A78FB4-8600-46CE-B73D-F8E419BF2F07}" type="presOf" srcId="{95B1FF9B-6719-4D13-98DE-A887C36444D4}" destId="{9E6C7B23-FF03-4089-8C3C-CFE2EEB8B42D}" srcOrd="0" destOrd="0" presId="urn:microsoft.com/office/officeart/2005/8/layout/hierarchy3"/>
    <dgm:cxn modelId="{234F5346-BB14-4C03-A556-D0051C6B3118}" srcId="{250338A4-5827-4373-A564-8002C2FFEE6B}" destId="{B1E70FAB-632E-4CF0-9D2F-C9C44F4E5103}" srcOrd="0" destOrd="0" parTransId="{8A589DF3-FAFB-4273-A17A-56A13952941E}" sibTransId="{8721AA79-CF46-4EA9-AFB7-1430E1FEA697}"/>
    <dgm:cxn modelId="{694BF09D-3DAC-4F33-8A06-A013E65126BE}" type="presOf" srcId="{B1E70FAB-632E-4CF0-9D2F-C9C44F4E5103}" destId="{E05312F6-1C67-48C1-B5BE-0A55E0C7DB94}" srcOrd="0" destOrd="0" presId="urn:microsoft.com/office/officeart/2005/8/layout/hierarchy3"/>
    <dgm:cxn modelId="{4E33A90D-4D33-4080-AC30-A11E3F9EAB66}" type="presOf" srcId="{60AEF26B-0951-4FB4-B894-2994AECDAF9B}" destId="{E07C4464-2EAB-4753-98F2-FC7418551129}" srcOrd="0" destOrd="0" presId="urn:microsoft.com/office/officeart/2005/8/layout/hierarchy3"/>
    <dgm:cxn modelId="{6650F0DB-C7AD-4774-A38C-1A893647106B}" type="presOf" srcId="{A54237E3-05C0-42EB-8F9B-8A707D71996B}" destId="{9CEFF8DD-2EC8-496D-B6E8-C6F4589A7944}" srcOrd="1" destOrd="0" presId="urn:microsoft.com/office/officeart/2005/8/layout/hierarchy3"/>
    <dgm:cxn modelId="{8929ED24-1FB5-43E5-90FA-AE03136176AD}" type="presOf" srcId="{A54237E3-05C0-42EB-8F9B-8A707D71996B}" destId="{0D3954D8-22BE-4049-94FC-85D4C4C1D9A0}" srcOrd="0" destOrd="0" presId="urn:microsoft.com/office/officeart/2005/8/layout/hierarchy3"/>
    <dgm:cxn modelId="{F758E5F1-264C-4261-B8B3-9B910D23D400}" type="presOf" srcId="{3B59ED5F-AFA5-457D-A2B0-176013379C6B}" destId="{199EF830-327A-4D06-BCE0-0D2B59B304EA}" srcOrd="0" destOrd="0" presId="urn:microsoft.com/office/officeart/2005/8/layout/hierarchy3"/>
    <dgm:cxn modelId="{278F62AD-AB78-4D29-8E58-CCF463A933A4}" type="presOf" srcId="{250338A4-5827-4373-A564-8002C2FFEE6B}" destId="{AFADD868-2806-4069-86A2-C3AEACC53E6F}" srcOrd="0" destOrd="0" presId="urn:microsoft.com/office/officeart/2005/8/layout/hierarchy3"/>
    <dgm:cxn modelId="{36F03D85-164E-4540-8254-80F08DEB7BC1}" type="presParOf" srcId="{AFADD868-2806-4069-86A2-C3AEACC53E6F}" destId="{A5564383-4472-46BE-8954-E8541AADAF5B}" srcOrd="0" destOrd="0" presId="urn:microsoft.com/office/officeart/2005/8/layout/hierarchy3"/>
    <dgm:cxn modelId="{33BFF3CD-63F2-4752-A6A8-BCD3CC6D9C51}" type="presParOf" srcId="{A5564383-4472-46BE-8954-E8541AADAF5B}" destId="{5FCC91C3-C521-4411-B066-93E6F5684E72}" srcOrd="0" destOrd="0" presId="urn:microsoft.com/office/officeart/2005/8/layout/hierarchy3"/>
    <dgm:cxn modelId="{C20AA97F-490D-4600-BE21-BFA0B8939814}" type="presParOf" srcId="{5FCC91C3-C521-4411-B066-93E6F5684E72}" destId="{E05312F6-1C67-48C1-B5BE-0A55E0C7DB94}" srcOrd="0" destOrd="0" presId="urn:microsoft.com/office/officeart/2005/8/layout/hierarchy3"/>
    <dgm:cxn modelId="{CFF403EF-89EE-418A-AE50-D4698EE8FA6A}" type="presParOf" srcId="{5FCC91C3-C521-4411-B066-93E6F5684E72}" destId="{78CC1BA2-F48C-4C2B-941E-8E3716FDEB1F}" srcOrd="1" destOrd="0" presId="urn:microsoft.com/office/officeart/2005/8/layout/hierarchy3"/>
    <dgm:cxn modelId="{72769D68-32EB-463A-A5C4-DF1F710B6501}" type="presParOf" srcId="{A5564383-4472-46BE-8954-E8541AADAF5B}" destId="{EAFAB528-9D04-4CE5-9796-B7557579190E}" srcOrd="1" destOrd="0" presId="urn:microsoft.com/office/officeart/2005/8/layout/hierarchy3"/>
    <dgm:cxn modelId="{4FFF00AF-6978-418B-8F8F-B7C372053E3F}" type="presParOf" srcId="{EAFAB528-9D04-4CE5-9796-B7557579190E}" destId="{F861F12B-5AE2-41AE-9851-2F877647E90D}" srcOrd="0" destOrd="0" presId="urn:microsoft.com/office/officeart/2005/8/layout/hierarchy3"/>
    <dgm:cxn modelId="{4166D243-5BE7-4473-A925-43B6E6ACE1CC}" type="presParOf" srcId="{EAFAB528-9D04-4CE5-9796-B7557579190E}" destId="{7885D2FB-0193-4FA5-90C2-B4653F5F328A}" srcOrd="1" destOrd="0" presId="urn:microsoft.com/office/officeart/2005/8/layout/hierarchy3"/>
    <dgm:cxn modelId="{F3253E50-8EFD-4608-A831-A60AEA264E79}" type="presParOf" srcId="{AFADD868-2806-4069-86A2-C3AEACC53E6F}" destId="{9BA6BED1-3C7C-45B4-91AA-08D3A3ABC055}" srcOrd="1" destOrd="0" presId="urn:microsoft.com/office/officeart/2005/8/layout/hierarchy3"/>
    <dgm:cxn modelId="{5A59598F-7197-46EE-8F1E-F7114EFCF0CF}" type="presParOf" srcId="{9BA6BED1-3C7C-45B4-91AA-08D3A3ABC055}" destId="{7AE47047-045E-4D25-A116-A14BDC0AA6A2}" srcOrd="0" destOrd="0" presId="urn:microsoft.com/office/officeart/2005/8/layout/hierarchy3"/>
    <dgm:cxn modelId="{5FCE7CEE-C927-4935-80C4-77EA7C6C5AD0}" type="presParOf" srcId="{7AE47047-045E-4D25-A116-A14BDC0AA6A2}" destId="{9E6C7B23-FF03-4089-8C3C-CFE2EEB8B42D}" srcOrd="0" destOrd="0" presId="urn:microsoft.com/office/officeart/2005/8/layout/hierarchy3"/>
    <dgm:cxn modelId="{3E77C383-44F2-48E4-A8F9-02D6072ED83D}" type="presParOf" srcId="{7AE47047-045E-4D25-A116-A14BDC0AA6A2}" destId="{1C865267-8B4B-4AAA-BDC6-88600154C374}" srcOrd="1" destOrd="0" presId="urn:microsoft.com/office/officeart/2005/8/layout/hierarchy3"/>
    <dgm:cxn modelId="{C88D3EAC-188D-48BF-B973-426FECCA0FCA}" type="presParOf" srcId="{9BA6BED1-3C7C-45B4-91AA-08D3A3ABC055}" destId="{D5954D5F-902B-43D7-9467-0A6814B426B3}" srcOrd="1" destOrd="0" presId="urn:microsoft.com/office/officeart/2005/8/layout/hierarchy3"/>
    <dgm:cxn modelId="{44D9DE40-D08C-4FA7-BDC5-3E081F1F6A5D}" type="presParOf" srcId="{D5954D5F-902B-43D7-9467-0A6814B426B3}" destId="{C5E865DE-E7BD-4C1E-B71A-52027C8542A6}" srcOrd="0" destOrd="0" presId="urn:microsoft.com/office/officeart/2005/8/layout/hierarchy3"/>
    <dgm:cxn modelId="{3DC64469-6582-4667-B705-0947561E1B15}" type="presParOf" srcId="{D5954D5F-902B-43D7-9467-0A6814B426B3}" destId="{BEB415F6-7C92-446E-B02B-CE8E327A3DBB}" srcOrd="1" destOrd="0" presId="urn:microsoft.com/office/officeart/2005/8/layout/hierarchy3"/>
    <dgm:cxn modelId="{C6A5D32B-2F78-4C82-BDF1-58C33EFEC802}" type="presParOf" srcId="{AFADD868-2806-4069-86A2-C3AEACC53E6F}" destId="{BC87E347-E6BD-4DEC-A7D1-E6112C4963B5}" srcOrd="2" destOrd="0" presId="urn:microsoft.com/office/officeart/2005/8/layout/hierarchy3"/>
    <dgm:cxn modelId="{4591BA9C-A3FC-471D-B228-368D7D8A17D2}" type="presParOf" srcId="{BC87E347-E6BD-4DEC-A7D1-E6112C4963B5}" destId="{1BF962F3-760D-4CBA-BB65-498D7106936C}" srcOrd="0" destOrd="0" presId="urn:microsoft.com/office/officeart/2005/8/layout/hierarchy3"/>
    <dgm:cxn modelId="{22547EEB-9C34-496C-A983-41EE749CDB66}" type="presParOf" srcId="{1BF962F3-760D-4CBA-BB65-498D7106936C}" destId="{0D3954D8-22BE-4049-94FC-85D4C4C1D9A0}" srcOrd="0" destOrd="0" presId="urn:microsoft.com/office/officeart/2005/8/layout/hierarchy3"/>
    <dgm:cxn modelId="{3BD8B6A2-775B-4FE9-8697-BD4FDD411948}" type="presParOf" srcId="{1BF962F3-760D-4CBA-BB65-498D7106936C}" destId="{9CEFF8DD-2EC8-496D-B6E8-C6F4589A7944}" srcOrd="1" destOrd="0" presId="urn:microsoft.com/office/officeart/2005/8/layout/hierarchy3"/>
    <dgm:cxn modelId="{F341B9E1-42C6-4C11-99CD-C789B201B9FE}" type="presParOf" srcId="{BC87E347-E6BD-4DEC-A7D1-E6112C4963B5}" destId="{866721C0-D033-4F93-B724-732C015889CA}" srcOrd="1" destOrd="0" presId="urn:microsoft.com/office/officeart/2005/8/layout/hierarchy3"/>
    <dgm:cxn modelId="{F1DE8ADD-5632-489F-B9EC-6EBA1330A111}" type="presParOf" srcId="{866721C0-D033-4F93-B724-732C015889CA}" destId="{E07C4464-2EAB-4753-98F2-FC7418551129}" srcOrd="0" destOrd="0" presId="urn:microsoft.com/office/officeart/2005/8/layout/hierarchy3"/>
    <dgm:cxn modelId="{D8244F66-04D2-423F-8C0E-1ECB0C02AC21}" type="presParOf" srcId="{866721C0-D033-4F93-B724-732C015889CA}" destId="{199EF830-327A-4D06-BCE0-0D2B59B304EA}"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9566E3F-3173-433F-BF09-4ED029BE3FDB}" type="doc">
      <dgm:prSet loTypeId="urn:microsoft.com/office/officeart/2005/8/layout/default" loCatId="list" qsTypeId="urn:microsoft.com/office/officeart/2005/8/quickstyle/simple2" qsCatId="simple" csTypeId="urn:microsoft.com/office/officeart/2005/8/colors/accent3_2" csCatId="accent3" phldr="1"/>
      <dgm:spPr/>
      <dgm:t>
        <a:bodyPr/>
        <a:lstStyle/>
        <a:p>
          <a:endParaRPr lang="en-US"/>
        </a:p>
      </dgm:t>
    </dgm:pt>
    <dgm:pt modelId="{7CECA9A1-C87B-472F-B246-7C66D54E71AE}">
      <dgm:prSet phldrT="[Text]" custT="1"/>
      <dgm:spPr/>
      <dgm:t>
        <a:bodyPr/>
        <a:lstStyle/>
        <a:p>
          <a:r>
            <a:rPr lang="en-US" sz="2800" dirty="0" smtClean="0">
              <a:latin typeface="Tahoma" panose="020B0604030504040204" pitchFamily="34" charset="0"/>
              <a:ea typeface="Tahoma" panose="020B0604030504040204" pitchFamily="34" charset="0"/>
              <a:cs typeface="Tahoma" panose="020B0604030504040204" pitchFamily="34" charset="0"/>
            </a:rPr>
            <a:t>Differentiation</a:t>
          </a:r>
          <a:endParaRPr lang="en-US" sz="2800" dirty="0">
            <a:latin typeface="Tahoma" panose="020B0604030504040204" pitchFamily="34" charset="0"/>
            <a:ea typeface="Tahoma" panose="020B0604030504040204" pitchFamily="34" charset="0"/>
            <a:cs typeface="Tahoma" panose="020B0604030504040204" pitchFamily="34" charset="0"/>
          </a:endParaRPr>
        </a:p>
      </dgm:t>
    </dgm:pt>
    <dgm:pt modelId="{F2A1947C-9CCA-495F-A748-19BDFD8865C7}" type="parTrans" cxnId="{984167D6-658F-4713-A311-06309D80D1AB}">
      <dgm:prSet/>
      <dgm:spPr/>
      <dgm:t>
        <a:bodyPr/>
        <a:lstStyle/>
        <a:p>
          <a:endParaRPr lang="en-US" sz="2800">
            <a:latin typeface="Tahoma" panose="020B0604030504040204" pitchFamily="34" charset="0"/>
            <a:ea typeface="Tahoma" panose="020B0604030504040204" pitchFamily="34" charset="0"/>
            <a:cs typeface="Tahoma" panose="020B0604030504040204" pitchFamily="34" charset="0"/>
          </a:endParaRPr>
        </a:p>
      </dgm:t>
    </dgm:pt>
    <dgm:pt modelId="{D7652759-B8EB-44C6-9695-49EAAB5760A6}" type="sibTrans" cxnId="{984167D6-658F-4713-A311-06309D80D1AB}">
      <dgm:prSet/>
      <dgm:spPr/>
      <dgm:t>
        <a:bodyPr/>
        <a:lstStyle/>
        <a:p>
          <a:endParaRPr lang="en-US" sz="2800">
            <a:latin typeface="Tahoma" panose="020B0604030504040204" pitchFamily="34" charset="0"/>
            <a:ea typeface="Tahoma" panose="020B0604030504040204" pitchFamily="34" charset="0"/>
            <a:cs typeface="Tahoma" panose="020B0604030504040204" pitchFamily="34" charset="0"/>
          </a:endParaRPr>
        </a:p>
      </dgm:t>
    </dgm:pt>
    <dgm:pt modelId="{93CE94D5-6A1A-469C-88B2-83B1CF8EE55E}">
      <dgm:prSet phldrT="[Text]" custT="1"/>
      <dgm:spPr/>
      <dgm:t>
        <a:bodyPr/>
        <a:lstStyle/>
        <a:p>
          <a:r>
            <a:rPr lang="en-US" sz="2800" dirty="0" smtClean="0">
              <a:latin typeface="Tahoma" panose="020B0604030504040204" pitchFamily="34" charset="0"/>
              <a:ea typeface="Tahoma" panose="020B0604030504040204" pitchFamily="34" charset="0"/>
              <a:cs typeface="Tahoma" panose="020B0604030504040204" pitchFamily="34" charset="0"/>
            </a:rPr>
            <a:t>Overall cost Leadership</a:t>
          </a:r>
          <a:endParaRPr lang="en-US" sz="2800" dirty="0">
            <a:latin typeface="Tahoma" panose="020B0604030504040204" pitchFamily="34" charset="0"/>
            <a:ea typeface="Tahoma" panose="020B0604030504040204" pitchFamily="34" charset="0"/>
            <a:cs typeface="Tahoma" panose="020B0604030504040204" pitchFamily="34" charset="0"/>
          </a:endParaRPr>
        </a:p>
      </dgm:t>
    </dgm:pt>
    <dgm:pt modelId="{D4C4F3B5-CB3D-43F5-84EC-FC980AECE7D4}" type="parTrans" cxnId="{571F8FDA-E721-4A52-8F8A-D5C2900BDBAD}">
      <dgm:prSet/>
      <dgm:spPr/>
      <dgm:t>
        <a:bodyPr/>
        <a:lstStyle/>
        <a:p>
          <a:endParaRPr lang="en-US" sz="2800">
            <a:latin typeface="Tahoma" panose="020B0604030504040204" pitchFamily="34" charset="0"/>
            <a:ea typeface="Tahoma" panose="020B0604030504040204" pitchFamily="34" charset="0"/>
            <a:cs typeface="Tahoma" panose="020B0604030504040204" pitchFamily="34" charset="0"/>
          </a:endParaRPr>
        </a:p>
      </dgm:t>
    </dgm:pt>
    <dgm:pt modelId="{CF5FE5CE-0D92-4A6F-9F59-9E60F70790F1}" type="sibTrans" cxnId="{571F8FDA-E721-4A52-8F8A-D5C2900BDBAD}">
      <dgm:prSet/>
      <dgm:spPr/>
      <dgm:t>
        <a:bodyPr/>
        <a:lstStyle/>
        <a:p>
          <a:endParaRPr lang="en-US" sz="2800">
            <a:latin typeface="Tahoma" panose="020B0604030504040204" pitchFamily="34" charset="0"/>
            <a:ea typeface="Tahoma" panose="020B0604030504040204" pitchFamily="34" charset="0"/>
            <a:cs typeface="Tahoma" panose="020B0604030504040204" pitchFamily="34" charset="0"/>
          </a:endParaRPr>
        </a:p>
      </dgm:t>
    </dgm:pt>
    <dgm:pt modelId="{ED29C7C1-47C1-4AC8-9886-D2F1A973F866}">
      <dgm:prSet phldrT="[Text]" custT="1"/>
      <dgm:spPr/>
      <dgm:t>
        <a:bodyPr/>
        <a:lstStyle/>
        <a:p>
          <a:r>
            <a:rPr lang="en-US" sz="2800" dirty="0" smtClean="0">
              <a:latin typeface="Tahoma" panose="020B0604030504040204" pitchFamily="34" charset="0"/>
              <a:ea typeface="Tahoma" panose="020B0604030504040204" pitchFamily="34" charset="0"/>
              <a:cs typeface="Tahoma" panose="020B0604030504040204" pitchFamily="34" charset="0"/>
            </a:rPr>
            <a:t>Focus</a:t>
          </a:r>
          <a:endParaRPr lang="en-US" sz="2800" dirty="0">
            <a:latin typeface="Tahoma" panose="020B0604030504040204" pitchFamily="34" charset="0"/>
            <a:ea typeface="Tahoma" panose="020B0604030504040204" pitchFamily="34" charset="0"/>
            <a:cs typeface="Tahoma" panose="020B0604030504040204" pitchFamily="34" charset="0"/>
          </a:endParaRPr>
        </a:p>
      </dgm:t>
    </dgm:pt>
    <dgm:pt modelId="{CAAE4023-E112-4563-824D-9B21B2DFCB2B}" type="parTrans" cxnId="{091A4642-6308-4C2F-AB54-ADA37DFA501C}">
      <dgm:prSet/>
      <dgm:spPr/>
      <dgm:t>
        <a:bodyPr/>
        <a:lstStyle/>
        <a:p>
          <a:endParaRPr lang="en-US" sz="2800">
            <a:latin typeface="Tahoma" panose="020B0604030504040204" pitchFamily="34" charset="0"/>
            <a:ea typeface="Tahoma" panose="020B0604030504040204" pitchFamily="34" charset="0"/>
            <a:cs typeface="Tahoma" panose="020B0604030504040204" pitchFamily="34" charset="0"/>
          </a:endParaRPr>
        </a:p>
      </dgm:t>
    </dgm:pt>
    <dgm:pt modelId="{81157260-9EC2-4012-B7FD-F5E8217FE22A}" type="sibTrans" cxnId="{091A4642-6308-4C2F-AB54-ADA37DFA501C}">
      <dgm:prSet/>
      <dgm:spPr/>
      <dgm:t>
        <a:bodyPr/>
        <a:lstStyle/>
        <a:p>
          <a:endParaRPr lang="en-US" sz="2800">
            <a:latin typeface="Tahoma" panose="020B0604030504040204" pitchFamily="34" charset="0"/>
            <a:ea typeface="Tahoma" panose="020B0604030504040204" pitchFamily="34" charset="0"/>
            <a:cs typeface="Tahoma" panose="020B0604030504040204" pitchFamily="34" charset="0"/>
          </a:endParaRPr>
        </a:p>
      </dgm:t>
    </dgm:pt>
    <dgm:pt modelId="{61921864-0FA6-4AB9-9C20-D0CADA369FD5}" type="pres">
      <dgm:prSet presAssocID="{69566E3F-3173-433F-BF09-4ED029BE3FDB}" presName="diagram" presStyleCnt="0">
        <dgm:presLayoutVars>
          <dgm:dir/>
          <dgm:resizeHandles val="exact"/>
        </dgm:presLayoutVars>
      </dgm:prSet>
      <dgm:spPr/>
      <dgm:t>
        <a:bodyPr/>
        <a:lstStyle/>
        <a:p>
          <a:endParaRPr lang="en-US"/>
        </a:p>
      </dgm:t>
    </dgm:pt>
    <dgm:pt modelId="{1AA3AF2F-49C4-486E-813D-911C6BDAE59F}" type="pres">
      <dgm:prSet presAssocID="{7CECA9A1-C87B-472F-B246-7C66D54E71AE}" presName="node" presStyleLbl="node1" presStyleIdx="0" presStyleCnt="3">
        <dgm:presLayoutVars>
          <dgm:bulletEnabled val="1"/>
        </dgm:presLayoutVars>
      </dgm:prSet>
      <dgm:spPr/>
      <dgm:t>
        <a:bodyPr/>
        <a:lstStyle/>
        <a:p>
          <a:endParaRPr lang="en-US"/>
        </a:p>
      </dgm:t>
    </dgm:pt>
    <dgm:pt modelId="{3EBA200D-DFEB-4461-B872-57FF89F83DD7}" type="pres">
      <dgm:prSet presAssocID="{D7652759-B8EB-44C6-9695-49EAAB5760A6}" presName="sibTrans" presStyleCnt="0"/>
      <dgm:spPr/>
      <dgm:t>
        <a:bodyPr/>
        <a:lstStyle/>
        <a:p>
          <a:endParaRPr lang="en-US"/>
        </a:p>
      </dgm:t>
    </dgm:pt>
    <dgm:pt modelId="{9A193DF4-1674-4637-81D3-1B3BD5BA1E33}" type="pres">
      <dgm:prSet presAssocID="{93CE94D5-6A1A-469C-88B2-83B1CF8EE55E}" presName="node" presStyleLbl="node1" presStyleIdx="1" presStyleCnt="3">
        <dgm:presLayoutVars>
          <dgm:bulletEnabled val="1"/>
        </dgm:presLayoutVars>
      </dgm:prSet>
      <dgm:spPr/>
      <dgm:t>
        <a:bodyPr/>
        <a:lstStyle/>
        <a:p>
          <a:endParaRPr lang="en-US"/>
        </a:p>
      </dgm:t>
    </dgm:pt>
    <dgm:pt modelId="{B030E580-B3F4-4368-8593-94C206256FAB}" type="pres">
      <dgm:prSet presAssocID="{CF5FE5CE-0D92-4A6F-9F59-9E60F70790F1}" presName="sibTrans" presStyleCnt="0"/>
      <dgm:spPr/>
      <dgm:t>
        <a:bodyPr/>
        <a:lstStyle/>
        <a:p>
          <a:endParaRPr lang="en-US"/>
        </a:p>
      </dgm:t>
    </dgm:pt>
    <dgm:pt modelId="{DF87C2CB-13C5-40B3-9775-D8AECB1F1F74}" type="pres">
      <dgm:prSet presAssocID="{ED29C7C1-47C1-4AC8-9886-D2F1A973F866}" presName="node" presStyleLbl="node1" presStyleIdx="2" presStyleCnt="3">
        <dgm:presLayoutVars>
          <dgm:bulletEnabled val="1"/>
        </dgm:presLayoutVars>
      </dgm:prSet>
      <dgm:spPr/>
      <dgm:t>
        <a:bodyPr/>
        <a:lstStyle/>
        <a:p>
          <a:endParaRPr lang="en-US"/>
        </a:p>
      </dgm:t>
    </dgm:pt>
  </dgm:ptLst>
  <dgm:cxnLst>
    <dgm:cxn modelId="{8D1E5191-5A70-4FA9-8EDB-1755CBE6391A}" type="presOf" srcId="{93CE94D5-6A1A-469C-88B2-83B1CF8EE55E}" destId="{9A193DF4-1674-4637-81D3-1B3BD5BA1E33}" srcOrd="0" destOrd="0" presId="urn:microsoft.com/office/officeart/2005/8/layout/default"/>
    <dgm:cxn modelId="{CC2679FF-5DFD-423B-AEA9-88579E7D2703}" type="presOf" srcId="{69566E3F-3173-433F-BF09-4ED029BE3FDB}" destId="{61921864-0FA6-4AB9-9C20-D0CADA369FD5}" srcOrd="0" destOrd="0" presId="urn:microsoft.com/office/officeart/2005/8/layout/default"/>
    <dgm:cxn modelId="{984167D6-658F-4713-A311-06309D80D1AB}" srcId="{69566E3F-3173-433F-BF09-4ED029BE3FDB}" destId="{7CECA9A1-C87B-472F-B246-7C66D54E71AE}" srcOrd="0" destOrd="0" parTransId="{F2A1947C-9CCA-495F-A748-19BDFD8865C7}" sibTransId="{D7652759-B8EB-44C6-9695-49EAAB5760A6}"/>
    <dgm:cxn modelId="{571F8FDA-E721-4A52-8F8A-D5C2900BDBAD}" srcId="{69566E3F-3173-433F-BF09-4ED029BE3FDB}" destId="{93CE94D5-6A1A-469C-88B2-83B1CF8EE55E}" srcOrd="1" destOrd="0" parTransId="{D4C4F3B5-CB3D-43F5-84EC-FC980AECE7D4}" sibTransId="{CF5FE5CE-0D92-4A6F-9F59-9E60F70790F1}"/>
    <dgm:cxn modelId="{96A3B020-EA70-49CD-8A93-0C582D69E525}" type="presOf" srcId="{7CECA9A1-C87B-472F-B246-7C66D54E71AE}" destId="{1AA3AF2F-49C4-486E-813D-911C6BDAE59F}" srcOrd="0" destOrd="0" presId="urn:microsoft.com/office/officeart/2005/8/layout/default"/>
    <dgm:cxn modelId="{31FE04FB-7FEF-4CCD-B08E-54011E21CF22}" type="presOf" srcId="{ED29C7C1-47C1-4AC8-9886-D2F1A973F866}" destId="{DF87C2CB-13C5-40B3-9775-D8AECB1F1F74}" srcOrd="0" destOrd="0" presId="urn:microsoft.com/office/officeart/2005/8/layout/default"/>
    <dgm:cxn modelId="{091A4642-6308-4C2F-AB54-ADA37DFA501C}" srcId="{69566E3F-3173-433F-BF09-4ED029BE3FDB}" destId="{ED29C7C1-47C1-4AC8-9886-D2F1A973F866}" srcOrd="2" destOrd="0" parTransId="{CAAE4023-E112-4563-824D-9B21B2DFCB2B}" sibTransId="{81157260-9EC2-4012-B7FD-F5E8217FE22A}"/>
    <dgm:cxn modelId="{5A9A1B23-4F54-4F57-814F-769EAA936918}" type="presParOf" srcId="{61921864-0FA6-4AB9-9C20-D0CADA369FD5}" destId="{1AA3AF2F-49C4-486E-813D-911C6BDAE59F}" srcOrd="0" destOrd="0" presId="urn:microsoft.com/office/officeart/2005/8/layout/default"/>
    <dgm:cxn modelId="{28BB51FF-8DDD-4064-857A-472B1005898C}" type="presParOf" srcId="{61921864-0FA6-4AB9-9C20-D0CADA369FD5}" destId="{3EBA200D-DFEB-4461-B872-57FF89F83DD7}" srcOrd="1" destOrd="0" presId="urn:microsoft.com/office/officeart/2005/8/layout/default"/>
    <dgm:cxn modelId="{64FC23D4-C87D-4554-94E8-56EC76D14362}" type="presParOf" srcId="{61921864-0FA6-4AB9-9C20-D0CADA369FD5}" destId="{9A193DF4-1674-4637-81D3-1B3BD5BA1E33}" srcOrd="2" destOrd="0" presId="urn:microsoft.com/office/officeart/2005/8/layout/default"/>
    <dgm:cxn modelId="{B15B1C42-FAF7-46B8-9769-02387B6BAE27}" type="presParOf" srcId="{61921864-0FA6-4AB9-9C20-D0CADA369FD5}" destId="{B030E580-B3F4-4368-8593-94C206256FAB}" srcOrd="3" destOrd="0" presId="urn:microsoft.com/office/officeart/2005/8/layout/default"/>
    <dgm:cxn modelId="{16E8A34E-15F5-41A0-B3FD-326E654FDEC4}" type="presParOf" srcId="{61921864-0FA6-4AB9-9C20-D0CADA369FD5}" destId="{DF87C2CB-13C5-40B3-9775-D8AECB1F1F74}"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B816CB3-BEC7-4A0E-8E45-C912023FE796}" type="doc">
      <dgm:prSet loTypeId="urn:microsoft.com/office/officeart/2008/layout/PictureStrips" loCatId="list" qsTypeId="urn:microsoft.com/office/officeart/2005/8/quickstyle/simple2" qsCatId="simple" csTypeId="urn:microsoft.com/office/officeart/2005/8/colors/accent3_2" csCatId="accent3" phldr="1"/>
      <dgm:spPr/>
      <dgm:t>
        <a:bodyPr/>
        <a:lstStyle/>
        <a:p>
          <a:endParaRPr lang="en-US"/>
        </a:p>
      </dgm:t>
    </dgm:pt>
    <dgm:pt modelId="{427BB200-8F84-49D6-A6F3-D0EEE6620A47}">
      <dgm:prSet phldrT="[Text]" custT="1"/>
      <dgm:spPr/>
      <dgm:t>
        <a:bodyPr/>
        <a:lstStyle/>
        <a:p>
          <a:pPr algn="ctr"/>
          <a:r>
            <a:rPr lang="en-US" altLang="en-US" sz="1700" dirty="0" smtClean="0">
              <a:effectLst/>
              <a:latin typeface="Tahoma" panose="020B0604030504040204" pitchFamily="34" charset="0"/>
              <a:ea typeface="Tahoma" panose="020B0604030504040204" pitchFamily="34" charset="0"/>
              <a:cs typeface="Tahoma" panose="020B0604030504040204" pitchFamily="34" charset="0"/>
            </a:rPr>
            <a:t>1. Superior   stakeholder satisfaction</a:t>
          </a:r>
          <a:endParaRPr lang="en-US" sz="1700" dirty="0">
            <a:effectLst/>
          </a:endParaRPr>
        </a:p>
      </dgm:t>
    </dgm:pt>
    <dgm:pt modelId="{2ACFB74E-B26A-4800-A5E2-6084030F5D5E}" type="parTrans" cxnId="{44DF9B17-EB02-457C-82E0-70EA9170920C}">
      <dgm:prSet/>
      <dgm:spPr/>
      <dgm:t>
        <a:bodyPr/>
        <a:lstStyle/>
        <a:p>
          <a:endParaRPr lang="en-US" sz="1700">
            <a:effectLst/>
          </a:endParaRPr>
        </a:p>
      </dgm:t>
    </dgm:pt>
    <dgm:pt modelId="{7483F081-B608-498E-98AD-B0FB9FF8D424}" type="sibTrans" cxnId="{44DF9B17-EB02-457C-82E0-70EA9170920C}">
      <dgm:prSet/>
      <dgm:spPr/>
      <dgm:t>
        <a:bodyPr/>
        <a:lstStyle/>
        <a:p>
          <a:endParaRPr lang="en-US" sz="1700">
            <a:effectLst/>
          </a:endParaRPr>
        </a:p>
      </dgm:t>
    </dgm:pt>
    <dgm:pt modelId="{74BEF854-84F7-499E-9A2A-27E5976828D7}">
      <dgm:prSet phldrT="[Text]" custT="1"/>
      <dgm:spPr/>
      <dgm:t>
        <a:bodyPr/>
        <a:lstStyle/>
        <a:p>
          <a:pPr algn="ctr"/>
          <a:r>
            <a:rPr lang="en-US" altLang="en-US" sz="1700" dirty="0" smtClean="0">
              <a:effectLst/>
              <a:latin typeface="Tahoma" panose="020B0604030504040204" pitchFamily="34" charset="0"/>
              <a:ea typeface="Tahoma" panose="020B0604030504040204" pitchFamily="34" charset="0"/>
              <a:cs typeface="Tahoma" panose="020B0604030504040204" pitchFamily="34" charset="0"/>
            </a:rPr>
            <a:t>2. Strategic soothsaying</a:t>
          </a:r>
          <a:endParaRPr lang="en-US" sz="1700" dirty="0">
            <a:effectLst/>
          </a:endParaRPr>
        </a:p>
      </dgm:t>
    </dgm:pt>
    <dgm:pt modelId="{970E47BB-6B83-44C7-942E-F6C325093D85}" type="parTrans" cxnId="{A0DA0FE7-4446-4BBD-A850-E5BB4C0973D3}">
      <dgm:prSet/>
      <dgm:spPr/>
      <dgm:t>
        <a:bodyPr/>
        <a:lstStyle/>
        <a:p>
          <a:endParaRPr lang="en-US" sz="1700">
            <a:effectLst/>
          </a:endParaRPr>
        </a:p>
      </dgm:t>
    </dgm:pt>
    <dgm:pt modelId="{7B2D50A0-7C5F-4277-947E-26E00F05E4C8}" type="sibTrans" cxnId="{A0DA0FE7-4446-4BBD-A850-E5BB4C0973D3}">
      <dgm:prSet/>
      <dgm:spPr/>
      <dgm:t>
        <a:bodyPr/>
        <a:lstStyle/>
        <a:p>
          <a:endParaRPr lang="en-US" sz="1700">
            <a:effectLst/>
          </a:endParaRPr>
        </a:p>
      </dgm:t>
    </dgm:pt>
    <dgm:pt modelId="{76D62B79-15FF-4FCC-89EF-40419A6294C3}">
      <dgm:prSet phldrT="[Text]" custT="1"/>
      <dgm:spPr/>
      <dgm:t>
        <a:bodyPr/>
        <a:lstStyle/>
        <a:p>
          <a:pPr algn="ctr"/>
          <a:r>
            <a:rPr lang="en-US" altLang="en-US" sz="1700" dirty="0" smtClean="0">
              <a:effectLst/>
              <a:latin typeface="Tahoma" panose="020B0604030504040204" pitchFamily="34" charset="0"/>
              <a:ea typeface="Tahoma" panose="020B0604030504040204" pitchFamily="34" charset="0"/>
              <a:cs typeface="Tahoma" panose="020B0604030504040204" pitchFamily="34" charset="0"/>
            </a:rPr>
            <a:t>3. Positioning for speed</a:t>
          </a:r>
          <a:endParaRPr lang="en-US" sz="1700" dirty="0">
            <a:effectLst/>
          </a:endParaRPr>
        </a:p>
      </dgm:t>
    </dgm:pt>
    <dgm:pt modelId="{C1E0E415-67F3-47AD-B484-62B18E643D53}" type="parTrans" cxnId="{BB028A18-CE2B-4B36-9F46-89487541F740}">
      <dgm:prSet/>
      <dgm:spPr/>
      <dgm:t>
        <a:bodyPr/>
        <a:lstStyle/>
        <a:p>
          <a:endParaRPr lang="en-US" sz="1700">
            <a:effectLst/>
          </a:endParaRPr>
        </a:p>
      </dgm:t>
    </dgm:pt>
    <dgm:pt modelId="{18BAC376-0B1C-4FA6-AE8A-05D287651048}" type="sibTrans" cxnId="{BB028A18-CE2B-4B36-9F46-89487541F740}">
      <dgm:prSet/>
      <dgm:spPr/>
      <dgm:t>
        <a:bodyPr/>
        <a:lstStyle/>
        <a:p>
          <a:endParaRPr lang="en-US" sz="1700">
            <a:effectLst/>
          </a:endParaRPr>
        </a:p>
      </dgm:t>
    </dgm:pt>
    <dgm:pt modelId="{92701398-69A9-471A-9DF7-3CD61424767F}">
      <dgm:prSet phldrT="[Text]" custT="1"/>
      <dgm:spPr/>
      <dgm:t>
        <a:bodyPr/>
        <a:lstStyle/>
        <a:p>
          <a:pPr algn="ctr"/>
          <a:r>
            <a:rPr lang="en-US" altLang="en-US" sz="1700" dirty="0" smtClean="0">
              <a:effectLst/>
              <a:latin typeface="Tahoma" panose="020B0604030504040204" pitchFamily="34" charset="0"/>
              <a:ea typeface="Tahoma" panose="020B0604030504040204" pitchFamily="34" charset="0"/>
              <a:cs typeface="Tahoma" panose="020B0604030504040204" pitchFamily="34" charset="0"/>
            </a:rPr>
            <a:t>4. Positioning for surprise</a:t>
          </a:r>
          <a:endParaRPr lang="en-US" sz="1700" dirty="0">
            <a:effectLst/>
          </a:endParaRPr>
        </a:p>
      </dgm:t>
    </dgm:pt>
    <dgm:pt modelId="{61FD5E30-2275-4249-8882-184344E57A8E}" type="parTrans" cxnId="{1A522630-EEA8-4ADC-B4EB-2CE50547F7FD}">
      <dgm:prSet/>
      <dgm:spPr/>
      <dgm:t>
        <a:bodyPr/>
        <a:lstStyle/>
        <a:p>
          <a:endParaRPr lang="en-US" sz="1700">
            <a:effectLst/>
          </a:endParaRPr>
        </a:p>
      </dgm:t>
    </dgm:pt>
    <dgm:pt modelId="{64556F90-759E-4929-BCBE-E3635AC5BC6D}" type="sibTrans" cxnId="{1A522630-EEA8-4ADC-B4EB-2CE50547F7FD}">
      <dgm:prSet/>
      <dgm:spPr/>
      <dgm:t>
        <a:bodyPr/>
        <a:lstStyle/>
        <a:p>
          <a:endParaRPr lang="en-US" sz="1700">
            <a:effectLst/>
          </a:endParaRPr>
        </a:p>
      </dgm:t>
    </dgm:pt>
    <dgm:pt modelId="{8CBF141B-F3CA-465C-ADDE-42063E4BA83F}">
      <dgm:prSet phldrT="[Text]" custT="1"/>
      <dgm:spPr/>
      <dgm:t>
        <a:bodyPr/>
        <a:lstStyle/>
        <a:p>
          <a:pPr algn="ctr"/>
          <a:r>
            <a:rPr lang="en-US" altLang="en-US" sz="1700" dirty="0" smtClean="0">
              <a:effectLst/>
              <a:latin typeface="Tahoma" panose="020B0604030504040204" pitchFamily="34" charset="0"/>
              <a:ea typeface="Tahoma" panose="020B0604030504040204" pitchFamily="34" charset="0"/>
              <a:cs typeface="Tahoma" panose="020B0604030504040204" pitchFamily="34" charset="0"/>
            </a:rPr>
            <a:t>5. Shifting the rules of competition</a:t>
          </a:r>
          <a:endParaRPr lang="en-US" sz="1700" dirty="0">
            <a:effectLst/>
          </a:endParaRPr>
        </a:p>
      </dgm:t>
    </dgm:pt>
    <dgm:pt modelId="{B5924314-0BCA-4FD5-9BB5-4203CD2C7533}" type="parTrans" cxnId="{FAA77CBB-2380-42B8-B2F9-E6AAF4F504D6}">
      <dgm:prSet/>
      <dgm:spPr/>
      <dgm:t>
        <a:bodyPr/>
        <a:lstStyle/>
        <a:p>
          <a:endParaRPr lang="en-US" sz="1700">
            <a:effectLst/>
          </a:endParaRPr>
        </a:p>
      </dgm:t>
    </dgm:pt>
    <dgm:pt modelId="{12C1C972-143A-47E2-ABF2-7E43619CF1F4}" type="sibTrans" cxnId="{FAA77CBB-2380-42B8-B2F9-E6AAF4F504D6}">
      <dgm:prSet/>
      <dgm:spPr/>
      <dgm:t>
        <a:bodyPr/>
        <a:lstStyle/>
        <a:p>
          <a:endParaRPr lang="en-US" sz="1700">
            <a:effectLst/>
          </a:endParaRPr>
        </a:p>
      </dgm:t>
    </dgm:pt>
    <dgm:pt modelId="{1E55CE5B-E1A7-49F3-90F6-498C40110D2E}">
      <dgm:prSet phldrT="[Text]" custT="1"/>
      <dgm:spPr/>
      <dgm:t>
        <a:bodyPr/>
        <a:lstStyle/>
        <a:p>
          <a:pPr algn="ctr"/>
          <a:r>
            <a:rPr lang="en-US" altLang="en-US" sz="1700" dirty="0" smtClean="0">
              <a:effectLst/>
              <a:latin typeface="Tahoma" panose="020B0604030504040204" pitchFamily="34" charset="0"/>
              <a:ea typeface="Tahoma" panose="020B0604030504040204" pitchFamily="34" charset="0"/>
              <a:cs typeface="Tahoma" panose="020B0604030504040204" pitchFamily="34" charset="0"/>
            </a:rPr>
            <a:t>6. Signaling strategic intent</a:t>
          </a:r>
          <a:endParaRPr lang="en-US" sz="1700" dirty="0">
            <a:effectLst/>
          </a:endParaRPr>
        </a:p>
      </dgm:t>
    </dgm:pt>
    <dgm:pt modelId="{4940C5F3-E206-4BF2-A27D-E53EB18BBDD5}" type="parTrans" cxnId="{69C1BDD9-9E43-4268-A0B8-D14F8968076A}">
      <dgm:prSet/>
      <dgm:spPr/>
      <dgm:t>
        <a:bodyPr/>
        <a:lstStyle/>
        <a:p>
          <a:endParaRPr lang="en-US" sz="1700">
            <a:effectLst/>
          </a:endParaRPr>
        </a:p>
      </dgm:t>
    </dgm:pt>
    <dgm:pt modelId="{72EDB68E-337A-4320-AA02-C4429A3238D6}" type="sibTrans" cxnId="{69C1BDD9-9E43-4268-A0B8-D14F8968076A}">
      <dgm:prSet/>
      <dgm:spPr/>
      <dgm:t>
        <a:bodyPr/>
        <a:lstStyle/>
        <a:p>
          <a:endParaRPr lang="en-US" sz="1700">
            <a:effectLst/>
          </a:endParaRPr>
        </a:p>
      </dgm:t>
    </dgm:pt>
    <dgm:pt modelId="{71D5E839-3C19-4B36-B317-280CA5D1F43E}">
      <dgm:prSet phldrT="[Text]" custT="1"/>
      <dgm:spPr/>
      <dgm:t>
        <a:bodyPr/>
        <a:lstStyle/>
        <a:p>
          <a:pPr algn="ctr"/>
          <a:r>
            <a:rPr lang="en-US" altLang="en-US" sz="1700" dirty="0" smtClean="0">
              <a:effectLst/>
              <a:latin typeface="Tahoma" panose="020B0604030504040204" pitchFamily="34" charset="0"/>
              <a:ea typeface="Tahoma" panose="020B0604030504040204" pitchFamily="34" charset="0"/>
              <a:cs typeface="Tahoma" panose="020B0604030504040204" pitchFamily="34" charset="0"/>
            </a:rPr>
            <a:t>7. Simultaneous and sequential strategic thrusts</a:t>
          </a:r>
          <a:endParaRPr lang="en-US" sz="1700" dirty="0">
            <a:effectLst/>
          </a:endParaRPr>
        </a:p>
      </dgm:t>
    </dgm:pt>
    <dgm:pt modelId="{3AF08119-4568-49C2-977D-A283412409BD}" type="parTrans" cxnId="{D18E1067-DD1E-4CA9-A765-5C0392D9C00B}">
      <dgm:prSet/>
      <dgm:spPr/>
      <dgm:t>
        <a:bodyPr/>
        <a:lstStyle/>
        <a:p>
          <a:endParaRPr lang="en-US" sz="1700">
            <a:effectLst/>
          </a:endParaRPr>
        </a:p>
      </dgm:t>
    </dgm:pt>
    <dgm:pt modelId="{C0520034-6E30-4E1E-ABE7-EBF1C68225C3}" type="sibTrans" cxnId="{D18E1067-DD1E-4CA9-A765-5C0392D9C00B}">
      <dgm:prSet/>
      <dgm:spPr/>
      <dgm:t>
        <a:bodyPr/>
        <a:lstStyle/>
        <a:p>
          <a:endParaRPr lang="en-US" sz="1700">
            <a:effectLst/>
          </a:endParaRPr>
        </a:p>
      </dgm:t>
    </dgm:pt>
    <dgm:pt modelId="{A7EB5ED3-643F-4A19-A183-3AB3EAF2FAF2}" type="pres">
      <dgm:prSet presAssocID="{EB816CB3-BEC7-4A0E-8E45-C912023FE796}" presName="Name0" presStyleCnt="0">
        <dgm:presLayoutVars>
          <dgm:dir/>
          <dgm:resizeHandles val="exact"/>
        </dgm:presLayoutVars>
      </dgm:prSet>
      <dgm:spPr/>
      <dgm:t>
        <a:bodyPr/>
        <a:lstStyle/>
        <a:p>
          <a:endParaRPr lang="en-US"/>
        </a:p>
      </dgm:t>
    </dgm:pt>
    <dgm:pt modelId="{2FA4A550-7117-4337-A744-D815D2DBBD66}" type="pres">
      <dgm:prSet presAssocID="{427BB200-8F84-49D6-A6F3-D0EEE6620A47}" presName="composite" presStyleCnt="0"/>
      <dgm:spPr/>
    </dgm:pt>
    <dgm:pt modelId="{3811F64D-81E9-4752-9947-46E229C71E58}" type="pres">
      <dgm:prSet presAssocID="{427BB200-8F84-49D6-A6F3-D0EEE6620A47}" presName="rect1" presStyleLbl="trAlignAcc1" presStyleIdx="0" presStyleCnt="7" custLinFactNeighborX="-2083" custLinFactNeighborY="-6077">
        <dgm:presLayoutVars>
          <dgm:bulletEnabled val="1"/>
        </dgm:presLayoutVars>
      </dgm:prSet>
      <dgm:spPr/>
      <dgm:t>
        <a:bodyPr/>
        <a:lstStyle/>
        <a:p>
          <a:endParaRPr lang="en-US"/>
        </a:p>
      </dgm:t>
    </dgm:pt>
    <dgm:pt modelId="{97E4156A-82EC-49EF-8B32-B46AD135E6B0}" type="pres">
      <dgm:prSet presAssocID="{427BB200-8F84-49D6-A6F3-D0EEE6620A47}" presName="rect2" presStyleLbl="fgImgPlace1" presStyleIdx="0" presStyleCnt="7" custLinFactNeighborX="-74" custLinFactNeighborY="-6630"/>
      <dgm:spPr/>
    </dgm:pt>
    <dgm:pt modelId="{20537441-D2E0-459C-BE2A-ECCF90D61078}" type="pres">
      <dgm:prSet presAssocID="{7483F081-B608-498E-98AD-B0FB9FF8D424}" presName="sibTrans" presStyleCnt="0"/>
      <dgm:spPr/>
    </dgm:pt>
    <dgm:pt modelId="{D95EE283-F323-41A4-A446-9EF39DF0BF2D}" type="pres">
      <dgm:prSet presAssocID="{74BEF854-84F7-499E-9A2A-27E5976828D7}" presName="composite" presStyleCnt="0"/>
      <dgm:spPr/>
    </dgm:pt>
    <dgm:pt modelId="{69906450-66D6-49A2-A5C5-53B3F74BF226}" type="pres">
      <dgm:prSet presAssocID="{74BEF854-84F7-499E-9A2A-27E5976828D7}" presName="rect1" presStyleLbl="trAlignAcc1" presStyleIdx="1" presStyleCnt="7">
        <dgm:presLayoutVars>
          <dgm:bulletEnabled val="1"/>
        </dgm:presLayoutVars>
      </dgm:prSet>
      <dgm:spPr/>
      <dgm:t>
        <a:bodyPr/>
        <a:lstStyle/>
        <a:p>
          <a:endParaRPr lang="en-US"/>
        </a:p>
      </dgm:t>
    </dgm:pt>
    <dgm:pt modelId="{DC455434-2937-46E1-9D15-CDBDC15D7CCC}" type="pres">
      <dgm:prSet presAssocID="{74BEF854-84F7-499E-9A2A-27E5976828D7}" presName="rect2" presStyleLbl="fgImgPlace1" presStyleIdx="1" presStyleCnt="7"/>
      <dgm:spPr/>
    </dgm:pt>
    <dgm:pt modelId="{0ADD8556-633D-40A1-B944-91294E78009C}" type="pres">
      <dgm:prSet presAssocID="{7B2D50A0-7C5F-4277-947E-26E00F05E4C8}" presName="sibTrans" presStyleCnt="0"/>
      <dgm:spPr/>
    </dgm:pt>
    <dgm:pt modelId="{91FB1903-B0F3-4868-BACD-CB249704F148}" type="pres">
      <dgm:prSet presAssocID="{76D62B79-15FF-4FCC-89EF-40419A6294C3}" presName="composite" presStyleCnt="0"/>
      <dgm:spPr/>
    </dgm:pt>
    <dgm:pt modelId="{B2608430-5BE5-4E60-BFE9-D0C750579563}" type="pres">
      <dgm:prSet presAssocID="{76D62B79-15FF-4FCC-89EF-40419A6294C3}" presName="rect1" presStyleLbl="trAlignAcc1" presStyleIdx="2" presStyleCnt="7">
        <dgm:presLayoutVars>
          <dgm:bulletEnabled val="1"/>
        </dgm:presLayoutVars>
      </dgm:prSet>
      <dgm:spPr/>
      <dgm:t>
        <a:bodyPr/>
        <a:lstStyle/>
        <a:p>
          <a:endParaRPr lang="en-US"/>
        </a:p>
      </dgm:t>
    </dgm:pt>
    <dgm:pt modelId="{16D4CF63-936E-4CB3-A7F6-400FD83AE4B7}" type="pres">
      <dgm:prSet presAssocID="{76D62B79-15FF-4FCC-89EF-40419A6294C3}" presName="rect2" presStyleLbl="fgImgPlace1" presStyleIdx="2" presStyleCnt="7"/>
      <dgm:spPr/>
    </dgm:pt>
    <dgm:pt modelId="{8C8D5198-263F-45BE-92A5-38E0EE4970C0}" type="pres">
      <dgm:prSet presAssocID="{18BAC376-0B1C-4FA6-AE8A-05D287651048}" presName="sibTrans" presStyleCnt="0"/>
      <dgm:spPr/>
    </dgm:pt>
    <dgm:pt modelId="{3F09A1AF-CD88-4D52-B119-C2C8CD421F18}" type="pres">
      <dgm:prSet presAssocID="{92701398-69A9-471A-9DF7-3CD61424767F}" presName="composite" presStyleCnt="0"/>
      <dgm:spPr/>
    </dgm:pt>
    <dgm:pt modelId="{3E08BBA8-0578-46D3-9599-F68AFCA084A2}" type="pres">
      <dgm:prSet presAssocID="{92701398-69A9-471A-9DF7-3CD61424767F}" presName="rect1" presStyleLbl="trAlignAcc1" presStyleIdx="3" presStyleCnt="7">
        <dgm:presLayoutVars>
          <dgm:bulletEnabled val="1"/>
        </dgm:presLayoutVars>
      </dgm:prSet>
      <dgm:spPr/>
      <dgm:t>
        <a:bodyPr/>
        <a:lstStyle/>
        <a:p>
          <a:endParaRPr lang="en-US"/>
        </a:p>
      </dgm:t>
    </dgm:pt>
    <dgm:pt modelId="{2D6AC957-875B-4A14-BD80-1B8A127DDA61}" type="pres">
      <dgm:prSet presAssocID="{92701398-69A9-471A-9DF7-3CD61424767F}" presName="rect2" presStyleLbl="fgImgPlace1" presStyleIdx="3" presStyleCnt="7"/>
      <dgm:spPr/>
    </dgm:pt>
    <dgm:pt modelId="{40533C94-8B87-4764-86B0-A98E62A62AB4}" type="pres">
      <dgm:prSet presAssocID="{64556F90-759E-4929-BCBE-E3635AC5BC6D}" presName="sibTrans" presStyleCnt="0"/>
      <dgm:spPr/>
    </dgm:pt>
    <dgm:pt modelId="{B16B5FA7-6436-43C7-AF63-A6906D0C7AB4}" type="pres">
      <dgm:prSet presAssocID="{8CBF141B-F3CA-465C-ADDE-42063E4BA83F}" presName="composite" presStyleCnt="0"/>
      <dgm:spPr/>
    </dgm:pt>
    <dgm:pt modelId="{E4C79CD2-9F81-4388-988C-73DA8909E7A4}" type="pres">
      <dgm:prSet presAssocID="{8CBF141B-F3CA-465C-ADDE-42063E4BA83F}" presName="rect1" presStyleLbl="trAlignAcc1" presStyleIdx="4" presStyleCnt="7">
        <dgm:presLayoutVars>
          <dgm:bulletEnabled val="1"/>
        </dgm:presLayoutVars>
      </dgm:prSet>
      <dgm:spPr/>
      <dgm:t>
        <a:bodyPr/>
        <a:lstStyle/>
        <a:p>
          <a:endParaRPr lang="en-US"/>
        </a:p>
      </dgm:t>
    </dgm:pt>
    <dgm:pt modelId="{88A7259B-74B0-4355-99B2-4AD339BF07D2}" type="pres">
      <dgm:prSet presAssocID="{8CBF141B-F3CA-465C-ADDE-42063E4BA83F}" presName="rect2" presStyleLbl="fgImgPlace1" presStyleIdx="4" presStyleCnt="7"/>
      <dgm:spPr/>
    </dgm:pt>
    <dgm:pt modelId="{BF0159AE-C7C9-47D3-9EAF-E8CB70D7085C}" type="pres">
      <dgm:prSet presAssocID="{12C1C972-143A-47E2-ABF2-7E43619CF1F4}" presName="sibTrans" presStyleCnt="0"/>
      <dgm:spPr/>
    </dgm:pt>
    <dgm:pt modelId="{2332B023-114B-42B7-A07F-74F879AE732F}" type="pres">
      <dgm:prSet presAssocID="{1E55CE5B-E1A7-49F3-90F6-498C40110D2E}" presName="composite" presStyleCnt="0"/>
      <dgm:spPr/>
    </dgm:pt>
    <dgm:pt modelId="{0E0E82BE-75C7-4BD8-B963-32F880334527}" type="pres">
      <dgm:prSet presAssocID="{1E55CE5B-E1A7-49F3-90F6-498C40110D2E}" presName="rect1" presStyleLbl="trAlignAcc1" presStyleIdx="5" presStyleCnt="7">
        <dgm:presLayoutVars>
          <dgm:bulletEnabled val="1"/>
        </dgm:presLayoutVars>
      </dgm:prSet>
      <dgm:spPr/>
      <dgm:t>
        <a:bodyPr/>
        <a:lstStyle/>
        <a:p>
          <a:endParaRPr lang="en-US"/>
        </a:p>
      </dgm:t>
    </dgm:pt>
    <dgm:pt modelId="{A9B762CC-8B81-496B-AEE8-64880ECAA262}" type="pres">
      <dgm:prSet presAssocID="{1E55CE5B-E1A7-49F3-90F6-498C40110D2E}" presName="rect2" presStyleLbl="fgImgPlace1" presStyleIdx="5" presStyleCnt="7"/>
      <dgm:spPr/>
    </dgm:pt>
    <dgm:pt modelId="{4DB4A3B0-7C24-41BE-9D92-5F2801133C7F}" type="pres">
      <dgm:prSet presAssocID="{72EDB68E-337A-4320-AA02-C4429A3238D6}" presName="sibTrans" presStyleCnt="0"/>
      <dgm:spPr/>
    </dgm:pt>
    <dgm:pt modelId="{5DAB27DF-A2B3-4192-9802-F5FC0CB8AECA}" type="pres">
      <dgm:prSet presAssocID="{71D5E839-3C19-4B36-B317-280CA5D1F43E}" presName="composite" presStyleCnt="0"/>
      <dgm:spPr/>
    </dgm:pt>
    <dgm:pt modelId="{2EA5909A-2374-40A4-B285-B69BA8BC9FB4}" type="pres">
      <dgm:prSet presAssocID="{71D5E839-3C19-4B36-B317-280CA5D1F43E}" presName="rect1" presStyleLbl="trAlignAcc1" presStyleIdx="6" presStyleCnt="7">
        <dgm:presLayoutVars>
          <dgm:bulletEnabled val="1"/>
        </dgm:presLayoutVars>
      </dgm:prSet>
      <dgm:spPr/>
      <dgm:t>
        <a:bodyPr/>
        <a:lstStyle/>
        <a:p>
          <a:endParaRPr lang="en-US"/>
        </a:p>
      </dgm:t>
    </dgm:pt>
    <dgm:pt modelId="{AD18B297-993D-486E-AA1F-EA15C5ECD357}" type="pres">
      <dgm:prSet presAssocID="{71D5E839-3C19-4B36-B317-280CA5D1F43E}" presName="rect2" presStyleLbl="fgImgPlace1" presStyleIdx="6" presStyleCnt="7"/>
      <dgm:spPr/>
    </dgm:pt>
  </dgm:ptLst>
  <dgm:cxnLst>
    <dgm:cxn modelId="{30619B30-9719-414E-8AFE-27A0F9A07D97}" type="presOf" srcId="{74BEF854-84F7-499E-9A2A-27E5976828D7}" destId="{69906450-66D6-49A2-A5C5-53B3F74BF226}" srcOrd="0" destOrd="0" presId="urn:microsoft.com/office/officeart/2008/layout/PictureStrips"/>
    <dgm:cxn modelId="{6B481C18-0F72-4C7E-A40F-4F40D150C954}" type="presOf" srcId="{76D62B79-15FF-4FCC-89EF-40419A6294C3}" destId="{B2608430-5BE5-4E60-BFE9-D0C750579563}" srcOrd="0" destOrd="0" presId="urn:microsoft.com/office/officeart/2008/layout/PictureStrips"/>
    <dgm:cxn modelId="{1A522630-EEA8-4ADC-B4EB-2CE50547F7FD}" srcId="{EB816CB3-BEC7-4A0E-8E45-C912023FE796}" destId="{92701398-69A9-471A-9DF7-3CD61424767F}" srcOrd="3" destOrd="0" parTransId="{61FD5E30-2275-4249-8882-184344E57A8E}" sibTransId="{64556F90-759E-4929-BCBE-E3635AC5BC6D}"/>
    <dgm:cxn modelId="{368D53AA-0880-4ED3-9BE3-6B3B5E925EDF}" type="presOf" srcId="{92701398-69A9-471A-9DF7-3CD61424767F}" destId="{3E08BBA8-0578-46D3-9599-F68AFCA084A2}" srcOrd="0" destOrd="0" presId="urn:microsoft.com/office/officeart/2008/layout/PictureStrips"/>
    <dgm:cxn modelId="{A0DA0FE7-4446-4BBD-A850-E5BB4C0973D3}" srcId="{EB816CB3-BEC7-4A0E-8E45-C912023FE796}" destId="{74BEF854-84F7-499E-9A2A-27E5976828D7}" srcOrd="1" destOrd="0" parTransId="{970E47BB-6B83-44C7-942E-F6C325093D85}" sibTransId="{7B2D50A0-7C5F-4277-947E-26E00F05E4C8}"/>
    <dgm:cxn modelId="{44DF9B17-EB02-457C-82E0-70EA9170920C}" srcId="{EB816CB3-BEC7-4A0E-8E45-C912023FE796}" destId="{427BB200-8F84-49D6-A6F3-D0EEE6620A47}" srcOrd="0" destOrd="0" parTransId="{2ACFB74E-B26A-4800-A5E2-6084030F5D5E}" sibTransId="{7483F081-B608-498E-98AD-B0FB9FF8D424}"/>
    <dgm:cxn modelId="{541679F4-12F5-4020-8F38-DBC83E99A7AC}" type="presOf" srcId="{EB816CB3-BEC7-4A0E-8E45-C912023FE796}" destId="{A7EB5ED3-643F-4A19-A183-3AB3EAF2FAF2}" srcOrd="0" destOrd="0" presId="urn:microsoft.com/office/officeart/2008/layout/PictureStrips"/>
    <dgm:cxn modelId="{B162E6AD-2CF6-4FE7-874A-C767B5FA3024}" type="presOf" srcId="{8CBF141B-F3CA-465C-ADDE-42063E4BA83F}" destId="{E4C79CD2-9F81-4388-988C-73DA8909E7A4}" srcOrd="0" destOrd="0" presId="urn:microsoft.com/office/officeart/2008/layout/PictureStrips"/>
    <dgm:cxn modelId="{BB028A18-CE2B-4B36-9F46-89487541F740}" srcId="{EB816CB3-BEC7-4A0E-8E45-C912023FE796}" destId="{76D62B79-15FF-4FCC-89EF-40419A6294C3}" srcOrd="2" destOrd="0" parTransId="{C1E0E415-67F3-47AD-B484-62B18E643D53}" sibTransId="{18BAC376-0B1C-4FA6-AE8A-05D287651048}"/>
    <dgm:cxn modelId="{FAA77CBB-2380-42B8-B2F9-E6AAF4F504D6}" srcId="{EB816CB3-BEC7-4A0E-8E45-C912023FE796}" destId="{8CBF141B-F3CA-465C-ADDE-42063E4BA83F}" srcOrd="4" destOrd="0" parTransId="{B5924314-0BCA-4FD5-9BB5-4203CD2C7533}" sibTransId="{12C1C972-143A-47E2-ABF2-7E43619CF1F4}"/>
    <dgm:cxn modelId="{266614DF-8BE2-4373-A6D9-136A28FFEFC0}" type="presOf" srcId="{71D5E839-3C19-4B36-B317-280CA5D1F43E}" destId="{2EA5909A-2374-40A4-B285-B69BA8BC9FB4}" srcOrd="0" destOrd="0" presId="urn:microsoft.com/office/officeart/2008/layout/PictureStrips"/>
    <dgm:cxn modelId="{69C1BDD9-9E43-4268-A0B8-D14F8968076A}" srcId="{EB816CB3-BEC7-4A0E-8E45-C912023FE796}" destId="{1E55CE5B-E1A7-49F3-90F6-498C40110D2E}" srcOrd="5" destOrd="0" parTransId="{4940C5F3-E206-4BF2-A27D-E53EB18BBDD5}" sibTransId="{72EDB68E-337A-4320-AA02-C4429A3238D6}"/>
    <dgm:cxn modelId="{8646C536-B7F9-4886-A868-F7A45E237C55}" type="presOf" srcId="{1E55CE5B-E1A7-49F3-90F6-498C40110D2E}" destId="{0E0E82BE-75C7-4BD8-B963-32F880334527}" srcOrd="0" destOrd="0" presId="urn:microsoft.com/office/officeart/2008/layout/PictureStrips"/>
    <dgm:cxn modelId="{FD95EF2D-D7BE-4A21-AF17-2BDCA5F97B49}" type="presOf" srcId="{427BB200-8F84-49D6-A6F3-D0EEE6620A47}" destId="{3811F64D-81E9-4752-9947-46E229C71E58}" srcOrd="0" destOrd="0" presId="urn:microsoft.com/office/officeart/2008/layout/PictureStrips"/>
    <dgm:cxn modelId="{D18E1067-DD1E-4CA9-A765-5C0392D9C00B}" srcId="{EB816CB3-BEC7-4A0E-8E45-C912023FE796}" destId="{71D5E839-3C19-4B36-B317-280CA5D1F43E}" srcOrd="6" destOrd="0" parTransId="{3AF08119-4568-49C2-977D-A283412409BD}" sibTransId="{C0520034-6E30-4E1E-ABE7-EBF1C68225C3}"/>
    <dgm:cxn modelId="{43EE3DC6-DDA8-471C-BA3C-438F6596128A}" type="presParOf" srcId="{A7EB5ED3-643F-4A19-A183-3AB3EAF2FAF2}" destId="{2FA4A550-7117-4337-A744-D815D2DBBD66}" srcOrd="0" destOrd="0" presId="urn:microsoft.com/office/officeart/2008/layout/PictureStrips"/>
    <dgm:cxn modelId="{C8B3B0D0-9DC9-4E06-8055-B8A090942BB9}" type="presParOf" srcId="{2FA4A550-7117-4337-A744-D815D2DBBD66}" destId="{3811F64D-81E9-4752-9947-46E229C71E58}" srcOrd="0" destOrd="0" presId="urn:microsoft.com/office/officeart/2008/layout/PictureStrips"/>
    <dgm:cxn modelId="{D8D3B3C7-5D0A-4653-8AA8-CEBF6BC9E161}" type="presParOf" srcId="{2FA4A550-7117-4337-A744-D815D2DBBD66}" destId="{97E4156A-82EC-49EF-8B32-B46AD135E6B0}" srcOrd="1" destOrd="0" presId="urn:microsoft.com/office/officeart/2008/layout/PictureStrips"/>
    <dgm:cxn modelId="{8588274C-57E9-4919-9AA8-1C83AE9864E0}" type="presParOf" srcId="{A7EB5ED3-643F-4A19-A183-3AB3EAF2FAF2}" destId="{20537441-D2E0-459C-BE2A-ECCF90D61078}" srcOrd="1" destOrd="0" presId="urn:microsoft.com/office/officeart/2008/layout/PictureStrips"/>
    <dgm:cxn modelId="{163D5FCA-86BE-4BE0-B1B2-3B09CB0ECB86}" type="presParOf" srcId="{A7EB5ED3-643F-4A19-A183-3AB3EAF2FAF2}" destId="{D95EE283-F323-41A4-A446-9EF39DF0BF2D}" srcOrd="2" destOrd="0" presId="urn:microsoft.com/office/officeart/2008/layout/PictureStrips"/>
    <dgm:cxn modelId="{8767F9E2-4B5F-4DAD-8238-9F1F4E155693}" type="presParOf" srcId="{D95EE283-F323-41A4-A446-9EF39DF0BF2D}" destId="{69906450-66D6-49A2-A5C5-53B3F74BF226}" srcOrd="0" destOrd="0" presId="urn:microsoft.com/office/officeart/2008/layout/PictureStrips"/>
    <dgm:cxn modelId="{417862A2-B812-4F88-8E3D-0C7A4233ADAE}" type="presParOf" srcId="{D95EE283-F323-41A4-A446-9EF39DF0BF2D}" destId="{DC455434-2937-46E1-9D15-CDBDC15D7CCC}" srcOrd="1" destOrd="0" presId="urn:microsoft.com/office/officeart/2008/layout/PictureStrips"/>
    <dgm:cxn modelId="{4BED4902-A596-4323-8E60-113D88FF194B}" type="presParOf" srcId="{A7EB5ED3-643F-4A19-A183-3AB3EAF2FAF2}" destId="{0ADD8556-633D-40A1-B944-91294E78009C}" srcOrd="3" destOrd="0" presId="urn:microsoft.com/office/officeart/2008/layout/PictureStrips"/>
    <dgm:cxn modelId="{F32397E8-AF38-4D54-A682-0D0CD6EEBFFE}" type="presParOf" srcId="{A7EB5ED3-643F-4A19-A183-3AB3EAF2FAF2}" destId="{91FB1903-B0F3-4868-BACD-CB249704F148}" srcOrd="4" destOrd="0" presId="urn:microsoft.com/office/officeart/2008/layout/PictureStrips"/>
    <dgm:cxn modelId="{512C89E8-1ACE-4079-B5DB-ED99F7639131}" type="presParOf" srcId="{91FB1903-B0F3-4868-BACD-CB249704F148}" destId="{B2608430-5BE5-4E60-BFE9-D0C750579563}" srcOrd="0" destOrd="0" presId="urn:microsoft.com/office/officeart/2008/layout/PictureStrips"/>
    <dgm:cxn modelId="{040BE61B-D675-450C-AE85-AD46060F3DCF}" type="presParOf" srcId="{91FB1903-B0F3-4868-BACD-CB249704F148}" destId="{16D4CF63-936E-4CB3-A7F6-400FD83AE4B7}" srcOrd="1" destOrd="0" presId="urn:microsoft.com/office/officeart/2008/layout/PictureStrips"/>
    <dgm:cxn modelId="{9E34A6E0-6D81-4DA7-9FD8-9687E978BA45}" type="presParOf" srcId="{A7EB5ED3-643F-4A19-A183-3AB3EAF2FAF2}" destId="{8C8D5198-263F-45BE-92A5-38E0EE4970C0}" srcOrd="5" destOrd="0" presId="urn:microsoft.com/office/officeart/2008/layout/PictureStrips"/>
    <dgm:cxn modelId="{02C5B4E8-B551-4C99-A2E9-800C7B0001D7}" type="presParOf" srcId="{A7EB5ED3-643F-4A19-A183-3AB3EAF2FAF2}" destId="{3F09A1AF-CD88-4D52-B119-C2C8CD421F18}" srcOrd="6" destOrd="0" presId="urn:microsoft.com/office/officeart/2008/layout/PictureStrips"/>
    <dgm:cxn modelId="{32D671D2-6F2F-4AF1-89F2-344B62694ADA}" type="presParOf" srcId="{3F09A1AF-CD88-4D52-B119-C2C8CD421F18}" destId="{3E08BBA8-0578-46D3-9599-F68AFCA084A2}" srcOrd="0" destOrd="0" presId="urn:microsoft.com/office/officeart/2008/layout/PictureStrips"/>
    <dgm:cxn modelId="{10F154E7-83D1-42E8-9B36-8B323D197CEE}" type="presParOf" srcId="{3F09A1AF-CD88-4D52-B119-C2C8CD421F18}" destId="{2D6AC957-875B-4A14-BD80-1B8A127DDA61}" srcOrd="1" destOrd="0" presId="urn:microsoft.com/office/officeart/2008/layout/PictureStrips"/>
    <dgm:cxn modelId="{31E40B32-E452-42CC-8CE7-32B02379292F}" type="presParOf" srcId="{A7EB5ED3-643F-4A19-A183-3AB3EAF2FAF2}" destId="{40533C94-8B87-4764-86B0-A98E62A62AB4}" srcOrd="7" destOrd="0" presId="urn:microsoft.com/office/officeart/2008/layout/PictureStrips"/>
    <dgm:cxn modelId="{BF87913B-8545-41B4-810F-4E09CC8D5153}" type="presParOf" srcId="{A7EB5ED3-643F-4A19-A183-3AB3EAF2FAF2}" destId="{B16B5FA7-6436-43C7-AF63-A6906D0C7AB4}" srcOrd="8" destOrd="0" presId="urn:microsoft.com/office/officeart/2008/layout/PictureStrips"/>
    <dgm:cxn modelId="{059794C7-BE8B-4DF2-8850-A83F975F9EB5}" type="presParOf" srcId="{B16B5FA7-6436-43C7-AF63-A6906D0C7AB4}" destId="{E4C79CD2-9F81-4388-988C-73DA8909E7A4}" srcOrd="0" destOrd="0" presId="urn:microsoft.com/office/officeart/2008/layout/PictureStrips"/>
    <dgm:cxn modelId="{52E5BD74-9F65-478F-A193-29226B4C4385}" type="presParOf" srcId="{B16B5FA7-6436-43C7-AF63-A6906D0C7AB4}" destId="{88A7259B-74B0-4355-99B2-4AD339BF07D2}" srcOrd="1" destOrd="0" presId="urn:microsoft.com/office/officeart/2008/layout/PictureStrips"/>
    <dgm:cxn modelId="{F2C0E146-0668-4075-91DE-41BD0EA70BDF}" type="presParOf" srcId="{A7EB5ED3-643F-4A19-A183-3AB3EAF2FAF2}" destId="{BF0159AE-C7C9-47D3-9EAF-E8CB70D7085C}" srcOrd="9" destOrd="0" presId="urn:microsoft.com/office/officeart/2008/layout/PictureStrips"/>
    <dgm:cxn modelId="{589A0492-699B-44CF-91CC-395616B909CF}" type="presParOf" srcId="{A7EB5ED3-643F-4A19-A183-3AB3EAF2FAF2}" destId="{2332B023-114B-42B7-A07F-74F879AE732F}" srcOrd="10" destOrd="0" presId="urn:microsoft.com/office/officeart/2008/layout/PictureStrips"/>
    <dgm:cxn modelId="{B33175CB-EF1D-4580-AFB9-44662952831C}" type="presParOf" srcId="{2332B023-114B-42B7-A07F-74F879AE732F}" destId="{0E0E82BE-75C7-4BD8-B963-32F880334527}" srcOrd="0" destOrd="0" presId="urn:microsoft.com/office/officeart/2008/layout/PictureStrips"/>
    <dgm:cxn modelId="{1B6370DB-671A-4FFF-B6F8-BA4017E2239B}" type="presParOf" srcId="{2332B023-114B-42B7-A07F-74F879AE732F}" destId="{A9B762CC-8B81-496B-AEE8-64880ECAA262}" srcOrd="1" destOrd="0" presId="urn:microsoft.com/office/officeart/2008/layout/PictureStrips"/>
    <dgm:cxn modelId="{0CDE9247-CD7D-4423-90AB-64F74FED3C83}" type="presParOf" srcId="{A7EB5ED3-643F-4A19-A183-3AB3EAF2FAF2}" destId="{4DB4A3B0-7C24-41BE-9D92-5F2801133C7F}" srcOrd="11" destOrd="0" presId="urn:microsoft.com/office/officeart/2008/layout/PictureStrips"/>
    <dgm:cxn modelId="{6CD00E13-4941-47FE-A371-E01B665C0450}" type="presParOf" srcId="{A7EB5ED3-643F-4A19-A183-3AB3EAF2FAF2}" destId="{5DAB27DF-A2B3-4192-9802-F5FC0CB8AECA}" srcOrd="12" destOrd="0" presId="urn:microsoft.com/office/officeart/2008/layout/PictureStrips"/>
    <dgm:cxn modelId="{05C2D6DF-34DC-484C-969E-071FD3220617}" type="presParOf" srcId="{5DAB27DF-A2B3-4192-9802-F5FC0CB8AECA}" destId="{2EA5909A-2374-40A4-B285-B69BA8BC9FB4}" srcOrd="0" destOrd="0" presId="urn:microsoft.com/office/officeart/2008/layout/PictureStrips"/>
    <dgm:cxn modelId="{6E6C98D1-1630-44F0-9BA4-D4E35E25E6FF}" type="presParOf" srcId="{5DAB27DF-A2B3-4192-9802-F5FC0CB8AECA}" destId="{AD18B297-993D-486E-AA1F-EA15C5ECD357}" srcOrd="1" destOrd="0" presId="urn:microsoft.com/office/officeart/2008/layout/PictureStrip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4EE379C-6B41-4CB9-BB42-8CA640E204AB}" type="doc">
      <dgm:prSet loTypeId="urn:microsoft.com/office/officeart/2005/8/layout/cycle7" loCatId="cycle" qsTypeId="urn:microsoft.com/office/officeart/2005/8/quickstyle/simple2" qsCatId="simple" csTypeId="urn:microsoft.com/office/officeart/2005/8/colors/accent3_2" csCatId="accent3" phldr="1"/>
      <dgm:spPr/>
      <dgm:t>
        <a:bodyPr/>
        <a:lstStyle/>
        <a:p>
          <a:endParaRPr lang="en-US"/>
        </a:p>
      </dgm:t>
    </dgm:pt>
    <dgm:pt modelId="{00606D7C-FC00-45F1-A286-7D38CF7FF265}">
      <dgm:prSet phldrT="[Text]" custT="1"/>
      <dgm:spPr/>
      <dgm:t>
        <a:bodyPr/>
        <a:lstStyle/>
        <a:p>
          <a:r>
            <a:rPr lang="en-US" sz="1800" dirty="0" smtClean="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Business Process</a:t>
          </a:r>
          <a:endParaRPr lang="en-US" sz="1800"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dgm:t>
    </dgm:pt>
    <dgm:pt modelId="{C232FAA4-3254-447C-9C9B-7D9E7E671E50}" type="parTrans" cxnId="{036B7010-B5E7-492F-9D2B-9C82E4E2EBF4}">
      <dgm:prSet/>
      <dgm:spPr/>
      <dgm:t>
        <a:bodyPr/>
        <a:lstStyle/>
        <a:p>
          <a:endParaRPr lang="en-US" sz="180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dgm:t>
    </dgm:pt>
    <dgm:pt modelId="{E4CDCCF2-0921-41F3-8637-1E4DDD7D6769}" type="sibTrans" cxnId="{036B7010-B5E7-492F-9D2B-9C82E4E2EBF4}">
      <dgm:prSet/>
      <dgm:spPr/>
      <dgm:t>
        <a:bodyPr/>
        <a:lstStyle/>
        <a:p>
          <a:endParaRPr lang="en-US" sz="180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dgm:t>
    </dgm:pt>
    <dgm:pt modelId="{69C41CC2-B5EC-4BA5-940B-B34090152873}">
      <dgm:prSet phldrT="[Text]" custT="1"/>
      <dgm:spPr/>
      <dgm:t>
        <a:bodyPr/>
        <a:lstStyle/>
        <a:p>
          <a:r>
            <a:rPr lang="en-US" sz="1800" dirty="0" smtClean="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Values and Beliefs</a:t>
          </a:r>
          <a:endParaRPr lang="en-US" sz="1800"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dgm:t>
    </dgm:pt>
    <dgm:pt modelId="{4F32DD9C-6611-42E5-A622-E62C276F1F66}" type="parTrans" cxnId="{D4C11FD7-E82B-46E1-8017-4D2A22BDE371}">
      <dgm:prSet/>
      <dgm:spPr/>
      <dgm:t>
        <a:bodyPr/>
        <a:lstStyle/>
        <a:p>
          <a:endParaRPr lang="en-US" sz="180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dgm:t>
    </dgm:pt>
    <dgm:pt modelId="{46B693A0-009E-43A2-9D2D-DECDDDF63593}" type="sibTrans" cxnId="{D4C11FD7-E82B-46E1-8017-4D2A22BDE371}">
      <dgm:prSet/>
      <dgm:spPr/>
      <dgm:t>
        <a:bodyPr/>
        <a:lstStyle/>
        <a:p>
          <a:endParaRPr lang="en-US" sz="180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dgm:t>
    </dgm:pt>
    <dgm:pt modelId="{ED9CDBF9-862F-4498-A968-64C23B8E4552}">
      <dgm:prSet phldrT="[Text]" custT="1"/>
      <dgm:spPr/>
      <dgm:t>
        <a:bodyPr/>
        <a:lstStyle/>
        <a:p>
          <a:r>
            <a:rPr lang="en-US" sz="1800" dirty="0" smtClean="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Management and Measurement Systems</a:t>
          </a:r>
          <a:endParaRPr lang="en-US" sz="1800"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dgm:t>
    </dgm:pt>
    <dgm:pt modelId="{D4EB07D9-E822-4993-80C1-0EB872E32118}" type="parTrans" cxnId="{FD0E84EB-52F5-4F2B-81EF-620A6F55683A}">
      <dgm:prSet/>
      <dgm:spPr/>
      <dgm:t>
        <a:bodyPr/>
        <a:lstStyle/>
        <a:p>
          <a:endParaRPr lang="en-US" sz="180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dgm:t>
    </dgm:pt>
    <dgm:pt modelId="{9E953A0E-A92E-48FC-B308-302A9829EA6B}" type="sibTrans" cxnId="{FD0E84EB-52F5-4F2B-81EF-620A6F55683A}">
      <dgm:prSet/>
      <dgm:spPr/>
      <dgm:t>
        <a:bodyPr/>
        <a:lstStyle/>
        <a:p>
          <a:endParaRPr lang="en-US" sz="180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dgm:t>
    </dgm:pt>
    <dgm:pt modelId="{351C3423-4F5E-4DA9-85EB-4A7227ABE35A}">
      <dgm:prSet phldrT="[Text]" custT="1"/>
      <dgm:spPr/>
      <dgm:t>
        <a:bodyPr/>
        <a:lstStyle/>
        <a:p>
          <a:r>
            <a:rPr lang="en-US" sz="1800" dirty="0" smtClean="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Tasks and Structures</a:t>
          </a:r>
          <a:endParaRPr lang="en-US" sz="1800"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dgm:t>
    </dgm:pt>
    <dgm:pt modelId="{9A87304D-30B8-4BE6-A75C-6DC1977170AE}" type="parTrans" cxnId="{E071A491-0274-4D19-B32E-6E2A73E0291F}">
      <dgm:prSet/>
      <dgm:spPr/>
      <dgm:t>
        <a:bodyPr/>
        <a:lstStyle/>
        <a:p>
          <a:endParaRPr lang="en-US" sz="180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dgm:t>
    </dgm:pt>
    <dgm:pt modelId="{9AC558CD-5944-4038-A023-AA0700877C83}" type="sibTrans" cxnId="{E071A491-0274-4D19-B32E-6E2A73E0291F}">
      <dgm:prSet/>
      <dgm:spPr/>
      <dgm:t>
        <a:bodyPr/>
        <a:lstStyle/>
        <a:p>
          <a:endParaRPr lang="en-US" sz="180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dgm:t>
    </dgm:pt>
    <dgm:pt modelId="{04AE796B-180A-43EE-A0E1-C911F2576FAE}" type="pres">
      <dgm:prSet presAssocID="{34EE379C-6B41-4CB9-BB42-8CA640E204AB}" presName="Name0" presStyleCnt="0">
        <dgm:presLayoutVars>
          <dgm:dir/>
          <dgm:resizeHandles val="exact"/>
        </dgm:presLayoutVars>
      </dgm:prSet>
      <dgm:spPr/>
      <dgm:t>
        <a:bodyPr/>
        <a:lstStyle/>
        <a:p>
          <a:endParaRPr lang="en-US"/>
        </a:p>
      </dgm:t>
    </dgm:pt>
    <dgm:pt modelId="{9265D508-E600-4BD3-82B7-3211CF60973A}" type="pres">
      <dgm:prSet presAssocID="{00606D7C-FC00-45F1-A286-7D38CF7FF265}" presName="node" presStyleLbl="node1" presStyleIdx="0" presStyleCnt="4">
        <dgm:presLayoutVars>
          <dgm:bulletEnabled val="1"/>
        </dgm:presLayoutVars>
      </dgm:prSet>
      <dgm:spPr/>
      <dgm:t>
        <a:bodyPr/>
        <a:lstStyle/>
        <a:p>
          <a:endParaRPr lang="en-US"/>
        </a:p>
      </dgm:t>
    </dgm:pt>
    <dgm:pt modelId="{253D1D8F-7A66-4489-B6EC-6D0AFC07AF26}" type="pres">
      <dgm:prSet presAssocID="{E4CDCCF2-0921-41F3-8637-1E4DDD7D6769}" presName="sibTrans" presStyleLbl="sibTrans2D1" presStyleIdx="0" presStyleCnt="4"/>
      <dgm:spPr/>
      <dgm:t>
        <a:bodyPr/>
        <a:lstStyle/>
        <a:p>
          <a:endParaRPr lang="en-US"/>
        </a:p>
      </dgm:t>
    </dgm:pt>
    <dgm:pt modelId="{5452767D-2E88-4784-A635-D6E56DBE6283}" type="pres">
      <dgm:prSet presAssocID="{E4CDCCF2-0921-41F3-8637-1E4DDD7D6769}" presName="connectorText" presStyleLbl="sibTrans2D1" presStyleIdx="0" presStyleCnt="4"/>
      <dgm:spPr/>
      <dgm:t>
        <a:bodyPr/>
        <a:lstStyle/>
        <a:p>
          <a:endParaRPr lang="en-US"/>
        </a:p>
      </dgm:t>
    </dgm:pt>
    <dgm:pt modelId="{868BF17A-479E-4932-A575-63E2A158022E}" type="pres">
      <dgm:prSet presAssocID="{69C41CC2-B5EC-4BA5-940B-B34090152873}" presName="node" presStyleLbl="node1" presStyleIdx="1" presStyleCnt="4">
        <dgm:presLayoutVars>
          <dgm:bulletEnabled val="1"/>
        </dgm:presLayoutVars>
      </dgm:prSet>
      <dgm:spPr/>
      <dgm:t>
        <a:bodyPr/>
        <a:lstStyle/>
        <a:p>
          <a:endParaRPr lang="en-US"/>
        </a:p>
      </dgm:t>
    </dgm:pt>
    <dgm:pt modelId="{BA33BAB5-1751-4A33-B4D4-D3735E77C480}" type="pres">
      <dgm:prSet presAssocID="{46B693A0-009E-43A2-9D2D-DECDDDF63593}" presName="sibTrans" presStyleLbl="sibTrans2D1" presStyleIdx="1" presStyleCnt="4"/>
      <dgm:spPr/>
      <dgm:t>
        <a:bodyPr/>
        <a:lstStyle/>
        <a:p>
          <a:endParaRPr lang="en-US"/>
        </a:p>
      </dgm:t>
    </dgm:pt>
    <dgm:pt modelId="{1EABF23C-1A33-478D-802F-3D34EF56A6F1}" type="pres">
      <dgm:prSet presAssocID="{46B693A0-009E-43A2-9D2D-DECDDDF63593}" presName="connectorText" presStyleLbl="sibTrans2D1" presStyleIdx="1" presStyleCnt="4"/>
      <dgm:spPr/>
      <dgm:t>
        <a:bodyPr/>
        <a:lstStyle/>
        <a:p>
          <a:endParaRPr lang="en-US"/>
        </a:p>
      </dgm:t>
    </dgm:pt>
    <dgm:pt modelId="{9EF58F97-A1A8-4407-B06D-118B89DD4FEB}" type="pres">
      <dgm:prSet presAssocID="{ED9CDBF9-862F-4498-A968-64C23B8E4552}" presName="node" presStyleLbl="node1" presStyleIdx="2" presStyleCnt="4">
        <dgm:presLayoutVars>
          <dgm:bulletEnabled val="1"/>
        </dgm:presLayoutVars>
      </dgm:prSet>
      <dgm:spPr/>
      <dgm:t>
        <a:bodyPr/>
        <a:lstStyle/>
        <a:p>
          <a:endParaRPr lang="en-US"/>
        </a:p>
      </dgm:t>
    </dgm:pt>
    <dgm:pt modelId="{A0E7E700-9405-4DBD-8A72-EE34F63F1A16}" type="pres">
      <dgm:prSet presAssocID="{9E953A0E-A92E-48FC-B308-302A9829EA6B}" presName="sibTrans" presStyleLbl="sibTrans2D1" presStyleIdx="2" presStyleCnt="4"/>
      <dgm:spPr/>
      <dgm:t>
        <a:bodyPr/>
        <a:lstStyle/>
        <a:p>
          <a:endParaRPr lang="en-US"/>
        </a:p>
      </dgm:t>
    </dgm:pt>
    <dgm:pt modelId="{B71A156B-BA36-46AB-8BAB-A974B67160CC}" type="pres">
      <dgm:prSet presAssocID="{9E953A0E-A92E-48FC-B308-302A9829EA6B}" presName="connectorText" presStyleLbl="sibTrans2D1" presStyleIdx="2" presStyleCnt="4"/>
      <dgm:spPr/>
      <dgm:t>
        <a:bodyPr/>
        <a:lstStyle/>
        <a:p>
          <a:endParaRPr lang="en-US"/>
        </a:p>
      </dgm:t>
    </dgm:pt>
    <dgm:pt modelId="{6A636018-F7C5-455B-BD7A-99803A83EC50}" type="pres">
      <dgm:prSet presAssocID="{351C3423-4F5E-4DA9-85EB-4A7227ABE35A}" presName="node" presStyleLbl="node1" presStyleIdx="3" presStyleCnt="4">
        <dgm:presLayoutVars>
          <dgm:bulletEnabled val="1"/>
        </dgm:presLayoutVars>
      </dgm:prSet>
      <dgm:spPr/>
      <dgm:t>
        <a:bodyPr/>
        <a:lstStyle/>
        <a:p>
          <a:endParaRPr lang="en-US"/>
        </a:p>
      </dgm:t>
    </dgm:pt>
    <dgm:pt modelId="{50C48E63-C1D1-423A-B8F0-74823E759340}" type="pres">
      <dgm:prSet presAssocID="{9AC558CD-5944-4038-A023-AA0700877C83}" presName="sibTrans" presStyleLbl="sibTrans2D1" presStyleIdx="3" presStyleCnt="4"/>
      <dgm:spPr/>
      <dgm:t>
        <a:bodyPr/>
        <a:lstStyle/>
        <a:p>
          <a:endParaRPr lang="en-US"/>
        </a:p>
      </dgm:t>
    </dgm:pt>
    <dgm:pt modelId="{F0861417-AB76-45B0-A7F3-69B9E18C2B0B}" type="pres">
      <dgm:prSet presAssocID="{9AC558CD-5944-4038-A023-AA0700877C83}" presName="connectorText" presStyleLbl="sibTrans2D1" presStyleIdx="3" presStyleCnt="4"/>
      <dgm:spPr/>
      <dgm:t>
        <a:bodyPr/>
        <a:lstStyle/>
        <a:p>
          <a:endParaRPr lang="en-US"/>
        </a:p>
      </dgm:t>
    </dgm:pt>
  </dgm:ptLst>
  <dgm:cxnLst>
    <dgm:cxn modelId="{F2DDBD61-6E93-4862-AE73-23A62E351340}" type="presOf" srcId="{69C41CC2-B5EC-4BA5-940B-B34090152873}" destId="{868BF17A-479E-4932-A575-63E2A158022E}" srcOrd="0" destOrd="0" presId="urn:microsoft.com/office/officeart/2005/8/layout/cycle7"/>
    <dgm:cxn modelId="{D4C11FD7-E82B-46E1-8017-4D2A22BDE371}" srcId="{34EE379C-6B41-4CB9-BB42-8CA640E204AB}" destId="{69C41CC2-B5EC-4BA5-940B-B34090152873}" srcOrd="1" destOrd="0" parTransId="{4F32DD9C-6611-42E5-A622-E62C276F1F66}" sibTransId="{46B693A0-009E-43A2-9D2D-DECDDDF63593}"/>
    <dgm:cxn modelId="{4C1382F5-B066-4CEC-B1E1-26BB88A5BB70}" type="presOf" srcId="{46B693A0-009E-43A2-9D2D-DECDDDF63593}" destId="{1EABF23C-1A33-478D-802F-3D34EF56A6F1}" srcOrd="1" destOrd="0" presId="urn:microsoft.com/office/officeart/2005/8/layout/cycle7"/>
    <dgm:cxn modelId="{29B1BA5A-70EC-4AEB-81A2-B12ECC8567DB}" type="presOf" srcId="{9E953A0E-A92E-48FC-B308-302A9829EA6B}" destId="{B71A156B-BA36-46AB-8BAB-A974B67160CC}" srcOrd="1" destOrd="0" presId="urn:microsoft.com/office/officeart/2005/8/layout/cycle7"/>
    <dgm:cxn modelId="{410AE6DE-A4ED-4E4A-AB6F-0C940E4B3169}" type="presOf" srcId="{351C3423-4F5E-4DA9-85EB-4A7227ABE35A}" destId="{6A636018-F7C5-455B-BD7A-99803A83EC50}" srcOrd="0" destOrd="0" presId="urn:microsoft.com/office/officeart/2005/8/layout/cycle7"/>
    <dgm:cxn modelId="{8CD1763D-837D-40A4-A24C-C495AB300D36}" type="presOf" srcId="{E4CDCCF2-0921-41F3-8637-1E4DDD7D6769}" destId="{253D1D8F-7A66-4489-B6EC-6D0AFC07AF26}" srcOrd="0" destOrd="0" presId="urn:microsoft.com/office/officeart/2005/8/layout/cycle7"/>
    <dgm:cxn modelId="{0A098599-2D69-4C28-A089-2C3744849D80}" type="presOf" srcId="{46B693A0-009E-43A2-9D2D-DECDDDF63593}" destId="{BA33BAB5-1751-4A33-B4D4-D3735E77C480}" srcOrd="0" destOrd="0" presId="urn:microsoft.com/office/officeart/2005/8/layout/cycle7"/>
    <dgm:cxn modelId="{0CF11FF2-0D7C-4AEB-B88F-E8ACC11BCD00}" type="presOf" srcId="{E4CDCCF2-0921-41F3-8637-1E4DDD7D6769}" destId="{5452767D-2E88-4784-A635-D6E56DBE6283}" srcOrd="1" destOrd="0" presId="urn:microsoft.com/office/officeart/2005/8/layout/cycle7"/>
    <dgm:cxn modelId="{D21F2187-B868-4C62-9744-240ABA44D520}" type="presOf" srcId="{00606D7C-FC00-45F1-A286-7D38CF7FF265}" destId="{9265D508-E600-4BD3-82B7-3211CF60973A}" srcOrd="0" destOrd="0" presId="urn:microsoft.com/office/officeart/2005/8/layout/cycle7"/>
    <dgm:cxn modelId="{036B7010-B5E7-492F-9D2B-9C82E4E2EBF4}" srcId="{34EE379C-6B41-4CB9-BB42-8CA640E204AB}" destId="{00606D7C-FC00-45F1-A286-7D38CF7FF265}" srcOrd="0" destOrd="0" parTransId="{C232FAA4-3254-447C-9C9B-7D9E7E671E50}" sibTransId="{E4CDCCF2-0921-41F3-8637-1E4DDD7D6769}"/>
    <dgm:cxn modelId="{FD0E84EB-52F5-4F2B-81EF-620A6F55683A}" srcId="{34EE379C-6B41-4CB9-BB42-8CA640E204AB}" destId="{ED9CDBF9-862F-4498-A968-64C23B8E4552}" srcOrd="2" destOrd="0" parTransId="{D4EB07D9-E822-4993-80C1-0EB872E32118}" sibTransId="{9E953A0E-A92E-48FC-B308-302A9829EA6B}"/>
    <dgm:cxn modelId="{21843047-4FC4-4E0D-B9F0-A5F8662DF676}" type="presOf" srcId="{9AC558CD-5944-4038-A023-AA0700877C83}" destId="{50C48E63-C1D1-423A-B8F0-74823E759340}" srcOrd="0" destOrd="0" presId="urn:microsoft.com/office/officeart/2005/8/layout/cycle7"/>
    <dgm:cxn modelId="{E071A491-0274-4D19-B32E-6E2A73E0291F}" srcId="{34EE379C-6B41-4CB9-BB42-8CA640E204AB}" destId="{351C3423-4F5E-4DA9-85EB-4A7227ABE35A}" srcOrd="3" destOrd="0" parTransId="{9A87304D-30B8-4BE6-A75C-6DC1977170AE}" sibTransId="{9AC558CD-5944-4038-A023-AA0700877C83}"/>
    <dgm:cxn modelId="{33D51DF2-8246-42BD-9156-9E087B8FCF57}" type="presOf" srcId="{9E953A0E-A92E-48FC-B308-302A9829EA6B}" destId="{A0E7E700-9405-4DBD-8A72-EE34F63F1A16}" srcOrd="0" destOrd="0" presId="urn:microsoft.com/office/officeart/2005/8/layout/cycle7"/>
    <dgm:cxn modelId="{B0812283-4481-472A-8656-244CF9CE394E}" type="presOf" srcId="{34EE379C-6B41-4CB9-BB42-8CA640E204AB}" destId="{04AE796B-180A-43EE-A0E1-C911F2576FAE}" srcOrd="0" destOrd="0" presId="urn:microsoft.com/office/officeart/2005/8/layout/cycle7"/>
    <dgm:cxn modelId="{2F267417-5E78-4408-87B7-0A79CA278D3C}" type="presOf" srcId="{9AC558CD-5944-4038-A023-AA0700877C83}" destId="{F0861417-AB76-45B0-A7F3-69B9E18C2B0B}" srcOrd="1" destOrd="0" presId="urn:microsoft.com/office/officeart/2005/8/layout/cycle7"/>
    <dgm:cxn modelId="{0B58B0AC-ADA1-442E-ABF4-536640E42B47}" type="presOf" srcId="{ED9CDBF9-862F-4498-A968-64C23B8E4552}" destId="{9EF58F97-A1A8-4407-B06D-118B89DD4FEB}" srcOrd="0" destOrd="0" presId="urn:microsoft.com/office/officeart/2005/8/layout/cycle7"/>
    <dgm:cxn modelId="{6880B595-2F88-4E81-B0EA-2D69EE3E7BC7}" type="presParOf" srcId="{04AE796B-180A-43EE-A0E1-C911F2576FAE}" destId="{9265D508-E600-4BD3-82B7-3211CF60973A}" srcOrd="0" destOrd="0" presId="urn:microsoft.com/office/officeart/2005/8/layout/cycle7"/>
    <dgm:cxn modelId="{E68A25A2-11BD-4E63-8715-274D869DDE82}" type="presParOf" srcId="{04AE796B-180A-43EE-A0E1-C911F2576FAE}" destId="{253D1D8F-7A66-4489-B6EC-6D0AFC07AF26}" srcOrd="1" destOrd="0" presId="urn:microsoft.com/office/officeart/2005/8/layout/cycle7"/>
    <dgm:cxn modelId="{B4A7308B-F19D-477B-A730-00AC4A666482}" type="presParOf" srcId="{253D1D8F-7A66-4489-B6EC-6D0AFC07AF26}" destId="{5452767D-2E88-4784-A635-D6E56DBE6283}" srcOrd="0" destOrd="0" presId="urn:microsoft.com/office/officeart/2005/8/layout/cycle7"/>
    <dgm:cxn modelId="{116BDD84-D4BE-424C-BFA8-056E93980C8F}" type="presParOf" srcId="{04AE796B-180A-43EE-A0E1-C911F2576FAE}" destId="{868BF17A-479E-4932-A575-63E2A158022E}" srcOrd="2" destOrd="0" presId="urn:microsoft.com/office/officeart/2005/8/layout/cycle7"/>
    <dgm:cxn modelId="{222B010C-3484-4C00-9B64-C16EE99881DF}" type="presParOf" srcId="{04AE796B-180A-43EE-A0E1-C911F2576FAE}" destId="{BA33BAB5-1751-4A33-B4D4-D3735E77C480}" srcOrd="3" destOrd="0" presId="urn:microsoft.com/office/officeart/2005/8/layout/cycle7"/>
    <dgm:cxn modelId="{8BB9057C-0CC8-4653-95E8-4071528E5D28}" type="presParOf" srcId="{BA33BAB5-1751-4A33-B4D4-D3735E77C480}" destId="{1EABF23C-1A33-478D-802F-3D34EF56A6F1}" srcOrd="0" destOrd="0" presId="urn:microsoft.com/office/officeart/2005/8/layout/cycle7"/>
    <dgm:cxn modelId="{48BB19EF-F705-454B-A630-286FC588502F}" type="presParOf" srcId="{04AE796B-180A-43EE-A0E1-C911F2576FAE}" destId="{9EF58F97-A1A8-4407-B06D-118B89DD4FEB}" srcOrd="4" destOrd="0" presId="urn:microsoft.com/office/officeart/2005/8/layout/cycle7"/>
    <dgm:cxn modelId="{8F80EB1E-CAB9-48D1-B914-A12DBE0A9164}" type="presParOf" srcId="{04AE796B-180A-43EE-A0E1-C911F2576FAE}" destId="{A0E7E700-9405-4DBD-8A72-EE34F63F1A16}" srcOrd="5" destOrd="0" presId="urn:microsoft.com/office/officeart/2005/8/layout/cycle7"/>
    <dgm:cxn modelId="{7D93C578-3813-47C1-B5FF-04F9A53CF672}" type="presParOf" srcId="{A0E7E700-9405-4DBD-8A72-EE34F63F1A16}" destId="{B71A156B-BA36-46AB-8BAB-A974B67160CC}" srcOrd="0" destOrd="0" presId="urn:microsoft.com/office/officeart/2005/8/layout/cycle7"/>
    <dgm:cxn modelId="{A20E7E6C-EE95-40A7-B0C5-206900AC2E7A}" type="presParOf" srcId="{04AE796B-180A-43EE-A0E1-C911F2576FAE}" destId="{6A636018-F7C5-455B-BD7A-99803A83EC50}" srcOrd="6" destOrd="0" presId="urn:microsoft.com/office/officeart/2005/8/layout/cycle7"/>
    <dgm:cxn modelId="{3527F4E0-AD48-4E2C-9B31-87EF0CAF7549}" type="presParOf" srcId="{04AE796B-180A-43EE-A0E1-C911F2576FAE}" destId="{50C48E63-C1D1-423A-B8F0-74823E759340}" srcOrd="7" destOrd="0" presId="urn:microsoft.com/office/officeart/2005/8/layout/cycle7"/>
    <dgm:cxn modelId="{ED01D634-50A8-4B09-B0B7-A41F33061547}" type="presParOf" srcId="{50C48E63-C1D1-423A-B8F0-74823E759340}" destId="{F0861417-AB76-45B0-A7F3-69B9E18C2B0B}" srcOrd="0" destOrd="0" presId="urn:microsoft.com/office/officeart/2005/8/layout/cycle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48D054-B306-4E50-ABF4-A32087772EC5}">
      <dsp:nvSpPr>
        <dsp:cNvPr id="0" name=""/>
        <dsp:cNvSpPr/>
      </dsp:nvSpPr>
      <dsp:spPr>
        <a:xfrm rot="10800000">
          <a:off x="1426248" y="2568"/>
          <a:ext cx="4832938" cy="835718"/>
        </a:xfrm>
        <a:prstGeom prst="homePlate">
          <a:avLst/>
        </a:prstGeom>
        <a:solidFill>
          <a:schemeClr val="lt1">
            <a:hueOff val="0"/>
            <a:satOff val="0"/>
            <a:lumOff val="0"/>
            <a:alphaOff val="0"/>
          </a:schemeClr>
        </a:solidFill>
        <a:ln w="38100" cap="flat" cmpd="sng" algn="ctr">
          <a:solidFill>
            <a:schemeClr val="accent3">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68528" tIns="76200" rIns="142240" bIns="76200" numCol="1" spcCol="1270" anchor="ctr" anchorCtr="0">
          <a:noAutofit/>
        </a:bodyPr>
        <a:lstStyle/>
        <a:p>
          <a:pPr lvl="0" algn="just" defTabSz="889000" rtl="0">
            <a:lnSpc>
              <a:spcPct val="90000"/>
            </a:lnSpc>
            <a:spcBef>
              <a:spcPct val="0"/>
            </a:spcBef>
            <a:spcAft>
              <a:spcPct val="35000"/>
            </a:spcAft>
          </a:pPr>
          <a:r>
            <a:rPr lang="en-US" sz="2000" kern="1200" smtClean="0">
              <a:latin typeface="Tahoma" panose="020B0604030504040204" pitchFamily="34" charset="0"/>
              <a:ea typeface="Tahoma" panose="020B0604030504040204" pitchFamily="34" charset="0"/>
              <a:cs typeface="Tahoma" panose="020B0604030504040204" pitchFamily="34" charset="0"/>
            </a:rPr>
            <a:t>Determine the role general managers must take in decisions about IS.</a:t>
          </a:r>
          <a:endParaRPr lang="en-GB" sz="2000" kern="1200">
            <a:latin typeface="Tahoma" panose="020B0604030504040204" pitchFamily="34" charset="0"/>
            <a:ea typeface="Tahoma" panose="020B0604030504040204" pitchFamily="34" charset="0"/>
            <a:cs typeface="Tahoma" panose="020B0604030504040204" pitchFamily="34" charset="0"/>
          </a:endParaRPr>
        </a:p>
      </dsp:txBody>
      <dsp:txXfrm rot="10800000">
        <a:off x="1635177" y="2568"/>
        <a:ext cx="4624009" cy="835718"/>
      </dsp:txXfrm>
    </dsp:sp>
    <dsp:sp modelId="{9E9E1DDC-F637-403C-92ED-2E02326E9956}">
      <dsp:nvSpPr>
        <dsp:cNvPr id="0" name=""/>
        <dsp:cNvSpPr/>
      </dsp:nvSpPr>
      <dsp:spPr>
        <a:xfrm>
          <a:off x="1008389" y="2568"/>
          <a:ext cx="835718" cy="835718"/>
        </a:xfrm>
        <a:prstGeom prst="ellipse">
          <a:avLst/>
        </a:prstGeom>
        <a:solidFill>
          <a:schemeClr val="accent3">
            <a:tint val="40000"/>
            <a:hueOff val="0"/>
            <a:satOff val="0"/>
            <a:lumOff val="0"/>
            <a:alphaOff val="0"/>
          </a:schemeClr>
        </a:solidFill>
        <a:ln w="38100" cap="flat" cmpd="sng" algn="ctr">
          <a:solidFill>
            <a:schemeClr val="accent3">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 modelId="{4EA8E967-FF49-4D92-9529-CE0956D9AF63}">
      <dsp:nvSpPr>
        <dsp:cNvPr id="0" name=""/>
        <dsp:cNvSpPr/>
      </dsp:nvSpPr>
      <dsp:spPr>
        <a:xfrm rot="10800000">
          <a:off x="1426248" y="1087754"/>
          <a:ext cx="4832938" cy="835718"/>
        </a:xfrm>
        <a:prstGeom prst="homePlate">
          <a:avLst/>
        </a:prstGeom>
        <a:solidFill>
          <a:schemeClr val="lt1">
            <a:hueOff val="0"/>
            <a:satOff val="0"/>
            <a:lumOff val="0"/>
            <a:alphaOff val="0"/>
          </a:schemeClr>
        </a:solidFill>
        <a:ln w="38100" cap="flat" cmpd="sng" algn="ctr">
          <a:solidFill>
            <a:schemeClr val="accent3">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68528" tIns="76200" rIns="142240" bIns="76200" numCol="1" spcCol="1270" anchor="ctr" anchorCtr="0">
          <a:noAutofit/>
        </a:bodyPr>
        <a:lstStyle/>
        <a:p>
          <a:pPr lvl="0" algn="just" defTabSz="889000" rtl="0">
            <a:lnSpc>
              <a:spcPct val="90000"/>
            </a:lnSpc>
            <a:spcBef>
              <a:spcPct val="0"/>
            </a:spcBef>
            <a:spcAft>
              <a:spcPct val="35000"/>
            </a:spcAft>
          </a:pPr>
          <a:r>
            <a:rPr lang="en-US" sz="2000" kern="1200" smtClean="0">
              <a:latin typeface="Tahoma" panose="020B0604030504040204" pitchFamily="34" charset="0"/>
              <a:ea typeface="Tahoma" panose="020B0604030504040204" pitchFamily="34" charset="0"/>
              <a:cs typeface="Tahoma" panose="020B0604030504040204" pitchFamily="34" charset="0"/>
            </a:rPr>
            <a:t>Define and explain the Information Systems Strategy Triangle.</a:t>
          </a:r>
          <a:endParaRPr lang="en-GB" sz="2000" kern="1200">
            <a:latin typeface="Tahoma" panose="020B0604030504040204" pitchFamily="34" charset="0"/>
            <a:ea typeface="Tahoma" panose="020B0604030504040204" pitchFamily="34" charset="0"/>
            <a:cs typeface="Tahoma" panose="020B0604030504040204" pitchFamily="34" charset="0"/>
          </a:endParaRPr>
        </a:p>
      </dsp:txBody>
      <dsp:txXfrm rot="10800000">
        <a:off x="1635177" y="1087754"/>
        <a:ext cx="4624009" cy="835718"/>
      </dsp:txXfrm>
    </dsp:sp>
    <dsp:sp modelId="{A50D66FF-E7A1-4CFA-B96F-9ED6237A26B2}">
      <dsp:nvSpPr>
        <dsp:cNvPr id="0" name=""/>
        <dsp:cNvSpPr/>
      </dsp:nvSpPr>
      <dsp:spPr>
        <a:xfrm>
          <a:off x="1008389" y="1087754"/>
          <a:ext cx="835718" cy="835718"/>
        </a:xfrm>
        <a:prstGeom prst="ellipse">
          <a:avLst/>
        </a:prstGeom>
        <a:solidFill>
          <a:schemeClr val="accent3">
            <a:tint val="40000"/>
            <a:hueOff val="0"/>
            <a:satOff val="0"/>
            <a:lumOff val="0"/>
            <a:alphaOff val="0"/>
          </a:schemeClr>
        </a:solidFill>
        <a:ln w="38100" cap="flat" cmpd="sng" algn="ctr">
          <a:solidFill>
            <a:schemeClr val="accent3">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 modelId="{DE6540F9-0F81-4924-8C85-D16E98B4BDDE}">
      <dsp:nvSpPr>
        <dsp:cNvPr id="0" name=""/>
        <dsp:cNvSpPr/>
      </dsp:nvSpPr>
      <dsp:spPr>
        <a:xfrm rot="10800000">
          <a:off x="1426248" y="2172940"/>
          <a:ext cx="4832938" cy="835718"/>
        </a:xfrm>
        <a:prstGeom prst="homePlate">
          <a:avLst/>
        </a:prstGeom>
        <a:solidFill>
          <a:schemeClr val="lt1">
            <a:hueOff val="0"/>
            <a:satOff val="0"/>
            <a:lumOff val="0"/>
            <a:alphaOff val="0"/>
          </a:schemeClr>
        </a:solidFill>
        <a:ln w="38100" cap="flat" cmpd="sng" algn="ctr">
          <a:solidFill>
            <a:schemeClr val="accent3">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68528" tIns="76200" rIns="142240" bIns="76200" numCol="1" spcCol="1270" anchor="ctr" anchorCtr="0">
          <a:noAutofit/>
        </a:bodyPr>
        <a:lstStyle/>
        <a:p>
          <a:pPr lvl="0" algn="just" defTabSz="889000" rtl="0">
            <a:lnSpc>
              <a:spcPct val="90000"/>
            </a:lnSpc>
            <a:spcBef>
              <a:spcPct val="0"/>
            </a:spcBef>
            <a:spcAft>
              <a:spcPct val="35000"/>
            </a:spcAft>
          </a:pPr>
          <a:r>
            <a:rPr lang="en-US" sz="2000" kern="1200" smtClean="0">
              <a:latin typeface="Tahoma" panose="020B0604030504040204" pitchFamily="34" charset="0"/>
              <a:ea typeface="Tahoma" panose="020B0604030504040204" pitchFamily="34" charset="0"/>
              <a:cs typeface="Tahoma" panose="020B0604030504040204" pitchFamily="34" charset="0"/>
            </a:rPr>
            <a:t>Identify and define the various business strategy frameworks.</a:t>
          </a:r>
          <a:endParaRPr lang="en-GB" sz="2000" kern="1200">
            <a:latin typeface="Tahoma" panose="020B0604030504040204" pitchFamily="34" charset="0"/>
            <a:ea typeface="Tahoma" panose="020B0604030504040204" pitchFamily="34" charset="0"/>
            <a:cs typeface="Tahoma" panose="020B0604030504040204" pitchFamily="34" charset="0"/>
          </a:endParaRPr>
        </a:p>
      </dsp:txBody>
      <dsp:txXfrm rot="10800000">
        <a:off x="1635177" y="2172940"/>
        <a:ext cx="4624009" cy="835718"/>
      </dsp:txXfrm>
    </dsp:sp>
    <dsp:sp modelId="{2162CE40-59CB-41B5-8225-55EA1168B481}">
      <dsp:nvSpPr>
        <dsp:cNvPr id="0" name=""/>
        <dsp:cNvSpPr/>
      </dsp:nvSpPr>
      <dsp:spPr>
        <a:xfrm>
          <a:off x="1008389" y="2172940"/>
          <a:ext cx="835718" cy="835718"/>
        </a:xfrm>
        <a:prstGeom prst="ellipse">
          <a:avLst/>
        </a:prstGeom>
        <a:solidFill>
          <a:schemeClr val="accent3">
            <a:tint val="40000"/>
            <a:hueOff val="0"/>
            <a:satOff val="0"/>
            <a:lumOff val="0"/>
            <a:alphaOff val="0"/>
          </a:schemeClr>
        </a:solidFill>
        <a:ln w="38100" cap="flat" cmpd="sng" algn="ctr">
          <a:solidFill>
            <a:schemeClr val="accent3">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 modelId="{3D751EA0-8847-4A61-ADBE-C19566835491}">
      <dsp:nvSpPr>
        <dsp:cNvPr id="0" name=""/>
        <dsp:cNvSpPr/>
      </dsp:nvSpPr>
      <dsp:spPr>
        <a:xfrm rot="10800000">
          <a:off x="1426248" y="3258127"/>
          <a:ext cx="4832938" cy="835718"/>
        </a:xfrm>
        <a:prstGeom prst="homePlate">
          <a:avLst/>
        </a:prstGeom>
        <a:solidFill>
          <a:schemeClr val="lt1">
            <a:hueOff val="0"/>
            <a:satOff val="0"/>
            <a:lumOff val="0"/>
            <a:alphaOff val="0"/>
          </a:schemeClr>
        </a:solidFill>
        <a:ln w="38100" cap="flat" cmpd="sng" algn="ctr">
          <a:solidFill>
            <a:schemeClr val="accent3">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68528" tIns="76200" rIns="142240" bIns="76200" numCol="1" spcCol="1270" anchor="ctr" anchorCtr="0">
          <a:noAutofit/>
        </a:bodyPr>
        <a:lstStyle/>
        <a:p>
          <a:pPr lvl="0" algn="just" defTabSz="889000" rtl="0">
            <a:lnSpc>
              <a:spcPct val="90000"/>
            </a:lnSpc>
            <a:spcBef>
              <a:spcPct val="0"/>
            </a:spcBef>
            <a:spcAft>
              <a:spcPct val="35000"/>
            </a:spcAft>
          </a:pPr>
          <a:r>
            <a:rPr lang="en-US" sz="2000" kern="1200" smtClean="0">
              <a:latin typeface="Tahoma" panose="020B0604030504040204" pitchFamily="34" charset="0"/>
              <a:ea typeface="Tahoma" panose="020B0604030504040204" pitchFamily="34" charset="0"/>
              <a:cs typeface="Tahoma" panose="020B0604030504040204" pitchFamily="34" charset="0"/>
            </a:rPr>
            <a:t>Explain the information system strategy matrix.</a:t>
          </a:r>
          <a:endParaRPr lang="en-GB" sz="2000" kern="1200">
            <a:latin typeface="Tahoma" panose="020B0604030504040204" pitchFamily="34" charset="0"/>
            <a:ea typeface="Tahoma" panose="020B0604030504040204" pitchFamily="34" charset="0"/>
            <a:cs typeface="Tahoma" panose="020B0604030504040204" pitchFamily="34" charset="0"/>
          </a:endParaRPr>
        </a:p>
      </dsp:txBody>
      <dsp:txXfrm rot="10800000">
        <a:off x="1635177" y="3258127"/>
        <a:ext cx="4624009" cy="835718"/>
      </dsp:txXfrm>
    </dsp:sp>
    <dsp:sp modelId="{C9D98983-11E9-427D-8581-E6AFD59DFA37}">
      <dsp:nvSpPr>
        <dsp:cNvPr id="0" name=""/>
        <dsp:cNvSpPr/>
      </dsp:nvSpPr>
      <dsp:spPr>
        <a:xfrm>
          <a:off x="1008389" y="3258127"/>
          <a:ext cx="835718" cy="835718"/>
        </a:xfrm>
        <a:prstGeom prst="ellipse">
          <a:avLst/>
        </a:prstGeom>
        <a:solidFill>
          <a:schemeClr val="accent3">
            <a:tint val="40000"/>
            <a:hueOff val="0"/>
            <a:satOff val="0"/>
            <a:lumOff val="0"/>
            <a:alphaOff val="0"/>
          </a:schemeClr>
        </a:solidFill>
        <a:ln w="38100" cap="flat" cmpd="sng" algn="ctr">
          <a:solidFill>
            <a:schemeClr val="accent3">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 modelId="{6DFD0A31-4FB1-4DEE-94B4-A389042463A3}">
      <dsp:nvSpPr>
        <dsp:cNvPr id="0" name=""/>
        <dsp:cNvSpPr/>
      </dsp:nvSpPr>
      <dsp:spPr>
        <a:xfrm rot="10800000">
          <a:off x="1426248" y="4343313"/>
          <a:ext cx="4832938" cy="835718"/>
        </a:xfrm>
        <a:prstGeom prst="homePlate">
          <a:avLst/>
        </a:prstGeom>
        <a:solidFill>
          <a:schemeClr val="lt1">
            <a:hueOff val="0"/>
            <a:satOff val="0"/>
            <a:lumOff val="0"/>
            <a:alphaOff val="0"/>
          </a:schemeClr>
        </a:solidFill>
        <a:ln w="38100" cap="flat" cmpd="sng" algn="ctr">
          <a:solidFill>
            <a:schemeClr val="accent3">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368528" tIns="76200" rIns="142240" bIns="76200" numCol="1" spcCol="1270" anchor="ctr" anchorCtr="0">
          <a:noAutofit/>
        </a:bodyPr>
        <a:lstStyle/>
        <a:p>
          <a:pPr lvl="0" algn="just" defTabSz="889000" rtl="0">
            <a:lnSpc>
              <a:spcPct val="90000"/>
            </a:lnSpc>
            <a:spcBef>
              <a:spcPct val="0"/>
            </a:spcBef>
            <a:spcAft>
              <a:spcPct val="35000"/>
            </a:spcAft>
          </a:pPr>
          <a:r>
            <a:rPr lang="en-US" sz="2000" kern="1200" smtClean="0">
              <a:latin typeface="Tahoma" panose="020B0604030504040204" pitchFamily="34" charset="0"/>
              <a:ea typeface="Tahoma" panose="020B0604030504040204" pitchFamily="34" charset="0"/>
              <a:cs typeface="Tahoma" panose="020B0604030504040204" pitchFamily="34" charset="0"/>
            </a:rPr>
            <a:t>Understand and apply these models to different organizations.</a:t>
          </a:r>
          <a:endParaRPr lang="en-GB" sz="2000" kern="1200">
            <a:latin typeface="Tahoma" panose="020B0604030504040204" pitchFamily="34" charset="0"/>
            <a:ea typeface="Tahoma" panose="020B0604030504040204" pitchFamily="34" charset="0"/>
            <a:cs typeface="Tahoma" panose="020B0604030504040204" pitchFamily="34" charset="0"/>
          </a:endParaRPr>
        </a:p>
      </dsp:txBody>
      <dsp:txXfrm rot="10800000">
        <a:off x="1635177" y="4343313"/>
        <a:ext cx="4624009" cy="835718"/>
      </dsp:txXfrm>
    </dsp:sp>
    <dsp:sp modelId="{4EE85E5A-30B6-41D2-BD47-949743547EC0}">
      <dsp:nvSpPr>
        <dsp:cNvPr id="0" name=""/>
        <dsp:cNvSpPr/>
      </dsp:nvSpPr>
      <dsp:spPr>
        <a:xfrm>
          <a:off x="1008389" y="4343313"/>
          <a:ext cx="835718" cy="835718"/>
        </a:xfrm>
        <a:prstGeom prst="ellipse">
          <a:avLst/>
        </a:prstGeom>
        <a:solidFill>
          <a:schemeClr val="accent3">
            <a:tint val="40000"/>
            <a:hueOff val="0"/>
            <a:satOff val="0"/>
            <a:lumOff val="0"/>
            <a:alphaOff val="0"/>
          </a:schemeClr>
        </a:solidFill>
        <a:ln w="38100" cap="flat" cmpd="sng" algn="ctr">
          <a:solidFill>
            <a:schemeClr val="accent3">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2D159B-423C-405D-A1B9-1D61A7FD64A5}">
      <dsp:nvSpPr>
        <dsp:cNvPr id="0" name=""/>
        <dsp:cNvSpPr/>
      </dsp:nvSpPr>
      <dsp:spPr>
        <a:xfrm>
          <a:off x="2275157" y="1248"/>
          <a:ext cx="2011883" cy="1005941"/>
        </a:xfrm>
        <a:prstGeom prst="roundRect">
          <a:avLst>
            <a:gd name="adj" fmla="val 10000"/>
          </a:avLst>
        </a:prstGeom>
        <a:solidFill>
          <a:schemeClr val="accent3">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latin typeface="Tahoma" panose="020B0604030504040204" pitchFamily="34" charset="0"/>
              <a:ea typeface="Tahoma" panose="020B0604030504040204" pitchFamily="34" charset="0"/>
              <a:cs typeface="Tahoma" panose="020B0604030504040204" pitchFamily="34" charset="0"/>
            </a:rPr>
            <a:t>Business Strategy</a:t>
          </a:r>
          <a:endParaRPr lang="en-US" sz="2400" kern="1200" dirty="0">
            <a:latin typeface="Tahoma" panose="020B0604030504040204" pitchFamily="34" charset="0"/>
            <a:ea typeface="Tahoma" panose="020B0604030504040204" pitchFamily="34" charset="0"/>
            <a:cs typeface="Tahoma" panose="020B0604030504040204" pitchFamily="34" charset="0"/>
          </a:endParaRPr>
        </a:p>
      </dsp:txBody>
      <dsp:txXfrm>
        <a:off x="2304620" y="30711"/>
        <a:ext cx="1952957" cy="947015"/>
      </dsp:txXfrm>
    </dsp:sp>
    <dsp:sp modelId="{69382395-10C6-475D-9708-33CC713515AB}">
      <dsp:nvSpPr>
        <dsp:cNvPr id="0" name=""/>
        <dsp:cNvSpPr/>
      </dsp:nvSpPr>
      <dsp:spPr>
        <a:xfrm rot="3600000">
          <a:off x="3657040" y="1767060"/>
          <a:ext cx="909593" cy="352079"/>
        </a:xfrm>
        <a:prstGeom prst="leftRightArrow">
          <a:avLst>
            <a:gd name="adj1" fmla="val 60000"/>
            <a:gd name="adj2" fmla="val 50000"/>
          </a:avLst>
        </a:prstGeom>
        <a:solidFill>
          <a:schemeClr val="accent3">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00100">
            <a:lnSpc>
              <a:spcPct val="90000"/>
            </a:lnSpc>
            <a:spcBef>
              <a:spcPct val="0"/>
            </a:spcBef>
            <a:spcAft>
              <a:spcPct val="35000"/>
            </a:spcAft>
          </a:pPr>
          <a:endParaRPr lang="en-US" sz="1800" kern="1200">
            <a:latin typeface="Tahoma" panose="020B0604030504040204" pitchFamily="34" charset="0"/>
            <a:ea typeface="Tahoma" panose="020B0604030504040204" pitchFamily="34" charset="0"/>
            <a:cs typeface="Tahoma" panose="020B0604030504040204" pitchFamily="34" charset="0"/>
          </a:endParaRPr>
        </a:p>
      </dsp:txBody>
      <dsp:txXfrm>
        <a:off x="3762664" y="1837476"/>
        <a:ext cx="698345" cy="211247"/>
      </dsp:txXfrm>
    </dsp:sp>
    <dsp:sp modelId="{4320F1D5-7A14-49BD-A924-8E2C137FF574}">
      <dsp:nvSpPr>
        <dsp:cNvPr id="0" name=""/>
        <dsp:cNvSpPr/>
      </dsp:nvSpPr>
      <dsp:spPr>
        <a:xfrm>
          <a:off x="3936633" y="2879009"/>
          <a:ext cx="2011883" cy="1005941"/>
        </a:xfrm>
        <a:prstGeom prst="roundRect">
          <a:avLst>
            <a:gd name="adj" fmla="val 10000"/>
          </a:avLst>
        </a:prstGeom>
        <a:solidFill>
          <a:schemeClr val="accent3">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latin typeface="Tahoma" panose="020B0604030504040204" pitchFamily="34" charset="0"/>
              <a:ea typeface="Tahoma" panose="020B0604030504040204" pitchFamily="34" charset="0"/>
              <a:cs typeface="Tahoma" panose="020B0604030504040204" pitchFamily="34" charset="0"/>
            </a:rPr>
            <a:t>Information Strategy</a:t>
          </a:r>
          <a:endParaRPr lang="en-US" sz="2400" kern="1200" dirty="0">
            <a:latin typeface="Tahoma" panose="020B0604030504040204" pitchFamily="34" charset="0"/>
            <a:ea typeface="Tahoma" panose="020B0604030504040204" pitchFamily="34" charset="0"/>
            <a:cs typeface="Tahoma" panose="020B0604030504040204" pitchFamily="34" charset="0"/>
          </a:endParaRPr>
        </a:p>
      </dsp:txBody>
      <dsp:txXfrm>
        <a:off x="3966096" y="2908472"/>
        <a:ext cx="1952957" cy="947015"/>
      </dsp:txXfrm>
    </dsp:sp>
    <dsp:sp modelId="{1AD9F769-B8A2-4A5E-9CCE-FE3BA1111F4A}">
      <dsp:nvSpPr>
        <dsp:cNvPr id="0" name=""/>
        <dsp:cNvSpPr/>
      </dsp:nvSpPr>
      <dsp:spPr>
        <a:xfrm rot="10800000">
          <a:off x="2913341" y="3205940"/>
          <a:ext cx="909593" cy="352079"/>
        </a:xfrm>
        <a:prstGeom prst="leftRightArrow">
          <a:avLst>
            <a:gd name="adj1" fmla="val 60000"/>
            <a:gd name="adj2" fmla="val 50000"/>
          </a:avLst>
        </a:prstGeom>
        <a:solidFill>
          <a:schemeClr val="accent3">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00100">
            <a:lnSpc>
              <a:spcPct val="90000"/>
            </a:lnSpc>
            <a:spcBef>
              <a:spcPct val="0"/>
            </a:spcBef>
            <a:spcAft>
              <a:spcPct val="35000"/>
            </a:spcAft>
          </a:pPr>
          <a:endParaRPr lang="en-US" sz="1800" kern="1200">
            <a:latin typeface="Tahoma" panose="020B0604030504040204" pitchFamily="34" charset="0"/>
            <a:ea typeface="Tahoma" panose="020B0604030504040204" pitchFamily="34" charset="0"/>
            <a:cs typeface="Tahoma" panose="020B0604030504040204" pitchFamily="34" charset="0"/>
          </a:endParaRPr>
        </a:p>
      </dsp:txBody>
      <dsp:txXfrm rot="10800000">
        <a:off x="3018965" y="3276356"/>
        <a:ext cx="698345" cy="211247"/>
      </dsp:txXfrm>
    </dsp:sp>
    <dsp:sp modelId="{EDBC6483-6078-41AD-9CBD-D93BF4228C76}">
      <dsp:nvSpPr>
        <dsp:cNvPr id="0" name=""/>
        <dsp:cNvSpPr/>
      </dsp:nvSpPr>
      <dsp:spPr>
        <a:xfrm>
          <a:off x="439602" y="2879009"/>
          <a:ext cx="2360039" cy="1005941"/>
        </a:xfrm>
        <a:prstGeom prst="roundRect">
          <a:avLst>
            <a:gd name="adj" fmla="val 10000"/>
          </a:avLst>
        </a:prstGeom>
        <a:solidFill>
          <a:schemeClr val="accent3">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latin typeface="Tahoma" panose="020B0604030504040204" pitchFamily="34" charset="0"/>
              <a:ea typeface="Tahoma" panose="020B0604030504040204" pitchFamily="34" charset="0"/>
              <a:cs typeface="Tahoma" panose="020B0604030504040204" pitchFamily="34" charset="0"/>
            </a:rPr>
            <a:t>Organizational Strategy</a:t>
          </a:r>
          <a:endParaRPr lang="en-US" sz="2400" kern="1200" dirty="0">
            <a:latin typeface="Tahoma" panose="020B0604030504040204" pitchFamily="34" charset="0"/>
            <a:ea typeface="Tahoma" panose="020B0604030504040204" pitchFamily="34" charset="0"/>
            <a:cs typeface="Tahoma" panose="020B0604030504040204" pitchFamily="34" charset="0"/>
          </a:endParaRPr>
        </a:p>
      </dsp:txBody>
      <dsp:txXfrm>
        <a:off x="469065" y="2908472"/>
        <a:ext cx="2301113" cy="947015"/>
      </dsp:txXfrm>
    </dsp:sp>
    <dsp:sp modelId="{1B56B529-5515-4799-8FB8-8FC44E50CB0E}">
      <dsp:nvSpPr>
        <dsp:cNvPr id="0" name=""/>
        <dsp:cNvSpPr/>
      </dsp:nvSpPr>
      <dsp:spPr>
        <a:xfrm rot="18000000">
          <a:off x="1995563" y="1767060"/>
          <a:ext cx="909593" cy="352079"/>
        </a:xfrm>
        <a:prstGeom prst="leftRightArrow">
          <a:avLst>
            <a:gd name="adj1" fmla="val 60000"/>
            <a:gd name="adj2" fmla="val 50000"/>
          </a:avLst>
        </a:prstGeom>
        <a:solidFill>
          <a:schemeClr val="accent3">
            <a:tint val="60000"/>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00100">
            <a:lnSpc>
              <a:spcPct val="90000"/>
            </a:lnSpc>
            <a:spcBef>
              <a:spcPct val="0"/>
            </a:spcBef>
            <a:spcAft>
              <a:spcPct val="35000"/>
            </a:spcAft>
          </a:pPr>
          <a:endParaRPr lang="en-US" sz="1800" kern="1200">
            <a:latin typeface="Tahoma" panose="020B0604030504040204" pitchFamily="34" charset="0"/>
            <a:ea typeface="Tahoma" panose="020B0604030504040204" pitchFamily="34" charset="0"/>
            <a:cs typeface="Tahoma" panose="020B0604030504040204" pitchFamily="34" charset="0"/>
          </a:endParaRPr>
        </a:p>
      </dsp:txBody>
      <dsp:txXfrm>
        <a:off x="2101187" y="1837476"/>
        <a:ext cx="698345" cy="21124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FE9E2D-E28C-4015-A693-A1F89945F11A}">
      <dsp:nvSpPr>
        <dsp:cNvPr id="0" name=""/>
        <dsp:cNvSpPr/>
      </dsp:nvSpPr>
      <dsp:spPr>
        <a:xfrm rot="16200000">
          <a:off x="-1483574" y="1485439"/>
          <a:ext cx="4800600" cy="1829720"/>
        </a:xfrm>
        <a:prstGeom prst="flowChartManualOperation">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52400" tIns="0" rIns="152400" bIns="0" numCol="1" spcCol="1270" anchor="ctr" anchorCtr="0">
          <a:noAutofit/>
        </a:bodyPr>
        <a:lstStyle/>
        <a:p>
          <a:pPr lvl="0" algn="ctr" defTabSz="1066800" rtl="0">
            <a:lnSpc>
              <a:spcPct val="90000"/>
            </a:lnSpc>
            <a:spcBef>
              <a:spcPct val="0"/>
            </a:spcBef>
            <a:spcAft>
              <a:spcPct val="35000"/>
            </a:spcAft>
          </a:pPr>
          <a:r>
            <a:rPr lang="en-US" sz="2400" kern="1200" smtClean="0">
              <a:latin typeface="Tahoma" panose="020B0604030504040204" pitchFamily="34" charset="0"/>
              <a:ea typeface="Tahoma" panose="020B0604030504040204" pitchFamily="34" charset="0"/>
              <a:cs typeface="Tahoma" panose="020B0604030504040204" pitchFamily="34" charset="0"/>
            </a:rPr>
            <a:t>What is a business strategy?</a:t>
          </a:r>
          <a:endParaRPr lang="en-GB" sz="2400" kern="1200">
            <a:latin typeface="Tahoma" panose="020B0604030504040204" pitchFamily="34" charset="0"/>
            <a:ea typeface="Tahoma" panose="020B0604030504040204" pitchFamily="34" charset="0"/>
            <a:cs typeface="Tahoma" panose="020B0604030504040204" pitchFamily="34" charset="0"/>
          </a:endParaRPr>
        </a:p>
      </dsp:txBody>
      <dsp:txXfrm rot="5400000">
        <a:off x="1866" y="960119"/>
        <a:ext cx="1829720" cy="2880360"/>
      </dsp:txXfrm>
    </dsp:sp>
    <dsp:sp modelId="{25FB90C5-A926-41D8-A82C-C085751AA244}">
      <dsp:nvSpPr>
        <dsp:cNvPr id="0" name=""/>
        <dsp:cNvSpPr/>
      </dsp:nvSpPr>
      <dsp:spPr>
        <a:xfrm rot="16200000">
          <a:off x="483375" y="1485439"/>
          <a:ext cx="4800600" cy="1829720"/>
        </a:xfrm>
        <a:prstGeom prst="flowChartManualOperation">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52400" tIns="0" rIns="152400" bIns="0" numCol="1" spcCol="1270" anchor="ctr" anchorCtr="0">
          <a:noAutofit/>
        </a:bodyPr>
        <a:lstStyle/>
        <a:p>
          <a:pPr lvl="0" algn="ctr" defTabSz="1066800" rtl="0">
            <a:lnSpc>
              <a:spcPct val="90000"/>
            </a:lnSpc>
            <a:spcBef>
              <a:spcPct val="0"/>
            </a:spcBef>
            <a:spcAft>
              <a:spcPct val="35000"/>
            </a:spcAft>
          </a:pPr>
          <a:r>
            <a:rPr lang="en-US" sz="2400" kern="1200" smtClean="0">
              <a:latin typeface="Tahoma" panose="020B0604030504040204" pitchFamily="34" charset="0"/>
              <a:ea typeface="Tahoma" panose="020B0604030504040204" pitchFamily="34" charset="0"/>
              <a:cs typeface="Tahoma" panose="020B0604030504040204" pitchFamily="34" charset="0"/>
            </a:rPr>
            <a:t>Which factors influences a business strategy?</a:t>
          </a:r>
          <a:endParaRPr lang="en-GB" sz="2400" kern="1200">
            <a:latin typeface="Tahoma" panose="020B0604030504040204" pitchFamily="34" charset="0"/>
            <a:ea typeface="Tahoma" panose="020B0604030504040204" pitchFamily="34" charset="0"/>
            <a:cs typeface="Tahoma" panose="020B0604030504040204" pitchFamily="34" charset="0"/>
          </a:endParaRPr>
        </a:p>
      </dsp:txBody>
      <dsp:txXfrm rot="5400000">
        <a:off x="1968815" y="960119"/>
        <a:ext cx="1829720" cy="2880360"/>
      </dsp:txXfrm>
    </dsp:sp>
    <dsp:sp modelId="{03932A12-8334-4E72-9158-A3AF213CF60F}">
      <dsp:nvSpPr>
        <dsp:cNvPr id="0" name=""/>
        <dsp:cNvSpPr/>
      </dsp:nvSpPr>
      <dsp:spPr>
        <a:xfrm rot="16200000">
          <a:off x="2450324" y="1485439"/>
          <a:ext cx="4800600" cy="1829720"/>
        </a:xfrm>
        <a:prstGeom prst="flowChartManualOperation">
          <a:avLst/>
        </a:prstGeom>
        <a:solidFill>
          <a:schemeClr val="accent4">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52400" tIns="0" rIns="152400" bIns="0" numCol="1" spcCol="1270" anchor="ctr" anchorCtr="0">
          <a:noAutofit/>
        </a:bodyPr>
        <a:lstStyle/>
        <a:p>
          <a:pPr lvl="0" algn="ctr" defTabSz="1066800" rtl="0">
            <a:lnSpc>
              <a:spcPct val="90000"/>
            </a:lnSpc>
            <a:spcBef>
              <a:spcPct val="0"/>
            </a:spcBef>
            <a:spcAft>
              <a:spcPct val="35000"/>
            </a:spcAft>
          </a:pPr>
          <a:r>
            <a:rPr lang="en-US" sz="2400" kern="1200" smtClean="0">
              <a:latin typeface="Tahoma" panose="020B0604030504040204" pitchFamily="34" charset="0"/>
              <a:ea typeface="Tahoma" panose="020B0604030504040204" pitchFamily="34" charset="0"/>
              <a:cs typeface="Tahoma" panose="020B0604030504040204" pitchFamily="34" charset="0"/>
            </a:rPr>
            <a:t>How does a business change its strategy without losing balance or becoming out of alignment?</a:t>
          </a:r>
          <a:endParaRPr lang="en-GB" sz="2400" kern="1200">
            <a:latin typeface="Tahoma" panose="020B0604030504040204" pitchFamily="34" charset="0"/>
            <a:ea typeface="Tahoma" panose="020B0604030504040204" pitchFamily="34" charset="0"/>
            <a:cs typeface="Tahoma" panose="020B0604030504040204" pitchFamily="34" charset="0"/>
          </a:endParaRPr>
        </a:p>
      </dsp:txBody>
      <dsp:txXfrm rot="5400000">
        <a:off x="3935764" y="960119"/>
        <a:ext cx="1829720" cy="2880360"/>
      </dsp:txXfrm>
    </dsp:sp>
    <dsp:sp modelId="{90FC5EAF-AA3F-4654-871F-59B69176274D}">
      <dsp:nvSpPr>
        <dsp:cNvPr id="0" name=""/>
        <dsp:cNvSpPr/>
      </dsp:nvSpPr>
      <dsp:spPr>
        <a:xfrm rot="16200000">
          <a:off x="4417274" y="1485439"/>
          <a:ext cx="4800600" cy="1829720"/>
        </a:xfrm>
        <a:prstGeom prst="flowChartManualOperation">
          <a:avLst/>
        </a:prstGeom>
        <a:solidFill>
          <a:schemeClr val="accent5">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52400" tIns="0" rIns="152400" bIns="0" numCol="1" spcCol="1270" anchor="ctr" anchorCtr="0">
          <a:noAutofit/>
        </a:bodyPr>
        <a:lstStyle/>
        <a:p>
          <a:pPr lvl="0" algn="ctr" defTabSz="1066800" rtl="0">
            <a:lnSpc>
              <a:spcPct val="90000"/>
            </a:lnSpc>
            <a:spcBef>
              <a:spcPct val="0"/>
            </a:spcBef>
            <a:spcAft>
              <a:spcPct val="35000"/>
            </a:spcAft>
          </a:pPr>
          <a:r>
            <a:rPr lang="en-US" sz="2400" kern="1200" smtClean="0">
              <a:latin typeface="Tahoma" panose="020B0604030504040204" pitchFamily="34" charset="0"/>
              <a:ea typeface="Tahoma" panose="020B0604030504040204" pitchFamily="34" charset="0"/>
              <a:cs typeface="Tahoma" panose="020B0604030504040204" pitchFamily="34" charset="0"/>
            </a:rPr>
            <a:t>Are there specific events that induce a business to change its strategies?  What are they?</a:t>
          </a:r>
          <a:endParaRPr lang="en-GB" sz="2400" kern="1200">
            <a:latin typeface="Tahoma" panose="020B0604030504040204" pitchFamily="34" charset="0"/>
            <a:ea typeface="Tahoma" panose="020B0604030504040204" pitchFamily="34" charset="0"/>
            <a:cs typeface="Tahoma" panose="020B0604030504040204" pitchFamily="34" charset="0"/>
          </a:endParaRPr>
        </a:p>
      </dsp:txBody>
      <dsp:txXfrm rot="5400000">
        <a:off x="5902714" y="960119"/>
        <a:ext cx="1829720" cy="288036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5312F6-1C67-48C1-B5BE-0A55E0C7DB94}">
      <dsp:nvSpPr>
        <dsp:cNvPr id="0" name=""/>
        <dsp:cNvSpPr/>
      </dsp:nvSpPr>
      <dsp:spPr>
        <a:xfrm>
          <a:off x="29753" y="133879"/>
          <a:ext cx="1561337" cy="780668"/>
        </a:xfrm>
        <a:prstGeom prst="roundRect">
          <a:avLst>
            <a:gd name="adj" fmla="val 10000"/>
          </a:avLst>
        </a:prstGeom>
        <a:solidFill>
          <a:schemeClr val="lt1">
            <a:hueOff val="0"/>
            <a:satOff val="0"/>
            <a:lumOff val="0"/>
            <a:alphaOff val="0"/>
          </a:schemeClr>
        </a:solidFill>
        <a:ln w="25400"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48260" rIns="72390" bIns="48260" numCol="1" spcCol="1270" anchor="ctr" anchorCtr="0">
          <a:noAutofit/>
        </a:bodyPr>
        <a:lstStyle/>
        <a:p>
          <a:pPr lvl="0" algn="ctr" defTabSz="1689100">
            <a:lnSpc>
              <a:spcPct val="90000"/>
            </a:lnSpc>
            <a:spcBef>
              <a:spcPct val="0"/>
            </a:spcBef>
            <a:spcAft>
              <a:spcPct val="35000"/>
            </a:spcAft>
          </a:pPr>
          <a:r>
            <a:rPr lang="en-US" sz="3800" kern="1200" dirty="0" smtClean="0">
              <a:latin typeface="Tahoma" panose="020B0604030504040204" pitchFamily="34" charset="0"/>
              <a:ea typeface="Tahoma" panose="020B0604030504040204" pitchFamily="34" charset="0"/>
              <a:cs typeface="Tahoma" panose="020B0604030504040204" pitchFamily="34" charset="0"/>
            </a:rPr>
            <a:t>IBM</a:t>
          </a:r>
          <a:endParaRPr lang="en-US" sz="3800" kern="1200" dirty="0">
            <a:latin typeface="Tahoma" panose="020B0604030504040204" pitchFamily="34" charset="0"/>
            <a:ea typeface="Tahoma" panose="020B0604030504040204" pitchFamily="34" charset="0"/>
            <a:cs typeface="Tahoma" panose="020B0604030504040204" pitchFamily="34" charset="0"/>
          </a:endParaRPr>
        </a:p>
      </dsp:txBody>
      <dsp:txXfrm>
        <a:off x="52618" y="156744"/>
        <a:ext cx="1515607" cy="734938"/>
      </dsp:txXfrm>
    </dsp:sp>
    <dsp:sp modelId="{F861F12B-5AE2-41AE-9851-2F877647E90D}">
      <dsp:nvSpPr>
        <dsp:cNvPr id="0" name=""/>
        <dsp:cNvSpPr/>
      </dsp:nvSpPr>
      <dsp:spPr>
        <a:xfrm>
          <a:off x="185886" y="914548"/>
          <a:ext cx="129434" cy="2409935"/>
        </a:xfrm>
        <a:custGeom>
          <a:avLst/>
          <a:gdLst/>
          <a:ahLst/>
          <a:cxnLst/>
          <a:rect l="0" t="0" r="0" b="0"/>
          <a:pathLst>
            <a:path>
              <a:moveTo>
                <a:pt x="0" y="0"/>
              </a:moveTo>
              <a:lnTo>
                <a:pt x="0" y="2409935"/>
              </a:lnTo>
              <a:lnTo>
                <a:pt x="129434" y="2409935"/>
              </a:lnTo>
            </a:path>
          </a:pathLst>
        </a:custGeom>
        <a:noFill/>
        <a:ln w="25400"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885D2FB-0193-4FA5-90C2-B4653F5F328A}">
      <dsp:nvSpPr>
        <dsp:cNvPr id="0" name=""/>
        <dsp:cNvSpPr/>
      </dsp:nvSpPr>
      <dsp:spPr>
        <a:xfrm>
          <a:off x="315321" y="1313813"/>
          <a:ext cx="1982423" cy="4021341"/>
        </a:xfrm>
        <a:prstGeom prst="roundRect">
          <a:avLst>
            <a:gd name="adj" fmla="val 10000"/>
          </a:avLst>
        </a:prstGeom>
        <a:solidFill>
          <a:schemeClr val="accent3">
            <a:alpha val="90000"/>
            <a:tint val="4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lvl="0" algn="ctr" defTabSz="622300">
            <a:lnSpc>
              <a:spcPct val="90000"/>
            </a:lnSpc>
            <a:spcBef>
              <a:spcPct val="0"/>
            </a:spcBef>
            <a:spcAft>
              <a:spcPct val="35000"/>
            </a:spcAft>
          </a:pPr>
          <a:r>
            <a:rPr lang="en-US" sz="1400" kern="1200" dirty="0" smtClean="0">
              <a:latin typeface="Tahoma" panose="020B0604030504040204" pitchFamily="34" charset="0"/>
              <a:ea typeface="Tahoma" panose="020B0604030504040204" pitchFamily="34" charset="0"/>
              <a:cs typeface="Tahoma" panose="020B0604030504040204" pitchFamily="34" charset="0"/>
            </a:rPr>
            <a:t>At IBM, we strive to lead in the creation, development and manufacture of the industry's most advanced information technologies, including computer systems, software, networking systems, storage devices and microelectronics.  We translate these advanced technologies into value for our customers through our professional solutions and services businesses worldwide. </a:t>
          </a:r>
          <a:endParaRPr lang="en-US" sz="1400" kern="1200" dirty="0">
            <a:latin typeface="Tahoma" panose="020B0604030504040204" pitchFamily="34" charset="0"/>
            <a:ea typeface="Tahoma" panose="020B0604030504040204" pitchFamily="34" charset="0"/>
            <a:cs typeface="Tahoma" panose="020B0604030504040204" pitchFamily="34" charset="0"/>
          </a:endParaRPr>
        </a:p>
      </dsp:txBody>
      <dsp:txXfrm>
        <a:off x="373384" y="1371876"/>
        <a:ext cx="1866297" cy="3905215"/>
      </dsp:txXfrm>
    </dsp:sp>
    <dsp:sp modelId="{9E6C7B23-FF03-4089-8C3C-CFE2EEB8B42D}">
      <dsp:nvSpPr>
        <dsp:cNvPr id="0" name=""/>
        <dsp:cNvSpPr/>
      </dsp:nvSpPr>
      <dsp:spPr>
        <a:xfrm>
          <a:off x="2312890" y="133879"/>
          <a:ext cx="1561337" cy="780668"/>
        </a:xfrm>
        <a:prstGeom prst="roundRect">
          <a:avLst>
            <a:gd name="adj" fmla="val 10000"/>
          </a:avLst>
        </a:prstGeom>
        <a:solidFill>
          <a:schemeClr val="lt1">
            <a:hueOff val="0"/>
            <a:satOff val="0"/>
            <a:lumOff val="0"/>
            <a:alphaOff val="0"/>
          </a:schemeClr>
        </a:solidFill>
        <a:ln w="25400"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48260" rIns="72390" bIns="48260" numCol="1" spcCol="1270" anchor="ctr" anchorCtr="0">
          <a:noAutofit/>
        </a:bodyPr>
        <a:lstStyle/>
        <a:p>
          <a:pPr lvl="0" algn="ctr" defTabSz="1689100">
            <a:lnSpc>
              <a:spcPct val="90000"/>
            </a:lnSpc>
            <a:spcBef>
              <a:spcPct val="0"/>
            </a:spcBef>
            <a:spcAft>
              <a:spcPct val="35000"/>
            </a:spcAft>
          </a:pPr>
          <a:r>
            <a:rPr lang="en-US" sz="3800" kern="1200" dirty="0" smtClean="0">
              <a:latin typeface="Tahoma" panose="020B0604030504040204" pitchFamily="34" charset="0"/>
              <a:ea typeface="Tahoma" panose="020B0604030504040204" pitchFamily="34" charset="0"/>
              <a:cs typeface="Tahoma" panose="020B0604030504040204" pitchFamily="34" charset="0"/>
            </a:rPr>
            <a:t>DELL</a:t>
          </a:r>
          <a:endParaRPr lang="en-US" sz="3800" kern="1200" dirty="0">
            <a:latin typeface="Tahoma" panose="020B0604030504040204" pitchFamily="34" charset="0"/>
            <a:ea typeface="Tahoma" panose="020B0604030504040204" pitchFamily="34" charset="0"/>
            <a:cs typeface="Tahoma" panose="020B0604030504040204" pitchFamily="34" charset="0"/>
          </a:endParaRPr>
        </a:p>
      </dsp:txBody>
      <dsp:txXfrm>
        <a:off x="2335755" y="156744"/>
        <a:ext cx="1515607" cy="734938"/>
      </dsp:txXfrm>
    </dsp:sp>
    <dsp:sp modelId="{C5E865DE-E7BD-4C1E-B71A-52027C8542A6}">
      <dsp:nvSpPr>
        <dsp:cNvPr id="0" name=""/>
        <dsp:cNvSpPr/>
      </dsp:nvSpPr>
      <dsp:spPr>
        <a:xfrm>
          <a:off x="2469024" y="914548"/>
          <a:ext cx="219055" cy="2430869"/>
        </a:xfrm>
        <a:custGeom>
          <a:avLst/>
          <a:gdLst/>
          <a:ahLst/>
          <a:cxnLst/>
          <a:rect l="0" t="0" r="0" b="0"/>
          <a:pathLst>
            <a:path>
              <a:moveTo>
                <a:pt x="0" y="0"/>
              </a:moveTo>
              <a:lnTo>
                <a:pt x="0" y="2430869"/>
              </a:lnTo>
              <a:lnTo>
                <a:pt x="219055" y="2430869"/>
              </a:lnTo>
            </a:path>
          </a:pathLst>
        </a:custGeom>
        <a:noFill/>
        <a:ln w="25400"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EB415F6-7C92-446E-B02B-CE8E327A3DBB}">
      <dsp:nvSpPr>
        <dsp:cNvPr id="0" name=""/>
        <dsp:cNvSpPr/>
      </dsp:nvSpPr>
      <dsp:spPr>
        <a:xfrm>
          <a:off x="2688079" y="1313813"/>
          <a:ext cx="1717321" cy="4063208"/>
        </a:xfrm>
        <a:prstGeom prst="roundRect">
          <a:avLst>
            <a:gd name="adj" fmla="val 10000"/>
          </a:avLst>
        </a:prstGeom>
        <a:solidFill>
          <a:schemeClr val="accent3">
            <a:alpha val="90000"/>
            <a:tint val="4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lvl="0" algn="ctr" defTabSz="889000">
            <a:lnSpc>
              <a:spcPct val="90000"/>
            </a:lnSpc>
            <a:spcBef>
              <a:spcPct val="0"/>
            </a:spcBef>
            <a:spcAft>
              <a:spcPct val="35000"/>
            </a:spcAft>
          </a:pPr>
          <a:r>
            <a:rPr lang="en-US" sz="2000" kern="1200" smtClean="0">
              <a:latin typeface="Tahoma" panose="020B0604030504040204" pitchFamily="34" charset="0"/>
              <a:ea typeface="Tahoma" panose="020B0604030504040204" pitchFamily="34" charset="0"/>
              <a:cs typeface="Tahoma" panose="020B0604030504040204" pitchFamily="34" charset="0"/>
            </a:rPr>
            <a:t>Dell's mission is to be the most successful computer company in the world at delivering the best customer experience in markets we serve.</a:t>
          </a:r>
          <a:endParaRPr lang="en-US" sz="2000" kern="1200" dirty="0">
            <a:latin typeface="Tahoma" panose="020B0604030504040204" pitchFamily="34" charset="0"/>
            <a:ea typeface="Tahoma" panose="020B0604030504040204" pitchFamily="34" charset="0"/>
            <a:cs typeface="Tahoma" panose="020B0604030504040204" pitchFamily="34" charset="0"/>
          </a:endParaRPr>
        </a:p>
      </dsp:txBody>
      <dsp:txXfrm>
        <a:off x="2738378" y="1364112"/>
        <a:ext cx="1616723" cy="3962610"/>
      </dsp:txXfrm>
    </dsp:sp>
    <dsp:sp modelId="{0D3954D8-22BE-4049-94FC-85D4C4C1D9A0}">
      <dsp:nvSpPr>
        <dsp:cNvPr id="0" name=""/>
        <dsp:cNvSpPr/>
      </dsp:nvSpPr>
      <dsp:spPr>
        <a:xfrm>
          <a:off x="4445058" y="133879"/>
          <a:ext cx="1561337" cy="780668"/>
        </a:xfrm>
        <a:prstGeom prst="roundRect">
          <a:avLst>
            <a:gd name="adj" fmla="val 10000"/>
          </a:avLst>
        </a:prstGeom>
        <a:solidFill>
          <a:schemeClr val="lt1">
            <a:hueOff val="0"/>
            <a:satOff val="0"/>
            <a:lumOff val="0"/>
            <a:alphaOff val="0"/>
          </a:schemeClr>
        </a:solidFill>
        <a:ln w="25400"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48260" rIns="72390" bIns="48260" numCol="1" spcCol="1270" anchor="ctr" anchorCtr="0">
          <a:noAutofit/>
        </a:bodyPr>
        <a:lstStyle/>
        <a:p>
          <a:pPr lvl="0" algn="ctr" defTabSz="1689100">
            <a:lnSpc>
              <a:spcPct val="90000"/>
            </a:lnSpc>
            <a:spcBef>
              <a:spcPct val="0"/>
            </a:spcBef>
            <a:spcAft>
              <a:spcPct val="35000"/>
            </a:spcAft>
          </a:pPr>
          <a:r>
            <a:rPr lang="en-US" sz="3800" kern="1200" dirty="0" smtClean="0">
              <a:latin typeface="Tahoma" panose="020B0604030504040204" pitchFamily="34" charset="0"/>
              <a:ea typeface="Tahoma" panose="020B0604030504040204" pitchFamily="34" charset="0"/>
              <a:cs typeface="Tahoma" panose="020B0604030504040204" pitchFamily="34" charset="0"/>
            </a:rPr>
            <a:t>APPLE</a:t>
          </a:r>
          <a:endParaRPr lang="en-US" sz="3800" kern="1200" dirty="0">
            <a:latin typeface="Tahoma" panose="020B0604030504040204" pitchFamily="34" charset="0"/>
            <a:ea typeface="Tahoma" panose="020B0604030504040204" pitchFamily="34" charset="0"/>
            <a:cs typeface="Tahoma" panose="020B0604030504040204" pitchFamily="34" charset="0"/>
          </a:endParaRPr>
        </a:p>
      </dsp:txBody>
      <dsp:txXfrm>
        <a:off x="4467923" y="156744"/>
        <a:ext cx="1515607" cy="734938"/>
      </dsp:txXfrm>
    </dsp:sp>
    <dsp:sp modelId="{E07C4464-2EAB-4753-98F2-FC7418551129}">
      <dsp:nvSpPr>
        <dsp:cNvPr id="0" name=""/>
        <dsp:cNvSpPr/>
      </dsp:nvSpPr>
      <dsp:spPr>
        <a:xfrm>
          <a:off x="4601192" y="914548"/>
          <a:ext cx="194542" cy="2430869"/>
        </a:xfrm>
        <a:custGeom>
          <a:avLst/>
          <a:gdLst/>
          <a:ahLst/>
          <a:cxnLst/>
          <a:rect l="0" t="0" r="0" b="0"/>
          <a:pathLst>
            <a:path>
              <a:moveTo>
                <a:pt x="0" y="0"/>
              </a:moveTo>
              <a:lnTo>
                <a:pt x="0" y="2430869"/>
              </a:lnTo>
              <a:lnTo>
                <a:pt x="194542" y="2430869"/>
              </a:lnTo>
            </a:path>
          </a:pathLst>
        </a:custGeom>
        <a:noFill/>
        <a:ln w="25400"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99EF830-327A-4D06-BCE0-0D2B59B304EA}">
      <dsp:nvSpPr>
        <dsp:cNvPr id="0" name=""/>
        <dsp:cNvSpPr/>
      </dsp:nvSpPr>
      <dsp:spPr>
        <a:xfrm>
          <a:off x="4795735" y="1313813"/>
          <a:ext cx="1983010" cy="4063208"/>
        </a:xfrm>
        <a:prstGeom prst="roundRect">
          <a:avLst>
            <a:gd name="adj" fmla="val 10000"/>
          </a:avLst>
        </a:prstGeom>
        <a:solidFill>
          <a:schemeClr val="accent3">
            <a:alpha val="90000"/>
            <a:tint val="4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lvl="0" algn="ctr" defTabSz="622300">
            <a:lnSpc>
              <a:spcPct val="90000"/>
            </a:lnSpc>
            <a:spcBef>
              <a:spcPct val="0"/>
            </a:spcBef>
            <a:spcAft>
              <a:spcPct val="35000"/>
            </a:spcAft>
          </a:pPr>
          <a:r>
            <a:rPr lang="en-US" sz="1400" kern="1200" dirty="0" smtClean="0">
              <a:latin typeface="Tahoma" panose="020B0604030504040204" pitchFamily="34" charset="0"/>
              <a:ea typeface="Tahoma" panose="020B0604030504040204" pitchFamily="34" charset="0"/>
              <a:cs typeface="Tahoma" panose="020B0604030504040204" pitchFamily="34" charset="0"/>
            </a:rPr>
            <a:t>Apple ignited the personal computer revolution in the 1970s with the Apple II and reinvented the personal computer in the 1980s with the Macintosh. Apple is committed to bringing the best personal computing experience to students, educators, creative professionals and consumers around the world through its innovative hardware, software and Internet offerings.</a:t>
          </a:r>
          <a:endParaRPr lang="en-US" sz="1400" kern="1200" dirty="0">
            <a:latin typeface="Tahoma" panose="020B0604030504040204" pitchFamily="34" charset="0"/>
            <a:ea typeface="Tahoma" panose="020B0604030504040204" pitchFamily="34" charset="0"/>
            <a:cs typeface="Tahoma" panose="020B0604030504040204" pitchFamily="34" charset="0"/>
          </a:endParaRPr>
        </a:p>
      </dsp:txBody>
      <dsp:txXfrm>
        <a:off x="4853815" y="1371893"/>
        <a:ext cx="1866850" cy="394704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A3AF2F-49C4-486E-813D-911C6BDAE59F}">
      <dsp:nvSpPr>
        <dsp:cNvPr id="0" name=""/>
        <dsp:cNvSpPr/>
      </dsp:nvSpPr>
      <dsp:spPr>
        <a:xfrm>
          <a:off x="744" y="145603"/>
          <a:ext cx="2902148" cy="1741289"/>
        </a:xfrm>
        <a:prstGeom prst="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latin typeface="Tahoma" panose="020B0604030504040204" pitchFamily="34" charset="0"/>
              <a:ea typeface="Tahoma" panose="020B0604030504040204" pitchFamily="34" charset="0"/>
              <a:cs typeface="Tahoma" panose="020B0604030504040204" pitchFamily="34" charset="0"/>
            </a:rPr>
            <a:t>Differentiation</a:t>
          </a:r>
          <a:endParaRPr lang="en-US" sz="2800" kern="1200" dirty="0">
            <a:latin typeface="Tahoma" panose="020B0604030504040204" pitchFamily="34" charset="0"/>
            <a:ea typeface="Tahoma" panose="020B0604030504040204" pitchFamily="34" charset="0"/>
            <a:cs typeface="Tahoma" panose="020B0604030504040204" pitchFamily="34" charset="0"/>
          </a:endParaRPr>
        </a:p>
      </dsp:txBody>
      <dsp:txXfrm>
        <a:off x="744" y="145603"/>
        <a:ext cx="2902148" cy="1741289"/>
      </dsp:txXfrm>
    </dsp:sp>
    <dsp:sp modelId="{9A193DF4-1674-4637-81D3-1B3BD5BA1E33}">
      <dsp:nvSpPr>
        <dsp:cNvPr id="0" name=""/>
        <dsp:cNvSpPr/>
      </dsp:nvSpPr>
      <dsp:spPr>
        <a:xfrm>
          <a:off x="3193107" y="145603"/>
          <a:ext cx="2902148" cy="1741289"/>
        </a:xfrm>
        <a:prstGeom prst="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latin typeface="Tahoma" panose="020B0604030504040204" pitchFamily="34" charset="0"/>
              <a:ea typeface="Tahoma" panose="020B0604030504040204" pitchFamily="34" charset="0"/>
              <a:cs typeface="Tahoma" panose="020B0604030504040204" pitchFamily="34" charset="0"/>
            </a:rPr>
            <a:t>Overall cost Leadership</a:t>
          </a:r>
          <a:endParaRPr lang="en-US" sz="2800" kern="1200" dirty="0">
            <a:latin typeface="Tahoma" panose="020B0604030504040204" pitchFamily="34" charset="0"/>
            <a:ea typeface="Tahoma" panose="020B0604030504040204" pitchFamily="34" charset="0"/>
            <a:cs typeface="Tahoma" panose="020B0604030504040204" pitchFamily="34" charset="0"/>
          </a:endParaRPr>
        </a:p>
      </dsp:txBody>
      <dsp:txXfrm>
        <a:off x="3193107" y="145603"/>
        <a:ext cx="2902148" cy="1741289"/>
      </dsp:txXfrm>
    </dsp:sp>
    <dsp:sp modelId="{DF87C2CB-13C5-40B3-9775-D8AECB1F1F74}">
      <dsp:nvSpPr>
        <dsp:cNvPr id="0" name=""/>
        <dsp:cNvSpPr/>
      </dsp:nvSpPr>
      <dsp:spPr>
        <a:xfrm>
          <a:off x="1596925" y="2177107"/>
          <a:ext cx="2902148" cy="1741289"/>
        </a:xfrm>
        <a:prstGeom prst="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latin typeface="Tahoma" panose="020B0604030504040204" pitchFamily="34" charset="0"/>
              <a:ea typeface="Tahoma" panose="020B0604030504040204" pitchFamily="34" charset="0"/>
              <a:cs typeface="Tahoma" panose="020B0604030504040204" pitchFamily="34" charset="0"/>
            </a:rPr>
            <a:t>Focus</a:t>
          </a:r>
          <a:endParaRPr lang="en-US" sz="2800" kern="1200" dirty="0">
            <a:latin typeface="Tahoma" panose="020B0604030504040204" pitchFamily="34" charset="0"/>
            <a:ea typeface="Tahoma" panose="020B0604030504040204" pitchFamily="34" charset="0"/>
            <a:cs typeface="Tahoma" panose="020B0604030504040204" pitchFamily="34" charset="0"/>
          </a:endParaRPr>
        </a:p>
      </dsp:txBody>
      <dsp:txXfrm>
        <a:off x="1596925" y="2177107"/>
        <a:ext cx="2902148" cy="174128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11F64D-81E9-4752-9947-46E229C71E58}">
      <dsp:nvSpPr>
        <dsp:cNvPr id="0" name=""/>
        <dsp:cNvSpPr/>
      </dsp:nvSpPr>
      <dsp:spPr>
        <a:xfrm>
          <a:off x="1236321" y="148125"/>
          <a:ext cx="2673048" cy="835327"/>
        </a:xfrm>
        <a:prstGeom prst="rect">
          <a:avLst/>
        </a:prstGeom>
        <a:solidFill>
          <a:schemeClr val="lt1">
            <a:alpha val="4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65795" tIns="64770" rIns="64770" bIns="64770" numCol="1" spcCol="1270" anchor="ctr" anchorCtr="0">
          <a:noAutofit/>
        </a:bodyPr>
        <a:lstStyle/>
        <a:p>
          <a:pPr lvl="0" algn="ctr" defTabSz="755650">
            <a:lnSpc>
              <a:spcPct val="90000"/>
            </a:lnSpc>
            <a:spcBef>
              <a:spcPct val="0"/>
            </a:spcBef>
            <a:spcAft>
              <a:spcPct val="35000"/>
            </a:spcAft>
          </a:pPr>
          <a:r>
            <a:rPr lang="en-US" altLang="en-US" sz="1700" kern="1200" dirty="0" smtClean="0">
              <a:effectLst/>
              <a:latin typeface="Tahoma" panose="020B0604030504040204" pitchFamily="34" charset="0"/>
              <a:ea typeface="Tahoma" panose="020B0604030504040204" pitchFamily="34" charset="0"/>
              <a:cs typeface="Tahoma" panose="020B0604030504040204" pitchFamily="34" charset="0"/>
            </a:rPr>
            <a:t>1. Superior   stakeholder satisfaction</a:t>
          </a:r>
          <a:endParaRPr lang="en-US" sz="1700" kern="1200" dirty="0">
            <a:effectLst/>
          </a:endParaRPr>
        </a:p>
      </dsp:txBody>
      <dsp:txXfrm>
        <a:off x="1236321" y="148125"/>
        <a:ext cx="2673048" cy="835327"/>
      </dsp:txXfrm>
    </dsp:sp>
    <dsp:sp modelId="{97E4156A-82EC-49EF-8B32-B46AD135E6B0}">
      <dsp:nvSpPr>
        <dsp:cNvPr id="0" name=""/>
        <dsp:cNvSpPr/>
      </dsp:nvSpPr>
      <dsp:spPr>
        <a:xfrm>
          <a:off x="1180191" y="20078"/>
          <a:ext cx="584729" cy="877093"/>
        </a:xfrm>
        <a:prstGeom prst="rect">
          <a:avLst/>
        </a:prstGeom>
        <a:solidFill>
          <a:schemeClr val="accent3">
            <a:tint val="5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 modelId="{69906450-66D6-49A2-A5C5-53B3F74BF226}">
      <dsp:nvSpPr>
        <dsp:cNvPr id="0" name=""/>
        <dsp:cNvSpPr/>
      </dsp:nvSpPr>
      <dsp:spPr>
        <a:xfrm>
          <a:off x="4223527" y="198888"/>
          <a:ext cx="2673048" cy="835327"/>
        </a:xfrm>
        <a:prstGeom prst="rect">
          <a:avLst/>
        </a:prstGeom>
        <a:solidFill>
          <a:schemeClr val="lt1">
            <a:alpha val="4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65795" tIns="64770" rIns="64770" bIns="64770" numCol="1" spcCol="1270" anchor="ctr" anchorCtr="0">
          <a:noAutofit/>
        </a:bodyPr>
        <a:lstStyle/>
        <a:p>
          <a:pPr lvl="0" algn="ctr" defTabSz="755650">
            <a:lnSpc>
              <a:spcPct val="90000"/>
            </a:lnSpc>
            <a:spcBef>
              <a:spcPct val="0"/>
            </a:spcBef>
            <a:spcAft>
              <a:spcPct val="35000"/>
            </a:spcAft>
          </a:pPr>
          <a:r>
            <a:rPr lang="en-US" altLang="en-US" sz="1700" kern="1200" dirty="0" smtClean="0">
              <a:effectLst/>
              <a:latin typeface="Tahoma" panose="020B0604030504040204" pitchFamily="34" charset="0"/>
              <a:ea typeface="Tahoma" panose="020B0604030504040204" pitchFamily="34" charset="0"/>
              <a:cs typeface="Tahoma" panose="020B0604030504040204" pitchFamily="34" charset="0"/>
            </a:rPr>
            <a:t>2. Strategic soothsaying</a:t>
          </a:r>
          <a:endParaRPr lang="en-US" sz="1700" kern="1200" dirty="0">
            <a:effectLst/>
          </a:endParaRPr>
        </a:p>
      </dsp:txBody>
      <dsp:txXfrm>
        <a:off x="4223527" y="198888"/>
        <a:ext cx="2673048" cy="835327"/>
      </dsp:txXfrm>
    </dsp:sp>
    <dsp:sp modelId="{DC455434-2937-46E1-9D15-CDBDC15D7CCC}">
      <dsp:nvSpPr>
        <dsp:cNvPr id="0" name=""/>
        <dsp:cNvSpPr/>
      </dsp:nvSpPr>
      <dsp:spPr>
        <a:xfrm>
          <a:off x="4112150" y="78229"/>
          <a:ext cx="584729" cy="877093"/>
        </a:xfrm>
        <a:prstGeom prst="rect">
          <a:avLst/>
        </a:prstGeom>
        <a:solidFill>
          <a:schemeClr val="accent3">
            <a:tint val="5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 modelId="{B2608430-5BE5-4E60-BFE9-D0C750579563}">
      <dsp:nvSpPr>
        <dsp:cNvPr id="0" name=""/>
        <dsp:cNvSpPr/>
      </dsp:nvSpPr>
      <dsp:spPr>
        <a:xfrm>
          <a:off x="1292000" y="1250473"/>
          <a:ext cx="2673048" cy="835327"/>
        </a:xfrm>
        <a:prstGeom prst="rect">
          <a:avLst/>
        </a:prstGeom>
        <a:solidFill>
          <a:schemeClr val="lt1">
            <a:alpha val="4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65795" tIns="64770" rIns="64770" bIns="64770" numCol="1" spcCol="1270" anchor="ctr" anchorCtr="0">
          <a:noAutofit/>
        </a:bodyPr>
        <a:lstStyle/>
        <a:p>
          <a:pPr lvl="0" algn="ctr" defTabSz="755650">
            <a:lnSpc>
              <a:spcPct val="90000"/>
            </a:lnSpc>
            <a:spcBef>
              <a:spcPct val="0"/>
            </a:spcBef>
            <a:spcAft>
              <a:spcPct val="35000"/>
            </a:spcAft>
          </a:pPr>
          <a:r>
            <a:rPr lang="en-US" altLang="en-US" sz="1700" kern="1200" dirty="0" smtClean="0">
              <a:effectLst/>
              <a:latin typeface="Tahoma" panose="020B0604030504040204" pitchFamily="34" charset="0"/>
              <a:ea typeface="Tahoma" panose="020B0604030504040204" pitchFamily="34" charset="0"/>
              <a:cs typeface="Tahoma" panose="020B0604030504040204" pitchFamily="34" charset="0"/>
            </a:rPr>
            <a:t>3. Positioning for speed</a:t>
          </a:r>
          <a:endParaRPr lang="en-US" sz="1700" kern="1200" dirty="0">
            <a:effectLst/>
          </a:endParaRPr>
        </a:p>
      </dsp:txBody>
      <dsp:txXfrm>
        <a:off x="1292000" y="1250473"/>
        <a:ext cx="2673048" cy="835327"/>
      </dsp:txXfrm>
    </dsp:sp>
    <dsp:sp modelId="{16D4CF63-936E-4CB3-A7F6-400FD83AE4B7}">
      <dsp:nvSpPr>
        <dsp:cNvPr id="0" name=""/>
        <dsp:cNvSpPr/>
      </dsp:nvSpPr>
      <dsp:spPr>
        <a:xfrm>
          <a:off x="1180623" y="1129814"/>
          <a:ext cx="584729" cy="877093"/>
        </a:xfrm>
        <a:prstGeom prst="rect">
          <a:avLst/>
        </a:prstGeom>
        <a:solidFill>
          <a:schemeClr val="accent3">
            <a:tint val="5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 modelId="{3E08BBA8-0578-46D3-9599-F68AFCA084A2}">
      <dsp:nvSpPr>
        <dsp:cNvPr id="0" name=""/>
        <dsp:cNvSpPr/>
      </dsp:nvSpPr>
      <dsp:spPr>
        <a:xfrm>
          <a:off x="4223527" y="1250473"/>
          <a:ext cx="2673048" cy="835327"/>
        </a:xfrm>
        <a:prstGeom prst="rect">
          <a:avLst/>
        </a:prstGeom>
        <a:solidFill>
          <a:schemeClr val="lt1">
            <a:alpha val="4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65795" tIns="64770" rIns="64770" bIns="64770" numCol="1" spcCol="1270" anchor="ctr" anchorCtr="0">
          <a:noAutofit/>
        </a:bodyPr>
        <a:lstStyle/>
        <a:p>
          <a:pPr lvl="0" algn="ctr" defTabSz="755650">
            <a:lnSpc>
              <a:spcPct val="90000"/>
            </a:lnSpc>
            <a:spcBef>
              <a:spcPct val="0"/>
            </a:spcBef>
            <a:spcAft>
              <a:spcPct val="35000"/>
            </a:spcAft>
          </a:pPr>
          <a:r>
            <a:rPr lang="en-US" altLang="en-US" sz="1700" kern="1200" dirty="0" smtClean="0">
              <a:effectLst/>
              <a:latin typeface="Tahoma" panose="020B0604030504040204" pitchFamily="34" charset="0"/>
              <a:ea typeface="Tahoma" panose="020B0604030504040204" pitchFamily="34" charset="0"/>
              <a:cs typeface="Tahoma" panose="020B0604030504040204" pitchFamily="34" charset="0"/>
            </a:rPr>
            <a:t>4. Positioning for surprise</a:t>
          </a:r>
          <a:endParaRPr lang="en-US" sz="1700" kern="1200" dirty="0">
            <a:effectLst/>
          </a:endParaRPr>
        </a:p>
      </dsp:txBody>
      <dsp:txXfrm>
        <a:off x="4223527" y="1250473"/>
        <a:ext cx="2673048" cy="835327"/>
      </dsp:txXfrm>
    </dsp:sp>
    <dsp:sp modelId="{2D6AC957-875B-4A14-BD80-1B8A127DDA61}">
      <dsp:nvSpPr>
        <dsp:cNvPr id="0" name=""/>
        <dsp:cNvSpPr/>
      </dsp:nvSpPr>
      <dsp:spPr>
        <a:xfrm>
          <a:off x="4112150" y="1129814"/>
          <a:ext cx="584729" cy="877093"/>
        </a:xfrm>
        <a:prstGeom prst="rect">
          <a:avLst/>
        </a:prstGeom>
        <a:solidFill>
          <a:schemeClr val="accent3">
            <a:tint val="5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 modelId="{E4C79CD2-9F81-4388-988C-73DA8909E7A4}">
      <dsp:nvSpPr>
        <dsp:cNvPr id="0" name=""/>
        <dsp:cNvSpPr/>
      </dsp:nvSpPr>
      <dsp:spPr>
        <a:xfrm>
          <a:off x="1292000" y="2302057"/>
          <a:ext cx="2673048" cy="835327"/>
        </a:xfrm>
        <a:prstGeom prst="rect">
          <a:avLst/>
        </a:prstGeom>
        <a:solidFill>
          <a:schemeClr val="lt1">
            <a:alpha val="4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65795" tIns="64770" rIns="64770" bIns="64770" numCol="1" spcCol="1270" anchor="ctr" anchorCtr="0">
          <a:noAutofit/>
        </a:bodyPr>
        <a:lstStyle/>
        <a:p>
          <a:pPr lvl="0" algn="ctr" defTabSz="755650">
            <a:lnSpc>
              <a:spcPct val="90000"/>
            </a:lnSpc>
            <a:spcBef>
              <a:spcPct val="0"/>
            </a:spcBef>
            <a:spcAft>
              <a:spcPct val="35000"/>
            </a:spcAft>
          </a:pPr>
          <a:r>
            <a:rPr lang="en-US" altLang="en-US" sz="1700" kern="1200" dirty="0" smtClean="0">
              <a:effectLst/>
              <a:latin typeface="Tahoma" panose="020B0604030504040204" pitchFamily="34" charset="0"/>
              <a:ea typeface="Tahoma" panose="020B0604030504040204" pitchFamily="34" charset="0"/>
              <a:cs typeface="Tahoma" panose="020B0604030504040204" pitchFamily="34" charset="0"/>
            </a:rPr>
            <a:t>5. Shifting the rules of competition</a:t>
          </a:r>
          <a:endParaRPr lang="en-US" sz="1700" kern="1200" dirty="0">
            <a:effectLst/>
          </a:endParaRPr>
        </a:p>
      </dsp:txBody>
      <dsp:txXfrm>
        <a:off x="1292000" y="2302057"/>
        <a:ext cx="2673048" cy="835327"/>
      </dsp:txXfrm>
    </dsp:sp>
    <dsp:sp modelId="{88A7259B-74B0-4355-99B2-4AD339BF07D2}">
      <dsp:nvSpPr>
        <dsp:cNvPr id="0" name=""/>
        <dsp:cNvSpPr/>
      </dsp:nvSpPr>
      <dsp:spPr>
        <a:xfrm>
          <a:off x="1180623" y="2181399"/>
          <a:ext cx="584729" cy="877093"/>
        </a:xfrm>
        <a:prstGeom prst="rect">
          <a:avLst/>
        </a:prstGeom>
        <a:solidFill>
          <a:schemeClr val="accent3">
            <a:tint val="5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 modelId="{0E0E82BE-75C7-4BD8-B963-32F880334527}">
      <dsp:nvSpPr>
        <dsp:cNvPr id="0" name=""/>
        <dsp:cNvSpPr/>
      </dsp:nvSpPr>
      <dsp:spPr>
        <a:xfrm>
          <a:off x="4223527" y="2302057"/>
          <a:ext cx="2673048" cy="835327"/>
        </a:xfrm>
        <a:prstGeom prst="rect">
          <a:avLst/>
        </a:prstGeom>
        <a:solidFill>
          <a:schemeClr val="lt1">
            <a:alpha val="4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65795" tIns="64770" rIns="64770" bIns="64770" numCol="1" spcCol="1270" anchor="ctr" anchorCtr="0">
          <a:noAutofit/>
        </a:bodyPr>
        <a:lstStyle/>
        <a:p>
          <a:pPr lvl="0" algn="ctr" defTabSz="755650">
            <a:lnSpc>
              <a:spcPct val="90000"/>
            </a:lnSpc>
            <a:spcBef>
              <a:spcPct val="0"/>
            </a:spcBef>
            <a:spcAft>
              <a:spcPct val="35000"/>
            </a:spcAft>
          </a:pPr>
          <a:r>
            <a:rPr lang="en-US" altLang="en-US" sz="1700" kern="1200" dirty="0" smtClean="0">
              <a:effectLst/>
              <a:latin typeface="Tahoma" panose="020B0604030504040204" pitchFamily="34" charset="0"/>
              <a:ea typeface="Tahoma" panose="020B0604030504040204" pitchFamily="34" charset="0"/>
              <a:cs typeface="Tahoma" panose="020B0604030504040204" pitchFamily="34" charset="0"/>
            </a:rPr>
            <a:t>6. Signaling strategic intent</a:t>
          </a:r>
          <a:endParaRPr lang="en-US" sz="1700" kern="1200" dirty="0">
            <a:effectLst/>
          </a:endParaRPr>
        </a:p>
      </dsp:txBody>
      <dsp:txXfrm>
        <a:off x="4223527" y="2302057"/>
        <a:ext cx="2673048" cy="835327"/>
      </dsp:txXfrm>
    </dsp:sp>
    <dsp:sp modelId="{A9B762CC-8B81-496B-AEE8-64880ECAA262}">
      <dsp:nvSpPr>
        <dsp:cNvPr id="0" name=""/>
        <dsp:cNvSpPr/>
      </dsp:nvSpPr>
      <dsp:spPr>
        <a:xfrm>
          <a:off x="4112150" y="2181399"/>
          <a:ext cx="584729" cy="877093"/>
        </a:xfrm>
        <a:prstGeom prst="rect">
          <a:avLst/>
        </a:prstGeom>
        <a:solidFill>
          <a:schemeClr val="accent3">
            <a:tint val="5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 modelId="{2EA5909A-2374-40A4-B285-B69BA8BC9FB4}">
      <dsp:nvSpPr>
        <dsp:cNvPr id="0" name=""/>
        <dsp:cNvSpPr/>
      </dsp:nvSpPr>
      <dsp:spPr>
        <a:xfrm>
          <a:off x="2757764" y="3353642"/>
          <a:ext cx="2673048" cy="835327"/>
        </a:xfrm>
        <a:prstGeom prst="rect">
          <a:avLst/>
        </a:prstGeom>
        <a:solidFill>
          <a:schemeClr val="lt1">
            <a:alpha val="4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65795" tIns="64770" rIns="64770" bIns="64770" numCol="1" spcCol="1270" anchor="ctr" anchorCtr="0">
          <a:noAutofit/>
        </a:bodyPr>
        <a:lstStyle/>
        <a:p>
          <a:pPr lvl="0" algn="ctr" defTabSz="755650">
            <a:lnSpc>
              <a:spcPct val="90000"/>
            </a:lnSpc>
            <a:spcBef>
              <a:spcPct val="0"/>
            </a:spcBef>
            <a:spcAft>
              <a:spcPct val="35000"/>
            </a:spcAft>
          </a:pPr>
          <a:r>
            <a:rPr lang="en-US" altLang="en-US" sz="1700" kern="1200" dirty="0" smtClean="0">
              <a:effectLst/>
              <a:latin typeface="Tahoma" panose="020B0604030504040204" pitchFamily="34" charset="0"/>
              <a:ea typeface="Tahoma" panose="020B0604030504040204" pitchFamily="34" charset="0"/>
              <a:cs typeface="Tahoma" panose="020B0604030504040204" pitchFamily="34" charset="0"/>
            </a:rPr>
            <a:t>7. Simultaneous and sequential strategic thrusts</a:t>
          </a:r>
          <a:endParaRPr lang="en-US" sz="1700" kern="1200" dirty="0">
            <a:effectLst/>
          </a:endParaRPr>
        </a:p>
      </dsp:txBody>
      <dsp:txXfrm>
        <a:off x="2757764" y="3353642"/>
        <a:ext cx="2673048" cy="835327"/>
      </dsp:txXfrm>
    </dsp:sp>
    <dsp:sp modelId="{AD18B297-993D-486E-AA1F-EA15C5ECD357}">
      <dsp:nvSpPr>
        <dsp:cNvPr id="0" name=""/>
        <dsp:cNvSpPr/>
      </dsp:nvSpPr>
      <dsp:spPr>
        <a:xfrm>
          <a:off x="2646387" y="3232983"/>
          <a:ext cx="584729" cy="877093"/>
        </a:xfrm>
        <a:prstGeom prst="rect">
          <a:avLst/>
        </a:prstGeom>
        <a:solidFill>
          <a:schemeClr val="accent3">
            <a:tint val="5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65D508-E600-4BD3-82B7-3211CF60973A}">
      <dsp:nvSpPr>
        <dsp:cNvPr id="0" name=""/>
        <dsp:cNvSpPr/>
      </dsp:nvSpPr>
      <dsp:spPr>
        <a:xfrm>
          <a:off x="3069468" y="1188"/>
          <a:ext cx="2014463" cy="1007231"/>
        </a:xfrm>
        <a:prstGeom prst="roundRect">
          <a:avLst>
            <a:gd name="adj" fmla="val 10000"/>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smtClean="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Business Process</a:t>
          </a:r>
          <a:endParaRPr lang="en-US" sz="1800" kern="1200"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dsp:txBody>
      <dsp:txXfrm>
        <a:off x="3098969" y="30689"/>
        <a:ext cx="1955461" cy="948229"/>
      </dsp:txXfrm>
    </dsp:sp>
    <dsp:sp modelId="{253D1D8F-7A66-4489-B6EC-6D0AFC07AF26}">
      <dsp:nvSpPr>
        <dsp:cNvPr id="0" name=""/>
        <dsp:cNvSpPr/>
      </dsp:nvSpPr>
      <dsp:spPr>
        <a:xfrm rot="2700000">
          <a:off x="4519467" y="1295336"/>
          <a:ext cx="1048061" cy="352531"/>
        </a:xfrm>
        <a:prstGeom prst="leftRightArrow">
          <a:avLst>
            <a:gd name="adj1" fmla="val 60000"/>
            <a:gd name="adj2" fmla="val 50000"/>
          </a:avLst>
        </a:prstGeom>
        <a:solidFill>
          <a:schemeClr val="accent3">
            <a:tint val="6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lvl="0" algn="ctr" defTabSz="666750">
            <a:lnSpc>
              <a:spcPct val="90000"/>
            </a:lnSpc>
            <a:spcBef>
              <a:spcPct val="0"/>
            </a:spcBef>
            <a:spcAft>
              <a:spcPct val="35000"/>
            </a:spcAft>
          </a:pPr>
          <a:endParaRPr lang="en-US" sz="1500" kern="120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dsp:txBody>
      <dsp:txXfrm>
        <a:off x="4625226" y="1365842"/>
        <a:ext cx="836543" cy="211519"/>
      </dsp:txXfrm>
    </dsp:sp>
    <dsp:sp modelId="{868BF17A-479E-4932-A575-63E2A158022E}">
      <dsp:nvSpPr>
        <dsp:cNvPr id="0" name=""/>
        <dsp:cNvSpPr/>
      </dsp:nvSpPr>
      <dsp:spPr>
        <a:xfrm>
          <a:off x="5003064" y="1934784"/>
          <a:ext cx="2014463" cy="1007231"/>
        </a:xfrm>
        <a:prstGeom prst="roundRect">
          <a:avLst>
            <a:gd name="adj" fmla="val 10000"/>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smtClean="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Values and Beliefs</a:t>
          </a:r>
          <a:endParaRPr lang="en-US" sz="1800" kern="1200"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dsp:txBody>
      <dsp:txXfrm>
        <a:off x="5032565" y="1964285"/>
        <a:ext cx="1955461" cy="948229"/>
      </dsp:txXfrm>
    </dsp:sp>
    <dsp:sp modelId="{BA33BAB5-1751-4A33-B4D4-D3735E77C480}">
      <dsp:nvSpPr>
        <dsp:cNvPr id="0" name=""/>
        <dsp:cNvSpPr/>
      </dsp:nvSpPr>
      <dsp:spPr>
        <a:xfrm rot="8100000">
          <a:off x="4519467" y="3228932"/>
          <a:ext cx="1048061" cy="352531"/>
        </a:xfrm>
        <a:prstGeom prst="leftRightArrow">
          <a:avLst>
            <a:gd name="adj1" fmla="val 60000"/>
            <a:gd name="adj2" fmla="val 50000"/>
          </a:avLst>
        </a:prstGeom>
        <a:solidFill>
          <a:schemeClr val="accent3">
            <a:tint val="6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lvl="0" algn="ctr" defTabSz="666750">
            <a:lnSpc>
              <a:spcPct val="90000"/>
            </a:lnSpc>
            <a:spcBef>
              <a:spcPct val="0"/>
            </a:spcBef>
            <a:spcAft>
              <a:spcPct val="35000"/>
            </a:spcAft>
          </a:pPr>
          <a:endParaRPr lang="en-US" sz="1500" kern="120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dsp:txBody>
      <dsp:txXfrm rot="10800000">
        <a:off x="4625226" y="3299438"/>
        <a:ext cx="836543" cy="211519"/>
      </dsp:txXfrm>
    </dsp:sp>
    <dsp:sp modelId="{9EF58F97-A1A8-4407-B06D-118B89DD4FEB}">
      <dsp:nvSpPr>
        <dsp:cNvPr id="0" name=""/>
        <dsp:cNvSpPr/>
      </dsp:nvSpPr>
      <dsp:spPr>
        <a:xfrm>
          <a:off x="3069468" y="3868379"/>
          <a:ext cx="2014463" cy="1007231"/>
        </a:xfrm>
        <a:prstGeom prst="roundRect">
          <a:avLst>
            <a:gd name="adj" fmla="val 10000"/>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smtClean="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Management and Measurement Systems</a:t>
          </a:r>
          <a:endParaRPr lang="en-US" sz="1800" kern="1200"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dsp:txBody>
      <dsp:txXfrm>
        <a:off x="3098969" y="3897880"/>
        <a:ext cx="1955461" cy="948229"/>
      </dsp:txXfrm>
    </dsp:sp>
    <dsp:sp modelId="{A0E7E700-9405-4DBD-8A72-EE34F63F1A16}">
      <dsp:nvSpPr>
        <dsp:cNvPr id="0" name=""/>
        <dsp:cNvSpPr/>
      </dsp:nvSpPr>
      <dsp:spPr>
        <a:xfrm rot="13500000">
          <a:off x="2585871" y="3228932"/>
          <a:ext cx="1048061" cy="352531"/>
        </a:xfrm>
        <a:prstGeom prst="leftRightArrow">
          <a:avLst>
            <a:gd name="adj1" fmla="val 60000"/>
            <a:gd name="adj2" fmla="val 50000"/>
          </a:avLst>
        </a:prstGeom>
        <a:solidFill>
          <a:schemeClr val="accent3">
            <a:tint val="6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lvl="0" algn="ctr" defTabSz="666750">
            <a:lnSpc>
              <a:spcPct val="90000"/>
            </a:lnSpc>
            <a:spcBef>
              <a:spcPct val="0"/>
            </a:spcBef>
            <a:spcAft>
              <a:spcPct val="35000"/>
            </a:spcAft>
          </a:pPr>
          <a:endParaRPr lang="en-US" sz="1500" kern="120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dsp:txBody>
      <dsp:txXfrm rot="10800000">
        <a:off x="2691630" y="3299438"/>
        <a:ext cx="836543" cy="211519"/>
      </dsp:txXfrm>
    </dsp:sp>
    <dsp:sp modelId="{6A636018-F7C5-455B-BD7A-99803A83EC50}">
      <dsp:nvSpPr>
        <dsp:cNvPr id="0" name=""/>
        <dsp:cNvSpPr/>
      </dsp:nvSpPr>
      <dsp:spPr>
        <a:xfrm>
          <a:off x="1135872" y="1934784"/>
          <a:ext cx="2014463" cy="1007231"/>
        </a:xfrm>
        <a:prstGeom prst="roundRect">
          <a:avLst>
            <a:gd name="adj" fmla="val 10000"/>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a:lnSpc>
              <a:spcPct val="90000"/>
            </a:lnSpc>
            <a:spcBef>
              <a:spcPct val="0"/>
            </a:spcBef>
            <a:spcAft>
              <a:spcPct val="35000"/>
            </a:spcAft>
          </a:pPr>
          <a:r>
            <a:rPr lang="en-US" sz="1800" kern="1200" dirty="0" smtClean="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Tasks and Structures</a:t>
          </a:r>
          <a:endParaRPr lang="en-US" sz="1800" kern="1200"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dsp:txBody>
      <dsp:txXfrm>
        <a:off x="1165373" y="1964285"/>
        <a:ext cx="1955461" cy="948229"/>
      </dsp:txXfrm>
    </dsp:sp>
    <dsp:sp modelId="{50C48E63-C1D1-423A-B8F0-74823E759340}">
      <dsp:nvSpPr>
        <dsp:cNvPr id="0" name=""/>
        <dsp:cNvSpPr/>
      </dsp:nvSpPr>
      <dsp:spPr>
        <a:xfrm rot="18900000">
          <a:off x="2585871" y="1295336"/>
          <a:ext cx="1048061" cy="352531"/>
        </a:xfrm>
        <a:prstGeom prst="leftRightArrow">
          <a:avLst>
            <a:gd name="adj1" fmla="val 60000"/>
            <a:gd name="adj2" fmla="val 50000"/>
          </a:avLst>
        </a:prstGeom>
        <a:solidFill>
          <a:schemeClr val="accent3">
            <a:tint val="6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lvl="0" algn="ctr" defTabSz="666750">
            <a:lnSpc>
              <a:spcPct val="90000"/>
            </a:lnSpc>
            <a:spcBef>
              <a:spcPct val="0"/>
            </a:spcBef>
            <a:spcAft>
              <a:spcPct val="35000"/>
            </a:spcAft>
          </a:pPr>
          <a:endParaRPr lang="en-US" sz="1500" kern="120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dsp:txBody>
      <dsp:txXfrm>
        <a:off x="2691630" y="1365842"/>
        <a:ext cx="836543" cy="211519"/>
      </dsp:txXfrm>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E4E663E-9AE5-4B11-B4CA-608858A2603D}" type="datetimeFigureOut">
              <a:rPr lang="en-US" smtClean="0"/>
              <a:pPr/>
              <a:t>06-Jul-26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C28C741-7458-4E4F-9F6B-0BA8390428DE}" type="slidenum">
              <a:rPr lang="en-US" smtClean="0"/>
              <a:pPr/>
              <a:t>‹#›</a:t>
            </a:fld>
            <a:endParaRPr lang="en-US"/>
          </a:p>
        </p:txBody>
      </p:sp>
    </p:spTree>
    <p:extLst>
      <p:ext uri="{BB962C8B-B14F-4D97-AF65-F5344CB8AC3E}">
        <p14:creationId xmlns:p14="http://schemas.microsoft.com/office/powerpoint/2010/main" val="1834098263"/>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57FE635-11D9-4112-A6FD-6DA02A116A07}" type="datetimeFigureOut">
              <a:rPr lang="en-US" smtClean="0"/>
              <a:pPr/>
              <a:t>06-Jul-26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88C00EE-FC64-499A-BB12-0E1D98E28491}" type="slidenum">
              <a:rPr lang="en-US" smtClean="0"/>
              <a:pPr/>
              <a:t>‹#›</a:t>
            </a:fld>
            <a:endParaRPr lang="en-US"/>
          </a:p>
        </p:txBody>
      </p:sp>
    </p:spTree>
    <p:extLst>
      <p:ext uri="{BB962C8B-B14F-4D97-AF65-F5344CB8AC3E}">
        <p14:creationId xmlns:p14="http://schemas.microsoft.com/office/powerpoint/2010/main" val="3802091948"/>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88C00EE-FC64-499A-BB12-0E1D98E28491}" type="slidenum">
              <a:rPr lang="en-US" smtClean="0"/>
              <a:pPr/>
              <a:t>1</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651375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ln/>
        </p:spPr>
      </p:sp>
      <p:sp>
        <p:nvSpPr>
          <p:cNvPr id="450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450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F61DB3E-47FA-4AA2-81F9-77EAA183CFBE}" type="slidenum">
              <a:rPr lang="en-US" altLang="en-US"/>
              <a:pPr/>
              <a:t>2</a:t>
            </a:fld>
            <a:endParaRPr lang="en-US" altLang="en-US"/>
          </a:p>
        </p:txBody>
      </p:sp>
    </p:spTree>
    <p:extLst>
      <p:ext uri="{BB962C8B-B14F-4D97-AF65-F5344CB8AC3E}">
        <p14:creationId xmlns:p14="http://schemas.microsoft.com/office/powerpoint/2010/main" val="34331654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p:spPr>
      </p:sp>
      <p:sp>
        <p:nvSpPr>
          <p:cNvPr id="460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460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707C923-9107-4967-B234-5D3DC403067B}" type="slidenum">
              <a:rPr lang="en-US" altLang="en-US"/>
              <a:pPr/>
              <a:t>3</a:t>
            </a:fld>
            <a:endParaRPr lang="en-US" altLang="en-US"/>
          </a:p>
        </p:txBody>
      </p:sp>
    </p:spTree>
    <p:extLst>
      <p:ext uri="{BB962C8B-B14F-4D97-AF65-F5344CB8AC3E}">
        <p14:creationId xmlns:p14="http://schemas.microsoft.com/office/powerpoint/2010/main" val="15061501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471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471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FD29D5A-8930-4E54-B608-1D1805AEE483}" type="slidenum">
              <a:rPr lang="en-US" altLang="en-US"/>
              <a:pPr/>
              <a:t>4</a:t>
            </a:fld>
            <a:endParaRPr lang="en-US" altLang="en-US"/>
          </a:p>
        </p:txBody>
      </p:sp>
    </p:spTree>
    <p:extLst>
      <p:ext uri="{BB962C8B-B14F-4D97-AF65-F5344CB8AC3E}">
        <p14:creationId xmlns:p14="http://schemas.microsoft.com/office/powerpoint/2010/main" val="13266815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481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C1320B9-0DB5-4BAE-BA08-4ECDC69A3644}" type="slidenum">
              <a:rPr lang="en-US" altLang="en-US"/>
              <a:pPr/>
              <a:t>5</a:t>
            </a:fld>
            <a:endParaRPr lang="en-US" altLang="en-US"/>
          </a:p>
        </p:txBody>
      </p:sp>
    </p:spTree>
    <p:extLst>
      <p:ext uri="{BB962C8B-B14F-4D97-AF65-F5344CB8AC3E}">
        <p14:creationId xmlns:p14="http://schemas.microsoft.com/office/powerpoint/2010/main" val="3915680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ln/>
        </p:spPr>
      </p:sp>
      <p:sp>
        <p:nvSpPr>
          <p:cNvPr id="491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491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7ADB440-7C98-45F7-8339-5B08DB4BD1A0}" type="slidenum">
              <a:rPr lang="en-US" altLang="en-US"/>
              <a:pPr/>
              <a:t>6</a:t>
            </a:fld>
            <a:endParaRPr lang="en-US" altLang="en-US"/>
          </a:p>
        </p:txBody>
      </p:sp>
    </p:spTree>
    <p:extLst>
      <p:ext uri="{BB962C8B-B14F-4D97-AF65-F5344CB8AC3E}">
        <p14:creationId xmlns:p14="http://schemas.microsoft.com/office/powerpoint/2010/main" val="29971264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512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CB284FC-2328-45F4-9013-5C0E175F14E5}" type="slidenum">
              <a:rPr lang="en-US" altLang="en-US"/>
              <a:pPr/>
              <a:t>8</a:t>
            </a:fld>
            <a:endParaRPr lang="en-US" altLang="en-US"/>
          </a:p>
        </p:txBody>
      </p:sp>
    </p:spTree>
    <p:extLst>
      <p:ext uri="{BB962C8B-B14F-4D97-AF65-F5344CB8AC3E}">
        <p14:creationId xmlns:p14="http://schemas.microsoft.com/office/powerpoint/2010/main" val="38748050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3734023-27A9-4637-980A-6E8CEC29AB41}" type="slidenum">
              <a:rPr lang="en-US" altLang="en-US"/>
              <a:pPr/>
              <a:t>9</a:t>
            </a:fld>
            <a:endParaRPr lang="en-US" altLang="en-US"/>
          </a:p>
        </p:txBody>
      </p:sp>
    </p:spTree>
    <p:extLst>
      <p:ext uri="{BB962C8B-B14F-4D97-AF65-F5344CB8AC3E}">
        <p14:creationId xmlns:p14="http://schemas.microsoft.com/office/powerpoint/2010/main" val="33662687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532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A2042D5-020F-4055-BEAE-8B8C5A9A4B42}" type="slidenum">
              <a:rPr lang="en-US" altLang="en-US"/>
              <a:pPr/>
              <a:t>10</a:t>
            </a:fld>
            <a:endParaRPr lang="en-US" altLang="en-US"/>
          </a:p>
        </p:txBody>
      </p:sp>
    </p:spTree>
    <p:extLst>
      <p:ext uri="{BB962C8B-B14F-4D97-AF65-F5344CB8AC3E}">
        <p14:creationId xmlns:p14="http://schemas.microsoft.com/office/powerpoint/2010/main" val="28353366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542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6A2007A-2A5E-4926-A53D-6F995A36C84E}" type="slidenum">
              <a:rPr lang="en-US" altLang="en-US"/>
              <a:pPr/>
              <a:t>11</a:t>
            </a:fld>
            <a:endParaRPr lang="en-US" altLang="en-US"/>
          </a:p>
        </p:txBody>
      </p:sp>
    </p:spTree>
    <p:extLst>
      <p:ext uri="{BB962C8B-B14F-4D97-AF65-F5344CB8AC3E}">
        <p14:creationId xmlns:p14="http://schemas.microsoft.com/office/powerpoint/2010/main" val="34988538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553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0AE563F-D216-492D-AB09-C6EB6711B46A}" type="slidenum">
              <a:rPr lang="en-US" altLang="en-US"/>
              <a:pPr/>
              <a:t>12</a:t>
            </a:fld>
            <a:endParaRPr lang="en-US" altLang="en-US"/>
          </a:p>
        </p:txBody>
      </p:sp>
    </p:spTree>
    <p:extLst>
      <p:ext uri="{BB962C8B-B14F-4D97-AF65-F5344CB8AC3E}">
        <p14:creationId xmlns:p14="http://schemas.microsoft.com/office/powerpoint/2010/main" val="26046346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583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CFD875E-5E02-427B-8200-B1B3EB01D430}" type="slidenum">
              <a:rPr lang="en-US" altLang="en-US"/>
              <a:pPr/>
              <a:t>21</a:t>
            </a:fld>
            <a:endParaRPr lang="en-US" altLang="en-US"/>
          </a:p>
        </p:txBody>
      </p:sp>
    </p:spTree>
    <p:extLst>
      <p:ext uri="{BB962C8B-B14F-4D97-AF65-F5344CB8AC3E}">
        <p14:creationId xmlns:p14="http://schemas.microsoft.com/office/powerpoint/2010/main" val="35070074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614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EB805AB-5C9B-4F5E-B594-CF8704BF85E4}" type="slidenum">
              <a:rPr lang="en-US" altLang="en-US"/>
              <a:pPr/>
              <a:t>22</a:t>
            </a:fld>
            <a:endParaRPr lang="en-US" altLang="en-US"/>
          </a:p>
        </p:txBody>
      </p:sp>
    </p:spTree>
    <p:extLst>
      <p:ext uri="{BB962C8B-B14F-4D97-AF65-F5344CB8AC3E}">
        <p14:creationId xmlns:p14="http://schemas.microsoft.com/office/powerpoint/2010/main" val="1489472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624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C9F5E3E-0493-488F-BE62-1A8B89F13F31}" type="slidenum">
              <a:rPr lang="en-US" altLang="en-US"/>
              <a:pPr/>
              <a:t>23</a:t>
            </a:fld>
            <a:endParaRPr lang="en-US" altLang="en-US"/>
          </a:p>
        </p:txBody>
      </p:sp>
    </p:spTree>
    <p:extLst>
      <p:ext uri="{BB962C8B-B14F-4D97-AF65-F5344CB8AC3E}">
        <p14:creationId xmlns:p14="http://schemas.microsoft.com/office/powerpoint/2010/main" val="22050001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634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349A78A-969F-491A-9F45-17C309D73D52}" type="slidenum">
              <a:rPr lang="en-US" altLang="en-US"/>
              <a:pPr/>
              <a:t>24</a:t>
            </a:fld>
            <a:endParaRPr lang="en-US" altLang="en-US"/>
          </a:p>
        </p:txBody>
      </p:sp>
    </p:spTree>
    <p:extLst>
      <p:ext uri="{BB962C8B-B14F-4D97-AF65-F5344CB8AC3E}">
        <p14:creationId xmlns:p14="http://schemas.microsoft.com/office/powerpoint/2010/main" val="33180428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645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6B1BD39-B930-4F52-965A-8C364C474748}" type="slidenum">
              <a:rPr lang="en-US" altLang="en-US"/>
              <a:pPr/>
              <a:t>25</a:t>
            </a:fld>
            <a:endParaRPr lang="en-US" altLang="en-US"/>
          </a:p>
        </p:txBody>
      </p:sp>
    </p:spTree>
    <p:extLst>
      <p:ext uri="{BB962C8B-B14F-4D97-AF65-F5344CB8AC3E}">
        <p14:creationId xmlns:p14="http://schemas.microsoft.com/office/powerpoint/2010/main" val="4406138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a:ln/>
        </p:spPr>
      </p:sp>
      <p:sp>
        <p:nvSpPr>
          <p:cNvPr id="665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665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52A1C73-DD91-4F88-917F-4947B863F998}" type="slidenum">
              <a:rPr lang="en-US" altLang="en-US"/>
              <a:pPr/>
              <a:t>27</a:t>
            </a:fld>
            <a:endParaRPr lang="en-US" altLang="en-US"/>
          </a:p>
        </p:txBody>
      </p:sp>
    </p:spTree>
    <p:extLst>
      <p:ext uri="{BB962C8B-B14F-4D97-AF65-F5344CB8AC3E}">
        <p14:creationId xmlns:p14="http://schemas.microsoft.com/office/powerpoint/2010/main" val="2917642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ln/>
        </p:spPr>
      </p:sp>
      <p:sp>
        <p:nvSpPr>
          <p:cNvPr id="675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675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29FE924-C7C4-4093-A46A-A885CBC48C5F}" type="slidenum">
              <a:rPr lang="en-US" altLang="en-US"/>
              <a:pPr/>
              <a:t>28</a:t>
            </a:fld>
            <a:endParaRPr lang="en-US" altLang="en-US"/>
          </a:p>
        </p:txBody>
      </p:sp>
    </p:spTree>
    <p:extLst>
      <p:ext uri="{BB962C8B-B14F-4D97-AF65-F5344CB8AC3E}">
        <p14:creationId xmlns:p14="http://schemas.microsoft.com/office/powerpoint/2010/main" val="11624082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a:ln/>
        </p:spPr>
      </p:sp>
      <p:sp>
        <p:nvSpPr>
          <p:cNvPr id="686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686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E43D015-5820-4587-8597-1A170079AEAB}" type="slidenum">
              <a:rPr lang="en-US" altLang="en-US"/>
              <a:pPr/>
              <a:t>29</a:t>
            </a:fld>
            <a:endParaRPr lang="en-US" altLang="en-US"/>
          </a:p>
        </p:txBody>
      </p:sp>
    </p:spTree>
    <p:extLst>
      <p:ext uri="{BB962C8B-B14F-4D97-AF65-F5344CB8AC3E}">
        <p14:creationId xmlns:p14="http://schemas.microsoft.com/office/powerpoint/2010/main" val="5733284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ln/>
        </p:spPr>
      </p:sp>
      <p:sp>
        <p:nvSpPr>
          <p:cNvPr id="706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706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585FEBA-D65B-48C6-B995-CE432C948A7F}" type="slidenum">
              <a:rPr lang="en-US" altLang="en-US"/>
              <a:pPr/>
              <a:t>31</a:t>
            </a:fld>
            <a:endParaRPr lang="en-US" altLang="en-US"/>
          </a:p>
        </p:txBody>
      </p:sp>
    </p:spTree>
    <p:extLst>
      <p:ext uri="{BB962C8B-B14F-4D97-AF65-F5344CB8AC3E}">
        <p14:creationId xmlns:p14="http://schemas.microsoft.com/office/powerpoint/2010/main" val="20217530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ln/>
        </p:spPr>
      </p:sp>
      <p:sp>
        <p:nvSpPr>
          <p:cNvPr id="716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716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432BEE5-2011-48D4-98AC-5849804F3156}" type="slidenum">
              <a:rPr lang="en-US" altLang="en-US"/>
              <a:pPr/>
              <a:t>32</a:t>
            </a:fld>
            <a:endParaRPr lang="en-US" altLang="en-US"/>
          </a:p>
        </p:txBody>
      </p:sp>
    </p:spTree>
    <p:extLst>
      <p:ext uri="{BB962C8B-B14F-4D97-AF65-F5344CB8AC3E}">
        <p14:creationId xmlns:p14="http://schemas.microsoft.com/office/powerpoint/2010/main" val="30162383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727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39079E0-9EC3-45FB-B331-7647137BD4B8}" type="slidenum">
              <a:rPr lang="en-US" altLang="en-US"/>
              <a:pPr/>
              <a:t>33</a:t>
            </a:fld>
            <a:endParaRPr lang="en-US" altLang="en-US"/>
          </a:p>
        </p:txBody>
      </p:sp>
    </p:spTree>
    <p:extLst>
      <p:ext uri="{BB962C8B-B14F-4D97-AF65-F5344CB8AC3E}">
        <p14:creationId xmlns:p14="http://schemas.microsoft.com/office/powerpoint/2010/main" val="1867244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a:ln/>
        </p:spPr>
      </p:sp>
      <p:sp>
        <p:nvSpPr>
          <p:cNvPr id="757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757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FB5DAAF-65B6-491E-AFEF-DC6AF737888E}" type="slidenum">
              <a:rPr lang="en-US" altLang="en-US"/>
              <a:pPr/>
              <a:t>36</a:t>
            </a:fld>
            <a:endParaRPr lang="en-US" altLang="en-US"/>
          </a:p>
        </p:txBody>
      </p:sp>
    </p:spTree>
    <p:extLst>
      <p:ext uri="{BB962C8B-B14F-4D97-AF65-F5344CB8AC3E}">
        <p14:creationId xmlns:p14="http://schemas.microsoft.com/office/powerpoint/2010/main" val="39675261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a:ln/>
        </p:spPr>
      </p:sp>
      <p:sp>
        <p:nvSpPr>
          <p:cNvPr id="788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788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DCB855F-3457-4252-B79C-F146898E0FFC}" type="slidenum">
              <a:rPr lang="en-US" altLang="en-US"/>
              <a:pPr/>
              <a:t>39</a:t>
            </a:fld>
            <a:endParaRPr lang="en-US" altLang="en-US"/>
          </a:p>
        </p:txBody>
      </p:sp>
    </p:spTree>
    <p:extLst>
      <p:ext uri="{BB962C8B-B14F-4D97-AF65-F5344CB8AC3E}">
        <p14:creationId xmlns:p14="http://schemas.microsoft.com/office/powerpoint/2010/main" val="15898561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a:ln/>
        </p:spPr>
      </p:sp>
      <p:sp>
        <p:nvSpPr>
          <p:cNvPr id="798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798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7B44BC7-392E-4ED7-AF03-E674F95BC318}" type="slidenum">
              <a:rPr lang="en-US" altLang="en-US"/>
              <a:pPr/>
              <a:t>40</a:t>
            </a:fld>
            <a:endParaRPr lang="en-US" altLang="en-US"/>
          </a:p>
        </p:txBody>
      </p:sp>
    </p:spTree>
    <p:extLst>
      <p:ext uri="{BB962C8B-B14F-4D97-AF65-F5344CB8AC3E}">
        <p14:creationId xmlns:p14="http://schemas.microsoft.com/office/powerpoint/2010/main" val="4597335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a:ln/>
        </p:spPr>
      </p:sp>
      <p:sp>
        <p:nvSpPr>
          <p:cNvPr id="808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809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FD4AF55-F603-4865-AF96-504F9E011D16}" type="slidenum">
              <a:rPr lang="en-US" altLang="en-US"/>
              <a:pPr/>
              <a:t>41</a:t>
            </a:fld>
            <a:endParaRPr lang="en-US" altLang="en-US"/>
          </a:p>
        </p:txBody>
      </p:sp>
    </p:spTree>
    <p:extLst>
      <p:ext uri="{BB962C8B-B14F-4D97-AF65-F5344CB8AC3E}">
        <p14:creationId xmlns:p14="http://schemas.microsoft.com/office/powerpoint/2010/main" val="2899053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a:ln/>
        </p:spPr>
      </p:sp>
      <p:sp>
        <p:nvSpPr>
          <p:cNvPr id="829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829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BD9B705-12F9-4177-BA24-C8153629655A}" type="slidenum">
              <a:rPr lang="en-US" altLang="en-US"/>
              <a:pPr/>
              <a:t>42</a:t>
            </a:fld>
            <a:endParaRPr lang="en-US" altLang="en-US"/>
          </a:p>
        </p:txBody>
      </p:sp>
    </p:spTree>
    <p:extLst>
      <p:ext uri="{BB962C8B-B14F-4D97-AF65-F5344CB8AC3E}">
        <p14:creationId xmlns:p14="http://schemas.microsoft.com/office/powerpoint/2010/main" val="14755305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a:ln/>
        </p:spPr>
      </p:sp>
      <p:sp>
        <p:nvSpPr>
          <p:cNvPr id="839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839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A43F1DB-D650-45DC-898F-1512C05442FD}" type="slidenum">
              <a:rPr lang="en-US" altLang="en-US"/>
              <a:pPr/>
              <a:t>43</a:t>
            </a:fld>
            <a:endParaRPr lang="en-US" altLang="en-US"/>
          </a:p>
        </p:txBody>
      </p:sp>
    </p:spTree>
    <p:extLst>
      <p:ext uri="{BB962C8B-B14F-4D97-AF65-F5344CB8AC3E}">
        <p14:creationId xmlns:p14="http://schemas.microsoft.com/office/powerpoint/2010/main" val="20003120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descr="master.png"/>
          <p:cNvPicPr>
            <a:picLocks noChangeAspect="1"/>
          </p:cNvPicPr>
          <p:nvPr userDrawn="1"/>
        </p:nvPicPr>
        <p:blipFill>
          <a:blip r:embed="rId2" cstate="print"/>
          <a:stretch>
            <a:fillRect/>
          </a:stretch>
        </p:blipFill>
        <p:spPr>
          <a:xfrm>
            <a:off x="571" y="428"/>
            <a:ext cx="9142858" cy="6857143"/>
          </a:xfrm>
          <a:prstGeom prst="rect">
            <a:avLst/>
          </a:prstGeom>
        </p:spPr>
      </p:pic>
      <p:sp>
        <p:nvSpPr>
          <p:cNvPr id="3" name="Subtitle 2"/>
          <p:cNvSpPr>
            <a:spLocks noGrp="1"/>
          </p:cNvSpPr>
          <p:nvPr>
            <p:ph type="subTitle" idx="1" hasCustomPrompt="1"/>
          </p:nvPr>
        </p:nvSpPr>
        <p:spPr>
          <a:xfrm>
            <a:off x="1066800" y="1676400"/>
            <a:ext cx="7315200" cy="4876800"/>
          </a:xfrm>
        </p:spPr>
        <p:txBody>
          <a:bodyPr/>
          <a:lstStyle>
            <a:lvl1pPr marL="0" indent="0" algn="ctr">
              <a:buNone/>
              <a:defRPr baseline="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insert contents</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smtClean="0"/>
              <a:t>Click to edit title</a:t>
            </a:r>
            <a:endParaRPr lang="en-US" dirty="0"/>
          </a:p>
        </p:txBody>
      </p:sp>
      <p:sp>
        <p:nvSpPr>
          <p:cNvPr id="3" name="Content Placeholder 2"/>
          <p:cNvSpPr>
            <a:spLocks noGrp="1"/>
          </p:cNvSpPr>
          <p:nvPr>
            <p:ph idx="1" hasCustomPrompt="1"/>
          </p:nvPr>
        </p:nvSpPr>
        <p:spPr>
          <a:xfrm>
            <a:off x="533400" y="1524000"/>
            <a:ext cx="8153400" cy="4876800"/>
          </a:xfrm>
        </p:spPr>
        <p:txBody>
          <a:bodyPr/>
          <a:lstStyle>
            <a:lvl1pPr>
              <a:defRPr/>
            </a:lvl1pPr>
          </a:lstStyle>
          <a:p>
            <a:pPr lvl="0"/>
            <a:r>
              <a:rPr lang="en-US" dirty="0" smtClean="0"/>
              <a:t>Click to edit content</a:t>
            </a:r>
          </a:p>
        </p:txBody>
      </p:sp>
      <p:pic>
        <p:nvPicPr>
          <p:cNvPr id="7" name="Picture 6" descr="slide.png"/>
          <p:cNvPicPr>
            <a:picLocks noChangeAspect="1"/>
          </p:cNvPicPr>
          <p:nvPr userDrawn="1"/>
        </p:nvPicPr>
        <p:blipFill>
          <a:blip r:embed="rId2" cstate="print"/>
          <a:stretch>
            <a:fillRect/>
          </a:stretch>
        </p:blipFill>
        <p:spPr>
          <a:xfrm>
            <a:off x="571" y="428"/>
            <a:ext cx="9142858" cy="6857143"/>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smtClean="0"/>
              <a:t>Click to edit title</a:t>
            </a:r>
            <a:endParaRPr lang="en-US" dirty="0"/>
          </a:p>
        </p:txBody>
      </p:sp>
      <p:sp>
        <p:nvSpPr>
          <p:cNvPr id="3" name="Content Placeholder 2"/>
          <p:cNvSpPr>
            <a:spLocks noGrp="1"/>
          </p:cNvSpPr>
          <p:nvPr>
            <p:ph idx="1" hasCustomPrompt="1"/>
          </p:nvPr>
        </p:nvSpPr>
        <p:spPr>
          <a:xfrm>
            <a:off x="533400" y="1524000"/>
            <a:ext cx="8153400" cy="4876800"/>
          </a:xfrm>
        </p:spPr>
        <p:txBody>
          <a:bodyPr/>
          <a:lstStyle>
            <a:lvl1pPr>
              <a:defRPr/>
            </a:lvl1pPr>
          </a:lstStyle>
          <a:p>
            <a:pPr lvl="0"/>
            <a:r>
              <a:rPr lang="en-US" dirty="0" smtClean="0"/>
              <a:t>Click to edit content</a:t>
            </a:r>
          </a:p>
        </p:txBody>
      </p:sp>
      <p:pic>
        <p:nvPicPr>
          <p:cNvPr id="7" name="Picture 6" descr="slide.png"/>
          <p:cNvPicPr>
            <a:picLocks noChangeAspect="1"/>
          </p:cNvPicPr>
          <p:nvPr userDrawn="1"/>
        </p:nvPicPr>
        <p:blipFill>
          <a:blip r:embed="rId2" cstate="print"/>
          <a:stretch>
            <a:fillRect/>
          </a:stretch>
        </p:blipFill>
        <p:spPr>
          <a:xfrm>
            <a:off x="571" y="428"/>
            <a:ext cx="9142858" cy="6857143"/>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Chapter 1</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09A2F7-422A-4661-970A-2E1D828D173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 Id="rId9" Type="http://schemas.microsoft.com/office/2007/relationships/hdphoto" Target="../media/hdphoto1.wdp"/></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939458" y="457200"/>
            <a:ext cx="7086600" cy="5105400"/>
          </a:xfrm>
        </p:spPr>
        <p:txBody>
          <a:bodyPr>
            <a:noAutofit/>
          </a:bodyPr>
          <a:lstStyle/>
          <a:p>
            <a:r>
              <a:rPr lang="en-US" dirty="0" smtClean="0">
                <a:solidFill>
                  <a:srgbClr val="0000FF"/>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INF 2202</a:t>
            </a:r>
            <a:br>
              <a:rPr lang="en-US" dirty="0" smtClean="0">
                <a:solidFill>
                  <a:srgbClr val="0000FF"/>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br>
            <a:r>
              <a:rPr lang="en-US" sz="3200" dirty="0" smtClean="0">
                <a:solidFill>
                  <a:schemeClr val="tx2">
                    <a:lumMod val="60000"/>
                    <a:lumOff val="40000"/>
                  </a:schemeClr>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
            </a:r>
            <a:br>
              <a:rPr lang="en-US" sz="3200" dirty="0" smtClean="0">
                <a:solidFill>
                  <a:schemeClr val="tx2">
                    <a:lumMod val="60000"/>
                    <a:lumOff val="40000"/>
                  </a:schemeClr>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br>
            <a:r>
              <a:rPr lang="en-US" sz="3600"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IS Strategy, Management and Acquisition</a:t>
            </a:r>
            <a:r>
              <a:rPr lang="en-GB" sz="3600"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
            </a:r>
            <a:br>
              <a:rPr lang="en-GB" sz="3600"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br>
            <a:r>
              <a:rPr lang="en-US" sz="3200" dirty="0" smtClean="0">
                <a:solidFill>
                  <a:schemeClr val="tx2">
                    <a:lumMod val="60000"/>
                    <a:lumOff val="40000"/>
                  </a:schemeClr>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
            </a:r>
            <a:br>
              <a:rPr lang="en-US" sz="3200" dirty="0" smtClean="0">
                <a:solidFill>
                  <a:schemeClr val="tx2">
                    <a:lumMod val="60000"/>
                    <a:lumOff val="40000"/>
                  </a:schemeClr>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br>
            <a:r>
              <a:rPr lang="en-US" sz="3200" dirty="0" smtClean="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Lecture #5</a:t>
            </a:r>
            <a:br>
              <a:rPr lang="en-US" sz="3200" dirty="0" smtClean="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br>
            <a:r>
              <a:rPr lang="en-US" sz="3200" dirty="0" smtClean="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
            </a:r>
            <a:br>
              <a:rPr lang="en-US" sz="3200" dirty="0" smtClean="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br>
            <a:r>
              <a:rPr lang="en-US" sz="3200" dirty="0" smtClean="0">
                <a:latin typeface="Tahoma" panose="020B0604030504040204" pitchFamily="34" charset="0"/>
                <a:ea typeface="Tahoma" panose="020B0604030504040204" pitchFamily="34" charset="0"/>
                <a:cs typeface="Tahoma" panose="020B0604030504040204" pitchFamily="34" charset="0"/>
              </a:rPr>
              <a:t/>
            </a:r>
            <a:br>
              <a:rPr lang="en-US" sz="3200" dirty="0" smtClean="0">
                <a:latin typeface="Tahoma" panose="020B0604030504040204" pitchFamily="34" charset="0"/>
                <a:ea typeface="Tahoma" panose="020B0604030504040204" pitchFamily="34" charset="0"/>
                <a:cs typeface="Tahoma" panose="020B0604030504040204" pitchFamily="34" charset="0"/>
              </a:rPr>
            </a:br>
            <a:endParaRPr lang="en-US" sz="3200" dirty="0">
              <a:latin typeface="Tahoma" panose="020B0604030504040204" pitchFamily="34" charset="0"/>
              <a:ea typeface="Tahoma" panose="020B0604030504040204" pitchFamily="34" charset="0"/>
              <a:cs typeface="Tahoma" panose="020B0604030504040204" pitchFamily="34" charset="0"/>
            </a:endParaRPr>
          </a:p>
        </p:txBody>
      </p:sp>
      <p:pic>
        <p:nvPicPr>
          <p:cNvPr id="22530" name="Picture 2" descr="Creative Commons License"/>
          <p:cNvPicPr>
            <a:picLocks noChangeAspect="1" noChangeArrowheads="1"/>
          </p:cNvPicPr>
          <p:nvPr/>
        </p:nvPicPr>
        <p:blipFill>
          <a:blip r:embed="rId3" cstate="print"/>
          <a:srcRect/>
          <a:stretch>
            <a:fillRect/>
          </a:stretch>
        </p:blipFill>
        <p:spPr bwMode="auto">
          <a:xfrm>
            <a:off x="8026058" y="6420977"/>
            <a:ext cx="1081548" cy="381000"/>
          </a:xfrm>
          <a:prstGeom prst="rect">
            <a:avLst/>
          </a:prstGeom>
          <a:noFill/>
        </p:spPr>
      </p:pic>
      <p:sp>
        <p:nvSpPr>
          <p:cNvPr id="12" name="Text Box 4"/>
          <p:cNvSpPr txBox="1">
            <a:spLocks noChangeArrowheads="1"/>
          </p:cNvSpPr>
          <p:nvPr/>
        </p:nvSpPr>
        <p:spPr bwMode="auto">
          <a:xfrm>
            <a:off x="1587158" y="4343400"/>
            <a:ext cx="5791200" cy="1323439"/>
          </a:xfrm>
          <a:prstGeom prst="rect">
            <a:avLst/>
          </a:prstGeom>
          <a:noFill/>
          <a:ln w="9525">
            <a:noFill/>
            <a:miter lim="800000"/>
            <a:headEnd/>
            <a:tailEnd/>
          </a:ln>
          <a:effectLst>
            <a:outerShdw dist="35921" dir="2700000" algn="ctr" rotWithShape="0">
              <a:schemeClr val="bg2"/>
            </a:outerShdw>
          </a:effectLst>
        </p:spPr>
        <p:txBody>
          <a:bodyPr>
            <a:spAutoFit/>
          </a:bodyPr>
          <a:lstStyle/>
          <a:p>
            <a:pPr algn="ctr" fontAlgn="auto">
              <a:spcBef>
                <a:spcPct val="50000"/>
              </a:spcBef>
              <a:spcAft>
                <a:spcPts val="0"/>
              </a:spcAft>
              <a:defRPr/>
            </a:pPr>
            <a:r>
              <a:rPr lang="en-US" sz="4000" dirty="0" smtClean="0">
                <a:solidFill>
                  <a:srgbClr val="03BD15"/>
                </a:solidFill>
                <a:effectLst>
                  <a:outerShdw blurRad="38100" dist="38100" dir="2700000" algn="tl">
                    <a:srgbClr val="C0C0C0"/>
                  </a:outerShdw>
                </a:effectLst>
                <a:latin typeface="Tahoma" panose="020B0604030504040204" pitchFamily="34" charset="0"/>
                <a:ea typeface="Tahoma" panose="020B0604030504040204" pitchFamily="34" charset="0"/>
                <a:cs typeface="Tahoma" panose="020B0604030504040204" pitchFamily="34" charset="0"/>
              </a:rPr>
              <a:t>Information Systems Strategies</a:t>
            </a:r>
            <a:endParaRPr lang="en-US" sz="4000" dirty="0">
              <a:solidFill>
                <a:srgbClr val="03BD15"/>
              </a:solidFill>
              <a:effectLst>
                <a:outerShdw blurRad="38100" dist="38100" dir="2700000" algn="tl">
                  <a:srgbClr val="C0C0C0"/>
                </a:outerShdw>
              </a:effectLst>
              <a:latin typeface="Tahoma" panose="020B0604030504040204" pitchFamily="34" charset="0"/>
              <a:ea typeface="Tahoma" panose="020B0604030504040204" pitchFamily="34" charset="0"/>
              <a:cs typeface="Tahoma" panose="020B0604030504040204" pitchFamily="34" charset="0"/>
            </a:endParaRPr>
          </a:p>
        </p:txBody>
      </p:sp>
      <p:cxnSp>
        <p:nvCxnSpPr>
          <p:cNvPr id="13" name="Straight Connector 12"/>
          <p:cNvCxnSpPr/>
          <p:nvPr/>
        </p:nvCxnSpPr>
        <p:spPr>
          <a:xfrm>
            <a:off x="2438400" y="3200400"/>
            <a:ext cx="3657600" cy="0"/>
          </a:xfrm>
          <a:prstGeom prst="line">
            <a:avLst/>
          </a:prstGeom>
        </p:spPr>
        <p:style>
          <a:lnRef idx="3">
            <a:schemeClr val="dk1"/>
          </a:lnRef>
          <a:fillRef idx="0">
            <a:schemeClr val="dk1"/>
          </a:fillRef>
          <a:effectRef idx="2">
            <a:schemeClr val="dk1"/>
          </a:effectRef>
          <a:fontRef idx="minor">
            <a:schemeClr val="tx1"/>
          </a:fontRef>
        </p:style>
      </p:cxn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a:xfrm>
            <a:off x="457200" y="228600"/>
            <a:ext cx="8229600" cy="944562"/>
          </a:xfrm>
        </p:spPr>
        <p:txBody>
          <a:bodyPr>
            <a:normAutofit/>
          </a:bodyPr>
          <a:lstStyle/>
          <a:p>
            <a:pPr eaLnBrk="1" hangingPunct="1"/>
            <a:r>
              <a:rPr lang="en-US" altLang="en-US" sz="40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Learning Objectives</a:t>
            </a:r>
          </a:p>
        </p:txBody>
      </p:sp>
      <p:graphicFrame>
        <p:nvGraphicFramePr>
          <p:cNvPr id="2" name="Diagram 1"/>
          <p:cNvGraphicFramePr/>
          <p:nvPr>
            <p:extLst>
              <p:ext uri="{D42A27DB-BD31-4B8C-83A1-F6EECF244321}">
                <p14:modId xmlns:p14="http://schemas.microsoft.com/office/powerpoint/2010/main" val="3021000234"/>
              </p:ext>
            </p:extLst>
          </p:nvPr>
        </p:nvGraphicFramePr>
        <p:xfrm>
          <a:off x="938212" y="1447800"/>
          <a:ext cx="7267576" cy="5181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090953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457200" y="274638"/>
            <a:ext cx="8229600" cy="868362"/>
          </a:xfrm>
        </p:spPr>
        <p:txBody>
          <a:bodyPr>
            <a:normAutofit/>
          </a:bodyPr>
          <a:lstStyle/>
          <a:p>
            <a:pPr eaLnBrk="1" hangingPunct="1"/>
            <a:r>
              <a:rPr lang="en-US" altLang="en-US" sz="40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Real World Example</a:t>
            </a:r>
          </a:p>
        </p:txBody>
      </p:sp>
      <p:sp>
        <p:nvSpPr>
          <p:cNvPr id="4100" name="Rectangle 3"/>
          <p:cNvSpPr>
            <a:spLocks noGrp="1" noChangeArrowheads="1"/>
          </p:cNvSpPr>
          <p:nvPr>
            <p:ph type="body" idx="1"/>
          </p:nvPr>
        </p:nvSpPr>
        <p:spPr>
          <a:xfrm>
            <a:off x="609600" y="1447800"/>
            <a:ext cx="7924800" cy="4489450"/>
          </a:xfrm>
        </p:spPr>
        <p:txBody>
          <a:bodyPr>
            <a:normAutofit/>
          </a:bodyPr>
          <a:lstStyle/>
          <a:p>
            <a:pPr algn="just" eaLnBrk="1" hangingPunct="1"/>
            <a:r>
              <a:rPr lang="en-US" altLang="en-US" sz="2400" dirty="0" smtClean="0">
                <a:latin typeface="Tahoma" panose="020B0604030504040204" pitchFamily="34" charset="0"/>
                <a:ea typeface="Tahoma" panose="020B0604030504040204" pitchFamily="34" charset="0"/>
                <a:cs typeface="Tahoma" panose="020B0604030504040204" pitchFamily="34" charset="0"/>
              </a:rPr>
              <a:t>During an ice storm in 2007 many airlines were cancelling flights.</a:t>
            </a:r>
          </a:p>
          <a:p>
            <a:pPr algn="just" eaLnBrk="1" hangingPunct="1"/>
            <a:r>
              <a:rPr lang="en-US" altLang="en-US" sz="2400" dirty="0" smtClean="0">
                <a:latin typeface="Tahoma" panose="020B0604030504040204" pitchFamily="34" charset="0"/>
                <a:ea typeface="Tahoma" panose="020B0604030504040204" pitchFamily="34" charset="0"/>
                <a:cs typeface="Tahoma" panose="020B0604030504040204" pitchFamily="34" charset="0"/>
              </a:rPr>
              <a:t>Jet Blue waited to cancel flights and paid a heavy price.</a:t>
            </a:r>
          </a:p>
          <a:p>
            <a:pPr algn="just" eaLnBrk="1" hangingPunct="1"/>
            <a:r>
              <a:rPr lang="en-US" altLang="en-US" sz="2400" dirty="0" smtClean="0">
                <a:latin typeface="Tahoma" panose="020B0604030504040204" pitchFamily="34" charset="0"/>
                <a:ea typeface="Tahoma" panose="020B0604030504040204" pitchFamily="34" charset="0"/>
                <a:cs typeface="Tahoma" panose="020B0604030504040204" pitchFamily="34" charset="0"/>
              </a:rPr>
              <a:t>Had to cancel 1,000 flights over 5 days.</a:t>
            </a:r>
          </a:p>
          <a:p>
            <a:pPr algn="just" eaLnBrk="1" hangingPunct="1"/>
            <a:r>
              <a:rPr lang="en-US" altLang="en-US" sz="2400" dirty="0" smtClean="0">
                <a:latin typeface="Tahoma" panose="020B0604030504040204" pitchFamily="34" charset="0"/>
                <a:ea typeface="Tahoma" panose="020B0604030504040204" pitchFamily="34" charset="0"/>
                <a:cs typeface="Tahoma" panose="020B0604030504040204" pitchFamily="34" charset="0"/>
              </a:rPr>
              <a:t>Up to 9 planes full of passengers were stranded for up to 6 hours on the tarmac.</a:t>
            </a:r>
          </a:p>
          <a:p>
            <a:pPr algn="just" eaLnBrk="1" hangingPunct="1"/>
            <a:r>
              <a:rPr lang="en-US" altLang="en-US" sz="2400" dirty="0" smtClean="0">
                <a:latin typeface="Tahoma" panose="020B0604030504040204" pitchFamily="34" charset="0"/>
                <a:ea typeface="Tahoma" panose="020B0604030504040204" pitchFamily="34" charset="0"/>
                <a:cs typeface="Tahoma" panose="020B0604030504040204" pitchFamily="34" charset="0"/>
              </a:rPr>
              <a:t>An inadequate reservation system and shoestring communication system was blamed for the problems by </a:t>
            </a:r>
            <a:r>
              <a:rPr lang="en-US" altLang="en-US" sz="2400" dirty="0" err="1" smtClean="0">
                <a:latin typeface="Tahoma" panose="020B0604030504040204" pitchFamily="34" charset="0"/>
                <a:ea typeface="Tahoma" panose="020B0604030504040204" pitchFamily="34" charset="0"/>
                <a:cs typeface="Tahoma" panose="020B0604030504040204" pitchFamily="34" charset="0"/>
              </a:rPr>
              <a:t>Neelman</a:t>
            </a:r>
            <a:r>
              <a:rPr lang="en-US" altLang="en-US" sz="2400" dirty="0" smtClean="0">
                <a:latin typeface="Tahoma" panose="020B0604030504040204" pitchFamily="34" charset="0"/>
                <a:ea typeface="Tahoma" panose="020B0604030504040204" pitchFamily="34" charset="0"/>
                <a:cs typeface="Tahoma" panose="020B0604030504040204" pitchFamily="34" charset="0"/>
              </a:rPr>
              <a:t>.</a:t>
            </a:r>
          </a:p>
          <a:p>
            <a:pPr algn="just" eaLnBrk="1" hangingPunct="1"/>
            <a:r>
              <a:rPr lang="en-US" altLang="en-US" sz="2400" dirty="0" smtClean="0">
                <a:latin typeface="Tahoma" panose="020B0604030504040204" pitchFamily="34" charset="0"/>
                <a:ea typeface="Tahoma" panose="020B0604030504040204" pitchFamily="34" charset="0"/>
                <a:cs typeface="Tahoma" panose="020B0604030504040204" pitchFamily="34" charset="0"/>
              </a:rPr>
              <a:t>Changes had to be made.</a:t>
            </a:r>
          </a:p>
        </p:txBody>
      </p:sp>
    </p:spTree>
    <p:extLst>
      <p:ext uri="{BB962C8B-B14F-4D97-AF65-F5344CB8AC3E}">
        <p14:creationId xmlns:p14="http://schemas.microsoft.com/office/powerpoint/2010/main" val="36395597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469900" y="384175"/>
            <a:ext cx="8143875" cy="835025"/>
          </a:xfrm>
        </p:spPr>
        <p:txBody>
          <a:bodyPr>
            <a:normAutofit/>
          </a:bodyPr>
          <a:lstStyle/>
          <a:p>
            <a:pPr eaLnBrk="1" hangingPunct="1"/>
            <a:r>
              <a:rPr lang="en-US" altLang="en-US" sz="40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The Impact of IS</a:t>
            </a:r>
          </a:p>
        </p:txBody>
      </p:sp>
      <p:sp>
        <p:nvSpPr>
          <p:cNvPr id="5124" name="Rectangle 3"/>
          <p:cNvSpPr>
            <a:spLocks noGrp="1" noChangeArrowheads="1"/>
          </p:cNvSpPr>
          <p:nvPr>
            <p:ph type="body" idx="1"/>
          </p:nvPr>
        </p:nvSpPr>
        <p:spPr>
          <a:xfrm>
            <a:off x="427037" y="1210491"/>
            <a:ext cx="8229600" cy="5105400"/>
          </a:xfrm>
        </p:spPr>
        <p:txBody>
          <a:bodyPr>
            <a:normAutofit lnSpcReduction="10000"/>
          </a:bodyPr>
          <a:lstStyle/>
          <a:p>
            <a:pPr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Companies are out of alignment when their business strategy is not supported by their IS. </a:t>
            </a:r>
          </a:p>
          <a:p>
            <a:pPr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The Information Systems Strategy Triangle is a simple framework for understanding the impact of IS on organizations and proper alignment.</a:t>
            </a:r>
          </a:p>
          <a:p>
            <a:pPr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Successful firms have an overriding business strategy.</a:t>
            </a:r>
          </a:p>
          <a:p>
            <a:pPr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This business strategy drives both Organizational and Information strategy.</a:t>
            </a:r>
          </a:p>
          <a:p>
            <a:pPr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All decisions are driven by the firm’s business objectives.</a:t>
            </a:r>
          </a:p>
        </p:txBody>
      </p:sp>
    </p:spTree>
    <p:extLst>
      <p:ext uri="{BB962C8B-B14F-4D97-AF65-F5344CB8AC3E}">
        <p14:creationId xmlns:p14="http://schemas.microsoft.com/office/powerpoint/2010/main" val="385191333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68070" y="437291"/>
            <a:ext cx="5655459" cy="707886"/>
          </a:xfrm>
          <a:prstGeom prst="rect">
            <a:avLst/>
          </a:prstGeom>
        </p:spPr>
        <p:txBody>
          <a:bodyPr wrap="none">
            <a:spAutoFit/>
          </a:bodyPr>
          <a:lstStyle/>
          <a:p>
            <a:pPr algn="ctr"/>
            <a:r>
              <a:rPr lang="en-US" altLang="en-US" sz="4000" dirty="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The </a:t>
            </a:r>
            <a:r>
              <a:rPr lang="en-US" altLang="en-US" sz="40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IS Strategy </a:t>
            </a:r>
            <a:r>
              <a:rPr lang="en-US" altLang="en-US" sz="4000" dirty="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Triangle</a:t>
            </a:r>
          </a:p>
        </p:txBody>
      </p:sp>
      <p:graphicFrame>
        <p:nvGraphicFramePr>
          <p:cNvPr id="3" name="Diagram 2"/>
          <p:cNvGraphicFramePr/>
          <p:nvPr>
            <p:extLst>
              <p:ext uri="{D42A27DB-BD31-4B8C-83A1-F6EECF244321}">
                <p14:modId xmlns:p14="http://schemas.microsoft.com/office/powerpoint/2010/main" val="923705659"/>
              </p:ext>
            </p:extLst>
          </p:nvPr>
        </p:nvGraphicFramePr>
        <p:xfrm>
          <a:off x="1308080" y="1752600"/>
          <a:ext cx="6388119" cy="3886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4691999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a:xfrm>
            <a:off x="533400" y="228600"/>
            <a:ext cx="8229600" cy="1096963"/>
          </a:xfrm>
        </p:spPr>
        <p:txBody>
          <a:bodyPr>
            <a:normAutofit/>
          </a:bodyPr>
          <a:lstStyle/>
          <a:p>
            <a:pPr eaLnBrk="1" hangingPunct="1"/>
            <a:r>
              <a:rPr lang="en-US" altLang="en-US" sz="40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IS Strategy Triangle</a:t>
            </a:r>
          </a:p>
        </p:txBody>
      </p:sp>
      <p:sp>
        <p:nvSpPr>
          <p:cNvPr id="7172" name="Rectangle 3"/>
          <p:cNvSpPr>
            <a:spLocks noGrp="1" noChangeArrowheads="1"/>
          </p:cNvSpPr>
          <p:nvPr>
            <p:ph type="body" idx="1"/>
          </p:nvPr>
        </p:nvSpPr>
        <p:spPr>
          <a:xfrm>
            <a:off x="930728" y="1447800"/>
            <a:ext cx="7434943" cy="4343400"/>
          </a:xfrm>
        </p:spPr>
        <p:txBody>
          <a:bodyPr>
            <a:normAutofit fontScale="92500" lnSpcReduction="10000"/>
          </a:bodyPr>
          <a:lstStyle/>
          <a:p>
            <a:pPr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Business Strategy drives all other strategies.</a:t>
            </a:r>
          </a:p>
          <a:p>
            <a:pPr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Organizational and Information Strategy are then dependent upon the Business Strategy.</a:t>
            </a:r>
          </a:p>
          <a:p>
            <a:pPr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Changes in any strategy requires changes in the others to maintain balance. </a:t>
            </a:r>
          </a:p>
          <a:p>
            <a:pPr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IS Strategy is affected by the other strategies a firm uses. </a:t>
            </a:r>
          </a:p>
          <a:p>
            <a:pPr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IS strategy always involves consequences.</a:t>
            </a:r>
          </a:p>
        </p:txBody>
      </p:sp>
    </p:spTree>
    <p:extLst>
      <p:ext uri="{BB962C8B-B14F-4D97-AF65-F5344CB8AC3E}">
        <p14:creationId xmlns:p14="http://schemas.microsoft.com/office/powerpoint/2010/main" val="287540322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p:cNvSpPr>
            <a:spLocks noGrp="1" noChangeArrowheads="1"/>
          </p:cNvSpPr>
          <p:nvPr>
            <p:ph idx="1"/>
          </p:nvPr>
        </p:nvSpPr>
        <p:spPr>
          <a:xfrm>
            <a:off x="1066800" y="39189"/>
            <a:ext cx="7010400" cy="4876800"/>
          </a:xfrm>
        </p:spPr>
        <p:txBody>
          <a:bodyPr>
            <a:normAutofit/>
          </a:bodyPr>
          <a:lstStyle/>
          <a:p>
            <a:pPr marL="0" indent="0" algn="ctr" eaLnBrk="1" hangingPunct="1">
              <a:buNone/>
            </a:pPr>
            <a:endParaRPr lang="en-US" altLang="en-US" sz="40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a:p>
            <a:pPr marL="0" indent="0" algn="ctr" eaLnBrk="1" hangingPunct="1">
              <a:buNone/>
            </a:pPr>
            <a:endParaRPr lang="en-US" altLang="en-US" sz="4000" dirty="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a:p>
            <a:pPr marL="0" indent="0" algn="ctr" eaLnBrk="1" hangingPunct="1">
              <a:buNone/>
            </a:pPr>
            <a:endParaRPr lang="en-US" altLang="en-US" sz="40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a:p>
            <a:pPr marL="0" indent="0" algn="ctr" eaLnBrk="1" hangingPunct="1">
              <a:buNone/>
            </a:pPr>
            <a:endParaRPr lang="en-US" altLang="en-US" sz="4000" dirty="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a:p>
            <a:pPr marL="0" indent="0" algn="ctr" eaLnBrk="1" hangingPunct="1">
              <a:buNone/>
            </a:pPr>
            <a:r>
              <a:rPr lang="en-US" altLang="en-US" sz="40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Brief Overview Of Business Strategy Frameworks</a:t>
            </a:r>
          </a:p>
        </p:txBody>
      </p:sp>
    </p:spTree>
    <p:extLst>
      <p:ext uri="{BB962C8B-B14F-4D97-AF65-F5344CB8AC3E}">
        <p14:creationId xmlns:p14="http://schemas.microsoft.com/office/powerpoint/2010/main" val="379172955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457200" y="228600"/>
            <a:ext cx="8229600" cy="1020762"/>
          </a:xfrm>
        </p:spPr>
        <p:txBody>
          <a:bodyPr>
            <a:normAutofit/>
          </a:bodyPr>
          <a:lstStyle/>
          <a:p>
            <a:pPr eaLnBrk="1" hangingPunct="1"/>
            <a:r>
              <a:rPr lang="en-US" altLang="en-US" sz="40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Think </a:t>
            </a:r>
            <a:r>
              <a:rPr lang="en-US" altLang="en-US" sz="4000" dirty="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a</a:t>
            </a:r>
            <a:r>
              <a:rPr lang="en-US" altLang="en-US" sz="40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bout it</a:t>
            </a:r>
          </a:p>
        </p:txBody>
      </p:sp>
      <p:graphicFrame>
        <p:nvGraphicFramePr>
          <p:cNvPr id="2" name="Diagram 1"/>
          <p:cNvGraphicFramePr/>
          <p:nvPr>
            <p:extLst>
              <p:ext uri="{D42A27DB-BD31-4B8C-83A1-F6EECF244321}">
                <p14:modId xmlns:p14="http://schemas.microsoft.com/office/powerpoint/2010/main" val="3562595022"/>
              </p:ext>
            </p:extLst>
          </p:nvPr>
        </p:nvGraphicFramePr>
        <p:xfrm>
          <a:off x="704850" y="1447800"/>
          <a:ext cx="7734300" cy="4800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p:cNvPicPr>
            <a:picLocks noChangeAspect="1"/>
          </p:cNvPicPr>
          <p:nvPr/>
        </p:nvPicPr>
        <p:blipFill>
          <a:blip r:embed="rId8">
            <a:extLst>
              <a:ext uri="{BEBA8EAE-BF5A-486C-A8C5-ECC9F3942E4B}">
                <a14:imgProps xmlns:a14="http://schemas.microsoft.com/office/drawing/2010/main">
                  <a14:imgLayer r:embed="rId9">
                    <a14:imgEffect>
                      <a14:backgroundRemoval t="0" b="100000" l="0" r="100000"/>
                    </a14:imgEffect>
                  </a14:imgLayer>
                </a14:imgProps>
              </a:ext>
              <a:ext uri="{28A0092B-C50C-407E-A947-70E740481C1C}">
                <a14:useLocalDpi xmlns:a14="http://schemas.microsoft.com/office/drawing/2010/main" val="0"/>
              </a:ext>
            </a:extLst>
          </a:blip>
          <a:stretch>
            <a:fillRect/>
          </a:stretch>
        </p:blipFill>
        <p:spPr>
          <a:xfrm>
            <a:off x="7905750" y="5704114"/>
            <a:ext cx="1066800" cy="1066800"/>
          </a:xfrm>
          <a:prstGeom prst="rect">
            <a:avLst/>
          </a:prstGeom>
        </p:spPr>
      </p:pic>
    </p:spTree>
    <p:extLst>
      <p:ext uri="{BB962C8B-B14F-4D97-AF65-F5344CB8AC3E}">
        <p14:creationId xmlns:p14="http://schemas.microsoft.com/office/powerpoint/2010/main" val="22508497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457200" y="304800"/>
            <a:ext cx="8229600" cy="762000"/>
          </a:xfrm>
        </p:spPr>
        <p:txBody>
          <a:bodyPr>
            <a:normAutofit/>
          </a:bodyPr>
          <a:lstStyle/>
          <a:p>
            <a:pPr eaLnBrk="1" hangingPunct="1"/>
            <a:r>
              <a:rPr lang="en-US" altLang="en-US" sz="40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Strategy</a:t>
            </a:r>
          </a:p>
        </p:txBody>
      </p:sp>
      <p:sp>
        <p:nvSpPr>
          <p:cNvPr id="10243" name="Content Placeholder 2"/>
          <p:cNvSpPr>
            <a:spLocks noGrp="1"/>
          </p:cNvSpPr>
          <p:nvPr>
            <p:ph idx="1"/>
          </p:nvPr>
        </p:nvSpPr>
        <p:spPr>
          <a:xfrm>
            <a:off x="762000" y="1295400"/>
            <a:ext cx="7848600" cy="4754563"/>
          </a:xfrm>
        </p:spPr>
        <p:txBody>
          <a:bodyPr>
            <a:normAutofit lnSpcReduction="10000"/>
          </a:bodyPr>
          <a:lstStyle/>
          <a:p>
            <a:pPr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A </a:t>
            </a:r>
            <a:r>
              <a:rPr lang="en-US" altLang="en-US" sz="24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strategy</a:t>
            </a:r>
            <a:r>
              <a:rPr lang="en-US" altLang="en-US" sz="2400" dirty="0" smtClean="0">
                <a:latin typeface="Tahoma" panose="020B0604030504040204" pitchFamily="34" charset="0"/>
                <a:ea typeface="Tahoma" panose="020B0604030504040204" pitchFamily="34" charset="0"/>
                <a:cs typeface="Tahoma" panose="020B0604030504040204" pitchFamily="34" charset="0"/>
              </a:rPr>
              <a:t> is a coordinated set of actions to fulfill objectives, purposes and goals.</a:t>
            </a:r>
          </a:p>
          <a:p>
            <a:pPr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Strategy starts with a mission.</a:t>
            </a:r>
          </a:p>
          <a:p>
            <a:pPr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Figure (next slide) shows some example mission statements.</a:t>
            </a:r>
          </a:p>
          <a:p>
            <a:pPr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A </a:t>
            </a:r>
            <a:r>
              <a:rPr lang="en-US" altLang="en-US" sz="24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business strategy</a:t>
            </a:r>
            <a:r>
              <a:rPr lang="en-US" altLang="en-US" sz="2400" dirty="0" smtClean="0">
                <a:latin typeface="Tahoma" panose="020B0604030504040204" pitchFamily="34" charset="0"/>
                <a:ea typeface="Tahoma" panose="020B0604030504040204" pitchFamily="34" charset="0"/>
                <a:cs typeface="Tahoma" panose="020B0604030504040204" pitchFamily="34" charset="0"/>
              </a:rPr>
              <a:t> is a plan articulating where a business seeks to go and how it expects to get there. </a:t>
            </a:r>
          </a:p>
          <a:p>
            <a:pPr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There are several “strategies” worth examining.</a:t>
            </a:r>
          </a:p>
        </p:txBody>
      </p:sp>
    </p:spTree>
    <p:extLst>
      <p:ext uri="{BB962C8B-B14F-4D97-AF65-F5344CB8AC3E}">
        <p14:creationId xmlns:p14="http://schemas.microsoft.com/office/powerpoint/2010/main" val="38164253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00200" y="-23949"/>
            <a:ext cx="7391400" cy="1077218"/>
          </a:xfrm>
          <a:prstGeom prst="rect">
            <a:avLst/>
          </a:prstGeom>
        </p:spPr>
        <p:txBody>
          <a:bodyPr wrap="square">
            <a:spAutoFit/>
          </a:bodyPr>
          <a:lstStyle/>
          <a:p>
            <a:pPr algn="ctr" fontAlgn="t">
              <a:defRPr/>
            </a:pPr>
            <a:r>
              <a:rPr lang="en-US" sz="3200" dirty="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Mission statements of </a:t>
            </a:r>
            <a:r>
              <a:rPr lang="en-US" sz="32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computer </a:t>
            </a:r>
            <a:r>
              <a:rPr lang="en-US" sz="3200" dirty="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companies</a:t>
            </a:r>
          </a:p>
        </p:txBody>
      </p:sp>
      <p:graphicFrame>
        <p:nvGraphicFramePr>
          <p:cNvPr id="3" name="Diagram 2"/>
          <p:cNvGraphicFramePr/>
          <p:nvPr>
            <p:extLst>
              <p:ext uri="{D42A27DB-BD31-4B8C-83A1-F6EECF244321}">
                <p14:modId xmlns:p14="http://schemas.microsoft.com/office/powerpoint/2010/main" val="91278258"/>
              </p:ext>
            </p:extLst>
          </p:nvPr>
        </p:nvGraphicFramePr>
        <p:xfrm>
          <a:off x="1485900" y="1143000"/>
          <a:ext cx="6781800" cy="5715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704086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685800" y="228600"/>
            <a:ext cx="8229600" cy="1143000"/>
          </a:xfrm>
        </p:spPr>
        <p:txBody>
          <a:bodyPr>
            <a:normAutofit/>
          </a:bodyPr>
          <a:lstStyle/>
          <a:p>
            <a:pPr eaLnBrk="1" hangingPunct="1"/>
            <a:r>
              <a:rPr lang="en-US" altLang="en-US" sz="36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Generic Strategies Framework</a:t>
            </a:r>
          </a:p>
        </p:txBody>
      </p:sp>
      <p:sp>
        <p:nvSpPr>
          <p:cNvPr id="12292" name="Rectangle 3"/>
          <p:cNvSpPr>
            <a:spLocks noGrp="1" noChangeArrowheads="1"/>
          </p:cNvSpPr>
          <p:nvPr>
            <p:ph type="body" idx="1"/>
          </p:nvPr>
        </p:nvSpPr>
        <p:spPr>
          <a:xfrm>
            <a:off x="876300" y="1371600"/>
            <a:ext cx="7848600" cy="4495800"/>
          </a:xfrm>
        </p:spPr>
        <p:txBody>
          <a:bodyPr>
            <a:normAutofit/>
          </a:bodyPr>
          <a:lstStyle/>
          <a:p>
            <a:pPr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Michael Porter describes how businesses can build a sustainable competitive advantage.</a:t>
            </a:r>
          </a:p>
          <a:p>
            <a:pPr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He identified three(3) primary strategies for achieving competitive advantage:</a:t>
            </a:r>
          </a:p>
          <a:p>
            <a:pPr lvl="1" algn="just" eaLnBrk="1" hangingPunct="1">
              <a:lnSpc>
                <a:spcPct val="150000"/>
              </a:lnSpc>
              <a:buFont typeface="Wingdings" panose="05000000000000000000" pitchFamily="2" charset="2"/>
              <a:buChar char="Ä"/>
            </a:pPr>
            <a:r>
              <a:rPr lang="en-US" altLang="en-US" sz="2400" dirty="0" smtClean="0">
                <a:latin typeface="Tahoma" panose="020B0604030504040204" pitchFamily="34" charset="0"/>
                <a:ea typeface="Tahoma" panose="020B0604030504040204" pitchFamily="34" charset="0"/>
                <a:cs typeface="Tahoma" panose="020B0604030504040204" pitchFamily="34" charset="0"/>
              </a:rPr>
              <a:t>Cost leadership – lowest-cost producer.</a:t>
            </a:r>
          </a:p>
          <a:p>
            <a:pPr lvl="1" algn="just" eaLnBrk="1" hangingPunct="1">
              <a:lnSpc>
                <a:spcPct val="150000"/>
              </a:lnSpc>
              <a:buFont typeface="Wingdings" panose="05000000000000000000" pitchFamily="2" charset="2"/>
              <a:buChar char="Ä"/>
            </a:pPr>
            <a:r>
              <a:rPr lang="en-US" altLang="en-US" sz="2400" dirty="0" smtClean="0">
                <a:latin typeface="Tahoma" panose="020B0604030504040204" pitchFamily="34" charset="0"/>
                <a:ea typeface="Tahoma" panose="020B0604030504040204" pitchFamily="34" charset="0"/>
                <a:cs typeface="Tahoma" panose="020B0604030504040204" pitchFamily="34" charset="0"/>
              </a:rPr>
              <a:t>Differentiation – product is unique.</a:t>
            </a:r>
          </a:p>
          <a:p>
            <a:pPr lvl="1" algn="just" eaLnBrk="1" hangingPunct="1">
              <a:lnSpc>
                <a:spcPct val="150000"/>
              </a:lnSpc>
              <a:buFont typeface="Wingdings" panose="05000000000000000000" pitchFamily="2" charset="2"/>
              <a:buChar char="Ä"/>
            </a:pPr>
            <a:r>
              <a:rPr lang="en-US" altLang="en-US" sz="2400" dirty="0" smtClean="0">
                <a:latin typeface="Tahoma" panose="020B0604030504040204" pitchFamily="34" charset="0"/>
                <a:ea typeface="Tahoma" panose="020B0604030504040204" pitchFamily="34" charset="0"/>
                <a:cs typeface="Tahoma" panose="020B0604030504040204" pitchFamily="34" charset="0"/>
              </a:rPr>
              <a:t>Focus – limited scope.</a:t>
            </a:r>
          </a:p>
        </p:txBody>
      </p:sp>
    </p:spTree>
    <p:extLst>
      <p:ext uri="{BB962C8B-B14F-4D97-AF65-F5344CB8AC3E}">
        <p14:creationId xmlns:p14="http://schemas.microsoft.com/office/powerpoint/2010/main" val="21954372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extLst>
              <p:ext uri="{D42A27DB-BD31-4B8C-83A1-F6EECF244321}">
                <p14:modId xmlns:p14="http://schemas.microsoft.com/office/powerpoint/2010/main" val="1501635657"/>
              </p:ext>
            </p:extLst>
          </p:nvPr>
        </p:nvGraphicFramePr>
        <p:xfrm>
          <a:off x="2438400" y="1905000"/>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p:cNvSpPr txBox="1"/>
          <p:nvPr/>
        </p:nvSpPr>
        <p:spPr>
          <a:xfrm>
            <a:off x="2286000" y="1352175"/>
            <a:ext cx="3063595" cy="707886"/>
          </a:xfrm>
          <a:prstGeom prst="rect">
            <a:avLst/>
          </a:prstGeom>
          <a:noFill/>
        </p:spPr>
        <p:txBody>
          <a:bodyPr wrap="none" rtlCol="0">
            <a:spAutoFit/>
          </a:bodyPr>
          <a:lstStyle/>
          <a:p>
            <a:pPr algn="ctr"/>
            <a:r>
              <a:rPr lang="en-GB" sz="2000" dirty="0" smtClean="0">
                <a:latin typeface="Tahoma" panose="020B0604030504040204" pitchFamily="34" charset="0"/>
                <a:ea typeface="Tahoma" panose="020B0604030504040204" pitchFamily="34" charset="0"/>
                <a:cs typeface="Tahoma" panose="020B0604030504040204" pitchFamily="34" charset="0"/>
              </a:rPr>
              <a:t>Uniqueness Perceived by </a:t>
            </a:r>
          </a:p>
          <a:p>
            <a:pPr algn="ctr"/>
            <a:r>
              <a:rPr lang="en-GB" sz="2000" dirty="0" smtClean="0">
                <a:latin typeface="Tahoma" panose="020B0604030504040204" pitchFamily="34" charset="0"/>
                <a:ea typeface="Tahoma" panose="020B0604030504040204" pitchFamily="34" charset="0"/>
                <a:cs typeface="Tahoma" panose="020B0604030504040204" pitchFamily="34" charset="0"/>
              </a:rPr>
              <a:t>Customer</a:t>
            </a:r>
            <a:endParaRPr lang="en-GB" sz="2000" dirty="0">
              <a:latin typeface="Tahoma" panose="020B0604030504040204" pitchFamily="34" charset="0"/>
              <a:ea typeface="Tahoma" panose="020B0604030504040204" pitchFamily="34" charset="0"/>
              <a:cs typeface="Tahoma" panose="020B0604030504040204" pitchFamily="34" charset="0"/>
            </a:endParaRPr>
          </a:p>
        </p:txBody>
      </p:sp>
      <p:sp>
        <p:nvSpPr>
          <p:cNvPr id="6" name="TextBox 5"/>
          <p:cNvSpPr txBox="1"/>
          <p:nvPr/>
        </p:nvSpPr>
        <p:spPr>
          <a:xfrm>
            <a:off x="5943600" y="1352175"/>
            <a:ext cx="2173415" cy="400110"/>
          </a:xfrm>
          <a:prstGeom prst="rect">
            <a:avLst/>
          </a:prstGeom>
          <a:noFill/>
        </p:spPr>
        <p:txBody>
          <a:bodyPr wrap="none" rtlCol="0">
            <a:spAutoFit/>
          </a:bodyPr>
          <a:lstStyle/>
          <a:p>
            <a:r>
              <a:rPr lang="en-GB" sz="2000" dirty="0" smtClean="0">
                <a:latin typeface="Tahoma" panose="020B0604030504040204" pitchFamily="34" charset="0"/>
                <a:ea typeface="Tahoma" panose="020B0604030504040204" pitchFamily="34" charset="0"/>
                <a:cs typeface="Tahoma" panose="020B0604030504040204" pitchFamily="34" charset="0"/>
              </a:rPr>
              <a:t>Low Cost Position</a:t>
            </a:r>
            <a:endParaRPr lang="en-GB" sz="2000" dirty="0">
              <a:latin typeface="Tahoma" panose="020B0604030504040204" pitchFamily="34" charset="0"/>
              <a:ea typeface="Tahoma" panose="020B0604030504040204" pitchFamily="34" charset="0"/>
              <a:cs typeface="Tahoma" panose="020B0604030504040204" pitchFamily="34" charset="0"/>
            </a:endParaRPr>
          </a:p>
        </p:txBody>
      </p:sp>
      <p:sp>
        <p:nvSpPr>
          <p:cNvPr id="7" name="TextBox 6"/>
          <p:cNvSpPr txBox="1"/>
          <p:nvPr/>
        </p:nvSpPr>
        <p:spPr>
          <a:xfrm>
            <a:off x="99943" y="2580743"/>
            <a:ext cx="1733488" cy="400110"/>
          </a:xfrm>
          <a:prstGeom prst="rect">
            <a:avLst/>
          </a:prstGeom>
          <a:noFill/>
        </p:spPr>
        <p:txBody>
          <a:bodyPr wrap="none" rtlCol="0">
            <a:spAutoFit/>
          </a:bodyPr>
          <a:lstStyle/>
          <a:p>
            <a:r>
              <a:rPr lang="en-GB" sz="2000" dirty="0" smtClean="0">
                <a:latin typeface="Tahoma" panose="020B0604030504040204" pitchFamily="34" charset="0"/>
                <a:ea typeface="Tahoma" panose="020B0604030504040204" pitchFamily="34" charset="0"/>
                <a:cs typeface="Tahoma" panose="020B0604030504040204" pitchFamily="34" charset="0"/>
              </a:rPr>
              <a:t>Industry wide</a:t>
            </a:r>
            <a:endParaRPr lang="en-GB" sz="2000" dirty="0">
              <a:latin typeface="Tahoma" panose="020B0604030504040204" pitchFamily="34" charset="0"/>
              <a:ea typeface="Tahoma" panose="020B0604030504040204" pitchFamily="34" charset="0"/>
              <a:cs typeface="Tahoma" panose="020B0604030504040204" pitchFamily="34" charset="0"/>
            </a:endParaRPr>
          </a:p>
        </p:txBody>
      </p:sp>
      <p:sp>
        <p:nvSpPr>
          <p:cNvPr id="8" name="TextBox 7"/>
          <p:cNvSpPr txBox="1"/>
          <p:nvPr/>
        </p:nvSpPr>
        <p:spPr>
          <a:xfrm>
            <a:off x="311885" y="4800600"/>
            <a:ext cx="2881430" cy="400110"/>
          </a:xfrm>
          <a:prstGeom prst="rect">
            <a:avLst/>
          </a:prstGeom>
          <a:noFill/>
        </p:spPr>
        <p:txBody>
          <a:bodyPr wrap="none" rtlCol="0">
            <a:spAutoFit/>
          </a:bodyPr>
          <a:lstStyle/>
          <a:p>
            <a:r>
              <a:rPr lang="en-GB" sz="2000" dirty="0" smtClean="0">
                <a:latin typeface="Tahoma" panose="020B0604030504040204" pitchFamily="34" charset="0"/>
                <a:ea typeface="Tahoma" panose="020B0604030504040204" pitchFamily="34" charset="0"/>
                <a:cs typeface="Tahoma" panose="020B0604030504040204" pitchFamily="34" charset="0"/>
              </a:rPr>
              <a:t>Particular segment Only</a:t>
            </a:r>
            <a:endParaRPr lang="en-GB" sz="2000" dirty="0">
              <a:latin typeface="Tahoma" panose="020B0604030504040204" pitchFamily="34" charset="0"/>
              <a:ea typeface="Tahoma" panose="020B0604030504040204" pitchFamily="34" charset="0"/>
              <a:cs typeface="Tahoma" panose="020B0604030504040204" pitchFamily="34" charset="0"/>
            </a:endParaRPr>
          </a:p>
        </p:txBody>
      </p:sp>
      <p:sp>
        <p:nvSpPr>
          <p:cNvPr id="9" name="Left Brace 8"/>
          <p:cNvSpPr/>
          <p:nvPr/>
        </p:nvSpPr>
        <p:spPr>
          <a:xfrm>
            <a:off x="1795295" y="2000561"/>
            <a:ext cx="457200" cy="196058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4" name="Left Brace 13"/>
          <p:cNvSpPr/>
          <p:nvPr/>
        </p:nvSpPr>
        <p:spPr>
          <a:xfrm>
            <a:off x="3150620" y="4020362"/>
            <a:ext cx="457200" cy="196058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0" name="Rectangle 9"/>
          <p:cNvSpPr/>
          <p:nvPr/>
        </p:nvSpPr>
        <p:spPr>
          <a:xfrm>
            <a:off x="1676400" y="13470"/>
            <a:ext cx="5869577" cy="1077218"/>
          </a:xfrm>
          <a:prstGeom prst="rect">
            <a:avLst/>
          </a:prstGeom>
        </p:spPr>
        <p:txBody>
          <a:bodyPr wrap="square">
            <a:spAutoFit/>
          </a:bodyPr>
          <a:lstStyle/>
          <a:p>
            <a:pPr algn="ctr"/>
            <a:r>
              <a:rPr lang="en-US" altLang="en-US" sz="3200" dirty="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Three strategies for achieving competitive advantage</a:t>
            </a:r>
          </a:p>
        </p:txBody>
      </p:sp>
    </p:spTree>
    <p:extLst>
      <p:ext uri="{BB962C8B-B14F-4D97-AF65-F5344CB8AC3E}">
        <p14:creationId xmlns:p14="http://schemas.microsoft.com/office/powerpoint/2010/main" val="198006001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3600" dirty="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Cost </a:t>
            </a:r>
            <a:r>
              <a:rPr lang="en-US" altLang="en-US" sz="36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leadership Strategy</a:t>
            </a:r>
            <a:endParaRPr lang="en-GB" sz="3600" dirty="0">
              <a:solidFill>
                <a:srgbClr val="03BD15"/>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00100" y="1219200"/>
            <a:ext cx="7543800" cy="5410200"/>
          </a:xfrm>
        </p:spPr>
        <p:txBody>
          <a:bodyPr>
            <a:noAutofit/>
          </a:bodyPr>
          <a:lstStyle/>
          <a:p>
            <a:pPr algn="just" fontAlgn="base">
              <a:lnSpc>
                <a:spcPct val="150000"/>
              </a:lnSpc>
            </a:pPr>
            <a:r>
              <a:rPr lang="en-GB" sz="2000" dirty="0">
                <a:latin typeface="Tahoma" panose="020B0604030504040204" pitchFamily="34" charset="0"/>
                <a:ea typeface="Tahoma" panose="020B0604030504040204" pitchFamily="34" charset="0"/>
                <a:cs typeface="Tahoma" panose="020B0604030504040204" pitchFamily="34" charset="0"/>
              </a:rPr>
              <a:t>Porter's generic strategies are ways of gaining competitive </a:t>
            </a:r>
            <a:r>
              <a:rPr lang="en-GB" sz="2000" dirty="0" smtClean="0">
                <a:latin typeface="Tahoma" panose="020B0604030504040204" pitchFamily="34" charset="0"/>
                <a:ea typeface="Tahoma" panose="020B0604030504040204" pitchFamily="34" charset="0"/>
                <a:cs typeface="Tahoma" panose="020B0604030504040204" pitchFamily="34" charset="0"/>
              </a:rPr>
              <a:t>advantage</a:t>
            </a:r>
          </a:p>
          <a:p>
            <a:pPr algn="just" fontAlgn="base">
              <a:lnSpc>
                <a:spcPct val="150000"/>
              </a:lnSpc>
            </a:pPr>
            <a:r>
              <a:rPr lang="en-GB" sz="2000" dirty="0" smtClean="0">
                <a:latin typeface="Tahoma" panose="020B0604030504040204" pitchFamily="34" charset="0"/>
                <a:ea typeface="Tahoma" panose="020B0604030504040204" pitchFamily="34" charset="0"/>
                <a:cs typeface="Tahoma" panose="020B0604030504040204" pitchFamily="34" charset="0"/>
              </a:rPr>
              <a:t>In </a:t>
            </a:r>
            <a:r>
              <a:rPr lang="en-GB" sz="2000" dirty="0">
                <a:latin typeface="Tahoma" panose="020B0604030504040204" pitchFamily="34" charset="0"/>
                <a:ea typeface="Tahoma" panose="020B0604030504040204" pitchFamily="34" charset="0"/>
                <a:cs typeface="Tahoma" panose="020B0604030504040204" pitchFamily="34" charset="0"/>
              </a:rPr>
              <a:t>other words, developing the "</a:t>
            </a:r>
            <a:r>
              <a:rPr lang="en-GB" sz="2000"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edge</a:t>
            </a:r>
            <a:r>
              <a:rPr lang="en-GB" sz="2000" dirty="0">
                <a:latin typeface="Tahoma" panose="020B0604030504040204" pitchFamily="34" charset="0"/>
                <a:ea typeface="Tahoma" panose="020B0604030504040204" pitchFamily="34" charset="0"/>
                <a:cs typeface="Tahoma" panose="020B0604030504040204" pitchFamily="34" charset="0"/>
              </a:rPr>
              <a:t>" that gets you the sale and takes it away from your competitors. </a:t>
            </a:r>
            <a:endParaRPr lang="en-GB" sz="2000" dirty="0" smtClean="0">
              <a:latin typeface="Tahoma" panose="020B0604030504040204" pitchFamily="34" charset="0"/>
              <a:ea typeface="Tahoma" panose="020B0604030504040204" pitchFamily="34" charset="0"/>
              <a:cs typeface="Tahoma" panose="020B0604030504040204" pitchFamily="34" charset="0"/>
            </a:endParaRPr>
          </a:p>
          <a:p>
            <a:pPr algn="just" fontAlgn="base">
              <a:lnSpc>
                <a:spcPct val="150000"/>
              </a:lnSpc>
            </a:pPr>
            <a:r>
              <a:rPr lang="en-GB" sz="2000" dirty="0" smtClean="0">
                <a:latin typeface="Tahoma" panose="020B0604030504040204" pitchFamily="34" charset="0"/>
                <a:ea typeface="Tahoma" panose="020B0604030504040204" pitchFamily="34" charset="0"/>
                <a:cs typeface="Tahoma" panose="020B0604030504040204" pitchFamily="34" charset="0"/>
              </a:rPr>
              <a:t>There </a:t>
            </a:r>
            <a:r>
              <a:rPr lang="en-GB" sz="2000" dirty="0">
                <a:latin typeface="Tahoma" panose="020B0604030504040204" pitchFamily="34" charset="0"/>
                <a:ea typeface="Tahoma" panose="020B0604030504040204" pitchFamily="34" charset="0"/>
                <a:cs typeface="Tahoma" panose="020B0604030504040204" pitchFamily="34" charset="0"/>
              </a:rPr>
              <a:t>are two main ways of achieving this within a Cost Leadership strategy:</a:t>
            </a:r>
          </a:p>
          <a:p>
            <a:pPr marL="914400" lvl="1" indent="-457200" algn="just" fontAlgn="base">
              <a:lnSpc>
                <a:spcPct val="150000"/>
              </a:lnSpc>
              <a:buFont typeface="+mj-lt"/>
              <a:buAutoNum type="arabicPeriod"/>
            </a:pPr>
            <a:r>
              <a:rPr lang="en-GB" sz="2000" dirty="0">
                <a:latin typeface="Tahoma" panose="020B0604030504040204" pitchFamily="34" charset="0"/>
                <a:ea typeface="Tahoma" panose="020B0604030504040204" pitchFamily="34" charset="0"/>
                <a:cs typeface="Tahoma" panose="020B0604030504040204" pitchFamily="34" charset="0"/>
              </a:rPr>
              <a:t>Increasing profits by reducing costs, while charging industry-average prices.</a:t>
            </a:r>
          </a:p>
          <a:p>
            <a:pPr marL="914400" lvl="1" indent="-457200" algn="just" fontAlgn="base">
              <a:lnSpc>
                <a:spcPct val="150000"/>
              </a:lnSpc>
              <a:buFont typeface="+mj-lt"/>
              <a:buAutoNum type="arabicPeriod"/>
            </a:pPr>
            <a:r>
              <a:rPr lang="en-GB" sz="2000" dirty="0">
                <a:latin typeface="Tahoma" panose="020B0604030504040204" pitchFamily="34" charset="0"/>
                <a:ea typeface="Tahoma" panose="020B0604030504040204" pitchFamily="34" charset="0"/>
                <a:cs typeface="Tahoma" panose="020B0604030504040204" pitchFamily="34" charset="0"/>
              </a:rPr>
              <a:t>Increasing market share through charging lower prices, while still making a reasonable profit on each sale because you've reduced costs.</a:t>
            </a:r>
          </a:p>
          <a:p>
            <a:pPr algn="just">
              <a:lnSpc>
                <a:spcPct val="150000"/>
              </a:lnSpc>
            </a:pPr>
            <a:endParaRPr lang="en-GB" sz="20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911768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0550" y="1219200"/>
            <a:ext cx="7962900" cy="4876800"/>
          </a:xfrm>
        </p:spPr>
        <p:txBody>
          <a:bodyPr>
            <a:normAutofit fontScale="92500"/>
          </a:bodyPr>
          <a:lstStyle/>
          <a:p>
            <a:pPr algn="just">
              <a:lnSpc>
                <a:spcPct val="150000"/>
              </a:lnSpc>
            </a:pPr>
            <a:r>
              <a:rPr lang="en-GB" sz="2400" dirty="0">
                <a:latin typeface="Tahoma" panose="020B0604030504040204" pitchFamily="34" charset="0"/>
                <a:ea typeface="Tahoma" panose="020B0604030504040204" pitchFamily="34" charset="0"/>
                <a:cs typeface="Tahoma" panose="020B0604030504040204" pitchFamily="34" charset="0"/>
              </a:rPr>
              <a:t>Remember that Cost Leadership is about minimizing the cost to the organization of delivering products and services. </a:t>
            </a:r>
            <a:endParaRPr lang="en-GB" sz="2400" dirty="0" smtClean="0">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r>
              <a:rPr lang="en-GB" sz="2400" dirty="0" smtClean="0">
                <a:latin typeface="Tahoma" panose="020B0604030504040204" pitchFamily="34" charset="0"/>
                <a:ea typeface="Tahoma" panose="020B0604030504040204" pitchFamily="34" charset="0"/>
                <a:cs typeface="Tahoma" panose="020B0604030504040204" pitchFamily="34" charset="0"/>
              </a:rPr>
              <a:t>The </a:t>
            </a:r>
            <a:r>
              <a:rPr lang="en-GB" sz="2400" dirty="0">
                <a:latin typeface="Tahoma" panose="020B0604030504040204" pitchFamily="34" charset="0"/>
                <a:ea typeface="Tahoma" panose="020B0604030504040204" pitchFamily="34" charset="0"/>
                <a:cs typeface="Tahoma" panose="020B0604030504040204" pitchFamily="34" charset="0"/>
              </a:rPr>
              <a:t>cost or price paid by the customer is a separate issue</a:t>
            </a:r>
            <a:r>
              <a:rPr lang="en-GB" sz="2400" dirty="0" smtClean="0">
                <a:latin typeface="Tahoma" panose="020B0604030504040204" pitchFamily="34" charset="0"/>
                <a:ea typeface="Tahoma" panose="020B0604030504040204" pitchFamily="34" charset="0"/>
                <a:cs typeface="Tahoma" panose="020B0604030504040204" pitchFamily="34" charset="0"/>
              </a:rPr>
              <a:t>!</a:t>
            </a:r>
          </a:p>
          <a:p>
            <a:pPr algn="just">
              <a:lnSpc>
                <a:spcPct val="150000"/>
              </a:lnSpc>
            </a:pPr>
            <a:r>
              <a:rPr lang="en-GB" sz="2400" dirty="0">
                <a:latin typeface="Tahoma" panose="020B0604030504040204" pitchFamily="34" charset="0"/>
                <a:ea typeface="Tahoma" panose="020B0604030504040204" pitchFamily="34" charset="0"/>
                <a:cs typeface="Tahoma" panose="020B0604030504040204" pitchFamily="34" charset="0"/>
              </a:rPr>
              <a:t>The Cost Leadership strategy is exactly that – it involves being the leader in terms of cost in your industry or </a:t>
            </a:r>
            <a:r>
              <a:rPr lang="en-GB" sz="2400" dirty="0" smtClean="0">
                <a:latin typeface="Tahoma" panose="020B0604030504040204" pitchFamily="34" charset="0"/>
                <a:ea typeface="Tahoma" panose="020B0604030504040204" pitchFamily="34" charset="0"/>
                <a:cs typeface="Tahoma" panose="020B0604030504040204" pitchFamily="34" charset="0"/>
              </a:rPr>
              <a:t>market.</a:t>
            </a:r>
          </a:p>
          <a:p>
            <a:pPr algn="just">
              <a:lnSpc>
                <a:spcPct val="150000"/>
              </a:lnSpc>
            </a:pPr>
            <a:r>
              <a:rPr lang="en-GB" sz="2400" dirty="0" smtClean="0">
                <a:latin typeface="Tahoma" panose="020B0604030504040204" pitchFamily="34" charset="0"/>
                <a:ea typeface="Tahoma" panose="020B0604030504040204" pitchFamily="34" charset="0"/>
                <a:cs typeface="Tahoma" panose="020B0604030504040204" pitchFamily="34" charset="0"/>
              </a:rPr>
              <a:t>Simply </a:t>
            </a:r>
            <a:r>
              <a:rPr lang="en-GB" sz="2400" dirty="0">
                <a:latin typeface="Tahoma" panose="020B0604030504040204" pitchFamily="34" charset="0"/>
                <a:ea typeface="Tahoma" panose="020B0604030504040204" pitchFamily="34" charset="0"/>
                <a:cs typeface="Tahoma" panose="020B0604030504040204" pitchFamily="34" charset="0"/>
              </a:rPr>
              <a:t>being amongst the lowest-cost producers is not good enough, as you leave yourself wide open to attack by other low-cost producers who may undercut your prices and therefore block your attempts to increase market share.</a:t>
            </a:r>
          </a:p>
        </p:txBody>
      </p:sp>
      <p:sp>
        <p:nvSpPr>
          <p:cNvPr id="4" name="Title 1"/>
          <p:cNvSpPr>
            <a:spLocks noGrp="1"/>
          </p:cNvSpPr>
          <p:nvPr>
            <p:ph type="title"/>
          </p:nvPr>
        </p:nvSpPr>
        <p:spPr>
          <a:xfrm>
            <a:off x="876300" y="427037"/>
            <a:ext cx="7391400" cy="715963"/>
          </a:xfrm>
        </p:spPr>
        <p:txBody>
          <a:bodyPr>
            <a:normAutofit/>
          </a:bodyPr>
          <a:lstStyle/>
          <a:p>
            <a:r>
              <a:rPr lang="en-US" altLang="en-US" sz="3600" dirty="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Cost </a:t>
            </a:r>
            <a:r>
              <a:rPr lang="en-US" altLang="en-US" sz="36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leadership Strategy</a:t>
            </a:r>
            <a:endParaRPr lang="en-GB" sz="3600" dirty="0">
              <a:solidFill>
                <a:srgbClr val="03BD15"/>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0158655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GB" sz="3600" dirty="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The Differentiation </a:t>
            </a:r>
            <a:r>
              <a:rPr lang="en-GB" sz="36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Strategy</a:t>
            </a:r>
            <a:endParaRPr lang="en-GB" sz="3600" dirty="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p:cNvSpPr>
            <a:spLocks noGrp="1"/>
          </p:cNvSpPr>
          <p:nvPr>
            <p:ph idx="1"/>
          </p:nvPr>
        </p:nvSpPr>
        <p:spPr>
          <a:xfrm>
            <a:off x="676275" y="1395549"/>
            <a:ext cx="7791450" cy="4648200"/>
          </a:xfrm>
        </p:spPr>
        <p:txBody>
          <a:bodyPr>
            <a:noAutofit/>
          </a:bodyPr>
          <a:lstStyle/>
          <a:p>
            <a:pPr algn="just" fontAlgn="base">
              <a:lnSpc>
                <a:spcPct val="150000"/>
              </a:lnSpc>
            </a:pPr>
            <a:r>
              <a:rPr lang="en-GB" sz="2200" dirty="0">
                <a:latin typeface="Tahoma" panose="020B0604030504040204" pitchFamily="34" charset="0"/>
                <a:ea typeface="Tahoma" panose="020B0604030504040204" pitchFamily="34" charset="0"/>
                <a:cs typeface="Tahoma" panose="020B0604030504040204" pitchFamily="34" charset="0"/>
              </a:rPr>
              <a:t>Differentiation involves making your products or services different from and more attractive than those of your competitors. </a:t>
            </a:r>
            <a:endParaRPr lang="en-GB" sz="2200" dirty="0" smtClean="0">
              <a:latin typeface="Tahoma" panose="020B0604030504040204" pitchFamily="34" charset="0"/>
              <a:ea typeface="Tahoma" panose="020B0604030504040204" pitchFamily="34" charset="0"/>
              <a:cs typeface="Tahoma" panose="020B0604030504040204" pitchFamily="34" charset="0"/>
            </a:endParaRPr>
          </a:p>
          <a:p>
            <a:pPr algn="just" fontAlgn="base">
              <a:lnSpc>
                <a:spcPct val="150000"/>
              </a:lnSpc>
            </a:pPr>
            <a:r>
              <a:rPr lang="en-GB" sz="2200" dirty="0" smtClean="0">
                <a:latin typeface="Tahoma" panose="020B0604030504040204" pitchFamily="34" charset="0"/>
                <a:ea typeface="Tahoma" panose="020B0604030504040204" pitchFamily="34" charset="0"/>
                <a:cs typeface="Tahoma" panose="020B0604030504040204" pitchFamily="34" charset="0"/>
              </a:rPr>
              <a:t>How </a:t>
            </a:r>
            <a:r>
              <a:rPr lang="en-GB" sz="2200" dirty="0">
                <a:latin typeface="Tahoma" panose="020B0604030504040204" pitchFamily="34" charset="0"/>
                <a:ea typeface="Tahoma" panose="020B0604030504040204" pitchFamily="34" charset="0"/>
                <a:cs typeface="Tahoma" panose="020B0604030504040204" pitchFamily="34" charset="0"/>
              </a:rPr>
              <a:t>you do this depends on the exact nature of your industry and of the products and services themselves, but will typically involve </a:t>
            </a:r>
            <a:r>
              <a:rPr lang="en-GB" sz="2200"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features</a:t>
            </a:r>
            <a:r>
              <a:rPr lang="en-GB" sz="2200" dirty="0">
                <a:latin typeface="Tahoma" panose="020B0604030504040204" pitchFamily="34" charset="0"/>
                <a:ea typeface="Tahoma" panose="020B0604030504040204" pitchFamily="34" charset="0"/>
                <a:cs typeface="Tahoma" panose="020B0604030504040204" pitchFamily="34" charset="0"/>
              </a:rPr>
              <a:t>, </a:t>
            </a:r>
            <a:r>
              <a:rPr lang="en-GB" sz="2200"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functionality</a:t>
            </a:r>
            <a:r>
              <a:rPr lang="en-GB" sz="2200" dirty="0">
                <a:latin typeface="Tahoma" panose="020B0604030504040204" pitchFamily="34" charset="0"/>
                <a:ea typeface="Tahoma" panose="020B0604030504040204" pitchFamily="34" charset="0"/>
                <a:cs typeface="Tahoma" panose="020B0604030504040204" pitchFamily="34" charset="0"/>
              </a:rPr>
              <a:t>, </a:t>
            </a:r>
            <a:r>
              <a:rPr lang="en-GB" sz="2200"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durability</a:t>
            </a:r>
            <a:r>
              <a:rPr lang="en-GB" sz="2200" dirty="0">
                <a:latin typeface="Tahoma" panose="020B0604030504040204" pitchFamily="34" charset="0"/>
                <a:ea typeface="Tahoma" panose="020B0604030504040204" pitchFamily="34" charset="0"/>
                <a:cs typeface="Tahoma" panose="020B0604030504040204" pitchFamily="34" charset="0"/>
              </a:rPr>
              <a:t>, </a:t>
            </a:r>
            <a:r>
              <a:rPr lang="en-GB" sz="2200"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support</a:t>
            </a:r>
            <a:r>
              <a:rPr lang="en-GB" sz="2200" dirty="0">
                <a:latin typeface="Tahoma" panose="020B0604030504040204" pitchFamily="34" charset="0"/>
                <a:ea typeface="Tahoma" panose="020B0604030504040204" pitchFamily="34" charset="0"/>
                <a:cs typeface="Tahoma" panose="020B0604030504040204" pitchFamily="34" charset="0"/>
              </a:rPr>
              <a:t>, and also </a:t>
            </a:r>
            <a:r>
              <a:rPr lang="en-GB" sz="2200"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brand image</a:t>
            </a:r>
            <a:r>
              <a:rPr lang="en-GB" sz="2200" dirty="0">
                <a:latin typeface="Tahoma" panose="020B0604030504040204" pitchFamily="34" charset="0"/>
                <a:ea typeface="Tahoma" panose="020B0604030504040204" pitchFamily="34" charset="0"/>
                <a:cs typeface="Tahoma" panose="020B0604030504040204" pitchFamily="34" charset="0"/>
              </a:rPr>
              <a:t> that your customers value.</a:t>
            </a:r>
          </a:p>
          <a:p>
            <a:pPr algn="just">
              <a:lnSpc>
                <a:spcPct val="150000"/>
              </a:lnSpc>
            </a:pPr>
            <a:endParaRPr lang="en-GB" sz="22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90483006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8175" y="1524000"/>
            <a:ext cx="7867650" cy="4191000"/>
          </a:xfrm>
        </p:spPr>
        <p:txBody>
          <a:bodyPr>
            <a:noAutofit/>
          </a:bodyPr>
          <a:lstStyle/>
          <a:p>
            <a:pPr algn="just" fontAlgn="base">
              <a:lnSpc>
                <a:spcPct val="150000"/>
              </a:lnSpc>
            </a:pPr>
            <a:r>
              <a:rPr lang="en-GB" sz="2200" dirty="0">
                <a:latin typeface="Tahoma" panose="020B0604030504040204" pitchFamily="34" charset="0"/>
                <a:ea typeface="Tahoma" panose="020B0604030504040204" pitchFamily="34" charset="0"/>
                <a:cs typeface="Tahoma" panose="020B0604030504040204" pitchFamily="34" charset="0"/>
              </a:rPr>
              <a:t>To make a success of a Differentiation strategy, organizations need:</a:t>
            </a:r>
          </a:p>
          <a:p>
            <a:pPr lvl="1" algn="just" fontAlgn="base">
              <a:lnSpc>
                <a:spcPct val="150000"/>
              </a:lnSpc>
              <a:buFont typeface="Wingdings" panose="05000000000000000000" pitchFamily="2" charset="2"/>
              <a:buChar char="Ä"/>
            </a:pPr>
            <a:r>
              <a:rPr lang="en-GB" sz="2200" dirty="0">
                <a:latin typeface="Tahoma" panose="020B0604030504040204" pitchFamily="34" charset="0"/>
                <a:ea typeface="Tahoma" panose="020B0604030504040204" pitchFamily="34" charset="0"/>
                <a:cs typeface="Tahoma" panose="020B0604030504040204" pitchFamily="34" charset="0"/>
              </a:rPr>
              <a:t>Good research, development and innovation.</a:t>
            </a:r>
          </a:p>
          <a:p>
            <a:pPr lvl="1" algn="just" fontAlgn="base">
              <a:lnSpc>
                <a:spcPct val="150000"/>
              </a:lnSpc>
              <a:buFont typeface="Wingdings" panose="05000000000000000000" pitchFamily="2" charset="2"/>
              <a:buChar char="Ä"/>
            </a:pPr>
            <a:r>
              <a:rPr lang="en-GB" sz="2200" dirty="0">
                <a:latin typeface="Tahoma" panose="020B0604030504040204" pitchFamily="34" charset="0"/>
                <a:ea typeface="Tahoma" panose="020B0604030504040204" pitchFamily="34" charset="0"/>
                <a:cs typeface="Tahoma" panose="020B0604030504040204" pitchFamily="34" charset="0"/>
              </a:rPr>
              <a:t>The ability to deliver high-quality products or services.</a:t>
            </a:r>
          </a:p>
          <a:p>
            <a:pPr lvl="1" algn="just" fontAlgn="base">
              <a:lnSpc>
                <a:spcPct val="150000"/>
              </a:lnSpc>
              <a:buFont typeface="Wingdings" panose="05000000000000000000" pitchFamily="2" charset="2"/>
              <a:buChar char="Ä"/>
            </a:pPr>
            <a:r>
              <a:rPr lang="en-GB" sz="2200" dirty="0">
                <a:latin typeface="Tahoma" panose="020B0604030504040204" pitchFamily="34" charset="0"/>
                <a:ea typeface="Tahoma" panose="020B0604030504040204" pitchFamily="34" charset="0"/>
                <a:cs typeface="Tahoma" panose="020B0604030504040204" pitchFamily="34" charset="0"/>
              </a:rPr>
              <a:t>Effective sales and marketing, so that the market </a:t>
            </a:r>
            <a:r>
              <a:rPr lang="en-GB" sz="2200" dirty="0" smtClean="0">
                <a:latin typeface="Tahoma" panose="020B0604030504040204" pitchFamily="34" charset="0"/>
                <a:ea typeface="Tahoma" panose="020B0604030504040204" pitchFamily="34" charset="0"/>
                <a:cs typeface="Tahoma" panose="020B0604030504040204" pitchFamily="34" charset="0"/>
              </a:rPr>
              <a:t>understands the </a:t>
            </a:r>
            <a:r>
              <a:rPr lang="en-GB" sz="2200" dirty="0">
                <a:latin typeface="Tahoma" panose="020B0604030504040204" pitchFamily="34" charset="0"/>
                <a:ea typeface="Tahoma" panose="020B0604030504040204" pitchFamily="34" charset="0"/>
                <a:cs typeface="Tahoma" panose="020B0604030504040204" pitchFamily="34" charset="0"/>
              </a:rPr>
              <a:t>benefits offered by the differentiated offerings.</a:t>
            </a:r>
          </a:p>
          <a:p>
            <a:pPr>
              <a:lnSpc>
                <a:spcPct val="150000"/>
              </a:lnSpc>
            </a:pPr>
            <a:endParaRPr lang="en-GB" sz="2200" dirty="0"/>
          </a:p>
        </p:txBody>
      </p:sp>
      <p:sp>
        <p:nvSpPr>
          <p:cNvPr id="4" name="Title 1"/>
          <p:cNvSpPr>
            <a:spLocks noGrp="1"/>
          </p:cNvSpPr>
          <p:nvPr>
            <p:ph type="title"/>
          </p:nvPr>
        </p:nvSpPr>
        <p:spPr>
          <a:xfrm>
            <a:off x="457200" y="228600"/>
            <a:ext cx="8229600" cy="1143000"/>
          </a:xfrm>
        </p:spPr>
        <p:txBody>
          <a:bodyPr>
            <a:normAutofit/>
          </a:bodyPr>
          <a:lstStyle/>
          <a:p>
            <a:r>
              <a:rPr lang="en-GB" sz="3600" dirty="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The Differentiation </a:t>
            </a:r>
            <a:r>
              <a:rPr lang="en-GB" sz="36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Strategy</a:t>
            </a:r>
            <a:endParaRPr lang="en-GB" sz="3600" dirty="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00785322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7700" y="1393371"/>
            <a:ext cx="7848600" cy="4356463"/>
          </a:xfrm>
        </p:spPr>
        <p:txBody>
          <a:bodyPr>
            <a:normAutofit/>
          </a:bodyPr>
          <a:lstStyle/>
          <a:p>
            <a:pPr algn="just" fontAlgn="base">
              <a:lnSpc>
                <a:spcPct val="150000"/>
              </a:lnSpc>
            </a:pPr>
            <a:r>
              <a:rPr lang="en-GB" sz="2400" dirty="0">
                <a:latin typeface="Tahoma" panose="020B0604030504040204" pitchFamily="34" charset="0"/>
                <a:ea typeface="Tahoma" panose="020B0604030504040204" pitchFamily="34" charset="0"/>
                <a:cs typeface="Tahoma" panose="020B0604030504040204" pitchFamily="34" charset="0"/>
              </a:rPr>
              <a:t>Large organizations pursuing a differentiation strategy need to stay agile with their new product development processes. </a:t>
            </a:r>
          </a:p>
          <a:p>
            <a:pPr algn="just" fontAlgn="base">
              <a:lnSpc>
                <a:spcPct val="150000"/>
              </a:lnSpc>
            </a:pPr>
            <a:r>
              <a:rPr lang="en-GB" sz="2400" dirty="0">
                <a:latin typeface="Tahoma" panose="020B0604030504040204" pitchFamily="34" charset="0"/>
                <a:ea typeface="Tahoma" panose="020B0604030504040204" pitchFamily="34" charset="0"/>
                <a:cs typeface="Tahoma" panose="020B0604030504040204" pitchFamily="34" charset="0"/>
              </a:rPr>
              <a:t>Otherwise, they risk attack on several fronts by competitors pursuing Focus Differentiation strategies in different market segments.</a:t>
            </a:r>
          </a:p>
          <a:p>
            <a:pPr>
              <a:lnSpc>
                <a:spcPct val="150000"/>
              </a:lnSpc>
            </a:pPr>
            <a:endParaRPr lang="en-GB" sz="2400" dirty="0"/>
          </a:p>
        </p:txBody>
      </p:sp>
      <p:sp>
        <p:nvSpPr>
          <p:cNvPr id="4" name="Title 1"/>
          <p:cNvSpPr>
            <a:spLocks noGrp="1"/>
          </p:cNvSpPr>
          <p:nvPr>
            <p:ph type="title"/>
          </p:nvPr>
        </p:nvSpPr>
        <p:spPr>
          <a:xfrm>
            <a:off x="457200" y="228600"/>
            <a:ext cx="8229600" cy="1143000"/>
          </a:xfrm>
        </p:spPr>
        <p:txBody>
          <a:bodyPr>
            <a:normAutofit/>
          </a:bodyPr>
          <a:lstStyle/>
          <a:p>
            <a:r>
              <a:rPr lang="en-GB" sz="3600" dirty="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The Differentiation </a:t>
            </a:r>
            <a:r>
              <a:rPr lang="en-GB" sz="36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Strategy</a:t>
            </a:r>
            <a:endParaRPr lang="en-GB" sz="3600" dirty="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2302948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838200"/>
          </a:xfrm>
        </p:spPr>
        <p:txBody>
          <a:bodyPr>
            <a:normAutofit/>
          </a:bodyPr>
          <a:lstStyle/>
          <a:p>
            <a:r>
              <a:rPr lang="en-GB" sz="3600" dirty="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The Focus </a:t>
            </a:r>
            <a:r>
              <a:rPr lang="en-GB" sz="36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Strategy</a:t>
            </a:r>
            <a:endParaRPr lang="en-GB" sz="3600" dirty="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3" name="Content Placeholder 2"/>
          <p:cNvSpPr>
            <a:spLocks noGrp="1"/>
          </p:cNvSpPr>
          <p:nvPr>
            <p:ph idx="1"/>
          </p:nvPr>
        </p:nvSpPr>
        <p:spPr>
          <a:xfrm>
            <a:off x="609600" y="1371600"/>
            <a:ext cx="7924800" cy="5029200"/>
          </a:xfrm>
        </p:spPr>
        <p:txBody>
          <a:bodyPr>
            <a:normAutofit fontScale="92500" lnSpcReduction="10000"/>
          </a:bodyPr>
          <a:lstStyle/>
          <a:p>
            <a:pPr algn="just">
              <a:lnSpc>
                <a:spcPct val="150000"/>
              </a:lnSpc>
            </a:pPr>
            <a:r>
              <a:rPr lang="en-GB" sz="2400" dirty="0">
                <a:latin typeface="Tahoma" panose="020B0604030504040204" pitchFamily="34" charset="0"/>
                <a:ea typeface="Tahoma" panose="020B0604030504040204" pitchFamily="34" charset="0"/>
                <a:cs typeface="Tahoma" panose="020B0604030504040204" pitchFamily="34" charset="0"/>
              </a:rPr>
              <a:t>Companies that use Focus strategies concentrate on particular niche markets and, by understanding the dynamics of that market and the unique needs of customers within it, develop uniquely low-cost or well-specified products for the market. </a:t>
            </a:r>
            <a:endParaRPr lang="en-GB" sz="2400" dirty="0" smtClean="0">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r>
              <a:rPr lang="en-GB" sz="2400" dirty="0" smtClean="0">
                <a:latin typeface="Tahoma" panose="020B0604030504040204" pitchFamily="34" charset="0"/>
                <a:ea typeface="Tahoma" panose="020B0604030504040204" pitchFamily="34" charset="0"/>
                <a:cs typeface="Tahoma" panose="020B0604030504040204" pitchFamily="34" charset="0"/>
              </a:rPr>
              <a:t>Because </a:t>
            </a:r>
            <a:r>
              <a:rPr lang="en-GB" sz="2400" dirty="0">
                <a:latin typeface="Tahoma" panose="020B0604030504040204" pitchFamily="34" charset="0"/>
                <a:ea typeface="Tahoma" panose="020B0604030504040204" pitchFamily="34" charset="0"/>
                <a:cs typeface="Tahoma" panose="020B0604030504040204" pitchFamily="34" charset="0"/>
              </a:rPr>
              <a:t>they serve customers in their market uniquely well, they tend to build strong brand loyalty amongst their customers. </a:t>
            </a:r>
            <a:endParaRPr lang="en-GB" sz="2400" dirty="0" smtClean="0">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r>
              <a:rPr lang="en-GB" sz="2400" dirty="0" smtClean="0">
                <a:latin typeface="Tahoma" panose="020B0604030504040204" pitchFamily="34" charset="0"/>
                <a:ea typeface="Tahoma" panose="020B0604030504040204" pitchFamily="34" charset="0"/>
                <a:cs typeface="Tahoma" panose="020B0604030504040204" pitchFamily="34" charset="0"/>
              </a:rPr>
              <a:t>This </a:t>
            </a:r>
            <a:r>
              <a:rPr lang="en-GB" sz="2400" dirty="0">
                <a:latin typeface="Tahoma" panose="020B0604030504040204" pitchFamily="34" charset="0"/>
                <a:ea typeface="Tahoma" panose="020B0604030504040204" pitchFamily="34" charset="0"/>
                <a:cs typeface="Tahoma" panose="020B0604030504040204" pitchFamily="34" charset="0"/>
              </a:rPr>
              <a:t>makes their particular market segment less attractive to competitors.</a:t>
            </a:r>
          </a:p>
        </p:txBody>
      </p:sp>
    </p:spTree>
    <p:extLst>
      <p:ext uri="{BB962C8B-B14F-4D97-AF65-F5344CB8AC3E}">
        <p14:creationId xmlns:p14="http://schemas.microsoft.com/office/powerpoint/2010/main" val="19417894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295400"/>
            <a:ext cx="7886700" cy="4876800"/>
          </a:xfrm>
        </p:spPr>
        <p:txBody>
          <a:bodyPr>
            <a:noAutofit/>
          </a:bodyPr>
          <a:lstStyle/>
          <a:p>
            <a:pPr algn="just">
              <a:lnSpc>
                <a:spcPct val="150000"/>
              </a:lnSpc>
            </a:pPr>
            <a:r>
              <a:rPr lang="en-GB" sz="2200" dirty="0">
                <a:latin typeface="Tahoma" panose="020B0604030504040204" pitchFamily="34" charset="0"/>
                <a:ea typeface="Tahoma" panose="020B0604030504040204" pitchFamily="34" charset="0"/>
                <a:cs typeface="Tahoma" panose="020B0604030504040204" pitchFamily="34" charset="0"/>
              </a:rPr>
              <a:t>As with broad market strategies, it is still essential to decide whether you will pursue </a:t>
            </a:r>
            <a:r>
              <a:rPr lang="en-GB" sz="2200"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Cost Leadership </a:t>
            </a:r>
            <a:r>
              <a:rPr lang="en-GB" sz="2200" dirty="0">
                <a:latin typeface="Tahoma" panose="020B0604030504040204" pitchFamily="34" charset="0"/>
                <a:ea typeface="Tahoma" panose="020B0604030504040204" pitchFamily="34" charset="0"/>
                <a:cs typeface="Tahoma" panose="020B0604030504040204" pitchFamily="34" charset="0"/>
              </a:rPr>
              <a:t>or </a:t>
            </a:r>
            <a:r>
              <a:rPr lang="en-GB" sz="2200"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Differentiation</a:t>
            </a:r>
            <a:r>
              <a:rPr lang="en-GB" sz="2200" dirty="0">
                <a:latin typeface="Tahoma" panose="020B0604030504040204" pitchFamily="34" charset="0"/>
                <a:ea typeface="Tahoma" panose="020B0604030504040204" pitchFamily="34" charset="0"/>
                <a:cs typeface="Tahoma" panose="020B0604030504040204" pitchFamily="34" charset="0"/>
              </a:rPr>
              <a:t> once you have selected a </a:t>
            </a:r>
            <a:r>
              <a:rPr lang="en-GB" sz="2200"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Focus strategy </a:t>
            </a:r>
            <a:r>
              <a:rPr lang="en-GB" sz="2200" dirty="0">
                <a:latin typeface="Tahoma" panose="020B0604030504040204" pitchFamily="34" charset="0"/>
                <a:ea typeface="Tahoma" panose="020B0604030504040204" pitchFamily="34" charset="0"/>
                <a:cs typeface="Tahoma" panose="020B0604030504040204" pitchFamily="34" charset="0"/>
              </a:rPr>
              <a:t>as your main </a:t>
            </a:r>
            <a:r>
              <a:rPr lang="en-GB" sz="2200" dirty="0" smtClean="0">
                <a:latin typeface="Tahoma" panose="020B0604030504040204" pitchFamily="34" charset="0"/>
                <a:ea typeface="Tahoma" panose="020B0604030504040204" pitchFamily="34" charset="0"/>
                <a:cs typeface="Tahoma" panose="020B0604030504040204" pitchFamily="34" charset="0"/>
              </a:rPr>
              <a:t>approach</a:t>
            </a:r>
          </a:p>
          <a:p>
            <a:pPr algn="just">
              <a:lnSpc>
                <a:spcPct val="150000"/>
              </a:lnSpc>
            </a:pPr>
            <a:r>
              <a:rPr lang="en-GB" sz="2200" dirty="0" smtClean="0">
                <a:latin typeface="Tahoma" panose="020B0604030504040204" pitchFamily="34" charset="0"/>
                <a:ea typeface="Tahoma" panose="020B0604030504040204" pitchFamily="34" charset="0"/>
                <a:cs typeface="Tahoma" panose="020B0604030504040204" pitchFamily="34" charset="0"/>
              </a:rPr>
              <a:t>Focus </a:t>
            </a:r>
            <a:r>
              <a:rPr lang="en-GB" sz="2200" dirty="0">
                <a:latin typeface="Tahoma" panose="020B0604030504040204" pitchFamily="34" charset="0"/>
                <a:ea typeface="Tahoma" panose="020B0604030504040204" pitchFamily="34" charset="0"/>
                <a:cs typeface="Tahoma" panose="020B0604030504040204" pitchFamily="34" charset="0"/>
              </a:rPr>
              <a:t>is not normally enough on its own</a:t>
            </a:r>
            <a:r>
              <a:rPr lang="en-GB" sz="2200" dirty="0" smtClean="0">
                <a:latin typeface="Tahoma" panose="020B0604030504040204" pitchFamily="34" charset="0"/>
                <a:ea typeface="Tahoma" panose="020B0604030504040204" pitchFamily="34" charset="0"/>
                <a:cs typeface="Tahoma" panose="020B0604030504040204" pitchFamily="34" charset="0"/>
              </a:rPr>
              <a:t>.</a:t>
            </a:r>
          </a:p>
          <a:p>
            <a:pPr algn="just">
              <a:lnSpc>
                <a:spcPct val="150000"/>
              </a:lnSpc>
            </a:pPr>
            <a:r>
              <a:rPr lang="en-GB" sz="2200" dirty="0">
                <a:latin typeface="Tahoma" panose="020B0604030504040204" pitchFamily="34" charset="0"/>
                <a:ea typeface="Tahoma" panose="020B0604030504040204" pitchFamily="34" charset="0"/>
                <a:cs typeface="Tahoma" panose="020B0604030504040204" pitchFamily="34" charset="0"/>
              </a:rPr>
              <a:t>But whether you use </a:t>
            </a:r>
            <a:r>
              <a:rPr lang="en-GB" sz="2200"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Cost Focus</a:t>
            </a:r>
            <a:r>
              <a:rPr lang="en-GB" sz="2200" dirty="0">
                <a:latin typeface="Tahoma" panose="020B0604030504040204" pitchFamily="34" charset="0"/>
                <a:ea typeface="Tahoma" panose="020B0604030504040204" pitchFamily="34" charset="0"/>
                <a:cs typeface="Tahoma" panose="020B0604030504040204" pitchFamily="34" charset="0"/>
              </a:rPr>
              <a:t> or </a:t>
            </a:r>
            <a:r>
              <a:rPr lang="en-GB" sz="2200"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Differentiation Focus</a:t>
            </a:r>
            <a:r>
              <a:rPr lang="en-GB" sz="2200" dirty="0">
                <a:latin typeface="Tahoma" panose="020B0604030504040204" pitchFamily="34" charset="0"/>
                <a:ea typeface="Tahoma" panose="020B0604030504040204" pitchFamily="34" charset="0"/>
                <a:cs typeface="Tahoma" panose="020B0604030504040204" pitchFamily="34" charset="0"/>
              </a:rPr>
              <a:t>, the key to making a success of a generic </a:t>
            </a:r>
            <a:r>
              <a:rPr lang="en-GB" sz="2200"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Focus</a:t>
            </a:r>
            <a:r>
              <a:rPr lang="en-GB" sz="2200" dirty="0">
                <a:latin typeface="Tahoma" panose="020B0604030504040204" pitchFamily="34" charset="0"/>
                <a:ea typeface="Tahoma" panose="020B0604030504040204" pitchFamily="34" charset="0"/>
                <a:cs typeface="Tahoma" panose="020B0604030504040204" pitchFamily="34" charset="0"/>
              </a:rPr>
              <a:t> strategy is to ensure that you are adding something extra as a result of serving only that market niche. </a:t>
            </a:r>
            <a:endParaRPr lang="en-GB" sz="2200" dirty="0" smtClean="0">
              <a:latin typeface="Tahoma" panose="020B0604030504040204" pitchFamily="34" charset="0"/>
              <a:ea typeface="Tahoma" panose="020B0604030504040204" pitchFamily="34" charset="0"/>
              <a:cs typeface="Tahoma" panose="020B0604030504040204" pitchFamily="34" charset="0"/>
            </a:endParaRPr>
          </a:p>
        </p:txBody>
      </p:sp>
      <p:sp>
        <p:nvSpPr>
          <p:cNvPr id="4" name="Title 1"/>
          <p:cNvSpPr>
            <a:spLocks noGrp="1"/>
          </p:cNvSpPr>
          <p:nvPr>
            <p:ph type="title"/>
          </p:nvPr>
        </p:nvSpPr>
        <p:spPr/>
        <p:txBody>
          <a:bodyPr>
            <a:normAutofit/>
          </a:bodyPr>
          <a:lstStyle/>
          <a:p>
            <a:r>
              <a:rPr lang="en-US" altLang="en-US" sz="3600" dirty="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Cost </a:t>
            </a:r>
            <a:r>
              <a:rPr lang="en-US" altLang="en-US" sz="36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leadership Strategy</a:t>
            </a:r>
            <a:endParaRPr lang="en-GB" sz="3600" dirty="0">
              <a:solidFill>
                <a:srgbClr val="03BD15"/>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2716314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1600200"/>
            <a:ext cx="7772400" cy="3505200"/>
          </a:xfrm>
        </p:spPr>
        <p:txBody>
          <a:bodyPr>
            <a:normAutofit/>
          </a:bodyPr>
          <a:lstStyle/>
          <a:p>
            <a:pPr algn="just">
              <a:lnSpc>
                <a:spcPct val="150000"/>
              </a:lnSpc>
            </a:pPr>
            <a:r>
              <a:rPr lang="en-GB" sz="2400" dirty="0">
                <a:latin typeface="Tahoma" panose="020B0604030504040204" pitchFamily="34" charset="0"/>
                <a:ea typeface="Tahoma" panose="020B0604030504040204" pitchFamily="34" charset="0"/>
                <a:cs typeface="Tahoma" panose="020B0604030504040204" pitchFamily="34" charset="0"/>
              </a:rPr>
              <a:t>It's simply not enough to focus on only one market segment because your organization is too small to serve a broader market (if you do, you risk competing against better-resourced broad market companies' offerings)</a:t>
            </a:r>
          </a:p>
          <a:p>
            <a:pPr algn="just">
              <a:lnSpc>
                <a:spcPct val="150000"/>
              </a:lnSpc>
            </a:pPr>
            <a:endParaRPr lang="en-GB" sz="2400" dirty="0"/>
          </a:p>
        </p:txBody>
      </p:sp>
      <p:sp>
        <p:nvSpPr>
          <p:cNvPr id="4" name="Title 1"/>
          <p:cNvSpPr>
            <a:spLocks noGrp="1"/>
          </p:cNvSpPr>
          <p:nvPr>
            <p:ph type="title"/>
          </p:nvPr>
        </p:nvSpPr>
        <p:spPr/>
        <p:txBody>
          <a:bodyPr>
            <a:normAutofit/>
          </a:bodyPr>
          <a:lstStyle/>
          <a:p>
            <a:r>
              <a:rPr lang="en-US" altLang="en-US" sz="3600" dirty="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Cost </a:t>
            </a:r>
            <a:r>
              <a:rPr lang="en-US" altLang="en-US" sz="36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leadership Strategy</a:t>
            </a:r>
            <a:endParaRPr lang="en-GB" sz="3600" dirty="0">
              <a:solidFill>
                <a:srgbClr val="03BD15"/>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5766127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457200" y="152400"/>
            <a:ext cx="8229600" cy="1143000"/>
          </a:xfrm>
        </p:spPr>
        <p:txBody>
          <a:bodyPr>
            <a:normAutofit/>
          </a:bodyPr>
          <a:lstStyle/>
          <a:p>
            <a:pPr eaLnBrk="1" hangingPunct="1"/>
            <a:r>
              <a:rPr lang="en-US" altLang="en-US" sz="4000" dirty="0" err="1"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Hypercompetition</a:t>
            </a:r>
            <a:endParaRPr lang="en-US" altLang="en-US" sz="40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16388" name="Rectangle 3"/>
          <p:cNvSpPr>
            <a:spLocks noGrp="1" noChangeArrowheads="1"/>
          </p:cNvSpPr>
          <p:nvPr>
            <p:ph type="body" idx="1"/>
          </p:nvPr>
        </p:nvSpPr>
        <p:spPr>
          <a:xfrm>
            <a:off x="723900" y="1524000"/>
            <a:ext cx="7696200" cy="4343400"/>
          </a:xfrm>
        </p:spPr>
        <p:txBody>
          <a:bodyPr>
            <a:noAutofit/>
          </a:bodyPr>
          <a:lstStyle/>
          <a:p>
            <a:pPr algn="just">
              <a:lnSpc>
                <a:spcPct val="150000"/>
              </a:lnSpc>
            </a:pPr>
            <a:r>
              <a:rPr lang="en-GB" sz="2200" dirty="0" err="1">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D'Aveni's</a:t>
            </a:r>
            <a:r>
              <a:rPr lang="en-GB" sz="2200"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 7S framework</a:t>
            </a:r>
            <a:r>
              <a:rPr lang="en-GB" sz="2200" dirty="0">
                <a:latin typeface="Tahoma" panose="020B0604030504040204" pitchFamily="34" charset="0"/>
                <a:ea typeface="Tahoma" panose="020B0604030504040204" pitchFamily="34" charset="0"/>
                <a:cs typeface="Tahoma" panose="020B0604030504040204" pitchFamily="34" charset="0"/>
              </a:rPr>
              <a:t> is </a:t>
            </a:r>
            <a:r>
              <a:rPr lang="en-GB" sz="2200"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Richard </a:t>
            </a:r>
            <a:r>
              <a:rPr lang="en-GB" sz="2200" dirty="0" err="1">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D'Aveni's</a:t>
            </a:r>
            <a:r>
              <a:rPr lang="en-GB" sz="2200"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 </a:t>
            </a:r>
            <a:r>
              <a:rPr lang="en-GB" sz="2200" dirty="0">
                <a:latin typeface="Tahoma" panose="020B0604030504040204" pitchFamily="34" charset="0"/>
                <a:ea typeface="Tahoma" panose="020B0604030504040204" pitchFamily="34" charset="0"/>
                <a:cs typeface="Tahoma" panose="020B0604030504040204" pitchFamily="34" charset="0"/>
              </a:rPr>
              <a:t>approach to directing a firm in a high velocity or </a:t>
            </a:r>
            <a:r>
              <a:rPr lang="en-GB" sz="2200"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Hypercompetitive markets</a:t>
            </a:r>
            <a:r>
              <a:rPr lang="en-GB" sz="2200" dirty="0">
                <a:latin typeface="Tahoma" panose="020B0604030504040204" pitchFamily="34" charset="0"/>
                <a:ea typeface="Tahoma" panose="020B0604030504040204" pitchFamily="34" charset="0"/>
                <a:cs typeface="Tahoma" panose="020B0604030504040204" pitchFamily="34" charset="0"/>
              </a:rPr>
              <a:t>. </a:t>
            </a:r>
            <a:endParaRPr lang="en-GB" sz="2200" dirty="0" smtClean="0">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r>
              <a:rPr lang="en-GB" sz="2200" dirty="0" smtClean="0">
                <a:latin typeface="Tahoma" panose="020B0604030504040204" pitchFamily="34" charset="0"/>
                <a:ea typeface="Tahoma" panose="020B0604030504040204" pitchFamily="34" charset="0"/>
                <a:cs typeface="Tahoma" panose="020B0604030504040204" pitchFamily="34" charset="0"/>
              </a:rPr>
              <a:t>It </a:t>
            </a:r>
            <a:r>
              <a:rPr lang="en-GB" sz="2200" dirty="0">
                <a:latin typeface="Tahoma" panose="020B0604030504040204" pitchFamily="34" charset="0"/>
                <a:ea typeface="Tahoma" panose="020B0604030504040204" pitchFamily="34" charset="0"/>
                <a:cs typeface="Tahoma" panose="020B0604030504040204" pitchFamily="34" charset="0"/>
              </a:rPr>
              <a:t>is designed to enable firms sustain the momentum of their competitiveness through a series of initiatives that are poised to give temporary advantages rather than just structuring the firm to achieve internal or external fit aimed at maintaining equilibrium that are designed to sustain unsustainable </a:t>
            </a:r>
            <a:r>
              <a:rPr lang="en-GB" sz="2200"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competitive advantages</a:t>
            </a:r>
            <a:endParaRPr lang="en-US" altLang="en-US" sz="2200" dirty="0" smtClean="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41157694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a:xfrm>
            <a:off x="457200" y="350838"/>
            <a:ext cx="8229600" cy="792162"/>
          </a:xfrm>
        </p:spPr>
        <p:txBody>
          <a:bodyPr>
            <a:normAutofit/>
          </a:bodyPr>
          <a:lstStyle/>
          <a:p>
            <a:pPr eaLnBrk="1" hangingPunct="1"/>
            <a:r>
              <a:rPr lang="en-US" altLang="en-US" sz="4000" dirty="0" err="1"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D’Aveni’s</a:t>
            </a:r>
            <a:r>
              <a:rPr lang="en-US" altLang="en-US" sz="40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 new 7 </a:t>
            </a:r>
            <a:r>
              <a:rPr lang="en-US" altLang="en-US" sz="4000" dirty="0" err="1"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Ss</a:t>
            </a:r>
            <a:endParaRPr lang="en-US" altLang="en-US" sz="40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19460" name="Rectangle 3"/>
          <p:cNvSpPr>
            <a:spLocks noGrp="1" noChangeArrowheads="1"/>
          </p:cNvSpPr>
          <p:nvPr>
            <p:ph type="body" idx="1"/>
          </p:nvPr>
        </p:nvSpPr>
        <p:spPr>
          <a:xfrm>
            <a:off x="762000" y="1295400"/>
            <a:ext cx="7620000" cy="5359400"/>
          </a:xfrm>
        </p:spPr>
        <p:txBody>
          <a:bodyPr>
            <a:noAutofit/>
          </a:bodyPr>
          <a:lstStyle/>
          <a:p>
            <a:pPr algn="just" eaLnBrk="1" hangingPunct="1"/>
            <a:r>
              <a:rPr lang="en-US" altLang="en-US" sz="2200" dirty="0" smtClean="0">
                <a:latin typeface="Tahoma" panose="020B0604030504040204" pitchFamily="34" charset="0"/>
                <a:ea typeface="Tahoma" panose="020B0604030504040204" pitchFamily="34" charset="0"/>
                <a:cs typeface="Tahoma" panose="020B0604030504040204" pitchFamily="34" charset="0"/>
              </a:rPr>
              <a:t>The 7 </a:t>
            </a:r>
            <a:r>
              <a:rPr lang="en-US" altLang="en-US" sz="2200" dirty="0" err="1" smtClean="0">
                <a:latin typeface="Tahoma" panose="020B0604030504040204" pitchFamily="34" charset="0"/>
                <a:ea typeface="Tahoma" panose="020B0604030504040204" pitchFamily="34" charset="0"/>
                <a:cs typeface="Tahoma" panose="020B0604030504040204" pitchFamily="34" charset="0"/>
              </a:rPr>
              <a:t>Ss</a:t>
            </a:r>
            <a:r>
              <a:rPr lang="en-US" altLang="en-US" sz="2200" dirty="0" smtClean="0">
                <a:latin typeface="Tahoma" panose="020B0604030504040204" pitchFamily="34" charset="0"/>
                <a:ea typeface="Tahoma" panose="020B0604030504040204" pitchFamily="34" charset="0"/>
                <a:cs typeface="Tahoma" panose="020B0604030504040204" pitchFamily="34" charset="0"/>
              </a:rPr>
              <a:t> are useful for determining different aspects of a business strategy and aligning them to make the organization competitive in the hypercompetitive arena.</a:t>
            </a:r>
          </a:p>
          <a:p>
            <a:pPr algn="just" eaLnBrk="1" hangingPunct="1"/>
            <a:r>
              <a:rPr lang="en-US" altLang="en-US" sz="2200" dirty="0" smtClean="0">
                <a:latin typeface="Tahoma" panose="020B0604030504040204" pitchFamily="34" charset="0"/>
                <a:ea typeface="Tahoma" panose="020B0604030504040204" pitchFamily="34" charset="0"/>
                <a:cs typeface="Tahoma" panose="020B0604030504040204" pitchFamily="34" charset="0"/>
              </a:rPr>
              <a:t>The 7 </a:t>
            </a:r>
            <a:r>
              <a:rPr lang="en-US" altLang="en-US" sz="2200" dirty="0" err="1" smtClean="0">
                <a:latin typeface="Tahoma" panose="020B0604030504040204" pitchFamily="34" charset="0"/>
                <a:ea typeface="Tahoma" panose="020B0604030504040204" pitchFamily="34" charset="0"/>
                <a:cs typeface="Tahoma" panose="020B0604030504040204" pitchFamily="34" charset="0"/>
              </a:rPr>
              <a:t>Ss</a:t>
            </a:r>
            <a:r>
              <a:rPr lang="en-US" altLang="en-US" sz="2200" dirty="0" smtClean="0">
                <a:latin typeface="Tahoma" panose="020B0604030504040204" pitchFamily="34" charset="0"/>
                <a:ea typeface="Tahoma" panose="020B0604030504040204" pitchFamily="34" charset="0"/>
                <a:cs typeface="Tahoma" panose="020B0604030504040204" pitchFamily="34" charset="0"/>
              </a:rPr>
              <a:t> are :</a:t>
            </a:r>
          </a:p>
          <a:p>
            <a:pPr marL="0" indent="0" algn="just" eaLnBrk="1" hangingPunct="1">
              <a:buNone/>
            </a:pPr>
            <a:r>
              <a:rPr lang="en-US" altLang="en-US" sz="2200" dirty="0">
                <a:latin typeface="Tahoma" panose="020B0604030504040204" pitchFamily="34" charset="0"/>
                <a:ea typeface="Tahoma" panose="020B0604030504040204" pitchFamily="34" charset="0"/>
                <a:cs typeface="Tahoma" panose="020B0604030504040204" pitchFamily="34" charset="0"/>
              </a:rPr>
              <a:t> </a:t>
            </a:r>
            <a:r>
              <a:rPr lang="en-US" altLang="en-US" sz="2200" dirty="0" smtClean="0">
                <a:latin typeface="Tahoma" panose="020B0604030504040204" pitchFamily="34" charset="0"/>
                <a:ea typeface="Tahoma" panose="020B0604030504040204" pitchFamily="34" charset="0"/>
                <a:cs typeface="Tahoma" panose="020B0604030504040204" pitchFamily="34" charset="0"/>
              </a:rPr>
              <a:t>   </a:t>
            </a:r>
          </a:p>
          <a:p>
            <a:pPr lvl="1" algn="just" eaLnBrk="1" hangingPunct="1">
              <a:buFontTx/>
              <a:buNone/>
            </a:pPr>
            <a:endParaRPr lang="en-US" altLang="en-US" sz="2200" dirty="0" smtClean="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2" name="Diagram 1"/>
          <p:cNvGraphicFramePr/>
          <p:nvPr>
            <p:extLst>
              <p:ext uri="{D42A27DB-BD31-4B8C-83A1-F6EECF244321}">
                <p14:modId xmlns:p14="http://schemas.microsoft.com/office/powerpoint/2010/main" val="3989687748"/>
              </p:ext>
            </p:extLst>
          </p:nvPr>
        </p:nvGraphicFramePr>
        <p:xfrm>
          <a:off x="1600200" y="2625634"/>
          <a:ext cx="8077200" cy="426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232904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p:cNvGraphicFramePr>
            <a:graphicFrameLocks noGrp="1"/>
          </p:cNvGraphicFramePr>
          <p:nvPr>
            <p:extLst>
              <p:ext uri="{D42A27DB-BD31-4B8C-83A1-F6EECF244321}">
                <p14:modId xmlns:p14="http://schemas.microsoft.com/office/powerpoint/2010/main" val="3611574977"/>
              </p:ext>
            </p:extLst>
          </p:nvPr>
        </p:nvGraphicFramePr>
        <p:xfrm>
          <a:off x="609600" y="1371600"/>
          <a:ext cx="8077200" cy="5387818"/>
        </p:xfrm>
        <a:graphic>
          <a:graphicData uri="http://schemas.openxmlformats.org/drawingml/2006/table">
            <a:tbl>
              <a:tblPr firstRow="1" bandRow="1">
                <a:tableStyleId>{616DA210-FB5B-4158-B5E0-FEB733F419BA}</a:tableStyleId>
              </a:tblPr>
              <a:tblGrid>
                <a:gridCol w="3200400">
                  <a:extLst>
                    <a:ext uri="{9D8B030D-6E8A-4147-A177-3AD203B41FA5}">
                      <a16:colId xmlns:a16="http://schemas.microsoft.com/office/drawing/2014/main" val="20000"/>
                    </a:ext>
                  </a:extLst>
                </a:gridCol>
                <a:gridCol w="4876800">
                  <a:extLst>
                    <a:ext uri="{9D8B030D-6E8A-4147-A177-3AD203B41FA5}">
                      <a16:colId xmlns:a16="http://schemas.microsoft.com/office/drawing/2014/main" val="20001"/>
                    </a:ext>
                  </a:extLst>
                </a:gridCol>
              </a:tblGrid>
              <a:tr h="523648">
                <a:tc>
                  <a:txBody>
                    <a:bodyPr/>
                    <a:lstStyle/>
                    <a:p>
                      <a:pPr algn="just"/>
                      <a:r>
                        <a:rPr lang="en-US" sz="1600" dirty="0" smtClean="0">
                          <a:latin typeface="Tahoma" panose="020B0604030504040204" pitchFamily="34" charset="0"/>
                          <a:ea typeface="Tahoma" panose="020B0604030504040204" pitchFamily="34" charset="0"/>
                          <a:cs typeface="Tahoma" panose="020B0604030504040204" pitchFamily="34" charset="0"/>
                        </a:rPr>
                        <a:t>Approach</a:t>
                      </a:r>
                      <a:endParaRPr lang="en-US" sz="160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pPr algn="just"/>
                      <a:r>
                        <a:rPr lang="en-US" sz="1600" dirty="0" smtClean="0">
                          <a:latin typeface="Tahoma" panose="020B0604030504040204" pitchFamily="34" charset="0"/>
                          <a:ea typeface="Tahoma" panose="020B0604030504040204" pitchFamily="34" charset="0"/>
                          <a:cs typeface="Tahoma" panose="020B0604030504040204" pitchFamily="34" charset="0"/>
                        </a:rPr>
                        <a:t>Definition</a:t>
                      </a:r>
                      <a:endParaRPr lang="en-US" sz="1600" dirty="0">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10000"/>
                  </a:ext>
                </a:extLst>
              </a:tr>
              <a:tr h="643650">
                <a:tc>
                  <a:txBody>
                    <a:bodyPr/>
                    <a:lstStyle/>
                    <a:p>
                      <a:pPr algn="just"/>
                      <a:r>
                        <a:rPr lang="en-US" sz="1600" b="0" dirty="0" smtClean="0">
                          <a:latin typeface="Tahoma" panose="020B0604030504040204" pitchFamily="34" charset="0"/>
                          <a:ea typeface="Tahoma" panose="020B0604030504040204" pitchFamily="34" charset="0"/>
                          <a:cs typeface="Tahoma" panose="020B0604030504040204" pitchFamily="34" charset="0"/>
                        </a:rPr>
                        <a:t>Superior stake</a:t>
                      </a:r>
                      <a:r>
                        <a:rPr lang="en-US" sz="1600" b="0" baseline="0" dirty="0" smtClean="0">
                          <a:latin typeface="Tahoma" panose="020B0604030504040204" pitchFamily="34" charset="0"/>
                          <a:ea typeface="Tahoma" panose="020B0604030504040204" pitchFamily="34" charset="0"/>
                          <a:cs typeface="Tahoma" panose="020B0604030504040204" pitchFamily="34" charset="0"/>
                        </a:rPr>
                        <a:t>holder satisfaction</a:t>
                      </a:r>
                      <a:endParaRPr lang="en-US" sz="1600" b="0" dirty="0">
                        <a:latin typeface="Tahoma" panose="020B0604030504040204" pitchFamily="34" charset="0"/>
                        <a:ea typeface="Tahoma" panose="020B0604030504040204" pitchFamily="34" charset="0"/>
                        <a:cs typeface="Tahoma" panose="020B0604030504040204" pitchFamily="34" charset="0"/>
                      </a:endParaRPr>
                    </a:p>
                  </a:txBody>
                  <a:tcPr>
                    <a:solidFill>
                      <a:srgbClr val="92D050">
                        <a:alpha val="20000"/>
                      </a:srgbClr>
                    </a:solidFill>
                  </a:tcPr>
                </a:tc>
                <a:tc>
                  <a:txBody>
                    <a:bodyPr/>
                    <a:lstStyle/>
                    <a:p>
                      <a:pPr algn="just"/>
                      <a:r>
                        <a:rPr lang="en-US" sz="1600" dirty="0" smtClean="0">
                          <a:latin typeface="Tahoma" panose="020B0604030504040204" pitchFamily="34" charset="0"/>
                          <a:ea typeface="Tahoma" panose="020B0604030504040204" pitchFamily="34" charset="0"/>
                          <a:cs typeface="Tahoma" panose="020B0604030504040204" pitchFamily="34" charset="0"/>
                        </a:rPr>
                        <a:t>Understanding</a:t>
                      </a:r>
                      <a:r>
                        <a:rPr lang="en-US" sz="1600" baseline="0" dirty="0" smtClean="0">
                          <a:latin typeface="Tahoma" panose="020B0604030504040204" pitchFamily="34" charset="0"/>
                          <a:ea typeface="Tahoma" panose="020B0604030504040204" pitchFamily="34" charset="0"/>
                          <a:cs typeface="Tahoma" panose="020B0604030504040204" pitchFamily="34" charset="0"/>
                        </a:rPr>
                        <a:t> how to maximize customer satisfaction by adding value strategically.</a:t>
                      </a:r>
                      <a:endParaRPr lang="en-US" sz="1600" dirty="0">
                        <a:latin typeface="Tahoma" panose="020B0604030504040204" pitchFamily="34" charset="0"/>
                        <a:ea typeface="Tahoma" panose="020B0604030504040204" pitchFamily="34" charset="0"/>
                        <a:cs typeface="Tahoma" panose="020B0604030504040204" pitchFamily="34" charset="0"/>
                      </a:endParaRPr>
                    </a:p>
                  </a:txBody>
                  <a:tcPr>
                    <a:solidFill>
                      <a:srgbClr val="92D050">
                        <a:alpha val="20000"/>
                      </a:srgbClr>
                    </a:solidFill>
                  </a:tcPr>
                </a:tc>
                <a:extLst>
                  <a:ext uri="{0D108BD9-81ED-4DB2-BD59-A6C34878D82A}">
                    <a16:rowId xmlns:a16="http://schemas.microsoft.com/office/drawing/2014/main" val="10001"/>
                  </a:ext>
                </a:extLst>
              </a:tr>
              <a:tr h="643650">
                <a:tc>
                  <a:txBody>
                    <a:bodyPr/>
                    <a:lstStyle/>
                    <a:p>
                      <a:pPr algn="just"/>
                      <a:r>
                        <a:rPr lang="en-US" sz="1600" b="0" dirty="0" smtClean="0">
                          <a:latin typeface="Tahoma" panose="020B0604030504040204" pitchFamily="34" charset="0"/>
                          <a:ea typeface="Tahoma" panose="020B0604030504040204" pitchFamily="34" charset="0"/>
                          <a:cs typeface="Tahoma" panose="020B0604030504040204" pitchFamily="34" charset="0"/>
                        </a:rPr>
                        <a:t>Strategic soothsaying</a:t>
                      </a:r>
                      <a:endParaRPr lang="en-US" sz="1600" b="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pPr algn="just"/>
                      <a:r>
                        <a:rPr lang="en-US" sz="1600" dirty="0" smtClean="0">
                          <a:latin typeface="Tahoma" panose="020B0604030504040204" pitchFamily="34" charset="0"/>
                          <a:ea typeface="Tahoma" panose="020B0604030504040204" pitchFamily="34" charset="0"/>
                          <a:cs typeface="Tahoma" panose="020B0604030504040204" pitchFamily="34" charset="0"/>
                        </a:rPr>
                        <a:t>Seeking out new knowledge that can predict or create new windows of opportunity.</a:t>
                      </a:r>
                      <a:endParaRPr lang="en-US" sz="1600" dirty="0">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10002"/>
                  </a:ext>
                </a:extLst>
              </a:tr>
              <a:tr h="643650">
                <a:tc>
                  <a:txBody>
                    <a:bodyPr/>
                    <a:lstStyle/>
                    <a:p>
                      <a:pPr algn="just"/>
                      <a:r>
                        <a:rPr lang="en-US" sz="1600" b="0" dirty="0" smtClean="0">
                          <a:latin typeface="Tahoma" panose="020B0604030504040204" pitchFamily="34" charset="0"/>
                          <a:ea typeface="Tahoma" panose="020B0604030504040204" pitchFamily="34" charset="0"/>
                          <a:cs typeface="Tahoma" panose="020B0604030504040204" pitchFamily="34" charset="0"/>
                        </a:rPr>
                        <a:t>Positioning for speed</a:t>
                      </a:r>
                      <a:endParaRPr lang="en-US" sz="1600" b="0" dirty="0">
                        <a:latin typeface="Tahoma" panose="020B0604030504040204" pitchFamily="34" charset="0"/>
                        <a:ea typeface="Tahoma" panose="020B0604030504040204" pitchFamily="34" charset="0"/>
                        <a:cs typeface="Tahoma" panose="020B0604030504040204" pitchFamily="34" charset="0"/>
                      </a:endParaRPr>
                    </a:p>
                  </a:txBody>
                  <a:tcPr>
                    <a:solidFill>
                      <a:srgbClr val="92D050">
                        <a:alpha val="20000"/>
                      </a:srgbClr>
                    </a:solidFill>
                  </a:tcPr>
                </a:tc>
                <a:tc>
                  <a:txBody>
                    <a:bodyPr/>
                    <a:lstStyle/>
                    <a:p>
                      <a:pPr algn="just"/>
                      <a:r>
                        <a:rPr lang="en-US" sz="1600" dirty="0" smtClean="0">
                          <a:latin typeface="Tahoma" panose="020B0604030504040204" pitchFamily="34" charset="0"/>
                          <a:ea typeface="Tahoma" panose="020B0604030504040204" pitchFamily="34" charset="0"/>
                          <a:cs typeface="Tahoma" panose="020B0604030504040204" pitchFamily="34" charset="0"/>
                        </a:rPr>
                        <a:t>Preparing the organization</a:t>
                      </a:r>
                      <a:r>
                        <a:rPr lang="en-US" sz="1600" baseline="0" dirty="0" smtClean="0">
                          <a:latin typeface="Tahoma" panose="020B0604030504040204" pitchFamily="34" charset="0"/>
                          <a:ea typeface="Tahoma" panose="020B0604030504040204" pitchFamily="34" charset="0"/>
                          <a:cs typeface="Tahoma" panose="020B0604030504040204" pitchFamily="34" charset="0"/>
                        </a:rPr>
                        <a:t> to react as quickly as possible.</a:t>
                      </a:r>
                      <a:endParaRPr lang="en-US" sz="1600" dirty="0">
                        <a:latin typeface="Tahoma" panose="020B0604030504040204" pitchFamily="34" charset="0"/>
                        <a:ea typeface="Tahoma" panose="020B0604030504040204" pitchFamily="34" charset="0"/>
                        <a:cs typeface="Tahoma" panose="020B0604030504040204" pitchFamily="34" charset="0"/>
                      </a:endParaRPr>
                    </a:p>
                  </a:txBody>
                  <a:tcPr>
                    <a:solidFill>
                      <a:srgbClr val="92D050">
                        <a:alpha val="20000"/>
                      </a:srgbClr>
                    </a:solidFill>
                  </a:tcPr>
                </a:tc>
                <a:extLst>
                  <a:ext uri="{0D108BD9-81ED-4DB2-BD59-A6C34878D82A}">
                    <a16:rowId xmlns:a16="http://schemas.microsoft.com/office/drawing/2014/main" val="10003"/>
                  </a:ext>
                </a:extLst>
              </a:tr>
              <a:tr h="643650">
                <a:tc>
                  <a:txBody>
                    <a:bodyPr/>
                    <a:lstStyle/>
                    <a:p>
                      <a:pPr algn="just"/>
                      <a:r>
                        <a:rPr lang="en-US" sz="1600" b="0" dirty="0" smtClean="0">
                          <a:latin typeface="Tahoma" panose="020B0604030504040204" pitchFamily="34" charset="0"/>
                          <a:ea typeface="Tahoma" panose="020B0604030504040204" pitchFamily="34" charset="0"/>
                          <a:cs typeface="Tahoma" panose="020B0604030504040204" pitchFamily="34" charset="0"/>
                        </a:rPr>
                        <a:t>Positioning for surprise</a:t>
                      </a:r>
                      <a:endParaRPr lang="en-US" sz="1600" b="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dirty="0" smtClean="0">
                          <a:latin typeface="Tahoma" panose="020B0604030504040204" pitchFamily="34" charset="0"/>
                          <a:ea typeface="Tahoma" panose="020B0604030504040204" pitchFamily="34" charset="0"/>
                          <a:cs typeface="Tahoma" panose="020B0604030504040204" pitchFamily="34" charset="0"/>
                        </a:rPr>
                        <a:t>Preparing the organization to respond to the marketplace in a manner that will surprise competitors.</a:t>
                      </a:r>
                    </a:p>
                  </a:txBody>
                  <a:tcPr/>
                </a:tc>
                <a:extLst>
                  <a:ext uri="{0D108BD9-81ED-4DB2-BD59-A6C34878D82A}">
                    <a16:rowId xmlns:a16="http://schemas.microsoft.com/office/drawing/2014/main" val="10004"/>
                  </a:ext>
                </a:extLst>
              </a:tr>
              <a:tr h="643650">
                <a:tc>
                  <a:txBody>
                    <a:bodyPr/>
                    <a:lstStyle/>
                    <a:p>
                      <a:pPr algn="just"/>
                      <a:r>
                        <a:rPr lang="en-US" sz="1600" b="0" dirty="0" smtClean="0">
                          <a:latin typeface="Tahoma" panose="020B0604030504040204" pitchFamily="34" charset="0"/>
                          <a:ea typeface="Tahoma" panose="020B0604030504040204" pitchFamily="34" charset="0"/>
                          <a:cs typeface="Tahoma" panose="020B0604030504040204" pitchFamily="34" charset="0"/>
                        </a:rPr>
                        <a:t>Shifting the rules of competition</a:t>
                      </a:r>
                      <a:endParaRPr lang="en-US" sz="1600" b="0" dirty="0">
                        <a:latin typeface="Tahoma" panose="020B0604030504040204" pitchFamily="34" charset="0"/>
                        <a:ea typeface="Tahoma" panose="020B0604030504040204" pitchFamily="34" charset="0"/>
                        <a:cs typeface="Tahoma" panose="020B0604030504040204" pitchFamily="34" charset="0"/>
                      </a:endParaRPr>
                    </a:p>
                  </a:txBody>
                  <a:tcPr>
                    <a:solidFill>
                      <a:srgbClr val="92D050">
                        <a:alpha val="20000"/>
                      </a:srgbClr>
                    </a:solidFill>
                  </a:tcPr>
                </a:tc>
                <a:tc>
                  <a:txBody>
                    <a:bodyPr/>
                    <a:lstStyle/>
                    <a:p>
                      <a:pPr algn="just"/>
                      <a:r>
                        <a:rPr lang="en-US" sz="1600" dirty="0" smtClean="0">
                          <a:latin typeface="Tahoma" panose="020B0604030504040204" pitchFamily="34" charset="0"/>
                          <a:ea typeface="Tahoma" panose="020B0604030504040204" pitchFamily="34" charset="0"/>
                          <a:cs typeface="Tahoma" panose="020B0604030504040204" pitchFamily="34" charset="0"/>
                        </a:rPr>
                        <a:t>Finding</a:t>
                      </a:r>
                      <a:r>
                        <a:rPr lang="en-US" sz="1600" baseline="0" dirty="0" smtClean="0">
                          <a:latin typeface="Tahoma" panose="020B0604030504040204" pitchFamily="34" charset="0"/>
                          <a:ea typeface="Tahoma" panose="020B0604030504040204" pitchFamily="34" charset="0"/>
                          <a:cs typeface="Tahoma" panose="020B0604030504040204" pitchFamily="34" charset="0"/>
                        </a:rPr>
                        <a:t> new ways to serve customers which transform the industry.</a:t>
                      </a:r>
                      <a:endParaRPr lang="en-US" sz="1600" dirty="0">
                        <a:latin typeface="Tahoma" panose="020B0604030504040204" pitchFamily="34" charset="0"/>
                        <a:ea typeface="Tahoma" panose="020B0604030504040204" pitchFamily="34" charset="0"/>
                        <a:cs typeface="Tahoma" panose="020B0604030504040204" pitchFamily="34" charset="0"/>
                      </a:endParaRPr>
                    </a:p>
                  </a:txBody>
                  <a:tcPr>
                    <a:solidFill>
                      <a:srgbClr val="92D050">
                        <a:alpha val="20000"/>
                      </a:srgbClr>
                    </a:solidFill>
                  </a:tcPr>
                </a:tc>
                <a:extLst>
                  <a:ext uri="{0D108BD9-81ED-4DB2-BD59-A6C34878D82A}">
                    <a16:rowId xmlns:a16="http://schemas.microsoft.com/office/drawing/2014/main" val="10005"/>
                  </a:ext>
                </a:extLst>
              </a:tr>
              <a:tr h="643650">
                <a:tc>
                  <a:txBody>
                    <a:bodyPr/>
                    <a:lstStyle/>
                    <a:p>
                      <a:pPr algn="just"/>
                      <a:r>
                        <a:rPr lang="en-US" sz="1600" b="0" dirty="0" smtClean="0">
                          <a:latin typeface="Tahoma" panose="020B0604030504040204" pitchFamily="34" charset="0"/>
                          <a:ea typeface="Tahoma" panose="020B0604030504040204" pitchFamily="34" charset="0"/>
                          <a:cs typeface="Tahoma" panose="020B0604030504040204" pitchFamily="34" charset="0"/>
                        </a:rPr>
                        <a:t>Signaling</a:t>
                      </a:r>
                      <a:r>
                        <a:rPr lang="en-US" sz="1600" b="0" baseline="0" dirty="0" smtClean="0">
                          <a:latin typeface="Tahoma" panose="020B0604030504040204" pitchFamily="34" charset="0"/>
                          <a:ea typeface="Tahoma" panose="020B0604030504040204" pitchFamily="34" charset="0"/>
                          <a:cs typeface="Tahoma" panose="020B0604030504040204" pitchFamily="34" charset="0"/>
                        </a:rPr>
                        <a:t> strategic intent</a:t>
                      </a:r>
                      <a:endParaRPr lang="en-US" sz="1600" b="0" dirty="0">
                        <a:latin typeface="Tahoma" panose="020B0604030504040204" pitchFamily="34" charset="0"/>
                        <a:ea typeface="Tahoma" panose="020B0604030504040204" pitchFamily="34" charset="0"/>
                        <a:cs typeface="Tahoma" panose="020B0604030504040204" pitchFamily="34" charset="0"/>
                      </a:endParaRPr>
                    </a:p>
                  </a:txBody>
                  <a:tcPr/>
                </a:tc>
                <a:tc>
                  <a:txBody>
                    <a:bodyPr/>
                    <a:lstStyle/>
                    <a:p>
                      <a:pPr algn="just"/>
                      <a:r>
                        <a:rPr lang="en-US" sz="1600" dirty="0" smtClean="0">
                          <a:latin typeface="Tahoma" panose="020B0604030504040204" pitchFamily="34" charset="0"/>
                          <a:ea typeface="Tahoma" panose="020B0604030504040204" pitchFamily="34" charset="0"/>
                          <a:cs typeface="Tahoma" panose="020B0604030504040204" pitchFamily="34" charset="0"/>
                        </a:rPr>
                        <a:t>Communicating</a:t>
                      </a:r>
                      <a:r>
                        <a:rPr lang="en-US" sz="1600" baseline="0" dirty="0" smtClean="0">
                          <a:latin typeface="Tahoma" panose="020B0604030504040204" pitchFamily="34" charset="0"/>
                          <a:ea typeface="Tahoma" panose="020B0604030504040204" pitchFamily="34" charset="0"/>
                          <a:cs typeface="Tahoma" panose="020B0604030504040204" pitchFamily="34" charset="0"/>
                        </a:rPr>
                        <a:t> the intended actions of a company, in order to stall responses by competitors.</a:t>
                      </a:r>
                      <a:endParaRPr lang="en-US" sz="1600" dirty="0">
                        <a:latin typeface="Tahoma" panose="020B0604030504040204" pitchFamily="34" charset="0"/>
                        <a:ea typeface="Tahoma" panose="020B0604030504040204" pitchFamily="34" charset="0"/>
                        <a:cs typeface="Tahoma" panose="020B0604030504040204" pitchFamily="34" charset="0"/>
                      </a:endParaRPr>
                    </a:p>
                  </a:txBody>
                  <a:tcPr/>
                </a:tc>
                <a:extLst>
                  <a:ext uri="{0D108BD9-81ED-4DB2-BD59-A6C34878D82A}">
                    <a16:rowId xmlns:a16="http://schemas.microsoft.com/office/drawing/2014/main" val="10006"/>
                  </a:ext>
                </a:extLst>
              </a:tr>
              <a:tr h="643650">
                <a:tc>
                  <a:txBody>
                    <a:bodyPr/>
                    <a:lstStyle/>
                    <a:p>
                      <a:pPr algn="just"/>
                      <a:r>
                        <a:rPr lang="en-US" sz="1600" b="0" dirty="0" smtClean="0">
                          <a:latin typeface="Tahoma" panose="020B0604030504040204" pitchFamily="34" charset="0"/>
                          <a:ea typeface="Tahoma" panose="020B0604030504040204" pitchFamily="34" charset="0"/>
                          <a:cs typeface="Tahoma" panose="020B0604030504040204" pitchFamily="34" charset="0"/>
                        </a:rPr>
                        <a:t>Simultaneous</a:t>
                      </a:r>
                      <a:r>
                        <a:rPr lang="en-US" sz="1600" b="0" baseline="0" dirty="0" smtClean="0">
                          <a:latin typeface="Tahoma" panose="020B0604030504040204" pitchFamily="34" charset="0"/>
                          <a:ea typeface="Tahoma" panose="020B0604030504040204" pitchFamily="34" charset="0"/>
                          <a:cs typeface="Tahoma" panose="020B0604030504040204" pitchFamily="34" charset="0"/>
                        </a:rPr>
                        <a:t> and sequential thrusts</a:t>
                      </a:r>
                      <a:endParaRPr lang="en-US" sz="1600" b="0" dirty="0">
                        <a:latin typeface="Tahoma" panose="020B0604030504040204" pitchFamily="34" charset="0"/>
                        <a:ea typeface="Tahoma" panose="020B0604030504040204" pitchFamily="34" charset="0"/>
                        <a:cs typeface="Tahoma" panose="020B0604030504040204" pitchFamily="34" charset="0"/>
                      </a:endParaRPr>
                    </a:p>
                  </a:txBody>
                  <a:tcPr>
                    <a:solidFill>
                      <a:srgbClr val="92D050">
                        <a:alpha val="20000"/>
                      </a:srgbClr>
                    </a:solidFill>
                  </a:tcPr>
                </a:tc>
                <a:tc>
                  <a:txBody>
                    <a:bodyPr/>
                    <a:lstStyle/>
                    <a:p>
                      <a:pPr algn="just"/>
                      <a:r>
                        <a:rPr lang="en-US" sz="1600" dirty="0" smtClean="0">
                          <a:latin typeface="Tahoma" panose="020B0604030504040204" pitchFamily="34" charset="0"/>
                          <a:ea typeface="Tahoma" panose="020B0604030504040204" pitchFamily="34" charset="0"/>
                          <a:cs typeface="Tahoma" panose="020B0604030504040204" pitchFamily="34" charset="0"/>
                        </a:rPr>
                        <a:t>Taking</a:t>
                      </a:r>
                      <a:r>
                        <a:rPr lang="en-US" sz="1600" baseline="0" dirty="0" smtClean="0">
                          <a:latin typeface="Tahoma" panose="020B0604030504040204" pitchFamily="34" charset="0"/>
                          <a:ea typeface="Tahoma" panose="020B0604030504040204" pitchFamily="34" charset="0"/>
                          <a:cs typeface="Tahoma" panose="020B0604030504040204" pitchFamily="34" charset="0"/>
                        </a:rPr>
                        <a:t> a series of steps designed to shock and confuse competitors in order to disrupt or block their efforts.</a:t>
                      </a:r>
                      <a:endParaRPr lang="en-US" sz="1600" dirty="0">
                        <a:latin typeface="Tahoma" panose="020B0604030504040204" pitchFamily="34" charset="0"/>
                        <a:ea typeface="Tahoma" panose="020B0604030504040204" pitchFamily="34" charset="0"/>
                        <a:cs typeface="Tahoma" panose="020B0604030504040204" pitchFamily="34" charset="0"/>
                      </a:endParaRPr>
                    </a:p>
                  </a:txBody>
                  <a:tcPr>
                    <a:solidFill>
                      <a:srgbClr val="92D050">
                        <a:alpha val="20000"/>
                      </a:srgbClr>
                    </a:solidFill>
                  </a:tcPr>
                </a:tc>
                <a:extLst>
                  <a:ext uri="{0D108BD9-81ED-4DB2-BD59-A6C34878D82A}">
                    <a16:rowId xmlns:a16="http://schemas.microsoft.com/office/drawing/2014/main" val="10007"/>
                  </a:ext>
                </a:extLst>
              </a:tr>
            </a:tbl>
          </a:graphicData>
        </a:graphic>
      </p:graphicFrame>
      <p:sp>
        <p:nvSpPr>
          <p:cNvPr id="2" name="Rectangle 1"/>
          <p:cNvSpPr/>
          <p:nvPr/>
        </p:nvSpPr>
        <p:spPr>
          <a:xfrm>
            <a:off x="2743200" y="457200"/>
            <a:ext cx="4374852" cy="707886"/>
          </a:xfrm>
          <a:prstGeom prst="rect">
            <a:avLst/>
          </a:prstGeom>
        </p:spPr>
        <p:txBody>
          <a:bodyPr wrap="none">
            <a:spAutoFit/>
          </a:bodyPr>
          <a:lstStyle/>
          <a:p>
            <a:r>
              <a:rPr lang="en-US" sz="4000" dirty="0" err="1">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D’Aveni’s</a:t>
            </a:r>
            <a:r>
              <a:rPr lang="en-US" sz="4000" dirty="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 new 7 </a:t>
            </a:r>
            <a:r>
              <a:rPr lang="en-US" sz="4000" dirty="0" err="1">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Ss</a:t>
            </a:r>
            <a:endParaRPr lang="en-GB" sz="4000" dirty="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34824639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457200" y="228600"/>
            <a:ext cx="8229600" cy="1143000"/>
          </a:xfrm>
        </p:spPr>
        <p:txBody>
          <a:bodyPr>
            <a:normAutofit/>
          </a:bodyPr>
          <a:lstStyle/>
          <a:p>
            <a:pPr eaLnBrk="1" hangingPunct="1"/>
            <a:r>
              <a:rPr lang="en-US" altLang="en-US" sz="36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Application of </a:t>
            </a:r>
            <a:r>
              <a:rPr lang="en-US" altLang="en-US" sz="3600" dirty="0" err="1"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Hypercompetition</a:t>
            </a:r>
            <a:endParaRPr lang="en-US" altLang="en-US" sz="36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21508" name="Rectangle 3"/>
          <p:cNvSpPr>
            <a:spLocks noGrp="1" noChangeArrowheads="1"/>
          </p:cNvSpPr>
          <p:nvPr>
            <p:ph type="body" idx="1"/>
          </p:nvPr>
        </p:nvSpPr>
        <p:spPr>
          <a:xfrm>
            <a:off x="533400" y="1524000"/>
            <a:ext cx="7848600" cy="4876800"/>
          </a:xfrm>
        </p:spPr>
        <p:txBody>
          <a:bodyPr>
            <a:normAutofit/>
          </a:bodyPr>
          <a:lstStyle/>
          <a:p>
            <a:pPr algn="just" eaLnBrk="1" hangingPunct="1">
              <a:lnSpc>
                <a:spcPct val="150000"/>
              </a:lnSpc>
            </a:pPr>
            <a:r>
              <a:rPr lang="en-US" altLang="en-US" sz="2200" dirty="0" smtClean="0">
                <a:latin typeface="Tahoma" panose="020B0604030504040204" pitchFamily="34" charset="0"/>
                <a:ea typeface="Tahoma" panose="020B0604030504040204" pitchFamily="34" charset="0"/>
                <a:cs typeface="Tahoma" panose="020B0604030504040204" pitchFamily="34" charset="0"/>
              </a:rPr>
              <a:t>General Electric applied the </a:t>
            </a:r>
            <a:r>
              <a:rPr lang="en-US" altLang="en-US" sz="2200" dirty="0" err="1" smtClean="0">
                <a:latin typeface="Tahoma" panose="020B0604030504040204" pitchFamily="34" charset="0"/>
                <a:ea typeface="Tahoma" panose="020B0604030504040204" pitchFamily="34" charset="0"/>
                <a:cs typeface="Tahoma" panose="020B0604030504040204" pitchFamily="34" charset="0"/>
              </a:rPr>
              <a:t>Hypercompetition</a:t>
            </a:r>
            <a:r>
              <a:rPr lang="en-US" altLang="en-US" sz="2200" dirty="0" smtClean="0">
                <a:latin typeface="Tahoma" panose="020B0604030504040204" pitchFamily="34" charset="0"/>
                <a:ea typeface="Tahoma" panose="020B0604030504040204" pitchFamily="34" charset="0"/>
                <a:cs typeface="Tahoma" panose="020B0604030504040204" pitchFamily="34" charset="0"/>
              </a:rPr>
              <a:t> Model to its business units in the Destroy Your Business (DYB) project.</a:t>
            </a:r>
          </a:p>
          <a:p>
            <a:pPr algn="just" eaLnBrk="1" hangingPunct="1">
              <a:lnSpc>
                <a:spcPct val="150000"/>
              </a:lnSpc>
            </a:pPr>
            <a:r>
              <a:rPr lang="en-US" altLang="en-US" sz="2200" dirty="0" smtClean="0">
                <a:latin typeface="Tahoma" panose="020B0604030504040204" pitchFamily="34" charset="0"/>
                <a:ea typeface="Tahoma" panose="020B0604030504040204" pitchFamily="34" charset="0"/>
                <a:cs typeface="Tahoma" panose="020B0604030504040204" pitchFamily="34" charset="0"/>
              </a:rPr>
              <a:t>GE recognized that if they didn’t understand and recognize their own weaknesses they could not remain competitive.</a:t>
            </a:r>
          </a:p>
          <a:p>
            <a:pPr algn="just" eaLnBrk="1" hangingPunct="1">
              <a:lnSpc>
                <a:spcPct val="150000"/>
              </a:lnSpc>
            </a:pPr>
            <a:r>
              <a:rPr lang="en-US" altLang="en-US" sz="2200" dirty="0" smtClean="0">
                <a:latin typeface="Tahoma" panose="020B0604030504040204" pitchFamily="34" charset="0"/>
                <a:ea typeface="Tahoma" panose="020B0604030504040204" pitchFamily="34" charset="0"/>
                <a:cs typeface="Tahoma" panose="020B0604030504040204" pitchFamily="34" charset="0"/>
              </a:rPr>
              <a:t>Employees were tasked to determine ways to “destroy their business unit”.  Once they have identified these areas of weakness they apply the Grow Your Business (GYB) strategy to find fresh ways to reach new customers and better serve existing customers.</a:t>
            </a:r>
          </a:p>
        </p:txBody>
      </p:sp>
    </p:spTree>
    <p:extLst>
      <p:ext uri="{BB962C8B-B14F-4D97-AF65-F5344CB8AC3E}">
        <p14:creationId xmlns:p14="http://schemas.microsoft.com/office/powerpoint/2010/main" val="13289426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a:xfrm>
            <a:off x="838200" y="228600"/>
            <a:ext cx="8458200" cy="1477962"/>
          </a:xfrm>
        </p:spPr>
        <p:txBody>
          <a:bodyPr>
            <a:normAutofit/>
          </a:bodyPr>
          <a:lstStyle/>
          <a:p>
            <a:pPr eaLnBrk="1" hangingPunct="1"/>
            <a:r>
              <a:rPr lang="en-US" altLang="en-US" sz="4000" dirty="0" smtClean="0">
                <a:solidFill>
                  <a:srgbClr val="03BD15"/>
                </a:solidFill>
                <a:effectLst>
                  <a:outerShdw blurRad="38100" dist="38100" dir="2700000" algn="tl">
                    <a:srgbClr val="000000">
                      <a:alpha val="43137"/>
                    </a:srgbClr>
                  </a:outerShdw>
                </a:effectLst>
              </a:rPr>
              <a:t>IS Planning and Strategic Advantage Models</a:t>
            </a:r>
          </a:p>
        </p:txBody>
      </p:sp>
      <p:sp>
        <p:nvSpPr>
          <p:cNvPr id="22532" name="Rectangle 3"/>
          <p:cNvSpPr>
            <a:spLocks noGrp="1" noChangeArrowheads="1"/>
          </p:cNvSpPr>
          <p:nvPr>
            <p:ph type="body" idx="1"/>
          </p:nvPr>
        </p:nvSpPr>
        <p:spPr>
          <a:xfrm>
            <a:off x="685800" y="1688827"/>
            <a:ext cx="7543800" cy="4648200"/>
          </a:xfrm>
        </p:spPr>
        <p:txBody>
          <a:bodyPr>
            <a:normAutofit fontScale="92500" lnSpcReduction="10000"/>
          </a:bodyPr>
          <a:lstStyle/>
          <a:p>
            <a:pPr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General Managers cannot afford to rely solely on IS personnel to make IS decisions.</a:t>
            </a:r>
          </a:p>
          <a:p>
            <a:pPr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Business strategy drives IS decision making.</a:t>
            </a:r>
          </a:p>
          <a:p>
            <a:pPr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Changes in IS potential should trigger business reassessments (i.e. the Internet).</a:t>
            </a:r>
          </a:p>
          <a:p>
            <a:pPr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Information Systems Strategy Triangle shows the proper balance of strategies.</a:t>
            </a:r>
          </a:p>
          <a:p>
            <a:pPr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The models are helpful in discussing the role of IS in building and sustaining competitive advantage.</a:t>
            </a:r>
          </a:p>
        </p:txBody>
      </p:sp>
    </p:spTree>
    <p:extLst>
      <p:ext uri="{BB962C8B-B14F-4D97-AF65-F5344CB8AC3E}">
        <p14:creationId xmlns:p14="http://schemas.microsoft.com/office/powerpoint/2010/main" val="361104030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783" y="457200"/>
            <a:ext cx="8229600" cy="1143000"/>
          </a:xfrm>
        </p:spPr>
        <p:txBody>
          <a:bodyPr>
            <a:normAutofit fontScale="90000"/>
          </a:bodyPr>
          <a:lstStyle/>
          <a:p>
            <a:r>
              <a:rPr lang="en-US" altLang="en-US" dirty="0">
                <a:solidFill>
                  <a:srgbClr val="03BD15"/>
                </a:solidFill>
                <a:effectLst>
                  <a:outerShdw blurRad="38100" dist="38100" dir="2700000" algn="tl">
                    <a:srgbClr val="000000">
                      <a:alpha val="43137"/>
                    </a:srgbClr>
                  </a:outerShdw>
                </a:effectLst>
              </a:rPr>
              <a:t>Summary of key strategy </a:t>
            </a:r>
            <a:r>
              <a:rPr lang="en-US" altLang="en-US" dirty="0" smtClean="0">
                <a:solidFill>
                  <a:srgbClr val="03BD15"/>
                </a:solidFill>
                <a:effectLst>
                  <a:outerShdw blurRad="38100" dist="38100" dir="2700000" algn="tl">
                    <a:srgbClr val="000000">
                      <a:alpha val="43137"/>
                    </a:srgbClr>
                  </a:outerShdw>
                </a:effectLst>
              </a:rPr>
              <a:t/>
            </a:r>
            <a:br>
              <a:rPr lang="en-US" altLang="en-US" dirty="0" smtClean="0">
                <a:solidFill>
                  <a:srgbClr val="03BD15"/>
                </a:solidFill>
                <a:effectLst>
                  <a:outerShdw blurRad="38100" dist="38100" dir="2700000" algn="tl">
                    <a:srgbClr val="000000">
                      <a:alpha val="43137"/>
                    </a:srgbClr>
                  </a:outerShdw>
                </a:effectLst>
              </a:rPr>
            </a:br>
            <a:r>
              <a:rPr lang="en-US" altLang="en-US" dirty="0" smtClean="0">
                <a:solidFill>
                  <a:srgbClr val="03BD15"/>
                </a:solidFill>
                <a:effectLst>
                  <a:outerShdw blurRad="38100" dist="38100" dir="2700000" algn="tl">
                    <a:srgbClr val="000000">
                      <a:alpha val="43137"/>
                    </a:srgbClr>
                  </a:outerShdw>
                </a:effectLst>
              </a:rPr>
              <a:t>frameworks</a:t>
            </a:r>
            <a:endParaRPr lang="en-GB" dirty="0">
              <a:solidFill>
                <a:srgbClr val="03BD15"/>
              </a:solidFill>
              <a:effectLst>
                <a:outerShdw blurRad="38100" dist="38100" dir="2700000" algn="tl">
                  <a:srgbClr val="000000">
                    <a:alpha val="43137"/>
                  </a:srgbClr>
                </a:outerShdw>
              </a:effectLst>
            </a:endParaRPr>
          </a:p>
        </p:txBody>
      </p:sp>
      <p:graphicFrame>
        <p:nvGraphicFramePr>
          <p:cNvPr id="4" name="Table 3"/>
          <p:cNvGraphicFramePr>
            <a:graphicFrameLocks noGrp="1"/>
          </p:cNvGraphicFramePr>
          <p:nvPr>
            <p:extLst>
              <p:ext uri="{D42A27DB-BD31-4B8C-83A1-F6EECF244321}">
                <p14:modId xmlns:p14="http://schemas.microsoft.com/office/powerpoint/2010/main" val="2492801575"/>
              </p:ext>
            </p:extLst>
          </p:nvPr>
        </p:nvGraphicFramePr>
        <p:xfrm>
          <a:off x="515983" y="1752600"/>
          <a:ext cx="8077200" cy="4659738"/>
        </p:xfrm>
        <a:graphic>
          <a:graphicData uri="http://schemas.openxmlformats.org/drawingml/2006/table">
            <a:tbl>
              <a:tblPr/>
              <a:tblGrid>
                <a:gridCol w="1752600">
                  <a:extLst>
                    <a:ext uri="{9D8B030D-6E8A-4147-A177-3AD203B41FA5}">
                      <a16:colId xmlns:a16="http://schemas.microsoft.com/office/drawing/2014/main" val="20000"/>
                    </a:ext>
                  </a:extLst>
                </a:gridCol>
                <a:gridCol w="2645351">
                  <a:extLst>
                    <a:ext uri="{9D8B030D-6E8A-4147-A177-3AD203B41FA5}">
                      <a16:colId xmlns:a16="http://schemas.microsoft.com/office/drawing/2014/main" val="20001"/>
                    </a:ext>
                  </a:extLst>
                </a:gridCol>
                <a:gridCol w="3679249">
                  <a:extLst>
                    <a:ext uri="{9D8B030D-6E8A-4147-A177-3AD203B41FA5}">
                      <a16:colId xmlns:a16="http://schemas.microsoft.com/office/drawing/2014/main" val="20002"/>
                    </a:ext>
                  </a:extLst>
                </a:gridCol>
              </a:tblGrid>
              <a:tr h="541804">
                <a:tc>
                  <a:txBody>
                    <a:bodyPr/>
                    <a:lstStyle/>
                    <a:p>
                      <a:pPr marL="0" marR="0" indent="0" algn="ctr" hangingPunct="0">
                        <a:lnSpc>
                          <a:spcPct val="200000"/>
                        </a:lnSpc>
                        <a:spcBef>
                          <a:spcPts val="0"/>
                        </a:spcBef>
                        <a:spcAft>
                          <a:spcPts val="0"/>
                        </a:spcAft>
                      </a:pPr>
                      <a:r>
                        <a:rPr lang="en-US" sz="1600" b="0"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Framework</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hangingPunct="0">
                        <a:lnSpc>
                          <a:spcPct val="200000"/>
                        </a:lnSpc>
                        <a:spcBef>
                          <a:spcPts val="0"/>
                        </a:spcBef>
                        <a:spcAft>
                          <a:spcPts val="0"/>
                        </a:spcAft>
                      </a:pPr>
                      <a:r>
                        <a:rPr lang="en-US" sz="1600" b="0"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Key Idea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hangingPunct="0">
                        <a:lnSpc>
                          <a:spcPct val="200000"/>
                        </a:lnSpc>
                        <a:spcBef>
                          <a:spcPts val="0"/>
                        </a:spcBef>
                        <a:spcAft>
                          <a:spcPts val="0"/>
                        </a:spcAft>
                      </a:pPr>
                      <a:r>
                        <a:rPr lang="en-US" sz="1600" b="0" dirty="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Application to Information Systems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820120">
                <a:tc>
                  <a:txBody>
                    <a:bodyPr/>
                    <a:lstStyle/>
                    <a:p>
                      <a:pPr marL="0" marR="0" indent="0" algn="l" hangingPunct="0">
                        <a:lnSpc>
                          <a:spcPct val="200000"/>
                        </a:lnSpc>
                        <a:spcBef>
                          <a:spcPts val="0"/>
                        </a:spcBef>
                        <a:spcAft>
                          <a:spcPts val="0"/>
                        </a:spcAft>
                      </a:pPr>
                      <a:r>
                        <a:rPr lang="en-US" sz="1600" dirty="0">
                          <a:latin typeface="Tahoma" panose="020B0604030504040204" pitchFamily="34" charset="0"/>
                          <a:ea typeface="Tahoma" panose="020B0604030504040204" pitchFamily="34" charset="0"/>
                          <a:cs typeface="Tahoma" panose="020B0604030504040204" pitchFamily="34" charset="0"/>
                        </a:rPr>
                        <a:t>Porter’s generic strategies Framework</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hangingPunct="0">
                        <a:lnSpc>
                          <a:spcPct val="200000"/>
                        </a:lnSpc>
                        <a:spcBef>
                          <a:spcPts val="0"/>
                        </a:spcBef>
                        <a:spcAft>
                          <a:spcPts val="0"/>
                        </a:spcAft>
                      </a:pPr>
                      <a:r>
                        <a:rPr lang="en-US" sz="1600" dirty="0">
                          <a:latin typeface="Tahoma" panose="020B0604030504040204" pitchFamily="34" charset="0"/>
                          <a:ea typeface="Tahoma" panose="020B0604030504040204" pitchFamily="34" charset="0"/>
                          <a:cs typeface="Tahoma" panose="020B0604030504040204" pitchFamily="34" charset="0"/>
                        </a:rPr>
                        <a:t>Firms achieve competitive advantage through cost leadership, differentiation, or focus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hangingPunct="0">
                        <a:lnSpc>
                          <a:spcPct val="200000"/>
                        </a:lnSpc>
                        <a:spcBef>
                          <a:spcPts val="0"/>
                        </a:spcBef>
                        <a:spcAft>
                          <a:spcPts val="0"/>
                        </a:spcAft>
                      </a:pPr>
                      <a:r>
                        <a:rPr lang="en-US" sz="1600" dirty="0">
                          <a:latin typeface="Tahoma" panose="020B0604030504040204" pitchFamily="34" charset="0"/>
                          <a:ea typeface="Tahoma" panose="020B0604030504040204" pitchFamily="34" charset="0"/>
                          <a:cs typeface="Tahoma" panose="020B0604030504040204" pitchFamily="34" charset="0"/>
                        </a:rPr>
                        <a:t>Understanding which strategy is chosen by a firm is critical to choosing IS to complement the strategy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167214">
                <a:tc>
                  <a:txBody>
                    <a:bodyPr/>
                    <a:lstStyle/>
                    <a:p>
                      <a:pPr marL="0" marR="0" indent="0" algn="l" hangingPunct="0">
                        <a:lnSpc>
                          <a:spcPct val="200000"/>
                        </a:lnSpc>
                        <a:spcBef>
                          <a:spcPts val="0"/>
                        </a:spcBef>
                        <a:spcAft>
                          <a:spcPts val="0"/>
                        </a:spcAft>
                      </a:pPr>
                      <a:r>
                        <a:rPr lang="en-US" sz="1600" dirty="0">
                          <a:latin typeface="Tahoma" panose="020B0604030504040204" pitchFamily="34" charset="0"/>
                          <a:ea typeface="Tahoma" panose="020B0604030504040204" pitchFamily="34" charset="0"/>
                          <a:cs typeface="Tahoma" panose="020B0604030504040204" pitchFamily="34" charset="0"/>
                        </a:rPr>
                        <a:t>D’Aveni’s Hypercompetition Model</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hangingPunct="0">
                        <a:lnSpc>
                          <a:spcPct val="200000"/>
                        </a:lnSpc>
                        <a:spcBef>
                          <a:spcPts val="0"/>
                        </a:spcBef>
                        <a:spcAft>
                          <a:spcPts val="0"/>
                        </a:spcAft>
                      </a:pPr>
                      <a:r>
                        <a:rPr lang="en-US" sz="1600" dirty="0">
                          <a:latin typeface="Tahoma" panose="020B0604030504040204" pitchFamily="34" charset="0"/>
                          <a:ea typeface="Tahoma" panose="020B0604030504040204" pitchFamily="34" charset="0"/>
                          <a:cs typeface="Tahoma" panose="020B0604030504040204" pitchFamily="34" charset="0"/>
                        </a:rPr>
                        <a:t>Speed and aggressive moves and countermoves by a firm create competitive advantage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l" hangingPunct="0">
                        <a:lnSpc>
                          <a:spcPct val="200000"/>
                        </a:lnSpc>
                        <a:spcBef>
                          <a:spcPts val="0"/>
                        </a:spcBef>
                        <a:spcAft>
                          <a:spcPts val="0"/>
                        </a:spcAft>
                      </a:pPr>
                      <a:r>
                        <a:rPr lang="en-US" sz="1600" dirty="0">
                          <a:latin typeface="Tahoma" panose="020B0604030504040204" pitchFamily="34" charset="0"/>
                          <a:ea typeface="Tahoma" panose="020B0604030504040204" pitchFamily="34" charset="0"/>
                          <a:cs typeface="Tahoma" panose="020B0604030504040204" pitchFamily="34" charset="0"/>
                        </a:rPr>
                        <a:t>IS are critical to achieving the speed needed for moves and countermoves. IS are in a constant state of flux or development.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4970565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a:xfrm>
            <a:off x="457200" y="1371600"/>
            <a:ext cx="8229600" cy="4038600"/>
          </a:xfrm>
        </p:spPr>
        <p:txBody>
          <a:bodyPr>
            <a:normAutofit/>
          </a:bodyPr>
          <a:lstStyle/>
          <a:p>
            <a:pPr eaLnBrk="1" hangingPunct="1"/>
            <a:r>
              <a:rPr lang="en-US" altLang="en-US" sz="40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Brief Overview Of </a:t>
            </a:r>
            <a:br>
              <a:rPr lang="en-US" altLang="en-US" sz="40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br>
            <a:r>
              <a:rPr lang="en-US" altLang="en-US" sz="40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Organizational Strategies</a:t>
            </a:r>
          </a:p>
        </p:txBody>
      </p:sp>
    </p:spTree>
    <p:extLst>
      <p:ext uri="{BB962C8B-B14F-4D97-AF65-F5344CB8AC3E}">
        <p14:creationId xmlns:p14="http://schemas.microsoft.com/office/powerpoint/2010/main" val="389111344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469900" y="317500"/>
            <a:ext cx="8216900" cy="755650"/>
          </a:xfrm>
        </p:spPr>
        <p:txBody>
          <a:bodyPr>
            <a:normAutofit fontScale="90000"/>
          </a:bodyPr>
          <a:lstStyle/>
          <a:p>
            <a:pPr eaLnBrk="1" hangingPunct="1"/>
            <a:r>
              <a:rPr lang="en-US" altLang="en-US"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Organizational Strategy</a:t>
            </a:r>
          </a:p>
        </p:txBody>
      </p:sp>
      <p:sp>
        <p:nvSpPr>
          <p:cNvPr id="25604" name="Rectangle 3"/>
          <p:cNvSpPr>
            <a:spLocks noGrp="1" noChangeArrowheads="1"/>
          </p:cNvSpPr>
          <p:nvPr>
            <p:ph type="body" idx="1"/>
          </p:nvPr>
        </p:nvSpPr>
        <p:spPr>
          <a:xfrm>
            <a:off x="736600" y="1371600"/>
            <a:ext cx="7683500" cy="5181600"/>
          </a:xfrm>
        </p:spPr>
        <p:txBody>
          <a:bodyPr>
            <a:normAutofit/>
          </a:bodyPr>
          <a:lstStyle/>
          <a:p>
            <a:pPr algn="just" eaLnBrk="1" hangingPunct="1">
              <a:lnSpc>
                <a:spcPct val="150000"/>
              </a:lnSpc>
            </a:pPr>
            <a:r>
              <a:rPr lang="en-US" altLang="en-US" sz="2200" dirty="0" smtClean="0">
                <a:latin typeface="Tahoma" panose="020B0604030504040204" pitchFamily="34" charset="0"/>
                <a:ea typeface="Tahoma" panose="020B0604030504040204" pitchFamily="34" charset="0"/>
                <a:cs typeface="Tahoma" panose="020B0604030504040204" pitchFamily="34" charset="0"/>
              </a:rPr>
              <a:t>Organizational strategy includes the organization’s design as well as the choices it makes in its work processes.</a:t>
            </a:r>
          </a:p>
          <a:p>
            <a:pPr algn="just" eaLnBrk="1" hangingPunct="1">
              <a:lnSpc>
                <a:spcPct val="150000"/>
              </a:lnSpc>
            </a:pPr>
            <a:r>
              <a:rPr lang="en-US" altLang="en-US" sz="2200" dirty="0" smtClean="0">
                <a:latin typeface="Tahoma" panose="020B0604030504040204" pitchFamily="34" charset="0"/>
                <a:ea typeface="Tahoma" panose="020B0604030504040204" pitchFamily="34" charset="0"/>
                <a:cs typeface="Tahoma" panose="020B0604030504040204" pitchFamily="34" charset="0"/>
              </a:rPr>
              <a:t>How will the company organize in order to achieve its goals and implement its business strategy?</a:t>
            </a:r>
          </a:p>
          <a:p>
            <a:pPr algn="just" eaLnBrk="1" hangingPunct="1">
              <a:lnSpc>
                <a:spcPct val="150000"/>
              </a:lnSpc>
            </a:pPr>
            <a:r>
              <a:rPr lang="en-US" altLang="en-US" sz="2200" dirty="0" smtClean="0">
                <a:latin typeface="Tahoma" panose="020B0604030504040204" pitchFamily="34" charset="0"/>
                <a:ea typeface="Tahoma" panose="020B0604030504040204" pitchFamily="34" charset="0"/>
                <a:cs typeface="Tahoma" panose="020B0604030504040204" pitchFamily="34" charset="0"/>
              </a:rPr>
              <a:t>Managerial Levers – another framework for organizational design, states that:</a:t>
            </a:r>
          </a:p>
          <a:p>
            <a:pPr marL="0" indent="0" algn="ctr" eaLnBrk="1" hangingPunct="1">
              <a:lnSpc>
                <a:spcPct val="150000"/>
              </a:lnSpc>
              <a:buNone/>
            </a:pPr>
            <a:r>
              <a:rPr lang="en-US" altLang="en-US" sz="2200" dirty="0" smtClean="0">
                <a:latin typeface="Tahoma" panose="020B0604030504040204" pitchFamily="34" charset="0"/>
                <a:ea typeface="Tahoma" panose="020B0604030504040204" pitchFamily="34" charset="0"/>
                <a:cs typeface="Tahoma" panose="020B0604030504040204" pitchFamily="34" charset="0"/>
              </a:rPr>
              <a:t>“</a:t>
            </a:r>
            <a:r>
              <a:rPr lang="en-US" altLang="en-US" sz="2200" dirty="0" smtClean="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Successful execution of the firm’s organizational strategy is the best combination of organizational, control, and cultural variables”</a:t>
            </a:r>
          </a:p>
        </p:txBody>
      </p:sp>
    </p:spTree>
    <p:extLst>
      <p:ext uri="{BB962C8B-B14F-4D97-AF65-F5344CB8AC3E}">
        <p14:creationId xmlns:p14="http://schemas.microsoft.com/office/powerpoint/2010/main" val="202365484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457200" y="274638"/>
            <a:ext cx="8229600" cy="792162"/>
          </a:xfrm>
        </p:spPr>
        <p:txBody>
          <a:bodyPr>
            <a:normAutofit/>
          </a:bodyPr>
          <a:lstStyle/>
          <a:p>
            <a:pPr eaLnBrk="1" hangingPunct="1"/>
            <a:r>
              <a:rPr lang="en-US" altLang="en-US" sz="40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Business Diamond</a:t>
            </a:r>
          </a:p>
        </p:txBody>
      </p:sp>
      <p:sp>
        <p:nvSpPr>
          <p:cNvPr id="26627" name="Content Placeholder 2"/>
          <p:cNvSpPr>
            <a:spLocks noGrp="1"/>
          </p:cNvSpPr>
          <p:nvPr>
            <p:ph idx="1"/>
          </p:nvPr>
        </p:nvSpPr>
        <p:spPr>
          <a:xfrm>
            <a:off x="571500" y="1295400"/>
            <a:ext cx="8001000" cy="4419600"/>
          </a:xfrm>
        </p:spPr>
        <p:txBody>
          <a:bodyPr>
            <a:normAutofit fontScale="92500" lnSpcReduction="20000"/>
          </a:bodyPr>
          <a:lstStyle/>
          <a:p>
            <a:pPr algn="just" eaLnBrk="1" hangingPunct="1">
              <a:lnSpc>
                <a:spcPct val="150000"/>
              </a:lnSpc>
            </a:pPr>
            <a:r>
              <a:rPr lang="en-US" altLang="en-US" sz="2800" dirty="0" smtClean="0">
                <a:latin typeface="Tahoma" panose="020B0604030504040204" pitchFamily="34" charset="0"/>
                <a:ea typeface="Tahoma" panose="020B0604030504040204" pitchFamily="34" charset="0"/>
                <a:cs typeface="Tahoma" panose="020B0604030504040204" pitchFamily="34" charset="0"/>
              </a:rPr>
              <a:t>Simple framework for identifying crucial components of an organization’s plan</a:t>
            </a:r>
          </a:p>
          <a:p>
            <a:pPr lvl="1" algn="just" eaLnBrk="1" hangingPunct="1">
              <a:lnSpc>
                <a:spcPct val="150000"/>
              </a:lnSpc>
              <a:buFont typeface="Wingdings" panose="05000000000000000000" pitchFamily="2" charset="2"/>
              <a:buChar char="Ä"/>
            </a:pPr>
            <a:r>
              <a:rPr lang="en-US" altLang="en-US" sz="2400" dirty="0" smtClean="0">
                <a:latin typeface="Tahoma" panose="020B0604030504040204" pitchFamily="34" charset="0"/>
                <a:ea typeface="Tahoma" panose="020B0604030504040204" pitchFamily="34" charset="0"/>
                <a:cs typeface="Tahoma" panose="020B0604030504040204" pitchFamily="34" charset="0"/>
              </a:rPr>
              <a:t>its business processes</a:t>
            </a:r>
          </a:p>
          <a:p>
            <a:pPr lvl="1" algn="just" eaLnBrk="1" hangingPunct="1">
              <a:lnSpc>
                <a:spcPct val="150000"/>
              </a:lnSpc>
              <a:buFont typeface="Wingdings" panose="05000000000000000000" pitchFamily="2" charset="2"/>
              <a:buChar char="Ä"/>
            </a:pPr>
            <a:r>
              <a:rPr lang="en-US" altLang="en-US" sz="2400" dirty="0" smtClean="0">
                <a:latin typeface="Tahoma" panose="020B0604030504040204" pitchFamily="34" charset="0"/>
                <a:ea typeface="Tahoma" panose="020B0604030504040204" pitchFamily="34" charset="0"/>
                <a:cs typeface="Tahoma" panose="020B0604030504040204" pitchFamily="34" charset="0"/>
              </a:rPr>
              <a:t>its values and beliefs</a:t>
            </a:r>
          </a:p>
          <a:p>
            <a:pPr lvl="1" algn="just" eaLnBrk="1" hangingPunct="1">
              <a:lnSpc>
                <a:spcPct val="150000"/>
              </a:lnSpc>
              <a:buFont typeface="Wingdings" panose="05000000000000000000" pitchFamily="2" charset="2"/>
              <a:buChar char="Ä"/>
            </a:pPr>
            <a:r>
              <a:rPr lang="en-US" altLang="en-US" sz="2400" dirty="0" smtClean="0">
                <a:latin typeface="Tahoma" panose="020B0604030504040204" pitchFamily="34" charset="0"/>
                <a:ea typeface="Tahoma" panose="020B0604030504040204" pitchFamily="34" charset="0"/>
                <a:cs typeface="Tahoma" panose="020B0604030504040204" pitchFamily="34" charset="0"/>
              </a:rPr>
              <a:t>its management control systems</a:t>
            </a:r>
          </a:p>
          <a:p>
            <a:pPr lvl="1" algn="just" eaLnBrk="1" hangingPunct="1">
              <a:lnSpc>
                <a:spcPct val="150000"/>
              </a:lnSpc>
              <a:buFont typeface="Wingdings" panose="05000000000000000000" pitchFamily="2" charset="2"/>
              <a:buChar char="Ä"/>
            </a:pPr>
            <a:r>
              <a:rPr lang="en-US" altLang="en-US" sz="2400" dirty="0" smtClean="0">
                <a:latin typeface="Tahoma" panose="020B0604030504040204" pitchFamily="34" charset="0"/>
                <a:ea typeface="Tahoma" panose="020B0604030504040204" pitchFamily="34" charset="0"/>
                <a:cs typeface="Tahoma" panose="020B0604030504040204" pitchFamily="34" charset="0"/>
              </a:rPr>
              <a:t>its tasks and structures. </a:t>
            </a:r>
          </a:p>
          <a:p>
            <a:pPr algn="just" eaLnBrk="1" hangingPunct="1">
              <a:lnSpc>
                <a:spcPct val="150000"/>
              </a:lnSpc>
            </a:pPr>
            <a:r>
              <a:rPr lang="en-US" altLang="en-US" sz="2800" dirty="0" smtClean="0">
                <a:latin typeface="Tahoma" panose="020B0604030504040204" pitchFamily="34" charset="0"/>
                <a:ea typeface="Tahoma" panose="020B0604030504040204" pitchFamily="34" charset="0"/>
                <a:cs typeface="Tahoma" panose="020B0604030504040204" pitchFamily="34" charset="0"/>
              </a:rPr>
              <a:t>Useful for designing new organizations and for diagnosing organizational troubles. </a:t>
            </a:r>
          </a:p>
        </p:txBody>
      </p:sp>
    </p:spTree>
    <p:extLst>
      <p:ext uri="{BB962C8B-B14F-4D97-AF65-F5344CB8AC3E}">
        <p14:creationId xmlns:p14="http://schemas.microsoft.com/office/powerpoint/2010/main" val="65041695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4000" dirty="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The Business </a:t>
            </a:r>
            <a:r>
              <a:rPr lang="en-US" sz="40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Diamond</a:t>
            </a:r>
            <a:endParaRPr lang="en-GB" sz="4000" dirty="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959307380"/>
              </p:ext>
            </p:extLst>
          </p:nvPr>
        </p:nvGraphicFramePr>
        <p:xfrm>
          <a:off x="533400" y="1371600"/>
          <a:ext cx="8153400" cy="487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015546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4"/>
          <p:cNvSpPr>
            <a:spLocks noGrp="1"/>
          </p:cNvSpPr>
          <p:nvPr>
            <p:ph type="title"/>
          </p:nvPr>
        </p:nvSpPr>
        <p:spPr>
          <a:xfrm>
            <a:off x="457200" y="274638"/>
            <a:ext cx="8229600" cy="715962"/>
          </a:xfrm>
        </p:spPr>
        <p:txBody>
          <a:bodyPr>
            <a:normAutofit fontScale="90000"/>
          </a:bodyPr>
          <a:lstStyle/>
          <a:p>
            <a:pPr eaLnBrk="1" hangingPunct="1"/>
            <a:r>
              <a:rPr lang="en-US" altLang="en-US"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Managerial Levers</a:t>
            </a:r>
          </a:p>
        </p:txBody>
      </p:sp>
      <p:sp>
        <p:nvSpPr>
          <p:cNvPr id="6" name="Content Placeholder 5"/>
          <p:cNvSpPr>
            <a:spLocks noGrp="1"/>
          </p:cNvSpPr>
          <p:nvPr>
            <p:ph idx="1"/>
          </p:nvPr>
        </p:nvSpPr>
        <p:spPr>
          <a:xfrm>
            <a:off x="628105" y="1371600"/>
            <a:ext cx="7887789" cy="5029200"/>
          </a:xfrm>
        </p:spPr>
        <p:txBody>
          <a:bodyPr>
            <a:normAutofit fontScale="85000" lnSpcReduction="10000"/>
          </a:bodyPr>
          <a:lstStyle/>
          <a:p>
            <a:pPr algn="just" eaLnBrk="1" hangingPunct="1">
              <a:lnSpc>
                <a:spcPct val="150000"/>
              </a:lnSpc>
              <a:defRPr/>
            </a:pPr>
            <a:r>
              <a:rPr lang="en-US" sz="2200" dirty="0" smtClean="0">
                <a:latin typeface="Tahoma" panose="020B0604030504040204" pitchFamily="34" charset="0"/>
                <a:ea typeface="Tahoma" panose="020B0604030504040204" pitchFamily="34" charset="0"/>
                <a:cs typeface="Tahoma" panose="020B0604030504040204" pitchFamily="34" charset="0"/>
              </a:rPr>
              <a:t>This framework (Figure next slide) suggests that the successful execution of a business’s organizational strategy comprises the best combination of organizational, control, and cultural variables. </a:t>
            </a:r>
          </a:p>
          <a:p>
            <a:pPr algn="just" eaLnBrk="1" hangingPunct="1">
              <a:lnSpc>
                <a:spcPct val="150000"/>
              </a:lnSpc>
              <a:defRPr/>
            </a:pPr>
            <a:r>
              <a:rPr lang="en-US" sz="2200" dirty="0" smtClean="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Organizational variables include:</a:t>
            </a:r>
          </a:p>
          <a:p>
            <a:pPr lvl="1" algn="just" eaLnBrk="1" hangingPunct="1">
              <a:lnSpc>
                <a:spcPct val="150000"/>
              </a:lnSpc>
              <a:defRPr/>
            </a:pPr>
            <a:r>
              <a:rPr lang="en-US" sz="2200" dirty="0" smtClean="0">
                <a:latin typeface="Tahoma" panose="020B0604030504040204" pitchFamily="34" charset="0"/>
                <a:ea typeface="Tahoma" panose="020B0604030504040204" pitchFamily="34" charset="0"/>
                <a:cs typeface="Tahoma" panose="020B0604030504040204" pitchFamily="34" charset="0"/>
              </a:rPr>
              <a:t>decision rights, business processes, formal reporting relationships, and informal networks. </a:t>
            </a:r>
          </a:p>
          <a:p>
            <a:pPr algn="just" eaLnBrk="1" hangingPunct="1">
              <a:lnSpc>
                <a:spcPct val="150000"/>
              </a:lnSpc>
              <a:defRPr/>
            </a:pPr>
            <a:r>
              <a:rPr lang="en-US" sz="2200" dirty="0" smtClean="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Control variables include: </a:t>
            </a:r>
          </a:p>
          <a:p>
            <a:pPr lvl="1" algn="just" eaLnBrk="1" hangingPunct="1">
              <a:lnSpc>
                <a:spcPct val="150000"/>
              </a:lnSpc>
              <a:defRPr/>
            </a:pPr>
            <a:r>
              <a:rPr lang="en-US" sz="2200" dirty="0" smtClean="0">
                <a:latin typeface="Tahoma" panose="020B0604030504040204" pitchFamily="34" charset="0"/>
                <a:ea typeface="Tahoma" panose="020B0604030504040204" pitchFamily="34" charset="0"/>
                <a:cs typeface="Tahoma" panose="020B0604030504040204" pitchFamily="34" charset="0"/>
              </a:rPr>
              <a:t>availability of data, nature and quality of planning, effectiveness of performance measurement and evaluation systems, and motivations to do good work. </a:t>
            </a:r>
          </a:p>
          <a:p>
            <a:pPr algn="just" eaLnBrk="1" hangingPunct="1">
              <a:lnSpc>
                <a:spcPct val="150000"/>
              </a:lnSpc>
              <a:defRPr/>
            </a:pPr>
            <a:r>
              <a:rPr lang="en-US" sz="2200" dirty="0" smtClean="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Cultural variables </a:t>
            </a:r>
            <a:r>
              <a:rPr lang="en-US" sz="2200" dirty="0" smtClean="0">
                <a:latin typeface="Tahoma" panose="020B0604030504040204" pitchFamily="34" charset="0"/>
                <a:ea typeface="Tahoma" panose="020B0604030504040204" pitchFamily="34" charset="0"/>
                <a:cs typeface="Tahoma" panose="020B0604030504040204" pitchFamily="34" charset="0"/>
              </a:rPr>
              <a:t>comprise the values of the organization. </a:t>
            </a:r>
          </a:p>
        </p:txBody>
      </p:sp>
    </p:spTree>
    <p:extLst>
      <p:ext uri="{BB962C8B-B14F-4D97-AF65-F5344CB8AC3E}">
        <p14:creationId xmlns:p14="http://schemas.microsoft.com/office/powerpoint/2010/main" val="71472070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9" name="Picture 4" descr="c01f0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19200"/>
            <a:ext cx="9107987" cy="5453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2514600" y="228600"/>
            <a:ext cx="4423775" cy="707886"/>
          </a:xfrm>
          <a:prstGeom prst="rect">
            <a:avLst/>
          </a:prstGeom>
        </p:spPr>
        <p:txBody>
          <a:bodyPr wrap="none">
            <a:spAutoFit/>
          </a:bodyPr>
          <a:lstStyle/>
          <a:p>
            <a:r>
              <a:rPr lang="en-US" altLang="en-US" sz="40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 </a:t>
            </a:r>
            <a:r>
              <a:rPr lang="en-US" altLang="en-US" sz="4000" dirty="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Managerial Levers</a:t>
            </a:r>
            <a:endParaRPr lang="en-GB" sz="4000" dirty="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94641664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a:xfrm>
            <a:off x="1447800" y="304800"/>
            <a:ext cx="8077200" cy="838200"/>
          </a:xfrm>
        </p:spPr>
        <p:txBody>
          <a:bodyPr>
            <a:normAutofit/>
          </a:bodyPr>
          <a:lstStyle/>
          <a:p>
            <a:pPr algn="l" eaLnBrk="1" hangingPunct="1"/>
            <a:r>
              <a:rPr lang="en-US" altLang="en-US" sz="32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Understanding Organization Strategy</a:t>
            </a:r>
          </a:p>
        </p:txBody>
      </p:sp>
      <p:sp>
        <p:nvSpPr>
          <p:cNvPr id="30724" name="Rectangle 3"/>
          <p:cNvSpPr>
            <a:spLocks noGrp="1" noChangeArrowheads="1"/>
          </p:cNvSpPr>
          <p:nvPr>
            <p:ph type="body" idx="1"/>
          </p:nvPr>
        </p:nvSpPr>
        <p:spPr>
          <a:xfrm>
            <a:off x="685800" y="1371600"/>
            <a:ext cx="7772400" cy="5029200"/>
          </a:xfrm>
        </p:spPr>
        <p:txBody>
          <a:bodyPr>
            <a:normAutofit fontScale="92500" lnSpcReduction="20000"/>
          </a:bodyPr>
          <a:lstStyle/>
          <a:p>
            <a:pPr marL="0" indent="0" algn="just" eaLnBrk="1" hangingPunct="1">
              <a:lnSpc>
                <a:spcPct val="170000"/>
              </a:lnSpc>
              <a:buFontTx/>
              <a:buNone/>
            </a:pPr>
            <a:r>
              <a:rPr lang="en-US" altLang="en-US" sz="2400" dirty="0" smtClean="0">
                <a:latin typeface="Tahoma" panose="020B0604030504040204" pitchFamily="34" charset="0"/>
                <a:ea typeface="Tahoma" panose="020B0604030504040204" pitchFamily="34" charset="0"/>
                <a:cs typeface="Tahoma" panose="020B0604030504040204" pitchFamily="34" charset="0"/>
              </a:rPr>
              <a:t>To understand organizational strategy we must answer the following questions:</a:t>
            </a:r>
          </a:p>
          <a:p>
            <a:pPr marL="457200" lvl="1" indent="0" algn="just" eaLnBrk="1" hangingPunct="1">
              <a:lnSpc>
                <a:spcPct val="170000"/>
              </a:lnSpc>
              <a:buFontTx/>
              <a:buNone/>
            </a:pPr>
            <a:r>
              <a:rPr lang="en-US" altLang="en-US" sz="2400" dirty="0" smtClean="0">
                <a:latin typeface="Tahoma" panose="020B0604030504040204" pitchFamily="34" charset="0"/>
                <a:ea typeface="Tahoma" panose="020B0604030504040204" pitchFamily="34" charset="0"/>
                <a:cs typeface="Tahoma" panose="020B0604030504040204" pitchFamily="34" charset="0"/>
              </a:rPr>
              <a:t>1. What are the important structures and reporting relationships within the organization?</a:t>
            </a:r>
          </a:p>
          <a:p>
            <a:pPr marL="457200" lvl="1" indent="0" algn="just" eaLnBrk="1" hangingPunct="1">
              <a:lnSpc>
                <a:spcPct val="170000"/>
              </a:lnSpc>
              <a:buFontTx/>
              <a:buNone/>
            </a:pPr>
            <a:r>
              <a:rPr lang="en-US" altLang="en-US" sz="2400" dirty="0" smtClean="0">
                <a:latin typeface="Tahoma" panose="020B0604030504040204" pitchFamily="34" charset="0"/>
                <a:ea typeface="Tahoma" panose="020B0604030504040204" pitchFamily="34" charset="0"/>
                <a:cs typeface="Tahoma" panose="020B0604030504040204" pitchFamily="34" charset="0"/>
              </a:rPr>
              <a:t>2. What are the characteristics, experiences, and skill levels of the people within the organization?</a:t>
            </a:r>
          </a:p>
          <a:p>
            <a:pPr marL="457200" lvl="1" indent="0" algn="just" eaLnBrk="1" hangingPunct="1">
              <a:lnSpc>
                <a:spcPct val="170000"/>
              </a:lnSpc>
              <a:buFontTx/>
              <a:buNone/>
            </a:pPr>
            <a:r>
              <a:rPr lang="en-US" altLang="en-US" sz="2400" dirty="0" smtClean="0">
                <a:latin typeface="Tahoma" panose="020B0604030504040204" pitchFamily="34" charset="0"/>
                <a:ea typeface="Tahoma" panose="020B0604030504040204" pitchFamily="34" charset="0"/>
                <a:cs typeface="Tahoma" panose="020B0604030504040204" pitchFamily="34" charset="0"/>
              </a:rPr>
              <a:t>3. What are the key business processes?</a:t>
            </a:r>
          </a:p>
          <a:p>
            <a:pPr marL="457200" lvl="1" indent="0" algn="just" eaLnBrk="1" hangingPunct="1">
              <a:lnSpc>
                <a:spcPct val="170000"/>
              </a:lnSpc>
              <a:buFontTx/>
              <a:buNone/>
            </a:pPr>
            <a:r>
              <a:rPr lang="en-US" altLang="en-US" sz="2400" dirty="0" smtClean="0">
                <a:latin typeface="Tahoma" panose="020B0604030504040204" pitchFamily="34" charset="0"/>
                <a:ea typeface="Tahoma" panose="020B0604030504040204" pitchFamily="34" charset="0"/>
                <a:cs typeface="Tahoma" panose="020B0604030504040204" pitchFamily="34" charset="0"/>
              </a:rPr>
              <a:t>4. What control systems are in place?</a:t>
            </a:r>
          </a:p>
          <a:p>
            <a:pPr marL="457200" lvl="1" indent="0" algn="just" eaLnBrk="1" hangingPunct="1">
              <a:lnSpc>
                <a:spcPct val="170000"/>
              </a:lnSpc>
              <a:buFontTx/>
              <a:buNone/>
            </a:pPr>
            <a:r>
              <a:rPr lang="en-US" altLang="en-US" sz="2400" dirty="0" smtClean="0">
                <a:latin typeface="Tahoma" panose="020B0604030504040204" pitchFamily="34" charset="0"/>
                <a:ea typeface="Tahoma" panose="020B0604030504040204" pitchFamily="34" charset="0"/>
                <a:cs typeface="Tahoma" panose="020B0604030504040204" pitchFamily="34" charset="0"/>
              </a:rPr>
              <a:t>5. What is the culture of the organization?</a:t>
            </a:r>
          </a:p>
          <a:p>
            <a:pPr marL="0" indent="0" algn="just" eaLnBrk="1" hangingPunct="1">
              <a:lnSpc>
                <a:spcPct val="170000"/>
              </a:lnSpc>
              <a:buFontTx/>
              <a:buNone/>
            </a:pPr>
            <a:endParaRPr lang="en-US" altLang="en-US" sz="2400" dirty="0" smtClean="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10089945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Autofit/>
          </a:bodyPr>
          <a:lstStyle/>
          <a:p>
            <a:r>
              <a:rPr lang="en-US" altLang="en-US" sz="3200" dirty="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Summary of organizational strategy frameworks</a:t>
            </a:r>
            <a:endParaRPr lang="en-GB" sz="3200" dirty="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p:txBody>
      </p:sp>
      <p:graphicFrame>
        <p:nvGraphicFramePr>
          <p:cNvPr id="4" name="Group 144"/>
          <p:cNvGraphicFramePr>
            <a:graphicFrameLocks noGrp="1"/>
          </p:cNvGraphicFramePr>
          <p:nvPr>
            <p:ph sz="half" idx="4294967295"/>
            <p:extLst>
              <p:ext uri="{D42A27DB-BD31-4B8C-83A1-F6EECF244321}">
                <p14:modId xmlns:p14="http://schemas.microsoft.com/office/powerpoint/2010/main" val="4048475155"/>
              </p:ext>
            </p:extLst>
          </p:nvPr>
        </p:nvGraphicFramePr>
        <p:xfrm>
          <a:off x="381000" y="1447800"/>
          <a:ext cx="8382000" cy="5196748"/>
        </p:xfrm>
        <a:graphic>
          <a:graphicData uri="http://schemas.openxmlformats.org/drawingml/2006/table">
            <a:tbl>
              <a:tblPr>
                <a:tableStyleId>{69C7853C-536D-4A76-A0AE-DD22124D55A5}</a:tableStyleId>
              </a:tblPr>
              <a:tblGrid>
                <a:gridCol w="1825625">
                  <a:extLst>
                    <a:ext uri="{9D8B030D-6E8A-4147-A177-3AD203B41FA5}">
                      <a16:colId xmlns:a16="http://schemas.microsoft.com/office/drawing/2014/main" val="20000"/>
                    </a:ext>
                  </a:extLst>
                </a:gridCol>
                <a:gridCol w="2898775">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685728">
                <a:tc>
                  <a:txBody>
                    <a:bodyPr/>
                    <a:lstStyle/>
                    <a:p>
                      <a:pPr marL="0" marR="0" lvl="0" indent="0" algn="ctr" defTabSz="914400" rtl="0" eaLnBrk="1" fontAlgn="base" latinLnBrk="0" hangingPunct="1">
                        <a:lnSpc>
                          <a:spcPct val="100000"/>
                        </a:lnSpc>
                        <a:spcBef>
                          <a:spcPct val="20000"/>
                        </a:spcBef>
                        <a:spcAft>
                          <a:spcPct val="0"/>
                        </a:spcAft>
                        <a:buClrTx/>
                        <a:buSzPct val="75000"/>
                        <a:buFontTx/>
                        <a:buNone/>
                        <a:tabLst/>
                      </a:pPr>
                      <a:r>
                        <a:rPr kumimoji="0" lang="en-US" sz="2000" u="none" strike="noStrike" cap="none" normalizeH="0" baseline="0" dirty="0" smtClean="0">
                          <a:ln>
                            <a:noFill/>
                          </a:ln>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Framework</a:t>
                      </a:r>
                      <a:endParaRPr kumimoji="0" lang="en-US" sz="2000" b="0" i="0" u="none" strike="noStrike" cap="none" normalizeH="0" baseline="0" dirty="0" smtClean="0">
                        <a:ln>
                          <a:noFill/>
                        </a:ln>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a:txBody>
                  <a:tcPr marT="45715" marB="45715" horzOverflow="overflow"/>
                </a:tc>
                <a:tc>
                  <a:txBody>
                    <a:bodyPr/>
                    <a:lstStyle/>
                    <a:p>
                      <a:pPr marL="0" marR="0" lvl="0" indent="0" algn="ctr" defTabSz="914400" rtl="0" eaLnBrk="1" fontAlgn="base" latinLnBrk="0" hangingPunct="1">
                        <a:lnSpc>
                          <a:spcPct val="100000"/>
                        </a:lnSpc>
                        <a:spcBef>
                          <a:spcPct val="20000"/>
                        </a:spcBef>
                        <a:spcAft>
                          <a:spcPct val="0"/>
                        </a:spcAft>
                        <a:buClrTx/>
                        <a:buSzPct val="75000"/>
                        <a:buFontTx/>
                        <a:buNone/>
                        <a:tabLst/>
                      </a:pPr>
                      <a:r>
                        <a:rPr kumimoji="0" lang="en-US" sz="2000" u="none" strike="noStrike" cap="none" normalizeH="0" baseline="0" dirty="0" smtClean="0">
                          <a:ln>
                            <a:noFill/>
                          </a:ln>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Key Idea</a:t>
                      </a:r>
                      <a:endParaRPr kumimoji="0" lang="en-US" sz="2000" b="0" i="0" u="none" strike="noStrike" cap="none" normalizeH="0" baseline="0" dirty="0" smtClean="0">
                        <a:ln>
                          <a:noFill/>
                        </a:ln>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a:txBody>
                  <a:tcPr marT="45715" marB="45715" horzOverflow="overflow"/>
                </a:tc>
                <a:tc>
                  <a:txBody>
                    <a:bodyPr/>
                    <a:lstStyle/>
                    <a:p>
                      <a:pPr marL="0" marR="0" lvl="0" indent="0" algn="ctr" defTabSz="914400" rtl="0" eaLnBrk="1" fontAlgn="base" latinLnBrk="0" hangingPunct="1">
                        <a:lnSpc>
                          <a:spcPct val="100000"/>
                        </a:lnSpc>
                        <a:spcBef>
                          <a:spcPct val="20000"/>
                        </a:spcBef>
                        <a:spcAft>
                          <a:spcPct val="0"/>
                        </a:spcAft>
                        <a:buClrTx/>
                        <a:buSzPct val="75000"/>
                        <a:buFontTx/>
                        <a:buNone/>
                        <a:tabLst/>
                      </a:pPr>
                      <a:r>
                        <a:rPr kumimoji="0" lang="en-US" sz="2000" u="none" strike="noStrike" cap="none" normalizeH="0" baseline="0" dirty="0" smtClean="0">
                          <a:ln>
                            <a:noFill/>
                          </a:ln>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Usefulness in IS Discussions</a:t>
                      </a:r>
                      <a:endParaRPr kumimoji="0" lang="en-US" sz="2000" b="0" i="0" u="none" strike="noStrike" cap="none" normalizeH="0" baseline="0" dirty="0" smtClean="0">
                        <a:ln>
                          <a:noFill/>
                        </a:ln>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a:txBody>
                  <a:tcPr marT="45715" marB="45715" horzOverflow="overflow"/>
                </a:tc>
                <a:extLst>
                  <a:ext uri="{0D108BD9-81ED-4DB2-BD59-A6C34878D82A}">
                    <a16:rowId xmlns:a16="http://schemas.microsoft.com/office/drawing/2014/main" val="10000"/>
                  </a:ext>
                </a:extLst>
              </a:tr>
              <a:tr h="2057185">
                <a:tc>
                  <a:txBody>
                    <a:bodyPr/>
                    <a:lstStyle/>
                    <a:p>
                      <a:pPr marL="0" marR="0" lvl="0" indent="0" algn="l" defTabSz="914400" rtl="0" eaLnBrk="1" fontAlgn="base" latinLnBrk="0" hangingPunct="1">
                        <a:lnSpc>
                          <a:spcPct val="100000"/>
                        </a:lnSpc>
                        <a:spcBef>
                          <a:spcPct val="20000"/>
                        </a:spcBef>
                        <a:spcAft>
                          <a:spcPct val="0"/>
                        </a:spcAft>
                        <a:buClrTx/>
                        <a:buSzPct val="75000"/>
                        <a:buFontTx/>
                        <a:buNone/>
                        <a:tabLst/>
                      </a:pPr>
                      <a:r>
                        <a:rPr kumimoji="0" lang="en-US" sz="2000" u="none" strike="noStrike" cap="none" normalizeH="0" baseline="0" dirty="0" smtClean="0">
                          <a:ln>
                            <a:noFill/>
                          </a:ln>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Business Diamond</a:t>
                      </a:r>
                      <a:endParaRPr kumimoji="0" lang="en-US" sz="2000" b="0" i="0" u="none" strike="noStrike" cap="none" normalizeH="0" baseline="0" dirty="0" smtClean="0">
                        <a:ln>
                          <a:noFill/>
                        </a:ln>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a:txBody>
                  <a:tcPr marT="45715" marB="45715" horzOverflow="overflow"/>
                </a:tc>
                <a:tc>
                  <a:txBody>
                    <a:bodyPr/>
                    <a:lstStyle/>
                    <a:p>
                      <a:pPr marL="0" marR="0" lvl="0" indent="0" algn="l" defTabSz="914400" rtl="0" eaLnBrk="1" fontAlgn="base" latinLnBrk="0" hangingPunct="1">
                        <a:lnSpc>
                          <a:spcPct val="100000"/>
                        </a:lnSpc>
                        <a:spcBef>
                          <a:spcPct val="20000"/>
                        </a:spcBef>
                        <a:spcAft>
                          <a:spcPct val="0"/>
                        </a:spcAft>
                        <a:buClrTx/>
                        <a:buSzPct val="75000"/>
                        <a:buFontTx/>
                        <a:buNone/>
                        <a:tabLst/>
                      </a:pPr>
                      <a:r>
                        <a:rPr kumimoji="0" lang="en-US" sz="2000" u="none" strike="noStrike" cap="none" normalizeH="0" baseline="0" dirty="0" smtClean="0">
                          <a:ln>
                            <a:noFill/>
                          </a:ln>
                          <a:effectLst/>
                          <a:latin typeface="Tahoma" panose="020B0604030504040204" pitchFamily="34" charset="0"/>
                          <a:ea typeface="Tahoma" panose="020B0604030504040204" pitchFamily="34" charset="0"/>
                          <a:cs typeface="Tahoma" panose="020B0604030504040204" pitchFamily="34" charset="0"/>
                        </a:rPr>
                        <a:t>There are 4 key components of an organization: business processes, values and beliefs, management control systems, and tasks and structures.</a:t>
                      </a:r>
                      <a:endParaRPr kumimoji="0" lang="en-US" sz="2000" b="0" i="0" u="none" strike="noStrike" cap="none" normalizeH="0" baseline="0" dirty="0" smtClean="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T="45715" marB="45715" horzOverflow="overflow"/>
                </a:tc>
                <a:tc>
                  <a:txBody>
                    <a:bodyPr/>
                    <a:lstStyle/>
                    <a:p>
                      <a:pPr marL="0" marR="0" lvl="0" indent="0" algn="l" defTabSz="914400" rtl="0" eaLnBrk="1" fontAlgn="base" latinLnBrk="0" hangingPunct="1">
                        <a:lnSpc>
                          <a:spcPct val="100000"/>
                        </a:lnSpc>
                        <a:spcBef>
                          <a:spcPct val="20000"/>
                        </a:spcBef>
                        <a:spcAft>
                          <a:spcPct val="0"/>
                        </a:spcAft>
                        <a:buClrTx/>
                        <a:buSzPct val="75000"/>
                        <a:buFontTx/>
                        <a:buNone/>
                        <a:tabLst/>
                      </a:pPr>
                      <a:r>
                        <a:rPr kumimoji="0" lang="en-US" sz="2000" u="none" strike="noStrike" cap="none" normalizeH="0" baseline="0" dirty="0" smtClean="0">
                          <a:ln>
                            <a:noFill/>
                          </a:ln>
                          <a:effectLst/>
                          <a:latin typeface="Tahoma" panose="020B0604030504040204" pitchFamily="34" charset="0"/>
                          <a:ea typeface="Tahoma" panose="020B0604030504040204" pitchFamily="34" charset="0"/>
                          <a:cs typeface="Tahoma" panose="020B0604030504040204" pitchFamily="34" charset="0"/>
                        </a:rPr>
                        <a:t>Using IS in an organization will affect each of these components. Use this framework to identify where these impacts are likely to occur</a:t>
                      </a:r>
                    </a:p>
                    <a:p>
                      <a:pPr marL="0" marR="0" lvl="0" indent="0" algn="l" defTabSz="914400" rtl="0" eaLnBrk="1" fontAlgn="base" latinLnBrk="0" hangingPunct="1">
                        <a:lnSpc>
                          <a:spcPct val="100000"/>
                        </a:lnSpc>
                        <a:spcBef>
                          <a:spcPct val="20000"/>
                        </a:spcBef>
                        <a:spcAft>
                          <a:spcPct val="0"/>
                        </a:spcAft>
                        <a:buClrTx/>
                        <a:buSzPct val="75000"/>
                        <a:buFontTx/>
                        <a:buNone/>
                        <a:tabLst/>
                      </a:pPr>
                      <a:endParaRPr kumimoji="0" lang="en-US" sz="2000" b="0" i="0" u="none" strike="noStrike" cap="none" normalizeH="0" baseline="0" dirty="0" smtClean="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T="45715" marB="45715" horzOverflow="overflow"/>
                </a:tc>
                <a:extLst>
                  <a:ext uri="{0D108BD9-81ED-4DB2-BD59-A6C34878D82A}">
                    <a16:rowId xmlns:a16="http://schemas.microsoft.com/office/drawing/2014/main" val="10001"/>
                  </a:ext>
                </a:extLst>
              </a:tr>
              <a:tr h="2011650">
                <a:tc>
                  <a:txBody>
                    <a:bodyPr/>
                    <a:lstStyle/>
                    <a:p>
                      <a:pPr marL="0" marR="0" lvl="0" indent="0" algn="l" defTabSz="914400" rtl="0" eaLnBrk="1" fontAlgn="base" latinLnBrk="0" hangingPunct="1">
                        <a:lnSpc>
                          <a:spcPct val="100000"/>
                        </a:lnSpc>
                        <a:spcBef>
                          <a:spcPct val="20000"/>
                        </a:spcBef>
                        <a:spcAft>
                          <a:spcPct val="0"/>
                        </a:spcAft>
                        <a:buClrTx/>
                        <a:buSzPct val="75000"/>
                        <a:buFontTx/>
                        <a:buNone/>
                        <a:tabLst/>
                      </a:pPr>
                      <a:r>
                        <a:rPr kumimoji="0" lang="en-US" sz="2000" u="none" strike="noStrike" cap="none" normalizeH="0" baseline="0" dirty="0" smtClean="0">
                          <a:ln>
                            <a:noFill/>
                          </a:ln>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Managerial levers</a:t>
                      </a:r>
                    </a:p>
                    <a:p>
                      <a:pPr marL="0" marR="0" lvl="0" indent="0" algn="l" defTabSz="914400" rtl="0" eaLnBrk="1" fontAlgn="base" latinLnBrk="0" hangingPunct="1">
                        <a:lnSpc>
                          <a:spcPct val="100000"/>
                        </a:lnSpc>
                        <a:spcBef>
                          <a:spcPct val="20000"/>
                        </a:spcBef>
                        <a:spcAft>
                          <a:spcPct val="0"/>
                        </a:spcAft>
                        <a:buClrTx/>
                        <a:buSzPct val="75000"/>
                        <a:buFontTx/>
                        <a:buNone/>
                        <a:tabLst/>
                      </a:pPr>
                      <a:endParaRPr kumimoji="0" lang="en-US" sz="2000" b="0" i="0" u="none" strike="noStrike" cap="none" normalizeH="0" baseline="0" dirty="0" smtClean="0">
                        <a:ln>
                          <a:noFill/>
                        </a:ln>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a:txBody>
                  <a:tcPr marT="45715" marB="45715" horzOverflow="overflow"/>
                </a:tc>
                <a:tc>
                  <a:txBody>
                    <a:bodyPr/>
                    <a:lstStyle/>
                    <a:p>
                      <a:pPr marL="0" marR="0" lvl="0" indent="0" algn="l" defTabSz="914400" rtl="0" eaLnBrk="1" fontAlgn="base" latinLnBrk="0" hangingPunct="1">
                        <a:lnSpc>
                          <a:spcPct val="100000"/>
                        </a:lnSpc>
                        <a:spcBef>
                          <a:spcPct val="20000"/>
                        </a:spcBef>
                        <a:spcAft>
                          <a:spcPct val="0"/>
                        </a:spcAft>
                        <a:buClrTx/>
                        <a:buSzPct val="75000"/>
                        <a:buFontTx/>
                        <a:buNone/>
                        <a:tabLst/>
                      </a:pPr>
                      <a:r>
                        <a:rPr kumimoji="0" lang="en-US" sz="2000" u="none" strike="noStrike" cap="none" normalizeH="0" baseline="0" dirty="0" smtClean="0">
                          <a:ln>
                            <a:noFill/>
                          </a:ln>
                          <a:effectLst/>
                          <a:latin typeface="Tahoma" panose="020B0604030504040204" pitchFamily="34" charset="0"/>
                          <a:ea typeface="Tahoma" panose="020B0604030504040204" pitchFamily="34" charset="0"/>
                          <a:cs typeface="Tahoma" panose="020B0604030504040204" pitchFamily="34" charset="0"/>
                        </a:rPr>
                        <a:t>Organizational variables, control variables, and cultural variables are the levers managers can use to affect change in their organizations</a:t>
                      </a:r>
                      <a:endParaRPr kumimoji="0" lang="en-US" sz="2000" b="0" i="0" u="none" strike="noStrike" cap="none" normalizeH="0" baseline="0" dirty="0" smtClean="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T="45715" marB="45715" horzOverflow="overflow"/>
                </a:tc>
                <a:tc>
                  <a:txBody>
                    <a:bodyPr/>
                    <a:lstStyle/>
                    <a:p>
                      <a:pPr marL="0" marR="0" lvl="0" indent="0" algn="l" defTabSz="914400" rtl="0" eaLnBrk="1" fontAlgn="base" latinLnBrk="0" hangingPunct="1">
                        <a:lnSpc>
                          <a:spcPct val="100000"/>
                        </a:lnSpc>
                        <a:spcBef>
                          <a:spcPct val="20000"/>
                        </a:spcBef>
                        <a:spcAft>
                          <a:spcPct val="0"/>
                        </a:spcAft>
                        <a:buClrTx/>
                        <a:buSzPct val="75000"/>
                        <a:buFontTx/>
                        <a:buNone/>
                        <a:tabLst/>
                      </a:pPr>
                      <a:r>
                        <a:rPr kumimoji="0" lang="en-US" sz="2000" u="none" strike="noStrike" cap="none" normalizeH="0" baseline="0" dirty="0" smtClean="0">
                          <a:ln>
                            <a:noFill/>
                          </a:ln>
                          <a:effectLst/>
                          <a:latin typeface="Tahoma" panose="020B0604030504040204" pitchFamily="34" charset="0"/>
                          <a:ea typeface="Tahoma" panose="020B0604030504040204" pitchFamily="34" charset="0"/>
                          <a:cs typeface="Tahoma" panose="020B0604030504040204" pitchFamily="34" charset="0"/>
                        </a:rPr>
                        <a:t>This is a more detailed model than the Business diamond and gives specific areas where IS can be used to manage the organization and to change it</a:t>
                      </a:r>
                    </a:p>
                    <a:p>
                      <a:pPr marL="0" marR="0" lvl="0" indent="0" algn="l" defTabSz="914400" rtl="0" eaLnBrk="1" fontAlgn="base" latinLnBrk="0" hangingPunct="1">
                        <a:lnSpc>
                          <a:spcPct val="100000"/>
                        </a:lnSpc>
                        <a:spcBef>
                          <a:spcPct val="20000"/>
                        </a:spcBef>
                        <a:spcAft>
                          <a:spcPct val="0"/>
                        </a:spcAft>
                        <a:buClrTx/>
                        <a:buSzPct val="75000"/>
                        <a:buFontTx/>
                        <a:buNone/>
                        <a:tabLst/>
                      </a:pPr>
                      <a:endParaRPr kumimoji="0" lang="en-US" sz="2000" b="0" i="0" u="none" strike="noStrike" cap="none" normalizeH="0" baseline="0" dirty="0" smtClean="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T="45715" marB="45715" horzOverflow="overflow"/>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1949817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txBox="1">
            <a:spLocks noChangeArrowheads="1"/>
          </p:cNvSpPr>
          <p:nvPr/>
        </p:nvSpPr>
        <p:spPr>
          <a:xfrm>
            <a:off x="685800" y="685800"/>
            <a:ext cx="7772400" cy="47244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Brief Overview Of </a:t>
            </a:r>
          </a:p>
          <a:p>
            <a:r>
              <a:rPr lang="en-US" altLang="en-US"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Information Systems </a:t>
            </a:r>
          </a:p>
          <a:p>
            <a:r>
              <a:rPr lang="en-US" altLang="en-US"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Strategy</a:t>
            </a:r>
          </a:p>
        </p:txBody>
      </p:sp>
    </p:spTree>
    <p:extLst>
      <p:ext uri="{BB962C8B-B14F-4D97-AF65-F5344CB8AC3E}">
        <p14:creationId xmlns:p14="http://schemas.microsoft.com/office/powerpoint/2010/main" val="10318994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a:xfrm>
            <a:off x="457200" y="152400"/>
            <a:ext cx="8229600" cy="1143000"/>
          </a:xfrm>
        </p:spPr>
        <p:txBody>
          <a:bodyPr/>
          <a:lstStyle/>
          <a:p>
            <a:pPr eaLnBrk="1" hangingPunct="1"/>
            <a:r>
              <a:rPr lang="en-US" altLang="en-US"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IS Strategy</a:t>
            </a:r>
          </a:p>
        </p:txBody>
      </p:sp>
      <p:sp>
        <p:nvSpPr>
          <p:cNvPr id="33796" name="Rectangle 3"/>
          <p:cNvSpPr>
            <a:spLocks noGrp="1" noChangeArrowheads="1"/>
          </p:cNvSpPr>
          <p:nvPr>
            <p:ph type="body" idx="1"/>
          </p:nvPr>
        </p:nvSpPr>
        <p:spPr>
          <a:xfrm>
            <a:off x="609600" y="1371600"/>
            <a:ext cx="7924800" cy="4876800"/>
          </a:xfrm>
        </p:spPr>
        <p:txBody>
          <a:bodyPr>
            <a:normAutofit/>
          </a:bodyPr>
          <a:lstStyle/>
          <a:p>
            <a:pPr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The plan an organization uses in providing information services.</a:t>
            </a:r>
          </a:p>
          <a:p>
            <a:pPr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IS allows business to implement its business strategy.</a:t>
            </a:r>
          </a:p>
          <a:p>
            <a:pPr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IS helps determine the company’s capabilities.</a:t>
            </a:r>
          </a:p>
          <a:p>
            <a:pPr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Four key IS infrastructure components are key to IS strategy (see Figure next slide)</a:t>
            </a:r>
          </a:p>
          <a:p>
            <a:pPr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These key components are sufficient to allow the  general manager to assess critical IS issues.</a:t>
            </a:r>
          </a:p>
        </p:txBody>
      </p:sp>
    </p:spTree>
    <p:extLst>
      <p:ext uri="{BB962C8B-B14F-4D97-AF65-F5344CB8AC3E}">
        <p14:creationId xmlns:p14="http://schemas.microsoft.com/office/powerpoint/2010/main" val="35636479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Autofit/>
          </a:bodyPr>
          <a:lstStyle/>
          <a:p>
            <a:r>
              <a:rPr lang="en-US" altLang="en-US" sz="3600" dirty="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Information systems </a:t>
            </a:r>
            <a:r>
              <a:rPr lang="en-US" altLang="en-US" sz="36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
            </a:r>
            <a:br>
              <a:rPr lang="en-US" altLang="en-US" sz="36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br>
            <a:r>
              <a:rPr lang="en-US" altLang="en-US" sz="36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strategy </a:t>
            </a:r>
            <a:r>
              <a:rPr lang="en-US" altLang="en-US" sz="3600" dirty="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matrix</a:t>
            </a:r>
            <a:endParaRPr lang="en-GB" sz="3600" dirty="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p:txBody>
      </p:sp>
      <p:graphicFrame>
        <p:nvGraphicFramePr>
          <p:cNvPr id="4" name="Group 44"/>
          <p:cNvGraphicFramePr>
            <a:graphicFrameLocks noGrp="1"/>
          </p:cNvGraphicFramePr>
          <p:nvPr>
            <p:ph/>
            <p:extLst>
              <p:ext uri="{D42A27DB-BD31-4B8C-83A1-F6EECF244321}">
                <p14:modId xmlns:p14="http://schemas.microsoft.com/office/powerpoint/2010/main" val="1588416948"/>
              </p:ext>
            </p:extLst>
          </p:nvPr>
        </p:nvGraphicFramePr>
        <p:xfrm>
          <a:off x="304800" y="1600200"/>
          <a:ext cx="8534400" cy="4906962"/>
        </p:xfrm>
        <a:graphic>
          <a:graphicData uri="http://schemas.openxmlformats.org/drawingml/2006/table">
            <a:tbl>
              <a:tblPr>
                <a:tableStyleId>{8799B23B-EC83-4686-B30A-512413B5E67A}</a:tableStyleId>
              </a:tblPr>
              <a:tblGrid>
                <a:gridCol w="1784465">
                  <a:extLst>
                    <a:ext uri="{9D8B030D-6E8A-4147-A177-3AD203B41FA5}">
                      <a16:colId xmlns:a16="http://schemas.microsoft.com/office/drawing/2014/main" val="20000"/>
                    </a:ext>
                  </a:extLst>
                </a:gridCol>
                <a:gridCol w="2327564">
                  <a:extLst>
                    <a:ext uri="{9D8B030D-6E8A-4147-A177-3AD203B41FA5}">
                      <a16:colId xmlns:a16="http://schemas.microsoft.com/office/drawing/2014/main" val="20001"/>
                    </a:ext>
                  </a:extLst>
                </a:gridCol>
                <a:gridCol w="2266142">
                  <a:extLst>
                    <a:ext uri="{9D8B030D-6E8A-4147-A177-3AD203B41FA5}">
                      <a16:colId xmlns:a16="http://schemas.microsoft.com/office/drawing/2014/main" val="20002"/>
                    </a:ext>
                  </a:extLst>
                </a:gridCol>
                <a:gridCol w="2156229">
                  <a:extLst>
                    <a:ext uri="{9D8B030D-6E8A-4147-A177-3AD203B41FA5}">
                      <a16:colId xmlns:a16="http://schemas.microsoft.com/office/drawing/2014/main" val="20003"/>
                    </a:ext>
                  </a:extLst>
                </a:gridCol>
              </a:tblGrid>
              <a:tr h="518146">
                <a:tc>
                  <a:txBody>
                    <a:bodyPr/>
                    <a:lstStyle/>
                    <a:p>
                      <a:pPr marL="0" marR="0" lvl="0" indent="0" algn="ctr" defTabSz="914400" rtl="0" eaLnBrk="1" fontAlgn="base" latinLnBrk="0" hangingPunct="1">
                        <a:lnSpc>
                          <a:spcPct val="100000"/>
                        </a:lnSpc>
                        <a:spcBef>
                          <a:spcPct val="20000"/>
                        </a:spcBef>
                        <a:spcAft>
                          <a:spcPct val="0"/>
                        </a:spcAft>
                        <a:buClrTx/>
                        <a:buSzPct val="75000"/>
                        <a:buFontTx/>
                        <a:buNone/>
                        <a:tabLst/>
                      </a:pPr>
                      <a:endParaRPr kumimoji="0" lang="en-US" sz="2400" b="0" i="0" u="none" strike="noStrike" cap="none" normalizeH="0" baseline="0" dirty="0" smtClean="0">
                        <a:ln>
                          <a:noFill/>
                        </a:ln>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a:txBody>
                  <a:tcPr marT="45713" marB="45713" horzOverflow="overflow"/>
                </a:tc>
                <a:tc>
                  <a:txBody>
                    <a:bodyPr/>
                    <a:lstStyle/>
                    <a:p>
                      <a:pPr marL="0" marR="0" lvl="0" indent="0" algn="ctr" defTabSz="914400" rtl="0" eaLnBrk="1" fontAlgn="base" latinLnBrk="0" hangingPunct="1">
                        <a:lnSpc>
                          <a:spcPct val="100000"/>
                        </a:lnSpc>
                        <a:spcBef>
                          <a:spcPct val="20000"/>
                        </a:spcBef>
                        <a:spcAft>
                          <a:spcPct val="0"/>
                        </a:spcAft>
                        <a:buClrTx/>
                        <a:buSzPct val="75000"/>
                        <a:buFontTx/>
                        <a:buNone/>
                        <a:tabLst/>
                      </a:pPr>
                      <a:r>
                        <a:rPr kumimoji="0" lang="en-US" sz="2400" u="none" strike="noStrike" cap="none" normalizeH="0" baseline="0" dirty="0" smtClean="0">
                          <a:ln>
                            <a:noFill/>
                          </a:ln>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What</a:t>
                      </a:r>
                      <a:endParaRPr kumimoji="0" lang="en-US" sz="2400" b="0" i="0" u="none" strike="noStrike" cap="none" normalizeH="0" baseline="0" dirty="0" smtClean="0">
                        <a:ln>
                          <a:noFill/>
                        </a:ln>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a:txBody>
                  <a:tcPr marT="45713" marB="45713" horzOverflow="overflow"/>
                </a:tc>
                <a:tc>
                  <a:txBody>
                    <a:bodyPr/>
                    <a:lstStyle/>
                    <a:p>
                      <a:pPr marL="0" marR="0" lvl="0" indent="0" algn="ctr" defTabSz="914400" rtl="0" eaLnBrk="1" fontAlgn="base" latinLnBrk="0" hangingPunct="1">
                        <a:lnSpc>
                          <a:spcPct val="100000"/>
                        </a:lnSpc>
                        <a:spcBef>
                          <a:spcPct val="20000"/>
                        </a:spcBef>
                        <a:spcAft>
                          <a:spcPct val="0"/>
                        </a:spcAft>
                        <a:buClrTx/>
                        <a:buSzPct val="75000"/>
                        <a:buFontTx/>
                        <a:buNone/>
                        <a:tabLst/>
                      </a:pPr>
                      <a:r>
                        <a:rPr kumimoji="0" lang="en-US" sz="2400" u="none" strike="noStrike" cap="none" normalizeH="0" baseline="0" dirty="0" smtClean="0">
                          <a:ln>
                            <a:noFill/>
                          </a:ln>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Who</a:t>
                      </a:r>
                      <a:endParaRPr kumimoji="0" lang="en-US" sz="2400" b="0" i="0" u="none" strike="noStrike" cap="none" normalizeH="0" baseline="0" dirty="0" smtClean="0">
                        <a:ln>
                          <a:noFill/>
                        </a:ln>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a:txBody>
                  <a:tcPr marT="45713" marB="45713" horzOverflow="overflow"/>
                </a:tc>
                <a:tc>
                  <a:txBody>
                    <a:bodyPr/>
                    <a:lstStyle/>
                    <a:p>
                      <a:pPr marL="0" marR="0" lvl="0" indent="0" algn="ctr" defTabSz="914400" rtl="0" eaLnBrk="1" fontAlgn="base" latinLnBrk="0" hangingPunct="1">
                        <a:lnSpc>
                          <a:spcPct val="100000"/>
                        </a:lnSpc>
                        <a:spcBef>
                          <a:spcPct val="20000"/>
                        </a:spcBef>
                        <a:spcAft>
                          <a:spcPct val="0"/>
                        </a:spcAft>
                        <a:buClrTx/>
                        <a:buSzPct val="75000"/>
                        <a:buFontTx/>
                        <a:buNone/>
                        <a:tabLst/>
                      </a:pPr>
                      <a:r>
                        <a:rPr kumimoji="0" lang="en-US" sz="2400" u="none" strike="noStrike" cap="none" normalizeH="0" baseline="0" dirty="0" smtClean="0">
                          <a:ln>
                            <a:noFill/>
                          </a:ln>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Where</a:t>
                      </a:r>
                      <a:endParaRPr kumimoji="0" lang="en-US" sz="2400" b="0" i="0" u="none" strike="noStrike" cap="none" normalizeH="0" baseline="0" dirty="0" smtClean="0">
                        <a:ln>
                          <a:noFill/>
                        </a:ln>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a:txBody>
                  <a:tcPr marT="45713" marB="45713" horzOverflow="overflow"/>
                </a:tc>
                <a:extLst>
                  <a:ext uri="{0D108BD9-81ED-4DB2-BD59-A6C34878D82A}">
                    <a16:rowId xmlns:a16="http://schemas.microsoft.com/office/drawing/2014/main" val="10000"/>
                  </a:ext>
                </a:extLst>
              </a:tr>
              <a:tr h="884113">
                <a:tc>
                  <a:txBody>
                    <a:bodyPr/>
                    <a:lstStyle/>
                    <a:p>
                      <a:pPr marL="0" marR="0" lvl="0" indent="0" algn="ctr" defTabSz="914400" rtl="0" eaLnBrk="1" fontAlgn="base" latinLnBrk="0" hangingPunct="1">
                        <a:lnSpc>
                          <a:spcPct val="100000"/>
                        </a:lnSpc>
                        <a:spcBef>
                          <a:spcPct val="20000"/>
                        </a:spcBef>
                        <a:spcAft>
                          <a:spcPct val="0"/>
                        </a:spcAft>
                        <a:buClrTx/>
                        <a:buSzPct val="75000"/>
                        <a:buFontTx/>
                        <a:buNone/>
                        <a:tabLst/>
                      </a:pPr>
                      <a:r>
                        <a:rPr kumimoji="0" lang="en-US" sz="2400" u="none" strike="noStrike" cap="none" normalizeH="0" baseline="0" dirty="0" smtClean="0">
                          <a:ln>
                            <a:noFill/>
                          </a:ln>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Hardware</a:t>
                      </a:r>
                      <a:endParaRPr kumimoji="0" lang="en-US" sz="2400" b="0" i="0" u="none" strike="noStrike" cap="none" normalizeH="0" baseline="0" dirty="0" smtClean="0">
                        <a:ln>
                          <a:noFill/>
                        </a:ln>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a:txBody>
                  <a:tcPr marT="45713" marB="45713" horzOverflow="overflow"/>
                </a:tc>
                <a:tc>
                  <a:txBody>
                    <a:bodyPr/>
                    <a:lstStyle/>
                    <a:p>
                      <a:pPr marL="0" marR="0" lvl="0" indent="0" algn="ctr" defTabSz="914400" rtl="0" eaLnBrk="1" fontAlgn="base" latinLnBrk="0" hangingPunct="1">
                        <a:lnSpc>
                          <a:spcPct val="100000"/>
                        </a:lnSpc>
                        <a:spcBef>
                          <a:spcPct val="20000"/>
                        </a:spcBef>
                        <a:spcAft>
                          <a:spcPct val="0"/>
                        </a:spcAft>
                        <a:buClrTx/>
                        <a:buSzPct val="75000"/>
                        <a:buFontTx/>
                        <a:buNone/>
                        <a:tabLst/>
                      </a:pPr>
                      <a:r>
                        <a:rPr kumimoji="0" lang="en-US" sz="1600" u="none" strike="noStrike" cap="none" normalizeH="0" baseline="0" dirty="0" smtClean="0">
                          <a:ln>
                            <a:noFill/>
                          </a:ln>
                          <a:effectLst/>
                          <a:latin typeface="Tahoma" panose="020B0604030504040204" pitchFamily="34" charset="0"/>
                          <a:ea typeface="Tahoma" panose="020B0604030504040204" pitchFamily="34" charset="0"/>
                          <a:cs typeface="Tahoma" panose="020B0604030504040204" pitchFamily="34" charset="0"/>
                        </a:rPr>
                        <a:t>List of physical components of the system</a:t>
                      </a:r>
                      <a:endParaRPr kumimoji="0" lang="en-US" sz="1600" b="0" i="0" u="none" strike="noStrike" cap="none" normalizeH="0" baseline="0" dirty="0" smtClean="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T="45713" marB="45713" horzOverflow="overflow"/>
                </a:tc>
                <a:tc>
                  <a:txBody>
                    <a:bodyPr/>
                    <a:lstStyle/>
                    <a:p>
                      <a:pPr marL="0" marR="0" lvl="0" indent="0" algn="ctr" defTabSz="914400" rtl="0" eaLnBrk="1" fontAlgn="base" latinLnBrk="0" hangingPunct="1">
                        <a:lnSpc>
                          <a:spcPct val="100000"/>
                        </a:lnSpc>
                        <a:spcBef>
                          <a:spcPct val="20000"/>
                        </a:spcBef>
                        <a:spcAft>
                          <a:spcPct val="0"/>
                        </a:spcAft>
                        <a:buClrTx/>
                        <a:buSzPct val="75000"/>
                        <a:buFontTx/>
                        <a:buNone/>
                        <a:tabLst/>
                      </a:pPr>
                      <a:r>
                        <a:rPr kumimoji="0" lang="en-US" sz="1600" u="none" strike="noStrike" cap="none" normalizeH="0" baseline="0" dirty="0" smtClean="0">
                          <a:ln>
                            <a:noFill/>
                          </a:ln>
                          <a:effectLst/>
                          <a:latin typeface="Tahoma" panose="020B0604030504040204" pitchFamily="34" charset="0"/>
                          <a:ea typeface="Tahoma" panose="020B0604030504040204" pitchFamily="34" charset="0"/>
                          <a:cs typeface="Tahoma" panose="020B0604030504040204" pitchFamily="34" charset="0"/>
                        </a:rPr>
                        <a:t>Individuals who use it,</a:t>
                      </a:r>
                    </a:p>
                    <a:p>
                      <a:pPr marL="0" marR="0" lvl="0" indent="0" algn="ctr" defTabSz="914400" rtl="0" eaLnBrk="1" fontAlgn="base" latinLnBrk="0" hangingPunct="1">
                        <a:lnSpc>
                          <a:spcPct val="100000"/>
                        </a:lnSpc>
                        <a:spcBef>
                          <a:spcPct val="20000"/>
                        </a:spcBef>
                        <a:spcAft>
                          <a:spcPct val="0"/>
                        </a:spcAft>
                        <a:buClrTx/>
                        <a:buSzPct val="75000"/>
                        <a:buFontTx/>
                        <a:buNone/>
                        <a:tabLst/>
                      </a:pPr>
                      <a:r>
                        <a:rPr kumimoji="0" lang="en-US" sz="1600" u="none" strike="noStrike" cap="none" normalizeH="0" baseline="0" dirty="0" smtClean="0">
                          <a:ln>
                            <a:noFill/>
                          </a:ln>
                          <a:effectLst/>
                          <a:latin typeface="Tahoma" panose="020B0604030504040204" pitchFamily="34" charset="0"/>
                          <a:ea typeface="Tahoma" panose="020B0604030504040204" pitchFamily="34" charset="0"/>
                          <a:cs typeface="Tahoma" panose="020B0604030504040204" pitchFamily="34" charset="0"/>
                        </a:rPr>
                        <a:t>Individuals who manage it</a:t>
                      </a:r>
                      <a:endParaRPr kumimoji="0" lang="en-US" sz="1600" b="0" i="0" u="none" strike="noStrike" cap="none" normalizeH="0" baseline="0" dirty="0" smtClean="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T="45713" marB="45713" horzOverflow="overflow"/>
                </a:tc>
                <a:tc>
                  <a:txBody>
                    <a:bodyPr/>
                    <a:lstStyle/>
                    <a:p>
                      <a:pPr marL="0" marR="0" lvl="0" indent="0" algn="ctr" defTabSz="914400" rtl="0" eaLnBrk="1" fontAlgn="base" latinLnBrk="0" hangingPunct="1">
                        <a:lnSpc>
                          <a:spcPct val="100000"/>
                        </a:lnSpc>
                        <a:spcBef>
                          <a:spcPct val="20000"/>
                        </a:spcBef>
                        <a:spcAft>
                          <a:spcPct val="0"/>
                        </a:spcAft>
                        <a:buClrTx/>
                        <a:buSzPct val="75000"/>
                        <a:buFontTx/>
                        <a:buNone/>
                        <a:tabLst/>
                      </a:pPr>
                      <a:r>
                        <a:rPr kumimoji="0" lang="en-US" sz="1600" u="none" strike="noStrike" cap="none" normalizeH="0" baseline="0" dirty="0" smtClean="0">
                          <a:ln>
                            <a:noFill/>
                          </a:ln>
                          <a:effectLst/>
                          <a:latin typeface="Tahoma" panose="020B0604030504040204" pitchFamily="34" charset="0"/>
                          <a:ea typeface="Tahoma" panose="020B0604030504040204" pitchFamily="34" charset="0"/>
                          <a:cs typeface="Tahoma" panose="020B0604030504040204" pitchFamily="34" charset="0"/>
                        </a:rPr>
                        <a:t>Physical location</a:t>
                      </a:r>
                      <a:endParaRPr kumimoji="0" lang="en-US" sz="1600" b="0" i="0" u="none" strike="noStrike" cap="none" normalizeH="0" baseline="0" dirty="0" smtClean="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T="45713" marB="45713" horzOverflow="overflow"/>
                </a:tc>
                <a:extLst>
                  <a:ext uri="{0D108BD9-81ED-4DB2-BD59-A6C34878D82A}">
                    <a16:rowId xmlns:a16="http://schemas.microsoft.com/office/drawing/2014/main" val="10001"/>
                  </a:ext>
                </a:extLst>
              </a:tr>
              <a:tr h="1142838">
                <a:tc>
                  <a:txBody>
                    <a:bodyPr/>
                    <a:lstStyle/>
                    <a:p>
                      <a:pPr marL="0" marR="0" lvl="0" indent="0" algn="ctr" defTabSz="914400" rtl="0" eaLnBrk="1" fontAlgn="base" latinLnBrk="0" hangingPunct="1">
                        <a:lnSpc>
                          <a:spcPct val="100000"/>
                        </a:lnSpc>
                        <a:spcBef>
                          <a:spcPct val="20000"/>
                        </a:spcBef>
                        <a:spcAft>
                          <a:spcPct val="0"/>
                        </a:spcAft>
                        <a:buClrTx/>
                        <a:buSzPct val="75000"/>
                        <a:buFontTx/>
                        <a:buNone/>
                        <a:tabLst/>
                      </a:pPr>
                      <a:r>
                        <a:rPr kumimoji="0" lang="en-US" sz="2400" u="none" strike="noStrike" cap="none" normalizeH="0" baseline="0" dirty="0" smtClean="0">
                          <a:ln>
                            <a:noFill/>
                          </a:ln>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Software</a:t>
                      </a:r>
                      <a:endParaRPr kumimoji="0" lang="en-US" sz="2400" b="0" i="0" u="none" strike="noStrike" cap="none" normalizeH="0" baseline="0" dirty="0" smtClean="0">
                        <a:ln>
                          <a:noFill/>
                        </a:ln>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a:txBody>
                  <a:tcPr marT="45713" marB="45713" horzOverflow="overflow"/>
                </a:tc>
                <a:tc>
                  <a:txBody>
                    <a:bodyPr/>
                    <a:lstStyle/>
                    <a:p>
                      <a:pPr marL="0" marR="0" lvl="0" indent="0" algn="ctr" defTabSz="914400" rtl="0" eaLnBrk="1" fontAlgn="base" latinLnBrk="0" hangingPunct="1">
                        <a:lnSpc>
                          <a:spcPct val="100000"/>
                        </a:lnSpc>
                        <a:spcBef>
                          <a:spcPct val="20000"/>
                        </a:spcBef>
                        <a:spcAft>
                          <a:spcPct val="0"/>
                        </a:spcAft>
                        <a:buClrTx/>
                        <a:buSzPct val="75000"/>
                        <a:buFontTx/>
                        <a:buNone/>
                        <a:tabLst/>
                      </a:pPr>
                      <a:r>
                        <a:rPr kumimoji="0" lang="en-US" sz="1600" u="none" strike="noStrike" cap="none" normalizeH="0" baseline="0" dirty="0" smtClean="0">
                          <a:ln>
                            <a:noFill/>
                          </a:ln>
                          <a:effectLst/>
                          <a:latin typeface="Tahoma" panose="020B0604030504040204" pitchFamily="34" charset="0"/>
                          <a:ea typeface="Tahoma" panose="020B0604030504040204" pitchFamily="34" charset="0"/>
                          <a:cs typeface="Tahoma" panose="020B0604030504040204" pitchFamily="34" charset="0"/>
                        </a:rPr>
                        <a:t>List of programs, applications, and utilities</a:t>
                      </a:r>
                      <a:endParaRPr kumimoji="0" lang="en-US" sz="1600" b="0" i="0" u="none" strike="noStrike" cap="none" normalizeH="0" baseline="0" dirty="0" smtClean="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T="45713" marB="45713" horzOverflow="overflow"/>
                </a:tc>
                <a:tc>
                  <a:txBody>
                    <a:bodyPr/>
                    <a:lstStyle/>
                    <a:p>
                      <a:pPr marL="0" marR="0" lvl="0" indent="0" algn="ctr" defTabSz="914400" rtl="0" eaLnBrk="1" fontAlgn="base" latinLnBrk="0" hangingPunct="1">
                        <a:lnSpc>
                          <a:spcPct val="100000"/>
                        </a:lnSpc>
                        <a:spcBef>
                          <a:spcPct val="20000"/>
                        </a:spcBef>
                        <a:spcAft>
                          <a:spcPct val="0"/>
                        </a:spcAft>
                        <a:buClrTx/>
                        <a:buSzPct val="75000"/>
                        <a:buFontTx/>
                        <a:buNone/>
                        <a:tabLst/>
                      </a:pPr>
                      <a:r>
                        <a:rPr kumimoji="0" lang="en-US" sz="1600" u="none" strike="noStrike" cap="none" normalizeH="0" baseline="0" dirty="0" smtClean="0">
                          <a:ln>
                            <a:noFill/>
                          </a:ln>
                          <a:effectLst/>
                          <a:latin typeface="Tahoma" panose="020B0604030504040204" pitchFamily="34" charset="0"/>
                          <a:ea typeface="Tahoma" panose="020B0604030504040204" pitchFamily="34" charset="0"/>
                          <a:cs typeface="Tahoma" panose="020B0604030504040204" pitchFamily="34" charset="0"/>
                        </a:rPr>
                        <a:t>Individuals who use it</a:t>
                      </a:r>
                    </a:p>
                    <a:p>
                      <a:pPr marL="0" marR="0" lvl="0" indent="0" algn="ctr" defTabSz="914400" rtl="0" eaLnBrk="1" fontAlgn="base" latinLnBrk="0" hangingPunct="1">
                        <a:lnSpc>
                          <a:spcPct val="100000"/>
                        </a:lnSpc>
                        <a:spcBef>
                          <a:spcPct val="20000"/>
                        </a:spcBef>
                        <a:spcAft>
                          <a:spcPct val="0"/>
                        </a:spcAft>
                        <a:buClrTx/>
                        <a:buSzPct val="75000"/>
                        <a:buFontTx/>
                        <a:buNone/>
                        <a:tabLst/>
                      </a:pPr>
                      <a:r>
                        <a:rPr kumimoji="0" lang="en-US" sz="1600" u="none" strike="noStrike" cap="none" normalizeH="0" baseline="0" dirty="0" smtClean="0">
                          <a:ln>
                            <a:noFill/>
                          </a:ln>
                          <a:effectLst/>
                          <a:latin typeface="Tahoma" panose="020B0604030504040204" pitchFamily="34" charset="0"/>
                          <a:ea typeface="Tahoma" panose="020B0604030504040204" pitchFamily="34" charset="0"/>
                          <a:cs typeface="Tahoma" panose="020B0604030504040204" pitchFamily="34" charset="0"/>
                        </a:rPr>
                        <a:t>Individuals who manage it</a:t>
                      </a:r>
                      <a:endParaRPr kumimoji="0" lang="en-US" sz="1600" b="0" i="0" u="none" strike="noStrike" cap="none" normalizeH="0" baseline="0" dirty="0" smtClean="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T="45713" marB="45713" horzOverflow="overflow"/>
                </a:tc>
                <a:tc>
                  <a:txBody>
                    <a:bodyPr/>
                    <a:lstStyle/>
                    <a:p>
                      <a:pPr marL="0" marR="0" lvl="0" indent="0" algn="ctr" defTabSz="914400" rtl="0" eaLnBrk="1" fontAlgn="base" latinLnBrk="0" hangingPunct="1">
                        <a:lnSpc>
                          <a:spcPct val="100000"/>
                        </a:lnSpc>
                        <a:spcBef>
                          <a:spcPct val="20000"/>
                        </a:spcBef>
                        <a:spcAft>
                          <a:spcPct val="0"/>
                        </a:spcAft>
                        <a:buClrTx/>
                        <a:buSzPct val="75000"/>
                        <a:buFontTx/>
                        <a:buNone/>
                        <a:tabLst/>
                      </a:pPr>
                      <a:r>
                        <a:rPr kumimoji="0" lang="en-US" sz="1600" u="none" strike="noStrike" cap="none" normalizeH="0" baseline="0" dirty="0" smtClean="0">
                          <a:ln>
                            <a:noFill/>
                          </a:ln>
                          <a:effectLst/>
                          <a:latin typeface="Tahoma" panose="020B0604030504040204" pitchFamily="34" charset="0"/>
                          <a:ea typeface="Tahoma" panose="020B0604030504040204" pitchFamily="34" charset="0"/>
                          <a:cs typeface="Tahoma" panose="020B0604030504040204" pitchFamily="34" charset="0"/>
                        </a:rPr>
                        <a:t>What hardware it resides upon and where that hardware is located</a:t>
                      </a:r>
                      <a:endParaRPr kumimoji="0" lang="en-US" sz="1600" b="0" i="0" u="none" strike="noStrike" cap="none" normalizeH="0" baseline="0" dirty="0" smtClean="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T="45713" marB="45713" horzOverflow="overflow"/>
                </a:tc>
                <a:extLst>
                  <a:ext uri="{0D108BD9-81ED-4DB2-BD59-A6C34878D82A}">
                    <a16:rowId xmlns:a16="http://schemas.microsoft.com/office/drawing/2014/main" val="10002"/>
                  </a:ext>
                </a:extLst>
              </a:tr>
              <a:tr h="1419024">
                <a:tc>
                  <a:txBody>
                    <a:bodyPr/>
                    <a:lstStyle/>
                    <a:p>
                      <a:pPr marL="0" marR="0" lvl="0" indent="0" algn="ctr" defTabSz="914400" rtl="0" eaLnBrk="1" fontAlgn="base" latinLnBrk="0" hangingPunct="1">
                        <a:lnSpc>
                          <a:spcPct val="100000"/>
                        </a:lnSpc>
                        <a:spcBef>
                          <a:spcPct val="20000"/>
                        </a:spcBef>
                        <a:spcAft>
                          <a:spcPct val="0"/>
                        </a:spcAft>
                        <a:buClrTx/>
                        <a:buSzPct val="75000"/>
                        <a:buFontTx/>
                        <a:buNone/>
                        <a:tabLst/>
                      </a:pPr>
                      <a:r>
                        <a:rPr kumimoji="0" lang="en-US" sz="2400" u="none" strike="noStrike" cap="none" normalizeH="0" baseline="0" dirty="0" smtClean="0">
                          <a:ln>
                            <a:noFill/>
                          </a:ln>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Networking</a:t>
                      </a:r>
                      <a:endParaRPr kumimoji="0" lang="en-US" sz="2400" b="0" i="0" u="none" strike="noStrike" cap="none" normalizeH="0" baseline="0" dirty="0" smtClean="0">
                        <a:ln>
                          <a:noFill/>
                        </a:ln>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a:txBody>
                  <a:tcPr marT="45713" marB="45713" horzOverflow="overflow"/>
                </a:tc>
                <a:tc>
                  <a:txBody>
                    <a:bodyPr/>
                    <a:lstStyle/>
                    <a:p>
                      <a:pPr marL="0" marR="0" lvl="0" indent="0" algn="ctr" defTabSz="914400" rtl="0" eaLnBrk="1" fontAlgn="base" latinLnBrk="0" hangingPunct="1">
                        <a:lnSpc>
                          <a:spcPct val="100000"/>
                        </a:lnSpc>
                        <a:spcBef>
                          <a:spcPct val="20000"/>
                        </a:spcBef>
                        <a:spcAft>
                          <a:spcPct val="0"/>
                        </a:spcAft>
                        <a:buClrTx/>
                        <a:buSzPct val="75000"/>
                        <a:buFontTx/>
                        <a:buNone/>
                        <a:tabLst/>
                      </a:pPr>
                      <a:r>
                        <a:rPr kumimoji="0" lang="en-US" sz="1600" u="none" strike="noStrike" cap="none" normalizeH="0" baseline="0" dirty="0" smtClean="0">
                          <a:ln>
                            <a:noFill/>
                          </a:ln>
                          <a:effectLst/>
                          <a:latin typeface="Tahoma" panose="020B0604030504040204" pitchFamily="34" charset="0"/>
                          <a:ea typeface="Tahoma" panose="020B0604030504040204" pitchFamily="34" charset="0"/>
                          <a:cs typeface="Tahoma" panose="020B0604030504040204" pitchFamily="34" charset="0"/>
                        </a:rPr>
                        <a:t>Diagram of how hardware and software components are connected</a:t>
                      </a:r>
                      <a:endParaRPr kumimoji="0" lang="en-US" sz="1600" b="0" i="0" u="none" strike="noStrike" cap="none" normalizeH="0" baseline="0" dirty="0" smtClean="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T="45713" marB="45713" horzOverflow="overflow"/>
                </a:tc>
                <a:tc>
                  <a:txBody>
                    <a:bodyPr/>
                    <a:lstStyle/>
                    <a:p>
                      <a:pPr marL="0" marR="0" lvl="0" indent="0" algn="ctr" defTabSz="914400" rtl="0" eaLnBrk="1" fontAlgn="base" latinLnBrk="0" hangingPunct="1">
                        <a:lnSpc>
                          <a:spcPct val="100000"/>
                        </a:lnSpc>
                        <a:spcBef>
                          <a:spcPct val="20000"/>
                        </a:spcBef>
                        <a:spcAft>
                          <a:spcPct val="0"/>
                        </a:spcAft>
                        <a:buClrTx/>
                        <a:buSzPct val="75000"/>
                        <a:buFontTx/>
                        <a:buNone/>
                        <a:tabLst/>
                      </a:pPr>
                      <a:r>
                        <a:rPr kumimoji="0" lang="en-US" sz="1600" u="none" strike="noStrike" cap="none" normalizeH="0" baseline="0" dirty="0" smtClean="0">
                          <a:ln>
                            <a:noFill/>
                          </a:ln>
                          <a:effectLst/>
                          <a:latin typeface="Tahoma" panose="020B0604030504040204" pitchFamily="34" charset="0"/>
                          <a:ea typeface="Tahoma" panose="020B0604030504040204" pitchFamily="34" charset="0"/>
                          <a:cs typeface="Tahoma" panose="020B0604030504040204" pitchFamily="34" charset="0"/>
                        </a:rPr>
                        <a:t>Individuals who use it/ Individuals who manage it/</a:t>
                      </a:r>
                    </a:p>
                    <a:p>
                      <a:pPr marL="0" marR="0" lvl="0" indent="0" algn="ctr" defTabSz="914400" rtl="0" eaLnBrk="1" fontAlgn="base" latinLnBrk="0" hangingPunct="1">
                        <a:lnSpc>
                          <a:spcPct val="100000"/>
                        </a:lnSpc>
                        <a:spcBef>
                          <a:spcPct val="20000"/>
                        </a:spcBef>
                        <a:spcAft>
                          <a:spcPct val="0"/>
                        </a:spcAft>
                        <a:buClrTx/>
                        <a:buSzPct val="75000"/>
                        <a:buFontTx/>
                        <a:buNone/>
                        <a:tabLst/>
                      </a:pPr>
                      <a:r>
                        <a:rPr kumimoji="0" lang="en-US" sz="1600" u="none" strike="noStrike" cap="none" normalizeH="0" baseline="0" dirty="0" smtClean="0">
                          <a:ln>
                            <a:noFill/>
                          </a:ln>
                          <a:effectLst/>
                          <a:latin typeface="Tahoma" panose="020B0604030504040204" pitchFamily="34" charset="0"/>
                          <a:ea typeface="Tahoma" panose="020B0604030504040204" pitchFamily="34" charset="0"/>
                          <a:cs typeface="Tahoma" panose="020B0604030504040204" pitchFamily="34" charset="0"/>
                        </a:rPr>
                        <a:t>Company service obtained from</a:t>
                      </a:r>
                      <a:endParaRPr kumimoji="0" lang="en-US" sz="1600" b="0" i="0" u="none" strike="noStrike" cap="none" normalizeH="0" baseline="0" dirty="0" smtClean="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T="45713" marB="45713" horzOverflow="overflow"/>
                </a:tc>
                <a:tc>
                  <a:txBody>
                    <a:bodyPr/>
                    <a:lstStyle/>
                    <a:p>
                      <a:pPr marL="0" marR="0" lvl="0" indent="0" algn="ctr" defTabSz="914400" rtl="0" eaLnBrk="1" fontAlgn="base" latinLnBrk="0" hangingPunct="1">
                        <a:lnSpc>
                          <a:spcPct val="100000"/>
                        </a:lnSpc>
                        <a:spcBef>
                          <a:spcPct val="20000"/>
                        </a:spcBef>
                        <a:spcAft>
                          <a:spcPct val="0"/>
                        </a:spcAft>
                        <a:buClrTx/>
                        <a:buSzPct val="75000"/>
                        <a:buFontTx/>
                        <a:buNone/>
                        <a:tabLst/>
                      </a:pPr>
                      <a:r>
                        <a:rPr kumimoji="0" lang="en-US" sz="1600" u="none" strike="noStrike" cap="none" normalizeH="0" baseline="0" dirty="0" smtClean="0">
                          <a:ln>
                            <a:noFill/>
                          </a:ln>
                          <a:effectLst/>
                          <a:latin typeface="Tahoma" panose="020B0604030504040204" pitchFamily="34" charset="0"/>
                          <a:ea typeface="Tahoma" panose="020B0604030504040204" pitchFamily="34" charset="0"/>
                          <a:cs typeface="Tahoma" panose="020B0604030504040204" pitchFamily="34" charset="0"/>
                        </a:rPr>
                        <a:t>Where the nodes are located, where the wires and other transport media are located</a:t>
                      </a:r>
                      <a:endParaRPr kumimoji="0" lang="en-US" sz="1600" b="0" i="0" u="none" strike="noStrike" cap="none" normalizeH="0" baseline="0" dirty="0" smtClean="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T="45713" marB="45713" horzOverflow="overflow"/>
                </a:tc>
                <a:extLst>
                  <a:ext uri="{0D108BD9-81ED-4DB2-BD59-A6C34878D82A}">
                    <a16:rowId xmlns:a16="http://schemas.microsoft.com/office/drawing/2014/main" val="10003"/>
                  </a:ext>
                </a:extLst>
              </a:tr>
              <a:tr h="942841">
                <a:tc>
                  <a:txBody>
                    <a:bodyPr/>
                    <a:lstStyle/>
                    <a:p>
                      <a:pPr marL="0" marR="0" lvl="0" indent="0" algn="ctr" defTabSz="914400" rtl="0" eaLnBrk="1" fontAlgn="base" latinLnBrk="0" hangingPunct="1">
                        <a:lnSpc>
                          <a:spcPct val="100000"/>
                        </a:lnSpc>
                        <a:spcBef>
                          <a:spcPct val="20000"/>
                        </a:spcBef>
                        <a:spcAft>
                          <a:spcPct val="0"/>
                        </a:spcAft>
                        <a:buClrTx/>
                        <a:buSzPct val="75000"/>
                        <a:buFontTx/>
                        <a:buNone/>
                        <a:tabLst/>
                      </a:pPr>
                      <a:r>
                        <a:rPr kumimoji="0" lang="en-US" sz="2400" u="none" strike="noStrike" cap="none" normalizeH="0" baseline="0" dirty="0" smtClean="0">
                          <a:ln>
                            <a:noFill/>
                          </a:ln>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Data</a:t>
                      </a:r>
                      <a:endParaRPr kumimoji="0" lang="en-US" sz="2400" b="0" i="0" u="none" strike="noStrike" cap="none" normalizeH="0" baseline="0" dirty="0" smtClean="0">
                        <a:ln>
                          <a:noFill/>
                        </a:ln>
                        <a:solidFill>
                          <a:schemeClr val="tx1"/>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endParaRPr>
                    </a:p>
                  </a:txBody>
                  <a:tcPr marT="45713" marB="45713" horzOverflow="overflow"/>
                </a:tc>
                <a:tc>
                  <a:txBody>
                    <a:bodyPr/>
                    <a:lstStyle/>
                    <a:p>
                      <a:pPr marL="0" marR="0" lvl="0" indent="0" algn="ctr" defTabSz="914400" rtl="0" eaLnBrk="1" fontAlgn="base" latinLnBrk="0" hangingPunct="1">
                        <a:lnSpc>
                          <a:spcPct val="100000"/>
                        </a:lnSpc>
                        <a:spcBef>
                          <a:spcPct val="20000"/>
                        </a:spcBef>
                        <a:spcAft>
                          <a:spcPct val="0"/>
                        </a:spcAft>
                        <a:buClrTx/>
                        <a:buSzPct val="75000"/>
                        <a:buFontTx/>
                        <a:buNone/>
                        <a:tabLst/>
                      </a:pPr>
                      <a:r>
                        <a:rPr kumimoji="0" lang="en-US" sz="1600" u="none" strike="noStrike" cap="none" normalizeH="0" baseline="0" dirty="0" smtClean="0">
                          <a:ln>
                            <a:noFill/>
                          </a:ln>
                          <a:effectLst/>
                          <a:latin typeface="Tahoma" panose="020B0604030504040204" pitchFamily="34" charset="0"/>
                          <a:ea typeface="Tahoma" panose="020B0604030504040204" pitchFamily="34" charset="0"/>
                          <a:cs typeface="Tahoma" panose="020B0604030504040204" pitchFamily="34" charset="0"/>
                        </a:rPr>
                        <a:t>Bits of information stored in the system</a:t>
                      </a:r>
                      <a:endParaRPr kumimoji="0" lang="en-US" sz="1600" b="0" i="0" u="none" strike="noStrike" cap="none" normalizeH="0" baseline="0" dirty="0" smtClean="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T="45713" marB="45713" horzOverflow="overflow"/>
                </a:tc>
                <a:tc>
                  <a:txBody>
                    <a:bodyPr/>
                    <a:lstStyle/>
                    <a:p>
                      <a:pPr marL="0" marR="0" lvl="0" indent="0" algn="ctr" defTabSz="914400" rtl="0" eaLnBrk="1" fontAlgn="base" latinLnBrk="0" hangingPunct="1">
                        <a:lnSpc>
                          <a:spcPct val="100000"/>
                        </a:lnSpc>
                        <a:spcBef>
                          <a:spcPct val="20000"/>
                        </a:spcBef>
                        <a:spcAft>
                          <a:spcPct val="0"/>
                        </a:spcAft>
                        <a:buClrTx/>
                        <a:buSzPct val="75000"/>
                        <a:buFontTx/>
                        <a:buNone/>
                        <a:tabLst/>
                      </a:pPr>
                      <a:r>
                        <a:rPr kumimoji="0" lang="en-US" sz="1600" u="none" strike="noStrike" cap="none" normalizeH="0" baseline="0" dirty="0" smtClean="0">
                          <a:ln>
                            <a:noFill/>
                          </a:ln>
                          <a:effectLst/>
                          <a:latin typeface="Tahoma" panose="020B0604030504040204" pitchFamily="34" charset="0"/>
                          <a:ea typeface="Tahoma" panose="020B0604030504040204" pitchFamily="34" charset="0"/>
                          <a:cs typeface="Tahoma" panose="020B0604030504040204" pitchFamily="34" charset="0"/>
                        </a:rPr>
                        <a:t>Individuals who use it</a:t>
                      </a:r>
                    </a:p>
                    <a:p>
                      <a:pPr marL="0" marR="0" lvl="0" indent="0" algn="ctr" defTabSz="914400" rtl="0" eaLnBrk="1" fontAlgn="base" latinLnBrk="0" hangingPunct="1">
                        <a:lnSpc>
                          <a:spcPct val="100000"/>
                        </a:lnSpc>
                        <a:spcBef>
                          <a:spcPct val="20000"/>
                        </a:spcBef>
                        <a:spcAft>
                          <a:spcPct val="0"/>
                        </a:spcAft>
                        <a:buClrTx/>
                        <a:buSzPct val="75000"/>
                        <a:buFontTx/>
                        <a:buNone/>
                        <a:tabLst/>
                      </a:pPr>
                      <a:r>
                        <a:rPr kumimoji="0" lang="en-US" sz="1600" u="none" strike="noStrike" cap="none" normalizeH="0" baseline="0" dirty="0" smtClean="0">
                          <a:ln>
                            <a:noFill/>
                          </a:ln>
                          <a:effectLst/>
                          <a:latin typeface="Tahoma" panose="020B0604030504040204" pitchFamily="34" charset="0"/>
                          <a:ea typeface="Tahoma" panose="020B0604030504040204" pitchFamily="34" charset="0"/>
                          <a:cs typeface="Tahoma" panose="020B0604030504040204" pitchFamily="34" charset="0"/>
                        </a:rPr>
                        <a:t>Individuals who manage it</a:t>
                      </a:r>
                      <a:endParaRPr kumimoji="0" lang="en-US" sz="1600" b="0" i="0" u="none" strike="noStrike" cap="none" normalizeH="0" baseline="0" dirty="0" smtClean="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T="45713" marB="45713" horzOverflow="overflow"/>
                </a:tc>
                <a:tc>
                  <a:txBody>
                    <a:bodyPr/>
                    <a:lstStyle/>
                    <a:p>
                      <a:pPr marL="0" marR="0" lvl="0" indent="0" algn="ctr" defTabSz="914400" rtl="0" eaLnBrk="1" fontAlgn="base" latinLnBrk="0" hangingPunct="1">
                        <a:lnSpc>
                          <a:spcPct val="100000"/>
                        </a:lnSpc>
                        <a:spcBef>
                          <a:spcPct val="20000"/>
                        </a:spcBef>
                        <a:spcAft>
                          <a:spcPct val="0"/>
                        </a:spcAft>
                        <a:buClrTx/>
                        <a:buSzPct val="75000"/>
                        <a:buFontTx/>
                        <a:buNone/>
                        <a:tabLst/>
                      </a:pPr>
                      <a:r>
                        <a:rPr kumimoji="0" lang="en-US" sz="1600" u="none" strike="noStrike" cap="none" normalizeH="0" baseline="0" dirty="0" smtClean="0">
                          <a:ln>
                            <a:noFill/>
                          </a:ln>
                          <a:effectLst/>
                          <a:latin typeface="Tahoma" panose="020B0604030504040204" pitchFamily="34" charset="0"/>
                          <a:ea typeface="Tahoma" panose="020B0604030504040204" pitchFamily="34" charset="0"/>
                          <a:cs typeface="Tahoma" panose="020B0604030504040204" pitchFamily="34" charset="0"/>
                        </a:rPr>
                        <a:t>Where the information resides</a:t>
                      </a:r>
                      <a:endParaRPr kumimoji="0" lang="en-US" sz="1600" b="0" i="0" u="none" strike="noStrike" cap="none" normalizeH="0" baseline="0" dirty="0" smtClean="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T="45713" marB="45713" horzOverflow="overflow"/>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2159295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txBox="1">
            <a:spLocks noChangeArrowheads="1"/>
          </p:cNvSpPr>
          <p:nvPr/>
        </p:nvSpPr>
        <p:spPr>
          <a:xfrm>
            <a:off x="685800" y="990600"/>
            <a:ext cx="7772400" cy="44958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Food For Thought:</a:t>
            </a:r>
          </a:p>
          <a:p>
            <a:r>
              <a:rPr lang="en-US" altLang="en-US"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 The Halo Effect And Other Business Misconceptions</a:t>
            </a:r>
          </a:p>
        </p:txBody>
      </p:sp>
    </p:spTree>
    <p:extLst>
      <p:ext uri="{BB962C8B-B14F-4D97-AF65-F5344CB8AC3E}">
        <p14:creationId xmlns:p14="http://schemas.microsoft.com/office/powerpoint/2010/main" val="7226156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title"/>
          </p:nvPr>
        </p:nvSpPr>
        <p:spPr>
          <a:xfrm>
            <a:off x="457200" y="152400"/>
            <a:ext cx="8229600" cy="1143000"/>
          </a:xfrm>
        </p:spPr>
        <p:txBody>
          <a:bodyPr>
            <a:normAutofit/>
          </a:bodyPr>
          <a:lstStyle/>
          <a:p>
            <a:pPr eaLnBrk="1" hangingPunct="1"/>
            <a:r>
              <a:rPr lang="en-US" altLang="en-US" sz="40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Halo Effect</a:t>
            </a:r>
          </a:p>
        </p:txBody>
      </p:sp>
      <p:sp>
        <p:nvSpPr>
          <p:cNvPr id="36868" name="Rectangle 3"/>
          <p:cNvSpPr>
            <a:spLocks noGrp="1" noChangeArrowheads="1"/>
          </p:cNvSpPr>
          <p:nvPr>
            <p:ph type="body" idx="1"/>
          </p:nvPr>
        </p:nvSpPr>
        <p:spPr>
          <a:xfrm>
            <a:off x="762000" y="1447800"/>
            <a:ext cx="7620000" cy="4876800"/>
          </a:xfrm>
        </p:spPr>
        <p:txBody>
          <a:bodyPr>
            <a:normAutofit/>
          </a:bodyPr>
          <a:lstStyle/>
          <a:p>
            <a:pPr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In Feb 2005 Dell was ranked #1 as the most admired company.</a:t>
            </a:r>
          </a:p>
          <a:p>
            <a:pPr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But, two years later their performance slumped.</a:t>
            </a:r>
          </a:p>
          <a:p>
            <a:pPr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The halo effect is “</a:t>
            </a:r>
            <a:r>
              <a:rPr lang="en-US" altLang="en-US" sz="2400" dirty="0" smtClean="0">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the basic human tendency to make specific inferences on the basis of a general impression</a:t>
            </a:r>
            <a:r>
              <a:rPr lang="en-US" altLang="en-US" sz="2400" dirty="0" smtClean="0">
                <a:latin typeface="Tahoma" panose="020B0604030504040204" pitchFamily="34" charset="0"/>
                <a:ea typeface="Tahoma" panose="020B0604030504040204" pitchFamily="34" charset="0"/>
                <a:cs typeface="Tahoma" panose="020B0604030504040204" pitchFamily="34" charset="0"/>
              </a:rPr>
              <a:t>” (</a:t>
            </a:r>
            <a:r>
              <a:rPr lang="en-US" altLang="en-US" sz="2400" dirty="0" err="1" smtClean="0">
                <a:latin typeface="Tahoma" panose="020B0604030504040204" pitchFamily="34" charset="0"/>
                <a:ea typeface="Tahoma" panose="020B0604030504040204" pitchFamily="34" charset="0"/>
                <a:cs typeface="Tahoma" panose="020B0604030504040204" pitchFamily="34" charset="0"/>
              </a:rPr>
              <a:t>Rosenzweig</a:t>
            </a:r>
            <a:r>
              <a:rPr lang="en-US" altLang="en-US" sz="2400" dirty="0" smtClean="0">
                <a:latin typeface="Tahoma" panose="020B0604030504040204" pitchFamily="34" charset="0"/>
                <a:ea typeface="Tahoma" panose="020B0604030504040204" pitchFamily="34" charset="0"/>
                <a:cs typeface="Tahoma" panose="020B0604030504040204" pitchFamily="34" charset="0"/>
              </a:rPr>
              <a:t>).</a:t>
            </a:r>
          </a:p>
          <a:p>
            <a:pPr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This effect impacted journalists view of Dell.</a:t>
            </a:r>
          </a:p>
        </p:txBody>
      </p:sp>
    </p:spTree>
    <p:extLst>
      <p:ext uri="{BB962C8B-B14F-4D97-AF65-F5344CB8AC3E}">
        <p14:creationId xmlns:p14="http://schemas.microsoft.com/office/powerpoint/2010/main" val="42858558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Content Placeholder 2"/>
          <p:cNvSpPr>
            <a:spLocks noGrp="1"/>
          </p:cNvSpPr>
          <p:nvPr>
            <p:ph idx="1"/>
          </p:nvPr>
        </p:nvSpPr>
        <p:spPr>
          <a:xfrm>
            <a:off x="381000" y="1570037"/>
            <a:ext cx="8229600" cy="4449763"/>
          </a:xfrm>
        </p:spPr>
        <p:txBody>
          <a:bodyPr>
            <a:normAutofit lnSpcReduction="10000"/>
          </a:bodyPr>
          <a:lstStyle/>
          <a:p>
            <a:pPr algn="just" eaLnBrk="1" hangingPunct="1">
              <a:lnSpc>
                <a:spcPct val="150000"/>
              </a:lnSpc>
            </a:pPr>
            <a:r>
              <a:rPr lang="en-US" altLang="en-US" sz="2400" dirty="0" err="1" smtClean="0">
                <a:latin typeface="Tahoma" panose="020B0604030504040204" pitchFamily="34" charset="0"/>
                <a:ea typeface="Tahoma" panose="020B0604030504040204" pitchFamily="34" charset="0"/>
                <a:cs typeface="Tahoma" panose="020B0604030504040204" pitchFamily="34" charset="0"/>
              </a:rPr>
              <a:t>Rosenzweig</a:t>
            </a:r>
            <a:r>
              <a:rPr lang="en-US" altLang="en-US" sz="2400" dirty="0" smtClean="0">
                <a:latin typeface="Tahoma" panose="020B0604030504040204" pitchFamily="34" charset="0"/>
                <a:ea typeface="Tahoma" panose="020B0604030504040204" pitchFamily="34" charset="0"/>
                <a:cs typeface="Tahoma" panose="020B0604030504040204" pitchFamily="34" charset="0"/>
              </a:rPr>
              <a:t> describes three misconceptions that are created by the halo effect in general </a:t>
            </a:r>
          </a:p>
          <a:p>
            <a:pPr lvl="1" algn="just" eaLnBrk="1" hangingPunct="1">
              <a:lnSpc>
                <a:spcPct val="150000"/>
              </a:lnSpc>
              <a:buFont typeface="Wingdings" panose="05000000000000000000" pitchFamily="2" charset="2"/>
              <a:buChar char="Ä"/>
            </a:pPr>
            <a:r>
              <a:rPr lang="en-US" altLang="en-US" sz="2400" i="1" dirty="0" smtClean="0">
                <a:latin typeface="Tahoma" panose="020B0604030504040204" pitchFamily="34" charset="0"/>
                <a:ea typeface="Tahoma" panose="020B0604030504040204" pitchFamily="34" charset="0"/>
                <a:cs typeface="Tahoma" panose="020B0604030504040204" pitchFamily="34" charset="0"/>
              </a:rPr>
              <a:t>There exists a formula or blueprint that companies can apply and become high performers. </a:t>
            </a:r>
          </a:p>
          <a:p>
            <a:pPr lvl="1" algn="just" eaLnBrk="1" hangingPunct="1">
              <a:lnSpc>
                <a:spcPct val="150000"/>
              </a:lnSpc>
              <a:buFont typeface="Wingdings" panose="05000000000000000000" pitchFamily="2" charset="2"/>
              <a:buChar char="Ä"/>
            </a:pPr>
            <a:r>
              <a:rPr lang="en-US" altLang="en-US" sz="2400" i="1" dirty="0" smtClean="0">
                <a:latin typeface="Tahoma" panose="020B0604030504040204" pitchFamily="34" charset="0"/>
                <a:ea typeface="Tahoma" panose="020B0604030504040204" pitchFamily="34" charset="0"/>
                <a:cs typeface="Tahoma" panose="020B0604030504040204" pitchFamily="34" charset="0"/>
              </a:rPr>
              <a:t>Firm performance is driven entirely by internal factors. </a:t>
            </a:r>
          </a:p>
          <a:p>
            <a:pPr lvl="1" algn="just" eaLnBrk="1" hangingPunct="1">
              <a:lnSpc>
                <a:spcPct val="150000"/>
              </a:lnSpc>
              <a:buFont typeface="Wingdings" panose="05000000000000000000" pitchFamily="2" charset="2"/>
              <a:buChar char="Ä"/>
            </a:pPr>
            <a:r>
              <a:rPr lang="en-US" altLang="en-US" sz="2400" i="1" dirty="0" smtClean="0">
                <a:latin typeface="Tahoma" panose="020B0604030504040204" pitchFamily="34" charset="0"/>
                <a:ea typeface="Tahoma" panose="020B0604030504040204" pitchFamily="34" charset="0"/>
                <a:cs typeface="Tahoma" panose="020B0604030504040204" pitchFamily="34" charset="0"/>
              </a:rPr>
              <a:t>Because a decision may turn out badly does not necessarily mean that it was poorly made. </a:t>
            </a:r>
          </a:p>
        </p:txBody>
      </p:sp>
      <p:sp>
        <p:nvSpPr>
          <p:cNvPr id="3" name="Rectangle 2"/>
          <p:cNvSpPr>
            <a:spLocks noGrp="1" noChangeArrowheads="1"/>
          </p:cNvSpPr>
          <p:nvPr>
            <p:ph type="title"/>
          </p:nvPr>
        </p:nvSpPr>
        <p:spPr>
          <a:xfrm>
            <a:off x="457200" y="152400"/>
            <a:ext cx="8229600" cy="1143000"/>
          </a:xfrm>
        </p:spPr>
        <p:txBody>
          <a:bodyPr>
            <a:normAutofit/>
          </a:bodyPr>
          <a:lstStyle/>
          <a:p>
            <a:pPr eaLnBrk="1" hangingPunct="1"/>
            <a:r>
              <a:rPr lang="en-US" altLang="en-US" sz="40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Halo Effect</a:t>
            </a:r>
          </a:p>
        </p:txBody>
      </p:sp>
    </p:spTree>
    <p:extLst>
      <p:ext uri="{BB962C8B-B14F-4D97-AF65-F5344CB8AC3E}">
        <p14:creationId xmlns:p14="http://schemas.microsoft.com/office/powerpoint/2010/main" val="38414349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Content Placeholder 2"/>
          <p:cNvSpPr>
            <a:spLocks noGrp="1"/>
          </p:cNvSpPr>
          <p:nvPr>
            <p:ph idx="1"/>
          </p:nvPr>
        </p:nvSpPr>
        <p:spPr>
          <a:xfrm>
            <a:off x="609600" y="1493837"/>
            <a:ext cx="7772400" cy="4906963"/>
          </a:xfrm>
        </p:spPr>
        <p:txBody>
          <a:bodyPr>
            <a:normAutofit lnSpcReduction="10000"/>
          </a:bodyPr>
          <a:lstStyle/>
          <a:p>
            <a:pPr algn="just" eaLnBrk="1" hangingPunct="1">
              <a:lnSpc>
                <a:spcPct val="150000"/>
              </a:lnSpc>
            </a:pPr>
            <a:r>
              <a:rPr lang="en-US" altLang="en-US" sz="2400" dirty="0" err="1" smtClean="0">
                <a:latin typeface="Tahoma" panose="020B0604030504040204" pitchFamily="34" charset="0"/>
                <a:ea typeface="Tahoma" panose="020B0604030504040204" pitchFamily="34" charset="0"/>
                <a:cs typeface="Tahoma" panose="020B0604030504040204" pitchFamily="34" charset="0"/>
              </a:rPr>
              <a:t>Rosenzweig</a:t>
            </a:r>
            <a:r>
              <a:rPr lang="en-US" altLang="en-US" sz="2400" dirty="0" smtClean="0">
                <a:latin typeface="Tahoma" panose="020B0604030504040204" pitchFamily="34" charset="0"/>
                <a:ea typeface="Tahoma" panose="020B0604030504040204" pitchFamily="34" charset="0"/>
                <a:cs typeface="Tahoma" panose="020B0604030504040204" pitchFamily="34" charset="0"/>
              </a:rPr>
              <a:t> said that “managers should be doubtful of formulas, recognize that performance is relative, think of business decisions in terms of probabilities, and carefully evaluate decision making processes and not just their outcomes”.  </a:t>
            </a:r>
          </a:p>
          <a:p>
            <a:pPr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Dell was not stuck in a rut and looked for new possibilities of growth.</a:t>
            </a:r>
          </a:p>
          <a:p>
            <a:pPr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HP hired a new CEO during that time period who was very effective and directly impacted Dell.</a:t>
            </a:r>
          </a:p>
        </p:txBody>
      </p:sp>
      <p:sp>
        <p:nvSpPr>
          <p:cNvPr id="3" name="Rectangle 2"/>
          <p:cNvSpPr>
            <a:spLocks noGrp="1" noChangeArrowheads="1"/>
          </p:cNvSpPr>
          <p:nvPr>
            <p:ph type="title"/>
          </p:nvPr>
        </p:nvSpPr>
        <p:spPr>
          <a:xfrm>
            <a:off x="457200" y="152400"/>
            <a:ext cx="8229600" cy="1143000"/>
          </a:xfrm>
        </p:spPr>
        <p:txBody>
          <a:bodyPr>
            <a:normAutofit/>
          </a:bodyPr>
          <a:lstStyle/>
          <a:p>
            <a:pPr eaLnBrk="1" hangingPunct="1"/>
            <a:r>
              <a:rPr lang="en-US" altLang="en-US" sz="4000" dirty="0"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Halo Effect</a:t>
            </a:r>
          </a:p>
        </p:txBody>
      </p:sp>
    </p:spTree>
    <p:extLst>
      <p:ext uri="{BB962C8B-B14F-4D97-AF65-F5344CB8AC3E}">
        <p14:creationId xmlns:p14="http://schemas.microsoft.com/office/powerpoint/2010/main" val="11245229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a:xfrm>
            <a:off x="457200" y="274638"/>
            <a:ext cx="8229600" cy="792162"/>
          </a:xfrm>
        </p:spPr>
        <p:txBody>
          <a:bodyPr/>
          <a:lstStyle/>
          <a:p>
            <a:pPr eaLnBrk="1" hangingPunct="1"/>
            <a:r>
              <a:rPr lang="en-US" altLang="en-US"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Summary</a:t>
            </a:r>
          </a:p>
        </p:txBody>
      </p:sp>
      <p:sp>
        <p:nvSpPr>
          <p:cNvPr id="40964" name="Rectangle 3"/>
          <p:cNvSpPr>
            <a:spLocks noGrp="1" noChangeArrowheads="1"/>
          </p:cNvSpPr>
          <p:nvPr>
            <p:ph type="body" idx="1"/>
          </p:nvPr>
        </p:nvSpPr>
        <p:spPr>
          <a:xfrm>
            <a:off x="609600" y="1371600"/>
            <a:ext cx="7924800" cy="4724400"/>
          </a:xfrm>
        </p:spPr>
        <p:txBody>
          <a:bodyPr>
            <a:normAutofit fontScale="92500"/>
          </a:bodyPr>
          <a:lstStyle/>
          <a:p>
            <a:pPr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The Information Systems Strategy Triangle shows that business strategy always drives organizational and information strategies.</a:t>
            </a:r>
          </a:p>
          <a:p>
            <a:pPr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Business strategy drives organizational and IS strategy. </a:t>
            </a:r>
          </a:p>
          <a:p>
            <a:pPr lvl="1"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Includes models from Porter and </a:t>
            </a:r>
            <a:r>
              <a:rPr lang="en-US" altLang="en-US" sz="2400" dirty="0" err="1" smtClean="0">
                <a:latin typeface="Tahoma" panose="020B0604030504040204" pitchFamily="34" charset="0"/>
                <a:ea typeface="Tahoma" panose="020B0604030504040204" pitchFamily="34" charset="0"/>
                <a:cs typeface="Tahoma" panose="020B0604030504040204" pitchFamily="34" charset="0"/>
              </a:rPr>
              <a:t>D’Aveni</a:t>
            </a:r>
            <a:r>
              <a:rPr lang="en-US" altLang="en-US" sz="2400" dirty="0" smtClean="0">
                <a:latin typeface="Tahoma" panose="020B0604030504040204" pitchFamily="34" charset="0"/>
                <a:ea typeface="Tahoma" panose="020B0604030504040204" pitchFamily="34" charset="0"/>
                <a:cs typeface="Tahoma" panose="020B0604030504040204" pitchFamily="34" charset="0"/>
              </a:rPr>
              <a:t>.</a:t>
            </a:r>
          </a:p>
          <a:p>
            <a:pPr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Organizational strategy must complement business strategy. </a:t>
            </a:r>
          </a:p>
          <a:p>
            <a:pPr lvl="1"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Models are the business diamond and managerial levers.</a:t>
            </a:r>
          </a:p>
        </p:txBody>
      </p:sp>
    </p:spTree>
    <p:extLst>
      <p:ext uri="{BB962C8B-B14F-4D97-AF65-F5344CB8AC3E}">
        <p14:creationId xmlns:p14="http://schemas.microsoft.com/office/powerpoint/2010/main" val="16012012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title"/>
          </p:nvPr>
        </p:nvSpPr>
        <p:spPr>
          <a:xfrm>
            <a:off x="457200" y="274638"/>
            <a:ext cx="8229600" cy="792162"/>
          </a:xfrm>
        </p:spPr>
        <p:txBody>
          <a:bodyPr/>
          <a:lstStyle/>
          <a:p>
            <a:pPr eaLnBrk="1" hangingPunct="1"/>
            <a:r>
              <a:rPr lang="en-US" altLang="en-US" smtClean="0">
                <a:solidFill>
                  <a:srgbClr val="03BD15"/>
                </a:solidFill>
                <a:effectLst>
                  <a:outerShdw blurRad="38100" dist="38100" dir="2700000" algn="tl">
                    <a:srgbClr val="000000">
                      <a:alpha val="43137"/>
                    </a:srgbClr>
                  </a:outerShdw>
                </a:effectLst>
                <a:latin typeface="Tahoma" panose="020B0604030504040204" pitchFamily="34" charset="0"/>
                <a:ea typeface="Tahoma" panose="020B0604030504040204" pitchFamily="34" charset="0"/>
                <a:cs typeface="Tahoma" panose="020B0604030504040204" pitchFamily="34" charset="0"/>
              </a:rPr>
              <a:t>Summary</a:t>
            </a:r>
          </a:p>
        </p:txBody>
      </p:sp>
      <p:sp>
        <p:nvSpPr>
          <p:cNvPr id="41988" name="Rectangle 3"/>
          <p:cNvSpPr>
            <a:spLocks noGrp="1" noChangeArrowheads="1"/>
          </p:cNvSpPr>
          <p:nvPr>
            <p:ph type="body" idx="1"/>
          </p:nvPr>
        </p:nvSpPr>
        <p:spPr>
          <a:xfrm>
            <a:off x="685800" y="1371600"/>
            <a:ext cx="7772400" cy="4648200"/>
          </a:xfrm>
        </p:spPr>
        <p:txBody>
          <a:bodyPr>
            <a:normAutofit fontScale="92500" lnSpcReduction="20000"/>
          </a:bodyPr>
          <a:lstStyle/>
          <a:p>
            <a:pPr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IS strategy must complement business strategy.</a:t>
            </a:r>
          </a:p>
          <a:p>
            <a:pPr lvl="1"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 When IS supports business goals the business appears to be working well.</a:t>
            </a:r>
          </a:p>
          <a:p>
            <a:pPr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Strategic Relationships.</a:t>
            </a:r>
          </a:p>
          <a:p>
            <a:pPr lvl="1"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Organizational strategy and information strategy must complement each other. </a:t>
            </a:r>
          </a:p>
          <a:p>
            <a:pPr lvl="1"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They must support, not hinder each other.</a:t>
            </a:r>
          </a:p>
          <a:p>
            <a:pPr lvl="1" algn="just" eaLnBrk="1" hangingPunct="1">
              <a:lnSpc>
                <a:spcPct val="150000"/>
              </a:lnSpc>
            </a:pPr>
            <a:r>
              <a:rPr lang="en-US" altLang="en-US" sz="2400" dirty="0" smtClean="0">
                <a:latin typeface="Tahoma" panose="020B0604030504040204" pitchFamily="34" charset="0"/>
                <a:ea typeface="Tahoma" panose="020B0604030504040204" pitchFamily="34" charset="0"/>
                <a:cs typeface="Tahoma" panose="020B0604030504040204" pitchFamily="34" charset="0"/>
              </a:rPr>
              <a:t>If change is made to one area the others must be examined to ensure balance.</a:t>
            </a:r>
          </a:p>
        </p:txBody>
      </p:sp>
    </p:spTree>
    <p:extLst>
      <p:ext uri="{BB962C8B-B14F-4D97-AF65-F5344CB8AC3E}">
        <p14:creationId xmlns:p14="http://schemas.microsoft.com/office/powerpoint/2010/main" val="17422466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5010</TotalTime>
  <Words>2566</Words>
  <Application>Microsoft Office PowerPoint</Application>
  <PresentationFormat>On-screen Show (4:3)</PresentationFormat>
  <Paragraphs>285</Paragraphs>
  <Slides>43</Slides>
  <Notes>28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Arial</vt:lpstr>
      <vt:lpstr>Calibri</vt:lpstr>
      <vt:lpstr>Tahoma</vt:lpstr>
      <vt:lpstr>Wingdings</vt:lpstr>
      <vt:lpstr>Office Theme</vt:lpstr>
      <vt:lpstr>INF 2202  IS Strategy, Management and Acquisition  Lecture #5   </vt:lpstr>
      <vt:lpstr>Learning Objectives</vt:lpstr>
      <vt:lpstr>Real World Example</vt:lpstr>
      <vt:lpstr>The Impact of IS</vt:lpstr>
      <vt:lpstr>PowerPoint Presentation</vt:lpstr>
      <vt:lpstr>IS Strategy Triangle</vt:lpstr>
      <vt:lpstr>PowerPoint Presentation</vt:lpstr>
      <vt:lpstr>Think about it</vt:lpstr>
      <vt:lpstr>Strategy</vt:lpstr>
      <vt:lpstr>PowerPoint Presentation</vt:lpstr>
      <vt:lpstr>Generic Strategies Framework</vt:lpstr>
      <vt:lpstr>PowerPoint Presentation</vt:lpstr>
      <vt:lpstr>Cost leadership Strategy</vt:lpstr>
      <vt:lpstr>Cost leadership Strategy</vt:lpstr>
      <vt:lpstr>The Differentiation Strategy</vt:lpstr>
      <vt:lpstr>The Differentiation Strategy</vt:lpstr>
      <vt:lpstr>The Differentiation Strategy</vt:lpstr>
      <vt:lpstr>The Focus Strategy</vt:lpstr>
      <vt:lpstr>Cost leadership Strategy</vt:lpstr>
      <vt:lpstr>Cost leadership Strategy</vt:lpstr>
      <vt:lpstr>Hypercompetition</vt:lpstr>
      <vt:lpstr>D’Aveni’s new 7 Ss</vt:lpstr>
      <vt:lpstr>PowerPoint Presentation</vt:lpstr>
      <vt:lpstr>Application of Hypercompetition</vt:lpstr>
      <vt:lpstr>IS Planning and Strategic Advantage Models</vt:lpstr>
      <vt:lpstr>Summary of key strategy  frameworks</vt:lpstr>
      <vt:lpstr>Brief Overview Of  Organizational Strategies</vt:lpstr>
      <vt:lpstr>Organizational Strategy</vt:lpstr>
      <vt:lpstr>Business Diamond</vt:lpstr>
      <vt:lpstr>The Business Diamond</vt:lpstr>
      <vt:lpstr>Managerial Levers</vt:lpstr>
      <vt:lpstr>PowerPoint Presentation</vt:lpstr>
      <vt:lpstr>Understanding Organization Strategy</vt:lpstr>
      <vt:lpstr>Summary of organizational strategy frameworks</vt:lpstr>
      <vt:lpstr>PowerPoint Presentation</vt:lpstr>
      <vt:lpstr>IS Strategy</vt:lpstr>
      <vt:lpstr>Information systems  strategy matrix</vt:lpstr>
      <vt:lpstr>PowerPoint Presentation</vt:lpstr>
      <vt:lpstr>Halo Effect</vt:lpstr>
      <vt:lpstr>Halo Effect</vt:lpstr>
      <vt:lpstr>Halo Effect</vt:lpstr>
      <vt:lpstr>Summary</vt:lpstr>
      <vt:lpstr>Summary</vt:lpstr>
    </vt:vector>
  </TitlesOfParts>
  <Company>Deftones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AliAbdulla</dc:creator>
  <cp:lastModifiedBy>Asus</cp:lastModifiedBy>
  <cp:revision>143</cp:revision>
  <dcterms:created xsi:type="dcterms:W3CDTF">2015-03-01T11:00:00Z</dcterms:created>
  <dcterms:modified xsi:type="dcterms:W3CDTF">2026-07-06T06:40:16Z</dcterms:modified>
</cp:coreProperties>
</file>