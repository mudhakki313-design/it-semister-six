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344" r:id="rId3"/>
    <p:sldId id="346" r:id="rId4"/>
    <p:sldId id="345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81" r:id="rId16"/>
    <p:sldId id="382" r:id="rId17"/>
    <p:sldId id="359" r:id="rId18"/>
    <p:sldId id="360" r:id="rId19"/>
    <p:sldId id="361" r:id="rId20"/>
    <p:sldId id="362" r:id="rId21"/>
    <p:sldId id="364" r:id="rId22"/>
    <p:sldId id="365" r:id="rId23"/>
    <p:sldId id="366" r:id="rId24"/>
    <p:sldId id="367" r:id="rId25"/>
    <p:sldId id="368" r:id="rId26"/>
    <p:sldId id="369" r:id="rId27"/>
    <p:sldId id="370" r:id="rId28"/>
    <p:sldId id="371" r:id="rId29"/>
    <p:sldId id="383" r:id="rId30"/>
    <p:sldId id="372" r:id="rId31"/>
    <p:sldId id="373" r:id="rId32"/>
    <p:sldId id="374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BD15"/>
    <a:srgbClr val="0000FF"/>
    <a:srgbClr val="0D01A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343" autoAdjust="0"/>
  </p:normalViewPr>
  <p:slideViewPr>
    <p:cSldViewPr>
      <p:cViewPr varScale="1">
        <p:scale>
          <a:sx n="73" d="100"/>
          <a:sy n="73" d="100"/>
        </p:scale>
        <p:origin x="123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E663E-9AE5-4B11-B4CA-608858A2603D}" type="datetimeFigureOut">
              <a:rPr lang="en-US" smtClean="0"/>
              <a:pPr/>
              <a:t>06-Jul-26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8C741-7458-4E4F-9F6B-0BA8390428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98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FE635-11D9-4112-A6FD-6DA02A116A07}" type="datetimeFigureOut">
              <a:rPr lang="en-US" smtClean="0"/>
              <a:pPr/>
              <a:t>06-Jul-26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C00EE-FC64-499A-BB12-0E1D98E2849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09194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8C00EE-FC64-499A-BB12-0E1D98E2849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7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ster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66800" y="1676400"/>
            <a:ext cx="7315200" cy="48768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insert contents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smtClean="0"/>
              <a:t>Click to edit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3400" y="1524000"/>
            <a:ext cx="8153400" cy="4876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Click to edit content</a:t>
            </a:r>
          </a:p>
        </p:txBody>
      </p:sp>
      <p:pic>
        <p:nvPicPr>
          <p:cNvPr id="7" name="Picture 6" descr="slid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smtClean="0"/>
              <a:t>Click to edit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3400" y="1524000"/>
            <a:ext cx="8153400" cy="4876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Click to edit content</a:t>
            </a:r>
          </a:p>
        </p:txBody>
      </p:sp>
      <p:pic>
        <p:nvPicPr>
          <p:cNvPr id="7" name="Picture 6" descr="slid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Chapter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9A2F7-422A-4661-970A-2E1D828D173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csrc.nist.gov/publications/nistpubs/800-34-rev1/sp800-34-rev1_errata-Nov11-2010.pdf" TargetMode="External"/><Relationship Id="rId2" Type="http://schemas.openxmlformats.org/officeDocument/2006/relationships/hyperlink" Target="http://csrc.nist.gov/publications/PubsSP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isaca.org/Knowledge-Center/Standards/Documents/ALL-IT-Standards-Guidelines-and-Tools.pdf" TargetMode="External"/><Relationship Id="rId5" Type="http://schemas.openxmlformats.org/officeDocument/2006/relationships/hyperlink" Target="http://csrc.nist.gov/publications/nistpubs/800-50/NIST-SP800-50.pdf" TargetMode="External"/><Relationship Id="rId4" Type="http://schemas.openxmlformats.org/officeDocument/2006/relationships/hyperlink" Target="http://csrc.nist.gov/publications/nistpubs/800-84/SP800-84.pdf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939458" y="457200"/>
            <a:ext cx="7086600" cy="5105400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 2202</a:t>
            </a:r>
            <a:br>
              <a:rPr lang="en-US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2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Strategy, Management and Acquisition</a:t>
            </a:r>
            <a:r>
              <a:rPr lang="en-GB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2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Lecture #6</a:t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2530" name="Picture 2" descr="Creative Commons Licens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6058" y="6420977"/>
            <a:ext cx="1081548" cy="381000"/>
          </a:xfrm>
          <a:prstGeom prst="rect">
            <a:avLst/>
          </a:prstGeom>
          <a:noFill/>
        </p:spPr>
      </p:pic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587158" y="4343400"/>
            <a:ext cx="57912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40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Disaster Management and Backup Strategies</a:t>
            </a:r>
            <a:endParaRPr lang="en-US" sz="4000" dirty="0">
              <a:solidFill>
                <a:srgbClr val="03BD15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2438400" y="3200400"/>
            <a:ext cx="3657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GB" sz="40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 </a:t>
            </a:r>
            <a:endParaRPr lang="en-GB" sz="40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150" y="1447800"/>
            <a:ext cx="7505700" cy="48768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Businesses use information technology to quickly and effectively process information.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Employees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electronic mail and Voice Over Internet Protocol (VOIP) telephone systems to communicate.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Electronic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interchange (EDI) is used to transmit data including orders and payments from one company to another.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12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7696200" cy="48768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Servers process information and store large amounts of data. </a:t>
            </a:r>
          </a:p>
          <a:p>
            <a:pPr algn="just">
              <a:lnSpc>
                <a:spcPct val="150000"/>
              </a:lnSpc>
            </a:pP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Desktop computers, laptops and wireless devices are used by employees to create, process, manage and communicate information. </a:t>
            </a:r>
          </a:p>
          <a:p>
            <a:pPr algn="just">
              <a:lnSpc>
                <a:spcPct val="150000"/>
              </a:lnSpc>
            </a:pP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do you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 when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your information technology stops working?</a:t>
            </a:r>
          </a:p>
          <a:p>
            <a:pPr>
              <a:lnSpc>
                <a:spcPct val="150000"/>
              </a:lnSpc>
            </a:pPr>
            <a:endParaRPr lang="en-GB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GB" sz="40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 </a:t>
            </a:r>
            <a:endParaRPr lang="en-GB" sz="40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489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24169"/>
            <a:ext cx="7620000" cy="48768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 information technology disaster recovery plan (IT DRP) should be developed in conjunction with the </a:t>
            </a:r>
            <a:r>
              <a:rPr lang="en-GB" sz="24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continuity plan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Priorities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recovery time objectives for information technology should be developed during the </a:t>
            </a:r>
            <a:r>
              <a:rPr lang="en-GB" sz="24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impact analysis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Technology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recovery strategies should be developed to restore hardware, applications and data in time to meet the needs of the business recovery.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GB" sz="40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 </a:t>
            </a:r>
            <a:endParaRPr lang="en-GB" sz="40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504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26347"/>
            <a:ext cx="7924800" cy="487680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Businesses large and small create and manage large volumes of electronic information or data.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Much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that data is important.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Some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is vital to the survival and continued operation of the business.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 of data loss or corruption from hardware failure, human error, hacking or malware could be significant.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 for data backup and restoration of electronic information is essential.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GB" sz="40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 </a:t>
            </a:r>
            <a:endParaRPr lang="en-GB" sz="40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742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4806" y="457200"/>
            <a:ext cx="8229600" cy="715962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Resources for Information </a:t>
            </a:r>
            <a:r>
              <a:rPr lang="en-GB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Technology </a:t>
            </a:r>
            <a:r>
              <a:rPr lang="en-GB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Disaster Recovery Planning</a:t>
            </a:r>
            <a:br>
              <a:rPr lang="en-GB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GB" sz="32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600950" cy="4343400"/>
          </a:xfrm>
        </p:spPr>
        <p:txBody>
          <a:bodyPr>
            <a:noAutofit/>
          </a:bodyPr>
          <a:lstStyle/>
          <a:p>
            <a:pPr algn="just"/>
            <a:r>
              <a:rPr lang="en-GB" sz="20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Computer Security Resource </a:t>
            </a:r>
            <a:r>
              <a:rPr lang="en-GB" sz="2000" u="sn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Center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- National Institute of Standards and Technology (NIST), Computer Security Division Special Publications</a:t>
            </a:r>
          </a:p>
          <a:p>
            <a:pPr algn="just"/>
            <a:r>
              <a:rPr lang="en-GB" sz="20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 tooltip="Contingency Planning Guide for Federal Information Systems - Adobe Acrobat PDF"/>
              </a:rPr>
              <a:t>Contingency Planning Guide for Federal Information Systems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- NIST Special Publication 800-34 Rev. 1</a:t>
            </a:r>
          </a:p>
          <a:p>
            <a:pPr algn="just"/>
            <a:r>
              <a:rPr lang="en-GB" sz="20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 tooltip="Guide to Test, Training, and Exercise Programs for IT Plans and Capabilities - Adobe Acrobat PDF"/>
              </a:rPr>
              <a:t>Guide to Test, Training, and Exercise Programs for IT Plans and Capabilities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– NIST Special Publication 800-84</a:t>
            </a:r>
          </a:p>
          <a:p>
            <a:pPr algn="just"/>
            <a:r>
              <a:rPr lang="en-GB" sz="20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 tooltip="Building An Information Technology Security Awareness and Training Program - Adobe Acrobat PDF"/>
              </a:rPr>
              <a:t>Building An Information Technology Security Awareness and Training Program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- NIST Special Publication 800-50</a:t>
            </a:r>
          </a:p>
          <a:p>
            <a:pPr algn="just"/>
            <a:r>
              <a:rPr lang="en-GB" sz="20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6" tooltip="IT Standards, Guidelines, and Tools and Techniques for Audit and Assurance and Control Professionals - Adobe Acrobat PDF"/>
              </a:rPr>
              <a:t>IT Standards, Guidelines, and Tools and Techniques for Audit and Assurance and Control Professionals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- Information Systems Audit and Control Association</a:t>
            </a:r>
          </a:p>
          <a:p>
            <a:pPr algn="just"/>
            <a:endParaRPr lang="en-GB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652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Recovery </a:t>
            </a:r>
            <a:r>
              <a:rPr lang="en-GB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Strategies</a:t>
            </a:r>
            <a:endParaRPr lang="en-GB" sz="36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354183"/>
            <a:ext cx="7810500" cy="48768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Recovery strategies should be developed for Information technology (IT) systems, applications and data.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includes networks, servers, desktops, laptops, wireless devices, data and connectivity.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Priorities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IT recovery should be consistent with the priorities for recovery of business functions and processes that were developed during the </a:t>
            </a:r>
            <a:r>
              <a:rPr lang="en-GB" sz="24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impact analysis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48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752600"/>
            <a:ext cx="7848600" cy="4678362"/>
          </a:xfrm>
        </p:spPr>
        <p:txBody>
          <a:bodyPr>
            <a:noAutofit/>
          </a:bodyPr>
          <a:lstStyle/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 </a:t>
            </a:r>
            <a:r>
              <a:rPr lang="en-GB" sz="2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resources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required to support time-sensitive business functions and processes should also be identified. </a:t>
            </a:r>
            <a:endParaRPr lang="en-GB" sz="2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recovery time for an IT resource should match the </a:t>
            </a:r>
            <a:r>
              <a:rPr lang="en-GB" sz="2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recovery time objective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for the business function or process that depends on the IT resource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technology systems require hardware, software, data and connectivity. </a:t>
            </a:r>
            <a:endParaRPr lang="en-GB" sz="2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Without 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 component of the “system,” the system may not run. </a:t>
            </a:r>
            <a:endParaRPr lang="en-GB" sz="2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GB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Recovery </a:t>
            </a:r>
            <a:r>
              <a:rPr lang="en-GB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Strategies</a:t>
            </a:r>
            <a:endParaRPr lang="en-GB" sz="36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929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417638"/>
            <a:ext cx="8001000" cy="4572000"/>
          </a:xfrm>
        </p:spPr>
        <p:txBody>
          <a:bodyPr>
            <a:noAutofit/>
          </a:bodyPr>
          <a:lstStyle/>
          <a:p>
            <a:pPr algn="just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Therefore, recovery strategies should be developed to anticipate the loss of one or more of the following system components: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Computer room environment (secure computer room with climate control, conditioned and backup power supply, etc.)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Hardware (networks, servers, desktop and laptop computers, wireless devices and peripherals)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Connectivity to a service provider (</a:t>
            </a:r>
            <a:r>
              <a:rPr lang="en-GB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fiber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cable, wireless, etc.)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Software applications (electronic data interchange, electronic mail, enterprise resource management, office productivity, etc.)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and restoration</a:t>
            </a:r>
          </a:p>
          <a:p>
            <a:pPr lvl="2" algn="just"/>
            <a:endParaRPr lang="en-GB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Recovery </a:t>
            </a:r>
            <a:r>
              <a:rPr lang="en-GB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Strategies</a:t>
            </a:r>
            <a:endParaRPr lang="en-GB" sz="36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1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17638"/>
            <a:ext cx="7772400" cy="4876800"/>
          </a:xfrm>
        </p:spPr>
        <p:txBody>
          <a:bodyPr>
            <a:normAutofit/>
          </a:bodyPr>
          <a:lstStyle/>
          <a:p>
            <a:pPr algn="just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Some business applications cannot tolerate any downtime.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They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utilize dual data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centres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capable of handling all data processing needs, which run in parallel with data mirrored or synchronized between the two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centres. </a:t>
            </a:r>
          </a:p>
          <a:p>
            <a:pPr algn="just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 very expensive solution that only larger companies can afford.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However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there are other solutions available for small to medium sized businesses with critical business applications and data to protect.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Recovery </a:t>
            </a:r>
            <a:r>
              <a:rPr lang="en-GB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Strategies</a:t>
            </a:r>
            <a:endParaRPr lang="en-GB" sz="36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251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Internal Recovery </a:t>
            </a:r>
            <a:r>
              <a:rPr lang="en-GB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Strategies</a:t>
            </a:r>
            <a:endParaRPr lang="en-GB" sz="36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7620000" cy="44958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Many businesses have access to more than one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facility.</a:t>
            </a: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Hardware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 an alternate facility can be configured to run similar hardware and software applications when needed.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Assuming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is backed up off-site or data is mirrored between the two sites, data can be restored at the alternate site and processing can continue.</a:t>
            </a:r>
          </a:p>
        </p:txBody>
      </p:sp>
    </p:spTree>
    <p:extLst>
      <p:ext uri="{BB962C8B-B14F-4D97-AF65-F5344CB8AC3E}">
        <p14:creationId xmlns:p14="http://schemas.microsoft.com/office/powerpoint/2010/main" val="3342749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Vendor Supported Recovery </a:t>
            </a:r>
            <a:r>
              <a:rPr lang="en-GB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Strategies</a:t>
            </a:r>
            <a:r>
              <a:rPr lang="en-GB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GB" sz="32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750" y="1398362"/>
            <a:ext cx="7810500" cy="429736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are vendors that can provide “hot sites” for IT disaster recovery.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sites are fully configured data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centres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commonly used hardware and software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products.</a:t>
            </a: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Subscribers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may provide unique equipment or software either at the time of disaster or store it at the hot site ready for use.</a:t>
            </a:r>
          </a:p>
        </p:txBody>
      </p:sp>
    </p:spTree>
    <p:extLst>
      <p:ext uri="{BB962C8B-B14F-4D97-AF65-F5344CB8AC3E}">
        <p14:creationId xmlns:p14="http://schemas.microsoft.com/office/powerpoint/2010/main" val="2694639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17638"/>
            <a:ext cx="7772400" cy="4754562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streams, data security services and applications can be hosted and managed by vendors.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can be accessed at the primary business site or any alternate site using a web browser.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 outage is detected at the client site by the vendor, the vendor automatically holds data until the client’s system is restored.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vendors can also provide data filtering and detection of malware threats, which enhance cyber security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Vendor Supported Recovery </a:t>
            </a:r>
            <a:r>
              <a:rPr lang="en-GB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Strategies</a:t>
            </a:r>
            <a:r>
              <a:rPr lang="en-GB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GB" sz="32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818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Developing an IT Disaster </a:t>
            </a:r>
            <a:r>
              <a:rPr lang="en-GB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Recovery </a:t>
            </a:r>
            <a:r>
              <a:rPr lang="en-GB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</a:t>
            </a:r>
            <a:br>
              <a:rPr lang="en-GB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GB" sz="32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043" y="1359173"/>
            <a:ext cx="7913914" cy="4068762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Businesses should develop an IT disaster recovery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plan.</a:t>
            </a: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begins by compiling an inventory of hardware (e.g. servers, desktops, laptops and wireless devices), software applications and data.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 should include a strategy to ensure that all critical information is backed up.</a:t>
            </a:r>
          </a:p>
        </p:txBody>
      </p:sp>
    </p:spTree>
    <p:extLst>
      <p:ext uri="{BB962C8B-B14F-4D97-AF65-F5344CB8AC3E}">
        <p14:creationId xmlns:p14="http://schemas.microsoft.com/office/powerpoint/2010/main" val="3542690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17638"/>
            <a:ext cx="7772400" cy="487680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 critical software applications and data and the hardware required to run them.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standardized hardware will help to replicate and reimage new hardware.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that copies of program software are available to enable re-installation on replacement equipment.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Prioritize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hardware and software restoration.</a:t>
            </a:r>
          </a:p>
          <a:p>
            <a:pPr algn="just">
              <a:lnSpc>
                <a:spcPct val="150000"/>
              </a:lnSpc>
            </a:pP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Document the IT disaster recovery plan as part of the </a:t>
            </a:r>
            <a:r>
              <a:rPr lang="en-GB" sz="24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continuity plan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plan periodically to make sure that it works.</a:t>
            </a:r>
          </a:p>
          <a:p>
            <a:pPr algn="just">
              <a:lnSpc>
                <a:spcPct val="150000"/>
              </a:lnSpc>
            </a:pPr>
            <a:endParaRPr lang="en-GB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Developing an IT Disaster </a:t>
            </a:r>
            <a:r>
              <a:rPr lang="en-GB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Recovery </a:t>
            </a:r>
            <a:r>
              <a:rPr lang="en-GB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</a:t>
            </a:r>
            <a:br>
              <a:rPr lang="en-GB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GB" sz="32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643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762000" y="2057400"/>
            <a:ext cx="7467600" cy="3505200"/>
          </a:xfrm>
        </p:spPr>
        <p:txBody>
          <a:bodyPr>
            <a:normAutofit fontScale="97500"/>
          </a:bodyPr>
          <a:lstStyle/>
          <a:p>
            <a:pPr marL="0" indent="0" algn="ctr">
              <a:buNone/>
            </a:pPr>
            <a:r>
              <a:rPr lang="en-US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Disaster Management,</a:t>
            </a:r>
            <a:br>
              <a:rPr lang="en-US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Backup Strategy</a:t>
            </a:r>
            <a:br>
              <a:rPr lang="en-US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594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Disaster Management</a:t>
            </a:r>
            <a:endParaRPr lang="en-US" sz="36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91194"/>
            <a:ext cx="7924800" cy="348645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disaster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Disaster is any tragic event that can cause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damage, loss, and destruction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properties or people’s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life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two major types or disasters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28675" lvl="1" indent="-428625" algn="just">
              <a:lnSpc>
                <a:spcPct val="150000"/>
              </a:lnSpc>
              <a:buFont typeface="+mj-lt"/>
              <a:buAutoNum type="romanUcPeriod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Natural disaster</a:t>
            </a:r>
          </a:p>
          <a:p>
            <a:pPr marL="828675" lvl="1" indent="-428625" algn="just">
              <a:lnSpc>
                <a:spcPct val="150000"/>
              </a:lnSpc>
              <a:buFont typeface="+mj-lt"/>
              <a:buAutoNum type="romanUcPeriod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Man-made(technological) disaster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319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525" y="362494"/>
            <a:ext cx="5314950" cy="780506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Types of disaster</a:t>
            </a:r>
            <a:endParaRPr lang="en-US" sz="36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45078"/>
            <a:ext cx="7886700" cy="49557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Natural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disasters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include: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Earth quake</a:t>
            </a:r>
          </a:p>
          <a:p>
            <a:pPr lvl="1"/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Floods</a:t>
            </a:r>
          </a:p>
          <a:p>
            <a:pPr lvl="1"/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Hurricane</a:t>
            </a:r>
          </a:p>
          <a:p>
            <a:pPr lvl="1"/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Thunderstorms and </a:t>
            </a:r>
            <a:r>
              <a:rPr lang="en-US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lightning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Man-made(technological)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disaster include: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Explosions</a:t>
            </a:r>
          </a:p>
          <a:p>
            <a:pPr lvl="1"/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Cyber attacks</a:t>
            </a:r>
          </a:p>
          <a:p>
            <a:pPr lvl="1"/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Hazardous materials</a:t>
            </a:r>
          </a:p>
          <a:p>
            <a:pPr lvl="1"/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Power service disruption and blackouts</a:t>
            </a:r>
          </a:p>
          <a:p>
            <a:pPr lvl="1"/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Chemical </a:t>
            </a:r>
            <a:r>
              <a:rPr lang="en-US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spills</a:t>
            </a:r>
          </a:p>
          <a:p>
            <a:pPr lvl="1"/>
            <a:r>
              <a:rPr lang="en-US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Terrorist attack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905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Disaster Management</a:t>
            </a:r>
            <a:endParaRPr lang="en-US" sz="36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0" y="1524000"/>
            <a:ext cx="7696200" cy="42672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disaster management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Is </a:t>
            </a:r>
            <a:r>
              <a:rPr lang="en-US" sz="2400" dirty="0"/>
              <a:t>a continuous and integrated process of planning, organizing, coordinating, and implementing measures which are necessary for effectively dealing with the impact of disaster on people and infrastructure. (Deshmukh et al</a:t>
            </a:r>
            <a:r>
              <a:rPr lang="en-US" sz="2400" dirty="0" smtClean="0"/>
              <a:t>. </a:t>
            </a:r>
            <a:r>
              <a:rPr lang="en-US" sz="2400" dirty="0"/>
              <a:t>2008).</a:t>
            </a:r>
          </a:p>
        </p:txBody>
      </p:sp>
    </p:spTree>
    <p:extLst>
      <p:ext uri="{BB962C8B-B14F-4D97-AF65-F5344CB8AC3E}">
        <p14:creationId xmlns:p14="http://schemas.microsoft.com/office/powerpoint/2010/main" val="2630492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588" y="152400"/>
            <a:ext cx="7886700" cy="735262"/>
          </a:xfrm>
        </p:spPr>
        <p:txBody>
          <a:bodyPr>
            <a:noAutofit/>
          </a:bodyPr>
          <a:lstStyle/>
          <a:p>
            <a:r>
              <a:rPr 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Various </a:t>
            </a:r>
            <a:r>
              <a:rPr lang="en-US" sz="36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aspects of disaster </a:t>
            </a:r>
            <a:r>
              <a:rPr 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management</a:t>
            </a:r>
            <a:endParaRPr lang="en-US" sz="36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4588" y="1371600"/>
            <a:ext cx="7749812" cy="5105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Disaster Prevention: </a:t>
            </a:r>
            <a:endPara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1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ctivities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designed to provide permanent protection from disasters</a:t>
            </a:r>
          </a:p>
          <a:p>
            <a:pPr marL="0" indent="0" algn="just"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Disaster preparedness: </a:t>
            </a:r>
            <a:endPara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1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ctivities designed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minimize loss of life and damage – for example by removing people </a:t>
            </a:r>
            <a:r>
              <a:rPr lang="en-US" sz="1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property from a threatened location and by facilitating timely and effective rescue, relief and </a:t>
            </a:r>
            <a:r>
              <a:rPr lang="en-US" sz="1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rehabilitation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marL="0" indent="0" algn="just"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Disaster response: </a:t>
            </a:r>
            <a:endPara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sz="1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Activities designed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provide assistance during or immediately after disaster</a:t>
            </a:r>
          </a:p>
          <a:p>
            <a:pPr marL="0" indent="0" algn="just"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Disaster recovery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algn="just"/>
            <a:r>
              <a:rPr lang="en-US" sz="1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Focuses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the decisions and actions taken after a disaster to restore lives, services, and </a:t>
            </a:r>
            <a:r>
              <a:rPr lang="en-US" sz="1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infrastructures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(including rehabilitation and reconstruction)</a:t>
            </a:r>
          </a:p>
          <a:p>
            <a:pPr marL="0" indent="0" algn="just"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Disaster mitigation: </a:t>
            </a:r>
            <a:endPara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sz="1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Refers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all actions taken before a disaster to reduce its impacts, including preparedness and </a:t>
            </a:r>
            <a:r>
              <a:rPr lang="en-US" sz="1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long-	term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risk reduction measures.</a:t>
            </a:r>
          </a:p>
        </p:txBody>
      </p:sp>
    </p:spTree>
    <p:extLst>
      <p:ext uri="{BB962C8B-B14F-4D97-AF65-F5344CB8AC3E}">
        <p14:creationId xmlns:p14="http://schemas.microsoft.com/office/powerpoint/2010/main" val="3695861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Role Of ICT/IS In Disaster Management</a:t>
            </a:r>
            <a:endParaRPr lang="en-US" sz="32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24000"/>
            <a:ext cx="7696200" cy="46482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the backbone of disaster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management.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four phases of disaster management (mitigation, preparedness, response and recovery) depend on data from a variety of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sources.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appropriate data has to be gathered, organized, and displayed logically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order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take timely measures based on evidence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76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Application </a:t>
            </a:r>
            <a:r>
              <a:rPr lang="en-US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ICT in Disaster Mitigation</a:t>
            </a:r>
            <a:br>
              <a:rPr lang="en-US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32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7772400" cy="44196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200000"/>
              </a:lnSpc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advancements in earth observation systems through the use of geographical information system(GIS) and remote sensing, have a great impact in disaster mitigation</a:t>
            </a:r>
          </a:p>
          <a:p>
            <a:pPr algn="just">
              <a:lnSpc>
                <a:spcPct val="200000"/>
              </a:lnSpc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systems are possible for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justifying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impacts of earthquakes, volcanic eruptions, landslides, forest fires etc.</a:t>
            </a:r>
          </a:p>
        </p:txBody>
      </p:sp>
    </p:spTree>
    <p:extLst>
      <p:ext uri="{BB962C8B-B14F-4D97-AF65-F5344CB8AC3E}">
        <p14:creationId xmlns:p14="http://schemas.microsoft.com/office/powerpoint/2010/main" val="694567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Application </a:t>
            </a:r>
            <a:r>
              <a:rPr lang="en-US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ICT in Disaster </a:t>
            </a:r>
            <a:r>
              <a:rPr lang="en-US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Preparedness</a:t>
            </a:r>
            <a:r>
              <a:rPr lang="en-US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32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17638"/>
            <a:ext cx="8153400" cy="48768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Communication technologies can help establish preparedness networks that link emergency operation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centers and emergency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broadcasting systems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provide disaster warning to society (such as weather forecasting and alert).</a:t>
            </a:r>
          </a:p>
          <a:p>
            <a:pPr algn="just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 commonly channels used for disaster warning include:</a:t>
            </a:r>
          </a:p>
          <a:p>
            <a:pPr lvl="1" algn="just"/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Satellite radio</a:t>
            </a:r>
          </a:p>
          <a:p>
            <a:pPr lvl="1" algn="just"/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Radio and television</a:t>
            </a:r>
          </a:p>
          <a:p>
            <a:pPr lvl="1" algn="just"/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Telephone </a:t>
            </a:r>
          </a:p>
          <a:p>
            <a:pPr lvl="1" algn="just"/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Internet/email</a:t>
            </a:r>
          </a:p>
          <a:p>
            <a:pPr lvl="1" algn="just"/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Short message service</a:t>
            </a:r>
          </a:p>
          <a:p>
            <a:pPr algn="just"/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185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Application </a:t>
            </a:r>
            <a:r>
              <a:rPr lang="en-US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ICT in Response </a:t>
            </a:r>
            <a:r>
              <a:rPr lang="en-US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Recovery</a:t>
            </a:r>
            <a:endParaRPr lang="en-US" sz="54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7620000" cy="4419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communication infrastructure in disaster management are necessary for:</a:t>
            </a:r>
          </a:p>
          <a:p>
            <a:pPr lvl="1" algn="just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Assessing damage and needs</a:t>
            </a:r>
          </a:p>
          <a:p>
            <a:pPr lvl="1" algn="just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collecting information on supplies and other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resources</a:t>
            </a:r>
          </a:p>
          <a:p>
            <a:pPr lvl="1" algn="just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coordinating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rescue and relief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activities</a:t>
            </a:r>
          </a:p>
          <a:p>
            <a:pPr lvl="1" algn="just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accounting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missing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people</a:t>
            </a:r>
          </a:p>
          <a:p>
            <a:pPr lvl="1" algn="just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motivating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public, political, and institutional responses</a:t>
            </a:r>
          </a:p>
        </p:txBody>
      </p:sp>
    </p:spTree>
    <p:extLst>
      <p:ext uri="{BB962C8B-B14F-4D97-AF65-F5344CB8AC3E}">
        <p14:creationId xmlns:p14="http://schemas.microsoft.com/office/powerpoint/2010/main" val="1892987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Importance Of Disaster Management</a:t>
            </a:r>
            <a:endParaRPr lang="en-US" sz="32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86840"/>
            <a:ext cx="7924800" cy="4343400"/>
          </a:xfrm>
        </p:spPr>
        <p:txBody>
          <a:bodyPr>
            <a:normAutofit fontScale="92500"/>
          </a:bodyPr>
          <a:lstStyle/>
          <a:p>
            <a:pPr lvl="0" algn="just">
              <a:lnSpc>
                <a:spcPct val="150000"/>
              </a:lnSpc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Reduces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corporate data/information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losses from hazards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Reduces damage to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communication infrastructure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Reduces services downtime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Achieve rapid and durable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recovery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Helps protect the company’s network from cyber attack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Improved risk mitigation (such as keeping backup facilities and data centers away from anticipated affected areas)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91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Backup Strategy</a:t>
            </a:r>
            <a:endParaRPr lang="en-US" sz="40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32411"/>
            <a:ext cx="7772400" cy="48768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backup?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Refers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the copying of physical or virtual files or databases to a secondary site for preservation in case of equipment failure or other catastrophe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backup strategy?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Refers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policy of data protection that a company uses.</a:t>
            </a:r>
          </a:p>
        </p:txBody>
      </p:sp>
    </p:spTree>
    <p:extLst>
      <p:ext uri="{BB962C8B-B14F-4D97-AF65-F5344CB8AC3E}">
        <p14:creationId xmlns:p14="http://schemas.microsoft.com/office/powerpoint/2010/main" val="890919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8001000" cy="4267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When Planning Your Backup Strategy, you should consider the following aspects:</a:t>
            </a:r>
            <a:endParaRPr lang="en-US" sz="2400" dirty="0" smtClean="0"/>
          </a:p>
          <a:p>
            <a:pPr marL="1228725" lvl="2" indent="-4286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 smtClean="0"/>
              <a:t>What to backup</a:t>
            </a:r>
          </a:p>
          <a:p>
            <a:pPr marL="1228725" lvl="2" indent="-4286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 smtClean="0"/>
              <a:t>When to backup</a:t>
            </a:r>
          </a:p>
          <a:p>
            <a:pPr marL="1228725" lvl="2" indent="-4286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 smtClean="0"/>
              <a:t>Where to backup</a:t>
            </a:r>
          </a:p>
          <a:p>
            <a:pPr marL="1228725" lvl="2" indent="-4286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 smtClean="0"/>
              <a:t>Backup types</a:t>
            </a:r>
            <a:endParaRPr lang="en-US" sz="22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Backup Strategy</a:t>
            </a:r>
            <a:endParaRPr lang="en-US" sz="40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687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750" y="1676400"/>
            <a:ext cx="7810500" cy="3505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to Backup:</a:t>
            </a:r>
          </a:p>
          <a:p>
            <a:pPr algn="just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first step in planning your backup strategy is identifying what needs to be backed up.</a:t>
            </a:r>
          </a:p>
          <a:p>
            <a:pPr algn="just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involves going through your documents, databases, pictures, videos, music and program setup or installation files.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Backup Strategy</a:t>
            </a:r>
            <a:endParaRPr lang="en-US" sz="40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04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153400" cy="45720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to Backup to:</a:t>
            </a:r>
          </a:p>
          <a:p>
            <a:pPr algn="just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good backup strategy should employ a combination of “local” and “offsite backups”.</a:t>
            </a:r>
          </a:p>
          <a:p>
            <a:pPr lvl="1" algn="just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Local backups -  are needed due to its lower cost allowing you to back up a huge amount of data. Local backups are also useful for its very fast restore speed allowing you to get back online in minimal time. </a:t>
            </a:r>
          </a:p>
          <a:p>
            <a:pPr lvl="1" algn="just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Offsite backups -  are needed for its wider scope of protection from major disasters or catastrophes not covered by local backups.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262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676" y="1371600"/>
            <a:ext cx="8122648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to Backup</a:t>
            </a:r>
          </a:p>
          <a:p>
            <a:pPr algn="just"/>
            <a:r>
              <a:rPr lang="en-US" sz="2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Frequency: 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Some folders are fairly static and do not need to be backed up very often. Other folders are frequently updated and should correspondingly have a higher backup frequency like once a day or more.</a:t>
            </a:r>
          </a:p>
          <a:p>
            <a:pPr algn="just"/>
            <a:r>
              <a:rPr lang="en-US" sz="2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Backup Start Time: 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choose when to run the backup</a:t>
            </a:r>
          </a:p>
          <a:p>
            <a:pPr lvl="1" algn="just"/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best time to run back is when there is minimal usage on the computer</a:t>
            </a:r>
          </a:p>
          <a:p>
            <a:pPr lvl="1" algn="just"/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Because Backups may consume some computer resources that may affect performance. </a:t>
            </a:r>
            <a:endParaRPr lang="en-US" sz="2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/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lang="en-US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iles 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that are open or in use may not get backed up.</a:t>
            </a:r>
          </a:p>
          <a:p>
            <a:pPr lvl="1" algn="just"/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Scheduling backups to run after business hours is the best practice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Backup Strategy</a:t>
            </a:r>
            <a:endParaRPr lang="en-US" sz="40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83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Backup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7924800" cy="48768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Many backup software offers several backup types. Each backup type has its own advantages and disadvantages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24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Full Back up: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 method of backup where all the files and folders selected for the backup will be backed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24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Incremental Backup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is a backup of all changes made since the last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backup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24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Differential backup: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 backup of all changes made since the last full backup</a:t>
            </a:r>
          </a:p>
        </p:txBody>
      </p:sp>
    </p:spTree>
    <p:extLst>
      <p:ext uri="{BB962C8B-B14F-4D97-AF65-F5344CB8AC3E}">
        <p14:creationId xmlns:p14="http://schemas.microsoft.com/office/powerpoint/2010/main" val="2993909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Backup types summary</a:t>
            </a:r>
            <a:endParaRPr lang="en-US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Content Placeholder 3" descr="http://c1.backup4all.com/uploads/backup4all_en/media_items/backup-types.577.252.s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4350" y="1600200"/>
            <a:ext cx="8115300" cy="4343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3435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5481</TotalTime>
  <Words>1905</Words>
  <Application>Microsoft Office PowerPoint</Application>
  <PresentationFormat>On-screen Show (4:3)</PresentationFormat>
  <Paragraphs>168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Tahoma</vt:lpstr>
      <vt:lpstr>Wingdings</vt:lpstr>
      <vt:lpstr>Office Theme</vt:lpstr>
      <vt:lpstr>INF 2202  IS Strategy, Management and Acquisition  Lecture #6   </vt:lpstr>
      <vt:lpstr>Introduction </vt:lpstr>
      <vt:lpstr>Introduction </vt:lpstr>
      <vt:lpstr>Introduction </vt:lpstr>
      <vt:lpstr>Introduction </vt:lpstr>
      <vt:lpstr>Resources for Information  Technology Disaster Recovery Planning </vt:lpstr>
      <vt:lpstr>IT Recovery Strategies</vt:lpstr>
      <vt:lpstr>IT Recovery Strategies</vt:lpstr>
      <vt:lpstr>IT Recovery Strategies</vt:lpstr>
      <vt:lpstr>IT Recovery Strategies</vt:lpstr>
      <vt:lpstr>Internal Recovery Strategies</vt:lpstr>
      <vt:lpstr>Vendor Supported Recovery  Strategies </vt:lpstr>
      <vt:lpstr>Vendor Supported Recovery  Strategies </vt:lpstr>
      <vt:lpstr>Developing an IT Disaster  Recovery Plan </vt:lpstr>
      <vt:lpstr>Developing an IT Disaster  Recovery Plan </vt:lpstr>
      <vt:lpstr>PowerPoint Presentation</vt:lpstr>
      <vt:lpstr>Disaster Management</vt:lpstr>
      <vt:lpstr>Types of disaster</vt:lpstr>
      <vt:lpstr>Disaster Management</vt:lpstr>
      <vt:lpstr>Various aspects of disaster management</vt:lpstr>
      <vt:lpstr>Role Of ICT/IS In Disaster Management</vt:lpstr>
      <vt:lpstr>Application of ICT in Disaster Mitigation </vt:lpstr>
      <vt:lpstr>Application of ICT in Disaster  Preparedness </vt:lpstr>
      <vt:lpstr>Application of ICT in Response  and Recovery</vt:lpstr>
      <vt:lpstr>Importance Of Disaster Management</vt:lpstr>
      <vt:lpstr>Backup Strategy</vt:lpstr>
      <vt:lpstr>PowerPoint Presentation</vt:lpstr>
      <vt:lpstr>PowerPoint Presentation</vt:lpstr>
      <vt:lpstr>PowerPoint Presentation</vt:lpstr>
      <vt:lpstr>PowerPoint Presentation</vt:lpstr>
      <vt:lpstr>Backup Types</vt:lpstr>
      <vt:lpstr>Backup types summary</vt:lpstr>
    </vt:vector>
  </TitlesOfParts>
  <Company>Deftones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AliAbdulla</dc:creator>
  <cp:lastModifiedBy>Asus</cp:lastModifiedBy>
  <cp:revision>161</cp:revision>
  <dcterms:created xsi:type="dcterms:W3CDTF">2015-03-01T11:00:00Z</dcterms:created>
  <dcterms:modified xsi:type="dcterms:W3CDTF">2026-07-06T06:41:01Z</dcterms:modified>
</cp:coreProperties>
</file>