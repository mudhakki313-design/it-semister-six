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3" r:id="rId27"/>
    <p:sldId id="284" r:id="rId28"/>
    <p:sldId id="282" r:id="rId29"/>
    <p:sldId id="285" r:id="rId30"/>
    <p:sldId id="286" r:id="rId31"/>
    <p:sldId id="287" r:id="rId32"/>
    <p:sldId id="288" r:id="rId33"/>
    <p:sldId id="289" r:id="rId34"/>
    <p:sldId id="291" r:id="rId35"/>
    <p:sldId id="292" r:id="rId36"/>
    <p:sldId id="293" r:id="rId37"/>
    <p:sldId id="294" r:id="rId38"/>
    <p:sldId id="295" r:id="rId39"/>
    <p:sldId id="296" r:id="rId40"/>
    <p:sldId id="290"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Lst>
  <p:sldSz cx="12192000" cy="6858000"/>
  <p:notesSz cx="6858000" cy="9144000"/>
  <p:defaultText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ssein shaaban" userId="9dfb4fc279e24574" providerId="LiveId" clId="{BBC1C807-7259-406A-8499-96F18A832F25}"/>
    <pc:docChg chg="modSld">
      <pc:chgData name="hussein shaaban" userId="9dfb4fc279e24574" providerId="LiveId" clId="{BBC1C807-7259-406A-8499-96F18A832F25}" dt="2024-11-07T16:34:51.872" v="1" actId="20577"/>
      <pc:docMkLst>
        <pc:docMk/>
      </pc:docMkLst>
      <pc:sldChg chg="modSp mod">
        <pc:chgData name="hussein shaaban" userId="9dfb4fc279e24574" providerId="LiveId" clId="{BBC1C807-7259-406A-8499-96F18A832F25}" dt="2024-11-07T16:34:51.872" v="1" actId="20577"/>
        <pc:sldMkLst>
          <pc:docMk/>
          <pc:sldMk cId="3974551759" sldId="279"/>
        </pc:sldMkLst>
        <pc:spChg chg="mod">
          <ac:chgData name="hussein shaaban" userId="9dfb4fc279e24574" providerId="LiveId" clId="{BBC1C807-7259-406A-8499-96F18A832F25}" dt="2024-11-07T16:34:51.872" v="1" actId="20577"/>
          <ac:spMkLst>
            <pc:docMk/>
            <pc:sldMk cId="3974551759" sldId="279"/>
            <ac:spMk id="3" creationId="{0D8C6DD9-1BB1-313E-CF84-439C69226499}"/>
          </ac:spMkLst>
        </pc:spChg>
      </pc:sldChg>
    </pc:docChg>
  </pc:docChgLst>
  <pc:docChgLst>
    <pc:chgData name="hussein shaaban" userId="9dfb4fc279e24574" providerId="LiveId" clId="{93D38B00-0197-4A47-978E-487979860516}"/>
    <pc:docChg chg="undo redo custSel addSld delSld modSld">
      <pc:chgData name="hussein shaaban" userId="9dfb4fc279e24574" providerId="LiveId" clId="{93D38B00-0197-4A47-978E-487979860516}" dt="2024-06-27T20:14:38.005" v="855" actId="20577"/>
      <pc:docMkLst>
        <pc:docMk/>
      </pc:docMkLst>
      <pc:sldChg chg="delSp modSp new mod">
        <pc:chgData name="hussein shaaban" userId="9dfb4fc279e24574" providerId="LiveId" clId="{93D38B00-0197-4A47-978E-487979860516}" dt="2024-06-18T07:12:31.366" v="9" actId="255"/>
        <pc:sldMkLst>
          <pc:docMk/>
          <pc:sldMk cId="3134046608" sldId="265"/>
        </pc:sldMkLst>
        <pc:spChg chg="del">
          <ac:chgData name="hussein shaaban" userId="9dfb4fc279e24574" providerId="LiveId" clId="{93D38B00-0197-4A47-978E-487979860516}" dt="2024-06-18T07:10:59.972" v="1" actId="478"/>
          <ac:spMkLst>
            <pc:docMk/>
            <pc:sldMk cId="3134046608" sldId="265"/>
            <ac:spMk id="2" creationId="{887175E5-EDD7-1283-6DC2-FADE4912F2AD}"/>
          </ac:spMkLst>
        </pc:spChg>
        <pc:spChg chg="mod">
          <ac:chgData name="hussein shaaban" userId="9dfb4fc279e24574" providerId="LiveId" clId="{93D38B00-0197-4A47-978E-487979860516}" dt="2024-06-18T07:12:31.366" v="9" actId="255"/>
          <ac:spMkLst>
            <pc:docMk/>
            <pc:sldMk cId="3134046608" sldId="265"/>
            <ac:spMk id="3" creationId="{B97CE812-EDD1-CFC0-1B3C-69D4086BB008}"/>
          </ac:spMkLst>
        </pc:spChg>
      </pc:sldChg>
      <pc:sldChg chg="delSp modSp new mod">
        <pc:chgData name="hussein shaaban" userId="9dfb4fc279e24574" providerId="LiveId" clId="{93D38B00-0197-4A47-978E-487979860516}" dt="2024-06-18T07:13:49.755" v="23" actId="255"/>
        <pc:sldMkLst>
          <pc:docMk/>
          <pc:sldMk cId="2180277664" sldId="266"/>
        </pc:sldMkLst>
        <pc:spChg chg="del">
          <ac:chgData name="hussein shaaban" userId="9dfb4fc279e24574" providerId="LiveId" clId="{93D38B00-0197-4A47-978E-487979860516}" dt="2024-06-18T07:12:43.089" v="11" actId="478"/>
          <ac:spMkLst>
            <pc:docMk/>
            <pc:sldMk cId="2180277664" sldId="266"/>
            <ac:spMk id="2" creationId="{F515CAE6-0541-325E-76DA-AB97F14E781B}"/>
          </ac:spMkLst>
        </pc:spChg>
        <pc:spChg chg="mod">
          <ac:chgData name="hussein shaaban" userId="9dfb4fc279e24574" providerId="LiveId" clId="{93D38B00-0197-4A47-978E-487979860516}" dt="2024-06-18T07:13:49.755" v="23" actId="255"/>
          <ac:spMkLst>
            <pc:docMk/>
            <pc:sldMk cId="2180277664" sldId="266"/>
            <ac:spMk id="3" creationId="{F8B1F4AD-A03C-4BF2-BEAB-062879D0AAB1}"/>
          </ac:spMkLst>
        </pc:spChg>
      </pc:sldChg>
      <pc:sldChg chg="modSp new mod">
        <pc:chgData name="hussein shaaban" userId="9dfb4fc279e24574" providerId="LiveId" clId="{93D38B00-0197-4A47-978E-487979860516}" dt="2024-06-18T07:30:27.256" v="40" actId="255"/>
        <pc:sldMkLst>
          <pc:docMk/>
          <pc:sldMk cId="374217434" sldId="267"/>
        </pc:sldMkLst>
        <pc:spChg chg="mod">
          <ac:chgData name="hussein shaaban" userId="9dfb4fc279e24574" providerId="LiveId" clId="{93D38B00-0197-4A47-978E-487979860516}" dt="2024-06-18T07:29:44.204" v="33" actId="1076"/>
          <ac:spMkLst>
            <pc:docMk/>
            <pc:sldMk cId="374217434" sldId="267"/>
            <ac:spMk id="2" creationId="{C7DAB7B5-F634-20FF-CD69-0BB3B308C8A4}"/>
          </ac:spMkLst>
        </pc:spChg>
        <pc:spChg chg="mod">
          <ac:chgData name="hussein shaaban" userId="9dfb4fc279e24574" providerId="LiveId" clId="{93D38B00-0197-4A47-978E-487979860516}" dt="2024-06-18T07:30:27.256" v="40" actId="255"/>
          <ac:spMkLst>
            <pc:docMk/>
            <pc:sldMk cId="374217434" sldId="267"/>
            <ac:spMk id="3" creationId="{3E961714-B94B-5F33-B770-9FA40C01668B}"/>
          </ac:spMkLst>
        </pc:spChg>
      </pc:sldChg>
      <pc:sldChg chg="delSp modSp new mod">
        <pc:chgData name="hussein shaaban" userId="9dfb4fc279e24574" providerId="LiveId" clId="{93D38B00-0197-4A47-978E-487979860516}" dt="2024-06-18T08:06:56.441" v="52" actId="14100"/>
        <pc:sldMkLst>
          <pc:docMk/>
          <pc:sldMk cId="62204429" sldId="268"/>
        </pc:sldMkLst>
        <pc:spChg chg="del">
          <ac:chgData name="hussein shaaban" userId="9dfb4fc279e24574" providerId="LiveId" clId="{93D38B00-0197-4A47-978E-487979860516}" dt="2024-06-18T07:30:48.137" v="42" actId="478"/>
          <ac:spMkLst>
            <pc:docMk/>
            <pc:sldMk cId="62204429" sldId="268"/>
            <ac:spMk id="2" creationId="{1C97DF96-5764-DE9D-8544-C991D139B106}"/>
          </ac:spMkLst>
        </pc:spChg>
        <pc:spChg chg="mod">
          <ac:chgData name="hussein shaaban" userId="9dfb4fc279e24574" providerId="LiveId" clId="{93D38B00-0197-4A47-978E-487979860516}" dt="2024-06-18T08:06:56.441" v="52" actId="14100"/>
          <ac:spMkLst>
            <pc:docMk/>
            <pc:sldMk cId="62204429" sldId="268"/>
            <ac:spMk id="3" creationId="{7C231430-4F21-5E64-FA67-6FF22DE0B7FF}"/>
          </ac:spMkLst>
        </pc:spChg>
      </pc:sldChg>
      <pc:sldChg chg="delSp modSp new mod">
        <pc:chgData name="hussein shaaban" userId="9dfb4fc279e24574" providerId="LiveId" clId="{93D38B00-0197-4A47-978E-487979860516}" dt="2024-06-18T08:08:49.219" v="57" actId="255"/>
        <pc:sldMkLst>
          <pc:docMk/>
          <pc:sldMk cId="3524084081" sldId="269"/>
        </pc:sldMkLst>
        <pc:spChg chg="del">
          <ac:chgData name="hussein shaaban" userId="9dfb4fc279e24574" providerId="LiveId" clId="{93D38B00-0197-4A47-978E-487979860516}" dt="2024-06-18T08:08:29.701" v="54" actId="478"/>
          <ac:spMkLst>
            <pc:docMk/>
            <pc:sldMk cId="3524084081" sldId="269"/>
            <ac:spMk id="2" creationId="{5E777868-5168-6F9E-A79A-E114DC12B92B}"/>
          </ac:spMkLst>
        </pc:spChg>
        <pc:spChg chg="mod">
          <ac:chgData name="hussein shaaban" userId="9dfb4fc279e24574" providerId="LiveId" clId="{93D38B00-0197-4A47-978E-487979860516}" dt="2024-06-18T08:08:49.219" v="57" actId="255"/>
          <ac:spMkLst>
            <pc:docMk/>
            <pc:sldMk cId="3524084081" sldId="269"/>
            <ac:spMk id="3" creationId="{6A107DC0-51B4-51F7-8CC3-BCC8437D0FD4}"/>
          </ac:spMkLst>
        </pc:spChg>
      </pc:sldChg>
      <pc:sldChg chg="delSp modSp new mod">
        <pc:chgData name="hussein shaaban" userId="9dfb4fc279e24574" providerId="LiveId" clId="{93D38B00-0197-4A47-978E-487979860516}" dt="2024-06-27T20:14:38.005" v="855" actId="20577"/>
        <pc:sldMkLst>
          <pc:docMk/>
          <pc:sldMk cId="922157194" sldId="270"/>
        </pc:sldMkLst>
        <pc:spChg chg="del">
          <ac:chgData name="hussein shaaban" userId="9dfb4fc279e24574" providerId="LiveId" clId="{93D38B00-0197-4A47-978E-487979860516}" dt="2024-06-18T08:09:11.840" v="59" actId="478"/>
          <ac:spMkLst>
            <pc:docMk/>
            <pc:sldMk cId="922157194" sldId="270"/>
            <ac:spMk id="2" creationId="{FAA10714-A087-D67D-6B5E-906194D6BD62}"/>
          </ac:spMkLst>
        </pc:spChg>
        <pc:spChg chg="mod">
          <ac:chgData name="hussein shaaban" userId="9dfb4fc279e24574" providerId="LiveId" clId="{93D38B00-0197-4A47-978E-487979860516}" dt="2024-06-27T20:14:38.005" v="855" actId="20577"/>
          <ac:spMkLst>
            <pc:docMk/>
            <pc:sldMk cId="922157194" sldId="270"/>
            <ac:spMk id="3" creationId="{B1AD0703-0928-B85E-56AA-C1A0A985C82F}"/>
          </ac:spMkLst>
        </pc:spChg>
      </pc:sldChg>
      <pc:sldChg chg="delSp modSp new mod">
        <pc:chgData name="hussein shaaban" userId="9dfb4fc279e24574" providerId="LiveId" clId="{93D38B00-0197-4A47-978E-487979860516}" dt="2024-06-18T08:18:28.192" v="75" actId="255"/>
        <pc:sldMkLst>
          <pc:docMk/>
          <pc:sldMk cId="2364574389" sldId="271"/>
        </pc:sldMkLst>
        <pc:spChg chg="del">
          <ac:chgData name="hussein shaaban" userId="9dfb4fc279e24574" providerId="LiveId" clId="{93D38B00-0197-4A47-978E-487979860516}" dt="2024-06-18T08:17:59.817" v="71" actId="478"/>
          <ac:spMkLst>
            <pc:docMk/>
            <pc:sldMk cId="2364574389" sldId="271"/>
            <ac:spMk id="2" creationId="{CB60AB6E-A2CB-CFC6-1721-95AC247E9307}"/>
          </ac:spMkLst>
        </pc:spChg>
        <pc:spChg chg="mod">
          <ac:chgData name="hussein shaaban" userId="9dfb4fc279e24574" providerId="LiveId" clId="{93D38B00-0197-4A47-978E-487979860516}" dt="2024-06-18T08:18:28.192" v="75" actId="255"/>
          <ac:spMkLst>
            <pc:docMk/>
            <pc:sldMk cId="2364574389" sldId="271"/>
            <ac:spMk id="3" creationId="{9D05E4FA-90CD-3C5B-D1FF-3B741B739F4C}"/>
          </ac:spMkLst>
        </pc:spChg>
      </pc:sldChg>
      <pc:sldChg chg="delSp modSp new mod">
        <pc:chgData name="hussein shaaban" userId="9dfb4fc279e24574" providerId="LiveId" clId="{93D38B00-0197-4A47-978E-487979860516}" dt="2024-06-18T08:20:35.405" v="90" actId="20577"/>
        <pc:sldMkLst>
          <pc:docMk/>
          <pc:sldMk cId="3903983119" sldId="272"/>
        </pc:sldMkLst>
        <pc:spChg chg="del">
          <ac:chgData name="hussein shaaban" userId="9dfb4fc279e24574" providerId="LiveId" clId="{93D38B00-0197-4A47-978E-487979860516}" dt="2024-06-18T08:19:36.629" v="77" actId="478"/>
          <ac:spMkLst>
            <pc:docMk/>
            <pc:sldMk cId="3903983119" sldId="272"/>
            <ac:spMk id="2" creationId="{BF1CB616-510D-E8DA-5C30-DE566B30FBE7}"/>
          </ac:spMkLst>
        </pc:spChg>
        <pc:spChg chg="mod">
          <ac:chgData name="hussein shaaban" userId="9dfb4fc279e24574" providerId="LiveId" clId="{93D38B00-0197-4A47-978E-487979860516}" dt="2024-06-18T08:20:35.405" v="90" actId="20577"/>
          <ac:spMkLst>
            <pc:docMk/>
            <pc:sldMk cId="3903983119" sldId="272"/>
            <ac:spMk id="3" creationId="{84D34D96-5D5E-6983-19DE-B612746EECAD}"/>
          </ac:spMkLst>
        </pc:spChg>
      </pc:sldChg>
      <pc:sldChg chg="delSp modSp new mod">
        <pc:chgData name="hussein shaaban" userId="9dfb4fc279e24574" providerId="LiveId" clId="{93D38B00-0197-4A47-978E-487979860516}" dt="2024-06-18T08:22:13.522" v="100" actId="255"/>
        <pc:sldMkLst>
          <pc:docMk/>
          <pc:sldMk cId="1999402257" sldId="273"/>
        </pc:sldMkLst>
        <pc:spChg chg="del">
          <ac:chgData name="hussein shaaban" userId="9dfb4fc279e24574" providerId="LiveId" clId="{93D38B00-0197-4A47-978E-487979860516}" dt="2024-06-18T08:21:35.058" v="91" actId="478"/>
          <ac:spMkLst>
            <pc:docMk/>
            <pc:sldMk cId="1999402257" sldId="273"/>
            <ac:spMk id="2" creationId="{32DC6EB3-9860-3F88-8FE3-E55C986FBCFC}"/>
          </ac:spMkLst>
        </pc:spChg>
        <pc:spChg chg="mod">
          <ac:chgData name="hussein shaaban" userId="9dfb4fc279e24574" providerId="LiveId" clId="{93D38B00-0197-4A47-978E-487979860516}" dt="2024-06-18T08:22:13.522" v="100" actId="255"/>
          <ac:spMkLst>
            <pc:docMk/>
            <pc:sldMk cId="1999402257" sldId="273"/>
            <ac:spMk id="3" creationId="{5D8EC575-33C4-2D0A-9A0C-D9958AF18BEE}"/>
          </ac:spMkLst>
        </pc:spChg>
      </pc:sldChg>
      <pc:sldChg chg="modSp new mod">
        <pc:chgData name="hussein shaaban" userId="9dfb4fc279e24574" providerId="LiveId" clId="{93D38B00-0197-4A47-978E-487979860516}" dt="2024-06-18T08:30:58.226" v="112" actId="255"/>
        <pc:sldMkLst>
          <pc:docMk/>
          <pc:sldMk cId="1405218365" sldId="274"/>
        </pc:sldMkLst>
        <pc:spChg chg="mod">
          <ac:chgData name="hussein shaaban" userId="9dfb4fc279e24574" providerId="LiveId" clId="{93D38B00-0197-4A47-978E-487979860516}" dt="2024-06-18T08:26:54.547" v="105" actId="14100"/>
          <ac:spMkLst>
            <pc:docMk/>
            <pc:sldMk cId="1405218365" sldId="274"/>
            <ac:spMk id="2" creationId="{0B73DEAD-4F29-9805-08AF-88EC1558C97B}"/>
          </ac:spMkLst>
        </pc:spChg>
        <pc:spChg chg="mod">
          <ac:chgData name="hussein shaaban" userId="9dfb4fc279e24574" providerId="LiveId" clId="{93D38B00-0197-4A47-978E-487979860516}" dt="2024-06-18T08:30:58.226" v="112" actId="255"/>
          <ac:spMkLst>
            <pc:docMk/>
            <pc:sldMk cId="1405218365" sldId="274"/>
            <ac:spMk id="3" creationId="{8A50BBD8-4D11-E463-F93B-B98AEE5874CB}"/>
          </ac:spMkLst>
        </pc:spChg>
      </pc:sldChg>
      <pc:sldChg chg="delSp modSp new mod">
        <pc:chgData name="hussein shaaban" userId="9dfb4fc279e24574" providerId="LiveId" clId="{93D38B00-0197-4A47-978E-487979860516}" dt="2024-06-18T08:35:51.984" v="130" actId="20577"/>
        <pc:sldMkLst>
          <pc:docMk/>
          <pc:sldMk cId="1715757861" sldId="275"/>
        </pc:sldMkLst>
        <pc:spChg chg="del">
          <ac:chgData name="hussein shaaban" userId="9dfb4fc279e24574" providerId="LiveId" clId="{93D38B00-0197-4A47-978E-487979860516}" dt="2024-06-18T08:31:36.310" v="114" actId="478"/>
          <ac:spMkLst>
            <pc:docMk/>
            <pc:sldMk cId="1715757861" sldId="275"/>
            <ac:spMk id="2" creationId="{0A3E9516-1F64-4351-888C-B07406469E77}"/>
          </ac:spMkLst>
        </pc:spChg>
        <pc:spChg chg="mod">
          <ac:chgData name="hussein shaaban" userId="9dfb4fc279e24574" providerId="LiveId" clId="{93D38B00-0197-4A47-978E-487979860516}" dt="2024-06-18T08:35:51.984" v="130" actId="20577"/>
          <ac:spMkLst>
            <pc:docMk/>
            <pc:sldMk cId="1715757861" sldId="275"/>
            <ac:spMk id="3" creationId="{047ED674-3EC4-3600-EA86-63588C484E4A}"/>
          </ac:spMkLst>
        </pc:spChg>
      </pc:sldChg>
      <pc:sldChg chg="delSp modSp new mod">
        <pc:chgData name="hussein shaaban" userId="9dfb4fc279e24574" providerId="LiveId" clId="{93D38B00-0197-4A47-978E-487979860516}" dt="2024-06-18T08:36:42.465" v="141" actId="14100"/>
        <pc:sldMkLst>
          <pc:docMk/>
          <pc:sldMk cId="2592478312" sldId="276"/>
        </pc:sldMkLst>
        <pc:spChg chg="del">
          <ac:chgData name="hussein shaaban" userId="9dfb4fc279e24574" providerId="LiveId" clId="{93D38B00-0197-4A47-978E-487979860516}" dt="2024-06-18T08:34:48.251" v="119" actId="478"/>
          <ac:spMkLst>
            <pc:docMk/>
            <pc:sldMk cId="2592478312" sldId="276"/>
            <ac:spMk id="2" creationId="{0D2D319E-0A2F-F248-1BF3-B95403015EBD}"/>
          </ac:spMkLst>
        </pc:spChg>
        <pc:spChg chg="mod">
          <ac:chgData name="hussein shaaban" userId="9dfb4fc279e24574" providerId="LiveId" clId="{93D38B00-0197-4A47-978E-487979860516}" dt="2024-06-18T08:36:42.465" v="141" actId="14100"/>
          <ac:spMkLst>
            <pc:docMk/>
            <pc:sldMk cId="2592478312" sldId="276"/>
            <ac:spMk id="3" creationId="{309D4914-645F-CF5F-DA4A-93FA9609BA5D}"/>
          </ac:spMkLst>
        </pc:spChg>
      </pc:sldChg>
      <pc:sldChg chg="delSp modSp new mod">
        <pc:chgData name="hussein shaaban" userId="9dfb4fc279e24574" providerId="LiveId" clId="{93D38B00-0197-4A47-978E-487979860516}" dt="2024-06-18T08:39:53.482" v="151" actId="14100"/>
        <pc:sldMkLst>
          <pc:docMk/>
          <pc:sldMk cId="1906373286" sldId="277"/>
        </pc:sldMkLst>
        <pc:spChg chg="del">
          <ac:chgData name="hussein shaaban" userId="9dfb4fc279e24574" providerId="LiveId" clId="{93D38B00-0197-4A47-978E-487979860516}" dt="2024-06-18T08:39:14.538" v="143" actId="478"/>
          <ac:spMkLst>
            <pc:docMk/>
            <pc:sldMk cId="1906373286" sldId="277"/>
            <ac:spMk id="2" creationId="{42BE689B-8E1D-1557-9948-938CB86FBAC6}"/>
          </ac:spMkLst>
        </pc:spChg>
        <pc:spChg chg="mod">
          <ac:chgData name="hussein shaaban" userId="9dfb4fc279e24574" providerId="LiveId" clId="{93D38B00-0197-4A47-978E-487979860516}" dt="2024-06-18T08:39:53.482" v="151" actId="14100"/>
          <ac:spMkLst>
            <pc:docMk/>
            <pc:sldMk cId="1906373286" sldId="277"/>
            <ac:spMk id="3" creationId="{205DE4BE-A81E-4B9A-77D2-0881A0E5C6E4}"/>
          </ac:spMkLst>
        </pc:spChg>
      </pc:sldChg>
      <pc:sldChg chg="delSp modSp new mod">
        <pc:chgData name="hussein shaaban" userId="9dfb4fc279e24574" providerId="LiveId" clId="{93D38B00-0197-4A47-978E-487979860516}" dt="2024-06-18T08:53:49.878" v="165" actId="255"/>
        <pc:sldMkLst>
          <pc:docMk/>
          <pc:sldMk cId="532320118" sldId="278"/>
        </pc:sldMkLst>
        <pc:spChg chg="del">
          <ac:chgData name="hussein shaaban" userId="9dfb4fc279e24574" providerId="LiveId" clId="{93D38B00-0197-4A47-978E-487979860516}" dt="2024-06-18T08:51:34.315" v="153" actId="478"/>
          <ac:spMkLst>
            <pc:docMk/>
            <pc:sldMk cId="532320118" sldId="278"/>
            <ac:spMk id="2" creationId="{26676795-4238-5C68-1571-7376681B3AB5}"/>
          </ac:spMkLst>
        </pc:spChg>
        <pc:spChg chg="mod">
          <ac:chgData name="hussein shaaban" userId="9dfb4fc279e24574" providerId="LiveId" clId="{93D38B00-0197-4A47-978E-487979860516}" dt="2024-06-18T08:53:49.878" v="165" actId="255"/>
          <ac:spMkLst>
            <pc:docMk/>
            <pc:sldMk cId="532320118" sldId="278"/>
            <ac:spMk id="3" creationId="{85749FCF-4293-5767-2734-BFCB0CF3FB49}"/>
          </ac:spMkLst>
        </pc:spChg>
      </pc:sldChg>
      <pc:sldChg chg="delSp modSp new mod">
        <pc:chgData name="hussein shaaban" userId="9dfb4fc279e24574" providerId="LiveId" clId="{93D38B00-0197-4A47-978E-487979860516}" dt="2024-06-18T08:55:16.430" v="176" actId="255"/>
        <pc:sldMkLst>
          <pc:docMk/>
          <pc:sldMk cId="3974551759" sldId="279"/>
        </pc:sldMkLst>
        <pc:spChg chg="del">
          <ac:chgData name="hussein shaaban" userId="9dfb4fc279e24574" providerId="LiveId" clId="{93D38B00-0197-4A47-978E-487979860516}" dt="2024-06-18T08:54:24.171" v="167" actId="478"/>
          <ac:spMkLst>
            <pc:docMk/>
            <pc:sldMk cId="3974551759" sldId="279"/>
            <ac:spMk id="2" creationId="{9CB2C903-56EF-C101-1B38-6F18C07E8D51}"/>
          </ac:spMkLst>
        </pc:spChg>
        <pc:spChg chg="mod">
          <ac:chgData name="hussein shaaban" userId="9dfb4fc279e24574" providerId="LiveId" clId="{93D38B00-0197-4A47-978E-487979860516}" dt="2024-06-18T08:55:16.430" v="176" actId="255"/>
          <ac:spMkLst>
            <pc:docMk/>
            <pc:sldMk cId="3974551759" sldId="279"/>
            <ac:spMk id="3" creationId="{0D8C6DD9-1BB1-313E-CF84-439C69226499}"/>
          </ac:spMkLst>
        </pc:spChg>
      </pc:sldChg>
      <pc:sldChg chg="delSp modSp new mod">
        <pc:chgData name="hussein shaaban" userId="9dfb4fc279e24574" providerId="LiveId" clId="{93D38B00-0197-4A47-978E-487979860516}" dt="2024-06-18T08:57:00.448" v="181" actId="255"/>
        <pc:sldMkLst>
          <pc:docMk/>
          <pc:sldMk cId="3610318829" sldId="280"/>
        </pc:sldMkLst>
        <pc:spChg chg="del">
          <ac:chgData name="hussein shaaban" userId="9dfb4fc279e24574" providerId="LiveId" clId="{93D38B00-0197-4A47-978E-487979860516}" dt="2024-06-18T08:56:43.398" v="178" actId="478"/>
          <ac:spMkLst>
            <pc:docMk/>
            <pc:sldMk cId="3610318829" sldId="280"/>
            <ac:spMk id="2" creationId="{5F89E3C5-6906-0DA8-2EE3-A6C10E9F7BAD}"/>
          </ac:spMkLst>
        </pc:spChg>
        <pc:spChg chg="mod">
          <ac:chgData name="hussein shaaban" userId="9dfb4fc279e24574" providerId="LiveId" clId="{93D38B00-0197-4A47-978E-487979860516}" dt="2024-06-18T08:57:00.448" v="181" actId="255"/>
          <ac:spMkLst>
            <pc:docMk/>
            <pc:sldMk cId="3610318829" sldId="280"/>
            <ac:spMk id="3" creationId="{FAF5A684-9A51-3DF5-CCAC-86C81D9AA41C}"/>
          </ac:spMkLst>
        </pc:spChg>
      </pc:sldChg>
      <pc:sldChg chg="delSp modSp new mod">
        <pc:chgData name="hussein shaaban" userId="9dfb4fc279e24574" providerId="LiveId" clId="{93D38B00-0197-4A47-978E-487979860516}" dt="2024-06-18T11:18:26.056" v="196" actId="20577"/>
        <pc:sldMkLst>
          <pc:docMk/>
          <pc:sldMk cId="926060193" sldId="281"/>
        </pc:sldMkLst>
        <pc:spChg chg="del">
          <ac:chgData name="hussein shaaban" userId="9dfb4fc279e24574" providerId="LiveId" clId="{93D38B00-0197-4A47-978E-487979860516}" dt="2024-06-18T08:57:11.153" v="183" actId="478"/>
          <ac:spMkLst>
            <pc:docMk/>
            <pc:sldMk cId="926060193" sldId="281"/>
            <ac:spMk id="2" creationId="{DBEF341E-AE54-AC7A-74A9-0E45AAE5DE59}"/>
          </ac:spMkLst>
        </pc:spChg>
        <pc:spChg chg="mod">
          <ac:chgData name="hussein shaaban" userId="9dfb4fc279e24574" providerId="LiveId" clId="{93D38B00-0197-4A47-978E-487979860516}" dt="2024-06-18T11:18:26.056" v="196" actId="20577"/>
          <ac:spMkLst>
            <pc:docMk/>
            <pc:sldMk cId="926060193" sldId="281"/>
            <ac:spMk id="3" creationId="{5890F4DD-CC90-C751-9DD6-897327452BC3}"/>
          </ac:spMkLst>
        </pc:spChg>
      </pc:sldChg>
      <pc:sldChg chg="delSp modSp new mod">
        <pc:chgData name="hussein shaaban" userId="9dfb4fc279e24574" providerId="LiveId" clId="{93D38B00-0197-4A47-978E-487979860516}" dt="2024-06-18T11:26:33.947" v="241" actId="20577"/>
        <pc:sldMkLst>
          <pc:docMk/>
          <pc:sldMk cId="58021918" sldId="282"/>
        </pc:sldMkLst>
        <pc:spChg chg="del">
          <ac:chgData name="hussein shaaban" userId="9dfb4fc279e24574" providerId="LiveId" clId="{93D38B00-0197-4A47-978E-487979860516}" dt="2024-06-18T11:24:41.494" v="221" actId="478"/>
          <ac:spMkLst>
            <pc:docMk/>
            <pc:sldMk cId="58021918" sldId="282"/>
            <ac:spMk id="2" creationId="{438752A1-F629-66C4-9351-A5E0CF0C1055}"/>
          </ac:spMkLst>
        </pc:spChg>
        <pc:spChg chg="mod">
          <ac:chgData name="hussein shaaban" userId="9dfb4fc279e24574" providerId="LiveId" clId="{93D38B00-0197-4A47-978E-487979860516}" dt="2024-06-18T11:26:33.947" v="241" actId="20577"/>
          <ac:spMkLst>
            <pc:docMk/>
            <pc:sldMk cId="58021918" sldId="282"/>
            <ac:spMk id="3" creationId="{F60D5D13-F85B-28F0-3ECA-D00FD11DC62D}"/>
          </ac:spMkLst>
        </pc:spChg>
      </pc:sldChg>
      <pc:sldChg chg="delSp modSp new mod">
        <pc:chgData name="hussein shaaban" userId="9dfb4fc279e24574" providerId="LiveId" clId="{93D38B00-0197-4A47-978E-487979860516}" dt="2024-06-18T11:19:38.704" v="207" actId="20577"/>
        <pc:sldMkLst>
          <pc:docMk/>
          <pc:sldMk cId="1267700093" sldId="283"/>
        </pc:sldMkLst>
        <pc:spChg chg="del">
          <ac:chgData name="hussein shaaban" userId="9dfb4fc279e24574" providerId="LiveId" clId="{93D38B00-0197-4A47-978E-487979860516}" dt="2024-06-18T11:19:06.879" v="198" actId="478"/>
          <ac:spMkLst>
            <pc:docMk/>
            <pc:sldMk cId="1267700093" sldId="283"/>
            <ac:spMk id="2" creationId="{6FE3AC96-F1A9-ECB2-E000-2ECF3CAF7879}"/>
          </ac:spMkLst>
        </pc:spChg>
        <pc:spChg chg="mod">
          <ac:chgData name="hussein shaaban" userId="9dfb4fc279e24574" providerId="LiveId" clId="{93D38B00-0197-4A47-978E-487979860516}" dt="2024-06-18T11:19:38.704" v="207" actId="20577"/>
          <ac:spMkLst>
            <pc:docMk/>
            <pc:sldMk cId="1267700093" sldId="283"/>
            <ac:spMk id="3" creationId="{85E56981-AC89-9C73-8B0B-D3C90D1D0CCA}"/>
          </ac:spMkLst>
        </pc:spChg>
      </pc:sldChg>
      <pc:sldChg chg="modSp new mod">
        <pc:chgData name="hussein shaaban" userId="9dfb4fc279e24574" providerId="LiveId" clId="{93D38B00-0197-4A47-978E-487979860516}" dt="2024-06-18T11:24:28.064" v="220" actId="255"/>
        <pc:sldMkLst>
          <pc:docMk/>
          <pc:sldMk cId="462995349" sldId="284"/>
        </pc:sldMkLst>
        <pc:spChg chg="mod">
          <ac:chgData name="hussein shaaban" userId="9dfb4fc279e24574" providerId="LiveId" clId="{93D38B00-0197-4A47-978E-487979860516}" dt="2024-06-18T11:20:31.596" v="213" actId="14100"/>
          <ac:spMkLst>
            <pc:docMk/>
            <pc:sldMk cId="462995349" sldId="284"/>
            <ac:spMk id="2" creationId="{1A27CDB3-5C5B-9B10-CCF6-680B064214A0}"/>
          </ac:spMkLst>
        </pc:spChg>
        <pc:spChg chg="mod">
          <ac:chgData name="hussein shaaban" userId="9dfb4fc279e24574" providerId="LiveId" clId="{93D38B00-0197-4A47-978E-487979860516}" dt="2024-06-18T11:24:28.064" v="220" actId="255"/>
          <ac:spMkLst>
            <pc:docMk/>
            <pc:sldMk cId="462995349" sldId="284"/>
            <ac:spMk id="3" creationId="{EDA45321-32EB-4061-3B54-69CDD40A163F}"/>
          </ac:spMkLst>
        </pc:spChg>
      </pc:sldChg>
      <pc:sldChg chg="delSp modSp new mod">
        <pc:chgData name="hussein shaaban" userId="9dfb4fc279e24574" providerId="LiveId" clId="{93D38B00-0197-4A47-978E-487979860516}" dt="2024-06-18T12:36:37.265" v="250" actId="14100"/>
        <pc:sldMkLst>
          <pc:docMk/>
          <pc:sldMk cId="1929853220" sldId="285"/>
        </pc:sldMkLst>
        <pc:spChg chg="del">
          <ac:chgData name="hussein shaaban" userId="9dfb4fc279e24574" providerId="LiveId" clId="{93D38B00-0197-4A47-978E-487979860516}" dt="2024-06-18T12:35:19.431" v="243" actId="478"/>
          <ac:spMkLst>
            <pc:docMk/>
            <pc:sldMk cId="1929853220" sldId="285"/>
            <ac:spMk id="2" creationId="{195F172F-257D-0770-65DE-FA89E6FF675D}"/>
          </ac:spMkLst>
        </pc:spChg>
        <pc:spChg chg="mod">
          <ac:chgData name="hussein shaaban" userId="9dfb4fc279e24574" providerId="LiveId" clId="{93D38B00-0197-4A47-978E-487979860516}" dt="2024-06-18T12:36:37.265" v="250" actId="14100"/>
          <ac:spMkLst>
            <pc:docMk/>
            <pc:sldMk cId="1929853220" sldId="285"/>
            <ac:spMk id="3" creationId="{BB62611A-1F8D-314A-89C5-915DC45AE220}"/>
          </ac:spMkLst>
        </pc:spChg>
      </pc:sldChg>
      <pc:sldChg chg="delSp modSp new mod">
        <pc:chgData name="hussein shaaban" userId="9dfb4fc279e24574" providerId="LiveId" clId="{93D38B00-0197-4A47-978E-487979860516}" dt="2024-06-18T12:37:57.373" v="264" actId="20577"/>
        <pc:sldMkLst>
          <pc:docMk/>
          <pc:sldMk cId="3467406821" sldId="286"/>
        </pc:sldMkLst>
        <pc:spChg chg="del">
          <ac:chgData name="hussein shaaban" userId="9dfb4fc279e24574" providerId="LiveId" clId="{93D38B00-0197-4A47-978E-487979860516}" dt="2024-06-18T12:37:17.384" v="252" actId="478"/>
          <ac:spMkLst>
            <pc:docMk/>
            <pc:sldMk cId="3467406821" sldId="286"/>
            <ac:spMk id="2" creationId="{200AF05B-DF13-CFCC-1608-68D0ACA1A04B}"/>
          </ac:spMkLst>
        </pc:spChg>
        <pc:spChg chg="mod">
          <ac:chgData name="hussein shaaban" userId="9dfb4fc279e24574" providerId="LiveId" clId="{93D38B00-0197-4A47-978E-487979860516}" dt="2024-06-18T12:37:57.373" v="264" actId="20577"/>
          <ac:spMkLst>
            <pc:docMk/>
            <pc:sldMk cId="3467406821" sldId="286"/>
            <ac:spMk id="3" creationId="{99054C3D-2373-1C6E-E1B0-F88532D0CAC9}"/>
          </ac:spMkLst>
        </pc:spChg>
      </pc:sldChg>
      <pc:sldChg chg="delSp modSp new mod">
        <pc:chgData name="hussein shaaban" userId="9dfb4fc279e24574" providerId="LiveId" clId="{93D38B00-0197-4A47-978E-487979860516}" dt="2024-06-18T12:47:37.693" v="315" actId="20577"/>
        <pc:sldMkLst>
          <pc:docMk/>
          <pc:sldMk cId="2925823212" sldId="287"/>
        </pc:sldMkLst>
        <pc:spChg chg="del">
          <ac:chgData name="hussein shaaban" userId="9dfb4fc279e24574" providerId="LiveId" clId="{93D38B00-0197-4A47-978E-487979860516}" dt="2024-06-18T12:38:11.711" v="266" actId="478"/>
          <ac:spMkLst>
            <pc:docMk/>
            <pc:sldMk cId="2925823212" sldId="287"/>
            <ac:spMk id="2" creationId="{F596A39D-D4A7-B3D4-B8D1-0D5F587CC5F3}"/>
          </ac:spMkLst>
        </pc:spChg>
        <pc:spChg chg="mod">
          <ac:chgData name="hussein shaaban" userId="9dfb4fc279e24574" providerId="LiveId" clId="{93D38B00-0197-4A47-978E-487979860516}" dt="2024-06-18T12:47:37.693" v="315" actId="20577"/>
          <ac:spMkLst>
            <pc:docMk/>
            <pc:sldMk cId="2925823212" sldId="287"/>
            <ac:spMk id="3" creationId="{601ACF2C-A0B1-6E68-5F4C-AD3272448B0A}"/>
          </ac:spMkLst>
        </pc:spChg>
      </pc:sldChg>
      <pc:sldChg chg="delSp modSp new mod">
        <pc:chgData name="hussein shaaban" userId="9dfb4fc279e24574" providerId="LiveId" clId="{93D38B00-0197-4A47-978E-487979860516}" dt="2024-06-18T12:41:49.041" v="282" actId="255"/>
        <pc:sldMkLst>
          <pc:docMk/>
          <pc:sldMk cId="2562289803" sldId="288"/>
        </pc:sldMkLst>
        <pc:spChg chg="del">
          <ac:chgData name="hussein shaaban" userId="9dfb4fc279e24574" providerId="LiveId" clId="{93D38B00-0197-4A47-978E-487979860516}" dt="2024-06-18T12:40:38.588" v="272" actId="478"/>
          <ac:spMkLst>
            <pc:docMk/>
            <pc:sldMk cId="2562289803" sldId="288"/>
            <ac:spMk id="2" creationId="{A686091C-1A06-3E2C-C75B-BB36AF6BDCB0}"/>
          </ac:spMkLst>
        </pc:spChg>
        <pc:spChg chg="mod">
          <ac:chgData name="hussein shaaban" userId="9dfb4fc279e24574" providerId="LiveId" clId="{93D38B00-0197-4A47-978E-487979860516}" dt="2024-06-18T12:41:49.041" v="282" actId="255"/>
          <ac:spMkLst>
            <pc:docMk/>
            <pc:sldMk cId="2562289803" sldId="288"/>
            <ac:spMk id="3" creationId="{2193A920-5227-A284-D753-FB0AD6C28B7C}"/>
          </ac:spMkLst>
        </pc:spChg>
      </pc:sldChg>
      <pc:sldChg chg="delSp modSp new mod">
        <pc:chgData name="hussein shaaban" userId="9dfb4fc279e24574" providerId="LiveId" clId="{93D38B00-0197-4A47-978E-487979860516}" dt="2024-06-18T12:43:38.230" v="303" actId="20577"/>
        <pc:sldMkLst>
          <pc:docMk/>
          <pc:sldMk cId="122574668" sldId="289"/>
        </pc:sldMkLst>
        <pc:spChg chg="del">
          <ac:chgData name="hussein shaaban" userId="9dfb4fc279e24574" providerId="LiveId" clId="{93D38B00-0197-4A47-978E-487979860516}" dt="2024-06-18T12:41:59.788" v="284" actId="478"/>
          <ac:spMkLst>
            <pc:docMk/>
            <pc:sldMk cId="122574668" sldId="289"/>
            <ac:spMk id="2" creationId="{0BAA1AA9-C9AB-1846-C674-561D9E8BB8B9}"/>
          </ac:spMkLst>
        </pc:spChg>
        <pc:spChg chg="mod">
          <ac:chgData name="hussein shaaban" userId="9dfb4fc279e24574" providerId="LiveId" clId="{93D38B00-0197-4A47-978E-487979860516}" dt="2024-06-18T12:43:38.230" v="303" actId="20577"/>
          <ac:spMkLst>
            <pc:docMk/>
            <pc:sldMk cId="122574668" sldId="289"/>
            <ac:spMk id="3" creationId="{9B799DA2-94C6-C119-7D17-027C717CCB92}"/>
          </ac:spMkLst>
        </pc:spChg>
      </pc:sldChg>
      <pc:sldChg chg="delSp modSp new mod">
        <pc:chgData name="hussein shaaban" userId="9dfb4fc279e24574" providerId="LiveId" clId="{93D38B00-0197-4A47-978E-487979860516}" dt="2024-06-18T14:20:32.184" v="426" actId="20577"/>
        <pc:sldMkLst>
          <pc:docMk/>
          <pc:sldMk cId="2125853713" sldId="290"/>
        </pc:sldMkLst>
        <pc:spChg chg="del">
          <ac:chgData name="hussein shaaban" userId="9dfb4fc279e24574" providerId="LiveId" clId="{93D38B00-0197-4A47-978E-487979860516}" dt="2024-06-18T12:43:49.051" v="305" actId="478"/>
          <ac:spMkLst>
            <pc:docMk/>
            <pc:sldMk cId="2125853713" sldId="290"/>
            <ac:spMk id="2" creationId="{023D3F68-AA6A-F8BC-9593-D783EA4E505D}"/>
          </ac:spMkLst>
        </pc:spChg>
        <pc:spChg chg="mod">
          <ac:chgData name="hussein shaaban" userId="9dfb4fc279e24574" providerId="LiveId" clId="{93D38B00-0197-4A47-978E-487979860516}" dt="2024-06-18T14:20:32.184" v="426" actId="20577"/>
          <ac:spMkLst>
            <pc:docMk/>
            <pc:sldMk cId="2125853713" sldId="290"/>
            <ac:spMk id="3" creationId="{F54696D3-AD2C-2EBB-0D36-FFC08443E6EA}"/>
          </ac:spMkLst>
        </pc:spChg>
      </pc:sldChg>
      <pc:sldChg chg="modSp new mod">
        <pc:chgData name="hussein shaaban" userId="9dfb4fc279e24574" providerId="LiveId" clId="{93D38B00-0197-4A47-978E-487979860516}" dt="2024-06-18T12:51:51.615" v="325" actId="21"/>
        <pc:sldMkLst>
          <pc:docMk/>
          <pc:sldMk cId="2579858722" sldId="291"/>
        </pc:sldMkLst>
        <pc:spChg chg="mod">
          <ac:chgData name="hussein shaaban" userId="9dfb4fc279e24574" providerId="LiveId" clId="{93D38B00-0197-4A47-978E-487979860516}" dt="2024-06-18T12:49:03.550" v="322" actId="27636"/>
          <ac:spMkLst>
            <pc:docMk/>
            <pc:sldMk cId="2579858722" sldId="291"/>
            <ac:spMk id="2" creationId="{BF74ADF7-5E04-5281-A5C3-42C1E9520AC2}"/>
          </ac:spMkLst>
        </pc:spChg>
        <pc:spChg chg="mod">
          <ac:chgData name="hussein shaaban" userId="9dfb4fc279e24574" providerId="LiveId" clId="{93D38B00-0197-4A47-978E-487979860516}" dt="2024-06-18T12:51:51.615" v="325" actId="21"/>
          <ac:spMkLst>
            <pc:docMk/>
            <pc:sldMk cId="2579858722" sldId="291"/>
            <ac:spMk id="3" creationId="{4139D876-E707-B520-E173-EB0A8D4D495A}"/>
          </ac:spMkLst>
        </pc:spChg>
      </pc:sldChg>
      <pc:sldChg chg="delSp modSp new mod">
        <pc:chgData name="hussein shaaban" userId="9dfb4fc279e24574" providerId="LiveId" clId="{93D38B00-0197-4A47-978E-487979860516}" dt="2024-06-18T12:53:57.110" v="353" actId="255"/>
        <pc:sldMkLst>
          <pc:docMk/>
          <pc:sldMk cId="1656970051" sldId="292"/>
        </pc:sldMkLst>
        <pc:spChg chg="del">
          <ac:chgData name="hussein shaaban" userId="9dfb4fc279e24574" providerId="LiveId" clId="{93D38B00-0197-4A47-978E-487979860516}" dt="2024-06-18T12:51:56.895" v="327" actId="478"/>
          <ac:spMkLst>
            <pc:docMk/>
            <pc:sldMk cId="1656970051" sldId="292"/>
            <ac:spMk id="2" creationId="{B88FD91E-1F8E-A034-5DE3-A2BBC47C2C66}"/>
          </ac:spMkLst>
        </pc:spChg>
        <pc:spChg chg="mod">
          <ac:chgData name="hussein shaaban" userId="9dfb4fc279e24574" providerId="LiveId" clId="{93D38B00-0197-4A47-978E-487979860516}" dt="2024-06-18T12:53:57.110" v="353" actId="255"/>
          <ac:spMkLst>
            <pc:docMk/>
            <pc:sldMk cId="1656970051" sldId="292"/>
            <ac:spMk id="3" creationId="{535F23C2-8FFA-DE78-A520-3A409140E22B}"/>
          </ac:spMkLst>
        </pc:spChg>
      </pc:sldChg>
      <pc:sldChg chg="delSp modSp new mod">
        <pc:chgData name="hussein shaaban" userId="9dfb4fc279e24574" providerId="LiveId" clId="{93D38B00-0197-4A47-978E-487979860516}" dt="2024-06-18T13:01:50.341" v="358" actId="255"/>
        <pc:sldMkLst>
          <pc:docMk/>
          <pc:sldMk cId="1344599464" sldId="293"/>
        </pc:sldMkLst>
        <pc:spChg chg="del">
          <ac:chgData name="hussein shaaban" userId="9dfb4fc279e24574" providerId="LiveId" clId="{93D38B00-0197-4A47-978E-487979860516}" dt="2024-06-18T12:57:26.975" v="355" actId="478"/>
          <ac:spMkLst>
            <pc:docMk/>
            <pc:sldMk cId="1344599464" sldId="293"/>
            <ac:spMk id="2" creationId="{31C40B20-50D3-C8EE-74CB-541A9F74D26B}"/>
          </ac:spMkLst>
        </pc:spChg>
        <pc:spChg chg="mod">
          <ac:chgData name="hussein shaaban" userId="9dfb4fc279e24574" providerId="LiveId" clId="{93D38B00-0197-4A47-978E-487979860516}" dt="2024-06-18T13:01:50.341" v="358" actId="255"/>
          <ac:spMkLst>
            <pc:docMk/>
            <pc:sldMk cId="1344599464" sldId="293"/>
            <ac:spMk id="3" creationId="{8534E381-9278-89EF-9E7D-C5C7470DCDC4}"/>
          </ac:spMkLst>
        </pc:spChg>
      </pc:sldChg>
      <pc:sldChg chg="delSp modSp new mod">
        <pc:chgData name="hussein shaaban" userId="9dfb4fc279e24574" providerId="LiveId" clId="{93D38B00-0197-4A47-978E-487979860516}" dt="2024-06-18T13:03:38.468" v="381" actId="20577"/>
        <pc:sldMkLst>
          <pc:docMk/>
          <pc:sldMk cId="4137118159" sldId="294"/>
        </pc:sldMkLst>
        <pc:spChg chg="del">
          <ac:chgData name="hussein shaaban" userId="9dfb4fc279e24574" providerId="LiveId" clId="{93D38B00-0197-4A47-978E-487979860516}" dt="2024-06-18T13:01:59.925" v="360" actId="478"/>
          <ac:spMkLst>
            <pc:docMk/>
            <pc:sldMk cId="4137118159" sldId="294"/>
            <ac:spMk id="2" creationId="{8F89A338-6423-A7C5-F61F-68B0C7531247}"/>
          </ac:spMkLst>
        </pc:spChg>
        <pc:spChg chg="mod">
          <ac:chgData name="hussein shaaban" userId="9dfb4fc279e24574" providerId="LiveId" clId="{93D38B00-0197-4A47-978E-487979860516}" dt="2024-06-18T13:03:38.468" v="381" actId="20577"/>
          <ac:spMkLst>
            <pc:docMk/>
            <pc:sldMk cId="4137118159" sldId="294"/>
            <ac:spMk id="3" creationId="{FEB71AAD-FE75-6DA9-E81C-1AFE93113628}"/>
          </ac:spMkLst>
        </pc:spChg>
      </pc:sldChg>
      <pc:sldChg chg="modSp new mod">
        <pc:chgData name="hussein shaaban" userId="9dfb4fc279e24574" providerId="LiveId" clId="{93D38B00-0197-4A47-978E-487979860516}" dt="2024-06-18T13:29:57.677" v="393" actId="255"/>
        <pc:sldMkLst>
          <pc:docMk/>
          <pc:sldMk cId="2965722147" sldId="295"/>
        </pc:sldMkLst>
        <pc:spChg chg="mod">
          <ac:chgData name="hussein shaaban" userId="9dfb4fc279e24574" providerId="LiveId" clId="{93D38B00-0197-4A47-978E-487979860516}" dt="2024-06-18T13:28:55.166" v="387" actId="14100"/>
          <ac:spMkLst>
            <pc:docMk/>
            <pc:sldMk cId="2965722147" sldId="295"/>
            <ac:spMk id="2" creationId="{150E04F4-AA28-F55C-B993-1787F263B2D5}"/>
          </ac:spMkLst>
        </pc:spChg>
        <pc:spChg chg="mod">
          <ac:chgData name="hussein shaaban" userId="9dfb4fc279e24574" providerId="LiveId" clId="{93D38B00-0197-4A47-978E-487979860516}" dt="2024-06-18T13:29:57.677" v="393" actId="255"/>
          <ac:spMkLst>
            <pc:docMk/>
            <pc:sldMk cId="2965722147" sldId="295"/>
            <ac:spMk id="3" creationId="{CAB8909F-491E-3401-DD74-9D1A90A29755}"/>
          </ac:spMkLst>
        </pc:spChg>
      </pc:sldChg>
      <pc:sldChg chg="delSp modSp new mod">
        <pc:chgData name="hussein shaaban" userId="9dfb4fc279e24574" providerId="LiveId" clId="{93D38B00-0197-4A47-978E-487979860516}" dt="2024-06-18T13:32:05.817" v="413" actId="20577"/>
        <pc:sldMkLst>
          <pc:docMk/>
          <pc:sldMk cId="1028138355" sldId="296"/>
        </pc:sldMkLst>
        <pc:spChg chg="del">
          <ac:chgData name="hussein shaaban" userId="9dfb4fc279e24574" providerId="LiveId" clId="{93D38B00-0197-4A47-978E-487979860516}" dt="2024-06-18T13:30:14.834" v="395" actId="478"/>
          <ac:spMkLst>
            <pc:docMk/>
            <pc:sldMk cId="1028138355" sldId="296"/>
            <ac:spMk id="2" creationId="{85D37996-4314-F5B9-1252-5A7C2207CD98}"/>
          </ac:spMkLst>
        </pc:spChg>
        <pc:spChg chg="mod">
          <ac:chgData name="hussein shaaban" userId="9dfb4fc279e24574" providerId="LiveId" clId="{93D38B00-0197-4A47-978E-487979860516}" dt="2024-06-18T13:32:05.817" v="413" actId="20577"/>
          <ac:spMkLst>
            <pc:docMk/>
            <pc:sldMk cId="1028138355" sldId="296"/>
            <ac:spMk id="3" creationId="{8662290D-E9D8-68FB-6335-7EE82921DB23}"/>
          </ac:spMkLst>
        </pc:spChg>
      </pc:sldChg>
      <pc:sldChg chg="delSp modSp new mod">
        <pc:chgData name="hussein shaaban" userId="9dfb4fc279e24574" providerId="LiveId" clId="{93D38B00-0197-4A47-978E-487979860516}" dt="2024-06-18T14:34:50.955" v="434" actId="14100"/>
        <pc:sldMkLst>
          <pc:docMk/>
          <pc:sldMk cId="3826663327" sldId="297"/>
        </pc:sldMkLst>
        <pc:spChg chg="del">
          <ac:chgData name="hussein shaaban" userId="9dfb4fc279e24574" providerId="LiveId" clId="{93D38B00-0197-4A47-978E-487979860516}" dt="2024-06-18T14:33:34.182" v="427" actId="478"/>
          <ac:spMkLst>
            <pc:docMk/>
            <pc:sldMk cId="3826663327" sldId="297"/>
            <ac:spMk id="2" creationId="{D131093C-5447-71D7-9CD6-AA12652A4C40}"/>
          </ac:spMkLst>
        </pc:spChg>
        <pc:spChg chg="mod">
          <ac:chgData name="hussein shaaban" userId="9dfb4fc279e24574" providerId="LiveId" clId="{93D38B00-0197-4A47-978E-487979860516}" dt="2024-06-18T14:34:50.955" v="434" actId="14100"/>
          <ac:spMkLst>
            <pc:docMk/>
            <pc:sldMk cId="3826663327" sldId="297"/>
            <ac:spMk id="3" creationId="{F9EB7B7D-303D-0A56-025E-FDBF9D6BCD34}"/>
          </ac:spMkLst>
        </pc:spChg>
      </pc:sldChg>
      <pc:sldChg chg="delSp modSp new mod">
        <pc:chgData name="hussein shaaban" userId="9dfb4fc279e24574" providerId="LiveId" clId="{93D38B00-0197-4A47-978E-487979860516}" dt="2024-06-18T14:37:23.728" v="449" actId="20577"/>
        <pc:sldMkLst>
          <pc:docMk/>
          <pc:sldMk cId="395281688" sldId="298"/>
        </pc:sldMkLst>
        <pc:spChg chg="del">
          <ac:chgData name="hussein shaaban" userId="9dfb4fc279e24574" providerId="LiveId" clId="{93D38B00-0197-4A47-978E-487979860516}" dt="2024-06-18T14:36:01.544" v="436" actId="478"/>
          <ac:spMkLst>
            <pc:docMk/>
            <pc:sldMk cId="395281688" sldId="298"/>
            <ac:spMk id="2" creationId="{84ABE205-15E1-B55F-9670-7E44C17DF32F}"/>
          </ac:spMkLst>
        </pc:spChg>
        <pc:spChg chg="mod">
          <ac:chgData name="hussein shaaban" userId="9dfb4fc279e24574" providerId="LiveId" clId="{93D38B00-0197-4A47-978E-487979860516}" dt="2024-06-18T14:37:23.728" v="449" actId="20577"/>
          <ac:spMkLst>
            <pc:docMk/>
            <pc:sldMk cId="395281688" sldId="298"/>
            <ac:spMk id="3" creationId="{B1B6A623-88F1-7AC0-CF2A-7D8E5ADD884C}"/>
          </ac:spMkLst>
        </pc:spChg>
      </pc:sldChg>
      <pc:sldChg chg="delSp modSp new mod">
        <pc:chgData name="hussein shaaban" userId="9dfb4fc279e24574" providerId="LiveId" clId="{93D38B00-0197-4A47-978E-487979860516}" dt="2024-06-18T14:39:16.647" v="465" actId="255"/>
        <pc:sldMkLst>
          <pc:docMk/>
          <pc:sldMk cId="2327607647" sldId="299"/>
        </pc:sldMkLst>
        <pc:spChg chg="del">
          <ac:chgData name="hussein shaaban" userId="9dfb4fc279e24574" providerId="LiveId" clId="{93D38B00-0197-4A47-978E-487979860516}" dt="2024-06-18T14:36:33.939" v="442" actId="478"/>
          <ac:spMkLst>
            <pc:docMk/>
            <pc:sldMk cId="2327607647" sldId="299"/>
            <ac:spMk id="2" creationId="{62360B41-5BA8-9B7B-B127-0592E8B8775B}"/>
          </ac:spMkLst>
        </pc:spChg>
        <pc:spChg chg="mod">
          <ac:chgData name="hussein shaaban" userId="9dfb4fc279e24574" providerId="LiveId" clId="{93D38B00-0197-4A47-978E-487979860516}" dt="2024-06-18T14:39:16.647" v="465" actId="255"/>
          <ac:spMkLst>
            <pc:docMk/>
            <pc:sldMk cId="2327607647" sldId="299"/>
            <ac:spMk id="3" creationId="{2526CB93-93E1-FF17-BC08-6DB4EF6D9C30}"/>
          </ac:spMkLst>
        </pc:spChg>
      </pc:sldChg>
      <pc:sldChg chg="delSp modSp new mod">
        <pc:chgData name="hussein shaaban" userId="9dfb4fc279e24574" providerId="LiveId" clId="{93D38B00-0197-4A47-978E-487979860516}" dt="2024-06-18T14:41:44.822" v="486" actId="20577"/>
        <pc:sldMkLst>
          <pc:docMk/>
          <pc:sldMk cId="2822665525" sldId="300"/>
        </pc:sldMkLst>
        <pc:spChg chg="del">
          <ac:chgData name="hussein shaaban" userId="9dfb4fc279e24574" providerId="LiveId" clId="{93D38B00-0197-4A47-978E-487979860516}" dt="2024-06-18T14:39:27.109" v="467" actId="478"/>
          <ac:spMkLst>
            <pc:docMk/>
            <pc:sldMk cId="2822665525" sldId="300"/>
            <ac:spMk id="2" creationId="{2ED3E338-D2C6-DE23-FDF8-890A4BFC7409}"/>
          </ac:spMkLst>
        </pc:spChg>
        <pc:spChg chg="mod">
          <ac:chgData name="hussein shaaban" userId="9dfb4fc279e24574" providerId="LiveId" clId="{93D38B00-0197-4A47-978E-487979860516}" dt="2024-06-18T14:41:44.822" v="486" actId="20577"/>
          <ac:spMkLst>
            <pc:docMk/>
            <pc:sldMk cId="2822665525" sldId="300"/>
            <ac:spMk id="3" creationId="{C242C4F0-16AF-A89D-8525-9CDF67460E9C}"/>
          </ac:spMkLst>
        </pc:spChg>
      </pc:sldChg>
      <pc:sldChg chg="modSp new mod">
        <pc:chgData name="hussein shaaban" userId="9dfb4fc279e24574" providerId="LiveId" clId="{93D38B00-0197-4A47-978E-487979860516}" dt="2024-06-18T14:56:15.166" v="502" actId="27636"/>
        <pc:sldMkLst>
          <pc:docMk/>
          <pc:sldMk cId="3623927485" sldId="301"/>
        </pc:sldMkLst>
        <pc:spChg chg="mod">
          <ac:chgData name="hussein shaaban" userId="9dfb4fc279e24574" providerId="LiveId" clId="{93D38B00-0197-4A47-978E-487979860516}" dt="2024-06-18T14:42:56.342" v="495" actId="14100"/>
          <ac:spMkLst>
            <pc:docMk/>
            <pc:sldMk cId="3623927485" sldId="301"/>
            <ac:spMk id="2" creationId="{30C3FA52-7BB7-4502-2C7B-1D65C24B57A5}"/>
          </ac:spMkLst>
        </pc:spChg>
        <pc:spChg chg="mod">
          <ac:chgData name="hussein shaaban" userId="9dfb4fc279e24574" providerId="LiveId" clId="{93D38B00-0197-4A47-978E-487979860516}" dt="2024-06-18T14:56:15.166" v="502" actId="27636"/>
          <ac:spMkLst>
            <pc:docMk/>
            <pc:sldMk cId="3623927485" sldId="301"/>
            <ac:spMk id="3" creationId="{08B4061A-6530-938E-501D-5F58BBAC502E}"/>
          </ac:spMkLst>
        </pc:spChg>
      </pc:sldChg>
      <pc:sldChg chg="delSp modSp new mod">
        <pc:chgData name="hussein shaaban" userId="9dfb4fc279e24574" providerId="LiveId" clId="{93D38B00-0197-4A47-978E-487979860516}" dt="2024-06-18T14:58:09.864" v="524" actId="255"/>
        <pc:sldMkLst>
          <pc:docMk/>
          <pc:sldMk cId="1852740868" sldId="302"/>
        </pc:sldMkLst>
        <pc:spChg chg="del">
          <ac:chgData name="hussein shaaban" userId="9dfb4fc279e24574" providerId="LiveId" clId="{93D38B00-0197-4A47-978E-487979860516}" dt="2024-06-18T14:56:24.960" v="504" actId="478"/>
          <ac:spMkLst>
            <pc:docMk/>
            <pc:sldMk cId="1852740868" sldId="302"/>
            <ac:spMk id="2" creationId="{DEADE8A7-68AD-B16C-0F15-7B193BCECEF4}"/>
          </ac:spMkLst>
        </pc:spChg>
        <pc:spChg chg="mod">
          <ac:chgData name="hussein shaaban" userId="9dfb4fc279e24574" providerId="LiveId" clId="{93D38B00-0197-4A47-978E-487979860516}" dt="2024-06-18T14:58:09.864" v="524" actId="255"/>
          <ac:spMkLst>
            <pc:docMk/>
            <pc:sldMk cId="1852740868" sldId="302"/>
            <ac:spMk id="3" creationId="{54A65C91-F949-7FB9-FE59-D83F7D99BC42}"/>
          </ac:spMkLst>
        </pc:spChg>
      </pc:sldChg>
      <pc:sldChg chg="delSp modSp new mod">
        <pc:chgData name="hussein shaaban" userId="9dfb4fc279e24574" providerId="LiveId" clId="{93D38B00-0197-4A47-978E-487979860516}" dt="2024-06-18T14:59:15.748" v="532" actId="255"/>
        <pc:sldMkLst>
          <pc:docMk/>
          <pc:sldMk cId="3462055435" sldId="303"/>
        </pc:sldMkLst>
        <pc:spChg chg="del">
          <ac:chgData name="hussein shaaban" userId="9dfb4fc279e24574" providerId="LiveId" clId="{93D38B00-0197-4A47-978E-487979860516}" dt="2024-06-18T14:58:20.124" v="526" actId="478"/>
          <ac:spMkLst>
            <pc:docMk/>
            <pc:sldMk cId="3462055435" sldId="303"/>
            <ac:spMk id="2" creationId="{260C6318-42E0-4EF8-F07F-9467A8043695}"/>
          </ac:spMkLst>
        </pc:spChg>
        <pc:spChg chg="mod">
          <ac:chgData name="hussein shaaban" userId="9dfb4fc279e24574" providerId="LiveId" clId="{93D38B00-0197-4A47-978E-487979860516}" dt="2024-06-18T14:59:15.748" v="532" actId="255"/>
          <ac:spMkLst>
            <pc:docMk/>
            <pc:sldMk cId="3462055435" sldId="303"/>
            <ac:spMk id="3" creationId="{6FE3577E-FC36-0EB3-AB19-BC8801A95F39}"/>
          </ac:spMkLst>
        </pc:spChg>
      </pc:sldChg>
      <pc:sldChg chg="delSp modSp new mod">
        <pc:chgData name="hussein shaaban" userId="9dfb4fc279e24574" providerId="LiveId" clId="{93D38B00-0197-4A47-978E-487979860516}" dt="2024-06-18T15:08:18.080" v="546" actId="113"/>
        <pc:sldMkLst>
          <pc:docMk/>
          <pc:sldMk cId="675513540" sldId="304"/>
        </pc:sldMkLst>
        <pc:spChg chg="del">
          <ac:chgData name="hussein shaaban" userId="9dfb4fc279e24574" providerId="LiveId" clId="{93D38B00-0197-4A47-978E-487979860516}" dt="2024-06-18T15:06:52.206" v="534" actId="478"/>
          <ac:spMkLst>
            <pc:docMk/>
            <pc:sldMk cId="675513540" sldId="304"/>
            <ac:spMk id="2" creationId="{5E017DAA-576F-138C-07D0-F2DA3A3F0B2C}"/>
          </ac:spMkLst>
        </pc:spChg>
        <pc:spChg chg="mod">
          <ac:chgData name="hussein shaaban" userId="9dfb4fc279e24574" providerId="LiveId" clId="{93D38B00-0197-4A47-978E-487979860516}" dt="2024-06-18T15:08:18.080" v="546" actId="113"/>
          <ac:spMkLst>
            <pc:docMk/>
            <pc:sldMk cId="675513540" sldId="304"/>
            <ac:spMk id="3" creationId="{A2739643-600B-133F-0E7B-1181856FECB9}"/>
          </ac:spMkLst>
        </pc:spChg>
      </pc:sldChg>
      <pc:sldChg chg="delSp modSp new mod">
        <pc:chgData name="hussein shaaban" userId="9dfb4fc279e24574" providerId="LiveId" clId="{93D38B00-0197-4A47-978E-487979860516}" dt="2024-06-18T15:11:57.913" v="578" actId="6549"/>
        <pc:sldMkLst>
          <pc:docMk/>
          <pc:sldMk cId="4189840121" sldId="305"/>
        </pc:sldMkLst>
        <pc:spChg chg="del">
          <ac:chgData name="hussein shaaban" userId="9dfb4fc279e24574" providerId="LiveId" clId="{93D38B00-0197-4A47-978E-487979860516}" dt="2024-06-18T15:08:52.034" v="548" actId="478"/>
          <ac:spMkLst>
            <pc:docMk/>
            <pc:sldMk cId="4189840121" sldId="305"/>
            <ac:spMk id="2" creationId="{3EA6B527-7A65-FB01-112F-6A23C9A17D2A}"/>
          </ac:spMkLst>
        </pc:spChg>
        <pc:spChg chg="mod">
          <ac:chgData name="hussein shaaban" userId="9dfb4fc279e24574" providerId="LiveId" clId="{93D38B00-0197-4A47-978E-487979860516}" dt="2024-06-18T15:11:57.913" v="578" actId="6549"/>
          <ac:spMkLst>
            <pc:docMk/>
            <pc:sldMk cId="4189840121" sldId="305"/>
            <ac:spMk id="3" creationId="{D57183AA-851C-7DBE-B30A-33E6925D7E9A}"/>
          </ac:spMkLst>
        </pc:spChg>
      </pc:sldChg>
      <pc:sldChg chg="delSp modSp new mod">
        <pc:chgData name="hussein shaaban" userId="9dfb4fc279e24574" providerId="LiveId" clId="{93D38B00-0197-4A47-978E-487979860516}" dt="2024-06-18T15:14:05.607" v="599" actId="20577"/>
        <pc:sldMkLst>
          <pc:docMk/>
          <pc:sldMk cId="1999509934" sldId="306"/>
        </pc:sldMkLst>
        <pc:spChg chg="del">
          <ac:chgData name="hussein shaaban" userId="9dfb4fc279e24574" providerId="LiveId" clId="{93D38B00-0197-4A47-978E-487979860516}" dt="2024-06-18T15:12:26.962" v="580" actId="478"/>
          <ac:spMkLst>
            <pc:docMk/>
            <pc:sldMk cId="1999509934" sldId="306"/>
            <ac:spMk id="2" creationId="{819CA9CE-9C0B-5A83-02E9-E0A044C6E3F3}"/>
          </ac:spMkLst>
        </pc:spChg>
        <pc:spChg chg="mod">
          <ac:chgData name="hussein shaaban" userId="9dfb4fc279e24574" providerId="LiveId" clId="{93D38B00-0197-4A47-978E-487979860516}" dt="2024-06-18T15:14:05.607" v="599" actId="20577"/>
          <ac:spMkLst>
            <pc:docMk/>
            <pc:sldMk cId="1999509934" sldId="306"/>
            <ac:spMk id="3" creationId="{AB6BB203-4225-C7EA-37D3-642574926C87}"/>
          </ac:spMkLst>
        </pc:spChg>
      </pc:sldChg>
      <pc:sldChg chg="modSp new mod">
        <pc:chgData name="hussein shaaban" userId="9dfb4fc279e24574" providerId="LiveId" clId="{93D38B00-0197-4A47-978E-487979860516}" dt="2024-06-18T15:20:22.893" v="613" actId="255"/>
        <pc:sldMkLst>
          <pc:docMk/>
          <pc:sldMk cId="2201210956" sldId="307"/>
        </pc:sldMkLst>
        <pc:spChg chg="mod">
          <ac:chgData name="hussein shaaban" userId="9dfb4fc279e24574" providerId="LiveId" clId="{93D38B00-0197-4A47-978E-487979860516}" dt="2024-06-18T15:18:41.832" v="605" actId="14100"/>
          <ac:spMkLst>
            <pc:docMk/>
            <pc:sldMk cId="2201210956" sldId="307"/>
            <ac:spMk id="2" creationId="{3DA136F6-5064-1BBB-386E-7CC365559F30}"/>
          </ac:spMkLst>
        </pc:spChg>
        <pc:spChg chg="mod">
          <ac:chgData name="hussein shaaban" userId="9dfb4fc279e24574" providerId="LiveId" clId="{93D38B00-0197-4A47-978E-487979860516}" dt="2024-06-18T15:20:22.893" v="613" actId="255"/>
          <ac:spMkLst>
            <pc:docMk/>
            <pc:sldMk cId="2201210956" sldId="307"/>
            <ac:spMk id="3" creationId="{F4FE74B1-D121-1D05-6064-B3A1182D1D77}"/>
          </ac:spMkLst>
        </pc:spChg>
      </pc:sldChg>
      <pc:sldChg chg="delSp modSp new mod">
        <pc:chgData name="hussein shaaban" userId="9dfb4fc279e24574" providerId="LiveId" clId="{93D38B00-0197-4A47-978E-487979860516}" dt="2024-06-18T15:23:17.557" v="628" actId="255"/>
        <pc:sldMkLst>
          <pc:docMk/>
          <pc:sldMk cId="907456592" sldId="308"/>
        </pc:sldMkLst>
        <pc:spChg chg="del">
          <ac:chgData name="hussein shaaban" userId="9dfb4fc279e24574" providerId="LiveId" clId="{93D38B00-0197-4A47-978E-487979860516}" dt="2024-06-18T15:20:04.976" v="610" actId="478"/>
          <ac:spMkLst>
            <pc:docMk/>
            <pc:sldMk cId="907456592" sldId="308"/>
            <ac:spMk id="2" creationId="{C577232A-2619-2773-38BC-1A13C57159CF}"/>
          </ac:spMkLst>
        </pc:spChg>
        <pc:spChg chg="mod">
          <ac:chgData name="hussein shaaban" userId="9dfb4fc279e24574" providerId="LiveId" clId="{93D38B00-0197-4A47-978E-487979860516}" dt="2024-06-18T15:23:17.557" v="628" actId="255"/>
          <ac:spMkLst>
            <pc:docMk/>
            <pc:sldMk cId="907456592" sldId="308"/>
            <ac:spMk id="3" creationId="{356ADF6B-4AE5-58CC-A608-E0F3BC7BA425}"/>
          </ac:spMkLst>
        </pc:spChg>
      </pc:sldChg>
      <pc:sldChg chg="delSp modSp new mod">
        <pc:chgData name="hussein shaaban" userId="9dfb4fc279e24574" providerId="LiveId" clId="{93D38B00-0197-4A47-978E-487979860516}" dt="2024-06-18T15:48:57.403" v="645" actId="27636"/>
        <pc:sldMkLst>
          <pc:docMk/>
          <pc:sldMk cId="21066038" sldId="309"/>
        </pc:sldMkLst>
        <pc:spChg chg="del">
          <ac:chgData name="hussein shaaban" userId="9dfb4fc279e24574" providerId="LiveId" clId="{93D38B00-0197-4A47-978E-487979860516}" dt="2024-06-18T15:23:43.811" v="630" actId="478"/>
          <ac:spMkLst>
            <pc:docMk/>
            <pc:sldMk cId="21066038" sldId="309"/>
            <ac:spMk id="2" creationId="{DA867570-15EA-ABB9-656A-34E8F031F9D7}"/>
          </ac:spMkLst>
        </pc:spChg>
        <pc:spChg chg="mod">
          <ac:chgData name="hussein shaaban" userId="9dfb4fc279e24574" providerId="LiveId" clId="{93D38B00-0197-4A47-978E-487979860516}" dt="2024-06-18T15:48:57.403" v="645" actId="27636"/>
          <ac:spMkLst>
            <pc:docMk/>
            <pc:sldMk cId="21066038" sldId="309"/>
            <ac:spMk id="3" creationId="{2614DFA5-E6F4-1C95-57B1-17335C8EC9FD}"/>
          </ac:spMkLst>
        </pc:spChg>
      </pc:sldChg>
      <pc:sldChg chg="delSp modSp new mod">
        <pc:chgData name="hussein shaaban" userId="9dfb4fc279e24574" providerId="LiveId" clId="{93D38B00-0197-4A47-978E-487979860516}" dt="2024-06-18T15:51:27.252" v="656" actId="255"/>
        <pc:sldMkLst>
          <pc:docMk/>
          <pc:sldMk cId="3749552348" sldId="310"/>
        </pc:sldMkLst>
        <pc:spChg chg="del">
          <ac:chgData name="hussein shaaban" userId="9dfb4fc279e24574" providerId="LiveId" clId="{93D38B00-0197-4A47-978E-487979860516}" dt="2024-06-18T15:49:19.063" v="647" actId="478"/>
          <ac:spMkLst>
            <pc:docMk/>
            <pc:sldMk cId="3749552348" sldId="310"/>
            <ac:spMk id="2" creationId="{C05652BF-95ED-328C-C7BF-57077EDD1B9B}"/>
          </ac:spMkLst>
        </pc:spChg>
        <pc:spChg chg="mod">
          <ac:chgData name="hussein shaaban" userId="9dfb4fc279e24574" providerId="LiveId" clId="{93D38B00-0197-4A47-978E-487979860516}" dt="2024-06-18T15:51:27.252" v="656" actId="255"/>
          <ac:spMkLst>
            <pc:docMk/>
            <pc:sldMk cId="3749552348" sldId="310"/>
            <ac:spMk id="3" creationId="{E6BBA761-142F-5656-5E15-B52429CF141A}"/>
          </ac:spMkLst>
        </pc:spChg>
      </pc:sldChg>
      <pc:sldChg chg="new del">
        <pc:chgData name="hussein shaaban" userId="9dfb4fc279e24574" providerId="LiveId" clId="{93D38B00-0197-4A47-978E-487979860516}" dt="2024-06-18T17:44:24.874" v="842" actId="47"/>
        <pc:sldMkLst>
          <pc:docMk/>
          <pc:sldMk cId="1749613113" sldId="311"/>
        </pc:sldMkLst>
      </pc:sldChg>
      <pc:sldChg chg="delSp modSp new mod">
        <pc:chgData name="hussein shaaban" userId="9dfb4fc279e24574" providerId="LiveId" clId="{93D38B00-0197-4A47-978E-487979860516}" dt="2024-06-18T16:37:46.254" v="662" actId="255"/>
        <pc:sldMkLst>
          <pc:docMk/>
          <pc:sldMk cId="3680526673" sldId="312"/>
        </pc:sldMkLst>
        <pc:spChg chg="del">
          <ac:chgData name="hussein shaaban" userId="9dfb4fc279e24574" providerId="LiveId" clId="{93D38B00-0197-4A47-978E-487979860516}" dt="2024-06-18T16:37:26.435" v="659" actId="478"/>
          <ac:spMkLst>
            <pc:docMk/>
            <pc:sldMk cId="3680526673" sldId="312"/>
            <ac:spMk id="2" creationId="{85375122-1F4C-E343-0BAD-25C120632DBC}"/>
          </ac:spMkLst>
        </pc:spChg>
        <pc:spChg chg="mod">
          <ac:chgData name="hussein shaaban" userId="9dfb4fc279e24574" providerId="LiveId" clId="{93D38B00-0197-4A47-978E-487979860516}" dt="2024-06-18T16:37:46.254" v="662" actId="255"/>
          <ac:spMkLst>
            <pc:docMk/>
            <pc:sldMk cId="3680526673" sldId="312"/>
            <ac:spMk id="3" creationId="{882C4B57-559C-0AC6-C55B-90693BFCD63E}"/>
          </ac:spMkLst>
        </pc:spChg>
      </pc:sldChg>
      <pc:sldChg chg="delSp modSp new mod">
        <pc:chgData name="hussein shaaban" userId="9dfb4fc279e24574" providerId="LiveId" clId="{93D38B00-0197-4A47-978E-487979860516}" dt="2024-06-18T16:47:35.720" v="713" actId="113"/>
        <pc:sldMkLst>
          <pc:docMk/>
          <pc:sldMk cId="3274083633" sldId="313"/>
        </pc:sldMkLst>
        <pc:spChg chg="del">
          <ac:chgData name="hussein shaaban" userId="9dfb4fc279e24574" providerId="LiveId" clId="{93D38B00-0197-4A47-978E-487979860516}" dt="2024-06-18T16:38:04.547" v="664" actId="478"/>
          <ac:spMkLst>
            <pc:docMk/>
            <pc:sldMk cId="3274083633" sldId="313"/>
            <ac:spMk id="2" creationId="{D0659254-DE83-DE93-AB2A-075AB1FBFB7D}"/>
          </ac:spMkLst>
        </pc:spChg>
        <pc:spChg chg="mod">
          <ac:chgData name="hussein shaaban" userId="9dfb4fc279e24574" providerId="LiveId" clId="{93D38B00-0197-4A47-978E-487979860516}" dt="2024-06-18T16:47:35.720" v="713" actId="113"/>
          <ac:spMkLst>
            <pc:docMk/>
            <pc:sldMk cId="3274083633" sldId="313"/>
            <ac:spMk id="3" creationId="{5D5D473A-89C3-3956-13B4-D9BE86521B30}"/>
          </ac:spMkLst>
        </pc:spChg>
      </pc:sldChg>
      <pc:sldChg chg="delSp modSp new mod">
        <pc:chgData name="hussein shaaban" userId="9dfb4fc279e24574" providerId="LiveId" clId="{93D38B00-0197-4A47-978E-487979860516}" dt="2024-06-18T16:48:43.116" v="726" actId="255"/>
        <pc:sldMkLst>
          <pc:docMk/>
          <pc:sldMk cId="3960356444" sldId="314"/>
        </pc:sldMkLst>
        <pc:spChg chg="del">
          <ac:chgData name="hussein shaaban" userId="9dfb4fc279e24574" providerId="LiveId" clId="{93D38B00-0197-4A47-978E-487979860516}" dt="2024-06-18T16:41:54.363" v="687" actId="478"/>
          <ac:spMkLst>
            <pc:docMk/>
            <pc:sldMk cId="3960356444" sldId="314"/>
            <ac:spMk id="2" creationId="{30324687-08D2-55A7-7D18-A94801B70A72}"/>
          </ac:spMkLst>
        </pc:spChg>
        <pc:spChg chg="mod">
          <ac:chgData name="hussein shaaban" userId="9dfb4fc279e24574" providerId="LiveId" clId="{93D38B00-0197-4A47-978E-487979860516}" dt="2024-06-18T16:48:43.116" v="726" actId="255"/>
          <ac:spMkLst>
            <pc:docMk/>
            <pc:sldMk cId="3960356444" sldId="314"/>
            <ac:spMk id="3" creationId="{E443ED33-C036-75EE-7F04-B104F43CAB5C}"/>
          </ac:spMkLst>
        </pc:spChg>
      </pc:sldChg>
      <pc:sldChg chg="modSp new mod">
        <pc:chgData name="hussein shaaban" userId="9dfb4fc279e24574" providerId="LiveId" clId="{93D38B00-0197-4A47-978E-487979860516}" dt="2024-06-18T16:54:53.445" v="741" actId="14100"/>
        <pc:sldMkLst>
          <pc:docMk/>
          <pc:sldMk cId="3741994975" sldId="315"/>
        </pc:sldMkLst>
        <pc:spChg chg="mod">
          <ac:chgData name="hussein shaaban" userId="9dfb4fc279e24574" providerId="LiveId" clId="{93D38B00-0197-4A47-978E-487979860516}" dt="2024-06-18T16:50:03.576" v="733" actId="14100"/>
          <ac:spMkLst>
            <pc:docMk/>
            <pc:sldMk cId="3741994975" sldId="315"/>
            <ac:spMk id="2" creationId="{E3405D81-E19D-7BA1-CA4E-4F9DC342678C}"/>
          </ac:spMkLst>
        </pc:spChg>
        <pc:spChg chg="mod">
          <ac:chgData name="hussein shaaban" userId="9dfb4fc279e24574" providerId="LiveId" clId="{93D38B00-0197-4A47-978E-487979860516}" dt="2024-06-18T16:54:53.445" v="741" actId="14100"/>
          <ac:spMkLst>
            <pc:docMk/>
            <pc:sldMk cId="3741994975" sldId="315"/>
            <ac:spMk id="3" creationId="{F92CB97B-B675-8799-FA60-B2AC20C0EA5B}"/>
          </ac:spMkLst>
        </pc:spChg>
      </pc:sldChg>
      <pc:sldChg chg="delSp modSp new mod">
        <pc:chgData name="hussein shaaban" userId="9dfb4fc279e24574" providerId="LiveId" clId="{93D38B00-0197-4A47-978E-487979860516}" dt="2024-06-18T17:00:31.386" v="768" actId="255"/>
        <pc:sldMkLst>
          <pc:docMk/>
          <pc:sldMk cId="3852042453" sldId="316"/>
        </pc:sldMkLst>
        <pc:spChg chg="del">
          <ac:chgData name="hussein shaaban" userId="9dfb4fc279e24574" providerId="LiveId" clId="{93D38B00-0197-4A47-978E-487979860516}" dt="2024-06-18T16:55:19.871" v="743" actId="478"/>
          <ac:spMkLst>
            <pc:docMk/>
            <pc:sldMk cId="3852042453" sldId="316"/>
            <ac:spMk id="2" creationId="{CB955349-762D-A10B-32D6-9383EB0DD4AE}"/>
          </ac:spMkLst>
        </pc:spChg>
        <pc:spChg chg="mod">
          <ac:chgData name="hussein shaaban" userId="9dfb4fc279e24574" providerId="LiveId" clId="{93D38B00-0197-4A47-978E-487979860516}" dt="2024-06-18T17:00:31.386" v="768" actId="255"/>
          <ac:spMkLst>
            <pc:docMk/>
            <pc:sldMk cId="3852042453" sldId="316"/>
            <ac:spMk id="3" creationId="{B6A5310F-7148-3459-76A9-415EF1DCD67D}"/>
          </ac:spMkLst>
        </pc:spChg>
      </pc:sldChg>
      <pc:sldChg chg="delSp modSp new mod">
        <pc:chgData name="hussein shaaban" userId="9dfb4fc279e24574" providerId="LiveId" clId="{93D38B00-0197-4A47-978E-487979860516}" dt="2024-06-18T17:01:29.502" v="772"/>
        <pc:sldMkLst>
          <pc:docMk/>
          <pc:sldMk cId="2741744392" sldId="317"/>
        </pc:sldMkLst>
        <pc:spChg chg="del">
          <ac:chgData name="hussein shaaban" userId="9dfb4fc279e24574" providerId="LiveId" clId="{93D38B00-0197-4A47-978E-487979860516}" dt="2024-06-18T17:00:43.587" v="770" actId="478"/>
          <ac:spMkLst>
            <pc:docMk/>
            <pc:sldMk cId="2741744392" sldId="317"/>
            <ac:spMk id="2" creationId="{E4DB487D-A15D-2627-B5B6-85869E898FA5}"/>
          </ac:spMkLst>
        </pc:spChg>
        <pc:spChg chg="mod">
          <ac:chgData name="hussein shaaban" userId="9dfb4fc279e24574" providerId="LiveId" clId="{93D38B00-0197-4A47-978E-487979860516}" dt="2024-06-18T17:01:29.502" v="772"/>
          <ac:spMkLst>
            <pc:docMk/>
            <pc:sldMk cId="2741744392" sldId="317"/>
            <ac:spMk id="3" creationId="{8C57F8F7-D958-B204-87FB-412598B8C412}"/>
          </ac:spMkLst>
        </pc:spChg>
      </pc:sldChg>
      <pc:sldChg chg="delSp modSp new mod">
        <pc:chgData name="hussein shaaban" userId="9dfb4fc279e24574" providerId="LiveId" clId="{93D38B00-0197-4A47-978E-487979860516}" dt="2024-06-18T17:29:54.937" v="780" actId="255"/>
        <pc:sldMkLst>
          <pc:docMk/>
          <pc:sldMk cId="1836380910" sldId="318"/>
        </pc:sldMkLst>
        <pc:spChg chg="del">
          <ac:chgData name="hussein shaaban" userId="9dfb4fc279e24574" providerId="LiveId" clId="{93D38B00-0197-4A47-978E-487979860516}" dt="2024-06-18T17:28:04.045" v="774" actId="478"/>
          <ac:spMkLst>
            <pc:docMk/>
            <pc:sldMk cId="1836380910" sldId="318"/>
            <ac:spMk id="2" creationId="{B687A4D7-6903-3A7B-9AFA-048A6CAF0578}"/>
          </ac:spMkLst>
        </pc:spChg>
        <pc:spChg chg="mod">
          <ac:chgData name="hussein shaaban" userId="9dfb4fc279e24574" providerId="LiveId" clId="{93D38B00-0197-4A47-978E-487979860516}" dt="2024-06-18T17:29:54.937" v="780" actId="255"/>
          <ac:spMkLst>
            <pc:docMk/>
            <pc:sldMk cId="1836380910" sldId="318"/>
            <ac:spMk id="3" creationId="{1F4804C4-5152-9A21-BB16-7EEEFF74EE84}"/>
          </ac:spMkLst>
        </pc:spChg>
      </pc:sldChg>
      <pc:sldChg chg="delSp modSp new mod">
        <pc:chgData name="hussein shaaban" userId="9dfb4fc279e24574" providerId="LiveId" clId="{93D38B00-0197-4A47-978E-487979860516}" dt="2024-06-18T17:31:51.721" v="800" actId="14100"/>
        <pc:sldMkLst>
          <pc:docMk/>
          <pc:sldMk cId="3634974687" sldId="319"/>
        </pc:sldMkLst>
        <pc:spChg chg="del">
          <ac:chgData name="hussein shaaban" userId="9dfb4fc279e24574" providerId="LiveId" clId="{93D38B00-0197-4A47-978E-487979860516}" dt="2024-06-18T17:30:09.167" v="782" actId="478"/>
          <ac:spMkLst>
            <pc:docMk/>
            <pc:sldMk cId="3634974687" sldId="319"/>
            <ac:spMk id="2" creationId="{7780F106-3A5B-9FA4-B7BA-BFE2C26D032A}"/>
          </ac:spMkLst>
        </pc:spChg>
        <pc:spChg chg="mod">
          <ac:chgData name="hussein shaaban" userId="9dfb4fc279e24574" providerId="LiveId" clId="{93D38B00-0197-4A47-978E-487979860516}" dt="2024-06-18T17:31:51.721" v="800" actId="14100"/>
          <ac:spMkLst>
            <pc:docMk/>
            <pc:sldMk cId="3634974687" sldId="319"/>
            <ac:spMk id="3" creationId="{E62FD312-A0E2-4261-CDCB-DE3C7A13665C}"/>
          </ac:spMkLst>
        </pc:spChg>
      </pc:sldChg>
      <pc:sldChg chg="delSp modSp new mod">
        <pc:chgData name="hussein shaaban" userId="9dfb4fc279e24574" providerId="LiveId" clId="{93D38B00-0197-4A47-978E-487979860516}" dt="2024-06-18T17:33:48.934" v="812" actId="255"/>
        <pc:sldMkLst>
          <pc:docMk/>
          <pc:sldMk cId="3663067400" sldId="320"/>
        </pc:sldMkLst>
        <pc:spChg chg="del">
          <ac:chgData name="hussein shaaban" userId="9dfb4fc279e24574" providerId="LiveId" clId="{93D38B00-0197-4A47-978E-487979860516}" dt="2024-06-18T17:32:00.658" v="802" actId="478"/>
          <ac:spMkLst>
            <pc:docMk/>
            <pc:sldMk cId="3663067400" sldId="320"/>
            <ac:spMk id="2" creationId="{0C6DEC0B-1386-C504-E128-B8D3145689F8}"/>
          </ac:spMkLst>
        </pc:spChg>
        <pc:spChg chg="mod">
          <ac:chgData name="hussein shaaban" userId="9dfb4fc279e24574" providerId="LiveId" clId="{93D38B00-0197-4A47-978E-487979860516}" dt="2024-06-18T17:33:48.934" v="812" actId="255"/>
          <ac:spMkLst>
            <pc:docMk/>
            <pc:sldMk cId="3663067400" sldId="320"/>
            <ac:spMk id="3" creationId="{858A753A-DF56-32FF-476B-48BE45AE470E}"/>
          </ac:spMkLst>
        </pc:spChg>
      </pc:sldChg>
      <pc:sldChg chg="modSp new mod">
        <pc:chgData name="hussein shaaban" userId="9dfb4fc279e24574" providerId="LiveId" clId="{93D38B00-0197-4A47-978E-487979860516}" dt="2024-06-18T17:37:59.137" v="821" actId="255"/>
        <pc:sldMkLst>
          <pc:docMk/>
          <pc:sldMk cId="1340144745" sldId="321"/>
        </pc:sldMkLst>
        <pc:spChg chg="mod">
          <ac:chgData name="hussein shaaban" userId="9dfb4fc279e24574" providerId="LiveId" clId="{93D38B00-0197-4A47-978E-487979860516}" dt="2024-06-18T17:37:37.802" v="819" actId="27636"/>
          <ac:spMkLst>
            <pc:docMk/>
            <pc:sldMk cId="1340144745" sldId="321"/>
            <ac:spMk id="2" creationId="{A52AF998-B9AF-E54B-3EE3-5BD8D82C0FB4}"/>
          </ac:spMkLst>
        </pc:spChg>
        <pc:spChg chg="mod">
          <ac:chgData name="hussein shaaban" userId="9dfb4fc279e24574" providerId="LiveId" clId="{93D38B00-0197-4A47-978E-487979860516}" dt="2024-06-18T17:37:59.137" v="821" actId="255"/>
          <ac:spMkLst>
            <pc:docMk/>
            <pc:sldMk cId="1340144745" sldId="321"/>
            <ac:spMk id="3" creationId="{B2217B1F-392B-6CF6-1975-198F96E002E9}"/>
          </ac:spMkLst>
        </pc:spChg>
      </pc:sldChg>
      <pc:sldChg chg="delSp modSp new mod">
        <pc:chgData name="hussein shaaban" userId="9dfb4fc279e24574" providerId="LiveId" clId="{93D38B00-0197-4A47-978E-487979860516}" dt="2024-06-18T17:38:50.292" v="826" actId="255"/>
        <pc:sldMkLst>
          <pc:docMk/>
          <pc:sldMk cId="2309545214" sldId="322"/>
        </pc:sldMkLst>
        <pc:spChg chg="del">
          <ac:chgData name="hussein shaaban" userId="9dfb4fc279e24574" providerId="LiveId" clId="{93D38B00-0197-4A47-978E-487979860516}" dt="2024-06-18T17:38:10.247" v="823" actId="478"/>
          <ac:spMkLst>
            <pc:docMk/>
            <pc:sldMk cId="2309545214" sldId="322"/>
            <ac:spMk id="2" creationId="{050E172D-989F-1828-7A72-EECC880C101F}"/>
          </ac:spMkLst>
        </pc:spChg>
        <pc:spChg chg="mod">
          <ac:chgData name="hussein shaaban" userId="9dfb4fc279e24574" providerId="LiveId" clId="{93D38B00-0197-4A47-978E-487979860516}" dt="2024-06-18T17:38:50.292" v="826" actId="255"/>
          <ac:spMkLst>
            <pc:docMk/>
            <pc:sldMk cId="2309545214" sldId="322"/>
            <ac:spMk id="3" creationId="{C88B860E-9A35-462E-04C9-8BDB85DF0946}"/>
          </ac:spMkLst>
        </pc:spChg>
      </pc:sldChg>
      <pc:sldChg chg="delSp modSp new mod">
        <pc:chgData name="hussein shaaban" userId="9dfb4fc279e24574" providerId="LiveId" clId="{93D38B00-0197-4A47-978E-487979860516}" dt="2024-06-18T17:40:13.478" v="831" actId="255"/>
        <pc:sldMkLst>
          <pc:docMk/>
          <pc:sldMk cId="1996387378" sldId="323"/>
        </pc:sldMkLst>
        <pc:spChg chg="del">
          <ac:chgData name="hussein shaaban" userId="9dfb4fc279e24574" providerId="LiveId" clId="{93D38B00-0197-4A47-978E-487979860516}" dt="2024-06-18T17:39:12.693" v="828" actId="478"/>
          <ac:spMkLst>
            <pc:docMk/>
            <pc:sldMk cId="1996387378" sldId="323"/>
            <ac:spMk id="2" creationId="{6C7C4859-57B7-E4E6-A7C3-0AC16A9E476F}"/>
          </ac:spMkLst>
        </pc:spChg>
        <pc:spChg chg="mod">
          <ac:chgData name="hussein shaaban" userId="9dfb4fc279e24574" providerId="LiveId" clId="{93D38B00-0197-4A47-978E-487979860516}" dt="2024-06-18T17:40:13.478" v="831" actId="255"/>
          <ac:spMkLst>
            <pc:docMk/>
            <pc:sldMk cId="1996387378" sldId="323"/>
            <ac:spMk id="3" creationId="{4FCF31F2-A027-7E75-A601-243182B8F9D9}"/>
          </ac:spMkLst>
        </pc:spChg>
      </pc:sldChg>
      <pc:sldChg chg="delSp modSp new mod">
        <pc:chgData name="hussein shaaban" userId="9dfb4fc279e24574" providerId="LiveId" clId="{93D38B00-0197-4A47-978E-487979860516}" dt="2024-06-18T17:41:02.668" v="836" actId="255"/>
        <pc:sldMkLst>
          <pc:docMk/>
          <pc:sldMk cId="3968312743" sldId="324"/>
        </pc:sldMkLst>
        <pc:spChg chg="del">
          <ac:chgData name="hussein shaaban" userId="9dfb4fc279e24574" providerId="LiveId" clId="{93D38B00-0197-4A47-978E-487979860516}" dt="2024-06-18T17:40:29.087" v="833" actId="478"/>
          <ac:spMkLst>
            <pc:docMk/>
            <pc:sldMk cId="3968312743" sldId="324"/>
            <ac:spMk id="2" creationId="{51205767-B76F-0322-1758-B91FAF1098EB}"/>
          </ac:spMkLst>
        </pc:spChg>
        <pc:spChg chg="mod">
          <ac:chgData name="hussein shaaban" userId="9dfb4fc279e24574" providerId="LiveId" clId="{93D38B00-0197-4A47-978E-487979860516}" dt="2024-06-18T17:41:02.668" v="836" actId="255"/>
          <ac:spMkLst>
            <pc:docMk/>
            <pc:sldMk cId="3968312743" sldId="324"/>
            <ac:spMk id="3" creationId="{BC86E5C4-4BDE-337C-805B-C7BBB0EDF616}"/>
          </ac:spMkLst>
        </pc:spChg>
      </pc:sldChg>
      <pc:sldChg chg="delSp modSp new del mod">
        <pc:chgData name="hussein shaaban" userId="9dfb4fc279e24574" providerId="LiveId" clId="{93D38B00-0197-4A47-978E-487979860516}" dt="2024-06-18T17:44:09.912" v="841" actId="47"/>
        <pc:sldMkLst>
          <pc:docMk/>
          <pc:sldMk cId="3765621552" sldId="325"/>
        </pc:sldMkLst>
        <pc:spChg chg="del">
          <ac:chgData name="hussein shaaban" userId="9dfb4fc279e24574" providerId="LiveId" clId="{93D38B00-0197-4A47-978E-487979860516}" dt="2024-06-18T17:41:18.588" v="838" actId="478"/>
          <ac:spMkLst>
            <pc:docMk/>
            <pc:sldMk cId="3765621552" sldId="325"/>
            <ac:spMk id="2" creationId="{1E341BB6-B03F-5906-ABE3-4DC997F7CC08}"/>
          </ac:spMkLst>
        </pc:spChg>
        <pc:spChg chg="mod">
          <ac:chgData name="hussein shaaban" userId="9dfb4fc279e24574" providerId="LiveId" clId="{93D38B00-0197-4A47-978E-487979860516}" dt="2024-06-18T17:41:27.181" v="840" actId="14100"/>
          <ac:spMkLst>
            <pc:docMk/>
            <pc:sldMk cId="3765621552" sldId="325"/>
            <ac:spMk id="3" creationId="{742C9A75-C79B-986A-8B12-955215FB1AF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77571-6267-0A8A-48B3-29514000DB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Z"/>
          </a:p>
        </p:txBody>
      </p:sp>
      <p:sp>
        <p:nvSpPr>
          <p:cNvPr id="3" name="Subtitle 2">
            <a:extLst>
              <a:ext uri="{FF2B5EF4-FFF2-40B4-BE49-F238E27FC236}">
                <a16:creationId xmlns:a16="http://schemas.microsoft.com/office/drawing/2014/main" id="{1692193B-8326-AB3A-6086-C4309E6010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Z"/>
          </a:p>
        </p:txBody>
      </p:sp>
      <p:sp>
        <p:nvSpPr>
          <p:cNvPr id="4" name="Date Placeholder 3">
            <a:extLst>
              <a:ext uri="{FF2B5EF4-FFF2-40B4-BE49-F238E27FC236}">
                <a16:creationId xmlns:a16="http://schemas.microsoft.com/office/drawing/2014/main" id="{16137245-FCAF-28B9-2F01-FBAE22B536F0}"/>
              </a:ext>
            </a:extLst>
          </p:cNvPr>
          <p:cNvSpPr>
            <a:spLocks noGrp="1"/>
          </p:cNvSpPr>
          <p:nvPr>
            <p:ph type="dt" sz="half" idx="10"/>
          </p:nvPr>
        </p:nvSpPr>
        <p:spPr/>
        <p:txBody>
          <a:bodyPr/>
          <a:lstStyle/>
          <a:p>
            <a:fld id="{429FB348-62E7-40E9-B584-70A7220EF743}" type="datetimeFigureOut">
              <a:rPr lang="en-TZ" smtClean="0"/>
              <a:t>07/11/2024</a:t>
            </a:fld>
            <a:endParaRPr lang="en-TZ"/>
          </a:p>
        </p:txBody>
      </p:sp>
      <p:sp>
        <p:nvSpPr>
          <p:cNvPr id="5" name="Footer Placeholder 4">
            <a:extLst>
              <a:ext uri="{FF2B5EF4-FFF2-40B4-BE49-F238E27FC236}">
                <a16:creationId xmlns:a16="http://schemas.microsoft.com/office/drawing/2014/main" id="{A3155D91-C56E-C6CE-8C50-79FA7C62F84F}"/>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732AE72F-79ED-662D-0B45-C697B90F8DDC}"/>
              </a:ext>
            </a:extLst>
          </p:cNvPr>
          <p:cNvSpPr>
            <a:spLocks noGrp="1"/>
          </p:cNvSpPr>
          <p:nvPr>
            <p:ph type="sldNum" sz="quarter" idx="12"/>
          </p:nvPr>
        </p:nvSpPr>
        <p:spPr/>
        <p:txBody>
          <a:bodyPr/>
          <a:lstStyle/>
          <a:p>
            <a:fld id="{6E66FC95-DFBA-4259-A759-9B1D8EA8D468}" type="slidenum">
              <a:rPr lang="en-TZ" smtClean="0"/>
              <a:t>‹#›</a:t>
            </a:fld>
            <a:endParaRPr lang="en-TZ"/>
          </a:p>
        </p:txBody>
      </p:sp>
    </p:spTree>
    <p:extLst>
      <p:ext uri="{BB962C8B-B14F-4D97-AF65-F5344CB8AC3E}">
        <p14:creationId xmlns:p14="http://schemas.microsoft.com/office/powerpoint/2010/main" val="2625694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7C8C7-4834-AB07-62A0-102715A6FB4F}"/>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EE9EED8F-5E59-4E67-8B00-181CAA9510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514F2E56-3FC7-89C2-0831-9618B8A6A8EE}"/>
              </a:ext>
            </a:extLst>
          </p:cNvPr>
          <p:cNvSpPr>
            <a:spLocks noGrp="1"/>
          </p:cNvSpPr>
          <p:nvPr>
            <p:ph type="dt" sz="half" idx="10"/>
          </p:nvPr>
        </p:nvSpPr>
        <p:spPr/>
        <p:txBody>
          <a:bodyPr/>
          <a:lstStyle/>
          <a:p>
            <a:fld id="{429FB348-62E7-40E9-B584-70A7220EF743}" type="datetimeFigureOut">
              <a:rPr lang="en-TZ" smtClean="0"/>
              <a:t>07/11/2024</a:t>
            </a:fld>
            <a:endParaRPr lang="en-TZ"/>
          </a:p>
        </p:txBody>
      </p:sp>
      <p:sp>
        <p:nvSpPr>
          <p:cNvPr id="5" name="Footer Placeholder 4">
            <a:extLst>
              <a:ext uri="{FF2B5EF4-FFF2-40B4-BE49-F238E27FC236}">
                <a16:creationId xmlns:a16="http://schemas.microsoft.com/office/drawing/2014/main" id="{FD3DBF83-9A46-A413-8D4E-F15C2843FDE9}"/>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BC730C80-1244-B5D3-0CB3-B9BC3A5DCFBA}"/>
              </a:ext>
            </a:extLst>
          </p:cNvPr>
          <p:cNvSpPr>
            <a:spLocks noGrp="1"/>
          </p:cNvSpPr>
          <p:nvPr>
            <p:ph type="sldNum" sz="quarter" idx="12"/>
          </p:nvPr>
        </p:nvSpPr>
        <p:spPr/>
        <p:txBody>
          <a:bodyPr/>
          <a:lstStyle/>
          <a:p>
            <a:fld id="{6E66FC95-DFBA-4259-A759-9B1D8EA8D468}" type="slidenum">
              <a:rPr lang="en-TZ" smtClean="0"/>
              <a:t>‹#›</a:t>
            </a:fld>
            <a:endParaRPr lang="en-TZ"/>
          </a:p>
        </p:txBody>
      </p:sp>
    </p:spTree>
    <p:extLst>
      <p:ext uri="{BB962C8B-B14F-4D97-AF65-F5344CB8AC3E}">
        <p14:creationId xmlns:p14="http://schemas.microsoft.com/office/powerpoint/2010/main" val="2114622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889BE-A4A9-31BB-1EAE-83CC90B58A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Z"/>
          </a:p>
        </p:txBody>
      </p:sp>
      <p:sp>
        <p:nvSpPr>
          <p:cNvPr id="3" name="Text Placeholder 2">
            <a:extLst>
              <a:ext uri="{FF2B5EF4-FFF2-40B4-BE49-F238E27FC236}">
                <a16:creationId xmlns:a16="http://schemas.microsoft.com/office/drawing/2014/main" id="{96BDBE16-492C-F118-6855-1EDC23A9BC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460AC5-2AAB-B621-4F7D-C457E71CBAE6}"/>
              </a:ext>
            </a:extLst>
          </p:cNvPr>
          <p:cNvSpPr>
            <a:spLocks noGrp="1"/>
          </p:cNvSpPr>
          <p:nvPr>
            <p:ph type="dt" sz="half" idx="10"/>
          </p:nvPr>
        </p:nvSpPr>
        <p:spPr/>
        <p:txBody>
          <a:bodyPr/>
          <a:lstStyle/>
          <a:p>
            <a:fld id="{429FB348-62E7-40E9-B584-70A7220EF743}" type="datetimeFigureOut">
              <a:rPr lang="en-TZ" smtClean="0"/>
              <a:t>07/11/2024</a:t>
            </a:fld>
            <a:endParaRPr lang="en-TZ"/>
          </a:p>
        </p:txBody>
      </p:sp>
      <p:sp>
        <p:nvSpPr>
          <p:cNvPr id="5" name="Footer Placeholder 4">
            <a:extLst>
              <a:ext uri="{FF2B5EF4-FFF2-40B4-BE49-F238E27FC236}">
                <a16:creationId xmlns:a16="http://schemas.microsoft.com/office/drawing/2014/main" id="{3012FAFD-94F3-9E6C-DD54-8F0525D857CC}"/>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7D9826AC-D0B7-3511-3741-2DBFA4388DA5}"/>
              </a:ext>
            </a:extLst>
          </p:cNvPr>
          <p:cNvSpPr>
            <a:spLocks noGrp="1"/>
          </p:cNvSpPr>
          <p:nvPr>
            <p:ph type="sldNum" sz="quarter" idx="12"/>
          </p:nvPr>
        </p:nvSpPr>
        <p:spPr/>
        <p:txBody>
          <a:bodyPr/>
          <a:lstStyle/>
          <a:p>
            <a:fld id="{6E66FC95-DFBA-4259-A759-9B1D8EA8D468}" type="slidenum">
              <a:rPr lang="en-TZ" smtClean="0"/>
              <a:t>‹#›</a:t>
            </a:fld>
            <a:endParaRPr lang="en-TZ"/>
          </a:p>
        </p:txBody>
      </p:sp>
    </p:spTree>
    <p:extLst>
      <p:ext uri="{BB962C8B-B14F-4D97-AF65-F5344CB8AC3E}">
        <p14:creationId xmlns:p14="http://schemas.microsoft.com/office/powerpoint/2010/main" val="3098834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21044-1951-63C6-36F3-5465A66FBF9F}"/>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E0032EF9-32F8-960D-8518-A5DF73BA38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Content Placeholder 3">
            <a:extLst>
              <a:ext uri="{FF2B5EF4-FFF2-40B4-BE49-F238E27FC236}">
                <a16:creationId xmlns:a16="http://schemas.microsoft.com/office/drawing/2014/main" id="{37AA2B56-B75B-C129-1A49-4CED5C4561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Date Placeholder 4">
            <a:extLst>
              <a:ext uri="{FF2B5EF4-FFF2-40B4-BE49-F238E27FC236}">
                <a16:creationId xmlns:a16="http://schemas.microsoft.com/office/drawing/2014/main" id="{AA6976C9-E6F4-566D-7961-AFDF193B8790}"/>
              </a:ext>
            </a:extLst>
          </p:cNvPr>
          <p:cNvSpPr>
            <a:spLocks noGrp="1"/>
          </p:cNvSpPr>
          <p:nvPr>
            <p:ph type="dt" sz="half" idx="10"/>
          </p:nvPr>
        </p:nvSpPr>
        <p:spPr/>
        <p:txBody>
          <a:bodyPr/>
          <a:lstStyle/>
          <a:p>
            <a:fld id="{429FB348-62E7-40E9-B584-70A7220EF743}" type="datetimeFigureOut">
              <a:rPr lang="en-TZ" smtClean="0"/>
              <a:t>07/11/2024</a:t>
            </a:fld>
            <a:endParaRPr lang="en-TZ"/>
          </a:p>
        </p:txBody>
      </p:sp>
      <p:sp>
        <p:nvSpPr>
          <p:cNvPr id="6" name="Footer Placeholder 5">
            <a:extLst>
              <a:ext uri="{FF2B5EF4-FFF2-40B4-BE49-F238E27FC236}">
                <a16:creationId xmlns:a16="http://schemas.microsoft.com/office/drawing/2014/main" id="{B0DBBCA1-90D7-0B73-29E5-26A23AF4E9DA}"/>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BA119AB6-0250-A233-1571-6A1152EEB16A}"/>
              </a:ext>
            </a:extLst>
          </p:cNvPr>
          <p:cNvSpPr>
            <a:spLocks noGrp="1"/>
          </p:cNvSpPr>
          <p:nvPr>
            <p:ph type="sldNum" sz="quarter" idx="12"/>
          </p:nvPr>
        </p:nvSpPr>
        <p:spPr/>
        <p:txBody>
          <a:bodyPr/>
          <a:lstStyle/>
          <a:p>
            <a:fld id="{6E66FC95-DFBA-4259-A759-9B1D8EA8D468}" type="slidenum">
              <a:rPr lang="en-TZ" smtClean="0"/>
              <a:t>‹#›</a:t>
            </a:fld>
            <a:endParaRPr lang="en-TZ"/>
          </a:p>
        </p:txBody>
      </p:sp>
    </p:spTree>
    <p:extLst>
      <p:ext uri="{BB962C8B-B14F-4D97-AF65-F5344CB8AC3E}">
        <p14:creationId xmlns:p14="http://schemas.microsoft.com/office/powerpoint/2010/main" val="3948650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1BB42-3932-8DCF-C4F4-A6489BB43D61}"/>
              </a:ext>
            </a:extLst>
          </p:cNvPr>
          <p:cNvSpPr>
            <a:spLocks noGrp="1"/>
          </p:cNvSpPr>
          <p:nvPr>
            <p:ph type="title"/>
          </p:nvPr>
        </p:nvSpPr>
        <p:spPr>
          <a:xfrm>
            <a:off x="839788" y="365125"/>
            <a:ext cx="10515600" cy="1325563"/>
          </a:xfrm>
        </p:spPr>
        <p:txBody>
          <a:bodyPr/>
          <a:lstStyle/>
          <a:p>
            <a:r>
              <a:rPr lang="en-US"/>
              <a:t>Click to edit Master title style</a:t>
            </a:r>
            <a:endParaRPr lang="en-TZ"/>
          </a:p>
        </p:txBody>
      </p:sp>
      <p:sp>
        <p:nvSpPr>
          <p:cNvPr id="3" name="Text Placeholder 2">
            <a:extLst>
              <a:ext uri="{FF2B5EF4-FFF2-40B4-BE49-F238E27FC236}">
                <a16:creationId xmlns:a16="http://schemas.microsoft.com/office/drawing/2014/main" id="{07FD17E1-287C-BAD3-9B9D-3055A6B8E1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F57578-EB6F-703C-C8F1-3623322470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Text Placeholder 4">
            <a:extLst>
              <a:ext uri="{FF2B5EF4-FFF2-40B4-BE49-F238E27FC236}">
                <a16:creationId xmlns:a16="http://schemas.microsoft.com/office/drawing/2014/main" id="{930C0CF7-CF24-5BF9-0997-D848CDF1F5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F5C056-71EB-A7F9-8ABB-DB1978DF61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7" name="Date Placeholder 6">
            <a:extLst>
              <a:ext uri="{FF2B5EF4-FFF2-40B4-BE49-F238E27FC236}">
                <a16:creationId xmlns:a16="http://schemas.microsoft.com/office/drawing/2014/main" id="{1D543485-35A8-5D91-8831-4E99B94E65E4}"/>
              </a:ext>
            </a:extLst>
          </p:cNvPr>
          <p:cNvSpPr>
            <a:spLocks noGrp="1"/>
          </p:cNvSpPr>
          <p:nvPr>
            <p:ph type="dt" sz="half" idx="10"/>
          </p:nvPr>
        </p:nvSpPr>
        <p:spPr/>
        <p:txBody>
          <a:bodyPr/>
          <a:lstStyle/>
          <a:p>
            <a:fld id="{429FB348-62E7-40E9-B584-70A7220EF743}" type="datetimeFigureOut">
              <a:rPr lang="en-TZ" smtClean="0"/>
              <a:t>07/11/2024</a:t>
            </a:fld>
            <a:endParaRPr lang="en-TZ"/>
          </a:p>
        </p:txBody>
      </p:sp>
      <p:sp>
        <p:nvSpPr>
          <p:cNvPr id="8" name="Footer Placeholder 7">
            <a:extLst>
              <a:ext uri="{FF2B5EF4-FFF2-40B4-BE49-F238E27FC236}">
                <a16:creationId xmlns:a16="http://schemas.microsoft.com/office/drawing/2014/main" id="{1E3B761E-9F41-CE16-83F7-A8436EF5F888}"/>
              </a:ext>
            </a:extLst>
          </p:cNvPr>
          <p:cNvSpPr>
            <a:spLocks noGrp="1"/>
          </p:cNvSpPr>
          <p:nvPr>
            <p:ph type="ftr" sz="quarter" idx="11"/>
          </p:nvPr>
        </p:nvSpPr>
        <p:spPr/>
        <p:txBody>
          <a:bodyPr/>
          <a:lstStyle/>
          <a:p>
            <a:endParaRPr lang="en-TZ"/>
          </a:p>
        </p:txBody>
      </p:sp>
      <p:sp>
        <p:nvSpPr>
          <p:cNvPr id="9" name="Slide Number Placeholder 8">
            <a:extLst>
              <a:ext uri="{FF2B5EF4-FFF2-40B4-BE49-F238E27FC236}">
                <a16:creationId xmlns:a16="http://schemas.microsoft.com/office/drawing/2014/main" id="{C74C77C8-A2C2-13E0-8522-2D2A285142BE}"/>
              </a:ext>
            </a:extLst>
          </p:cNvPr>
          <p:cNvSpPr>
            <a:spLocks noGrp="1"/>
          </p:cNvSpPr>
          <p:nvPr>
            <p:ph type="sldNum" sz="quarter" idx="12"/>
          </p:nvPr>
        </p:nvSpPr>
        <p:spPr/>
        <p:txBody>
          <a:bodyPr/>
          <a:lstStyle/>
          <a:p>
            <a:fld id="{6E66FC95-DFBA-4259-A759-9B1D8EA8D468}" type="slidenum">
              <a:rPr lang="en-TZ" smtClean="0"/>
              <a:t>‹#›</a:t>
            </a:fld>
            <a:endParaRPr lang="en-TZ"/>
          </a:p>
        </p:txBody>
      </p:sp>
    </p:spTree>
    <p:extLst>
      <p:ext uri="{BB962C8B-B14F-4D97-AF65-F5344CB8AC3E}">
        <p14:creationId xmlns:p14="http://schemas.microsoft.com/office/powerpoint/2010/main" val="1295795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727C2-0CBD-2163-E179-0AB67B3C7718}"/>
              </a:ext>
            </a:extLst>
          </p:cNvPr>
          <p:cNvSpPr>
            <a:spLocks noGrp="1"/>
          </p:cNvSpPr>
          <p:nvPr>
            <p:ph type="title"/>
          </p:nvPr>
        </p:nvSpPr>
        <p:spPr/>
        <p:txBody>
          <a:bodyPr/>
          <a:lstStyle/>
          <a:p>
            <a:r>
              <a:rPr lang="en-US"/>
              <a:t>Click to edit Master title style</a:t>
            </a:r>
            <a:endParaRPr lang="en-TZ"/>
          </a:p>
        </p:txBody>
      </p:sp>
      <p:sp>
        <p:nvSpPr>
          <p:cNvPr id="3" name="Date Placeholder 2">
            <a:extLst>
              <a:ext uri="{FF2B5EF4-FFF2-40B4-BE49-F238E27FC236}">
                <a16:creationId xmlns:a16="http://schemas.microsoft.com/office/drawing/2014/main" id="{8D8AD4E0-4DB4-F699-4342-B2312966F0E7}"/>
              </a:ext>
            </a:extLst>
          </p:cNvPr>
          <p:cNvSpPr>
            <a:spLocks noGrp="1"/>
          </p:cNvSpPr>
          <p:nvPr>
            <p:ph type="dt" sz="half" idx="10"/>
          </p:nvPr>
        </p:nvSpPr>
        <p:spPr/>
        <p:txBody>
          <a:bodyPr/>
          <a:lstStyle/>
          <a:p>
            <a:fld id="{429FB348-62E7-40E9-B584-70A7220EF743}" type="datetimeFigureOut">
              <a:rPr lang="en-TZ" smtClean="0"/>
              <a:t>07/11/2024</a:t>
            </a:fld>
            <a:endParaRPr lang="en-TZ"/>
          </a:p>
        </p:txBody>
      </p:sp>
      <p:sp>
        <p:nvSpPr>
          <p:cNvPr id="4" name="Footer Placeholder 3">
            <a:extLst>
              <a:ext uri="{FF2B5EF4-FFF2-40B4-BE49-F238E27FC236}">
                <a16:creationId xmlns:a16="http://schemas.microsoft.com/office/drawing/2014/main" id="{74ED1E3E-DD8B-A4D0-C4C2-5A1A3512B002}"/>
              </a:ext>
            </a:extLst>
          </p:cNvPr>
          <p:cNvSpPr>
            <a:spLocks noGrp="1"/>
          </p:cNvSpPr>
          <p:nvPr>
            <p:ph type="ftr" sz="quarter" idx="11"/>
          </p:nvPr>
        </p:nvSpPr>
        <p:spPr/>
        <p:txBody>
          <a:bodyPr/>
          <a:lstStyle/>
          <a:p>
            <a:endParaRPr lang="en-TZ"/>
          </a:p>
        </p:txBody>
      </p:sp>
      <p:sp>
        <p:nvSpPr>
          <p:cNvPr id="5" name="Slide Number Placeholder 4">
            <a:extLst>
              <a:ext uri="{FF2B5EF4-FFF2-40B4-BE49-F238E27FC236}">
                <a16:creationId xmlns:a16="http://schemas.microsoft.com/office/drawing/2014/main" id="{DCF2CACF-5FC8-9237-73CE-B5F9E4D90768}"/>
              </a:ext>
            </a:extLst>
          </p:cNvPr>
          <p:cNvSpPr>
            <a:spLocks noGrp="1"/>
          </p:cNvSpPr>
          <p:nvPr>
            <p:ph type="sldNum" sz="quarter" idx="12"/>
          </p:nvPr>
        </p:nvSpPr>
        <p:spPr/>
        <p:txBody>
          <a:bodyPr/>
          <a:lstStyle/>
          <a:p>
            <a:fld id="{6E66FC95-DFBA-4259-A759-9B1D8EA8D468}" type="slidenum">
              <a:rPr lang="en-TZ" smtClean="0"/>
              <a:t>‹#›</a:t>
            </a:fld>
            <a:endParaRPr lang="en-TZ"/>
          </a:p>
        </p:txBody>
      </p:sp>
    </p:spTree>
    <p:extLst>
      <p:ext uri="{BB962C8B-B14F-4D97-AF65-F5344CB8AC3E}">
        <p14:creationId xmlns:p14="http://schemas.microsoft.com/office/powerpoint/2010/main" val="3097900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05507C-CEA6-BDC5-8825-091F98D934D6}"/>
              </a:ext>
            </a:extLst>
          </p:cNvPr>
          <p:cNvSpPr>
            <a:spLocks noGrp="1"/>
          </p:cNvSpPr>
          <p:nvPr>
            <p:ph type="dt" sz="half" idx="10"/>
          </p:nvPr>
        </p:nvSpPr>
        <p:spPr/>
        <p:txBody>
          <a:bodyPr/>
          <a:lstStyle/>
          <a:p>
            <a:fld id="{429FB348-62E7-40E9-B584-70A7220EF743}" type="datetimeFigureOut">
              <a:rPr lang="en-TZ" smtClean="0"/>
              <a:t>07/11/2024</a:t>
            </a:fld>
            <a:endParaRPr lang="en-TZ"/>
          </a:p>
        </p:txBody>
      </p:sp>
      <p:sp>
        <p:nvSpPr>
          <p:cNvPr id="3" name="Footer Placeholder 2">
            <a:extLst>
              <a:ext uri="{FF2B5EF4-FFF2-40B4-BE49-F238E27FC236}">
                <a16:creationId xmlns:a16="http://schemas.microsoft.com/office/drawing/2014/main" id="{F7269FB0-9A04-2C48-514A-0E097450327F}"/>
              </a:ext>
            </a:extLst>
          </p:cNvPr>
          <p:cNvSpPr>
            <a:spLocks noGrp="1"/>
          </p:cNvSpPr>
          <p:nvPr>
            <p:ph type="ftr" sz="quarter" idx="11"/>
          </p:nvPr>
        </p:nvSpPr>
        <p:spPr/>
        <p:txBody>
          <a:bodyPr/>
          <a:lstStyle/>
          <a:p>
            <a:endParaRPr lang="en-TZ"/>
          </a:p>
        </p:txBody>
      </p:sp>
      <p:sp>
        <p:nvSpPr>
          <p:cNvPr id="4" name="Slide Number Placeholder 3">
            <a:extLst>
              <a:ext uri="{FF2B5EF4-FFF2-40B4-BE49-F238E27FC236}">
                <a16:creationId xmlns:a16="http://schemas.microsoft.com/office/drawing/2014/main" id="{0B337A0C-EBC1-12A1-9F94-DFF1D3D1DEE1}"/>
              </a:ext>
            </a:extLst>
          </p:cNvPr>
          <p:cNvSpPr>
            <a:spLocks noGrp="1"/>
          </p:cNvSpPr>
          <p:nvPr>
            <p:ph type="sldNum" sz="quarter" idx="12"/>
          </p:nvPr>
        </p:nvSpPr>
        <p:spPr/>
        <p:txBody>
          <a:bodyPr/>
          <a:lstStyle/>
          <a:p>
            <a:fld id="{6E66FC95-DFBA-4259-A759-9B1D8EA8D468}" type="slidenum">
              <a:rPr lang="en-TZ" smtClean="0"/>
              <a:t>‹#›</a:t>
            </a:fld>
            <a:endParaRPr lang="en-TZ"/>
          </a:p>
        </p:txBody>
      </p:sp>
    </p:spTree>
    <p:extLst>
      <p:ext uri="{BB962C8B-B14F-4D97-AF65-F5344CB8AC3E}">
        <p14:creationId xmlns:p14="http://schemas.microsoft.com/office/powerpoint/2010/main" val="2355654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48E90-636E-5A0D-38A1-CD47FDC36D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Content Placeholder 2">
            <a:extLst>
              <a:ext uri="{FF2B5EF4-FFF2-40B4-BE49-F238E27FC236}">
                <a16:creationId xmlns:a16="http://schemas.microsoft.com/office/drawing/2014/main" id="{6822A23C-AD64-BABB-7635-2F42177A93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Text Placeholder 3">
            <a:extLst>
              <a:ext uri="{FF2B5EF4-FFF2-40B4-BE49-F238E27FC236}">
                <a16:creationId xmlns:a16="http://schemas.microsoft.com/office/drawing/2014/main" id="{B1EC5BFF-421F-BB02-EA40-3344032B56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1CE1FB-95ED-A7B7-DB0C-3EABCB1A1AAE}"/>
              </a:ext>
            </a:extLst>
          </p:cNvPr>
          <p:cNvSpPr>
            <a:spLocks noGrp="1"/>
          </p:cNvSpPr>
          <p:nvPr>
            <p:ph type="dt" sz="half" idx="10"/>
          </p:nvPr>
        </p:nvSpPr>
        <p:spPr/>
        <p:txBody>
          <a:bodyPr/>
          <a:lstStyle/>
          <a:p>
            <a:fld id="{429FB348-62E7-40E9-B584-70A7220EF743}" type="datetimeFigureOut">
              <a:rPr lang="en-TZ" smtClean="0"/>
              <a:t>07/11/2024</a:t>
            </a:fld>
            <a:endParaRPr lang="en-TZ"/>
          </a:p>
        </p:txBody>
      </p:sp>
      <p:sp>
        <p:nvSpPr>
          <p:cNvPr id="6" name="Footer Placeholder 5">
            <a:extLst>
              <a:ext uri="{FF2B5EF4-FFF2-40B4-BE49-F238E27FC236}">
                <a16:creationId xmlns:a16="http://schemas.microsoft.com/office/drawing/2014/main" id="{DD05C617-E6C5-8976-F8B5-71EF10F8D27B}"/>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C855D493-95E1-A2AE-66FA-AD756E89AED2}"/>
              </a:ext>
            </a:extLst>
          </p:cNvPr>
          <p:cNvSpPr>
            <a:spLocks noGrp="1"/>
          </p:cNvSpPr>
          <p:nvPr>
            <p:ph type="sldNum" sz="quarter" idx="12"/>
          </p:nvPr>
        </p:nvSpPr>
        <p:spPr/>
        <p:txBody>
          <a:bodyPr/>
          <a:lstStyle/>
          <a:p>
            <a:fld id="{6E66FC95-DFBA-4259-A759-9B1D8EA8D468}" type="slidenum">
              <a:rPr lang="en-TZ" smtClean="0"/>
              <a:t>‹#›</a:t>
            </a:fld>
            <a:endParaRPr lang="en-TZ"/>
          </a:p>
        </p:txBody>
      </p:sp>
    </p:spTree>
    <p:extLst>
      <p:ext uri="{BB962C8B-B14F-4D97-AF65-F5344CB8AC3E}">
        <p14:creationId xmlns:p14="http://schemas.microsoft.com/office/powerpoint/2010/main" val="948644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B6CDC-8818-91EF-C402-1B7BEAB918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Picture Placeholder 2">
            <a:extLst>
              <a:ext uri="{FF2B5EF4-FFF2-40B4-BE49-F238E27FC236}">
                <a16:creationId xmlns:a16="http://schemas.microsoft.com/office/drawing/2014/main" id="{27745DC2-A6B7-6C2B-8D26-5EF579B61C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Z"/>
          </a:p>
        </p:txBody>
      </p:sp>
      <p:sp>
        <p:nvSpPr>
          <p:cNvPr id="4" name="Text Placeholder 3">
            <a:extLst>
              <a:ext uri="{FF2B5EF4-FFF2-40B4-BE49-F238E27FC236}">
                <a16:creationId xmlns:a16="http://schemas.microsoft.com/office/drawing/2014/main" id="{F5172294-F317-5FB9-4755-9525AE6E68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7A4652-660C-04D7-0E06-774E2EC11C64}"/>
              </a:ext>
            </a:extLst>
          </p:cNvPr>
          <p:cNvSpPr>
            <a:spLocks noGrp="1"/>
          </p:cNvSpPr>
          <p:nvPr>
            <p:ph type="dt" sz="half" idx="10"/>
          </p:nvPr>
        </p:nvSpPr>
        <p:spPr/>
        <p:txBody>
          <a:bodyPr/>
          <a:lstStyle/>
          <a:p>
            <a:fld id="{429FB348-62E7-40E9-B584-70A7220EF743}" type="datetimeFigureOut">
              <a:rPr lang="en-TZ" smtClean="0"/>
              <a:t>07/11/2024</a:t>
            </a:fld>
            <a:endParaRPr lang="en-TZ"/>
          </a:p>
        </p:txBody>
      </p:sp>
      <p:sp>
        <p:nvSpPr>
          <p:cNvPr id="6" name="Footer Placeholder 5">
            <a:extLst>
              <a:ext uri="{FF2B5EF4-FFF2-40B4-BE49-F238E27FC236}">
                <a16:creationId xmlns:a16="http://schemas.microsoft.com/office/drawing/2014/main" id="{09800E52-B6D8-48BC-1679-EAB3D6D7CDAE}"/>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B7EBFF84-5645-6C2A-9235-D05D2EDF5216}"/>
              </a:ext>
            </a:extLst>
          </p:cNvPr>
          <p:cNvSpPr>
            <a:spLocks noGrp="1"/>
          </p:cNvSpPr>
          <p:nvPr>
            <p:ph type="sldNum" sz="quarter" idx="12"/>
          </p:nvPr>
        </p:nvSpPr>
        <p:spPr/>
        <p:txBody>
          <a:bodyPr/>
          <a:lstStyle/>
          <a:p>
            <a:fld id="{6E66FC95-DFBA-4259-A759-9B1D8EA8D468}" type="slidenum">
              <a:rPr lang="en-TZ" smtClean="0"/>
              <a:t>‹#›</a:t>
            </a:fld>
            <a:endParaRPr lang="en-TZ"/>
          </a:p>
        </p:txBody>
      </p:sp>
    </p:spTree>
    <p:extLst>
      <p:ext uri="{BB962C8B-B14F-4D97-AF65-F5344CB8AC3E}">
        <p14:creationId xmlns:p14="http://schemas.microsoft.com/office/powerpoint/2010/main" val="1782649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8E700-CE65-E434-0A24-433AA1EA63A4}"/>
              </a:ext>
            </a:extLst>
          </p:cNvPr>
          <p:cNvSpPr>
            <a:spLocks noGrp="1"/>
          </p:cNvSpPr>
          <p:nvPr>
            <p:ph type="title"/>
          </p:nvPr>
        </p:nvSpPr>
        <p:spPr/>
        <p:txBody>
          <a:bodyPr/>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B8E2DC5A-348B-ACE6-28DF-527D32A02E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1A157C90-A68F-90B9-7839-363D5D73A248}"/>
              </a:ext>
            </a:extLst>
          </p:cNvPr>
          <p:cNvSpPr>
            <a:spLocks noGrp="1"/>
          </p:cNvSpPr>
          <p:nvPr>
            <p:ph type="dt" sz="half" idx="10"/>
          </p:nvPr>
        </p:nvSpPr>
        <p:spPr/>
        <p:txBody>
          <a:bodyPr/>
          <a:lstStyle/>
          <a:p>
            <a:fld id="{429FB348-62E7-40E9-B584-70A7220EF743}" type="datetimeFigureOut">
              <a:rPr lang="en-TZ" smtClean="0"/>
              <a:t>07/11/2024</a:t>
            </a:fld>
            <a:endParaRPr lang="en-TZ"/>
          </a:p>
        </p:txBody>
      </p:sp>
      <p:sp>
        <p:nvSpPr>
          <p:cNvPr id="5" name="Footer Placeholder 4">
            <a:extLst>
              <a:ext uri="{FF2B5EF4-FFF2-40B4-BE49-F238E27FC236}">
                <a16:creationId xmlns:a16="http://schemas.microsoft.com/office/drawing/2014/main" id="{75EBF613-3368-EB7B-EACD-19679B5063B7}"/>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2B557429-8F57-00DF-7865-9A10F14833F9}"/>
              </a:ext>
            </a:extLst>
          </p:cNvPr>
          <p:cNvSpPr>
            <a:spLocks noGrp="1"/>
          </p:cNvSpPr>
          <p:nvPr>
            <p:ph type="sldNum" sz="quarter" idx="12"/>
          </p:nvPr>
        </p:nvSpPr>
        <p:spPr/>
        <p:txBody>
          <a:bodyPr/>
          <a:lstStyle/>
          <a:p>
            <a:fld id="{6E66FC95-DFBA-4259-A759-9B1D8EA8D468}" type="slidenum">
              <a:rPr lang="en-TZ" smtClean="0"/>
              <a:t>‹#›</a:t>
            </a:fld>
            <a:endParaRPr lang="en-TZ"/>
          </a:p>
        </p:txBody>
      </p:sp>
    </p:spTree>
    <p:extLst>
      <p:ext uri="{BB962C8B-B14F-4D97-AF65-F5344CB8AC3E}">
        <p14:creationId xmlns:p14="http://schemas.microsoft.com/office/powerpoint/2010/main" val="3055145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2F23BF-0DD4-9853-C3FF-B6CED7FEF4A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CA44B467-D6D1-31D9-06AB-351FDCA7EE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33DC50DA-B51F-E570-09AB-F405978A9DF0}"/>
              </a:ext>
            </a:extLst>
          </p:cNvPr>
          <p:cNvSpPr>
            <a:spLocks noGrp="1"/>
          </p:cNvSpPr>
          <p:nvPr>
            <p:ph type="dt" sz="half" idx="10"/>
          </p:nvPr>
        </p:nvSpPr>
        <p:spPr/>
        <p:txBody>
          <a:bodyPr/>
          <a:lstStyle/>
          <a:p>
            <a:fld id="{429FB348-62E7-40E9-B584-70A7220EF743}" type="datetimeFigureOut">
              <a:rPr lang="en-TZ" smtClean="0"/>
              <a:t>07/11/2024</a:t>
            </a:fld>
            <a:endParaRPr lang="en-TZ"/>
          </a:p>
        </p:txBody>
      </p:sp>
      <p:sp>
        <p:nvSpPr>
          <p:cNvPr id="5" name="Footer Placeholder 4">
            <a:extLst>
              <a:ext uri="{FF2B5EF4-FFF2-40B4-BE49-F238E27FC236}">
                <a16:creationId xmlns:a16="http://schemas.microsoft.com/office/drawing/2014/main" id="{133BBC36-5106-4A98-A647-8977828B4C8E}"/>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6E3CF10D-D957-B0F3-C1BB-CC243FA5BEA8}"/>
              </a:ext>
            </a:extLst>
          </p:cNvPr>
          <p:cNvSpPr>
            <a:spLocks noGrp="1"/>
          </p:cNvSpPr>
          <p:nvPr>
            <p:ph type="sldNum" sz="quarter" idx="12"/>
          </p:nvPr>
        </p:nvSpPr>
        <p:spPr/>
        <p:txBody>
          <a:bodyPr/>
          <a:lstStyle/>
          <a:p>
            <a:fld id="{6E66FC95-DFBA-4259-A759-9B1D8EA8D468}" type="slidenum">
              <a:rPr lang="en-TZ" smtClean="0"/>
              <a:t>‹#›</a:t>
            </a:fld>
            <a:endParaRPr lang="en-TZ"/>
          </a:p>
        </p:txBody>
      </p:sp>
    </p:spTree>
    <p:extLst>
      <p:ext uri="{BB962C8B-B14F-4D97-AF65-F5344CB8AC3E}">
        <p14:creationId xmlns:p14="http://schemas.microsoft.com/office/powerpoint/2010/main" val="3568195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5AAD9-9E70-A7E3-A914-112DF2C657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Z"/>
          </a:p>
        </p:txBody>
      </p:sp>
      <p:sp>
        <p:nvSpPr>
          <p:cNvPr id="3" name="Text Placeholder 2">
            <a:extLst>
              <a:ext uri="{FF2B5EF4-FFF2-40B4-BE49-F238E27FC236}">
                <a16:creationId xmlns:a16="http://schemas.microsoft.com/office/drawing/2014/main" id="{92B3286F-4432-83C8-1D43-08D920EFA9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DCA3AB5C-EAD4-C68F-9BBE-B0ECD4F1D0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9FB348-62E7-40E9-B584-70A7220EF743}" type="datetimeFigureOut">
              <a:rPr lang="en-TZ" smtClean="0"/>
              <a:t>07/11/2024</a:t>
            </a:fld>
            <a:endParaRPr lang="en-TZ"/>
          </a:p>
        </p:txBody>
      </p:sp>
      <p:sp>
        <p:nvSpPr>
          <p:cNvPr id="5" name="Footer Placeholder 4">
            <a:extLst>
              <a:ext uri="{FF2B5EF4-FFF2-40B4-BE49-F238E27FC236}">
                <a16:creationId xmlns:a16="http://schemas.microsoft.com/office/drawing/2014/main" id="{8AE022FF-7144-E1A9-06B7-03777A2AEC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Z"/>
          </a:p>
        </p:txBody>
      </p:sp>
      <p:sp>
        <p:nvSpPr>
          <p:cNvPr id="6" name="Slide Number Placeholder 5">
            <a:extLst>
              <a:ext uri="{FF2B5EF4-FFF2-40B4-BE49-F238E27FC236}">
                <a16:creationId xmlns:a16="http://schemas.microsoft.com/office/drawing/2014/main" id="{3B3A6764-598A-EDF4-7DE4-E523A63401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66FC95-DFBA-4259-A759-9B1D8EA8D468}" type="slidenum">
              <a:rPr lang="en-TZ" smtClean="0"/>
              <a:t>‹#›</a:t>
            </a:fld>
            <a:endParaRPr lang="en-TZ"/>
          </a:p>
        </p:txBody>
      </p:sp>
    </p:spTree>
    <p:extLst>
      <p:ext uri="{BB962C8B-B14F-4D97-AF65-F5344CB8AC3E}">
        <p14:creationId xmlns:p14="http://schemas.microsoft.com/office/powerpoint/2010/main" val="3191534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5686D-9644-DD21-35BA-953342A97392}"/>
              </a:ext>
            </a:extLst>
          </p:cNvPr>
          <p:cNvSpPr>
            <a:spLocks noGrp="1"/>
          </p:cNvSpPr>
          <p:nvPr>
            <p:ph type="ctrTitle"/>
          </p:nvPr>
        </p:nvSpPr>
        <p:spPr/>
        <p:txBody>
          <a:bodyPr/>
          <a:lstStyle/>
          <a:p>
            <a:r>
              <a:rPr lang="en-US" dirty="0"/>
              <a:t>INF3201: </a:t>
            </a:r>
            <a:r>
              <a:rPr lang="en-US" dirty="0">
                <a:solidFill>
                  <a:srgbClr val="000000"/>
                </a:solidFill>
                <a:effectLst/>
                <a:latin typeface="Times New Roman" panose="02020603050405020304" pitchFamily="18" charset="0"/>
                <a:ea typeface="Times New Roman" panose="02020603050405020304" pitchFamily="18" charset="0"/>
              </a:rPr>
              <a:t>Information Systems Audit and Control</a:t>
            </a:r>
            <a:r>
              <a:rPr lang="en-US" dirty="0"/>
              <a:t> </a:t>
            </a:r>
            <a:endParaRPr lang="en-TZ" dirty="0"/>
          </a:p>
        </p:txBody>
      </p:sp>
      <p:sp>
        <p:nvSpPr>
          <p:cNvPr id="3" name="Subtitle 2">
            <a:extLst>
              <a:ext uri="{FF2B5EF4-FFF2-40B4-BE49-F238E27FC236}">
                <a16:creationId xmlns:a16="http://schemas.microsoft.com/office/drawing/2014/main" id="{8EB80784-F887-2618-975D-3BF064EF34A9}"/>
              </a:ext>
            </a:extLst>
          </p:cNvPr>
          <p:cNvSpPr>
            <a:spLocks noGrp="1"/>
          </p:cNvSpPr>
          <p:nvPr>
            <p:ph type="subTitle" idx="1"/>
          </p:nvPr>
        </p:nvSpPr>
        <p:spPr/>
        <p:txBody>
          <a:bodyPr>
            <a:normAutofit/>
          </a:bodyPr>
          <a:lstStyle/>
          <a:p>
            <a:r>
              <a:rPr lang="en-US" sz="4000" b="1" dirty="0">
                <a:solidFill>
                  <a:srgbClr val="000000"/>
                </a:solidFill>
                <a:effectLst/>
                <a:latin typeface="Times New Roman" panose="02020603050405020304" pitchFamily="18" charset="0"/>
                <a:ea typeface="Times New Roman" panose="02020603050405020304" pitchFamily="18" charset="0"/>
              </a:rPr>
              <a:t>Week 10 - 12: Information Systems Operations, Maintenance and Support</a:t>
            </a:r>
            <a:endParaRPr lang="en-TZ" sz="4000" dirty="0"/>
          </a:p>
        </p:txBody>
      </p:sp>
    </p:spTree>
    <p:extLst>
      <p:ext uri="{BB962C8B-B14F-4D97-AF65-F5344CB8AC3E}">
        <p14:creationId xmlns:p14="http://schemas.microsoft.com/office/powerpoint/2010/main" val="1301355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D38005-3267-6D4F-E647-39E7EE285E0F}"/>
              </a:ext>
            </a:extLst>
          </p:cNvPr>
          <p:cNvSpPr>
            <a:spLocks noGrp="1"/>
          </p:cNvSpPr>
          <p:nvPr>
            <p:ph idx="1"/>
          </p:nvPr>
        </p:nvSpPr>
        <p:spPr>
          <a:xfrm>
            <a:off x="479685" y="494676"/>
            <a:ext cx="11227633" cy="5966086"/>
          </a:xfrm>
        </p:spPr>
        <p:txBody>
          <a:bodyPr>
            <a:normAutofit/>
          </a:bodyPr>
          <a:lstStyle/>
          <a:p>
            <a:r>
              <a:rPr lang="en-US" sz="3200" b="1" i="0" dirty="0">
                <a:effectLst/>
                <a:latin typeface="Nunito" panose="020F0502020204030204" pitchFamily="2" charset="0"/>
              </a:rPr>
              <a:t>What is System Operation and Maintenance?</a:t>
            </a:r>
          </a:p>
          <a:p>
            <a:r>
              <a:rPr lang="en-US" sz="3200" b="0" i="0" dirty="0">
                <a:effectLst/>
                <a:latin typeface="Nunito" pitchFamily="2" charset="0"/>
              </a:rPr>
              <a:t>System Operation and Maintenance is a multidisciplinary field focused on effective operation, repair, and upgradation of system elements. This involves the provision of user-level support, preventive maintenance for ensuring continual operation, and making necessary modifications to keep the system up-to-date. </a:t>
            </a:r>
          </a:p>
          <a:p>
            <a:r>
              <a:rPr lang="en-US" sz="3200" b="0" i="0" dirty="0">
                <a:effectLst/>
                <a:latin typeface="Nunito" pitchFamily="2" charset="0"/>
              </a:rPr>
              <a:t>Furthermore, this process includes performance tracking, logistics support, and disposal of unwarranted system components. Essentially, it is aimed at improving system efficiency, sustainability, and longevity.</a:t>
            </a:r>
            <a:endParaRPr lang="en-US" sz="3200" b="1" i="0" dirty="0">
              <a:effectLst/>
              <a:latin typeface="Nunito" panose="020F0502020204030204" pitchFamily="2" charset="0"/>
            </a:endParaRPr>
          </a:p>
          <a:p>
            <a:endParaRPr lang="en-TZ" sz="3200" dirty="0"/>
          </a:p>
        </p:txBody>
      </p:sp>
    </p:spTree>
    <p:extLst>
      <p:ext uri="{BB962C8B-B14F-4D97-AF65-F5344CB8AC3E}">
        <p14:creationId xmlns:p14="http://schemas.microsoft.com/office/powerpoint/2010/main" val="3843454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04A3D-41F7-6983-CB02-024334A26588}"/>
              </a:ext>
            </a:extLst>
          </p:cNvPr>
          <p:cNvSpPr>
            <a:spLocks noGrp="1"/>
          </p:cNvSpPr>
          <p:nvPr>
            <p:ph type="title"/>
          </p:nvPr>
        </p:nvSpPr>
        <p:spPr>
          <a:xfrm>
            <a:off x="838200" y="365126"/>
            <a:ext cx="10515600" cy="669196"/>
          </a:xfrm>
        </p:spPr>
        <p:txBody>
          <a:bodyPr>
            <a:normAutofit/>
          </a:bodyPr>
          <a:lstStyle/>
          <a:p>
            <a:r>
              <a:rPr lang="en-US" sz="4000" b="1" u="none" strike="noStrike" dirty="0">
                <a:solidFill>
                  <a:srgbClr val="000000"/>
                </a:solidFill>
                <a:effectLst/>
                <a:latin typeface="Times New Roman" panose="02020603050405020304" pitchFamily="18" charset="0"/>
                <a:ea typeface="Times New Roman" panose="02020603050405020304" pitchFamily="18" charset="0"/>
              </a:rPr>
              <a:t>Information systems reviews</a:t>
            </a:r>
            <a:endParaRPr lang="en-TZ" sz="4000" b="1" dirty="0"/>
          </a:p>
        </p:txBody>
      </p:sp>
      <p:sp>
        <p:nvSpPr>
          <p:cNvPr id="3" name="Content Placeholder 2">
            <a:extLst>
              <a:ext uri="{FF2B5EF4-FFF2-40B4-BE49-F238E27FC236}">
                <a16:creationId xmlns:a16="http://schemas.microsoft.com/office/drawing/2014/main" id="{D8D46F90-7711-AA3F-5174-46DC168053AB}"/>
              </a:ext>
            </a:extLst>
          </p:cNvPr>
          <p:cNvSpPr>
            <a:spLocks noGrp="1"/>
          </p:cNvSpPr>
          <p:nvPr>
            <p:ph idx="1"/>
          </p:nvPr>
        </p:nvSpPr>
        <p:spPr>
          <a:xfrm>
            <a:off x="838200" y="1274164"/>
            <a:ext cx="10515600" cy="4902799"/>
          </a:xfrm>
        </p:spPr>
        <p:txBody>
          <a:bodyPr>
            <a:normAutofit/>
          </a:bodyPr>
          <a:lstStyle/>
          <a:p>
            <a:r>
              <a:rPr lang="en-US" sz="3600" b="0" i="0" dirty="0">
                <a:solidFill>
                  <a:srgbClr val="111111"/>
                </a:solidFill>
                <a:effectLst/>
                <a:highlight>
                  <a:srgbClr val="F3F3F3"/>
                </a:highlight>
                <a:latin typeface="-apple-system"/>
              </a:rPr>
              <a:t>Information system reviews are evaluations of an organization’s information systems to ensure they meet the operational, tactical, and strategic needs of the business. They typically involve assessing the effectiveness, efficiency, and security of these systems.</a:t>
            </a:r>
          </a:p>
          <a:p>
            <a:r>
              <a:rPr lang="en-US" sz="3600" b="1" dirty="0"/>
              <a:t>Benefits of Information systems reviews</a:t>
            </a:r>
          </a:p>
          <a:p>
            <a:endParaRPr lang="en-TZ" sz="3600" dirty="0"/>
          </a:p>
        </p:txBody>
      </p:sp>
    </p:spTree>
    <p:extLst>
      <p:ext uri="{BB962C8B-B14F-4D97-AF65-F5344CB8AC3E}">
        <p14:creationId xmlns:p14="http://schemas.microsoft.com/office/powerpoint/2010/main" val="1762830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029F76-154C-150B-76A1-035AD554D715}"/>
              </a:ext>
            </a:extLst>
          </p:cNvPr>
          <p:cNvSpPr>
            <a:spLocks noGrp="1"/>
          </p:cNvSpPr>
          <p:nvPr>
            <p:ph idx="1"/>
          </p:nvPr>
        </p:nvSpPr>
        <p:spPr>
          <a:xfrm>
            <a:off x="838200" y="509666"/>
            <a:ext cx="10515600" cy="5667297"/>
          </a:xfrm>
        </p:spPr>
        <p:txBody>
          <a:bodyPr>
            <a:normAutofit lnSpcReduction="10000"/>
          </a:bodyPr>
          <a:lstStyle/>
          <a:p>
            <a:pPr algn="l"/>
            <a:r>
              <a:rPr lang="en-US" b="0" i="0" dirty="0">
                <a:solidFill>
                  <a:srgbClr val="111111"/>
                </a:solidFill>
                <a:effectLst/>
                <a:highlight>
                  <a:srgbClr val="F3F3F3"/>
                </a:highlight>
                <a:latin typeface="-apple-system"/>
              </a:rPr>
              <a:t>Here are some key benefits of conducting information system reviews:</a:t>
            </a:r>
          </a:p>
          <a:p>
            <a:pPr algn="l">
              <a:buFont typeface="+mj-lt"/>
              <a:buAutoNum type="arabicPeriod"/>
            </a:pPr>
            <a:r>
              <a:rPr lang="en-US" b="1" i="0" dirty="0">
                <a:solidFill>
                  <a:srgbClr val="111111"/>
                </a:solidFill>
                <a:effectLst/>
                <a:highlight>
                  <a:srgbClr val="F3F3F3"/>
                </a:highlight>
                <a:latin typeface="-apple-system"/>
              </a:rPr>
              <a:t>Improved Efficiency</a:t>
            </a:r>
            <a:r>
              <a:rPr lang="en-US" b="0" i="0" dirty="0">
                <a:solidFill>
                  <a:srgbClr val="111111"/>
                </a:solidFill>
                <a:effectLst/>
                <a:highlight>
                  <a:srgbClr val="F3F3F3"/>
                </a:highlight>
                <a:latin typeface="-apple-system"/>
              </a:rPr>
              <a:t>: Identifying areas where processes can be streamlined.</a:t>
            </a:r>
          </a:p>
          <a:p>
            <a:pPr algn="l">
              <a:buFont typeface="+mj-lt"/>
              <a:buAutoNum type="arabicPeriod"/>
            </a:pPr>
            <a:r>
              <a:rPr lang="en-US" b="1" i="0" dirty="0">
                <a:solidFill>
                  <a:srgbClr val="111111"/>
                </a:solidFill>
                <a:effectLst/>
                <a:highlight>
                  <a:srgbClr val="F3F3F3"/>
                </a:highlight>
                <a:latin typeface="-apple-system"/>
              </a:rPr>
              <a:t>Enhanced Security</a:t>
            </a:r>
            <a:r>
              <a:rPr lang="en-US" b="0" i="0" dirty="0">
                <a:solidFill>
                  <a:srgbClr val="111111"/>
                </a:solidFill>
                <a:effectLst/>
                <a:highlight>
                  <a:srgbClr val="F3F3F3"/>
                </a:highlight>
                <a:latin typeface="-apple-system"/>
              </a:rPr>
              <a:t>: Detecting vulnerabilities and ensuring data protection.</a:t>
            </a:r>
          </a:p>
          <a:p>
            <a:pPr algn="l">
              <a:buFont typeface="+mj-lt"/>
              <a:buAutoNum type="arabicPeriod"/>
            </a:pPr>
            <a:r>
              <a:rPr lang="en-US" b="1" i="0" dirty="0">
                <a:solidFill>
                  <a:srgbClr val="111111"/>
                </a:solidFill>
                <a:effectLst/>
                <a:highlight>
                  <a:srgbClr val="F3F3F3"/>
                </a:highlight>
                <a:latin typeface="-apple-system"/>
              </a:rPr>
              <a:t>Better Decision-Making</a:t>
            </a:r>
            <a:r>
              <a:rPr lang="en-US" b="0" i="0" dirty="0">
                <a:solidFill>
                  <a:srgbClr val="111111"/>
                </a:solidFill>
                <a:effectLst/>
                <a:highlight>
                  <a:srgbClr val="F3F3F3"/>
                </a:highlight>
                <a:latin typeface="-apple-system"/>
              </a:rPr>
              <a:t>: Providing accurate data for informed decisions.</a:t>
            </a:r>
          </a:p>
          <a:p>
            <a:pPr algn="l">
              <a:buFont typeface="+mj-lt"/>
              <a:buAutoNum type="arabicPeriod"/>
            </a:pPr>
            <a:r>
              <a:rPr lang="en-US" b="1" i="0" dirty="0">
                <a:solidFill>
                  <a:srgbClr val="111111"/>
                </a:solidFill>
                <a:effectLst/>
                <a:highlight>
                  <a:srgbClr val="F3F3F3"/>
                </a:highlight>
                <a:latin typeface="-apple-system"/>
              </a:rPr>
              <a:t>Regulatory Compliance</a:t>
            </a:r>
            <a:r>
              <a:rPr lang="en-US" b="0" i="0" dirty="0">
                <a:solidFill>
                  <a:srgbClr val="111111"/>
                </a:solidFill>
                <a:effectLst/>
                <a:highlight>
                  <a:srgbClr val="F3F3F3"/>
                </a:highlight>
                <a:latin typeface="-apple-system"/>
              </a:rPr>
              <a:t>: Ensuring systems adhere to relevant laws and standards.</a:t>
            </a:r>
          </a:p>
          <a:p>
            <a:pPr algn="l">
              <a:buFont typeface="+mj-lt"/>
              <a:buAutoNum type="arabicPeriod"/>
            </a:pPr>
            <a:r>
              <a:rPr lang="en-US" b="1" i="0" dirty="0">
                <a:solidFill>
                  <a:srgbClr val="111111"/>
                </a:solidFill>
                <a:effectLst/>
                <a:highlight>
                  <a:srgbClr val="F3F3F3"/>
                </a:highlight>
                <a:latin typeface="-apple-system"/>
              </a:rPr>
              <a:t>Cost Savings</a:t>
            </a:r>
            <a:r>
              <a:rPr lang="en-US" b="0" i="0" dirty="0">
                <a:solidFill>
                  <a:srgbClr val="111111"/>
                </a:solidFill>
                <a:effectLst/>
                <a:highlight>
                  <a:srgbClr val="F3F3F3"/>
                </a:highlight>
                <a:latin typeface="-apple-system"/>
              </a:rPr>
              <a:t>: Reducing waste and unnecessary expenses by optimizing systems.</a:t>
            </a:r>
          </a:p>
          <a:p>
            <a:pPr algn="l">
              <a:buFont typeface="+mj-lt"/>
              <a:buAutoNum type="arabicPeriod"/>
            </a:pPr>
            <a:r>
              <a:rPr lang="en-US" b="1" i="0" dirty="0">
                <a:solidFill>
                  <a:srgbClr val="111111"/>
                </a:solidFill>
                <a:effectLst/>
                <a:highlight>
                  <a:srgbClr val="F3F3F3"/>
                </a:highlight>
                <a:latin typeface="-apple-system"/>
              </a:rPr>
              <a:t>Strategic Alignment</a:t>
            </a:r>
            <a:r>
              <a:rPr lang="en-US" b="0" i="0" dirty="0">
                <a:solidFill>
                  <a:srgbClr val="111111"/>
                </a:solidFill>
                <a:effectLst/>
                <a:highlight>
                  <a:srgbClr val="F3F3F3"/>
                </a:highlight>
                <a:latin typeface="-apple-system"/>
              </a:rPr>
              <a:t>: Aligning IT systems with business goals and objectives.</a:t>
            </a:r>
          </a:p>
          <a:p>
            <a:endParaRPr lang="en-TZ" dirty="0"/>
          </a:p>
        </p:txBody>
      </p:sp>
    </p:spTree>
    <p:extLst>
      <p:ext uri="{BB962C8B-B14F-4D97-AF65-F5344CB8AC3E}">
        <p14:creationId xmlns:p14="http://schemas.microsoft.com/office/powerpoint/2010/main" val="4168844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E8AE3D-2237-4115-4D24-4BF0A29A5ACD}"/>
              </a:ext>
            </a:extLst>
          </p:cNvPr>
          <p:cNvSpPr>
            <a:spLocks noGrp="1"/>
          </p:cNvSpPr>
          <p:nvPr>
            <p:ph idx="1"/>
          </p:nvPr>
        </p:nvSpPr>
        <p:spPr>
          <a:xfrm>
            <a:off x="838200" y="599607"/>
            <a:ext cx="10515600" cy="5577356"/>
          </a:xfrm>
        </p:spPr>
        <p:txBody>
          <a:bodyPr>
            <a:normAutofit lnSpcReduction="10000"/>
          </a:bodyPr>
          <a:lstStyle/>
          <a:p>
            <a:pPr algn="l"/>
            <a:r>
              <a:rPr lang="en-US" b="0" i="0" dirty="0">
                <a:solidFill>
                  <a:srgbClr val="111111"/>
                </a:solidFill>
                <a:effectLst/>
                <a:highlight>
                  <a:srgbClr val="F3F3F3"/>
                </a:highlight>
                <a:latin typeface="-apple-system"/>
              </a:rPr>
              <a:t>Common methodologies for conducting information system reviews include:</a:t>
            </a:r>
          </a:p>
          <a:p>
            <a:pPr algn="l">
              <a:buFont typeface="+mj-lt"/>
              <a:buAutoNum type="arabicPeriod"/>
            </a:pPr>
            <a:r>
              <a:rPr lang="en-US" b="1" i="0" dirty="0">
                <a:solidFill>
                  <a:srgbClr val="111111"/>
                </a:solidFill>
                <a:effectLst/>
                <a:highlight>
                  <a:srgbClr val="F3F3F3"/>
                </a:highlight>
                <a:latin typeface="-apple-system"/>
              </a:rPr>
              <a:t>Checklists</a:t>
            </a:r>
            <a:r>
              <a:rPr lang="en-US" b="0" i="0" dirty="0">
                <a:solidFill>
                  <a:srgbClr val="111111"/>
                </a:solidFill>
                <a:effectLst/>
                <a:highlight>
                  <a:srgbClr val="F3F3F3"/>
                </a:highlight>
                <a:latin typeface="-apple-system"/>
              </a:rPr>
              <a:t>: Using standardized checklists to ensure all areas are covered.</a:t>
            </a:r>
          </a:p>
          <a:p>
            <a:pPr algn="l">
              <a:buFont typeface="+mj-lt"/>
              <a:buAutoNum type="arabicPeriod"/>
            </a:pPr>
            <a:r>
              <a:rPr lang="en-US" b="1" i="0" dirty="0">
                <a:solidFill>
                  <a:srgbClr val="111111"/>
                </a:solidFill>
                <a:effectLst/>
                <a:highlight>
                  <a:srgbClr val="F3F3F3"/>
                </a:highlight>
                <a:latin typeface="-apple-system"/>
              </a:rPr>
              <a:t>Interviews</a:t>
            </a:r>
            <a:r>
              <a:rPr lang="en-US" b="0" i="0" dirty="0">
                <a:solidFill>
                  <a:srgbClr val="111111"/>
                </a:solidFill>
                <a:effectLst/>
                <a:highlight>
                  <a:srgbClr val="F3F3F3"/>
                </a:highlight>
                <a:latin typeface="-apple-system"/>
              </a:rPr>
              <a:t>: Gathering insights from users and stakeholders.</a:t>
            </a:r>
          </a:p>
          <a:p>
            <a:pPr algn="l">
              <a:buFont typeface="+mj-lt"/>
              <a:buAutoNum type="arabicPeriod"/>
            </a:pPr>
            <a:r>
              <a:rPr lang="en-US" b="1" i="0" dirty="0">
                <a:solidFill>
                  <a:srgbClr val="111111"/>
                </a:solidFill>
                <a:effectLst/>
                <a:highlight>
                  <a:srgbClr val="F3F3F3"/>
                </a:highlight>
                <a:latin typeface="-apple-system"/>
              </a:rPr>
              <a:t>Documentation Review</a:t>
            </a:r>
            <a:r>
              <a:rPr lang="en-US" b="0" i="0" dirty="0">
                <a:solidFill>
                  <a:srgbClr val="111111"/>
                </a:solidFill>
                <a:effectLst/>
                <a:highlight>
                  <a:srgbClr val="F3F3F3"/>
                </a:highlight>
                <a:latin typeface="-apple-system"/>
              </a:rPr>
              <a:t>: Assessing the adequacy of system documentation.</a:t>
            </a:r>
          </a:p>
          <a:p>
            <a:pPr algn="l">
              <a:buFont typeface="+mj-lt"/>
              <a:buAutoNum type="arabicPeriod"/>
            </a:pPr>
            <a:r>
              <a:rPr lang="en-US" b="1" i="0" dirty="0">
                <a:solidFill>
                  <a:srgbClr val="111111"/>
                </a:solidFill>
                <a:effectLst/>
                <a:highlight>
                  <a:srgbClr val="F3F3F3"/>
                </a:highlight>
                <a:latin typeface="-apple-system"/>
              </a:rPr>
              <a:t>Observation</a:t>
            </a:r>
            <a:r>
              <a:rPr lang="en-US" b="0" i="0" dirty="0">
                <a:solidFill>
                  <a:srgbClr val="111111"/>
                </a:solidFill>
                <a:effectLst/>
                <a:highlight>
                  <a:srgbClr val="F3F3F3"/>
                </a:highlight>
                <a:latin typeface="-apple-system"/>
              </a:rPr>
              <a:t>: Watching the system in use to identify issues.</a:t>
            </a:r>
          </a:p>
          <a:p>
            <a:pPr algn="l">
              <a:buFont typeface="+mj-lt"/>
              <a:buAutoNum type="arabicPeriod"/>
            </a:pPr>
            <a:r>
              <a:rPr lang="en-US" b="1" i="0" dirty="0">
                <a:solidFill>
                  <a:srgbClr val="111111"/>
                </a:solidFill>
                <a:effectLst/>
                <a:highlight>
                  <a:srgbClr val="F3F3F3"/>
                </a:highlight>
                <a:latin typeface="-apple-system"/>
              </a:rPr>
              <a:t>Testing</a:t>
            </a:r>
            <a:r>
              <a:rPr lang="en-US" b="0" i="0" dirty="0">
                <a:solidFill>
                  <a:srgbClr val="111111"/>
                </a:solidFill>
                <a:effectLst/>
                <a:highlight>
                  <a:srgbClr val="F3F3F3"/>
                </a:highlight>
                <a:latin typeface="-apple-system"/>
              </a:rPr>
              <a:t>: Evaluating system performance under various conditions.</a:t>
            </a:r>
          </a:p>
          <a:p>
            <a:pPr algn="l">
              <a:buFont typeface="+mj-lt"/>
              <a:buAutoNum type="arabicPeriod"/>
            </a:pPr>
            <a:r>
              <a:rPr lang="en-US" b="1" i="0" dirty="0">
                <a:solidFill>
                  <a:srgbClr val="111111"/>
                </a:solidFill>
                <a:effectLst/>
                <a:highlight>
                  <a:srgbClr val="F3F3F3"/>
                </a:highlight>
                <a:latin typeface="-apple-system"/>
              </a:rPr>
              <a:t>Benchmarking</a:t>
            </a:r>
            <a:r>
              <a:rPr lang="en-US" b="0" i="0" dirty="0">
                <a:solidFill>
                  <a:srgbClr val="111111"/>
                </a:solidFill>
                <a:effectLst/>
                <a:highlight>
                  <a:srgbClr val="F3F3F3"/>
                </a:highlight>
                <a:latin typeface="-apple-system"/>
              </a:rPr>
              <a:t>: Comparing system performance against industry standards.</a:t>
            </a:r>
          </a:p>
          <a:p>
            <a:pPr algn="l"/>
            <a:r>
              <a:rPr lang="en-US" b="0" i="0" dirty="0">
                <a:solidFill>
                  <a:srgbClr val="111111"/>
                </a:solidFill>
                <a:effectLst/>
                <a:highlight>
                  <a:srgbClr val="F3F3F3"/>
                </a:highlight>
                <a:latin typeface="-apple-system"/>
              </a:rPr>
              <a:t>Each methodology has its strengths and is often used in combination with others for a comprehensive review.</a:t>
            </a:r>
          </a:p>
          <a:p>
            <a:endParaRPr lang="en-TZ" dirty="0"/>
          </a:p>
        </p:txBody>
      </p:sp>
    </p:spTree>
    <p:extLst>
      <p:ext uri="{BB962C8B-B14F-4D97-AF65-F5344CB8AC3E}">
        <p14:creationId xmlns:p14="http://schemas.microsoft.com/office/powerpoint/2010/main" val="3955758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8FEB04-7390-2A4E-B671-E198B2BC6A9C}"/>
              </a:ext>
            </a:extLst>
          </p:cNvPr>
          <p:cNvSpPr>
            <a:spLocks noGrp="1"/>
          </p:cNvSpPr>
          <p:nvPr>
            <p:ph idx="1"/>
          </p:nvPr>
        </p:nvSpPr>
        <p:spPr>
          <a:xfrm>
            <a:off x="838200" y="629587"/>
            <a:ext cx="10515600" cy="5532386"/>
          </a:xfrm>
        </p:spPr>
        <p:txBody>
          <a:bodyPr>
            <a:normAutofit/>
          </a:bodyPr>
          <a:lstStyle/>
          <a:p>
            <a:pPr algn="l"/>
            <a:r>
              <a:rPr lang="en-US" sz="3600" b="0" i="0" dirty="0">
                <a:solidFill>
                  <a:srgbClr val="111111"/>
                </a:solidFill>
                <a:effectLst/>
                <a:highlight>
                  <a:srgbClr val="F3F3F3"/>
                </a:highlight>
                <a:latin typeface="-apple-system"/>
              </a:rPr>
              <a:t>Here’s how you can apply these methodologies during an information system review:</a:t>
            </a:r>
          </a:p>
          <a:p>
            <a:pPr algn="l">
              <a:buFont typeface="+mj-lt"/>
              <a:buAutoNum type="arabicPeriod"/>
            </a:pPr>
            <a:r>
              <a:rPr lang="en-US" sz="3600" b="1" i="0" dirty="0">
                <a:solidFill>
                  <a:srgbClr val="111111"/>
                </a:solidFill>
                <a:effectLst/>
                <a:highlight>
                  <a:srgbClr val="F3F3F3"/>
                </a:highlight>
                <a:latin typeface="-apple-system"/>
              </a:rPr>
              <a:t>Checklists</a:t>
            </a:r>
            <a:r>
              <a:rPr lang="en-US" sz="3600" b="0" i="0" dirty="0">
                <a:solidFill>
                  <a:srgbClr val="111111"/>
                </a:solidFill>
                <a:effectLst/>
                <a:highlight>
                  <a:srgbClr val="F3F3F3"/>
                </a:highlight>
                <a:latin typeface="-apple-system"/>
              </a:rPr>
              <a:t>: Develop or obtain a checklist tailored to your system’s specific needs. Ensure it covers technical, operational, and compliance-related aspects.</a:t>
            </a:r>
          </a:p>
          <a:p>
            <a:pPr algn="l">
              <a:buFont typeface="+mj-lt"/>
              <a:buAutoNum type="arabicPeriod"/>
            </a:pPr>
            <a:r>
              <a:rPr lang="en-US" sz="3600" b="1" i="0" dirty="0">
                <a:solidFill>
                  <a:srgbClr val="111111"/>
                </a:solidFill>
                <a:effectLst/>
                <a:highlight>
                  <a:srgbClr val="F3F3F3"/>
                </a:highlight>
                <a:latin typeface="-apple-system"/>
              </a:rPr>
              <a:t>Interviews</a:t>
            </a:r>
            <a:r>
              <a:rPr lang="en-US" sz="3600" b="0" i="0" dirty="0">
                <a:solidFill>
                  <a:srgbClr val="111111"/>
                </a:solidFill>
                <a:effectLst/>
                <a:highlight>
                  <a:srgbClr val="F3F3F3"/>
                </a:highlight>
                <a:latin typeface="-apple-system"/>
              </a:rPr>
              <a:t>: Prepare a set of questions for different user groups and stakeholders to understand their experiences, challenges, and expectations from the system.</a:t>
            </a:r>
          </a:p>
          <a:p>
            <a:endParaRPr lang="en-TZ" sz="3600" dirty="0"/>
          </a:p>
        </p:txBody>
      </p:sp>
    </p:spTree>
    <p:extLst>
      <p:ext uri="{BB962C8B-B14F-4D97-AF65-F5344CB8AC3E}">
        <p14:creationId xmlns:p14="http://schemas.microsoft.com/office/powerpoint/2010/main" val="542312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1542FB-5939-313C-4184-E382B4E54CAD}"/>
              </a:ext>
            </a:extLst>
          </p:cNvPr>
          <p:cNvSpPr>
            <a:spLocks noGrp="1"/>
          </p:cNvSpPr>
          <p:nvPr>
            <p:ph idx="1"/>
          </p:nvPr>
        </p:nvSpPr>
        <p:spPr>
          <a:xfrm>
            <a:off x="838200" y="539646"/>
            <a:ext cx="10515600" cy="5637317"/>
          </a:xfrm>
        </p:spPr>
        <p:txBody>
          <a:bodyPr>
            <a:normAutofit/>
          </a:bodyPr>
          <a:lstStyle/>
          <a:p>
            <a:pPr marL="0" indent="0" algn="l">
              <a:buNone/>
            </a:pPr>
            <a:r>
              <a:rPr lang="en-US" sz="4000" b="1" i="0" dirty="0">
                <a:solidFill>
                  <a:srgbClr val="111111"/>
                </a:solidFill>
                <a:effectLst/>
                <a:highlight>
                  <a:srgbClr val="F3F3F3"/>
                </a:highlight>
                <a:latin typeface="-apple-system"/>
              </a:rPr>
              <a:t>3.Documentation Review</a:t>
            </a:r>
            <a:r>
              <a:rPr lang="en-US" sz="4000" b="0" i="0" dirty="0">
                <a:solidFill>
                  <a:srgbClr val="111111"/>
                </a:solidFill>
                <a:effectLst/>
                <a:highlight>
                  <a:srgbClr val="F3F3F3"/>
                </a:highlight>
                <a:latin typeface="-apple-system"/>
              </a:rPr>
              <a:t>: Collect all relevant system documentation, including user manuals, technical specifications, and maintenance records, and evaluate them for completeness and clarity.</a:t>
            </a:r>
          </a:p>
          <a:p>
            <a:pPr marL="0" indent="0" algn="l">
              <a:buNone/>
            </a:pPr>
            <a:r>
              <a:rPr lang="en-US" sz="4000" b="1" i="0" dirty="0">
                <a:solidFill>
                  <a:srgbClr val="111111"/>
                </a:solidFill>
                <a:effectLst/>
                <a:highlight>
                  <a:srgbClr val="F3F3F3"/>
                </a:highlight>
                <a:latin typeface="-apple-system"/>
              </a:rPr>
              <a:t>4.Observation</a:t>
            </a:r>
            <a:r>
              <a:rPr lang="en-US" sz="4000" b="0" i="0" dirty="0">
                <a:solidFill>
                  <a:srgbClr val="111111"/>
                </a:solidFill>
                <a:effectLst/>
                <a:highlight>
                  <a:srgbClr val="F3F3F3"/>
                </a:highlight>
                <a:latin typeface="-apple-system"/>
              </a:rPr>
              <a:t>: Spend time with end-users while they interact with the system. Note any difficulties they encounter and any deviations from expected behavior.</a:t>
            </a:r>
          </a:p>
          <a:p>
            <a:endParaRPr lang="en-TZ" sz="4000" dirty="0"/>
          </a:p>
        </p:txBody>
      </p:sp>
    </p:spTree>
    <p:extLst>
      <p:ext uri="{BB962C8B-B14F-4D97-AF65-F5344CB8AC3E}">
        <p14:creationId xmlns:p14="http://schemas.microsoft.com/office/powerpoint/2010/main" val="4166201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B93F50-3DCC-046B-C740-CB179F3A08B6}"/>
              </a:ext>
            </a:extLst>
          </p:cNvPr>
          <p:cNvSpPr>
            <a:spLocks noGrp="1"/>
          </p:cNvSpPr>
          <p:nvPr>
            <p:ph idx="1"/>
          </p:nvPr>
        </p:nvSpPr>
        <p:spPr>
          <a:xfrm>
            <a:off x="838200" y="554636"/>
            <a:ext cx="10515600" cy="5622327"/>
          </a:xfrm>
        </p:spPr>
        <p:txBody>
          <a:bodyPr>
            <a:normAutofit/>
          </a:bodyPr>
          <a:lstStyle/>
          <a:p>
            <a:pPr marL="0" indent="0" algn="l">
              <a:buNone/>
            </a:pPr>
            <a:r>
              <a:rPr lang="en-US" sz="4000" b="1" i="0" dirty="0">
                <a:solidFill>
                  <a:srgbClr val="111111"/>
                </a:solidFill>
                <a:effectLst/>
                <a:highlight>
                  <a:srgbClr val="F3F3F3"/>
                </a:highlight>
                <a:latin typeface="-apple-system"/>
              </a:rPr>
              <a:t>5.Testing</a:t>
            </a:r>
            <a:r>
              <a:rPr lang="en-US" sz="4000" b="0" i="0" dirty="0">
                <a:solidFill>
                  <a:srgbClr val="111111"/>
                </a:solidFill>
                <a:effectLst/>
                <a:highlight>
                  <a:srgbClr val="F3F3F3"/>
                </a:highlight>
                <a:latin typeface="-apple-system"/>
              </a:rPr>
              <a:t>: Conduct tests such as load testing, penetration testing, and user acceptance testing to assess the system’s performance and security.</a:t>
            </a:r>
          </a:p>
          <a:p>
            <a:pPr marL="0" indent="0" algn="l">
              <a:buNone/>
            </a:pPr>
            <a:r>
              <a:rPr lang="en-US" sz="4000" b="1" i="0" dirty="0">
                <a:solidFill>
                  <a:srgbClr val="111111"/>
                </a:solidFill>
                <a:effectLst/>
                <a:highlight>
                  <a:srgbClr val="F3F3F3"/>
                </a:highlight>
                <a:latin typeface="-apple-system"/>
              </a:rPr>
              <a:t>6.Benchmarking</a:t>
            </a:r>
            <a:r>
              <a:rPr lang="en-US" sz="4000" b="0" i="0" dirty="0">
                <a:solidFill>
                  <a:srgbClr val="111111"/>
                </a:solidFill>
                <a:effectLst/>
                <a:highlight>
                  <a:srgbClr val="F3F3F3"/>
                </a:highlight>
                <a:latin typeface="-apple-system"/>
              </a:rPr>
              <a:t>: Identify key performance indicators (KPIs) for your system and compare them against industry standards or similar systems in other organizations.</a:t>
            </a:r>
          </a:p>
          <a:p>
            <a:endParaRPr lang="en-TZ" sz="4000" dirty="0"/>
          </a:p>
        </p:txBody>
      </p:sp>
    </p:spTree>
    <p:extLst>
      <p:ext uri="{BB962C8B-B14F-4D97-AF65-F5344CB8AC3E}">
        <p14:creationId xmlns:p14="http://schemas.microsoft.com/office/powerpoint/2010/main" val="2557855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7CE812-EDD1-CFC0-1B3C-69D4086BB008}"/>
              </a:ext>
            </a:extLst>
          </p:cNvPr>
          <p:cNvSpPr>
            <a:spLocks noGrp="1"/>
          </p:cNvSpPr>
          <p:nvPr>
            <p:ph idx="1"/>
          </p:nvPr>
        </p:nvSpPr>
        <p:spPr>
          <a:xfrm>
            <a:off x="838200" y="539646"/>
            <a:ext cx="10515600" cy="5637317"/>
          </a:xfrm>
        </p:spPr>
        <p:txBody>
          <a:bodyPr>
            <a:normAutofit/>
          </a:bodyPr>
          <a:lstStyle/>
          <a:p>
            <a:pPr algn="l"/>
            <a:r>
              <a:rPr lang="en-US" sz="3400" b="0" i="0" dirty="0">
                <a:solidFill>
                  <a:srgbClr val="111111"/>
                </a:solidFill>
                <a:effectLst/>
                <a:highlight>
                  <a:srgbClr val="F3F3F3"/>
                </a:highlight>
                <a:latin typeface="-apple-system"/>
              </a:rPr>
              <a:t>Organizations can improve their information systems based on review findings by taking the following steps:</a:t>
            </a:r>
          </a:p>
          <a:p>
            <a:pPr algn="l">
              <a:buFont typeface="+mj-lt"/>
              <a:buAutoNum type="arabicPeriod"/>
            </a:pPr>
            <a:r>
              <a:rPr lang="en-US" sz="3400" b="1" i="0" dirty="0">
                <a:solidFill>
                  <a:srgbClr val="111111"/>
                </a:solidFill>
                <a:effectLst/>
                <a:highlight>
                  <a:srgbClr val="F3F3F3"/>
                </a:highlight>
                <a:latin typeface="-apple-system"/>
              </a:rPr>
              <a:t>Prioritize Issues</a:t>
            </a:r>
            <a:r>
              <a:rPr lang="en-US" sz="3400" b="0" i="0" dirty="0">
                <a:solidFill>
                  <a:srgbClr val="111111"/>
                </a:solidFill>
                <a:effectLst/>
                <a:highlight>
                  <a:srgbClr val="F3F3F3"/>
                </a:highlight>
                <a:latin typeface="-apple-system"/>
              </a:rPr>
              <a:t>: Rank the findings based on their impact on business operations and the level of risk they pose.</a:t>
            </a:r>
          </a:p>
          <a:p>
            <a:pPr algn="l">
              <a:buFont typeface="+mj-lt"/>
              <a:buAutoNum type="arabicPeriod"/>
            </a:pPr>
            <a:r>
              <a:rPr lang="en-US" sz="3400" b="1" i="0" dirty="0">
                <a:solidFill>
                  <a:srgbClr val="111111"/>
                </a:solidFill>
                <a:effectLst/>
                <a:highlight>
                  <a:srgbClr val="F3F3F3"/>
                </a:highlight>
                <a:latin typeface="-apple-system"/>
              </a:rPr>
              <a:t>Develop an Action Plan</a:t>
            </a:r>
            <a:r>
              <a:rPr lang="en-US" sz="3400" b="0" i="0" dirty="0">
                <a:solidFill>
                  <a:srgbClr val="111111"/>
                </a:solidFill>
                <a:effectLst/>
                <a:highlight>
                  <a:srgbClr val="F3F3F3"/>
                </a:highlight>
                <a:latin typeface="-apple-system"/>
              </a:rPr>
              <a:t>: Create a detailed plan to address each issue, including timelines, responsibilities, and required resources.</a:t>
            </a:r>
          </a:p>
          <a:p>
            <a:pPr marL="0" indent="0">
              <a:buNone/>
            </a:pPr>
            <a:r>
              <a:rPr lang="en-US" sz="3400" b="1" i="0" dirty="0">
                <a:solidFill>
                  <a:srgbClr val="111111"/>
                </a:solidFill>
                <a:effectLst/>
                <a:highlight>
                  <a:srgbClr val="F3F3F3"/>
                </a:highlight>
                <a:latin typeface="-apple-system"/>
              </a:rPr>
              <a:t>3.Implement Changes</a:t>
            </a:r>
            <a:r>
              <a:rPr lang="en-US" sz="3400" b="0" i="0" dirty="0">
                <a:solidFill>
                  <a:srgbClr val="111111"/>
                </a:solidFill>
                <a:effectLst/>
                <a:highlight>
                  <a:srgbClr val="F3F3F3"/>
                </a:highlight>
                <a:latin typeface="-apple-system"/>
              </a:rPr>
              <a:t>: Execute the action plan, starting with the highest priority issues. This may involve system updates, process changes, or staff training.</a:t>
            </a:r>
          </a:p>
          <a:p>
            <a:endParaRPr lang="en-TZ" sz="3400" dirty="0"/>
          </a:p>
        </p:txBody>
      </p:sp>
    </p:spTree>
    <p:extLst>
      <p:ext uri="{BB962C8B-B14F-4D97-AF65-F5344CB8AC3E}">
        <p14:creationId xmlns:p14="http://schemas.microsoft.com/office/powerpoint/2010/main" val="3134046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B1F4AD-A03C-4BF2-BEAB-062879D0AAB1}"/>
              </a:ext>
            </a:extLst>
          </p:cNvPr>
          <p:cNvSpPr>
            <a:spLocks noGrp="1"/>
          </p:cNvSpPr>
          <p:nvPr>
            <p:ph idx="1"/>
          </p:nvPr>
        </p:nvSpPr>
        <p:spPr>
          <a:xfrm>
            <a:off x="838200" y="644577"/>
            <a:ext cx="10515600" cy="5532386"/>
          </a:xfrm>
        </p:spPr>
        <p:txBody>
          <a:bodyPr>
            <a:normAutofit/>
          </a:bodyPr>
          <a:lstStyle/>
          <a:p>
            <a:pPr marL="0" indent="0" algn="l">
              <a:buNone/>
            </a:pPr>
            <a:r>
              <a:rPr lang="en-US" sz="4000" b="1" i="0" dirty="0">
                <a:solidFill>
                  <a:srgbClr val="111111"/>
                </a:solidFill>
                <a:effectLst/>
                <a:highlight>
                  <a:srgbClr val="F3F3F3"/>
                </a:highlight>
                <a:latin typeface="-apple-system"/>
              </a:rPr>
              <a:t>4.Monitor Progress</a:t>
            </a:r>
            <a:r>
              <a:rPr lang="en-US" sz="4000" b="0" i="0" dirty="0">
                <a:solidFill>
                  <a:srgbClr val="111111"/>
                </a:solidFill>
                <a:effectLst/>
                <a:highlight>
                  <a:srgbClr val="F3F3F3"/>
                </a:highlight>
                <a:latin typeface="-apple-system"/>
              </a:rPr>
              <a:t>: Regularly review the implementation progress and make adjustments as necessary to ensure objectives are met.</a:t>
            </a:r>
          </a:p>
          <a:p>
            <a:pPr marL="0" indent="0" algn="l">
              <a:buNone/>
            </a:pPr>
            <a:r>
              <a:rPr lang="en-US" sz="4000" b="1" i="0" dirty="0">
                <a:solidFill>
                  <a:srgbClr val="111111"/>
                </a:solidFill>
                <a:effectLst/>
                <a:highlight>
                  <a:srgbClr val="F3F3F3"/>
                </a:highlight>
                <a:latin typeface="-apple-system"/>
              </a:rPr>
              <a:t>5.Feedback Loop</a:t>
            </a:r>
            <a:r>
              <a:rPr lang="en-US" sz="4000" b="0" i="0" dirty="0">
                <a:solidFill>
                  <a:srgbClr val="111111"/>
                </a:solidFill>
                <a:effectLst/>
                <a:highlight>
                  <a:srgbClr val="F3F3F3"/>
                </a:highlight>
                <a:latin typeface="-apple-system"/>
              </a:rPr>
              <a:t>: Encourage continuous feedback from users to refine the system further and address any new issues that arise.</a:t>
            </a:r>
          </a:p>
          <a:p>
            <a:pPr marL="0" indent="0" algn="l">
              <a:buNone/>
            </a:pPr>
            <a:r>
              <a:rPr lang="en-US" sz="4000" b="1" i="0" dirty="0">
                <a:solidFill>
                  <a:srgbClr val="111111"/>
                </a:solidFill>
                <a:effectLst/>
                <a:highlight>
                  <a:srgbClr val="F3F3F3"/>
                </a:highlight>
                <a:latin typeface="-apple-system"/>
              </a:rPr>
              <a:t>6.Review Cycle</a:t>
            </a:r>
            <a:r>
              <a:rPr lang="en-US" sz="4000" b="0" i="0" dirty="0">
                <a:solidFill>
                  <a:srgbClr val="111111"/>
                </a:solidFill>
                <a:effectLst/>
                <a:highlight>
                  <a:srgbClr val="F3F3F3"/>
                </a:highlight>
                <a:latin typeface="-apple-system"/>
              </a:rPr>
              <a:t>: Establish a regular review cycle to continually assess and improve the information system.</a:t>
            </a:r>
          </a:p>
          <a:p>
            <a:endParaRPr lang="en-TZ" sz="4000" dirty="0"/>
          </a:p>
        </p:txBody>
      </p:sp>
    </p:spTree>
    <p:extLst>
      <p:ext uri="{BB962C8B-B14F-4D97-AF65-F5344CB8AC3E}">
        <p14:creationId xmlns:p14="http://schemas.microsoft.com/office/powerpoint/2010/main" val="2180277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AB7B5-F634-20FF-CD69-0BB3B308C8A4}"/>
              </a:ext>
            </a:extLst>
          </p:cNvPr>
          <p:cNvSpPr>
            <a:spLocks noGrp="1"/>
          </p:cNvSpPr>
          <p:nvPr>
            <p:ph type="title"/>
          </p:nvPr>
        </p:nvSpPr>
        <p:spPr>
          <a:xfrm>
            <a:off x="838200" y="200234"/>
            <a:ext cx="10515600" cy="714167"/>
          </a:xfrm>
        </p:spPr>
        <p:txBody>
          <a:bodyPr>
            <a:normAutofit/>
          </a:bodyPr>
          <a:lstStyle/>
          <a:p>
            <a:r>
              <a:rPr lang="en-US" sz="4000" b="1" u="none" strike="noStrike" dirty="0">
                <a:solidFill>
                  <a:srgbClr val="000000"/>
                </a:solidFill>
                <a:effectLst/>
                <a:latin typeface="Times New Roman" panose="02020603050405020304" pitchFamily="18" charset="0"/>
                <a:ea typeface="Times New Roman" panose="02020603050405020304" pitchFamily="18" charset="0"/>
              </a:rPr>
              <a:t>Service level management practices</a:t>
            </a:r>
            <a:endParaRPr lang="en-TZ" sz="4000" b="1" dirty="0"/>
          </a:p>
        </p:txBody>
      </p:sp>
      <p:sp>
        <p:nvSpPr>
          <p:cNvPr id="3" name="Content Placeholder 2">
            <a:extLst>
              <a:ext uri="{FF2B5EF4-FFF2-40B4-BE49-F238E27FC236}">
                <a16:creationId xmlns:a16="http://schemas.microsoft.com/office/drawing/2014/main" id="{3E961714-B94B-5F33-B770-9FA40C01668B}"/>
              </a:ext>
            </a:extLst>
          </p:cNvPr>
          <p:cNvSpPr>
            <a:spLocks noGrp="1"/>
          </p:cNvSpPr>
          <p:nvPr>
            <p:ph idx="1"/>
          </p:nvPr>
        </p:nvSpPr>
        <p:spPr>
          <a:xfrm>
            <a:off x="434715" y="1109272"/>
            <a:ext cx="11302583" cy="5351489"/>
          </a:xfrm>
        </p:spPr>
        <p:txBody>
          <a:bodyPr>
            <a:noAutofit/>
          </a:bodyPr>
          <a:lstStyle/>
          <a:p>
            <a:pPr algn="l" fontAlgn="base"/>
            <a:r>
              <a:rPr lang="en-US" sz="3300" b="1" i="0" dirty="0">
                <a:effectLst/>
                <a:highlight>
                  <a:srgbClr val="FFFFFF"/>
                </a:highlight>
                <a:latin typeface="sofia-pro"/>
              </a:rPr>
              <a:t>Service Level Management</a:t>
            </a:r>
            <a:r>
              <a:rPr lang="en-US" sz="3300" b="0" i="0" dirty="0">
                <a:effectLst/>
                <a:highlight>
                  <a:srgbClr val="FFFFFF"/>
                </a:highlight>
                <a:latin typeface="sofia-pro"/>
              </a:rPr>
              <a:t> (SLM) is a critical component within the IT Service Management (ITSM) framework, specifically as a part of the five key elements in the ITIL* Service Delivery area. Its role is pivotal in structuring, defining, and agreeing on the necessary service levels for business operations.</a:t>
            </a:r>
          </a:p>
          <a:p>
            <a:pPr algn="l" fontAlgn="base"/>
            <a:r>
              <a:rPr lang="en-US" sz="3300" b="0" i="0" dirty="0">
                <a:effectLst/>
                <a:highlight>
                  <a:srgbClr val="FFFFFF"/>
                </a:highlight>
                <a:latin typeface="sofia-pro"/>
              </a:rPr>
              <a:t>SLM is essential in creating Service Level Agreements (SLAs) and Service Level Objectives (SLOs), as well as in determining the costs of service delivery. Its primary focus is to design, monitor, and manage the agreed service levels to ensure that the quality of IT services meets business operation requirements.</a:t>
            </a:r>
          </a:p>
          <a:p>
            <a:endParaRPr lang="en-TZ" sz="3300" dirty="0"/>
          </a:p>
        </p:txBody>
      </p:sp>
    </p:spTree>
    <p:extLst>
      <p:ext uri="{BB962C8B-B14F-4D97-AF65-F5344CB8AC3E}">
        <p14:creationId xmlns:p14="http://schemas.microsoft.com/office/powerpoint/2010/main" val="374217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231430-4F21-5E64-FA67-6FF22DE0B7FF}"/>
              </a:ext>
            </a:extLst>
          </p:cNvPr>
          <p:cNvSpPr>
            <a:spLocks noGrp="1"/>
          </p:cNvSpPr>
          <p:nvPr>
            <p:ph idx="1"/>
          </p:nvPr>
        </p:nvSpPr>
        <p:spPr>
          <a:xfrm>
            <a:off x="464695" y="389744"/>
            <a:ext cx="11287594" cy="5936105"/>
          </a:xfrm>
        </p:spPr>
        <p:txBody>
          <a:bodyPr>
            <a:noAutofit/>
          </a:bodyPr>
          <a:lstStyle/>
          <a:p>
            <a:r>
              <a:rPr lang="en-US" sz="3600" b="0" i="0" dirty="0">
                <a:solidFill>
                  <a:srgbClr val="555555"/>
                </a:solidFill>
                <a:effectLst/>
                <a:highlight>
                  <a:srgbClr val="FFFFFF"/>
                </a:highlight>
                <a:latin typeface="sofia-pro"/>
              </a:rPr>
              <a:t>By adopting SLM processes, IT teams can deliver the agreed service levels more efficiently and cost-effectively. These processes help define the responsibilities and roles of both the business and IT departments, thereby promoting smooth, reliable business operations.</a:t>
            </a:r>
          </a:p>
          <a:p>
            <a:pPr algn="l" fontAlgn="base"/>
            <a:r>
              <a:rPr lang="en-US" sz="3600" b="1" i="0" dirty="0">
                <a:solidFill>
                  <a:srgbClr val="241F20"/>
                </a:solidFill>
                <a:effectLst/>
                <a:highlight>
                  <a:srgbClr val="FFFFFF"/>
                </a:highlight>
                <a:latin typeface="sofia-pro"/>
              </a:rPr>
              <a:t>What is Service Level Management?</a:t>
            </a:r>
          </a:p>
          <a:p>
            <a:pPr algn="l" fontAlgn="base"/>
            <a:r>
              <a:rPr lang="en-US" sz="3600" b="0" i="0" dirty="0">
                <a:solidFill>
                  <a:srgbClr val="555555"/>
                </a:solidFill>
                <a:effectLst/>
                <a:highlight>
                  <a:srgbClr val="FFFFFF"/>
                </a:highlight>
                <a:latin typeface="sofia-pro"/>
              </a:rPr>
              <a:t>At a high level, </a:t>
            </a:r>
            <a:r>
              <a:rPr lang="en-US" sz="3600" b="1" i="0" dirty="0">
                <a:solidFill>
                  <a:srgbClr val="555555"/>
                </a:solidFill>
                <a:effectLst/>
                <a:highlight>
                  <a:srgbClr val="FFFFFF"/>
                </a:highlight>
                <a:latin typeface="sofia-pro"/>
              </a:rPr>
              <a:t>Service Level Management</a:t>
            </a:r>
            <a:r>
              <a:rPr lang="en-US" sz="3600" b="0" i="0" dirty="0">
                <a:solidFill>
                  <a:srgbClr val="555555"/>
                </a:solidFill>
                <a:effectLst/>
                <a:highlight>
                  <a:srgbClr val="FFFFFF"/>
                </a:highlight>
                <a:latin typeface="sofia-pro"/>
              </a:rPr>
              <a:t> is the practice of bringing everyone together in agreement with how IT service works. SLM ensures service levels are measured and reported. Practically speaking, SLM involves defining, documenting, and managing service levels.</a:t>
            </a:r>
          </a:p>
          <a:p>
            <a:endParaRPr lang="en-TZ" sz="3600" dirty="0"/>
          </a:p>
        </p:txBody>
      </p:sp>
    </p:spTree>
    <p:extLst>
      <p:ext uri="{BB962C8B-B14F-4D97-AF65-F5344CB8AC3E}">
        <p14:creationId xmlns:p14="http://schemas.microsoft.com/office/powerpoint/2010/main" val="62204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107DC0-51B4-51F7-8CC3-BCC8437D0FD4}"/>
              </a:ext>
            </a:extLst>
          </p:cNvPr>
          <p:cNvSpPr>
            <a:spLocks noGrp="1"/>
          </p:cNvSpPr>
          <p:nvPr>
            <p:ph idx="1"/>
          </p:nvPr>
        </p:nvSpPr>
        <p:spPr>
          <a:xfrm>
            <a:off x="838200" y="554636"/>
            <a:ext cx="10515600" cy="5622327"/>
          </a:xfrm>
        </p:spPr>
        <p:txBody>
          <a:bodyPr>
            <a:noAutofit/>
          </a:bodyPr>
          <a:lstStyle/>
          <a:p>
            <a:pPr algn="l"/>
            <a:r>
              <a:rPr lang="en-US" sz="3600" b="0" i="0" dirty="0">
                <a:solidFill>
                  <a:srgbClr val="111111"/>
                </a:solidFill>
                <a:effectLst/>
                <a:highlight>
                  <a:srgbClr val="F3F3F3"/>
                </a:highlight>
                <a:latin typeface="-apple-system"/>
              </a:rPr>
              <a:t>Service Level Management (SLM) practices involve designing, implementing, monitoring, and managing the quality of IT services to ensure they meet the agreed-upon service levels. Here are some key practices:</a:t>
            </a:r>
          </a:p>
          <a:p>
            <a:pPr algn="l">
              <a:buFont typeface="+mj-lt"/>
              <a:buAutoNum type="arabicPeriod"/>
            </a:pPr>
            <a:r>
              <a:rPr lang="en-US" sz="3600" b="1" i="0" dirty="0">
                <a:solidFill>
                  <a:srgbClr val="111111"/>
                </a:solidFill>
                <a:effectLst/>
                <a:highlight>
                  <a:srgbClr val="F3F3F3"/>
                </a:highlight>
                <a:latin typeface="-apple-system"/>
              </a:rPr>
              <a:t>Defining Service Levels</a:t>
            </a:r>
            <a:r>
              <a:rPr lang="en-US" sz="3600" b="0" i="0" dirty="0">
                <a:solidFill>
                  <a:srgbClr val="111111"/>
                </a:solidFill>
                <a:effectLst/>
                <a:highlight>
                  <a:srgbClr val="F3F3F3"/>
                </a:highlight>
                <a:latin typeface="-apple-system"/>
              </a:rPr>
              <a:t>: Establish clear, measurable service level agreements (SLAs) that outline the expected performance and quality of services.</a:t>
            </a:r>
          </a:p>
          <a:p>
            <a:pPr algn="l">
              <a:buFont typeface="+mj-lt"/>
              <a:buAutoNum type="arabicPeriod"/>
            </a:pPr>
            <a:r>
              <a:rPr lang="en-US" sz="3600" b="1" i="0" dirty="0">
                <a:solidFill>
                  <a:srgbClr val="111111"/>
                </a:solidFill>
                <a:effectLst/>
                <a:highlight>
                  <a:srgbClr val="F3F3F3"/>
                </a:highlight>
                <a:latin typeface="-apple-system"/>
              </a:rPr>
              <a:t>Monitoring Services</a:t>
            </a:r>
            <a:r>
              <a:rPr lang="en-US" sz="3600" b="0" i="0" dirty="0">
                <a:solidFill>
                  <a:srgbClr val="111111"/>
                </a:solidFill>
                <a:effectLst/>
                <a:highlight>
                  <a:srgbClr val="F3F3F3"/>
                </a:highlight>
                <a:latin typeface="-apple-system"/>
              </a:rPr>
              <a:t>: Use tools and processes to continuously monitor service performance against SLAs.</a:t>
            </a:r>
          </a:p>
          <a:p>
            <a:endParaRPr lang="en-TZ" sz="3600" dirty="0"/>
          </a:p>
        </p:txBody>
      </p:sp>
    </p:spTree>
    <p:extLst>
      <p:ext uri="{BB962C8B-B14F-4D97-AF65-F5344CB8AC3E}">
        <p14:creationId xmlns:p14="http://schemas.microsoft.com/office/powerpoint/2010/main" val="3524084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AD0703-0928-B85E-56AA-C1A0A985C82F}"/>
              </a:ext>
            </a:extLst>
          </p:cNvPr>
          <p:cNvSpPr>
            <a:spLocks noGrp="1"/>
          </p:cNvSpPr>
          <p:nvPr>
            <p:ph idx="1"/>
          </p:nvPr>
        </p:nvSpPr>
        <p:spPr>
          <a:xfrm>
            <a:off x="449705" y="509666"/>
            <a:ext cx="11212643" cy="5667297"/>
          </a:xfrm>
        </p:spPr>
        <p:txBody>
          <a:bodyPr>
            <a:noAutofit/>
          </a:bodyPr>
          <a:lstStyle/>
          <a:p>
            <a:pPr marL="0" indent="0" algn="l">
              <a:buNone/>
            </a:pPr>
            <a:r>
              <a:rPr lang="en-US" sz="3600" b="1" i="0" dirty="0">
                <a:solidFill>
                  <a:srgbClr val="111111"/>
                </a:solidFill>
                <a:effectLst/>
                <a:highlight>
                  <a:srgbClr val="F3F3F3"/>
                </a:highlight>
                <a:latin typeface="-apple-system"/>
              </a:rPr>
              <a:t>3.Reporting</a:t>
            </a:r>
            <a:r>
              <a:rPr lang="en-US" sz="3600" b="0" i="0" dirty="0">
                <a:solidFill>
                  <a:srgbClr val="111111"/>
                </a:solidFill>
                <a:effectLst/>
                <a:highlight>
                  <a:srgbClr val="F3F3F3"/>
                </a:highlight>
                <a:latin typeface="-apple-system"/>
              </a:rPr>
              <a:t>: Regularly report on service performance to stakeholders and use this data to improve services.</a:t>
            </a:r>
          </a:p>
          <a:p>
            <a:pPr marL="0" indent="0" algn="l">
              <a:buNone/>
            </a:pPr>
            <a:r>
              <a:rPr lang="en-US" sz="3600" b="1" i="0" dirty="0">
                <a:solidFill>
                  <a:srgbClr val="111111"/>
                </a:solidFill>
                <a:effectLst/>
                <a:highlight>
                  <a:srgbClr val="F3F3F3"/>
                </a:highlight>
                <a:latin typeface="-apple-system"/>
              </a:rPr>
              <a:t>4.Reviewing Agreements</a:t>
            </a:r>
            <a:r>
              <a:rPr lang="en-US" sz="3600" b="0" i="0" dirty="0">
                <a:solidFill>
                  <a:srgbClr val="111111"/>
                </a:solidFill>
                <a:effectLst/>
                <a:highlight>
                  <a:srgbClr val="F3F3F3"/>
                </a:highlight>
                <a:latin typeface="-apple-system"/>
              </a:rPr>
              <a:t>: Periodically review SLAs to ensure they remain aligned with business needs and make adjustments as necessary.</a:t>
            </a:r>
          </a:p>
          <a:p>
            <a:pPr marL="0" indent="0" algn="l">
              <a:buNone/>
            </a:pPr>
            <a:r>
              <a:rPr lang="en-US" sz="3600" b="1" i="0" dirty="0">
                <a:solidFill>
                  <a:srgbClr val="111111"/>
                </a:solidFill>
                <a:effectLst/>
                <a:highlight>
                  <a:srgbClr val="F3F3F3"/>
                </a:highlight>
                <a:latin typeface="-apple-system"/>
              </a:rPr>
              <a:t>5.Managing Relationships</a:t>
            </a:r>
            <a:r>
              <a:rPr lang="en-US" sz="3600" b="0" i="0" dirty="0">
                <a:solidFill>
                  <a:srgbClr val="111111"/>
                </a:solidFill>
                <a:effectLst/>
                <a:highlight>
                  <a:srgbClr val="F3F3F3"/>
                </a:highlight>
                <a:latin typeface="-apple-system"/>
              </a:rPr>
              <a:t>: Work closely with customers and service providers to manage expectations and resolve any issues promptly.</a:t>
            </a:r>
          </a:p>
          <a:p>
            <a:pPr marL="0" indent="0">
              <a:buNone/>
            </a:pPr>
            <a:r>
              <a:rPr lang="en-US" sz="3600" b="1" i="0">
                <a:solidFill>
                  <a:srgbClr val="111111"/>
                </a:solidFill>
                <a:effectLst/>
                <a:highlight>
                  <a:srgbClr val="F3F3F3"/>
                </a:highlight>
                <a:latin typeface="-apple-system"/>
              </a:rPr>
              <a:t>6.Continuous </a:t>
            </a:r>
            <a:r>
              <a:rPr lang="en-US" sz="3600" b="1" i="0" dirty="0">
                <a:solidFill>
                  <a:srgbClr val="111111"/>
                </a:solidFill>
                <a:effectLst/>
                <a:highlight>
                  <a:srgbClr val="F3F3F3"/>
                </a:highlight>
                <a:latin typeface="-apple-system"/>
              </a:rPr>
              <a:t>Improvement</a:t>
            </a:r>
            <a:r>
              <a:rPr lang="en-US" sz="3600" b="0" i="0" dirty="0">
                <a:solidFill>
                  <a:srgbClr val="111111"/>
                </a:solidFill>
                <a:effectLst/>
                <a:highlight>
                  <a:srgbClr val="F3F3F3"/>
                </a:highlight>
                <a:latin typeface="-apple-system"/>
              </a:rPr>
              <a:t>: Use feedback and performance data to drive ongoing improvements in service quality.</a:t>
            </a:r>
          </a:p>
          <a:p>
            <a:endParaRPr lang="en-TZ" sz="3600" dirty="0"/>
          </a:p>
        </p:txBody>
      </p:sp>
    </p:spTree>
    <p:extLst>
      <p:ext uri="{BB962C8B-B14F-4D97-AF65-F5344CB8AC3E}">
        <p14:creationId xmlns:p14="http://schemas.microsoft.com/office/powerpoint/2010/main" val="922157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5E4FA-90CD-3C5B-D1FF-3B741B739F4C}"/>
              </a:ext>
            </a:extLst>
          </p:cNvPr>
          <p:cNvSpPr>
            <a:spLocks noGrp="1"/>
          </p:cNvSpPr>
          <p:nvPr>
            <p:ph idx="1"/>
          </p:nvPr>
        </p:nvSpPr>
        <p:spPr>
          <a:xfrm>
            <a:off x="838200" y="542885"/>
            <a:ext cx="10515600" cy="5772229"/>
          </a:xfrm>
        </p:spPr>
        <p:txBody>
          <a:bodyPr>
            <a:normAutofit/>
          </a:bodyPr>
          <a:lstStyle/>
          <a:p>
            <a:pPr algn="l"/>
            <a:r>
              <a:rPr lang="en-US" sz="3600" b="0" i="0" dirty="0">
                <a:solidFill>
                  <a:srgbClr val="111111"/>
                </a:solidFill>
                <a:effectLst/>
                <a:highlight>
                  <a:srgbClr val="F3F3F3"/>
                </a:highlight>
                <a:latin typeface="-apple-system"/>
              </a:rPr>
              <a:t>IT Service Level Agreements (SLAs) are formal contracts between service providers and customers that define the level of service expected. Here are the key components of SLAs:</a:t>
            </a:r>
          </a:p>
          <a:p>
            <a:pPr algn="l">
              <a:buFont typeface="+mj-lt"/>
              <a:buAutoNum type="arabicPeriod"/>
            </a:pPr>
            <a:r>
              <a:rPr lang="en-US" sz="3600" b="1" i="0" dirty="0">
                <a:solidFill>
                  <a:srgbClr val="111111"/>
                </a:solidFill>
                <a:effectLst/>
                <a:highlight>
                  <a:srgbClr val="F3F3F3"/>
                </a:highlight>
                <a:latin typeface="-apple-system"/>
              </a:rPr>
              <a:t>Service Description</a:t>
            </a:r>
            <a:r>
              <a:rPr lang="en-US" sz="3600" b="0" i="0" dirty="0">
                <a:solidFill>
                  <a:srgbClr val="111111"/>
                </a:solidFill>
                <a:effectLst/>
                <a:highlight>
                  <a:srgbClr val="F3F3F3"/>
                </a:highlight>
                <a:latin typeface="-apple-system"/>
              </a:rPr>
              <a:t>: Clearly defines the services being provided, including scope, availability, and responsibilities.</a:t>
            </a:r>
          </a:p>
          <a:p>
            <a:pPr algn="l">
              <a:buFont typeface="+mj-lt"/>
              <a:buAutoNum type="arabicPeriod"/>
            </a:pPr>
            <a:r>
              <a:rPr lang="en-US" sz="3600" b="1" i="0" dirty="0">
                <a:solidFill>
                  <a:srgbClr val="111111"/>
                </a:solidFill>
                <a:effectLst/>
                <a:highlight>
                  <a:srgbClr val="F3F3F3"/>
                </a:highlight>
                <a:latin typeface="-apple-system"/>
              </a:rPr>
              <a:t>Performance Metrics</a:t>
            </a:r>
            <a:r>
              <a:rPr lang="en-US" sz="3600" b="0" i="0" dirty="0">
                <a:solidFill>
                  <a:srgbClr val="111111"/>
                </a:solidFill>
                <a:effectLst/>
                <a:highlight>
                  <a:srgbClr val="F3F3F3"/>
                </a:highlight>
                <a:latin typeface="-apple-system"/>
              </a:rPr>
              <a:t>: Specifies quantitative measures such as uptime, response time, and throughput to assess service performance.</a:t>
            </a:r>
          </a:p>
          <a:p>
            <a:endParaRPr lang="en-TZ" sz="3600" dirty="0"/>
          </a:p>
        </p:txBody>
      </p:sp>
    </p:spTree>
    <p:extLst>
      <p:ext uri="{BB962C8B-B14F-4D97-AF65-F5344CB8AC3E}">
        <p14:creationId xmlns:p14="http://schemas.microsoft.com/office/powerpoint/2010/main" val="2364574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D34D96-5D5E-6983-19DE-B612746EECAD}"/>
              </a:ext>
            </a:extLst>
          </p:cNvPr>
          <p:cNvSpPr>
            <a:spLocks noGrp="1"/>
          </p:cNvSpPr>
          <p:nvPr>
            <p:ph idx="1"/>
          </p:nvPr>
        </p:nvSpPr>
        <p:spPr>
          <a:xfrm>
            <a:off x="838200" y="599607"/>
            <a:ext cx="10515600" cy="5577356"/>
          </a:xfrm>
        </p:spPr>
        <p:txBody>
          <a:bodyPr>
            <a:normAutofit/>
          </a:bodyPr>
          <a:lstStyle/>
          <a:p>
            <a:pPr marL="0" indent="0" algn="l">
              <a:buNone/>
            </a:pPr>
            <a:r>
              <a:rPr lang="en-US" sz="4000" b="1" i="0" dirty="0">
                <a:solidFill>
                  <a:srgbClr val="111111"/>
                </a:solidFill>
                <a:effectLst/>
                <a:highlight>
                  <a:srgbClr val="F3F3F3"/>
                </a:highlight>
                <a:latin typeface="-apple-system"/>
              </a:rPr>
              <a:t>3.Service Standards</a:t>
            </a:r>
            <a:r>
              <a:rPr lang="en-US" sz="4000" b="0" i="0" dirty="0">
                <a:solidFill>
                  <a:srgbClr val="111111"/>
                </a:solidFill>
                <a:effectLst/>
                <a:highlight>
                  <a:srgbClr val="F3F3F3"/>
                </a:highlight>
                <a:latin typeface="-apple-system"/>
              </a:rPr>
              <a:t>: Outlines the minimum acceptable levels for each performance metric.</a:t>
            </a:r>
          </a:p>
          <a:p>
            <a:pPr marL="0" indent="0" algn="l">
              <a:buNone/>
            </a:pPr>
            <a:r>
              <a:rPr lang="en-US" sz="4000" b="1" i="0" dirty="0">
                <a:solidFill>
                  <a:srgbClr val="111111"/>
                </a:solidFill>
                <a:effectLst/>
                <a:highlight>
                  <a:srgbClr val="F3F3F3"/>
                </a:highlight>
                <a:latin typeface="-apple-system"/>
              </a:rPr>
              <a:t>4.Monitoring and Reporting</a:t>
            </a:r>
            <a:r>
              <a:rPr lang="en-US" sz="4000" b="0" i="0" dirty="0">
                <a:solidFill>
                  <a:srgbClr val="111111"/>
                </a:solidFill>
                <a:effectLst/>
                <a:highlight>
                  <a:srgbClr val="F3F3F3"/>
                </a:highlight>
                <a:latin typeface="-apple-system"/>
              </a:rPr>
              <a:t>: Details how service performance will be monitored and reported to the customer.</a:t>
            </a:r>
          </a:p>
          <a:p>
            <a:pPr marL="0" indent="0" algn="l">
              <a:buNone/>
            </a:pPr>
            <a:r>
              <a:rPr lang="en-US" sz="4000" b="1" i="0" dirty="0">
                <a:solidFill>
                  <a:srgbClr val="111111"/>
                </a:solidFill>
                <a:effectLst/>
                <a:highlight>
                  <a:srgbClr val="F3F3F3"/>
                </a:highlight>
                <a:latin typeface="-apple-system"/>
              </a:rPr>
              <a:t>5.Problem Management</a:t>
            </a:r>
            <a:r>
              <a:rPr lang="en-US" sz="4000" b="0" i="0" dirty="0">
                <a:solidFill>
                  <a:srgbClr val="111111"/>
                </a:solidFill>
                <a:effectLst/>
                <a:highlight>
                  <a:srgbClr val="F3F3F3"/>
                </a:highlight>
                <a:latin typeface="-apple-system"/>
              </a:rPr>
              <a:t>: Describes the process for addressing service issues, including escalation procedures and resolution times.</a:t>
            </a:r>
          </a:p>
          <a:p>
            <a:endParaRPr lang="en-TZ" sz="4000" dirty="0"/>
          </a:p>
        </p:txBody>
      </p:sp>
    </p:spTree>
    <p:extLst>
      <p:ext uri="{BB962C8B-B14F-4D97-AF65-F5344CB8AC3E}">
        <p14:creationId xmlns:p14="http://schemas.microsoft.com/office/powerpoint/2010/main" val="3903983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8EC575-33C4-2D0A-9A0C-D9958AF18BEE}"/>
              </a:ext>
            </a:extLst>
          </p:cNvPr>
          <p:cNvSpPr>
            <a:spLocks noGrp="1"/>
          </p:cNvSpPr>
          <p:nvPr>
            <p:ph idx="1"/>
          </p:nvPr>
        </p:nvSpPr>
        <p:spPr>
          <a:xfrm>
            <a:off x="838200" y="599607"/>
            <a:ext cx="10515600" cy="5577356"/>
          </a:xfrm>
        </p:spPr>
        <p:txBody>
          <a:bodyPr>
            <a:normAutofit/>
          </a:bodyPr>
          <a:lstStyle/>
          <a:p>
            <a:pPr marL="0" indent="0" algn="l">
              <a:buNone/>
            </a:pPr>
            <a:r>
              <a:rPr lang="en-US" sz="3600" b="1" i="0" dirty="0">
                <a:solidFill>
                  <a:srgbClr val="111111"/>
                </a:solidFill>
                <a:effectLst/>
                <a:highlight>
                  <a:srgbClr val="F3F3F3"/>
                </a:highlight>
                <a:latin typeface="-apple-system"/>
              </a:rPr>
              <a:t>6.Repercussions for Non-Compliance</a:t>
            </a:r>
            <a:r>
              <a:rPr lang="en-US" sz="3600" b="0" i="0" dirty="0">
                <a:solidFill>
                  <a:srgbClr val="111111"/>
                </a:solidFill>
                <a:effectLst/>
                <a:highlight>
                  <a:srgbClr val="F3F3F3"/>
                </a:highlight>
                <a:latin typeface="-apple-system"/>
              </a:rPr>
              <a:t>: Outlines penalties or compensations if service levels are not met.</a:t>
            </a:r>
          </a:p>
          <a:p>
            <a:pPr marL="0" indent="0" algn="l">
              <a:buNone/>
            </a:pPr>
            <a:r>
              <a:rPr lang="en-US" sz="3600" b="1" i="0" dirty="0">
                <a:solidFill>
                  <a:srgbClr val="111111"/>
                </a:solidFill>
                <a:effectLst/>
                <a:highlight>
                  <a:srgbClr val="F3F3F3"/>
                </a:highlight>
                <a:latin typeface="-apple-system"/>
              </a:rPr>
              <a:t>7.Review Period</a:t>
            </a:r>
            <a:r>
              <a:rPr lang="en-US" sz="3600" b="0" i="0" dirty="0">
                <a:solidFill>
                  <a:srgbClr val="111111"/>
                </a:solidFill>
                <a:effectLst/>
                <a:highlight>
                  <a:srgbClr val="F3F3F3"/>
                </a:highlight>
                <a:latin typeface="-apple-system"/>
              </a:rPr>
              <a:t>: Establishes a schedule for reviewing and revising the SLA to ensure it remains relevant.</a:t>
            </a:r>
          </a:p>
          <a:p>
            <a:pPr algn="l"/>
            <a:r>
              <a:rPr lang="en-US" sz="3600" b="0" i="0" dirty="0">
                <a:solidFill>
                  <a:srgbClr val="111111"/>
                </a:solidFill>
                <a:effectLst/>
                <a:highlight>
                  <a:srgbClr val="F3F3F3"/>
                </a:highlight>
                <a:latin typeface="-apple-system"/>
              </a:rPr>
              <a:t>SLAs are crucial for setting expectations and providing a basis for measuring service effectiveness. They also help in building trust between providers and customers by ensuring transparency and accountability.</a:t>
            </a:r>
          </a:p>
          <a:p>
            <a:endParaRPr lang="en-TZ" sz="3600" dirty="0"/>
          </a:p>
        </p:txBody>
      </p:sp>
    </p:spTree>
    <p:extLst>
      <p:ext uri="{BB962C8B-B14F-4D97-AF65-F5344CB8AC3E}">
        <p14:creationId xmlns:p14="http://schemas.microsoft.com/office/powerpoint/2010/main" val="1999402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3DEAD-4F29-9805-08AF-88EC1558C97B}"/>
              </a:ext>
            </a:extLst>
          </p:cNvPr>
          <p:cNvSpPr>
            <a:spLocks noGrp="1"/>
          </p:cNvSpPr>
          <p:nvPr>
            <p:ph type="title"/>
          </p:nvPr>
        </p:nvSpPr>
        <p:spPr>
          <a:xfrm>
            <a:off x="838200" y="365126"/>
            <a:ext cx="10515600" cy="684186"/>
          </a:xfrm>
        </p:spPr>
        <p:txBody>
          <a:bodyPr>
            <a:normAutofit/>
          </a:bodyPr>
          <a:lstStyle/>
          <a:p>
            <a:r>
              <a:rPr lang="en-US" sz="4000" b="1" dirty="0">
                <a:solidFill>
                  <a:srgbClr val="000000"/>
                </a:solidFill>
                <a:effectLst/>
                <a:latin typeface="Times New Roman" panose="02020603050405020304" pitchFamily="18" charset="0"/>
                <a:ea typeface="Times New Roman" panose="02020603050405020304" pitchFamily="18" charset="0"/>
              </a:rPr>
              <a:t>Third-party management practices</a:t>
            </a:r>
            <a:endParaRPr lang="en-TZ" sz="4000" b="1" dirty="0"/>
          </a:p>
        </p:txBody>
      </p:sp>
      <p:sp>
        <p:nvSpPr>
          <p:cNvPr id="3" name="Content Placeholder 2">
            <a:extLst>
              <a:ext uri="{FF2B5EF4-FFF2-40B4-BE49-F238E27FC236}">
                <a16:creationId xmlns:a16="http://schemas.microsoft.com/office/drawing/2014/main" id="{8A50BBD8-4D11-E463-F93B-B98AEE5874CB}"/>
              </a:ext>
            </a:extLst>
          </p:cNvPr>
          <p:cNvSpPr>
            <a:spLocks noGrp="1"/>
          </p:cNvSpPr>
          <p:nvPr>
            <p:ph idx="1"/>
          </p:nvPr>
        </p:nvSpPr>
        <p:spPr>
          <a:xfrm>
            <a:off x="838200" y="1319134"/>
            <a:ext cx="10515600" cy="4857829"/>
          </a:xfrm>
        </p:spPr>
        <p:txBody>
          <a:bodyPr>
            <a:normAutofit/>
          </a:bodyPr>
          <a:lstStyle/>
          <a:p>
            <a:pPr algn="l"/>
            <a:r>
              <a:rPr lang="en-US" sz="3200" b="0" i="0" dirty="0">
                <a:solidFill>
                  <a:srgbClr val="111111"/>
                </a:solidFill>
                <a:effectLst/>
                <a:highlight>
                  <a:srgbClr val="F3F3F3"/>
                </a:highlight>
                <a:latin typeface="-apple-system"/>
              </a:rPr>
              <a:t>Third-party management practices are essential for overseeing the relationships and interactions with external organizations that provide services or products to your company. Here are some best practices:</a:t>
            </a:r>
          </a:p>
          <a:p>
            <a:pPr algn="l">
              <a:buFont typeface="+mj-lt"/>
              <a:buAutoNum type="arabicPeriod"/>
            </a:pPr>
            <a:r>
              <a:rPr lang="en-US" sz="3200" b="1" i="0" dirty="0">
                <a:solidFill>
                  <a:srgbClr val="111111"/>
                </a:solidFill>
                <a:effectLst/>
                <a:highlight>
                  <a:srgbClr val="F3F3F3"/>
                </a:highlight>
                <a:latin typeface="-apple-system"/>
              </a:rPr>
              <a:t>Due Diligence</a:t>
            </a:r>
            <a:r>
              <a:rPr lang="en-US" sz="3200" b="0" i="0" dirty="0">
                <a:solidFill>
                  <a:srgbClr val="111111"/>
                </a:solidFill>
                <a:effectLst/>
                <a:highlight>
                  <a:srgbClr val="F3F3F3"/>
                </a:highlight>
                <a:latin typeface="-apple-system"/>
              </a:rPr>
              <a:t>: Conduct thorough assessments of potential third parties to evaluate their capabilities, compliance, and risks.</a:t>
            </a:r>
          </a:p>
          <a:p>
            <a:pPr marL="0" indent="0">
              <a:buNone/>
            </a:pPr>
            <a:r>
              <a:rPr lang="en-US" sz="3200" b="1" i="0" dirty="0">
                <a:solidFill>
                  <a:srgbClr val="111111"/>
                </a:solidFill>
                <a:effectLst/>
                <a:highlight>
                  <a:srgbClr val="F3F3F3"/>
                </a:highlight>
                <a:latin typeface="-apple-system"/>
              </a:rPr>
              <a:t>2.Contracts and SLAs</a:t>
            </a:r>
            <a:r>
              <a:rPr lang="en-US" sz="3200" b="0" i="0" dirty="0">
                <a:solidFill>
                  <a:srgbClr val="111111"/>
                </a:solidFill>
                <a:effectLst/>
                <a:highlight>
                  <a:srgbClr val="F3F3F3"/>
                </a:highlight>
                <a:latin typeface="-apple-system"/>
              </a:rPr>
              <a:t>: Establish clear contracts and service level agreements that define expectations, deliverables, and performance metrics.</a:t>
            </a:r>
          </a:p>
          <a:p>
            <a:endParaRPr lang="en-TZ" sz="3200" dirty="0"/>
          </a:p>
        </p:txBody>
      </p:sp>
    </p:spTree>
    <p:extLst>
      <p:ext uri="{BB962C8B-B14F-4D97-AF65-F5344CB8AC3E}">
        <p14:creationId xmlns:p14="http://schemas.microsoft.com/office/powerpoint/2010/main" val="1405218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7ED674-3EC4-3600-EA86-63588C484E4A}"/>
              </a:ext>
            </a:extLst>
          </p:cNvPr>
          <p:cNvSpPr>
            <a:spLocks noGrp="1"/>
          </p:cNvSpPr>
          <p:nvPr>
            <p:ph idx="1"/>
          </p:nvPr>
        </p:nvSpPr>
        <p:spPr>
          <a:xfrm>
            <a:off x="838200" y="584616"/>
            <a:ext cx="10515600" cy="5592347"/>
          </a:xfrm>
        </p:spPr>
        <p:txBody>
          <a:bodyPr>
            <a:noAutofit/>
          </a:bodyPr>
          <a:lstStyle/>
          <a:p>
            <a:pPr marL="0" indent="0" algn="l">
              <a:buNone/>
            </a:pPr>
            <a:r>
              <a:rPr lang="en-US" sz="4000" b="1" i="0" dirty="0">
                <a:solidFill>
                  <a:srgbClr val="111111"/>
                </a:solidFill>
                <a:effectLst/>
                <a:highlight>
                  <a:srgbClr val="F3F3F3"/>
                </a:highlight>
                <a:latin typeface="-apple-system"/>
              </a:rPr>
              <a:t>3.Risk Management</a:t>
            </a:r>
            <a:r>
              <a:rPr lang="en-US" sz="4000" b="0" i="0" dirty="0">
                <a:solidFill>
                  <a:srgbClr val="111111"/>
                </a:solidFill>
                <a:effectLst/>
                <a:highlight>
                  <a:srgbClr val="F3F3F3"/>
                </a:highlight>
                <a:latin typeface="-apple-system"/>
              </a:rPr>
              <a:t>: Identify and manage risks associated with third-party engagements, including operational, reputational, and security risks.</a:t>
            </a:r>
          </a:p>
          <a:p>
            <a:pPr marL="0" indent="0" algn="l">
              <a:buNone/>
            </a:pPr>
            <a:r>
              <a:rPr lang="en-US" sz="4000" b="1" i="0" dirty="0">
                <a:solidFill>
                  <a:srgbClr val="111111"/>
                </a:solidFill>
                <a:effectLst/>
                <a:highlight>
                  <a:srgbClr val="F3F3F3"/>
                </a:highlight>
                <a:latin typeface="-apple-system"/>
              </a:rPr>
              <a:t>4.Performance Monitoring</a:t>
            </a:r>
            <a:r>
              <a:rPr lang="en-US" sz="4000" b="0" i="0" dirty="0">
                <a:solidFill>
                  <a:srgbClr val="111111"/>
                </a:solidFill>
                <a:effectLst/>
                <a:highlight>
                  <a:srgbClr val="F3F3F3"/>
                </a:highlight>
                <a:latin typeface="-apple-system"/>
              </a:rPr>
              <a:t>: Regularly monitor the performance of third parties to ensure they meet contractual obligations and SLAs.</a:t>
            </a:r>
          </a:p>
          <a:p>
            <a:pPr marL="0" indent="0" algn="l">
              <a:buNone/>
            </a:pPr>
            <a:r>
              <a:rPr lang="en-US" sz="4000" b="1" i="0" dirty="0">
                <a:solidFill>
                  <a:srgbClr val="111111"/>
                </a:solidFill>
                <a:effectLst/>
                <a:highlight>
                  <a:srgbClr val="F3F3F3"/>
                </a:highlight>
                <a:latin typeface="-apple-system"/>
              </a:rPr>
              <a:t>5.Communication</a:t>
            </a:r>
            <a:r>
              <a:rPr lang="en-US" sz="4000" b="0" i="0" dirty="0">
                <a:solidFill>
                  <a:srgbClr val="111111"/>
                </a:solidFill>
                <a:effectLst/>
                <a:highlight>
                  <a:srgbClr val="F3F3F3"/>
                </a:highlight>
                <a:latin typeface="-apple-system"/>
              </a:rPr>
              <a:t>: Maintain open lines of communication with third parties for effective collaboration and issue resolution.</a:t>
            </a:r>
          </a:p>
          <a:p>
            <a:endParaRPr lang="en-TZ" sz="4000" dirty="0"/>
          </a:p>
        </p:txBody>
      </p:sp>
    </p:spTree>
    <p:extLst>
      <p:ext uri="{BB962C8B-B14F-4D97-AF65-F5344CB8AC3E}">
        <p14:creationId xmlns:p14="http://schemas.microsoft.com/office/powerpoint/2010/main" val="1715757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9D4914-645F-CF5F-DA4A-93FA9609BA5D}"/>
              </a:ext>
            </a:extLst>
          </p:cNvPr>
          <p:cNvSpPr>
            <a:spLocks noGrp="1"/>
          </p:cNvSpPr>
          <p:nvPr>
            <p:ph idx="1"/>
          </p:nvPr>
        </p:nvSpPr>
        <p:spPr>
          <a:xfrm>
            <a:off x="838200" y="419725"/>
            <a:ext cx="10515600" cy="5921114"/>
          </a:xfrm>
        </p:spPr>
        <p:txBody>
          <a:bodyPr>
            <a:noAutofit/>
          </a:bodyPr>
          <a:lstStyle/>
          <a:p>
            <a:pPr marL="0" indent="0" algn="l">
              <a:buNone/>
            </a:pPr>
            <a:r>
              <a:rPr lang="en-US" sz="3600" b="1" i="0" dirty="0">
                <a:solidFill>
                  <a:srgbClr val="111111"/>
                </a:solidFill>
                <a:effectLst/>
                <a:highlight>
                  <a:srgbClr val="F3F3F3"/>
                </a:highlight>
                <a:latin typeface="-apple-system"/>
              </a:rPr>
              <a:t>6.Compliance Checks</a:t>
            </a:r>
            <a:r>
              <a:rPr lang="en-US" sz="3600" b="0" i="0" dirty="0">
                <a:solidFill>
                  <a:srgbClr val="111111"/>
                </a:solidFill>
                <a:effectLst/>
                <a:highlight>
                  <a:srgbClr val="F3F3F3"/>
                </a:highlight>
                <a:latin typeface="-apple-system"/>
              </a:rPr>
              <a:t>: Ensure that third parties comply with relevant regulations and industry standards.</a:t>
            </a:r>
          </a:p>
          <a:p>
            <a:pPr marL="0" indent="0" algn="l">
              <a:buNone/>
            </a:pPr>
            <a:r>
              <a:rPr lang="en-US" sz="3600" b="1" i="0" dirty="0">
                <a:solidFill>
                  <a:srgbClr val="111111"/>
                </a:solidFill>
                <a:effectLst/>
                <a:highlight>
                  <a:srgbClr val="F3F3F3"/>
                </a:highlight>
                <a:latin typeface="-apple-system"/>
              </a:rPr>
              <a:t>7.Contingency Planning</a:t>
            </a:r>
            <a:r>
              <a:rPr lang="en-US" sz="3600" b="0" i="0" dirty="0">
                <a:solidFill>
                  <a:srgbClr val="111111"/>
                </a:solidFill>
                <a:effectLst/>
                <a:highlight>
                  <a:srgbClr val="F3F3F3"/>
                </a:highlight>
                <a:latin typeface="-apple-system"/>
              </a:rPr>
              <a:t>: Develop contingency plans in case a third party fails to deliver as expected or encounters disruptions.</a:t>
            </a:r>
          </a:p>
          <a:p>
            <a:pPr marL="0" indent="0" algn="l">
              <a:buNone/>
            </a:pPr>
            <a:r>
              <a:rPr lang="en-US" sz="3600" b="1" i="0" dirty="0">
                <a:solidFill>
                  <a:srgbClr val="111111"/>
                </a:solidFill>
                <a:effectLst/>
                <a:highlight>
                  <a:srgbClr val="F3F3F3"/>
                </a:highlight>
                <a:latin typeface="-apple-system"/>
              </a:rPr>
              <a:t>8.Regular Reviews</a:t>
            </a:r>
            <a:r>
              <a:rPr lang="en-US" sz="3600" b="0" i="0" dirty="0">
                <a:solidFill>
                  <a:srgbClr val="111111"/>
                </a:solidFill>
                <a:effectLst/>
                <a:highlight>
                  <a:srgbClr val="F3F3F3"/>
                </a:highlight>
                <a:latin typeface="-apple-system"/>
              </a:rPr>
              <a:t>: Periodically review third-party relationships to assess their continued alignment with business objectives.</a:t>
            </a:r>
          </a:p>
          <a:p>
            <a:pPr algn="l"/>
            <a:r>
              <a:rPr lang="en-US" sz="3600" b="0" i="0" dirty="0">
                <a:solidFill>
                  <a:srgbClr val="111111"/>
                </a:solidFill>
                <a:effectLst/>
                <a:highlight>
                  <a:srgbClr val="F3F3F3"/>
                </a:highlight>
                <a:latin typeface="-apple-system"/>
              </a:rPr>
              <a:t>These practices help ensure that third-party engagements contribute positively to your business operations while mitigating potential risks.</a:t>
            </a:r>
          </a:p>
          <a:p>
            <a:endParaRPr lang="en-TZ" sz="3600" dirty="0"/>
          </a:p>
        </p:txBody>
      </p:sp>
    </p:spTree>
    <p:extLst>
      <p:ext uri="{BB962C8B-B14F-4D97-AF65-F5344CB8AC3E}">
        <p14:creationId xmlns:p14="http://schemas.microsoft.com/office/powerpoint/2010/main" val="2592478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5DE4BE-A81E-4B9A-77D2-0881A0E5C6E4}"/>
              </a:ext>
            </a:extLst>
          </p:cNvPr>
          <p:cNvSpPr>
            <a:spLocks noGrp="1"/>
          </p:cNvSpPr>
          <p:nvPr>
            <p:ph idx="1"/>
          </p:nvPr>
        </p:nvSpPr>
        <p:spPr>
          <a:xfrm>
            <a:off x="614597" y="389744"/>
            <a:ext cx="11047751" cy="5996066"/>
          </a:xfrm>
        </p:spPr>
        <p:txBody>
          <a:bodyPr>
            <a:noAutofit/>
          </a:bodyPr>
          <a:lstStyle/>
          <a:p>
            <a:pPr algn="l"/>
            <a:r>
              <a:rPr lang="en-US" sz="3600" b="0" i="0" dirty="0">
                <a:solidFill>
                  <a:srgbClr val="111111"/>
                </a:solidFill>
                <a:effectLst/>
                <a:highlight>
                  <a:srgbClr val="F3F3F3"/>
                </a:highlight>
                <a:latin typeface="-apple-system"/>
              </a:rPr>
              <a:t>Organizations can effectively monitor third-party performance by implementing the following steps:</a:t>
            </a:r>
          </a:p>
          <a:p>
            <a:pPr algn="l">
              <a:buFont typeface="+mj-lt"/>
              <a:buAutoNum type="arabicPeriod"/>
            </a:pPr>
            <a:r>
              <a:rPr lang="en-US" sz="3600" b="1" i="0" dirty="0">
                <a:solidFill>
                  <a:srgbClr val="111111"/>
                </a:solidFill>
                <a:effectLst/>
                <a:highlight>
                  <a:srgbClr val="F3F3F3"/>
                </a:highlight>
                <a:latin typeface="-apple-system"/>
              </a:rPr>
              <a:t>Establish Key Performance Indicators (KPIs)</a:t>
            </a:r>
            <a:r>
              <a:rPr lang="en-US" sz="3600" b="0" i="0" dirty="0">
                <a:solidFill>
                  <a:srgbClr val="111111"/>
                </a:solidFill>
                <a:effectLst/>
                <a:highlight>
                  <a:srgbClr val="F3F3F3"/>
                </a:highlight>
                <a:latin typeface="-apple-system"/>
              </a:rPr>
              <a:t>: Define clear and measurable KPIs that align with business objectives and contractual agreements.</a:t>
            </a:r>
          </a:p>
          <a:p>
            <a:pPr algn="l">
              <a:buFont typeface="+mj-lt"/>
              <a:buAutoNum type="arabicPeriod"/>
            </a:pPr>
            <a:r>
              <a:rPr lang="en-US" sz="3600" b="1" i="0" dirty="0">
                <a:solidFill>
                  <a:srgbClr val="111111"/>
                </a:solidFill>
                <a:effectLst/>
                <a:highlight>
                  <a:srgbClr val="F3F3F3"/>
                </a:highlight>
                <a:latin typeface="-apple-system"/>
              </a:rPr>
              <a:t>Regular Reporting</a:t>
            </a:r>
            <a:r>
              <a:rPr lang="en-US" sz="3600" b="0" i="0" dirty="0">
                <a:solidFill>
                  <a:srgbClr val="111111"/>
                </a:solidFill>
                <a:effectLst/>
                <a:highlight>
                  <a:srgbClr val="F3F3F3"/>
                </a:highlight>
                <a:latin typeface="-apple-system"/>
              </a:rPr>
              <a:t>: Require third parties to provide regular reports detailing their performance against the agreed-upon KPIs.</a:t>
            </a:r>
          </a:p>
          <a:p>
            <a:pPr algn="l">
              <a:buFont typeface="+mj-lt"/>
              <a:buAutoNum type="arabicPeriod"/>
            </a:pPr>
            <a:r>
              <a:rPr lang="en-US" sz="3600" b="1" i="0" dirty="0">
                <a:solidFill>
                  <a:srgbClr val="111111"/>
                </a:solidFill>
                <a:effectLst/>
                <a:highlight>
                  <a:srgbClr val="F3F3F3"/>
                </a:highlight>
                <a:latin typeface="-apple-system"/>
              </a:rPr>
              <a:t>Performance Dashboards</a:t>
            </a:r>
            <a:r>
              <a:rPr lang="en-US" sz="3600" b="0" i="0" dirty="0">
                <a:solidFill>
                  <a:srgbClr val="111111"/>
                </a:solidFill>
                <a:effectLst/>
                <a:highlight>
                  <a:srgbClr val="F3F3F3"/>
                </a:highlight>
                <a:latin typeface="-apple-system"/>
              </a:rPr>
              <a:t>: Use dashboards to visualize performance data and identify trends or issues in real-time.</a:t>
            </a:r>
          </a:p>
          <a:p>
            <a:endParaRPr lang="en-TZ" sz="3600" dirty="0"/>
          </a:p>
        </p:txBody>
      </p:sp>
    </p:spTree>
    <p:extLst>
      <p:ext uri="{BB962C8B-B14F-4D97-AF65-F5344CB8AC3E}">
        <p14:creationId xmlns:p14="http://schemas.microsoft.com/office/powerpoint/2010/main" val="1906373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749FCF-4293-5767-2734-BFCB0CF3FB49}"/>
              </a:ext>
            </a:extLst>
          </p:cNvPr>
          <p:cNvSpPr>
            <a:spLocks noGrp="1"/>
          </p:cNvSpPr>
          <p:nvPr>
            <p:ph idx="1"/>
          </p:nvPr>
        </p:nvSpPr>
        <p:spPr>
          <a:xfrm>
            <a:off x="838200" y="509666"/>
            <a:ext cx="10515600" cy="5667297"/>
          </a:xfrm>
        </p:spPr>
        <p:txBody>
          <a:bodyPr>
            <a:normAutofit/>
          </a:bodyPr>
          <a:lstStyle/>
          <a:p>
            <a:pPr marL="0" indent="0" algn="l">
              <a:buNone/>
            </a:pPr>
            <a:r>
              <a:rPr lang="en-US" sz="3600" b="1" i="0" dirty="0">
                <a:solidFill>
                  <a:srgbClr val="111111"/>
                </a:solidFill>
                <a:effectLst/>
                <a:highlight>
                  <a:srgbClr val="F3F3F3"/>
                </a:highlight>
                <a:latin typeface="-apple-system"/>
              </a:rPr>
              <a:t>4.Audits and Assessments</a:t>
            </a:r>
            <a:r>
              <a:rPr lang="en-US" sz="3600" b="0" i="0" dirty="0">
                <a:solidFill>
                  <a:srgbClr val="111111"/>
                </a:solidFill>
                <a:effectLst/>
                <a:highlight>
                  <a:srgbClr val="F3F3F3"/>
                </a:highlight>
                <a:latin typeface="-apple-system"/>
              </a:rPr>
              <a:t>: Conduct periodic audits and assessments to verify that third parties are complying with contractual obligations.</a:t>
            </a:r>
          </a:p>
          <a:p>
            <a:pPr marL="0" indent="0" algn="l">
              <a:buNone/>
            </a:pPr>
            <a:r>
              <a:rPr lang="en-US" sz="3600" b="1" i="0" dirty="0">
                <a:solidFill>
                  <a:srgbClr val="111111"/>
                </a:solidFill>
                <a:effectLst/>
                <a:highlight>
                  <a:srgbClr val="F3F3F3"/>
                </a:highlight>
                <a:latin typeface="-apple-system"/>
              </a:rPr>
              <a:t>5.Feedback Mechanisms</a:t>
            </a:r>
            <a:r>
              <a:rPr lang="en-US" sz="3600" b="0" i="0" dirty="0">
                <a:solidFill>
                  <a:srgbClr val="111111"/>
                </a:solidFill>
                <a:effectLst/>
                <a:highlight>
                  <a:srgbClr val="F3F3F3"/>
                </a:highlight>
                <a:latin typeface="-apple-system"/>
              </a:rPr>
              <a:t>: Implement mechanisms for receiving feedback from internal stakeholders and end-users about the third party’s performance.</a:t>
            </a:r>
          </a:p>
          <a:p>
            <a:pPr marL="0" indent="0" algn="l">
              <a:buNone/>
            </a:pPr>
            <a:r>
              <a:rPr lang="en-US" sz="3600" b="1" i="0" dirty="0">
                <a:solidFill>
                  <a:srgbClr val="111111"/>
                </a:solidFill>
                <a:effectLst/>
                <a:highlight>
                  <a:srgbClr val="F3F3F3"/>
                </a:highlight>
                <a:latin typeface="-apple-system"/>
              </a:rPr>
              <a:t>6.Service Reviews</a:t>
            </a:r>
            <a:r>
              <a:rPr lang="en-US" sz="3600" b="0" i="0" dirty="0">
                <a:solidFill>
                  <a:srgbClr val="111111"/>
                </a:solidFill>
                <a:effectLst/>
                <a:highlight>
                  <a:srgbClr val="F3F3F3"/>
                </a:highlight>
                <a:latin typeface="-apple-system"/>
              </a:rPr>
              <a:t>: Hold regular service review meetings with third parties to discuss performance, challenges, and opportunities for improvement.</a:t>
            </a:r>
          </a:p>
          <a:p>
            <a:endParaRPr lang="en-TZ" sz="3600" dirty="0"/>
          </a:p>
        </p:txBody>
      </p:sp>
    </p:spTree>
    <p:extLst>
      <p:ext uri="{BB962C8B-B14F-4D97-AF65-F5344CB8AC3E}">
        <p14:creationId xmlns:p14="http://schemas.microsoft.com/office/powerpoint/2010/main" val="532320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8C6DD9-1BB1-313E-CF84-439C69226499}"/>
              </a:ext>
            </a:extLst>
          </p:cNvPr>
          <p:cNvSpPr>
            <a:spLocks noGrp="1"/>
          </p:cNvSpPr>
          <p:nvPr>
            <p:ph idx="1"/>
          </p:nvPr>
        </p:nvSpPr>
        <p:spPr>
          <a:xfrm>
            <a:off x="838200" y="524656"/>
            <a:ext cx="10515600" cy="5652307"/>
          </a:xfrm>
        </p:spPr>
        <p:txBody>
          <a:bodyPr>
            <a:normAutofit/>
          </a:bodyPr>
          <a:lstStyle/>
          <a:p>
            <a:pPr marL="0" indent="0" algn="l">
              <a:buNone/>
            </a:pPr>
            <a:r>
              <a:rPr lang="en-US" sz="3600" b="1" dirty="0">
                <a:solidFill>
                  <a:srgbClr val="111111"/>
                </a:solidFill>
                <a:highlight>
                  <a:srgbClr val="F3F3F3"/>
                </a:highlight>
                <a:latin typeface="-apple-system"/>
              </a:rPr>
              <a:t>7</a:t>
            </a:r>
            <a:r>
              <a:rPr lang="en-US" sz="3600" b="1" i="0" dirty="0">
                <a:solidFill>
                  <a:srgbClr val="111111"/>
                </a:solidFill>
                <a:effectLst/>
                <a:highlight>
                  <a:srgbClr val="F3F3F3"/>
                </a:highlight>
                <a:latin typeface="-apple-system"/>
              </a:rPr>
              <a:t>.Escalation Procedures</a:t>
            </a:r>
            <a:r>
              <a:rPr lang="en-US" sz="3600" b="0" i="0" dirty="0">
                <a:solidFill>
                  <a:srgbClr val="111111"/>
                </a:solidFill>
                <a:effectLst/>
                <a:highlight>
                  <a:srgbClr val="F3F3F3"/>
                </a:highlight>
                <a:latin typeface="-apple-system"/>
              </a:rPr>
              <a:t>: Have clear escalation procedures in place for addressing any performance issues that arise.</a:t>
            </a:r>
          </a:p>
          <a:p>
            <a:pPr marL="0" indent="0" algn="l">
              <a:buNone/>
            </a:pPr>
            <a:r>
              <a:rPr lang="en-US" sz="3600" b="1" i="0" dirty="0">
                <a:solidFill>
                  <a:srgbClr val="111111"/>
                </a:solidFill>
                <a:effectLst/>
                <a:highlight>
                  <a:srgbClr val="F3F3F3"/>
                </a:highlight>
                <a:latin typeface="-apple-system"/>
              </a:rPr>
              <a:t>8.Continuous Improvement</a:t>
            </a:r>
            <a:r>
              <a:rPr lang="en-US" sz="3600" b="0" i="0" dirty="0">
                <a:solidFill>
                  <a:srgbClr val="111111"/>
                </a:solidFill>
                <a:effectLst/>
                <a:highlight>
                  <a:srgbClr val="F3F3F3"/>
                </a:highlight>
                <a:latin typeface="-apple-system"/>
              </a:rPr>
              <a:t>: Use the insights gained from monitoring to work with third parties on continuous improvement initiatives.</a:t>
            </a:r>
          </a:p>
          <a:p>
            <a:pPr algn="l"/>
            <a:r>
              <a:rPr lang="en-US" sz="3600" b="0" i="0" dirty="0">
                <a:solidFill>
                  <a:srgbClr val="111111"/>
                </a:solidFill>
                <a:effectLst/>
                <a:highlight>
                  <a:srgbClr val="F3F3F3"/>
                </a:highlight>
                <a:latin typeface="-apple-system"/>
              </a:rPr>
              <a:t>Effective monitoring not only ensures that third parties are meeting their obligations but also fosters a collaborative relationship focused on mutual success.</a:t>
            </a:r>
          </a:p>
          <a:p>
            <a:endParaRPr lang="en-TZ" sz="3600" dirty="0"/>
          </a:p>
        </p:txBody>
      </p:sp>
    </p:spTree>
    <p:extLst>
      <p:ext uri="{BB962C8B-B14F-4D97-AF65-F5344CB8AC3E}">
        <p14:creationId xmlns:p14="http://schemas.microsoft.com/office/powerpoint/2010/main" val="3974551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F5A684-9A51-3DF5-CCAC-86C81D9AA41C}"/>
              </a:ext>
            </a:extLst>
          </p:cNvPr>
          <p:cNvSpPr>
            <a:spLocks noGrp="1"/>
          </p:cNvSpPr>
          <p:nvPr>
            <p:ph idx="1"/>
          </p:nvPr>
        </p:nvSpPr>
        <p:spPr>
          <a:xfrm>
            <a:off x="838200" y="614597"/>
            <a:ext cx="10515600" cy="5562366"/>
          </a:xfrm>
        </p:spPr>
        <p:txBody>
          <a:bodyPr>
            <a:normAutofit/>
          </a:bodyPr>
          <a:lstStyle/>
          <a:p>
            <a:pPr algn="l"/>
            <a:r>
              <a:rPr lang="en-US" sz="3600" b="0" i="0" dirty="0">
                <a:solidFill>
                  <a:srgbClr val="111111"/>
                </a:solidFill>
                <a:effectLst/>
                <a:highlight>
                  <a:srgbClr val="F3F3F3"/>
                </a:highlight>
                <a:latin typeface="-apple-system"/>
              </a:rPr>
              <a:t>Managing third-party relationships can present several challenges, including:</a:t>
            </a:r>
          </a:p>
          <a:p>
            <a:pPr algn="l">
              <a:buFont typeface="+mj-lt"/>
              <a:buAutoNum type="arabicPeriod"/>
            </a:pPr>
            <a:r>
              <a:rPr lang="en-US" sz="3600" b="1" i="0" dirty="0">
                <a:solidFill>
                  <a:srgbClr val="111111"/>
                </a:solidFill>
                <a:effectLst/>
                <a:highlight>
                  <a:srgbClr val="F3F3F3"/>
                </a:highlight>
                <a:latin typeface="-apple-system"/>
              </a:rPr>
              <a:t>Misaligned Objectives</a:t>
            </a:r>
            <a:r>
              <a:rPr lang="en-US" sz="3600" b="0" i="0" dirty="0">
                <a:solidFill>
                  <a:srgbClr val="111111"/>
                </a:solidFill>
                <a:effectLst/>
                <a:highlight>
                  <a:srgbClr val="F3F3F3"/>
                </a:highlight>
                <a:latin typeface="-apple-system"/>
              </a:rPr>
              <a:t>: Differences in priorities between your organization and the third party can lead to conflicts.</a:t>
            </a:r>
          </a:p>
          <a:p>
            <a:pPr algn="l">
              <a:buFont typeface="+mj-lt"/>
              <a:buAutoNum type="arabicPeriod"/>
            </a:pPr>
            <a:r>
              <a:rPr lang="en-US" sz="3600" b="1" i="0" dirty="0">
                <a:solidFill>
                  <a:srgbClr val="111111"/>
                </a:solidFill>
                <a:effectLst/>
                <a:highlight>
                  <a:srgbClr val="F3F3F3"/>
                </a:highlight>
                <a:latin typeface="-apple-system"/>
              </a:rPr>
              <a:t>Communication Gaps</a:t>
            </a:r>
            <a:r>
              <a:rPr lang="en-US" sz="3600" b="0" i="0" dirty="0">
                <a:solidFill>
                  <a:srgbClr val="111111"/>
                </a:solidFill>
                <a:effectLst/>
                <a:highlight>
                  <a:srgbClr val="F3F3F3"/>
                </a:highlight>
                <a:latin typeface="-apple-system"/>
              </a:rPr>
              <a:t>: Ineffective communication can result in misunderstandings and unmet expectations.</a:t>
            </a:r>
          </a:p>
          <a:p>
            <a:pPr algn="l">
              <a:buFont typeface="+mj-lt"/>
              <a:buAutoNum type="arabicPeriod"/>
            </a:pPr>
            <a:r>
              <a:rPr lang="en-US" sz="3600" b="1" i="0" dirty="0">
                <a:solidFill>
                  <a:srgbClr val="111111"/>
                </a:solidFill>
                <a:effectLst/>
                <a:highlight>
                  <a:srgbClr val="F3F3F3"/>
                </a:highlight>
                <a:latin typeface="-apple-system"/>
              </a:rPr>
              <a:t>Quality Control</a:t>
            </a:r>
            <a:r>
              <a:rPr lang="en-US" sz="3600" b="0" i="0" dirty="0">
                <a:solidFill>
                  <a:srgbClr val="111111"/>
                </a:solidFill>
                <a:effectLst/>
                <a:highlight>
                  <a:srgbClr val="F3F3F3"/>
                </a:highlight>
                <a:latin typeface="-apple-system"/>
              </a:rPr>
              <a:t>: Ensuring the third party maintains high-quality standards consistently can be difficult.</a:t>
            </a:r>
          </a:p>
          <a:p>
            <a:endParaRPr lang="en-TZ" sz="3600" dirty="0"/>
          </a:p>
        </p:txBody>
      </p:sp>
    </p:spTree>
    <p:extLst>
      <p:ext uri="{BB962C8B-B14F-4D97-AF65-F5344CB8AC3E}">
        <p14:creationId xmlns:p14="http://schemas.microsoft.com/office/powerpoint/2010/main" val="3610318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90F4DD-CC90-C751-9DD6-897327452BC3}"/>
              </a:ext>
            </a:extLst>
          </p:cNvPr>
          <p:cNvSpPr>
            <a:spLocks noGrp="1"/>
          </p:cNvSpPr>
          <p:nvPr>
            <p:ph idx="1"/>
          </p:nvPr>
        </p:nvSpPr>
        <p:spPr>
          <a:xfrm>
            <a:off x="838200" y="524656"/>
            <a:ext cx="10515600" cy="5652307"/>
          </a:xfrm>
        </p:spPr>
        <p:txBody>
          <a:bodyPr>
            <a:normAutofit/>
          </a:bodyPr>
          <a:lstStyle/>
          <a:p>
            <a:pPr marL="0" indent="0" algn="l">
              <a:buNone/>
            </a:pPr>
            <a:r>
              <a:rPr lang="en-US" sz="4000" b="1" i="0" dirty="0">
                <a:solidFill>
                  <a:srgbClr val="111111"/>
                </a:solidFill>
                <a:effectLst/>
                <a:highlight>
                  <a:srgbClr val="F3F3F3"/>
                </a:highlight>
                <a:latin typeface="-apple-system"/>
              </a:rPr>
              <a:t>4.Compliance Issues</a:t>
            </a:r>
            <a:r>
              <a:rPr lang="en-US" sz="4000" b="0" i="0" dirty="0">
                <a:solidFill>
                  <a:srgbClr val="111111"/>
                </a:solidFill>
                <a:effectLst/>
                <a:highlight>
                  <a:srgbClr val="F3F3F3"/>
                </a:highlight>
                <a:latin typeface="-apple-system"/>
              </a:rPr>
              <a:t>: Third parties may not always adhere to the necessary regulatory and legal requirements.</a:t>
            </a:r>
          </a:p>
          <a:p>
            <a:pPr marL="0" indent="0" algn="l">
              <a:buNone/>
            </a:pPr>
            <a:r>
              <a:rPr lang="en-US" sz="4000" b="1" i="0" dirty="0">
                <a:solidFill>
                  <a:srgbClr val="111111"/>
                </a:solidFill>
                <a:effectLst/>
                <a:highlight>
                  <a:srgbClr val="F3F3F3"/>
                </a:highlight>
                <a:latin typeface="-apple-system"/>
              </a:rPr>
              <a:t>5.Dependency Risks</a:t>
            </a:r>
            <a:r>
              <a:rPr lang="en-US" sz="4000" b="0" i="0" dirty="0">
                <a:solidFill>
                  <a:srgbClr val="111111"/>
                </a:solidFill>
                <a:effectLst/>
                <a:highlight>
                  <a:srgbClr val="F3F3F3"/>
                </a:highlight>
                <a:latin typeface="-apple-system"/>
              </a:rPr>
              <a:t>: Over-reliance on a third party can create risks if they fail to deliver or go out of business.</a:t>
            </a:r>
          </a:p>
          <a:p>
            <a:pPr marL="0" indent="0" algn="l">
              <a:buNone/>
            </a:pPr>
            <a:r>
              <a:rPr lang="en-US" sz="4000" b="1" i="0" dirty="0">
                <a:solidFill>
                  <a:srgbClr val="111111"/>
                </a:solidFill>
                <a:effectLst/>
                <a:highlight>
                  <a:srgbClr val="F3F3F3"/>
                </a:highlight>
                <a:latin typeface="-apple-system"/>
              </a:rPr>
              <a:t>6.Security Concerns</a:t>
            </a:r>
            <a:r>
              <a:rPr lang="en-US" sz="4000" b="0" i="0" dirty="0">
                <a:solidFill>
                  <a:srgbClr val="111111"/>
                </a:solidFill>
                <a:effectLst/>
                <a:highlight>
                  <a:srgbClr val="F3F3F3"/>
                </a:highlight>
                <a:latin typeface="-apple-system"/>
              </a:rPr>
              <a:t>: Protecting sensitive data and ensuring cybersecurity when working with third parties is crucial.</a:t>
            </a:r>
          </a:p>
          <a:p>
            <a:endParaRPr lang="en-TZ" sz="4000" dirty="0"/>
          </a:p>
        </p:txBody>
      </p:sp>
    </p:spTree>
    <p:extLst>
      <p:ext uri="{BB962C8B-B14F-4D97-AF65-F5344CB8AC3E}">
        <p14:creationId xmlns:p14="http://schemas.microsoft.com/office/powerpoint/2010/main" val="926060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E56981-AC89-9C73-8B0B-D3C90D1D0CCA}"/>
              </a:ext>
            </a:extLst>
          </p:cNvPr>
          <p:cNvSpPr>
            <a:spLocks noGrp="1"/>
          </p:cNvSpPr>
          <p:nvPr>
            <p:ph idx="1"/>
          </p:nvPr>
        </p:nvSpPr>
        <p:spPr>
          <a:xfrm>
            <a:off x="838200" y="509666"/>
            <a:ext cx="10515600" cy="5667297"/>
          </a:xfrm>
        </p:spPr>
        <p:txBody>
          <a:bodyPr>
            <a:noAutofit/>
          </a:bodyPr>
          <a:lstStyle/>
          <a:p>
            <a:pPr marL="0" indent="0" algn="l">
              <a:buNone/>
            </a:pPr>
            <a:r>
              <a:rPr lang="en-US" sz="4000" b="1" i="0" dirty="0">
                <a:solidFill>
                  <a:srgbClr val="111111"/>
                </a:solidFill>
                <a:effectLst/>
                <a:highlight>
                  <a:srgbClr val="F3F3F3"/>
                </a:highlight>
                <a:latin typeface="-apple-system"/>
              </a:rPr>
              <a:t>7.Performance Monitoring</a:t>
            </a:r>
            <a:r>
              <a:rPr lang="en-US" sz="4000" b="0" i="0" dirty="0">
                <a:solidFill>
                  <a:srgbClr val="111111"/>
                </a:solidFill>
                <a:effectLst/>
                <a:highlight>
                  <a:srgbClr val="F3F3F3"/>
                </a:highlight>
                <a:latin typeface="-apple-system"/>
              </a:rPr>
              <a:t>: It can be challenging to accurately measure and manage the performance of third parties.</a:t>
            </a:r>
          </a:p>
          <a:p>
            <a:pPr marL="0" indent="0" algn="l">
              <a:buNone/>
            </a:pPr>
            <a:r>
              <a:rPr lang="en-US" sz="4000" b="1" i="0" dirty="0">
                <a:solidFill>
                  <a:srgbClr val="111111"/>
                </a:solidFill>
                <a:effectLst/>
                <a:highlight>
                  <a:srgbClr val="F3F3F3"/>
                </a:highlight>
                <a:latin typeface="-apple-system"/>
              </a:rPr>
              <a:t>8.Cultural Differences</a:t>
            </a:r>
            <a:r>
              <a:rPr lang="en-US" sz="4000" b="0" i="0" dirty="0">
                <a:solidFill>
                  <a:srgbClr val="111111"/>
                </a:solidFill>
                <a:effectLst/>
                <a:highlight>
                  <a:srgbClr val="F3F3F3"/>
                </a:highlight>
                <a:latin typeface="-apple-system"/>
              </a:rPr>
              <a:t>: Divergent corporate cultures can affect the working relationship and service delivery.</a:t>
            </a:r>
          </a:p>
          <a:p>
            <a:pPr algn="l"/>
            <a:r>
              <a:rPr lang="en-US" sz="4000" b="0" i="0" dirty="0">
                <a:solidFill>
                  <a:srgbClr val="111111"/>
                </a:solidFill>
                <a:effectLst/>
                <a:highlight>
                  <a:srgbClr val="F3F3F3"/>
                </a:highlight>
                <a:latin typeface="-apple-system"/>
              </a:rPr>
              <a:t>Addressing these challenges requires careful planning, clear communication, and robust management practices to ensure successful third-party engagements.</a:t>
            </a:r>
          </a:p>
          <a:p>
            <a:endParaRPr lang="en-TZ" sz="4000" dirty="0"/>
          </a:p>
        </p:txBody>
      </p:sp>
    </p:spTree>
    <p:extLst>
      <p:ext uri="{BB962C8B-B14F-4D97-AF65-F5344CB8AC3E}">
        <p14:creationId xmlns:p14="http://schemas.microsoft.com/office/powerpoint/2010/main" val="1267700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7CDB3-5C5B-9B10-CCF6-680B064214A0}"/>
              </a:ext>
            </a:extLst>
          </p:cNvPr>
          <p:cNvSpPr>
            <a:spLocks noGrp="1"/>
          </p:cNvSpPr>
          <p:nvPr>
            <p:ph type="title"/>
          </p:nvPr>
        </p:nvSpPr>
        <p:spPr>
          <a:xfrm>
            <a:off x="838200" y="365126"/>
            <a:ext cx="10515600" cy="684186"/>
          </a:xfrm>
        </p:spPr>
        <p:txBody>
          <a:bodyPr>
            <a:normAutofit/>
          </a:bodyPr>
          <a:lstStyle/>
          <a:p>
            <a:r>
              <a:rPr lang="en-US" sz="4000" b="1" u="none" strike="noStrike" dirty="0">
                <a:solidFill>
                  <a:srgbClr val="000000"/>
                </a:solidFill>
                <a:effectLst/>
                <a:latin typeface="Times New Roman" panose="02020603050405020304" pitchFamily="18" charset="0"/>
                <a:ea typeface="Times New Roman" panose="02020603050405020304" pitchFamily="18" charset="0"/>
              </a:rPr>
              <a:t>End-user procedures and operations</a:t>
            </a:r>
            <a:endParaRPr lang="en-TZ" sz="4000" b="1" dirty="0"/>
          </a:p>
        </p:txBody>
      </p:sp>
      <p:sp>
        <p:nvSpPr>
          <p:cNvPr id="3" name="Content Placeholder 2">
            <a:extLst>
              <a:ext uri="{FF2B5EF4-FFF2-40B4-BE49-F238E27FC236}">
                <a16:creationId xmlns:a16="http://schemas.microsoft.com/office/drawing/2014/main" id="{EDA45321-32EB-4061-3B54-69CDD40A163F}"/>
              </a:ext>
            </a:extLst>
          </p:cNvPr>
          <p:cNvSpPr>
            <a:spLocks noGrp="1"/>
          </p:cNvSpPr>
          <p:nvPr>
            <p:ph idx="1"/>
          </p:nvPr>
        </p:nvSpPr>
        <p:spPr>
          <a:xfrm>
            <a:off x="584616" y="1214203"/>
            <a:ext cx="11092722" cy="5126636"/>
          </a:xfrm>
        </p:spPr>
        <p:txBody>
          <a:bodyPr>
            <a:noAutofit/>
          </a:bodyPr>
          <a:lstStyle/>
          <a:p>
            <a:pPr algn="l"/>
            <a:r>
              <a:rPr lang="en-US" sz="3300" b="0" i="0" dirty="0">
                <a:solidFill>
                  <a:srgbClr val="111111"/>
                </a:solidFill>
                <a:effectLst/>
                <a:highlight>
                  <a:srgbClr val="F3F3F3"/>
                </a:highlight>
                <a:latin typeface="-apple-system"/>
              </a:rPr>
              <a:t>End-user procedures and operations refer to the processes and guidelines that dictate how the final users of a system or service should interact with it. Here’s an overview of their significance:</a:t>
            </a:r>
          </a:p>
          <a:p>
            <a:pPr algn="l">
              <a:buFont typeface="+mj-lt"/>
              <a:buAutoNum type="arabicPeriod"/>
            </a:pPr>
            <a:r>
              <a:rPr lang="en-US" sz="3300" b="1" i="0" dirty="0">
                <a:solidFill>
                  <a:srgbClr val="111111"/>
                </a:solidFill>
                <a:effectLst/>
                <a:highlight>
                  <a:srgbClr val="F3F3F3"/>
                </a:highlight>
                <a:latin typeface="-apple-system"/>
              </a:rPr>
              <a:t>Standardization</a:t>
            </a:r>
            <a:r>
              <a:rPr lang="en-US" sz="3300" b="0" i="0" dirty="0">
                <a:solidFill>
                  <a:srgbClr val="111111"/>
                </a:solidFill>
                <a:effectLst/>
                <a:highlight>
                  <a:srgbClr val="F3F3F3"/>
                </a:highlight>
                <a:latin typeface="-apple-system"/>
              </a:rPr>
              <a:t>: Establishing consistent ways for end-users to perform tasks, which helps in maintaining quality and efficiency.</a:t>
            </a:r>
          </a:p>
          <a:p>
            <a:pPr algn="l">
              <a:buFont typeface="+mj-lt"/>
              <a:buAutoNum type="arabicPeriod"/>
            </a:pPr>
            <a:r>
              <a:rPr lang="en-US" sz="3300" b="1" i="0" dirty="0">
                <a:solidFill>
                  <a:srgbClr val="111111"/>
                </a:solidFill>
                <a:effectLst/>
                <a:highlight>
                  <a:srgbClr val="F3F3F3"/>
                </a:highlight>
                <a:latin typeface="-apple-system"/>
              </a:rPr>
              <a:t>Training</a:t>
            </a:r>
            <a:r>
              <a:rPr lang="en-US" sz="3300" b="0" i="0" dirty="0">
                <a:solidFill>
                  <a:srgbClr val="111111"/>
                </a:solidFill>
                <a:effectLst/>
                <a:highlight>
                  <a:srgbClr val="F3F3F3"/>
                </a:highlight>
                <a:latin typeface="-apple-system"/>
              </a:rPr>
              <a:t>: Providing clear instructions and training materials to ensure users are competent in using the system or service.</a:t>
            </a:r>
          </a:p>
          <a:p>
            <a:pPr algn="l">
              <a:buFont typeface="+mj-lt"/>
              <a:buAutoNum type="arabicPeriod"/>
            </a:pPr>
            <a:r>
              <a:rPr lang="en-US" sz="3300" b="1" i="0" dirty="0">
                <a:solidFill>
                  <a:srgbClr val="111111"/>
                </a:solidFill>
                <a:effectLst/>
                <a:highlight>
                  <a:srgbClr val="F3F3F3"/>
                </a:highlight>
                <a:latin typeface="-apple-system"/>
              </a:rPr>
              <a:t>Support</a:t>
            </a:r>
            <a:r>
              <a:rPr lang="en-US" sz="3300" b="0" i="0" dirty="0">
                <a:solidFill>
                  <a:srgbClr val="111111"/>
                </a:solidFill>
                <a:effectLst/>
                <a:highlight>
                  <a:srgbClr val="F3F3F3"/>
                </a:highlight>
                <a:latin typeface="-apple-system"/>
              </a:rPr>
              <a:t>: Setting up helpdesks or support channels to assist users with any issues they encounter.</a:t>
            </a:r>
          </a:p>
          <a:p>
            <a:endParaRPr lang="en-TZ" sz="3300" dirty="0"/>
          </a:p>
        </p:txBody>
      </p:sp>
    </p:spTree>
    <p:extLst>
      <p:ext uri="{BB962C8B-B14F-4D97-AF65-F5344CB8AC3E}">
        <p14:creationId xmlns:p14="http://schemas.microsoft.com/office/powerpoint/2010/main" val="4629953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0D5D13-F85B-28F0-3ECA-D00FD11DC62D}"/>
              </a:ext>
            </a:extLst>
          </p:cNvPr>
          <p:cNvSpPr>
            <a:spLocks noGrp="1"/>
          </p:cNvSpPr>
          <p:nvPr>
            <p:ph idx="1"/>
          </p:nvPr>
        </p:nvSpPr>
        <p:spPr>
          <a:xfrm>
            <a:off x="419725" y="374754"/>
            <a:ext cx="11302583" cy="6071016"/>
          </a:xfrm>
        </p:spPr>
        <p:txBody>
          <a:bodyPr>
            <a:noAutofit/>
          </a:bodyPr>
          <a:lstStyle/>
          <a:p>
            <a:pPr marL="0" indent="0" algn="l">
              <a:buNone/>
            </a:pPr>
            <a:r>
              <a:rPr lang="en-US" sz="3200" b="1" i="0" dirty="0">
                <a:solidFill>
                  <a:srgbClr val="111111"/>
                </a:solidFill>
                <a:effectLst/>
                <a:highlight>
                  <a:srgbClr val="F3F3F3"/>
                </a:highlight>
                <a:latin typeface="-apple-system"/>
              </a:rPr>
              <a:t>4.Feedback</a:t>
            </a:r>
            <a:r>
              <a:rPr lang="en-US" sz="3200" b="0" i="0" dirty="0">
                <a:solidFill>
                  <a:srgbClr val="111111"/>
                </a:solidFill>
                <a:effectLst/>
                <a:highlight>
                  <a:srgbClr val="F3F3F3"/>
                </a:highlight>
                <a:latin typeface="-apple-system"/>
              </a:rPr>
              <a:t>: Implementing mechanisms for users to provide feedback on the system, which can be used for continuous improvement.</a:t>
            </a:r>
          </a:p>
          <a:p>
            <a:pPr marL="0" indent="0" algn="l">
              <a:buNone/>
            </a:pPr>
            <a:r>
              <a:rPr lang="en-US" sz="3200" b="1" i="0" dirty="0">
                <a:solidFill>
                  <a:srgbClr val="111111"/>
                </a:solidFill>
                <a:effectLst/>
                <a:highlight>
                  <a:srgbClr val="F3F3F3"/>
                </a:highlight>
                <a:latin typeface="-apple-system"/>
              </a:rPr>
              <a:t>5.Security</a:t>
            </a:r>
            <a:r>
              <a:rPr lang="en-US" sz="3200" b="0" i="0" dirty="0">
                <a:solidFill>
                  <a:srgbClr val="111111"/>
                </a:solidFill>
                <a:effectLst/>
                <a:highlight>
                  <a:srgbClr val="F3F3F3"/>
                </a:highlight>
                <a:latin typeface="-apple-system"/>
              </a:rPr>
              <a:t>: Ensuring users follow security protocols to protect sensitive data and systems from unauthorized access.</a:t>
            </a:r>
          </a:p>
          <a:p>
            <a:pPr marL="0" indent="0" algn="l">
              <a:buNone/>
            </a:pPr>
            <a:r>
              <a:rPr lang="en-US" sz="3200" b="1" i="0" dirty="0">
                <a:solidFill>
                  <a:srgbClr val="111111"/>
                </a:solidFill>
                <a:effectLst/>
                <a:highlight>
                  <a:srgbClr val="F3F3F3"/>
                </a:highlight>
                <a:latin typeface="-apple-system"/>
              </a:rPr>
              <a:t>6.Compliance</a:t>
            </a:r>
            <a:r>
              <a:rPr lang="en-US" sz="3200" b="0" i="0" dirty="0">
                <a:solidFill>
                  <a:srgbClr val="111111"/>
                </a:solidFill>
                <a:effectLst/>
                <a:highlight>
                  <a:srgbClr val="F3F3F3"/>
                </a:highlight>
                <a:latin typeface="-apple-system"/>
              </a:rPr>
              <a:t>: Making sure that user operations comply with relevant policies, standards, and regulations.</a:t>
            </a:r>
          </a:p>
          <a:p>
            <a:pPr marL="0" indent="0" algn="l">
              <a:buNone/>
            </a:pPr>
            <a:r>
              <a:rPr lang="en-US" sz="3200" b="1" i="0" dirty="0">
                <a:solidFill>
                  <a:srgbClr val="111111"/>
                </a:solidFill>
                <a:effectLst/>
                <a:highlight>
                  <a:srgbClr val="F3F3F3"/>
                </a:highlight>
                <a:latin typeface="-apple-system"/>
              </a:rPr>
              <a:t>7.Performance Monitoring</a:t>
            </a:r>
            <a:r>
              <a:rPr lang="en-US" sz="3200" b="0" i="0" dirty="0">
                <a:solidFill>
                  <a:srgbClr val="111111"/>
                </a:solidFill>
                <a:effectLst/>
                <a:highlight>
                  <a:srgbClr val="F3F3F3"/>
                </a:highlight>
                <a:latin typeface="-apple-system"/>
              </a:rPr>
              <a:t>: Tracking how well users are able to use the system and identifying areas where improvements can be made.</a:t>
            </a:r>
          </a:p>
          <a:p>
            <a:pPr algn="l"/>
            <a:r>
              <a:rPr lang="en-US" sz="3200" b="0" i="0" dirty="0">
                <a:solidFill>
                  <a:srgbClr val="111111"/>
                </a:solidFill>
                <a:effectLst/>
                <a:highlight>
                  <a:srgbClr val="F3F3F3"/>
                </a:highlight>
                <a:latin typeface="-apple-system"/>
              </a:rPr>
              <a:t>Effective end-user procedures and operations are crucial for the smooth functioning of IT systems and services, as they directly impact productivity and user satisfaction.</a:t>
            </a:r>
          </a:p>
          <a:p>
            <a:endParaRPr lang="en-TZ" sz="3200" dirty="0"/>
          </a:p>
        </p:txBody>
      </p:sp>
    </p:spTree>
    <p:extLst>
      <p:ext uri="{BB962C8B-B14F-4D97-AF65-F5344CB8AC3E}">
        <p14:creationId xmlns:p14="http://schemas.microsoft.com/office/powerpoint/2010/main" val="58021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62611A-1F8D-314A-89C5-915DC45AE220}"/>
              </a:ext>
            </a:extLst>
          </p:cNvPr>
          <p:cNvSpPr>
            <a:spLocks noGrp="1"/>
          </p:cNvSpPr>
          <p:nvPr>
            <p:ph idx="1"/>
          </p:nvPr>
        </p:nvSpPr>
        <p:spPr>
          <a:xfrm>
            <a:off x="449705" y="374754"/>
            <a:ext cx="11272603" cy="5876144"/>
          </a:xfrm>
        </p:spPr>
        <p:txBody>
          <a:bodyPr>
            <a:noAutofit/>
          </a:bodyPr>
          <a:lstStyle/>
          <a:p>
            <a:pPr algn="l"/>
            <a:r>
              <a:rPr lang="en-US" sz="3600" b="0" i="0" dirty="0">
                <a:solidFill>
                  <a:srgbClr val="111111"/>
                </a:solidFill>
                <a:effectLst/>
                <a:highlight>
                  <a:srgbClr val="F3F3F3"/>
                </a:highlight>
                <a:latin typeface="-apple-system"/>
              </a:rPr>
              <a:t>Organizations can improve end-user training by implementing the following strategies:</a:t>
            </a:r>
          </a:p>
          <a:p>
            <a:pPr algn="l">
              <a:buFont typeface="+mj-lt"/>
              <a:buAutoNum type="arabicPeriod"/>
            </a:pPr>
            <a:r>
              <a:rPr lang="en-US" sz="3600" b="1" i="0" dirty="0">
                <a:solidFill>
                  <a:srgbClr val="111111"/>
                </a:solidFill>
                <a:effectLst/>
                <a:highlight>
                  <a:srgbClr val="F3F3F3"/>
                </a:highlight>
                <a:latin typeface="-apple-system"/>
              </a:rPr>
              <a:t>Needs Assessment</a:t>
            </a:r>
            <a:r>
              <a:rPr lang="en-US" sz="3600" b="0" i="0" dirty="0">
                <a:solidFill>
                  <a:srgbClr val="111111"/>
                </a:solidFill>
                <a:effectLst/>
                <a:highlight>
                  <a:srgbClr val="F3F3F3"/>
                </a:highlight>
                <a:latin typeface="-apple-system"/>
              </a:rPr>
              <a:t>: Conduct a thorough analysis of the end-users’ training needs based on their roles and responsibilities.</a:t>
            </a:r>
          </a:p>
          <a:p>
            <a:pPr algn="l">
              <a:buFont typeface="+mj-lt"/>
              <a:buAutoNum type="arabicPeriod"/>
            </a:pPr>
            <a:r>
              <a:rPr lang="en-US" sz="3600" b="1" i="0" dirty="0">
                <a:solidFill>
                  <a:srgbClr val="111111"/>
                </a:solidFill>
                <a:effectLst/>
                <a:highlight>
                  <a:srgbClr val="F3F3F3"/>
                </a:highlight>
                <a:latin typeface="-apple-system"/>
              </a:rPr>
              <a:t>Customized Content</a:t>
            </a:r>
            <a:r>
              <a:rPr lang="en-US" sz="3600" b="0" i="0" dirty="0">
                <a:solidFill>
                  <a:srgbClr val="111111"/>
                </a:solidFill>
                <a:effectLst/>
                <a:highlight>
                  <a:srgbClr val="F3F3F3"/>
                </a:highlight>
                <a:latin typeface="-apple-system"/>
              </a:rPr>
              <a:t>: Develop training material that is tailored to the specific needs and skill levels of the end-users.</a:t>
            </a:r>
          </a:p>
          <a:p>
            <a:pPr algn="l">
              <a:buFont typeface="+mj-lt"/>
              <a:buAutoNum type="arabicPeriod"/>
            </a:pPr>
            <a:r>
              <a:rPr lang="en-US" sz="3600" b="1" i="0" dirty="0">
                <a:solidFill>
                  <a:srgbClr val="111111"/>
                </a:solidFill>
                <a:effectLst/>
                <a:highlight>
                  <a:srgbClr val="F3F3F3"/>
                </a:highlight>
                <a:latin typeface="-apple-system"/>
              </a:rPr>
              <a:t>Interactive Training</a:t>
            </a:r>
            <a:r>
              <a:rPr lang="en-US" sz="3600" b="0" i="0" dirty="0">
                <a:solidFill>
                  <a:srgbClr val="111111"/>
                </a:solidFill>
                <a:effectLst/>
                <a:highlight>
                  <a:srgbClr val="F3F3F3"/>
                </a:highlight>
                <a:latin typeface="-apple-system"/>
              </a:rPr>
              <a:t>: Incorporate interactive elements such as simulations, quizzes, and hands-on exercises to engage users and reinforce learning.</a:t>
            </a:r>
          </a:p>
          <a:p>
            <a:endParaRPr lang="en-TZ" sz="3600" dirty="0"/>
          </a:p>
        </p:txBody>
      </p:sp>
    </p:spTree>
    <p:extLst>
      <p:ext uri="{BB962C8B-B14F-4D97-AF65-F5344CB8AC3E}">
        <p14:creationId xmlns:p14="http://schemas.microsoft.com/office/powerpoint/2010/main" val="19298532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054C3D-2373-1C6E-E1B0-F88532D0CAC9}"/>
              </a:ext>
            </a:extLst>
          </p:cNvPr>
          <p:cNvSpPr>
            <a:spLocks noGrp="1"/>
          </p:cNvSpPr>
          <p:nvPr>
            <p:ph idx="1"/>
          </p:nvPr>
        </p:nvSpPr>
        <p:spPr>
          <a:xfrm>
            <a:off x="838200" y="524656"/>
            <a:ext cx="10515600" cy="5652307"/>
          </a:xfrm>
        </p:spPr>
        <p:txBody>
          <a:bodyPr>
            <a:normAutofit/>
          </a:bodyPr>
          <a:lstStyle/>
          <a:p>
            <a:pPr marL="0" indent="0" algn="l">
              <a:buNone/>
            </a:pPr>
            <a:r>
              <a:rPr lang="en-US" sz="3600" b="1" i="0" dirty="0">
                <a:solidFill>
                  <a:srgbClr val="111111"/>
                </a:solidFill>
                <a:effectLst/>
                <a:highlight>
                  <a:srgbClr val="F3F3F3"/>
                </a:highlight>
                <a:latin typeface="-apple-system"/>
              </a:rPr>
              <a:t>4.Multiple Formats</a:t>
            </a:r>
            <a:r>
              <a:rPr lang="en-US" sz="3600" b="0" i="0" dirty="0">
                <a:solidFill>
                  <a:srgbClr val="111111"/>
                </a:solidFill>
                <a:effectLst/>
                <a:highlight>
                  <a:srgbClr val="F3F3F3"/>
                </a:highlight>
                <a:latin typeface="-apple-system"/>
              </a:rPr>
              <a:t>: Offer training in various formats, including in-person sessions, online courses, and written guides, to accommodate different learning preferences.</a:t>
            </a:r>
          </a:p>
          <a:p>
            <a:pPr marL="0" indent="0" algn="l">
              <a:buNone/>
            </a:pPr>
            <a:r>
              <a:rPr lang="en-US" sz="3600" b="1" i="0" dirty="0">
                <a:solidFill>
                  <a:srgbClr val="111111"/>
                </a:solidFill>
                <a:effectLst/>
                <a:highlight>
                  <a:srgbClr val="F3F3F3"/>
                </a:highlight>
                <a:latin typeface="-apple-system"/>
              </a:rPr>
              <a:t>5.Clear Objectives</a:t>
            </a:r>
            <a:r>
              <a:rPr lang="en-US" sz="3600" b="0" i="0" dirty="0">
                <a:solidFill>
                  <a:srgbClr val="111111"/>
                </a:solidFill>
                <a:effectLst/>
                <a:highlight>
                  <a:srgbClr val="F3F3F3"/>
                </a:highlight>
                <a:latin typeface="-apple-system"/>
              </a:rPr>
              <a:t>: Set clear learning objectives and outcomes for the training program to measure its effectiveness.</a:t>
            </a:r>
          </a:p>
          <a:p>
            <a:pPr marL="0" indent="0" algn="l">
              <a:buNone/>
            </a:pPr>
            <a:r>
              <a:rPr lang="en-US" sz="3600" b="1" i="0" dirty="0">
                <a:solidFill>
                  <a:srgbClr val="111111"/>
                </a:solidFill>
                <a:effectLst/>
                <a:highlight>
                  <a:srgbClr val="F3F3F3"/>
                </a:highlight>
                <a:latin typeface="-apple-system"/>
              </a:rPr>
              <a:t>6.Ongoing Support</a:t>
            </a:r>
            <a:r>
              <a:rPr lang="en-US" sz="3600" b="0" i="0" dirty="0">
                <a:solidFill>
                  <a:srgbClr val="111111"/>
                </a:solidFill>
                <a:effectLst/>
                <a:highlight>
                  <a:srgbClr val="F3F3F3"/>
                </a:highlight>
                <a:latin typeface="-apple-system"/>
              </a:rPr>
              <a:t>: Provide continuous support and resources after the initial training to help users apply what they’ve learned.</a:t>
            </a:r>
          </a:p>
          <a:p>
            <a:endParaRPr lang="en-TZ" sz="3600" dirty="0"/>
          </a:p>
        </p:txBody>
      </p:sp>
    </p:spTree>
    <p:extLst>
      <p:ext uri="{BB962C8B-B14F-4D97-AF65-F5344CB8AC3E}">
        <p14:creationId xmlns:p14="http://schemas.microsoft.com/office/powerpoint/2010/main" val="34674068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ACF2C-A0B1-6E68-5F4C-AD3272448B0A}"/>
              </a:ext>
            </a:extLst>
          </p:cNvPr>
          <p:cNvSpPr>
            <a:spLocks noGrp="1"/>
          </p:cNvSpPr>
          <p:nvPr>
            <p:ph idx="1"/>
          </p:nvPr>
        </p:nvSpPr>
        <p:spPr>
          <a:xfrm>
            <a:off x="838200" y="449705"/>
            <a:ext cx="10515600" cy="5891134"/>
          </a:xfrm>
        </p:spPr>
        <p:txBody>
          <a:bodyPr>
            <a:normAutofit/>
          </a:bodyPr>
          <a:lstStyle/>
          <a:p>
            <a:pPr marL="0" indent="0" algn="l">
              <a:buNone/>
            </a:pPr>
            <a:r>
              <a:rPr lang="en-US" sz="4000" b="1" i="0" dirty="0">
                <a:solidFill>
                  <a:srgbClr val="111111"/>
                </a:solidFill>
                <a:effectLst/>
                <a:highlight>
                  <a:srgbClr val="F3F3F3"/>
                </a:highlight>
                <a:latin typeface="-apple-system"/>
              </a:rPr>
              <a:t>7.Feedback Mechanisms</a:t>
            </a:r>
            <a:r>
              <a:rPr lang="en-US" sz="4000" b="0" i="0" dirty="0">
                <a:solidFill>
                  <a:srgbClr val="111111"/>
                </a:solidFill>
                <a:effectLst/>
                <a:highlight>
                  <a:srgbClr val="F3F3F3"/>
                </a:highlight>
                <a:latin typeface="-apple-system"/>
              </a:rPr>
              <a:t>: Implement a system for collecting feedback from users about the training experience to identify areas for improvement.</a:t>
            </a:r>
          </a:p>
          <a:p>
            <a:pPr marL="0" indent="0" algn="l">
              <a:buNone/>
            </a:pPr>
            <a:r>
              <a:rPr lang="en-US" sz="4000" b="1" i="0" dirty="0">
                <a:solidFill>
                  <a:srgbClr val="111111"/>
                </a:solidFill>
                <a:effectLst/>
                <a:highlight>
                  <a:srgbClr val="F3F3F3"/>
                </a:highlight>
                <a:latin typeface="-apple-system"/>
              </a:rPr>
              <a:t>8.Regular Updates</a:t>
            </a:r>
            <a:r>
              <a:rPr lang="en-US" sz="4000" b="0" i="0" dirty="0">
                <a:solidFill>
                  <a:srgbClr val="111111"/>
                </a:solidFill>
                <a:effectLst/>
                <a:highlight>
                  <a:srgbClr val="F3F3F3"/>
                </a:highlight>
                <a:latin typeface="-apple-system"/>
              </a:rPr>
              <a:t>: Keep the training content up-to-date with any changes in systems or procedures.</a:t>
            </a:r>
          </a:p>
          <a:p>
            <a:pPr algn="l"/>
            <a:r>
              <a:rPr lang="en-US" sz="4000" b="0" i="0" dirty="0">
                <a:solidFill>
                  <a:srgbClr val="111111"/>
                </a:solidFill>
                <a:effectLst/>
                <a:highlight>
                  <a:srgbClr val="F3F3F3"/>
                </a:highlight>
                <a:latin typeface="-apple-system"/>
              </a:rPr>
              <a:t>By focusing on these areas, organizations can ensure that their end-user training is effective, relevant, and contributes to the overall success of their IT systems.</a:t>
            </a:r>
          </a:p>
          <a:p>
            <a:endParaRPr lang="en-TZ" sz="4000" dirty="0"/>
          </a:p>
        </p:txBody>
      </p:sp>
    </p:spTree>
    <p:extLst>
      <p:ext uri="{BB962C8B-B14F-4D97-AF65-F5344CB8AC3E}">
        <p14:creationId xmlns:p14="http://schemas.microsoft.com/office/powerpoint/2010/main" val="2925823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93A920-5227-A284-D753-FB0AD6C28B7C}"/>
              </a:ext>
            </a:extLst>
          </p:cNvPr>
          <p:cNvSpPr>
            <a:spLocks noGrp="1"/>
          </p:cNvSpPr>
          <p:nvPr>
            <p:ph idx="1"/>
          </p:nvPr>
        </p:nvSpPr>
        <p:spPr>
          <a:xfrm>
            <a:off x="464695" y="464695"/>
            <a:ext cx="11317574" cy="5996066"/>
          </a:xfrm>
        </p:spPr>
        <p:txBody>
          <a:bodyPr>
            <a:noAutofit/>
          </a:bodyPr>
          <a:lstStyle/>
          <a:p>
            <a:pPr algn="l"/>
            <a:r>
              <a:rPr lang="en-US" sz="3600" b="0" i="0" dirty="0">
                <a:solidFill>
                  <a:srgbClr val="111111"/>
                </a:solidFill>
                <a:effectLst/>
                <a:highlight>
                  <a:srgbClr val="F3F3F3"/>
                </a:highlight>
                <a:latin typeface="-apple-system"/>
              </a:rPr>
              <a:t>Ensuring compliance with end-user procedures can be challenging due to several factors:</a:t>
            </a:r>
          </a:p>
          <a:p>
            <a:pPr algn="l">
              <a:buFont typeface="+mj-lt"/>
              <a:buAutoNum type="arabicPeriod"/>
            </a:pPr>
            <a:r>
              <a:rPr lang="en-US" sz="3600" b="1" i="0" dirty="0">
                <a:solidFill>
                  <a:srgbClr val="111111"/>
                </a:solidFill>
                <a:effectLst/>
                <a:highlight>
                  <a:srgbClr val="F3F3F3"/>
                </a:highlight>
                <a:latin typeface="-apple-system"/>
              </a:rPr>
              <a:t>Lack of Awareness</a:t>
            </a:r>
            <a:r>
              <a:rPr lang="en-US" sz="3600" b="0" i="0" dirty="0">
                <a:solidFill>
                  <a:srgbClr val="111111"/>
                </a:solidFill>
                <a:effectLst/>
                <a:highlight>
                  <a:srgbClr val="F3F3F3"/>
                </a:highlight>
                <a:latin typeface="-apple-system"/>
              </a:rPr>
              <a:t>: Users may not be fully aware of the procedures or understand their importance.</a:t>
            </a:r>
          </a:p>
          <a:p>
            <a:pPr algn="l">
              <a:buFont typeface="+mj-lt"/>
              <a:buAutoNum type="arabicPeriod"/>
            </a:pPr>
            <a:r>
              <a:rPr lang="en-US" sz="3600" b="1" i="0" dirty="0">
                <a:solidFill>
                  <a:srgbClr val="111111"/>
                </a:solidFill>
                <a:effectLst/>
                <a:highlight>
                  <a:srgbClr val="F3F3F3"/>
                </a:highlight>
                <a:latin typeface="-apple-system"/>
              </a:rPr>
              <a:t>Resistance to Change</a:t>
            </a:r>
            <a:r>
              <a:rPr lang="en-US" sz="3600" b="0" i="0" dirty="0">
                <a:solidFill>
                  <a:srgbClr val="111111"/>
                </a:solidFill>
                <a:effectLst/>
                <a:highlight>
                  <a:srgbClr val="F3F3F3"/>
                </a:highlight>
                <a:latin typeface="-apple-system"/>
              </a:rPr>
              <a:t>: Users might resist adopting new procedures, preferring to stick with familiar routines.</a:t>
            </a:r>
          </a:p>
          <a:p>
            <a:pPr algn="l">
              <a:buFont typeface="+mj-lt"/>
              <a:buAutoNum type="arabicPeriod"/>
            </a:pPr>
            <a:r>
              <a:rPr lang="en-US" sz="3600" b="1" i="0" dirty="0">
                <a:solidFill>
                  <a:srgbClr val="111111"/>
                </a:solidFill>
                <a:effectLst/>
                <a:highlight>
                  <a:srgbClr val="F3F3F3"/>
                </a:highlight>
                <a:latin typeface="-apple-system"/>
              </a:rPr>
              <a:t>Complexity</a:t>
            </a:r>
            <a:r>
              <a:rPr lang="en-US" sz="3600" b="0" i="0" dirty="0">
                <a:solidFill>
                  <a:srgbClr val="111111"/>
                </a:solidFill>
                <a:effectLst/>
                <a:highlight>
                  <a:srgbClr val="F3F3F3"/>
                </a:highlight>
                <a:latin typeface="-apple-system"/>
              </a:rPr>
              <a:t>: Procedures that are too complex or cumbersome can discourage compliance.</a:t>
            </a:r>
          </a:p>
          <a:p>
            <a:pPr marL="0" indent="0">
              <a:buNone/>
            </a:pPr>
            <a:r>
              <a:rPr lang="en-US" sz="3600" b="1" i="0" dirty="0">
                <a:solidFill>
                  <a:srgbClr val="111111"/>
                </a:solidFill>
                <a:effectLst/>
                <a:highlight>
                  <a:srgbClr val="F3F3F3"/>
                </a:highlight>
                <a:latin typeface="-apple-system"/>
              </a:rPr>
              <a:t>4.Inadequate Training</a:t>
            </a:r>
            <a:r>
              <a:rPr lang="en-US" sz="3600" b="0" i="0" dirty="0">
                <a:solidFill>
                  <a:srgbClr val="111111"/>
                </a:solidFill>
                <a:effectLst/>
                <a:highlight>
                  <a:srgbClr val="F3F3F3"/>
                </a:highlight>
                <a:latin typeface="-apple-system"/>
              </a:rPr>
              <a:t>: Without proper training, users may not have the skills or knowledge to follow the procedures correctly.</a:t>
            </a:r>
          </a:p>
          <a:p>
            <a:endParaRPr lang="en-TZ" sz="3600" dirty="0"/>
          </a:p>
        </p:txBody>
      </p:sp>
    </p:spTree>
    <p:extLst>
      <p:ext uri="{BB962C8B-B14F-4D97-AF65-F5344CB8AC3E}">
        <p14:creationId xmlns:p14="http://schemas.microsoft.com/office/powerpoint/2010/main" val="25622898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799DA2-94C6-C119-7D17-027C717CCB92}"/>
              </a:ext>
            </a:extLst>
          </p:cNvPr>
          <p:cNvSpPr>
            <a:spLocks noGrp="1"/>
          </p:cNvSpPr>
          <p:nvPr>
            <p:ph idx="1"/>
          </p:nvPr>
        </p:nvSpPr>
        <p:spPr>
          <a:xfrm>
            <a:off x="389743" y="254834"/>
            <a:ext cx="11407515" cy="6130976"/>
          </a:xfrm>
        </p:spPr>
        <p:txBody>
          <a:bodyPr>
            <a:normAutofit/>
          </a:bodyPr>
          <a:lstStyle/>
          <a:p>
            <a:pPr marL="0" indent="0" algn="l">
              <a:buNone/>
            </a:pPr>
            <a:r>
              <a:rPr lang="en-US" sz="3100" b="1" i="0" dirty="0">
                <a:solidFill>
                  <a:srgbClr val="111111"/>
                </a:solidFill>
                <a:effectLst/>
                <a:highlight>
                  <a:srgbClr val="F3F3F3"/>
                </a:highlight>
                <a:latin typeface="-apple-system"/>
              </a:rPr>
              <a:t>5.Insufficient Resources</a:t>
            </a:r>
            <a:r>
              <a:rPr lang="en-US" sz="3100" b="0" i="0" dirty="0">
                <a:solidFill>
                  <a:srgbClr val="111111"/>
                </a:solidFill>
                <a:effectLst/>
                <a:highlight>
                  <a:srgbClr val="F3F3F3"/>
                </a:highlight>
                <a:latin typeface="-apple-system"/>
              </a:rPr>
              <a:t>: A lack of resources, such as time or tools, can hinder users’ ability to comply.</a:t>
            </a:r>
          </a:p>
          <a:p>
            <a:pPr marL="0" indent="0" algn="l">
              <a:buNone/>
            </a:pPr>
            <a:r>
              <a:rPr lang="en-US" sz="3100" b="1" i="0" dirty="0">
                <a:solidFill>
                  <a:srgbClr val="111111"/>
                </a:solidFill>
                <a:effectLst/>
                <a:highlight>
                  <a:srgbClr val="F3F3F3"/>
                </a:highlight>
                <a:latin typeface="-apple-system"/>
              </a:rPr>
              <a:t>6.Poor Communication</a:t>
            </a:r>
            <a:r>
              <a:rPr lang="en-US" sz="3100" b="0" i="0" dirty="0">
                <a:solidFill>
                  <a:srgbClr val="111111"/>
                </a:solidFill>
                <a:effectLst/>
                <a:highlight>
                  <a:srgbClr val="F3F3F3"/>
                </a:highlight>
                <a:latin typeface="-apple-system"/>
              </a:rPr>
              <a:t>: If the rationale behind the procedures is not communicated effectively, users may not see the need to comply.</a:t>
            </a:r>
          </a:p>
          <a:p>
            <a:pPr marL="0" indent="0" algn="l">
              <a:buNone/>
            </a:pPr>
            <a:r>
              <a:rPr lang="en-US" sz="3100" b="1" i="0" dirty="0">
                <a:solidFill>
                  <a:srgbClr val="111111"/>
                </a:solidFill>
                <a:effectLst/>
                <a:highlight>
                  <a:srgbClr val="F3F3F3"/>
                </a:highlight>
                <a:latin typeface="-apple-system"/>
              </a:rPr>
              <a:t>7.Lack of Enforcement</a:t>
            </a:r>
            <a:r>
              <a:rPr lang="en-US" sz="3100" b="0" i="0" dirty="0">
                <a:solidFill>
                  <a:srgbClr val="111111"/>
                </a:solidFill>
                <a:effectLst/>
                <a:highlight>
                  <a:srgbClr val="F3F3F3"/>
                </a:highlight>
                <a:latin typeface="-apple-system"/>
              </a:rPr>
              <a:t>: Without consistent enforcement and consequences for non-compliance, users may not take procedures seriously.</a:t>
            </a:r>
          </a:p>
          <a:p>
            <a:pPr marL="0" indent="0" algn="l">
              <a:buNone/>
            </a:pPr>
            <a:r>
              <a:rPr lang="en-US" sz="3100" b="1" i="0" dirty="0">
                <a:solidFill>
                  <a:srgbClr val="111111"/>
                </a:solidFill>
                <a:effectLst/>
                <a:highlight>
                  <a:srgbClr val="F3F3F3"/>
                </a:highlight>
                <a:latin typeface="-apple-system"/>
              </a:rPr>
              <a:t>8.Feedback Loop</a:t>
            </a:r>
            <a:r>
              <a:rPr lang="en-US" sz="3100" b="0" i="0" dirty="0">
                <a:solidFill>
                  <a:srgbClr val="111111"/>
                </a:solidFill>
                <a:effectLst/>
                <a:highlight>
                  <a:srgbClr val="F3F3F3"/>
                </a:highlight>
                <a:latin typeface="-apple-system"/>
              </a:rPr>
              <a:t>: A lack of mechanisms for users to provide feedback on procedures can prevent necessary adjustments from being made.</a:t>
            </a:r>
          </a:p>
          <a:p>
            <a:pPr algn="l"/>
            <a:r>
              <a:rPr lang="en-US" sz="3100" b="0" i="0" dirty="0">
                <a:solidFill>
                  <a:srgbClr val="111111"/>
                </a:solidFill>
                <a:effectLst/>
                <a:highlight>
                  <a:srgbClr val="F3F3F3"/>
                </a:highlight>
                <a:latin typeface="-apple-system"/>
              </a:rPr>
              <a:t>Addressing these challenges requires a comprehensive approach that includes clear communication, effective training, user-friendly procedures, and ongoing support and enforcement.</a:t>
            </a:r>
          </a:p>
          <a:p>
            <a:endParaRPr lang="en-TZ" sz="3100" dirty="0"/>
          </a:p>
        </p:txBody>
      </p:sp>
    </p:spTree>
    <p:extLst>
      <p:ext uri="{BB962C8B-B14F-4D97-AF65-F5344CB8AC3E}">
        <p14:creationId xmlns:p14="http://schemas.microsoft.com/office/powerpoint/2010/main" val="122574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4ADF7-5E04-5281-A5C3-42C1E9520AC2}"/>
              </a:ext>
            </a:extLst>
          </p:cNvPr>
          <p:cNvSpPr>
            <a:spLocks noGrp="1"/>
          </p:cNvSpPr>
          <p:nvPr>
            <p:ph type="title"/>
          </p:nvPr>
        </p:nvSpPr>
        <p:spPr>
          <a:xfrm>
            <a:off x="838200" y="365126"/>
            <a:ext cx="10515600" cy="624226"/>
          </a:xfrm>
        </p:spPr>
        <p:txBody>
          <a:bodyPr>
            <a:normAutofit fontScale="90000"/>
          </a:bodyPr>
          <a:lstStyle/>
          <a:p>
            <a:r>
              <a:rPr lang="en-US" sz="4000" b="1" u="none" strike="noStrike" dirty="0">
                <a:solidFill>
                  <a:srgbClr val="000000"/>
                </a:solidFill>
                <a:effectLst/>
                <a:latin typeface="Times New Roman" panose="02020603050405020304" pitchFamily="18" charset="0"/>
                <a:ea typeface="Times New Roman" panose="02020603050405020304" pitchFamily="18" charset="0"/>
              </a:rPr>
              <a:t>Maintenance of information systems</a:t>
            </a:r>
            <a:endParaRPr lang="en-TZ" sz="4000" b="1" dirty="0"/>
          </a:p>
        </p:txBody>
      </p:sp>
      <p:sp>
        <p:nvSpPr>
          <p:cNvPr id="3" name="Content Placeholder 2">
            <a:extLst>
              <a:ext uri="{FF2B5EF4-FFF2-40B4-BE49-F238E27FC236}">
                <a16:creationId xmlns:a16="http://schemas.microsoft.com/office/drawing/2014/main" id="{4139D876-E707-B520-E173-EB0A8D4D495A}"/>
              </a:ext>
            </a:extLst>
          </p:cNvPr>
          <p:cNvSpPr>
            <a:spLocks noGrp="1"/>
          </p:cNvSpPr>
          <p:nvPr>
            <p:ph idx="1"/>
          </p:nvPr>
        </p:nvSpPr>
        <p:spPr>
          <a:xfrm>
            <a:off x="838200" y="1184223"/>
            <a:ext cx="10515600" cy="4992740"/>
          </a:xfrm>
        </p:spPr>
        <p:txBody>
          <a:bodyPr/>
          <a:lstStyle/>
          <a:p>
            <a:pPr algn="l"/>
            <a:r>
              <a:rPr lang="en-US" b="0" i="0" dirty="0">
                <a:solidFill>
                  <a:srgbClr val="111111"/>
                </a:solidFill>
                <a:effectLst/>
                <a:highlight>
                  <a:srgbClr val="F3F3F3"/>
                </a:highlight>
                <a:latin typeface="-apple-system"/>
              </a:rPr>
              <a:t>Maintenance of information systems is crucial for ensuring their reliability, security, and efficiency. Here are key aspects to consider:</a:t>
            </a:r>
          </a:p>
          <a:p>
            <a:pPr algn="l">
              <a:buFont typeface="+mj-lt"/>
              <a:buAutoNum type="arabicPeriod"/>
            </a:pPr>
            <a:r>
              <a:rPr lang="en-US" b="1" i="0" dirty="0">
                <a:solidFill>
                  <a:srgbClr val="111111"/>
                </a:solidFill>
                <a:effectLst/>
                <a:highlight>
                  <a:srgbClr val="F3F3F3"/>
                </a:highlight>
                <a:latin typeface="-apple-system"/>
              </a:rPr>
              <a:t>Regular Updates</a:t>
            </a:r>
            <a:r>
              <a:rPr lang="en-US" b="0" i="0" dirty="0">
                <a:solidFill>
                  <a:srgbClr val="111111"/>
                </a:solidFill>
                <a:effectLst/>
                <a:highlight>
                  <a:srgbClr val="F3F3F3"/>
                </a:highlight>
                <a:latin typeface="-apple-system"/>
              </a:rPr>
              <a:t>: Apply software updates and patches to protect against vulnerabilities and improve functionality.</a:t>
            </a:r>
          </a:p>
          <a:p>
            <a:pPr algn="l">
              <a:buFont typeface="+mj-lt"/>
              <a:buAutoNum type="arabicPeriod"/>
            </a:pPr>
            <a:r>
              <a:rPr lang="en-US" b="1" i="0" dirty="0">
                <a:solidFill>
                  <a:srgbClr val="111111"/>
                </a:solidFill>
                <a:effectLst/>
                <a:highlight>
                  <a:srgbClr val="F3F3F3"/>
                </a:highlight>
                <a:latin typeface="-apple-system"/>
              </a:rPr>
              <a:t>Backup and Recovery</a:t>
            </a:r>
            <a:r>
              <a:rPr lang="en-US" b="0" i="0" dirty="0">
                <a:solidFill>
                  <a:srgbClr val="111111"/>
                </a:solidFill>
                <a:effectLst/>
                <a:highlight>
                  <a:srgbClr val="F3F3F3"/>
                </a:highlight>
                <a:latin typeface="-apple-system"/>
              </a:rPr>
              <a:t>: Implement robust backup procedures and test recovery plans to safeguard data.</a:t>
            </a:r>
          </a:p>
          <a:p>
            <a:pPr algn="l">
              <a:buFont typeface="+mj-lt"/>
              <a:buAutoNum type="arabicPeriod"/>
            </a:pPr>
            <a:r>
              <a:rPr lang="en-US" b="1" i="0" dirty="0">
                <a:solidFill>
                  <a:srgbClr val="111111"/>
                </a:solidFill>
                <a:effectLst/>
                <a:highlight>
                  <a:srgbClr val="F3F3F3"/>
                </a:highlight>
                <a:latin typeface="-apple-system"/>
              </a:rPr>
              <a:t>Performance Monitoring</a:t>
            </a:r>
            <a:r>
              <a:rPr lang="en-US" b="0" i="0" dirty="0">
                <a:solidFill>
                  <a:srgbClr val="111111"/>
                </a:solidFill>
                <a:effectLst/>
                <a:highlight>
                  <a:srgbClr val="F3F3F3"/>
                </a:highlight>
                <a:latin typeface="-apple-system"/>
              </a:rPr>
              <a:t>: Continuously monitor system performance to identify and address issues promptly.</a:t>
            </a:r>
          </a:p>
          <a:p>
            <a:endParaRPr lang="en-TZ" dirty="0"/>
          </a:p>
        </p:txBody>
      </p:sp>
    </p:spTree>
    <p:extLst>
      <p:ext uri="{BB962C8B-B14F-4D97-AF65-F5344CB8AC3E}">
        <p14:creationId xmlns:p14="http://schemas.microsoft.com/office/powerpoint/2010/main" val="2579858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5F23C2-8FFA-DE78-A520-3A409140E22B}"/>
              </a:ext>
            </a:extLst>
          </p:cNvPr>
          <p:cNvSpPr>
            <a:spLocks noGrp="1"/>
          </p:cNvSpPr>
          <p:nvPr>
            <p:ph idx="1"/>
          </p:nvPr>
        </p:nvSpPr>
        <p:spPr>
          <a:xfrm>
            <a:off x="359763" y="329784"/>
            <a:ext cx="11467475" cy="6086006"/>
          </a:xfrm>
        </p:spPr>
        <p:txBody>
          <a:bodyPr>
            <a:noAutofit/>
          </a:bodyPr>
          <a:lstStyle/>
          <a:p>
            <a:pPr marL="0" indent="0">
              <a:buNone/>
            </a:pPr>
            <a:r>
              <a:rPr lang="en-US" sz="3100" b="1" i="0" dirty="0">
                <a:solidFill>
                  <a:srgbClr val="111111"/>
                </a:solidFill>
                <a:effectLst/>
                <a:highlight>
                  <a:srgbClr val="F3F3F3"/>
                </a:highlight>
                <a:latin typeface="-apple-system"/>
              </a:rPr>
              <a:t>4.Security Measures</a:t>
            </a:r>
            <a:r>
              <a:rPr lang="en-US" sz="3100" b="0" i="0" dirty="0">
                <a:solidFill>
                  <a:srgbClr val="111111"/>
                </a:solidFill>
                <a:effectLst/>
                <a:highlight>
                  <a:srgbClr val="F3F3F3"/>
                </a:highlight>
                <a:latin typeface="-apple-system"/>
              </a:rPr>
              <a:t>: Maintain strong security measures, including firewalls, antivirus software, and access controls.</a:t>
            </a:r>
          </a:p>
          <a:p>
            <a:pPr marL="0" indent="0" algn="l">
              <a:buNone/>
            </a:pPr>
            <a:r>
              <a:rPr lang="en-US" sz="3100" b="1" i="0" dirty="0">
                <a:solidFill>
                  <a:srgbClr val="111111"/>
                </a:solidFill>
                <a:effectLst/>
                <a:highlight>
                  <a:srgbClr val="F3F3F3"/>
                </a:highlight>
                <a:latin typeface="-apple-system"/>
              </a:rPr>
              <a:t>5.User Support</a:t>
            </a:r>
            <a:r>
              <a:rPr lang="en-US" sz="3100" b="0" i="0" dirty="0">
                <a:solidFill>
                  <a:srgbClr val="111111"/>
                </a:solidFill>
                <a:effectLst/>
                <a:highlight>
                  <a:srgbClr val="F3F3F3"/>
                </a:highlight>
                <a:latin typeface="-apple-system"/>
              </a:rPr>
              <a:t>: Provide ongoing support to users to address technical issues and training needs.</a:t>
            </a:r>
          </a:p>
          <a:p>
            <a:pPr marL="0" indent="0" algn="l">
              <a:buNone/>
            </a:pPr>
            <a:r>
              <a:rPr lang="en-US" sz="3100" b="1" i="0" dirty="0">
                <a:solidFill>
                  <a:srgbClr val="111111"/>
                </a:solidFill>
                <a:effectLst/>
                <a:highlight>
                  <a:srgbClr val="F3F3F3"/>
                </a:highlight>
                <a:latin typeface="-apple-system"/>
              </a:rPr>
              <a:t>6.Documentation</a:t>
            </a:r>
            <a:r>
              <a:rPr lang="en-US" sz="3100" b="0" i="0" dirty="0">
                <a:solidFill>
                  <a:srgbClr val="111111"/>
                </a:solidFill>
                <a:effectLst/>
                <a:highlight>
                  <a:srgbClr val="F3F3F3"/>
                </a:highlight>
                <a:latin typeface="-apple-system"/>
              </a:rPr>
              <a:t>: Keep detailed documentation of the system’s configuration, changes, and procedures for maintenance tasks.</a:t>
            </a:r>
          </a:p>
          <a:p>
            <a:pPr marL="0" indent="0" algn="l">
              <a:buNone/>
            </a:pPr>
            <a:r>
              <a:rPr lang="en-US" sz="3100" b="1" i="0" dirty="0">
                <a:solidFill>
                  <a:srgbClr val="111111"/>
                </a:solidFill>
                <a:effectLst/>
                <a:highlight>
                  <a:srgbClr val="F3F3F3"/>
                </a:highlight>
                <a:latin typeface="-apple-system"/>
              </a:rPr>
              <a:t>7.Compliance Checks</a:t>
            </a:r>
            <a:r>
              <a:rPr lang="en-US" sz="3100" b="0" i="0" dirty="0">
                <a:solidFill>
                  <a:srgbClr val="111111"/>
                </a:solidFill>
                <a:effectLst/>
                <a:highlight>
                  <a:srgbClr val="F3F3F3"/>
                </a:highlight>
                <a:latin typeface="-apple-system"/>
              </a:rPr>
              <a:t>: Regularly review systems to ensure they comply with relevant regulations and standards.</a:t>
            </a:r>
          </a:p>
          <a:p>
            <a:pPr marL="0" indent="0" algn="l">
              <a:buNone/>
            </a:pPr>
            <a:r>
              <a:rPr lang="en-US" sz="3100" b="1" i="0" dirty="0">
                <a:solidFill>
                  <a:srgbClr val="111111"/>
                </a:solidFill>
                <a:effectLst/>
                <a:highlight>
                  <a:srgbClr val="F3F3F3"/>
                </a:highlight>
                <a:latin typeface="-apple-system"/>
              </a:rPr>
              <a:t>8.Hardware Maintenance</a:t>
            </a:r>
            <a:r>
              <a:rPr lang="en-US" sz="3100" b="0" i="0" dirty="0">
                <a:solidFill>
                  <a:srgbClr val="111111"/>
                </a:solidFill>
                <a:effectLst/>
                <a:highlight>
                  <a:srgbClr val="F3F3F3"/>
                </a:highlight>
                <a:latin typeface="-apple-system"/>
              </a:rPr>
              <a:t>: Perform regular hardware checks and replace components as necessary to prevent failures.</a:t>
            </a:r>
          </a:p>
          <a:p>
            <a:pPr algn="l"/>
            <a:r>
              <a:rPr lang="en-US" sz="3100" b="0" i="0" dirty="0">
                <a:solidFill>
                  <a:srgbClr val="111111"/>
                </a:solidFill>
                <a:effectLst/>
                <a:highlight>
                  <a:srgbClr val="F3F3F3"/>
                </a:highlight>
                <a:latin typeface="-apple-system"/>
              </a:rPr>
              <a:t>Effective maintenance helps extend the life of information systems, reduces downtime, and ensures that they continue to meet the organization’s needs.</a:t>
            </a:r>
          </a:p>
          <a:p>
            <a:pPr marL="0" indent="0">
              <a:buNone/>
            </a:pPr>
            <a:endParaRPr lang="en-US" sz="3100" b="0" i="0" dirty="0">
              <a:solidFill>
                <a:srgbClr val="111111"/>
              </a:solidFill>
              <a:effectLst/>
              <a:highlight>
                <a:srgbClr val="F3F3F3"/>
              </a:highlight>
              <a:latin typeface="-apple-system"/>
            </a:endParaRPr>
          </a:p>
          <a:p>
            <a:endParaRPr lang="en-TZ" sz="3100" dirty="0"/>
          </a:p>
        </p:txBody>
      </p:sp>
    </p:spTree>
    <p:extLst>
      <p:ext uri="{BB962C8B-B14F-4D97-AF65-F5344CB8AC3E}">
        <p14:creationId xmlns:p14="http://schemas.microsoft.com/office/powerpoint/2010/main" val="16569700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34E381-9278-89EF-9E7D-C5C7470DCDC4}"/>
              </a:ext>
            </a:extLst>
          </p:cNvPr>
          <p:cNvSpPr>
            <a:spLocks noGrp="1"/>
          </p:cNvSpPr>
          <p:nvPr>
            <p:ph idx="1"/>
          </p:nvPr>
        </p:nvSpPr>
        <p:spPr>
          <a:xfrm>
            <a:off x="838200" y="434715"/>
            <a:ext cx="10515600" cy="5742248"/>
          </a:xfrm>
        </p:spPr>
        <p:txBody>
          <a:bodyPr>
            <a:noAutofit/>
          </a:bodyPr>
          <a:lstStyle/>
          <a:p>
            <a:pPr algn="l"/>
            <a:r>
              <a:rPr lang="en-US" sz="3600" b="0" i="0" dirty="0">
                <a:solidFill>
                  <a:srgbClr val="111111"/>
                </a:solidFill>
                <a:effectLst/>
                <a:highlight>
                  <a:srgbClr val="F3F3F3"/>
                </a:highlight>
                <a:latin typeface="-apple-system"/>
              </a:rPr>
              <a:t>Organizations can effectively monitor system performance by implementing the following steps:</a:t>
            </a:r>
          </a:p>
          <a:p>
            <a:pPr algn="l">
              <a:buFont typeface="+mj-lt"/>
              <a:buAutoNum type="arabicPeriod"/>
            </a:pPr>
            <a:r>
              <a:rPr lang="en-US" sz="3600" b="1" i="0" dirty="0">
                <a:solidFill>
                  <a:srgbClr val="111111"/>
                </a:solidFill>
                <a:effectLst/>
                <a:highlight>
                  <a:srgbClr val="F3F3F3"/>
                </a:highlight>
                <a:latin typeface="-apple-system"/>
              </a:rPr>
              <a:t>Define Metrics</a:t>
            </a:r>
            <a:r>
              <a:rPr lang="en-US" sz="3600" b="0" i="0" dirty="0">
                <a:solidFill>
                  <a:srgbClr val="111111"/>
                </a:solidFill>
                <a:effectLst/>
                <a:highlight>
                  <a:srgbClr val="F3F3F3"/>
                </a:highlight>
                <a:latin typeface="-apple-system"/>
              </a:rPr>
              <a:t>: Identify key performance metrics that are critical to your organization’s operations, such as response time, throughput, and availability.</a:t>
            </a:r>
          </a:p>
          <a:p>
            <a:pPr algn="l">
              <a:buFont typeface="+mj-lt"/>
              <a:buAutoNum type="arabicPeriod"/>
            </a:pPr>
            <a:r>
              <a:rPr lang="en-US" sz="3600" b="1" i="0" dirty="0">
                <a:solidFill>
                  <a:srgbClr val="111111"/>
                </a:solidFill>
                <a:effectLst/>
                <a:highlight>
                  <a:srgbClr val="F3F3F3"/>
                </a:highlight>
                <a:latin typeface="-apple-system"/>
              </a:rPr>
              <a:t>Use Monitoring Tools</a:t>
            </a:r>
            <a:r>
              <a:rPr lang="en-US" sz="3600" b="0" i="0" dirty="0">
                <a:solidFill>
                  <a:srgbClr val="111111"/>
                </a:solidFill>
                <a:effectLst/>
                <a:highlight>
                  <a:srgbClr val="F3F3F3"/>
                </a:highlight>
                <a:latin typeface="-apple-system"/>
              </a:rPr>
              <a:t>: Deploy system monitoring tools that can track and record performance metrics in real-time.</a:t>
            </a:r>
          </a:p>
          <a:p>
            <a:pPr algn="l">
              <a:buFont typeface="+mj-lt"/>
              <a:buAutoNum type="arabicPeriod"/>
            </a:pPr>
            <a:r>
              <a:rPr lang="en-US" sz="3600" b="1" i="0" dirty="0">
                <a:solidFill>
                  <a:srgbClr val="111111"/>
                </a:solidFill>
                <a:effectLst/>
                <a:highlight>
                  <a:srgbClr val="F3F3F3"/>
                </a:highlight>
                <a:latin typeface="-apple-system"/>
              </a:rPr>
              <a:t>Set Thresholds</a:t>
            </a:r>
            <a:r>
              <a:rPr lang="en-US" sz="3600" b="0" i="0" dirty="0">
                <a:solidFill>
                  <a:srgbClr val="111111"/>
                </a:solidFill>
                <a:effectLst/>
                <a:highlight>
                  <a:srgbClr val="F3F3F3"/>
                </a:highlight>
                <a:latin typeface="-apple-system"/>
              </a:rPr>
              <a:t>: Establish baseline performance levels and set thresholds for alerts when metrics deviate from these baselines.</a:t>
            </a:r>
          </a:p>
          <a:p>
            <a:endParaRPr lang="en-TZ" sz="3600" dirty="0"/>
          </a:p>
        </p:txBody>
      </p:sp>
    </p:spTree>
    <p:extLst>
      <p:ext uri="{BB962C8B-B14F-4D97-AF65-F5344CB8AC3E}">
        <p14:creationId xmlns:p14="http://schemas.microsoft.com/office/powerpoint/2010/main" val="1344599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B71AAD-FE75-6DA9-E81C-1AFE93113628}"/>
              </a:ext>
            </a:extLst>
          </p:cNvPr>
          <p:cNvSpPr>
            <a:spLocks noGrp="1"/>
          </p:cNvSpPr>
          <p:nvPr>
            <p:ph idx="1"/>
          </p:nvPr>
        </p:nvSpPr>
        <p:spPr>
          <a:xfrm>
            <a:off x="838200" y="434716"/>
            <a:ext cx="10515600" cy="5742248"/>
          </a:xfrm>
        </p:spPr>
        <p:txBody>
          <a:bodyPr>
            <a:normAutofit lnSpcReduction="10000"/>
          </a:bodyPr>
          <a:lstStyle/>
          <a:p>
            <a:pPr marL="0" indent="0" algn="l">
              <a:buNone/>
            </a:pPr>
            <a:r>
              <a:rPr lang="en-US" b="1" i="0" dirty="0">
                <a:solidFill>
                  <a:srgbClr val="111111"/>
                </a:solidFill>
                <a:effectLst/>
                <a:highlight>
                  <a:srgbClr val="F3F3F3"/>
                </a:highlight>
                <a:latin typeface="-apple-system"/>
              </a:rPr>
              <a:t>4.Automated Alerts</a:t>
            </a:r>
            <a:r>
              <a:rPr lang="en-US" b="0" i="0" dirty="0">
                <a:solidFill>
                  <a:srgbClr val="111111"/>
                </a:solidFill>
                <a:effectLst/>
                <a:highlight>
                  <a:srgbClr val="F3F3F3"/>
                </a:highlight>
                <a:latin typeface="-apple-system"/>
              </a:rPr>
              <a:t>: Configure automated alerts to notify IT staff when performance issues arise, allowing for quick response.</a:t>
            </a:r>
          </a:p>
          <a:p>
            <a:pPr marL="0" indent="0" algn="l">
              <a:buNone/>
            </a:pPr>
            <a:r>
              <a:rPr lang="en-US" b="1" i="0" dirty="0">
                <a:solidFill>
                  <a:srgbClr val="111111"/>
                </a:solidFill>
                <a:effectLst/>
                <a:highlight>
                  <a:srgbClr val="F3F3F3"/>
                </a:highlight>
                <a:latin typeface="-apple-system"/>
              </a:rPr>
              <a:t>5.Regular Reports</a:t>
            </a:r>
            <a:r>
              <a:rPr lang="en-US" b="0" i="0" dirty="0">
                <a:solidFill>
                  <a:srgbClr val="111111"/>
                </a:solidFill>
                <a:effectLst/>
                <a:highlight>
                  <a:srgbClr val="F3F3F3"/>
                </a:highlight>
                <a:latin typeface="-apple-system"/>
              </a:rPr>
              <a:t>: Generate regular reports that summarize system performance over time to identify trends or recurring issues.</a:t>
            </a:r>
          </a:p>
          <a:p>
            <a:pPr marL="0" indent="0" algn="l">
              <a:buNone/>
            </a:pPr>
            <a:r>
              <a:rPr lang="en-US" b="1" i="0" dirty="0">
                <a:solidFill>
                  <a:srgbClr val="111111"/>
                </a:solidFill>
                <a:effectLst/>
                <a:highlight>
                  <a:srgbClr val="F3F3F3"/>
                </a:highlight>
                <a:latin typeface="-apple-system"/>
              </a:rPr>
              <a:t>6.Analyze Data</a:t>
            </a:r>
            <a:r>
              <a:rPr lang="en-US" b="0" i="0" dirty="0">
                <a:solidFill>
                  <a:srgbClr val="111111"/>
                </a:solidFill>
                <a:effectLst/>
                <a:highlight>
                  <a:srgbClr val="F3F3F3"/>
                </a:highlight>
                <a:latin typeface="-apple-system"/>
              </a:rPr>
              <a:t>: Analyze the collected data to identify bottlenecks or inefficiencies in the system.</a:t>
            </a:r>
          </a:p>
          <a:p>
            <a:pPr marL="0" indent="0" algn="l">
              <a:buNone/>
            </a:pPr>
            <a:r>
              <a:rPr lang="en-US" b="1" i="0" dirty="0">
                <a:solidFill>
                  <a:srgbClr val="111111"/>
                </a:solidFill>
                <a:effectLst/>
                <a:highlight>
                  <a:srgbClr val="F3F3F3"/>
                </a:highlight>
                <a:latin typeface="-apple-system"/>
              </a:rPr>
              <a:t>7.Capacity Planning</a:t>
            </a:r>
            <a:r>
              <a:rPr lang="en-US" b="0" i="0" dirty="0">
                <a:solidFill>
                  <a:srgbClr val="111111"/>
                </a:solidFill>
                <a:effectLst/>
                <a:highlight>
                  <a:srgbClr val="F3F3F3"/>
                </a:highlight>
                <a:latin typeface="-apple-system"/>
              </a:rPr>
              <a:t>: Use performance data to inform capacity planning, ensuring that the system can handle future growth and demand.</a:t>
            </a:r>
          </a:p>
          <a:p>
            <a:pPr marL="0" indent="0" algn="l">
              <a:buNone/>
            </a:pPr>
            <a:r>
              <a:rPr lang="en-US" b="1" i="0" dirty="0">
                <a:solidFill>
                  <a:srgbClr val="111111"/>
                </a:solidFill>
                <a:effectLst/>
                <a:highlight>
                  <a:srgbClr val="F3F3F3"/>
                </a:highlight>
                <a:latin typeface="-apple-system"/>
              </a:rPr>
              <a:t>8.Continuous Improvement</a:t>
            </a:r>
            <a:r>
              <a:rPr lang="en-US" b="0" i="0" dirty="0">
                <a:solidFill>
                  <a:srgbClr val="111111"/>
                </a:solidFill>
                <a:effectLst/>
                <a:highlight>
                  <a:srgbClr val="F3F3F3"/>
                </a:highlight>
                <a:latin typeface="-apple-system"/>
              </a:rPr>
              <a:t>: Use insights from performance monitoring to make continuous improvements to the system.</a:t>
            </a:r>
          </a:p>
          <a:p>
            <a:pPr algn="l"/>
            <a:r>
              <a:rPr lang="en-US" b="0" i="0" dirty="0">
                <a:solidFill>
                  <a:srgbClr val="111111"/>
                </a:solidFill>
                <a:effectLst/>
                <a:highlight>
                  <a:srgbClr val="F3F3F3"/>
                </a:highlight>
                <a:latin typeface="-apple-system"/>
              </a:rPr>
              <a:t>Effective system performance monitoring helps organizations proactively manage their IT infrastructure, ensuring high availability and optimal performance.</a:t>
            </a:r>
          </a:p>
          <a:p>
            <a:endParaRPr lang="en-TZ" dirty="0"/>
          </a:p>
        </p:txBody>
      </p:sp>
    </p:spTree>
    <p:extLst>
      <p:ext uri="{BB962C8B-B14F-4D97-AF65-F5344CB8AC3E}">
        <p14:creationId xmlns:p14="http://schemas.microsoft.com/office/powerpoint/2010/main" val="41371181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E04F4-AA28-F55C-B993-1787F263B2D5}"/>
              </a:ext>
            </a:extLst>
          </p:cNvPr>
          <p:cNvSpPr>
            <a:spLocks noGrp="1"/>
          </p:cNvSpPr>
          <p:nvPr>
            <p:ph type="title"/>
          </p:nvPr>
        </p:nvSpPr>
        <p:spPr>
          <a:xfrm>
            <a:off x="838200" y="365126"/>
            <a:ext cx="10515600" cy="669196"/>
          </a:xfrm>
        </p:spPr>
        <p:txBody>
          <a:bodyPr>
            <a:normAutofit/>
          </a:bodyPr>
          <a:lstStyle/>
          <a:p>
            <a:r>
              <a:rPr lang="en-US" sz="4000" b="1" u="none" strike="noStrike" dirty="0">
                <a:solidFill>
                  <a:srgbClr val="000000"/>
                </a:solidFill>
                <a:effectLst/>
                <a:latin typeface="Times New Roman" panose="02020603050405020304" pitchFamily="18" charset="0"/>
                <a:ea typeface="Times New Roman" panose="02020603050405020304" pitchFamily="18" charset="0"/>
              </a:rPr>
              <a:t>Data administration practices</a:t>
            </a:r>
            <a:endParaRPr lang="en-TZ" sz="4000" b="1" dirty="0"/>
          </a:p>
        </p:txBody>
      </p:sp>
      <p:sp>
        <p:nvSpPr>
          <p:cNvPr id="3" name="Content Placeholder 2">
            <a:extLst>
              <a:ext uri="{FF2B5EF4-FFF2-40B4-BE49-F238E27FC236}">
                <a16:creationId xmlns:a16="http://schemas.microsoft.com/office/drawing/2014/main" id="{CAB8909F-491E-3401-DD74-9D1A90A29755}"/>
              </a:ext>
            </a:extLst>
          </p:cNvPr>
          <p:cNvSpPr>
            <a:spLocks noGrp="1"/>
          </p:cNvSpPr>
          <p:nvPr>
            <p:ph idx="1"/>
          </p:nvPr>
        </p:nvSpPr>
        <p:spPr>
          <a:xfrm>
            <a:off x="329784" y="1214202"/>
            <a:ext cx="11542426" cy="5278671"/>
          </a:xfrm>
        </p:spPr>
        <p:txBody>
          <a:bodyPr>
            <a:normAutofit/>
          </a:bodyPr>
          <a:lstStyle/>
          <a:p>
            <a:pPr algn="l"/>
            <a:r>
              <a:rPr lang="en-US" sz="3200" b="0" i="0" dirty="0">
                <a:solidFill>
                  <a:srgbClr val="111111"/>
                </a:solidFill>
                <a:effectLst/>
                <a:highlight>
                  <a:srgbClr val="F3F3F3"/>
                </a:highlight>
                <a:latin typeface="-apple-system"/>
              </a:rPr>
              <a:t>Data administration practices are essential for ensuring the accuracy, availability, and security of data within an organization. Here are key practices to consider:</a:t>
            </a:r>
          </a:p>
          <a:p>
            <a:pPr algn="l">
              <a:buFont typeface="+mj-lt"/>
              <a:buAutoNum type="arabicPeriod"/>
            </a:pPr>
            <a:r>
              <a:rPr lang="en-US" sz="3200" b="1" i="0" dirty="0">
                <a:solidFill>
                  <a:srgbClr val="111111"/>
                </a:solidFill>
                <a:effectLst/>
                <a:highlight>
                  <a:srgbClr val="F3F3F3"/>
                </a:highlight>
                <a:latin typeface="-apple-system"/>
              </a:rPr>
              <a:t>Data Governance</a:t>
            </a:r>
            <a:r>
              <a:rPr lang="en-US" sz="3200" b="0" i="0" dirty="0">
                <a:solidFill>
                  <a:srgbClr val="111111"/>
                </a:solidFill>
                <a:effectLst/>
                <a:highlight>
                  <a:srgbClr val="F3F3F3"/>
                </a:highlight>
                <a:latin typeface="-apple-system"/>
              </a:rPr>
              <a:t>: Establish a data governance framework that defines policies, standards, and procedures for managing data across the organization.</a:t>
            </a:r>
          </a:p>
          <a:p>
            <a:pPr algn="l">
              <a:buFont typeface="+mj-lt"/>
              <a:buAutoNum type="arabicPeriod"/>
            </a:pPr>
            <a:r>
              <a:rPr lang="en-US" sz="3200" b="1" i="0" dirty="0">
                <a:solidFill>
                  <a:srgbClr val="111111"/>
                </a:solidFill>
                <a:effectLst/>
                <a:highlight>
                  <a:srgbClr val="F3F3F3"/>
                </a:highlight>
                <a:latin typeface="-apple-system"/>
              </a:rPr>
              <a:t>Data Quality Management</a:t>
            </a:r>
            <a:r>
              <a:rPr lang="en-US" sz="3200" b="0" i="0" dirty="0">
                <a:solidFill>
                  <a:srgbClr val="111111"/>
                </a:solidFill>
                <a:effectLst/>
                <a:highlight>
                  <a:srgbClr val="F3F3F3"/>
                </a:highlight>
                <a:latin typeface="-apple-system"/>
              </a:rPr>
              <a:t>: Implement processes to maintain high data quality, including validation, cleansing, and deduplication.</a:t>
            </a:r>
          </a:p>
          <a:p>
            <a:pPr algn="l">
              <a:buFont typeface="+mj-lt"/>
              <a:buAutoNum type="arabicPeriod"/>
            </a:pPr>
            <a:r>
              <a:rPr lang="en-US" sz="3200" b="1" i="0" dirty="0">
                <a:solidFill>
                  <a:srgbClr val="111111"/>
                </a:solidFill>
                <a:effectLst/>
                <a:highlight>
                  <a:srgbClr val="F3F3F3"/>
                </a:highlight>
                <a:latin typeface="-apple-system"/>
              </a:rPr>
              <a:t>Data Security</a:t>
            </a:r>
            <a:r>
              <a:rPr lang="en-US" sz="3200" b="0" i="0" dirty="0">
                <a:solidFill>
                  <a:srgbClr val="111111"/>
                </a:solidFill>
                <a:effectLst/>
                <a:highlight>
                  <a:srgbClr val="F3F3F3"/>
                </a:highlight>
                <a:latin typeface="-apple-system"/>
              </a:rPr>
              <a:t>: Enforce strong data security measures, such as encryption, access controls, and regular security audits.</a:t>
            </a:r>
          </a:p>
          <a:p>
            <a:endParaRPr lang="en-TZ" sz="3200" dirty="0"/>
          </a:p>
        </p:txBody>
      </p:sp>
    </p:spTree>
    <p:extLst>
      <p:ext uri="{BB962C8B-B14F-4D97-AF65-F5344CB8AC3E}">
        <p14:creationId xmlns:p14="http://schemas.microsoft.com/office/powerpoint/2010/main" val="29657221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62290D-E9D8-68FB-6335-7EE82921DB23}"/>
              </a:ext>
            </a:extLst>
          </p:cNvPr>
          <p:cNvSpPr>
            <a:spLocks noGrp="1"/>
          </p:cNvSpPr>
          <p:nvPr>
            <p:ph idx="1"/>
          </p:nvPr>
        </p:nvSpPr>
        <p:spPr>
          <a:xfrm>
            <a:off x="539646" y="464695"/>
            <a:ext cx="11167672" cy="5846164"/>
          </a:xfrm>
        </p:spPr>
        <p:txBody>
          <a:bodyPr>
            <a:normAutofit/>
          </a:bodyPr>
          <a:lstStyle/>
          <a:p>
            <a:pPr marL="0" indent="0" algn="l">
              <a:buNone/>
            </a:pPr>
            <a:r>
              <a:rPr lang="en-US" sz="3600" b="1" i="0" dirty="0">
                <a:solidFill>
                  <a:srgbClr val="111111"/>
                </a:solidFill>
                <a:effectLst/>
                <a:highlight>
                  <a:srgbClr val="F3F3F3"/>
                </a:highlight>
                <a:latin typeface="-apple-system"/>
              </a:rPr>
              <a:t>4.Data Lifecycle Management</a:t>
            </a:r>
            <a:r>
              <a:rPr lang="en-US" sz="3600" b="0" i="0" dirty="0">
                <a:solidFill>
                  <a:srgbClr val="111111"/>
                </a:solidFill>
                <a:effectLst/>
                <a:highlight>
                  <a:srgbClr val="F3F3F3"/>
                </a:highlight>
                <a:latin typeface="-apple-system"/>
              </a:rPr>
              <a:t>: Define the lifecycle of data from creation to retirement and manage it accordingly.</a:t>
            </a:r>
          </a:p>
          <a:p>
            <a:pPr marL="0" indent="0" algn="l">
              <a:buNone/>
            </a:pPr>
            <a:r>
              <a:rPr lang="en-US" sz="3600" b="1" i="0" dirty="0">
                <a:solidFill>
                  <a:srgbClr val="111111"/>
                </a:solidFill>
                <a:effectLst/>
                <a:highlight>
                  <a:srgbClr val="F3F3F3"/>
                </a:highlight>
                <a:latin typeface="-apple-system"/>
              </a:rPr>
              <a:t>5.Backup and Archiving</a:t>
            </a:r>
            <a:r>
              <a:rPr lang="en-US" sz="3600" b="0" i="0" dirty="0">
                <a:solidFill>
                  <a:srgbClr val="111111"/>
                </a:solidFill>
                <a:effectLst/>
                <a:highlight>
                  <a:srgbClr val="F3F3F3"/>
                </a:highlight>
                <a:latin typeface="-apple-system"/>
              </a:rPr>
              <a:t>: Regularly back up critical data and archive data that is no longer actively used but must be retained.</a:t>
            </a:r>
          </a:p>
          <a:p>
            <a:pPr marL="0" indent="0" algn="l">
              <a:buNone/>
            </a:pPr>
            <a:r>
              <a:rPr lang="en-US" sz="3600" b="1" i="0" dirty="0">
                <a:solidFill>
                  <a:srgbClr val="111111"/>
                </a:solidFill>
                <a:effectLst/>
                <a:highlight>
                  <a:srgbClr val="F3F3F3"/>
                </a:highlight>
                <a:latin typeface="-apple-system"/>
              </a:rPr>
              <a:t>6.Compliance</a:t>
            </a:r>
            <a:r>
              <a:rPr lang="en-US" sz="3600" b="0" i="0" dirty="0">
                <a:solidFill>
                  <a:srgbClr val="111111"/>
                </a:solidFill>
                <a:effectLst/>
                <a:highlight>
                  <a:srgbClr val="F3F3F3"/>
                </a:highlight>
                <a:latin typeface="-apple-system"/>
              </a:rPr>
              <a:t>: Ensure that data management practices comply with relevant laws, regulations, and industry standards.</a:t>
            </a:r>
          </a:p>
          <a:p>
            <a:pPr marL="0" indent="0" algn="l">
              <a:buNone/>
            </a:pPr>
            <a:r>
              <a:rPr lang="en-US" sz="3600" b="1" i="0" dirty="0">
                <a:solidFill>
                  <a:srgbClr val="111111"/>
                </a:solidFill>
                <a:effectLst/>
                <a:highlight>
                  <a:srgbClr val="F3F3F3"/>
                </a:highlight>
                <a:latin typeface="-apple-system"/>
              </a:rPr>
              <a:t>7.Data Integration</a:t>
            </a:r>
            <a:r>
              <a:rPr lang="en-US" sz="3600" b="0" i="0" dirty="0">
                <a:solidFill>
                  <a:srgbClr val="111111"/>
                </a:solidFill>
                <a:effectLst/>
                <a:highlight>
                  <a:srgbClr val="F3F3F3"/>
                </a:highlight>
                <a:latin typeface="-apple-system"/>
              </a:rPr>
              <a:t>: Integrate data from various sources to provide a unified view and support decision-making.</a:t>
            </a:r>
          </a:p>
          <a:p>
            <a:endParaRPr lang="en-TZ" sz="3600" dirty="0"/>
          </a:p>
        </p:txBody>
      </p:sp>
    </p:spTree>
    <p:extLst>
      <p:ext uri="{BB962C8B-B14F-4D97-AF65-F5344CB8AC3E}">
        <p14:creationId xmlns:p14="http://schemas.microsoft.com/office/powerpoint/2010/main" val="10281383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4696D3-AD2C-2EBB-0D36-FFC08443E6EA}"/>
              </a:ext>
            </a:extLst>
          </p:cNvPr>
          <p:cNvSpPr>
            <a:spLocks noGrp="1"/>
          </p:cNvSpPr>
          <p:nvPr>
            <p:ph idx="1"/>
          </p:nvPr>
        </p:nvSpPr>
        <p:spPr>
          <a:xfrm>
            <a:off x="838200" y="419725"/>
            <a:ext cx="10515600" cy="5861154"/>
          </a:xfrm>
        </p:spPr>
        <p:txBody>
          <a:bodyPr>
            <a:noAutofit/>
          </a:bodyPr>
          <a:lstStyle/>
          <a:p>
            <a:pPr marL="0" indent="0" algn="l">
              <a:buNone/>
            </a:pPr>
            <a:r>
              <a:rPr lang="en-US" sz="3600" b="1" i="0" dirty="0">
                <a:solidFill>
                  <a:srgbClr val="111111"/>
                </a:solidFill>
                <a:effectLst/>
                <a:highlight>
                  <a:srgbClr val="F3F3F3"/>
                </a:highlight>
                <a:latin typeface="-apple-system"/>
              </a:rPr>
              <a:t>8.Metadata Management</a:t>
            </a:r>
            <a:r>
              <a:rPr lang="en-US" sz="3600" b="0" i="0" dirty="0">
                <a:solidFill>
                  <a:srgbClr val="111111"/>
                </a:solidFill>
                <a:effectLst/>
                <a:highlight>
                  <a:srgbClr val="F3F3F3"/>
                </a:highlight>
                <a:latin typeface="-apple-system"/>
              </a:rPr>
              <a:t>: Maintain metadata to provide context for data, including its source, format, and usage.</a:t>
            </a:r>
          </a:p>
          <a:p>
            <a:pPr marL="0" indent="0" algn="l">
              <a:buNone/>
            </a:pPr>
            <a:r>
              <a:rPr lang="en-US" sz="3600" b="1" i="0" dirty="0">
                <a:solidFill>
                  <a:srgbClr val="111111"/>
                </a:solidFill>
                <a:effectLst/>
                <a:highlight>
                  <a:srgbClr val="F3F3F3"/>
                </a:highlight>
                <a:latin typeface="-apple-system"/>
              </a:rPr>
              <a:t>9.Performance Tuning</a:t>
            </a:r>
            <a:r>
              <a:rPr lang="en-US" sz="3600" b="0" i="0" dirty="0">
                <a:solidFill>
                  <a:srgbClr val="111111"/>
                </a:solidFill>
                <a:effectLst/>
                <a:highlight>
                  <a:srgbClr val="F3F3F3"/>
                </a:highlight>
                <a:latin typeface="-apple-system"/>
              </a:rPr>
              <a:t>: Optimize databases and other data storage systems to ensure efficient performance.</a:t>
            </a:r>
          </a:p>
          <a:p>
            <a:pPr marL="0" indent="0" algn="l">
              <a:buNone/>
            </a:pPr>
            <a:r>
              <a:rPr lang="en-US" sz="3600" b="1" i="0" dirty="0">
                <a:solidFill>
                  <a:srgbClr val="111111"/>
                </a:solidFill>
                <a:effectLst/>
                <a:highlight>
                  <a:srgbClr val="F3F3F3"/>
                </a:highlight>
                <a:latin typeface="-apple-system"/>
              </a:rPr>
              <a:t>10.Training and Support</a:t>
            </a:r>
            <a:r>
              <a:rPr lang="en-US" sz="3600" b="0" i="0" dirty="0">
                <a:solidFill>
                  <a:srgbClr val="111111"/>
                </a:solidFill>
                <a:effectLst/>
                <a:highlight>
                  <a:srgbClr val="F3F3F3"/>
                </a:highlight>
                <a:latin typeface="-apple-system"/>
              </a:rPr>
              <a:t>: Provide training for staff involved in data administration tasks and offer support for data-related issues.</a:t>
            </a:r>
          </a:p>
          <a:p>
            <a:pPr algn="l"/>
            <a:r>
              <a:rPr lang="en-US" sz="3600" b="0" i="0" dirty="0">
                <a:solidFill>
                  <a:srgbClr val="111111"/>
                </a:solidFill>
                <a:effectLst/>
                <a:highlight>
                  <a:srgbClr val="F3F3F3"/>
                </a:highlight>
                <a:latin typeface="-apple-system"/>
              </a:rPr>
              <a:t>By adhering to these practices, organizations can effectively manage their data assets, support business processes, and drive insights from their data.</a:t>
            </a:r>
          </a:p>
          <a:p>
            <a:endParaRPr lang="en-TZ" sz="3600" dirty="0"/>
          </a:p>
        </p:txBody>
      </p:sp>
    </p:spTree>
    <p:extLst>
      <p:ext uri="{BB962C8B-B14F-4D97-AF65-F5344CB8AC3E}">
        <p14:creationId xmlns:p14="http://schemas.microsoft.com/office/powerpoint/2010/main" val="21258537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EB7B7D-303D-0A56-025E-FDBF9D6BCD34}"/>
              </a:ext>
            </a:extLst>
          </p:cNvPr>
          <p:cNvSpPr>
            <a:spLocks noGrp="1"/>
          </p:cNvSpPr>
          <p:nvPr>
            <p:ph idx="1"/>
          </p:nvPr>
        </p:nvSpPr>
        <p:spPr>
          <a:xfrm>
            <a:off x="464695" y="419726"/>
            <a:ext cx="11377535" cy="6100996"/>
          </a:xfrm>
        </p:spPr>
        <p:txBody>
          <a:bodyPr>
            <a:noAutofit/>
          </a:bodyPr>
          <a:lstStyle/>
          <a:p>
            <a:pPr algn="l"/>
            <a:r>
              <a:rPr lang="en-US" sz="3600" b="0" i="0" dirty="0">
                <a:solidFill>
                  <a:srgbClr val="111111"/>
                </a:solidFill>
                <a:effectLst/>
                <a:highlight>
                  <a:srgbClr val="F3F3F3"/>
                </a:highlight>
                <a:latin typeface="-apple-system"/>
              </a:rPr>
              <a:t>Here’s a more detailed look at data administration practices:</a:t>
            </a:r>
          </a:p>
          <a:p>
            <a:pPr algn="l">
              <a:buFont typeface="+mj-lt"/>
              <a:buAutoNum type="arabicPeriod"/>
            </a:pPr>
            <a:r>
              <a:rPr lang="en-US" sz="3600" b="1" i="0" dirty="0">
                <a:solidFill>
                  <a:srgbClr val="111111"/>
                </a:solidFill>
                <a:effectLst/>
                <a:highlight>
                  <a:srgbClr val="F3F3F3"/>
                </a:highlight>
                <a:latin typeface="-apple-system"/>
              </a:rPr>
              <a:t>Data Governance</a:t>
            </a:r>
            <a:r>
              <a:rPr lang="en-US" sz="3600" b="0" i="0" dirty="0">
                <a:solidFill>
                  <a:srgbClr val="111111"/>
                </a:solidFill>
                <a:effectLst/>
                <a:highlight>
                  <a:srgbClr val="F3F3F3"/>
                </a:highlight>
                <a:latin typeface="-apple-system"/>
              </a:rPr>
              <a:t>: Create a cross-functional team responsible for data governance to oversee data policies, standards, and compliance. This team should include stakeholders from IT, business units, and legal departments.</a:t>
            </a:r>
          </a:p>
          <a:p>
            <a:pPr algn="l">
              <a:buFont typeface="+mj-lt"/>
              <a:buAutoNum type="arabicPeriod"/>
            </a:pPr>
            <a:r>
              <a:rPr lang="en-US" sz="3600" b="1" i="0" dirty="0">
                <a:solidFill>
                  <a:srgbClr val="111111"/>
                </a:solidFill>
                <a:effectLst/>
                <a:highlight>
                  <a:srgbClr val="F3F3F3"/>
                </a:highlight>
                <a:latin typeface="-apple-system"/>
              </a:rPr>
              <a:t>Data Quality Management</a:t>
            </a:r>
            <a:r>
              <a:rPr lang="en-US" sz="3600" b="0" i="0" dirty="0">
                <a:solidFill>
                  <a:srgbClr val="111111"/>
                </a:solidFill>
                <a:effectLst/>
                <a:highlight>
                  <a:srgbClr val="F3F3F3"/>
                </a:highlight>
                <a:latin typeface="-apple-system"/>
              </a:rPr>
              <a:t>: Develop a data quality management program that includes regular audits of data accuracy, completeness, and consistency. Use tools for automated data cleansing and validation to ensure high-quality data.</a:t>
            </a:r>
          </a:p>
          <a:p>
            <a:endParaRPr lang="en-TZ" sz="3600" dirty="0"/>
          </a:p>
        </p:txBody>
      </p:sp>
    </p:spTree>
    <p:extLst>
      <p:ext uri="{BB962C8B-B14F-4D97-AF65-F5344CB8AC3E}">
        <p14:creationId xmlns:p14="http://schemas.microsoft.com/office/powerpoint/2010/main" val="38266633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B6A623-88F1-7AC0-CF2A-7D8E5ADD884C}"/>
              </a:ext>
            </a:extLst>
          </p:cNvPr>
          <p:cNvSpPr>
            <a:spLocks noGrp="1"/>
          </p:cNvSpPr>
          <p:nvPr>
            <p:ph idx="1"/>
          </p:nvPr>
        </p:nvSpPr>
        <p:spPr>
          <a:xfrm>
            <a:off x="838200" y="449705"/>
            <a:ext cx="10515600" cy="5727258"/>
          </a:xfrm>
        </p:spPr>
        <p:txBody>
          <a:bodyPr>
            <a:normAutofit/>
          </a:bodyPr>
          <a:lstStyle/>
          <a:p>
            <a:pPr marL="0" indent="0" algn="l">
              <a:buNone/>
            </a:pPr>
            <a:r>
              <a:rPr lang="en-US" sz="3600" b="1" i="0" dirty="0">
                <a:solidFill>
                  <a:srgbClr val="111111"/>
                </a:solidFill>
                <a:effectLst/>
                <a:highlight>
                  <a:srgbClr val="F3F3F3"/>
                </a:highlight>
                <a:latin typeface="-apple-system"/>
              </a:rPr>
              <a:t>3.Data Security</a:t>
            </a:r>
            <a:r>
              <a:rPr lang="en-US" sz="3600" b="0" i="0" dirty="0">
                <a:solidFill>
                  <a:srgbClr val="111111"/>
                </a:solidFill>
                <a:effectLst/>
                <a:highlight>
                  <a:srgbClr val="F3F3F3"/>
                </a:highlight>
                <a:latin typeface="-apple-system"/>
              </a:rPr>
              <a:t>: Implement a comprehensive data security strategy that includes encryption of sensitive data, regular vulnerability assessments, and incident response plans. Ensure that all access to data is logged and monitored.</a:t>
            </a:r>
          </a:p>
          <a:p>
            <a:pPr marL="0" indent="0" algn="l">
              <a:buNone/>
            </a:pPr>
            <a:r>
              <a:rPr lang="en-US" sz="3600" b="1" i="0" dirty="0">
                <a:solidFill>
                  <a:srgbClr val="111111"/>
                </a:solidFill>
                <a:effectLst/>
                <a:highlight>
                  <a:srgbClr val="F3F3F3"/>
                </a:highlight>
                <a:latin typeface="-apple-system"/>
              </a:rPr>
              <a:t>4.Data Lifecycle Management</a:t>
            </a:r>
            <a:r>
              <a:rPr lang="en-US" sz="3600" b="0" i="0" dirty="0">
                <a:solidFill>
                  <a:srgbClr val="111111"/>
                </a:solidFill>
                <a:effectLst/>
                <a:highlight>
                  <a:srgbClr val="F3F3F3"/>
                </a:highlight>
                <a:latin typeface="-apple-system"/>
              </a:rPr>
              <a:t>: Define clear policies for each stage of the data lifecycle, including creation, storage, usage, archiving, and destruction. Automate lifecycle management where possible to ensure compliance with policies.</a:t>
            </a:r>
          </a:p>
          <a:p>
            <a:endParaRPr lang="en-TZ" sz="3600" dirty="0"/>
          </a:p>
        </p:txBody>
      </p:sp>
    </p:spTree>
    <p:extLst>
      <p:ext uri="{BB962C8B-B14F-4D97-AF65-F5344CB8AC3E}">
        <p14:creationId xmlns:p14="http://schemas.microsoft.com/office/powerpoint/2010/main" val="3952816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26CB93-93E1-FF17-BC08-6DB4EF6D9C30}"/>
              </a:ext>
            </a:extLst>
          </p:cNvPr>
          <p:cNvSpPr>
            <a:spLocks noGrp="1"/>
          </p:cNvSpPr>
          <p:nvPr>
            <p:ph idx="1"/>
          </p:nvPr>
        </p:nvSpPr>
        <p:spPr>
          <a:xfrm>
            <a:off x="449705" y="404734"/>
            <a:ext cx="11197652" cy="6026046"/>
          </a:xfrm>
        </p:spPr>
        <p:txBody>
          <a:bodyPr>
            <a:noAutofit/>
          </a:bodyPr>
          <a:lstStyle/>
          <a:p>
            <a:pPr marL="0" indent="0" algn="l">
              <a:buNone/>
            </a:pPr>
            <a:r>
              <a:rPr lang="en-US" sz="3600" b="1" dirty="0">
                <a:solidFill>
                  <a:srgbClr val="111111"/>
                </a:solidFill>
                <a:highlight>
                  <a:srgbClr val="F3F3F3"/>
                </a:highlight>
                <a:latin typeface="-apple-system"/>
              </a:rPr>
              <a:t>5</a:t>
            </a:r>
            <a:r>
              <a:rPr lang="en-US" sz="3600" b="1" i="0" dirty="0">
                <a:solidFill>
                  <a:srgbClr val="111111"/>
                </a:solidFill>
                <a:effectLst/>
                <a:highlight>
                  <a:srgbClr val="F3F3F3"/>
                </a:highlight>
                <a:latin typeface="-apple-system"/>
              </a:rPr>
              <a:t>.Backup and Archiving</a:t>
            </a:r>
            <a:r>
              <a:rPr lang="en-US" sz="3600" b="0" i="0" dirty="0">
                <a:solidFill>
                  <a:srgbClr val="111111"/>
                </a:solidFill>
                <a:effectLst/>
                <a:highlight>
                  <a:srgbClr val="F3F3F3"/>
                </a:highlight>
                <a:latin typeface="-apple-system"/>
              </a:rPr>
              <a:t>: Determine the appropriate frequency for backups based on the criticality of the data. Use reliable storage solutions for archiving, and ensure that archived data can be retrieved when needed.</a:t>
            </a:r>
          </a:p>
          <a:p>
            <a:pPr marL="0" indent="0" algn="l">
              <a:buNone/>
            </a:pPr>
            <a:r>
              <a:rPr lang="en-US" sz="3600" b="1" i="0" dirty="0">
                <a:solidFill>
                  <a:srgbClr val="111111"/>
                </a:solidFill>
                <a:effectLst/>
                <a:highlight>
                  <a:srgbClr val="F3F3F3"/>
                </a:highlight>
                <a:latin typeface="-apple-system"/>
              </a:rPr>
              <a:t>6.Compliance</a:t>
            </a:r>
            <a:r>
              <a:rPr lang="en-US" sz="3600" b="0" i="0" dirty="0">
                <a:solidFill>
                  <a:srgbClr val="111111"/>
                </a:solidFill>
                <a:effectLst/>
                <a:highlight>
                  <a:srgbClr val="F3F3F3"/>
                </a:highlight>
                <a:latin typeface="-apple-system"/>
              </a:rPr>
              <a:t>: Stay up-to-date with legal and regulatory requirements related to data privacy and protection. Implement controls to ensure that data handling practices meet these requirements.</a:t>
            </a:r>
          </a:p>
          <a:p>
            <a:pPr marL="0" indent="0" algn="l">
              <a:buNone/>
            </a:pPr>
            <a:r>
              <a:rPr lang="en-US" sz="3600" b="1" i="0" dirty="0">
                <a:solidFill>
                  <a:srgbClr val="111111"/>
                </a:solidFill>
                <a:effectLst/>
                <a:highlight>
                  <a:srgbClr val="F3F3F3"/>
                </a:highlight>
                <a:latin typeface="-apple-system"/>
              </a:rPr>
              <a:t>7.Data Integration</a:t>
            </a:r>
            <a:r>
              <a:rPr lang="en-US" sz="3600" b="0" i="0" dirty="0">
                <a:solidFill>
                  <a:srgbClr val="111111"/>
                </a:solidFill>
                <a:effectLst/>
                <a:highlight>
                  <a:srgbClr val="F3F3F3"/>
                </a:highlight>
                <a:latin typeface="-apple-system"/>
              </a:rPr>
              <a:t>: Use integration tools to consolidate data from disparate sources into a centralized repository or data warehouse. Ensure that integration processes maintain the integrity of the data</a:t>
            </a:r>
          </a:p>
          <a:p>
            <a:endParaRPr lang="en-TZ" sz="3600" dirty="0"/>
          </a:p>
        </p:txBody>
      </p:sp>
    </p:spTree>
    <p:extLst>
      <p:ext uri="{BB962C8B-B14F-4D97-AF65-F5344CB8AC3E}">
        <p14:creationId xmlns:p14="http://schemas.microsoft.com/office/powerpoint/2010/main" val="23276076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42C4F0-16AF-A89D-8525-9CDF67460E9C}"/>
              </a:ext>
            </a:extLst>
          </p:cNvPr>
          <p:cNvSpPr>
            <a:spLocks noGrp="1"/>
          </p:cNvSpPr>
          <p:nvPr>
            <p:ph idx="1"/>
          </p:nvPr>
        </p:nvSpPr>
        <p:spPr>
          <a:xfrm>
            <a:off x="434715" y="389744"/>
            <a:ext cx="11317574" cy="6071017"/>
          </a:xfrm>
        </p:spPr>
        <p:txBody>
          <a:bodyPr>
            <a:noAutofit/>
          </a:bodyPr>
          <a:lstStyle/>
          <a:p>
            <a:pPr marL="0" indent="0" algn="l">
              <a:buNone/>
            </a:pPr>
            <a:r>
              <a:rPr lang="en-US" sz="3100" b="1" i="0" dirty="0">
                <a:solidFill>
                  <a:srgbClr val="111111"/>
                </a:solidFill>
                <a:effectLst/>
                <a:highlight>
                  <a:srgbClr val="F3F3F3"/>
                </a:highlight>
                <a:latin typeface="-apple-system"/>
              </a:rPr>
              <a:t>8.Metadata Management</a:t>
            </a:r>
            <a:r>
              <a:rPr lang="en-US" sz="3100" b="0" i="0" dirty="0">
                <a:solidFill>
                  <a:srgbClr val="111111"/>
                </a:solidFill>
                <a:effectLst/>
                <a:highlight>
                  <a:srgbClr val="F3F3F3"/>
                </a:highlight>
                <a:latin typeface="-apple-system"/>
              </a:rPr>
              <a:t>: Collect and manage metadata for all data assets to facilitate searchability, traceability, and understanding of the data’s context and lineage.</a:t>
            </a:r>
          </a:p>
          <a:p>
            <a:pPr marL="0" indent="0" algn="l">
              <a:buNone/>
            </a:pPr>
            <a:r>
              <a:rPr lang="en-US" sz="3100" b="1" i="0" dirty="0">
                <a:solidFill>
                  <a:srgbClr val="111111"/>
                </a:solidFill>
                <a:effectLst/>
                <a:highlight>
                  <a:srgbClr val="F3F3F3"/>
                </a:highlight>
                <a:latin typeface="-apple-system"/>
              </a:rPr>
              <a:t>9.Performance Tuning</a:t>
            </a:r>
            <a:r>
              <a:rPr lang="en-US" sz="3100" b="0" i="0" dirty="0">
                <a:solidFill>
                  <a:srgbClr val="111111"/>
                </a:solidFill>
                <a:effectLst/>
                <a:highlight>
                  <a:srgbClr val="F3F3F3"/>
                </a:highlight>
                <a:latin typeface="-apple-system"/>
              </a:rPr>
              <a:t>: Regularly monitor database performance and conduct tuning activities such as indexing, query optimization, and hardware upgrades to maintain optimal performance.</a:t>
            </a:r>
          </a:p>
          <a:p>
            <a:pPr marL="0" indent="0" algn="l">
              <a:buNone/>
            </a:pPr>
            <a:r>
              <a:rPr lang="en-US" sz="3100" b="1" i="0" dirty="0">
                <a:solidFill>
                  <a:srgbClr val="111111"/>
                </a:solidFill>
                <a:effectLst/>
                <a:highlight>
                  <a:srgbClr val="F3F3F3"/>
                </a:highlight>
                <a:latin typeface="-apple-system"/>
              </a:rPr>
              <a:t>10.Training and Support</a:t>
            </a:r>
            <a:r>
              <a:rPr lang="en-US" sz="3100" b="0" i="0" dirty="0">
                <a:solidFill>
                  <a:srgbClr val="111111"/>
                </a:solidFill>
                <a:effectLst/>
                <a:highlight>
                  <a:srgbClr val="F3F3F3"/>
                </a:highlight>
                <a:latin typeface="-apple-system"/>
              </a:rPr>
              <a:t>: Provide ongoing training for staff on best practices in data administration. Establish a support structure for addressing data-related inquiries and issues promptly.</a:t>
            </a:r>
          </a:p>
          <a:p>
            <a:pPr algn="l"/>
            <a:r>
              <a:rPr lang="en-US" sz="3100" b="0" i="0" dirty="0">
                <a:solidFill>
                  <a:srgbClr val="111111"/>
                </a:solidFill>
                <a:effectLst/>
                <a:highlight>
                  <a:srgbClr val="F3F3F3"/>
                </a:highlight>
                <a:latin typeface="-apple-system"/>
              </a:rPr>
              <a:t>By focusing on these detailed practices, organizations can enhance their data administration efforts, leading to better decision-making, operational efficiency, and compliance with regulations.</a:t>
            </a:r>
          </a:p>
          <a:p>
            <a:endParaRPr lang="en-TZ" sz="3100" dirty="0"/>
          </a:p>
        </p:txBody>
      </p:sp>
    </p:spTree>
    <p:extLst>
      <p:ext uri="{BB962C8B-B14F-4D97-AF65-F5344CB8AC3E}">
        <p14:creationId xmlns:p14="http://schemas.microsoft.com/office/powerpoint/2010/main" val="28226655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3FA52-7BB7-4502-2C7B-1D65C24B57A5}"/>
              </a:ext>
            </a:extLst>
          </p:cNvPr>
          <p:cNvSpPr>
            <a:spLocks noGrp="1"/>
          </p:cNvSpPr>
          <p:nvPr>
            <p:ph type="title"/>
          </p:nvPr>
        </p:nvSpPr>
        <p:spPr>
          <a:xfrm>
            <a:off x="838200" y="365126"/>
            <a:ext cx="10515600" cy="669196"/>
          </a:xfrm>
        </p:spPr>
        <p:txBody>
          <a:bodyPr>
            <a:normAutofit/>
          </a:bodyPr>
          <a:lstStyle/>
          <a:p>
            <a:r>
              <a:rPr lang="en-US" sz="4000" b="1" u="none" strike="noStrike" dirty="0">
                <a:solidFill>
                  <a:srgbClr val="000000"/>
                </a:solidFill>
                <a:effectLst/>
                <a:latin typeface="Times New Roman" panose="02020603050405020304" pitchFamily="18" charset="0"/>
                <a:ea typeface="Times New Roman" panose="02020603050405020304" pitchFamily="18" charset="0"/>
              </a:rPr>
              <a:t>Capacity and performance monitoring</a:t>
            </a:r>
            <a:endParaRPr lang="en-TZ" sz="4000" b="1" dirty="0"/>
          </a:p>
        </p:txBody>
      </p:sp>
      <p:sp>
        <p:nvSpPr>
          <p:cNvPr id="3" name="Content Placeholder 2">
            <a:extLst>
              <a:ext uri="{FF2B5EF4-FFF2-40B4-BE49-F238E27FC236}">
                <a16:creationId xmlns:a16="http://schemas.microsoft.com/office/drawing/2014/main" id="{08B4061A-6530-938E-501D-5F58BBAC502E}"/>
              </a:ext>
            </a:extLst>
          </p:cNvPr>
          <p:cNvSpPr>
            <a:spLocks noGrp="1"/>
          </p:cNvSpPr>
          <p:nvPr>
            <p:ph idx="1"/>
          </p:nvPr>
        </p:nvSpPr>
        <p:spPr>
          <a:xfrm>
            <a:off x="479685" y="1259174"/>
            <a:ext cx="11167672" cy="5126636"/>
          </a:xfrm>
        </p:spPr>
        <p:txBody>
          <a:bodyPr>
            <a:normAutofit/>
          </a:bodyPr>
          <a:lstStyle/>
          <a:p>
            <a:pPr algn="l"/>
            <a:r>
              <a:rPr lang="en-US" b="0" i="0" dirty="0">
                <a:solidFill>
                  <a:srgbClr val="111111"/>
                </a:solidFill>
                <a:effectLst/>
                <a:highlight>
                  <a:srgbClr val="F3F3F3"/>
                </a:highlight>
                <a:latin typeface="-apple-system"/>
              </a:rPr>
              <a:t>Capacity and performance monitoring are critical for ensuring that information systems can handle current and future workloads efficiently. Here are key aspects to consider:</a:t>
            </a:r>
          </a:p>
          <a:p>
            <a:pPr algn="l">
              <a:buFont typeface="+mj-lt"/>
              <a:buAutoNum type="arabicPeriod"/>
            </a:pPr>
            <a:r>
              <a:rPr lang="en-US" b="1" i="0" dirty="0">
                <a:solidFill>
                  <a:srgbClr val="111111"/>
                </a:solidFill>
                <a:effectLst/>
                <a:highlight>
                  <a:srgbClr val="F3F3F3"/>
                </a:highlight>
                <a:latin typeface="-apple-system"/>
              </a:rPr>
              <a:t>Baseline Establishment</a:t>
            </a:r>
            <a:r>
              <a:rPr lang="en-US" b="0" i="0" dirty="0">
                <a:solidFill>
                  <a:srgbClr val="111111"/>
                </a:solidFill>
                <a:effectLst/>
                <a:highlight>
                  <a:srgbClr val="F3F3F3"/>
                </a:highlight>
                <a:latin typeface="-apple-system"/>
              </a:rPr>
              <a:t>: Determine the normal operating capacity and performance levels for your systems to establish a baseline for comparison.</a:t>
            </a:r>
          </a:p>
          <a:p>
            <a:pPr algn="l">
              <a:buFont typeface="+mj-lt"/>
              <a:buAutoNum type="arabicPeriod"/>
            </a:pPr>
            <a:r>
              <a:rPr lang="en-US" b="1" i="0" dirty="0">
                <a:solidFill>
                  <a:srgbClr val="111111"/>
                </a:solidFill>
                <a:effectLst/>
                <a:highlight>
                  <a:srgbClr val="F3F3F3"/>
                </a:highlight>
                <a:latin typeface="-apple-system"/>
              </a:rPr>
              <a:t>Monitoring Tools</a:t>
            </a:r>
            <a:r>
              <a:rPr lang="en-US" b="0" i="0" dirty="0">
                <a:solidFill>
                  <a:srgbClr val="111111"/>
                </a:solidFill>
                <a:effectLst/>
                <a:highlight>
                  <a:srgbClr val="F3F3F3"/>
                </a:highlight>
                <a:latin typeface="-apple-system"/>
              </a:rPr>
              <a:t>: Utilize specialized tools that can measure and report on various performance metrics such as CPU usage, memory consumption, disk I/O, and network throughput.</a:t>
            </a:r>
          </a:p>
          <a:p>
            <a:pPr algn="l">
              <a:buFont typeface="+mj-lt"/>
              <a:buAutoNum type="arabicPeriod"/>
            </a:pPr>
            <a:r>
              <a:rPr lang="en-US" b="1" i="0" dirty="0">
                <a:solidFill>
                  <a:srgbClr val="111111"/>
                </a:solidFill>
                <a:effectLst/>
                <a:highlight>
                  <a:srgbClr val="F3F3F3"/>
                </a:highlight>
                <a:latin typeface="-apple-system"/>
              </a:rPr>
              <a:t>Thresholds and Alerts</a:t>
            </a:r>
            <a:r>
              <a:rPr lang="en-US" b="0" i="0" dirty="0">
                <a:solidFill>
                  <a:srgbClr val="111111"/>
                </a:solidFill>
                <a:effectLst/>
                <a:highlight>
                  <a:srgbClr val="F3F3F3"/>
                </a:highlight>
                <a:latin typeface="-apple-system"/>
              </a:rPr>
              <a:t>: Set thresholds for when usage approaches capacity limits, and configure alerts to notify IT staff of potential issues before they impact users.</a:t>
            </a:r>
          </a:p>
          <a:p>
            <a:endParaRPr lang="en-TZ" dirty="0"/>
          </a:p>
        </p:txBody>
      </p:sp>
    </p:spTree>
    <p:extLst>
      <p:ext uri="{BB962C8B-B14F-4D97-AF65-F5344CB8AC3E}">
        <p14:creationId xmlns:p14="http://schemas.microsoft.com/office/powerpoint/2010/main" val="36239274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A65C91-F949-7FB9-FE59-D83F7D99BC42}"/>
              </a:ext>
            </a:extLst>
          </p:cNvPr>
          <p:cNvSpPr>
            <a:spLocks noGrp="1"/>
          </p:cNvSpPr>
          <p:nvPr>
            <p:ph idx="1"/>
          </p:nvPr>
        </p:nvSpPr>
        <p:spPr>
          <a:xfrm>
            <a:off x="464695" y="404734"/>
            <a:ext cx="11347554" cy="6026045"/>
          </a:xfrm>
        </p:spPr>
        <p:txBody>
          <a:bodyPr>
            <a:normAutofit/>
          </a:bodyPr>
          <a:lstStyle/>
          <a:p>
            <a:pPr marL="0" indent="0" algn="l">
              <a:buNone/>
            </a:pPr>
            <a:r>
              <a:rPr lang="en-US" sz="3500" b="1" i="0" dirty="0">
                <a:solidFill>
                  <a:srgbClr val="111111"/>
                </a:solidFill>
                <a:effectLst/>
                <a:highlight>
                  <a:srgbClr val="F3F3F3"/>
                </a:highlight>
                <a:latin typeface="-apple-system"/>
              </a:rPr>
              <a:t>4.Trend Analysis</a:t>
            </a:r>
            <a:r>
              <a:rPr lang="en-US" sz="3500" b="0" i="0" dirty="0">
                <a:solidFill>
                  <a:srgbClr val="111111"/>
                </a:solidFill>
                <a:effectLst/>
                <a:highlight>
                  <a:srgbClr val="F3F3F3"/>
                </a:highlight>
                <a:latin typeface="-apple-system"/>
              </a:rPr>
              <a:t>: Analyze performance data over time to identify trends that may indicate the need for capacity upgrades or optimization.</a:t>
            </a:r>
          </a:p>
          <a:p>
            <a:pPr marL="0" indent="0" algn="l">
              <a:buNone/>
            </a:pPr>
            <a:r>
              <a:rPr lang="en-US" sz="3500" b="1" i="0" dirty="0">
                <a:solidFill>
                  <a:srgbClr val="111111"/>
                </a:solidFill>
                <a:effectLst/>
                <a:highlight>
                  <a:srgbClr val="F3F3F3"/>
                </a:highlight>
                <a:latin typeface="-apple-system"/>
              </a:rPr>
              <a:t>5.Bottleneck Identification</a:t>
            </a:r>
            <a:r>
              <a:rPr lang="en-US" sz="3500" b="0" i="0" dirty="0">
                <a:solidFill>
                  <a:srgbClr val="111111"/>
                </a:solidFill>
                <a:effectLst/>
                <a:highlight>
                  <a:srgbClr val="F3F3F3"/>
                </a:highlight>
                <a:latin typeface="-apple-system"/>
              </a:rPr>
              <a:t>: Use monitoring data to pinpoint bottlenecks in the system that may require attention, such as slow queries or insufficient storage.</a:t>
            </a:r>
          </a:p>
          <a:p>
            <a:pPr marL="0" indent="0" algn="l">
              <a:buNone/>
            </a:pPr>
            <a:r>
              <a:rPr lang="en-US" sz="3500" b="1" i="0" dirty="0">
                <a:solidFill>
                  <a:srgbClr val="111111"/>
                </a:solidFill>
                <a:effectLst/>
                <a:highlight>
                  <a:srgbClr val="F3F3F3"/>
                </a:highlight>
                <a:latin typeface="-apple-system"/>
              </a:rPr>
              <a:t>6.Load Testing</a:t>
            </a:r>
            <a:r>
              <a:rPr lang="en-US" sz="3500" b="0" i="0" dirty="0">
                <a:solidFill>
                  <a:srgbClr val="111111"/>
                </a:solidFill>
                <a:effectLst/>
                <a:highlight>
                  <a:srgbClr val="F3F3F3"/>
                </a:highlight>
                <a:latin typeface="-apple-system"/>
              </a:rPr>
              <a:t>: Perform load testing to simulate peak usage conditions and assess how the system performs under stress.</a:t>
            </a:r>
          </a:p>
          <a:p>
            <a:pPr marL="0" indent="0" algn="l">
              <a:buNone/>
            </a:pPr>
            <a:r>
              <a:rPr lang="en-US" sz="3500" b="1" i="0" dirty="0">
                <a:solidFill>
                  <a:srgbClr val="111111"/>
                </a:solidFill>
                <a:effectLst/>
                <a:highlight>
                  <a:srgbClr val="F3F3F3"/>
                </a:highlight>
                <a:latin typeface="-apple-system"/>
              </a:rPr>
              <a:t>7.Capacity Planning</a:t>
            </a:r>
            <a:r>
              <a:rPr lang="en-US" sz="3500" b="0" i="0" dirty="0">
                <a:solidFill>
                  <a:srgbClr val="111111"/>
                </a:solidFill>
                <a:effectLst/>
                <a:highlight>
                  <a:srgbClr val="F3F3F3"/>
                </a:highlight>
                <a:latin typeface="-apple-system"/>
              </a:rPr>
              <a:t>: Use historical data and trend analysis to forecast future capacity needs and plan for system expansions or</a:t>
            </a:r>
          </a:p>
          <a:p>
            <a:endParaRPr lang="en-TZ" sz="3500" dirty="0"/>
          </a:p>
        </p:txBody>
      </p:sp>
    </p:spTree>
    <p:extLst>
      <p:ext uri="{BB962C8B-B14F-4D97-AF65-F5344CB8AC3E}">
        <p14:creationId xmlns:p14="http://schemas.microsoft.com/office/powerpoint/2010/main" val="18527408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E3577E-FC36-0EB3-AB19-BC8801A95F39}"/>
              </a:ext>
            </a:extLst>
          </p:cNvPr>
          <p:cNvSpPr>
            <a:spLocks noGrp="1"/>
          </p:cNvSpPr>
          <p:nvPr>
            <p:ph idx="1"/>
          </p:nvPr>
        </p:nvSpPr>
        <p:spPr>
          <a:xfrm>
            <a:off x="838200" y="524656"/>
            <a:ext cx="10515600" cy="5652307"/>
          </a:xfrm>
        </p:spPr>
        <p:txBody>
          <a:bodyPr>
            <a:normAutofit/>
          </a:bodyPr>
          <a:lstStyle/>
          <a:p>
            <a:pPr marL="0" indent="0" algn="l">
              <a:buNone/>
            </a:pPr>
            <a:r>
              <a:rPr lang="en-US" sz="4000" b="1" i="0" dirty="0">
                <a:solidFill>
                  <a:srgbClr val="111111"/>
                </a:solidFill>
                <a:effectLst/>
                <a:highlight>
                  <a:srgbClr val="F3F3F3"/>
                </a:highlight>
                <a:latin typeface="-apple-system"/>
              </a:rPr>
              <a:t>8.Resource Optimization</a:t>
            </a:r>
            <a:r>
              <a:rPr lang="en-US" sz="4000" b="0" i="0" dirty="0">
                <a:solidFill>
                  <a:srgbClr val="111111"/>
                </a:solidFill>
                <a:effectLst/>
                <a:highlight>
                  <a:srgbClr val="F3F3F3"/>
                </a:highlight>
                <a:latin typeface="-apple-system"/>
              </a:rPr>
              <a:t>: Optimize the use of existing resources through techniques like virtualization, load balancing, and resource pooling.</a:t>
            </a:r>
          </a:p>
          <a:p>
            <a:pPr algn="l"/>
            <a:r>
              <a:rPr lang="en-US" sz="4000" b="0" i="0" dirty="0">
                <a:solidFill>
                  <a:srgbClr val="111111"/>
                </a:solidFill>
                <a:effectLst/>
                <a:highlight>
                  <a:srgbClr val="F3F3F3"/>
                </a:highlight>
                <a:latin typeface="-apple-system"/>
              </a:rPr>
              <a:t>By actively monitoring capacity and performance, organizations can proactively manage their IT resources, ensuring that systems remain responsive and available to meet business demands.</a:t>
            </a:r>
          </a:p>
          <a:p>
            <a:endParaRPr lang="en-TZ" sz="4000" dirty="0"/>
          </a:p>
        </p:txBody>
      </p:sp>
    </p:spTree>
    <p:extLst>
      <p:ext uri="{BB962C8B-B14F-4D97-AF65-F5344CB8AC3E}">
        <p14:creationId xmlns:p14="http://schemas.microsoft.com/office/powerpoint/2010/main" val="34620554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739643-600B-133F-0E7B-1181856FECB9}"/>
              </a:ext>
            </a:extLst>
          </p:cNvPr>
          <p:cNvSpPr>
            <a:spLocks noGrp="1"/>
          </p:cNvSpPr>
          <p:nvPr>
            <p:ph idx="1"/>
          </p:nvPr>
        </p:nvSpPr>
        <p:spPr>
          <a:xfrm>
            <a:off x="838200" y="539646"/>
            <a:ext cx="10515600" cy="5637317"/>
          </a:xfrm>
        </p:spPr>
        <p:txBody>
          <a:bodyPr>
            <a:normAutofit/>
          </a:bodyPr>
          <a:lstStyle/>
          <a:p>
            <a:pPr algn="l"/>
            <a:r>
              <a:rPr lang="en-US" sz="3200" b="0" i="0" dirty="0">
                <a:solidFill>
                  <a:srgbClr val="111111"/>
                </a:solidFill>
                <a:effectLst/>
                <a:highlight>
                  <a:srgbClr val="F3F3F3"/>
                </a:highlight>
                <a:latin typeface="-apple-system"/>
              </a:rPr>
              <a:t>Here are some common challenges associated with capacity and performance monitoring:</a:t>
            </a:r>
          </a:p>
          <a:p>
            <a:pPr algn="l">
              <a:buFont typeface="+mj-lt"/>
              <a:buAutoNum type="arabicPeriod"/>
            </a:pPr>
            <a:r>
              <a:rPr lang="en-US" sz="3200" b="1" i="0" dirty="0">
                <a:solidFill>
                  <a:srgbClr val="111111"/>
                </a:solidFill>
                <a:effectLst/>
                <a:highlight>
                  <a:srgbClr val="F3F3F3"/>
                </a:highlight>
                <a:latin typeface="-apple-system"/>
              </a:rPr>
              <a:t>Data Overload</a:t>
            </a:r>
            <a:r>
              <a:rPr lang="en-US" sz="3200" b="0" i="0" dirty="0">
                <a:solidFill>
                  <a:srgbClr val="111111"/>
                </a:solidFill>
                <a:effectLst/>
                <a:highlight>
                  <a:srgbClr val="F3F3F3"/>
                </a:highlight>
                <a:latin typeface="-apple-system"/>
              </a:rPr>
              <a:t>: With the vast amount of data generated by monitoring tools, it can be challenging to identify what is relevant and requires attention.</a:t>
            </a:r>
          </a:p>
          <a:p>
            <a:pPr algn="l">
              <a:buFont typeface="+mj-lt"/>
              <a:buAutoNum type="arabicPeriod"/>
            </a:pPr>
            <a:r>
              <a:rPr lang="en-US" sz="3200" b="1" i="0" dirty="0">
                <a:solidFill>
                  <a:srgbClr val="111111"/>
                </a:solidFill>
                <a:effectLst/>
                <a:highlight>
                  <a:srgbClr val="F3F3F3"/>
                </a:highlight>
                <a:latin typeface="-apple-system"/>
              </a:rPr>
              <a:t>Dynamic Environments</a:t>
            </a:r>
            <a:r>
              <a:rPr lang="en-US" sz="3200" b="0" i="0" dirty="0">
                <a:solidFill>
                  <a:srgbClr val="111111"/>
                </a:solidFill>
                <a:effectLst/>
                <a:highlight>
                  <a:srgbClr val="F3F3F3"/>
                </a:highlight>
                <a:latin typeface="-apple-system"/>
              </a:rPr>
              <a:t>: In cloud-based or virtualized environments, resources can change rapidly, making it difficult to track and manage performance effectively.</a:t>
            </a:r>
          </a:p>
          <a:p>
            <a:pPr marL="0" indent="0">
              <a:buNone/>
            </a:pPr>
            <a:r>
              <a:rPr lang="en-US" sz="3200" b="1" dirty="0">
                <a:solidFill>
                  <a:srgbClr val="111111"/>
                </a:solidFill>
                <a:highlight>
                  <a:srgbClr val="F3F3F3"/>
                </a:highlight>
                <a:latin typeface="-apple-system"/>
              </a:rPr>
              <a:t>3</a:t>
            </a:r>
            <a:r>
              <a:rPr lang="en-US" sz="3200" dirty="0">
                <a:solidFill>
                  <a:srgbClr val="111111"/>
                </a:solidFill>
                <a:highlight>
                  <a:srgbClr val="F3F3F3"/>
                </a:highlight>
                <a:latin typeface="-apple-system"/>
              </a:rPr>
              <a:t>.</a:t>
            </a:r>
            <a:r>
              <a:rPr lang="en-US" sz="3200" b="1" i="0" dirty="0">
                <a:solidFill>
                  <a:srgbClr val="111111"/>
                </a:solidFill>
                <a:effectLst/>
                <a:highlight>
                  <a:srgbClr val="F3F3F3"/>
                </a:highlight>
                <a:latin typeface="-apple-system"/>
              </a:rPr>
              <a:t> Complex Systems</a:t>
            </a:r>
            <a:r>
              <a:rPr lang="en-US" sz="3200" b="0" i="0" dirty="0">
                <a:solidFill>
                  <a:srgbClr val="111111"/>
                </a:solidFill>
                <a:effectLst/>
                <a:highlight>
                  <a:srgbClr val="F3F3F3"/>
                </a:highlight>
                <a:latin typeface="-apple-system"/>
              </a:rPr>
              <a:t>: Modern IT systems often have many interdependent components, which can complicate the process of identifying the root cause of performance issues.</a:t>
            </a:r>
          </a:p>
          <a:p>
            <a:pPr marL="0" indent="0" algn="l">
              <a:buNone/>
            </a:pPr>
            <a:endParaRPr lang="en-US" sz="3200" b="0" i="0" dirty="0">
              <a:solidFill>
                <a:srgbClr val="111111"/>
              </a:solidFill>
              <a:effectLst/>
              <a:highlight>
                <a:srgbClr val="F3F3F3"/>
              </a:highlight>
              <a:latin typeface="-apple-system"/>
            </a:endParaRPr>
          </a:p>
          <a:p>
            <a:endParaRPr lang="en-TZ" sz="3200" dirty="0"/>
          </a:p>
        </p:txBody>
      </p:sp>
    </p:spTree>
    <p:extLst>
      <p:ext uri="{BB962C8B-B14F-4D97-AF65-F5344CB8AC3E}">
        <p14:creationId xmlns:p14="http://schemas.microsoft.com/office/powerpoint/2010/main" val="6755135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7183AA-851C-7DBE-B30A-33E6925D7E9A}"/>
              </a:ext>
            </a:extLst>
          </p:cNvPr>
          <p:cNvSpPr>
            <a:spLocks noGrp="1"/>
          </p:cNvSpPr>
          <p:nvPr>
            <p:ph idx="1"/>
          </p:nvPr>
        </p:nvSpPr>
        <p:spPr>
          <a:xfrm>
            <a:off x="404733" y="359764"/>
            <a:ext cx="11362545" cy="6056026"/>
          </a:xfrm>
        </p:spPr>
        <p:txBody>
          <a:bodyPr>
            <a:noAutofit/>
          </a:bodyPr>
          <a:lstStyle/>
          <a:p>
            <a:pPr marL="0" indent="0" algn="l">
              <a:buNone/>
            </a:pPr>
            <a:r>
              <a:rPr lang="en-US" sz="3500" b="1" i="0" dirty="0">
                <a:solidFill>
                  <a:srgbClr val="111111"/>
                </a:solidFill>
                <a:effectLst/>
                <a:highlight>
                  <a:srgbClr val="F3F3F3"/>
                </a:highlight>
                <a:latin typeface="-apple-system"/>
              </a:rPr>
              <a:t>4.Cost Management</a:t>
            </a:r>
            <a:r>
              <a:rPr lang="en-US" sz="3500" b="0" i="0" dirty="0">
                <a:solidFill>
                  <a:srgbClr val="111111"/>
                </a:solidFill>
                <a:effectLst/>
                <a:highlight>
                  <a:srgbClr val="F3F3F3"/>
                </a:highlight>
                <a:latin typeface="-apple-system"/>
              </a:rPr>
              <a:t>: Balancing performance needs with budget constraints can be challenging, especially when trying to plan for future capacity requirements.</a:t>
            </a:r>
          </a:p>
          <a:p>
            <a:pPr marL="0" indent="0" algn="l">
              <a:buNone/>
            </a:pPr>
            <a:r>
              <a:rPr lang="en-US" sz="3500" b="1" i="0" dirty="0">
                <a:solidFill>
                  <a:srgbClr val="111111"/>
                </a:solidFill>
                <a:effectLst/>
                <a:highlight>
                  <a:srgbClr val="F3F3F3"/>
                </a:highlight>
                <a:latin typeface="-apple-system"/>
              </a:rPr>
              <a:t>5.Skill Gaps</a:t>
            </a:r>
            <a:r>
              <a:rPr lang="en-US" sz="3500" b="0" i="0" dirty="0">
                <a:solidFill>
                  <a:srgbClr val="111111"/>
                </a:solidFill>
                <a:effectLst/>
                <a:highlight>
                  <a:srgbClr val="F3F3F3"/>
                </a:highlight>
                <a:latin typeface="-apple-system"/>
              </a:rPr>
              <a:t>: The technical expertise required to configure, manage, and interpret monitoring tools and data can be a barrier for some organizations.</a:t>
            </a:r>
          </a:p>
          <a:p>
            <a:pPr marL="0" indent="0" algn="l">
              <a:buNone/>
            </a:pPr>
            <a:r>
              <a:rPr lang="en-US" sz="3500" b="1" i="0" dirty="0">
                <a:solidFill>
                  <a:srgbClr val="111111"/>
                </a:solidFill>
                <a:effectLst/>
                <a:highlight>
                  <a:srgbClr val="F3F3F3"/>
                </a:highlight>
                <a:latin typeface="-apple-system"/>
              </a:rPr>
              <a:t>6.Alert Fatigue</a:t>
            </a:r>
            <a:r>
              <a:rPr lang="en-US" sz="3500" b="0" i="0" dirty="0">
                <a:solidFill>
                  <a:srgbClr val="111111"/>
                </a:solidFill>
                <a:effectLst/>
                <a:highlight>
                  <a:srgbClr val="F3F3F3"/>
                </a:highlight>
                <a:latin typeface="-apple-system"/>
              </a:rPr>
              <a:t>: Too many alerts can desensitize IT staff to warnings, leading to slower response times or missed critical alerts.</a:t>
            </a:r>
          </a:p>
          <a:p>
            <a:pPr marL="0" indent="0">
              <a:buNone/>
            </a:pPr>
            <a:r>
              <a:rPr lang="en-US" sz="3500" b="1" i="0" dirty="0">
                <a:solidFill>
                  <a:srgbClr val="111111"/>
                </a:solidFill>
                <a:effectLst/>
                <a:highlight>
                  <a:srgbClr val="F3F3F3"/>
                </a:highlight>
                <a:latin typeface="-apple-system"/>
              </a:rPr>
              <a:t>7.Integration Issues</a:t>
            </a:r>
            <a:r>
              <a:rPr lang="en-US" sz="3500" b="0" i="0" dirty="0">
                <a:solidFill>
                  <a:srgbClr val="111111"/>
                </a:solidFill>
                <a:effectLst/>
                <a:highlight>
                  <a:srgbClr val="F3F3F3"/>
                </a:highlight>
                <a:latin typeface="-apple-system"/>
              </a:rPr>
              <a:t>: Integrating monitoring tools with existing systems and ensuring they work harmoniously can be a complex task.</a:t>
            </a:r>
          </a:p>
          <a:p>
            <a:pPr marL="0" indent="0" algn="l">
              <a:buNone/>
            </a:pPr>
            <a:endParaRPr lang="en-US" sz="3500" b="1" i="0" dirty="0">
              <a:solidFill>
                <a:srgbClr val="111111"/>
              </a:solidFill>
              <a:effectLst/>
              <a:highlight>
                <a:srgbClr val="F3F3F3"/>
              </a:highlight>
              <a:latin typeface="-apple-system"/>
            </a:endParaRPr>
          </a:p>
          <a:p>
            <a:endParaRPr lang="en-TZ" sz="3500" dirty="0"/>
          </a:p>
        </p:txBody>
      </p:sp>
    </p:spTree>
    <p:extLst>
      <p:ext uri="{BB962C8B-B14F-4D97-AF65-F5344CB8AC3E}">
        <p14:creationId xmlns:p14="http://schemas.microsoft.com/office/powerpoint/2010/main" val="41898401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6BB203-4225-C7EA-37D3-642574926C87}"/>
              </a:ext>
            </a:extLst>
          </p:cNvPr>
          <p:cNvSpPr>
            <a:spLocks noGrp="1"/>
          </p:cNvSpPr>
          <p:nvPr>
            <p:ph idx="1"/>
          </p:nvPr>
        </p:nvSpPr>
        <p:spPr>
          <a:xfrm>
            <a:off x="434715" y="329784"/>
            <a:ext cx="11347554" cy="6190937"/>
          </a:xfrm>
        </p:spPr>
        <p:txBody>
          <a:bodyPr>
            <a:normAutofit/>
          </a:bodyPr>
          <a:lstStyle/>
          <a:p>
            <a:pPr marL="0" indent="0" algn="l">
              <a:buNone/>
            </a:pPr>
            <a:r>
              <a:rPr lang="en-US" sz="3200" b="1" i="0" dirty="0">
                <a:solidFill>
                  <a:srgbClr val="111111"/>
                </a:solidFill>
                <a:effectLst/>
                <a:highlight>
                  <a:srgbClr val="F3F3F3"/>
                </a:highlight>
                <a:latin typeface="-apple-system"/>
              </a:rPr>
              <a:t>8.Predictive Analysis</a:t>
            </a:r>
            <a:r>
              <a:rPr lang="en-US" sz="3200" b="0" i="0" dirty="0">
                <a:solidFill>
                  <a:srgbClr val="111111"/>
                </a:solidFill>
                <a:effectLst/>
                <a:highlight>
                  <a:srgbClr val="F3F3F3"/>
                </a:highlight>
                <a:latin typeface="-apple-system"/>
              </a:rPr>
              <a:t>: Effectively using predictive analytics to forecast future performance and capacity needs requires sophisticated tools and expertise.</a:t>
            </a:r>
          </a:p>
          <a:p>
            <a:pPr marL="0" indent="0" algn="l">
              <a:buNone/>
            </a:pPr>
            <a:r>
              <a:rPr lang="en-US" sz="3200" b="1" i="0" dirty="0">
                <a:solidFill>
                  <a:srgbClr val="111111"/>
                </a:solidFill>
                <a:effectLst/>
                <a:highlight>
                  <a:srgbClr val="F3F3F3"/>
                </a:highlight>
                <a:latin typeface="-apple-system"/>
              </a:rPr>
              <a:t>9.Scalability</a:t>
            </a:r>
            <a:r>
              <a:rPr lang="en-US" sz="3200" b="0" i="0" dirty="0">
                <a:solidFill>
                  <a:srgbClr val="111111"/>
                </a:solidFill>
                <a:effectLst/>
                <a:highlight>
                  <a:srgbClr val="F3F3F3"/>
                </a:highlight>
                <a:latin typeface="-apple-system"/>
              </a:rPr>
              <a:t>: As organizations grow, their monitoring solutions must scale accordingly, which can be a technical and logistical challenge.</a:t>
            </a:r>
          </a:p>
          <a:p>
            <a:pPr marL="0" indent="0" algn="l">
              <a:buNone/>
            </a:pPr>
            <a:r>
              <a:rPr lang="en-US" sz="3200" b="1" i="0" dirty="0">
                <a:solidFill>
                  <a:srgbClr val="111111"/>
                </a:solidFill>
                <a:effectLst/>
                <a:highlight>
                  <a:srgbClr val="F3F3F3"/>
                </a:highlight>
                <a:latin typeface="-apple-system"/>
              </a:rPr>
              <a:t>10.Compliance and Security</a:t>
            </a:r>
            <a:r>
              <a:rPr lang="en-US" sz="3200" b="0" i="0" dirty="0">
                <a:solidFill>
                  <a:srgbClr val="111111"/>
                </a:solidFill>
                <a:effectLst/>
                <a:highlight>
                  <a:srgbClr val="F3F3F3"/>
                </a:highlight>
                <a:latin typeface="-apple-system"/>
              </a:rPr>
              <a:t>: Ensuring that monitoring practices comply with data privacy regulations and do not introduce security vulnerabilities is crucial.</a:t>
            </a:r>
          </a:p>
          <a:p>
            <a:pPr algn="l"/>
            <a:r>
              <a:rPr lang="en-US" sz="3200" b="0" i="0" dirty="0">
                <a:solidFill>
                  <a:srgbClr val="111111"/>
                </a:solidFill>
                <a:effectLst/>
                <a:highlight>
                  <a:srgbClr val="F3F3F3"/>
                </a:highlight>
                <a:latin typeface="-apple-system"/>
              </a:rPr>
              <a:t>Addressing these challenges requires a strategic approach that includes selecting the right tools, training staff, setting appropriate alert thresholds, and regularly reviewing and updating monitoring practices.</a:t>
            </a:r>
          </a:p>
          <a:p>
            <a:endParaRPr lang="en-TZ" sz="3200" dirty="0"/>
          </a:p>
        </p:txBody>
      </p:sp>
    </p:spTree>
    <p:extLst>
      <p:ext uri="{BB962C8B-B14F-4D97-AF65-F5344CB8AC3E}">
        <p14:creationId xmlns:p14="http://schemas.microsoft.com/office/powerpoint/2010/main" val="19995099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36F6-5064-1BBB-386E-7CC365559F30}"/>
              </a:ext>
            </a:extLst>
          </p:cNvPr>
          <p:cNvSpPr>
            <a:spLocks noGrp="1"/>
          </p:cNvSpPr>
          <p:nvPr>
            <p:ph type="title"/>
          </p:nvPr>
        </p:nvSpPr>
        <p:spPr>
          <a:xfrm>
            <a:off x="838200" y="365126"/>
            <a:ext cx="10515600" cy="654206"/>
          </a:xfrm>
        </p:spPr>
        <p:txBody>
          <a:bodyPr>
            <a:normAutofit/>
          </a:bodyPr>
          <a:lstStyle/>
          <a:p>
            <a:r>
              <a:rPr lang="en-US" sz="4000" b="1" u="none" strike="noStrike" dirty="0">
                <a:solidFill>
                  <a:srgbClr val="000000"/>
                </a:solidFill>
                <a:effectLst/>
                <a:latin typeface="Times New Roman" panose="02020603050405020304" pitchFamily="18" charset="0"/>
                <a:ea typeface="Times New Roman" panose="02020603050405020304" pitchFamily="18" charset="0"/>
              </a:rPr>
              <a:t>Problem and incident management</a:t>
            </a:r>
            <a:endParaRPr lang="en-TZ" sz="4000" b="1" dirty="0"/>
          </a:p>
        </p:txBody>
      </p:sp>
      <p:sp>
        <p:nvSpPr>
          <p:cNvPr id="3" name="Content Placeholder 2">
            <a:extLst>
              <a:ext uri="{FF2B5EF4-FFF2-40B4-BE49-F238E27FC236}">
                <a16:creationId xmlns:a16="http://schemas.microsoft.com/office/drawing/2014/main" id="{F4FE74B1-D121-1D05-6064-B3A1182D1D77}"/>
              </a:ext>
            </a:extLst>
          </p:cNvPr>
          <p:cNvSpPr>
            <a:spLocks noGrp="1"/>
          </p:cNvSpPr>
          <p:nvPr>
            <p:ph idx="1"/>
          </p:nvPr>
        </p:nvSpPr>
        <p:spPr>
          <a:xfrm>
            <a:off x="838200" y="1139252"/>
            <a:ext cx="10515600" cy="5037711"/>
          </a:xfrm>
        </p:spPr>
        <p:txBody>
          <a:bodyPr>
            <a:normAutofit/>
          </a:bodyPr>
          <a:lstStyle/>
          <a:p>
            <a:pPr algn="l"/>
            <a:r>
              <a:rPr lang="en-US" sz="3600" b="0" i="0" dirty="0">
                <a:solidFill>
                  <a:srgbClr val="111111"/>
                </a:solidFill>
                <a:effectLst/>
                <a:highlight>
                  <a:srgbClr val="F3F3F3"/>
                </a:highlight>
                <a:latin typeface="-apple-system"/>
              </a:rPr>
              <a:t>Problem and incident management are key components of IT service management (ITSM) that focus on resolving issues and minimizing the impact on business operations. Here’s a detailed look at both:</a:t>
            </a:r>
          </a:p>
          <a:p>
            <a:pPr algn="l"/>
            <a:r>
              <a:rPr lang="en-US" sz="3600" b="1" i="0" dirty="0">
                <a:solidFill>
                  <a:srgbClr val="111111"/>
                </a:solidFill>
                <a:effectLst/>
                <a:highlight>
                  <a:srgbClr val="F3F3F3"/>
                </a:highlight>
                <a:latin typeface="-apple-system"/>
              </a:rPr>
              <a:t>Incident Management</a:t>
            </a:r>
            <a:r>
              <a:rPr lang="en-US" sz="3600" b="0" i="0" dirty="0">
                <a:solidFill>
                  <a:srgbClr val="111111"/>
                </a:solidFill>
                <a:effectLst/>
                <a:highlight>
                  <a:srgbClr val="F3F3F3"/>
                </a:highlight>
                <a:latin typeface="-apple-system"/>
              </a:rPr>
              <a:t>:</a:t>
            </a:r>
          </a:p>
          <a:p>
            <a:pPr algn="l">
              <a:buFont typeface="Arial" panose="020B0604020202020204" pitchFamily="34" charset="0"/>
              <a:buChar char="•"/>
            </a:pPr>
            <a:r>
              <a:rPr lang="en-US" sz="3600" b="1" i="0" dirty="0">
                <a:solidFill>
                  <a:srgbClr val="111111"/>
                </a:solidFill>
                <a:effectLst/>
                <a:highlight>
                  <a:srgbClr val="F3F3F3"/>
                </a:highlight>
                <a:latin typeface="-apple-system"/>
              </a:rPr>
              <a:t>Purpose</a:t>
            </a:r>
            <a:r>
              <a:rPr lang="en-US" sz="3600" b="0" i="0" dirty="0">
                <a:solidFill>
                  <a:srgbClr val="111111"/>
                </a:solidFill>
                <a:effectLst/>
                <a:highlight>
                  <a:srgbClr val="F3F3F3"/>
                </a:highlight>
                <a:latin typeface="-apple-system"/>
              </a:rPr>
              <a:t>: The primary goal is to restore normal service operation as quickly as possible following an incident, while minimizing impact on business operations.</a:t>
            </a:r>
          </a:p>
          <a:p>
            <a:endParaRPr lang="en-TZ" sz="3600" dirty="0"/>
          </a:p>
        </p:txBody>
      </p:sp>
    </p:spTree>
    <p:extLst>
      <p:ext uri="{BB962C8B-B14F-4D97-AF65-F5344CB8AC3E}">
        <p14:creationId xmlns:p14="http://schemas.microsoft.com/office/powerpoint/2010/main" val="22012109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6ADF6B-4AE5-58CC-A608-E0F3BC7BA425}"/>
              </a:ext>
            </a:extLst>
          </p:cNvPr>
          <p:cNvSpPr>
            <a:spLocks noGrp="1"/>
          </p:cNvSpPr>
          <p:nvPr>
            <p:ph idx="1"/>
          </p:nvPr>
        </p:nvSpPr>
        <p:spPr>
          <a:xfrm>
            <a:off x="434715" y="299804"/>
            <a:ext cx="11377534" cy="5877160"/>
          </a:xfrm>
        </p:spPr>
        <p:txBody>
          <a:bodyPr>
            <a:noAutofit/>
          </a:bodyPr>
          <a:lstStyle/>
          <a:p>
            <a:pPr algn="l">
              <a:buFont typeface="Arial" panose="020B0604020202020204" pitchFamily="34" charset="0"/>
              <a:buChar char="•"/>
            </a:pPr>
            <a:r>
              <a:rPr lang="en-US" sz="3200" b="1" i="0" dirty="0">
                <a:solidFill>
                  <a:srgbClr val="111111"/>
                </a:solidFill>
                <a:effectLst/>
                <a:highlight>
                  <a:srgbClr val="F3F3F3"/>
                </a:highlight>
                <a:latin typeface="-apple-system"/>
              </a:rPr>
              <a:t>Process</a:t>
            </a:r>
            <a:r>
              <a:rPr lang="en-US" sz="3200" b="0" i="0" dirty="0">
                <a:solidFill>
                  <a:srgbClr val="111111"/>
                </a:solidFill>
                <a:effectLst/>
                <a:highlight>
                  <a:srgbClr val="F3F3F3"/>
                </a:highlight>
                <a:latin typeface="-apple-system"/>
              </a:rPr>
              <a:t>:</a:t>
            </a:r>
          </a:p>
          <a:p>
            <a:pPr marL="742950" lvl="1" indent="-285750" algn="l">
              <a:buFont typeface="Arial" panose="020B0604020202020204" pitchFamily="34" charset="0"/>
              <a:buChar char="•"/>
            </a:pPr>
            <a:r>
              <a:rPr lang="en-US" sz="3200" b="1" i="0" dirty="0">
                <a:solidFill>
                  <a:srgbClr val="111111"/>
                </a:solidFill>
                <a:effectLst/>
                <a:highlight>
                  <a:srgbClr val="F3F3F3"/>
                </a:highlight>
                <a:latin typeface="-apple-system"/>
              </a:rPr>
              <a:t>Identification</a:t>
            </a:r>
            <a:r>
              <a:rPr lang="en-US" sz="3200" b="0" i="0" dirty="0">
                <a:solidFill>
                  <a:srgbClr val="111111"/>
                </a:solidFill>
                <a:effectLst/>
                <a:highlight>
                  <a:srgbClr val="F3F3F3"/>
                </a:highlight>
                <a:latin typeface="-apple-system"/>
              </a:rPr>
              <a:t>: Detect or report an incident as soon as it occurs.</a:t>
            </a:r>
          </a:p>
          <a:p>
            <a:pPr marL="742950" lvl="1" indent="-285750" algn="l">
              <a:buFont typeface="Arial" panose="020B0604020202020204" pitchFamily="34" charset="0"/>
              <a:buChar char="•"/>
            </a:pPr>
            <a:r>
              <a:rPr lang="en-US" sz="3200" b="1" i="0" dirty="0">
                <a:solidFill>
                  <a:srgbClr val="111111"/>
                </a:solidFill>
                <a:effectLst/>
                <a:highlight>
                  <a:srgbClr val="F3F3F3"/>
                </a:highlight>
                <a:latin typeface="-apple-system"/>
              </a:rPr>
              <a:t>Logging</a:t>
            </a:r>
            <a:r>
              <a:rPr lang="en-US" sz="3200" b="0" i="0" dirty="0">
                <a:solidFill>
                  <a:srgbClr val="111111"/>
                </a:solidFill>
                <a:effectLst/>
                <a:highlight>
                  <a:srgbClr val="F3F3F3"/>
                </a:highlight>
                <a:latin typeface="-apple-system"/>
              </a:rPr>
              <a:t>: Record all details of the incident for tracking and analysis.</a:t>
            </a:r>
          </a:p>
          <a:p>
            <a:pPr lvl="1"/>
            <a:r>
              <a:rPr lang="en-US" sz="3200" b="1" i="0" dirty="0">
                <a:solidFill>
                  <a:srgbClr val="111111"/>
                </a:solidFill>
                <a:effectLst/>
                <a:highlight>
                  <a:srgbClr val="F3F3F3"/>
                </a:highlight>
                <a:latin typeface="-apple-system"/>
              </a:rPr>
              <a:t>Categorization</a:t>
            </a:r>
            <a:r>
              <a:rPr lang="en-US" sz="3200" b="0" i="0" dirty="0">
                <a:solidFill>
                  <a:srgbClr val="111111"/>
                </a:solidFill>
                <a:effectLst/>
                <a:highlight>
                  <a:srgbClr val="F3F3F3"/>
                </a:highlight>
                <a:latin typeface="-apple-system"/>
              </a:rPr>
              <a:t>: Classify the incident based on severity, impact, and urgency.</a:t>
            </a:r>
          </a:p>
          <a:p>
            <a:pPr lvl="1"/>
            <a:r>
              <a:rPr lang="en-US" sz="3200" b="1" i="0" dirty="0">
                <a:solidFill>
                  <a:srgbClr val="111111"/>
                </a:solidFill>
                <a:effectLst/>
                <a:highlight>
                  <a:srgbClr val="F3F3F3"/>
                </a:highlight>
                <a:latin typeface="-apple-system"/>
              </a:rPr>
              <a:t>Prioritization</a:t>
            </a:r>
            <a:r>
              <a:rPr lang="en-US" sz="3200" b="0" i="0" dirty="0">
                <a:solidFill>
                  <a:srgbClr val="111111"/>
                </a:solidFill>
                <a:effectLst/>
                <a:highlight>
                  <a:srgbClr val="F3F3F3"/>
                </a:highlight>
                <a:latin typeface="-apple-system"/>
              </a:rPr>
              <a:t>: Assign a priority level to ensure that high-impact incidents are addressed first.</a:t>
            </a:r>
          </a:p>
          <a:p>
            <a:pPr lvl="1"/>
            <a:r>
              <a:rPr lang="en-US" sz="3200" b="1" i="0" dirty="0">
                <a:solidFill>
                  <a:srgbClr val="111111"/>
                </a:solidFill>
                <a:effectLst/>
                <a:highlight>
                  <a:srgbClr val="F3F3F3"/>
                </a:highlight>
                <a:latin typeface="-apple-system"/>
              </a:rPr>
              <a:t>Initial Diagnosis</a:t>
            </a:r>
            <a:r>
              <a:rPr lang="en-US" sz="3200" b="0" i="0" dirty="0">
                <a:solidFill>
                  <a:srgbClr val="111111"/>
                </a:solidFill>
                <a:effectLst/>
                <a:highlight>
                  <a:srgbClr val="F3F3F3"/>
                </a:highlight>
                <a:latin typeface="-apple-system"/>
              </a:rPr>
              <a:t>: Attempt to identify the cause of the incident and determine a resolution.</a:t>
            </a:r>
          </a:p>
          <a:p>
            <a:pPr lvl="1"/>
            <a:r>
              <a:rPr lang="en-US" sz="3200" b="1" i="0" dirty="0">
                <a:solidFill>
                  <a:srgbClr val="111111"/>
                </a:solidFill>
                <a:effectLst/>
                <a:highlight>
                  <a:srgbClr val="F3F3F3"/>
                </a:highlight>
                <a:latin typeface="-apple-system"/>
              </a:rPr>
              <a:t>Escalation</a:t>
            </a:r>
            <a:r>
              <a:rPr lang="en-US" sz="3200" b="0" i="0" dirty="0">
                <a:solidFill>
                  <a:srgbClr val="111111"/>
                </a:solidFill>
                <a:effectLst/>
                <a:highlight>
                  <a:srgbClr val="F3F3F3"/>
                </a:highlight>
                <a:latin typeface="-apple-system"/>
              </a:rPr>
              <a:t>: If necessary, escalate the incident to higher-level support teams or management.</a:t>
            </a:r>
          </a:p>
          <a:p>
            <a:endParaRPr lang="en-TZ" sz="3200" dirty="0"/>
          </a:p>
        </p:txBody>
      </p:sp>
    </p:spTree>
    <p:extLst>
      <p:ext uri="{BB962C8B-B14F-4D97-AF65-F5344CB8AC3E}">
        <p14:creationId xmlns:p14="http://schemas.microsoft.com/office/powerpoint/2010/main" val="9074565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14DFA5-E6F4-1C95-57B1-17335C8EC9FD}"/>
              </a:ext>
            </a:extLst>
          </p:cNvPr>
          <p:cNvSpPr>
            <a:spLocks noGrp="1"/>
          </p:cNvSpPr>
          <p:nvPr>
            <p:ph idx="1"/>
          </p:nvPr>
        </p:nvSpPr>
        <p:spPr>
          <a:xfrm>
            <a:off x="838200" y="494675"/>
            <a:ext cx="10515600" cy="5682288"/>
          </a:xfrm>
        </p:spPr>
        <p:txBody>
          <a:bodyPr>
            <a:normAutofit fontScale="92500"/>
          </a:bodyPr>
          <a:lstStyle/>
          <a:p>
            <a:pPr lvl="1"/>
            <a:r>
              <a:rPr lang="en-US" sz="2800" b="1" i="0" dirty="0">
                <a:solidFill>
                  <a:srgbClr val="111111"/>
                </a:solidFill>
                <a:effectLst/>
                <a:highlight>
                  <a:srgbClr val="F3F3F3"/>
                </a:highlight>
                <a:latin typeface="-apple-system"/>
              </a:rPr>
              <a:t>Resolution and Recovery</a:t>
            </a:r>
            <a:r>
              <a:rPr lang="en-US" sz="2800" b="0" i="0" dirty="0">
                <a:solidFill>
                  <a:srgbClr val="111111"/>
                </a:solidFill>
                <a:effectLst/>
                <a:highlight>
                  <a:srgbClr val="F3F3F3"/>
                </a:highlight>
                <a:latin typeface="-apple-system"/>
              </a:rPr>
              <a:t>: Implement a fix to resolve the incident and restore service.</a:t>
            </a:r>
          </a:p>
          <a:p>
            <a:pPr lvl="1"/>
            <a:r>
              <a:rPr lang="en-US" sz="2800" b="1" i="0" dirty="0">
                <a:solidFill>
                  <a:srgbClr val="111111"/>
                </a:solidFill>
                <a:effectLst/>
                <a:highlight>
                  <a:srgbClr val="F3F3F3"/>
                </a:highlight>
                <a:latin typeface="-apple-system"/>
              </a:rPr>
              <a:t>Closure</a:t>
            </a:r>
            <a:r>
              <a:rPr lang="en-US" sz="2800" b="0" i="0" dirty="0">
                <a:solidFill>
                  <a:srgbClr val="111111"/>
                </a:solidFill>
                <a:effectLst/>
                <a:highlight>
                  <a:srgbClr val="F3F3F3"/>
                </a:highlight>
                <a:latin typeface="-apple-system"/>
              </a:rPr>
              <a:t>: Once resolved, close the incident and inform all stakeholders.</a:t>
            </a:r>
          </a:p>
          <a:p>
            <a:pPr lvl="1"/>
            <a:r>
              <a:rPr lang="en-US" sz="2800" b="1" i="0" dirty="0">
                <a:solidFill>
                  <a:srgbClr val="111111"/>
                </a:solidFill>
                <a:effectLst/>
                <a:highlight>
                  <a:srgbClr val="F3F3F3"/>
                </a:highlight>
                <a:latin typeface="-apple-system"/>
              </a:rPr>
              <a:t>Review</a:t>
            </a:r>
            <a:r>
              <a:rPr lang="en-US" sz="2800" b="0" i="0" dirty="0">
                <a:solidFill>
                  <a:srgbClr val="111111"/>
                </a:solidFill>
                <a:effectLst/>
                <a:highlight>
                  <a:srgbClr val="F3F3F3"/>
                </a:highlight>
                <a:latin typeface="-apple-system"/>
              </a:rPr>
              <a:t>: Analyze the incident for lessons learned and potential improvements.</a:t>
            </a:r>
          </a:p>
          <a:p>
            <a:pPr marL="0" indent="0" algn="l">
              <a:buNone/>
            </a:pPr>
            <a:r>
              <a:rPr lang="en-US" sz="3200" b="1" i="0" dirty="0">
                <a:solidFill>
                  <a:srgbClr val="111111"/>
                </a:solidFill>
                <a:effectLst/>
                <a:highlight>
                  <a:srgbClr val="F3F3F3"/>
                </a:highlight>
                <a:latin typeface="-apple-system"/>
              </a:rPr>
              <a:t>Problem Management</a:t>
            </a:r>
            <a:r>
              <a:rPr lang="en-US" sz="3200" b="0" i="0" dirty="0">
                <a:solidFill>
                  <a:srgbClr val="111111"/>
                </a:solidFill>
                <a:effectLst/>
                <a:highlight>
                  <a:srgbClr val="F3F3F3"/>
                </a:highlight>
                <a:latin typeface="-apple-system"/>
              </a:rPr>
              <a:t>:</a:t>
            </a:r>
          </a:p>
          <a:p>
            <a:pPr algn="l">
              <a:buFont typeface="Arial" panose="020B0604020202020204" pitchFamily="34" charset="0"/>
              <a:buChar char="•"/>
            </a:pPr>
            <a:r>
              <a:rPr lang="en-US" sz="3200" b="1" i="0" dirty="0">
                <a:solidFill>
                  <a:srgbClr val="111111"/>
                </a:solidFill>
                <a:effectLst/>
                <a:highlight>
                  <a:srgbClr val="F3F3F3"/>
                </a:highlight>
                <a:latin typeface="-apple-system"/>
              </a:rPr>
              <a:t>Purpose</a:t>
            </a:r>
            <a:r>
              <a:rPr lang="en-US" sz="3200" b="0" i="0" dirty="0">
                <a:solidFill>
                  <a:srgbClr val="111111"/>
                </a:solidFill>
                <a:effectLst/>
                <a:highlight>
                  <a:srgbClr val="F3F3F3"/>
                </a:highlight>
                <a:latin typeface="-apple-system"/>
              </a:rPr>
              <a:t>: Problem management aims to prevent incidents from occurring and to minimize the impact of incidents that cannot be prevented. It focuses on identifying and resolving the root causes of incidents.</a:t>
            </a:r>
          </a:p>
          <a:p>
            <a:pPr algn="l">
              <a:buFont typeface="Arial" panose="020B0604020202020204" pitchFamily="34" charset="0"/>
              <a:buChar char="•"/>
            </a:pPr>
            <a:r>
              <a:rPr lang="en-US" sz="3200" b="1" i="0" dirty="0">
                <a:solidFill>
                  <a:srgbClr val="111111"/>
                </a:solidFill>
                <a:effectLst/>
                <a:highlight>
                  <a:srgbClr val="F3F3F3"/>
                </a:highlight>
                <a:latin typeface="-apple-system"/>
              </a:rPr>
              <a:t>Process</a:t>
            </a:r>
            <a:r>
              <a:rPr lang="en-US" sz="3200" b="0" i="0" dirty="0">
                <a:solidFill>
                  <a:srgbClr val="111111"/>
                </a:solidFill>
                <a:effectLst/>
                <a:highlight>
                  <a:srgbClr val="F3F3F3"/>
                </a:highlight>
                <a:latin typeface="-apple-system"/>
              </a:rPr>
              <a:t>:</a:t>
            </a:r>
          </a:p>
          <a:p>
            <a:pPr marL="742950" lvl="1" indent="-285750" algn="l">
              <a:buFont typeface="Arial" panose="020B0604020202020204" pitchFamily="34" charset="0"/>
              <a:buChar char="•"/>
            </a:pPr>
            <a:r>
              <a:rPr lang="en-US" sz="2800" b="1" i="0" dirty="0">
                <a:solidFill>
                  <a:srgbClr val="111111"/>
                </a:solidFill>
                <a:effectLst/>
                <a:highlight>
                  <a:srgbClr val="F3F3F3"/>
                </a:highlight>
                <a:latin typeface="-apple-system"/>
              </a:rPr>
              <a:t>Problem Detection</a:t>
            </a:r>
            <a:r>
              <a:rPr lang="en-US" sz="2800" b="0" i="0" dirty="0">
                <a:solidFill>
                  <a:srgbClr val="111111"/>
                </a:solidFill>
                <a:effectLst/>
                <a:highlight>
                  <a:srgbClr val="F3F3F3"/>
                </a:highlight>
                <a:latin typeface="-apple-system"/>
              </a:rPr>
              <a:t>: Identify problems often through analysis of multiple incidents indicating a common underlying issue.</a:t>
            </a:r>
          </a:p>
          <a:p>
            <a:endParaRPr lang="en-TZ" dirty="0"/>
          </a:p>
        </p:txBody>
      </p:sp>
    </p:spTree>
    <p:extLst>
      <p:ext uri="{BB962C8B-B14F-4D97-AF65-F5344CB8AC3E}">
        <p14:creationId xmlns:p14="http://schemas.microsoft.com/office/powerpoint/2010/main" val="210660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BBA761-142F-5656-5E15-B52429CF141A}"/>
              </a:ext>
            </a:extLst>
          </p:cNvPr>
          <p:cNvSpPr>
            <a:spLocks noGrp="1"/>
          </p:cNvSpPr>
          <p:nvPr>
            <p:ph idx="1"/>
          </p:nvPr>
        </p:nvSpPr>
        <p:spPr>
          <a:xfrm>
            <a:off x="359763" y="254833"/>
            <a:ext cx="11452485" cy="6235908"/>
          </a:xfrm>
        </p:spPr>
        <p:txBody>
          <a:bodyPr>
            <a:noAutofit/>
          </a:bodyPr>
          <a:lstStyle/>
          <a:p>
            <a:pPr algn="l">
              <a:buFont typeface="Arial" panose="020B0604020202020204" pitchFamily="34" charset="0"/>
              <a:buChar char="•"/>
            </a:pPr>
            <a:r>
              <a:rPr lang="en-US" sz="3000" b="1" i="0" dirty="0">
                <a:solidFill>
                  <a:srgbClr val="111111"/>
                </a:solidFill>
                <a:effectLst/>
                <a:highlight>
                  <a:srgbClr val="F3F3F3"/>
                </a:highlight>
                <a:latin typeface="-apple-system"/>
              </a:rPr>
              <a:t>Logging</a:t>
            </a:r>
            <a:r>
              <a:rPr lang="en-US" sz="3000" b="0" i="0" dirty="0">
                <a:solidFill>
                  <a:srgbClr val="111111"/>
                </a:solidFill>
                <a:effectLst/>
                <a:highlight>
                  <a:srgbClr val="F3F3F3"/>
                </a:highlight>
                <a:latin typeface="-apple-system"/>
              </a:rPr>
              <a:t>: Record all details of the problem for tracking and analysis.</a:t>
            </a:r>
          </a:p>
          <a:p>
            <a:pPr algn="l">
              <a:buFont typeface="Arial" panose="020B0604020202020204" pitchFamily="34" charset="0"/>
              <a:buChar char="•"/>
            </a:pPr>
            <a:r>
              <a:rPr lang="en-US" sz="3000" b="1" i="0" dirty="0">
                <a:solidFill>
                  <a:srgbClr val="111111"/>
                </a:solidFill>
                <a:effectLst/>
                <a:highlight>
                  <a:srgbClr val="F3F3F3"/>
                </a:highlight>
                <a:latin typeface="-apple-system"/>
              </a:rPr>
              <a:t>Categorization</a:t>
            </a:r>
            <a:r>
              <a:rPr lang="en-US" sz="3000" b="0" i="0" dirty="0">
                <a:solidFill>
                  <a:srgbClr val="111111"/>
                </a:solidFill>
                <a:effectLst/>
                <a:highlight>
                  <a:srgbClr val="F3F3F3"/>
                </a:highlight>
                <a:latin typeface="-apple-system"/>
              </a:rPr>
              <a:t>: Classify the problem based on its nature and impact.</a:t>
            </a:r>
          </a:p>
          <a:p>
            <a:pPr algn="l">
              <a:buFont typeface="Arial" panose="020B0604020202020204" pitchFamily="34" charset="0"/>
              <a:buChar char="•"/>
            </a:pPr>
            <a:r>
              <a:rPr lang="en-US" sz="3000" b="1" i="0" dirty="0">
                <a:solidFill>
                  <a:srgbClr val="111111"/>
                </a:solidFill>
                <a:effectLst/>
                <a:highlight>
                  <a:srgbClr val="F3F3F3"/>
                </a:highlight>
                <a:latin typeface="-apple-system"/>
              </a:rPr>
              <a:t>Prioritization</a:t>
            </a:r>
            <a:r>
              <a:rPr lang="en-US" sz="3000" b="0" i="0" dirty="0">
                <a:solidFill>
                  <a:srgbClr val="111111"/>
                </a:solidFill>
                <a:effectLst/>
                <a:highlight>
                  <a:srgbClr val="F3F3F3"/>
                </a:highlight>
                <a:latin typeface="-apple-system"/>
              </a:rPr>
              <a:t>: Assign a priority level based on impact and urgency.</a:t>
            </a:r>
          </a:p>
          <a:p>
            <a:pPr algn="l">
              <a:buFont typeface="Arial" panose="020B0604020202020204" pitchFamily="34" charset="0"/>
              <a:buChar char="•"/>
            </a:pPr>
            <a:r>
              <a:rPr lang="en-US" sz="3000" b="1" i="0" dirty="0">
                <a:solidFill>
                  <a:srgbClr val="111111"/>
                </a:solidFill>
                <a:effectLst/>
                <a:highlight>
                  <a:srgbClr val="F3F3F3"/>
                </a:highlight>
                <a:latin typeface="-apple-system"/>
              </a:rPr>
              <a:t>Investigation and Diagnosis</a:t>
            </a:r>
            <a:r>
              <a:rPr lang="en-US" sz="3000" b="0" i="0" dirty="0">
                <a:solidFill>
                  <a:srgbClr val="111111"/>
                </a:solidFill>
                <a:effectLst/>
                <a:highlight>
                  <a:srgbClr val="F3F3F3"/>
                </a:highlight>
                <a:latin typeface="-apple-system"/>
              </a:rPr>
              <a:t>: Analyze the problem to identify its root cause.</a:t>
            </a:r>
          </a:p>
          <a:p>
            <a:pPr algn="l">
              <a:buFont typeface="Arial" panose="020B0604020202020204" pitchFamily="34" charset="0"/>
              <a:buChar char="•"/>
            </a:pPr>
            <a:r>
              <a:rPr lang="en-US" sz="3000" b="1" i="0" dirty="0">
                <a:solidFill>
                  <a:srgbClr val="111111"/>
                </a:solidFill>
                <a:effectLst/>
                <a:highlight>
                  <a:srgbClr val="F3F3F3"/>
                </a:highlight>
                <a:latin typeface="-apple-system"/>
              </a:rPr>
              <a:t>Workaround</a:t>
            </a:r>
            <a:r>
              <a:rPr lang="en-US" sz="3000" b="0" i="0" dirty="0">
                <a:solidFill>
                  <a:srgbClr val="111111"/>
                </a:solidFill>
                <a:effectLst/>
                <a:highlight>
                  <a:srgbClr val="F3F3F3"/>
                </a:highlight>
                <a:latin typeface="-apple-system"/>
              </a:rPr>
              <a:t>: If immediate resolution is not possible, provide a temporary workaround to reduce impact.</a:t>
            </a:r>
          </a:p>
          <a:p>
            <a:pPr algn="l">
              <a:buFont typeface="Arial" panose="020B0604020202020204" pitchFamily="34" charset="0"/>
              <a:buChar char="•"/>
            </a:pPr>
            <a:r>
              <a:rPr lang="en-US" sz="3000" b="1" i="0" dirty="0">
                <a:solidFill>
                  <a:srgbClr val="111111"/>
                </a:solidFill>
                <a:effectLst/>
                <a:highlight>
                  <a:srgbClr val="F3F3F3"/>
                </a:highlight>
                <a:latin typeface="-apple-system"/>
              </a:rPr>
              <a:t>Known Error Record</a:t>
            </a:r>
            <a:r>
              <a:rPr lang="en-US" sz="3000" b="0" i="0" dirty="0">
                <a:solidFill>
                  <a:srgbClr val="111111"/>
                </a:solidFill>
                <a:effectLst/>
                <a:highlight>
                  <a:srgbClr val="F3F3F3"/>
                </a:highlight>
                <a:latin typeface="-apple-system"/>
              </a:rPr>
              <a:t>: Document problems that have a diagnosed root cause but no permanent fix yet as known errors.</a:t>
            </a:r>
          </a:p>
          <a:p>
            <a:pPr algn="l">
              <a:buFont typeface="Arial" panose="020B0604020202020204" pitchFamily="34" charset="0"/>
              <a:buChar char="•"/>
            </a:pPr>
            <a:r>
              <a:rPr lang="en-US" sz="3000" b="1" i="0" dirty="0">
                <a:solidFill>
                  <a:srgbClr val="111111"/>
                </a:solidFill>
                <a:effectLst/>
                <a:highlight>
                  <a:srgbClr val="F3F3F3"/>
                </a:highlight>
                <a:latin typeface="-apple-system"/>
              </a:rPr>
              <a:t>Resolution</a:t>
            </a:r>
            <a:r>
              <a:rPr lang="en-US" sz="3000" b="0" i="0" dirty="0">
                <a:solidFill>
                  <a:srgbClr val="111111"/>
                </a:solidFill>
                <a:effectLst/>
                <a:highlight>
                  <a:srgbClr val="F3F3F3"/>
                </a:highlight>
                <a:latin typeface="-apple-system"/>
              </a:rPr>
              <a:t>: Develop and implement a permanent fix to resolve the underlying issue.</a:t>
            </a:r>
          </a:p>
          <a:p>
            <a:pPr algn="l">
              <a:buFont typeface="Arial" panose="020B0604020202020204" pitchFamily="34" charset="0"/>
              <a:buChar char="•"/>
            </a:pPr>
            <a:r>
              <a:rPr lang="en-US" sz="3000" b="1" i="0" dirty="0">
                <a:solidFill>
                  <a:srgbClr val="111111"/>
                </a:solidFill>
                <a:effectLst/>
                <a:highlight>
                  <a:srgbClr val="F3F3F3"/>
                </a:highlight>
                <a:latin typeface="-apple-system"/>
              </a:rPr>
              <a:t>Closure</a:t>
            </a:r>
            <a:r>
              <a:rPr lang="en-US" sz="3000" b="0" i="0" dirty="0">
                <a:solidFill>
                  <a:srgbClr val="111111"/>
                </a:solidFill>
                <a:effectLst/>
                <a:highlight>
                  <a:srgbClr val="F3F3F3"/>
                </a:highlight>
                <a:latin typeface="-apple-system"/>
              </a:rPr>
              <a:t>: Close the problem record once it is resolved, and update any related known error records.</a:t>
            </a:r>
          </a:p>
          <a:p>
            <a:endParaRPr lang="en-TZ" sz="3000" dirty="0"/>
          </a:p>
        </p:txBody>
      </p:sp>
    </p:spTree>
    <p:extLst>
      <p:ext uri="{BB962C8B-B14F-4D97-AF65-F5344CB8AC3E}">
        <p14:creationId xmlns:p14="http://schemas.microsoft.com/office/powerpoint/2010/main" val="37495523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2C4B57-559C-0AC6-C55B-90693BFCD63E}"/>
              </a:ext>
            </a:extLst>
          </p:cNvPr>
          <p:cNvSpPr>
            <a:spLocks noGrp="1"/>
          </p:cNvSpPr>
          <p:nvPr>
            <p:ph idx="1"/>
          </p:nvPr>
        </p:nvSpPr>
        <p:spPr>
          <a:xfrm>
            <a:off x="838200" y="479685"/>
            <a:ext cx="10515600" cy="5697278"/>
          </a:xfrm>
        </p:spPr>
        <p:txBody>
          <a:bodyPr>
            <a:noAutofit/>
          </a:bodyPr>
          <a:lstStyle/>
          <a:p>
            <a:pPr algn="l"/>
            <a:r>
              <a:rPr lang="en-US" sz="3600" b="0" i="0" dirty="0">
                <a:solidFill>
                  <a:srgbClr val="111111"/>
                </a:solidFill>
                <a:effectLst/>
                <a:highlight>
                  <a:srgbClr val="F3F3F3"/>
                </a:highlight>
                <a:latin typeface="-apple-system"/>
              </a:rPr>
              <a:t>Here are some common challenges associated with problem and incident management:</a:t>
            </a:r>
          </a:p>
          <a:p>
            <a:pPr algn="l">
              <a:buFont typeface="+mj-lt"/>
              <a:buAutoNum type="arabicPeriod"/>
            </a:pPr>
            <a:r>
              <a:rPr lang="en-US" sz="3600" b="1" i="0" dirty="0">
                <a:solidFill>
                  <a:srgbClr val="111111"/>
                </a:solidFill>
                <a:effectLst/>
                <a:highlight>
                  <a:srgbClr val="F3F3F3"/>
                </a:highlight>
                <a:latin typeface="-apple-system"/>
              </a:rPr>
              <a:t>Misclassification</a:t>
            </a:r>
            <a:r>
              <a:rPr lang="en-US" sz="3600" b="0" i="0" dirty="0">
                <a:solidFill>
                  <a:srgbClr val="111111"/>
                </a:solidFill>
                <a:effectLst/>
                <a:highlight>
                  <a:srgbClr val="F3F3F3"/>
                </a:highlight>
                <a:latin typeface="-apple-system"/>
              </a:rPr>
              <a:t>: Incorrectly categorizing incidents or problems can lead to inappropriate handling and delays in resolution.</a:t>
            </a:r>
          </a:p>
          <a:p>
            <a:pPr algn="l">
              <a:buFont typeface="+mj-lt"/>
              <a:buAutoNum type="arabicPeriod"/>
            </a:pPr>
            <a:r>
              <a:rPr lang="en-US" sz="3600" b="1" i="0" dirty="0">
                <a:solidFill>
                  <a:srgbClr val="111111"/>
                </a:solidFill>
                <a:effectLst/>
                <a:highlight>
                  <a:srgbClr val="F3F3F3"/>
                </a:highlight>
                <a:latin typeface="-apple-system"/>
              </a:rPr>
              <a:t>Communication Breakdowns</a:t>
            </a:r>
            <a:r>
              <a:rPr lang="en-US" sz="3600" b="0" i="0" dirty="0">
                <a:solidFill>
                  <a:srgbClr val="111111"/>
                </a:solidFill>
                <a:effectLst/>
                <a:highlight>
                  <a:srgbClr val="F3F3F3"/>
                </a:highlight>
                <a:latin typeface="-apple-system"/>
              </a:rPr>
              <a:t>: Poor communication during an incident or problem resolution can lead to confusion and increased downtime.</a:t>
            </a:r>
          </a:p>
          <a:p>
            <a:pPr algn="l">
              <a:buFont typeface="+mj-lt"/>
              <a:buAutoNum type="arabicPeriod"/>
            </a:pPr>
            <a:r>
              <a:rPr lang="en-US" sz="3600" b="1" i="0" dirty="0">
                <a:solidFill>
                  <a:srgbClr val="111111"/>
                </a:solidFill>
                <a:effectLst/>
                <a:highlight>
                  <a:srgbClr val="F3F3F3"/>
                </a:highlight>
                <a:latin typeface="-apple-system"/>
              </a:rPr>
              <a:t>Inadequate Tools</a:t>
            </a:r>
            <a:r>
              <a:rPr lang="en-US" sz="3600" b="0" i="0" dirty="0">
                <a:solidFill>
                  <a:srgbClr val="111111"/>
                </a:solidFill>
                <a:effectLst/>
                <a:highlight>
                  <a:srgbClr val="F3F3F3"/>
                </a:highlight>
                <a:latin typeface="-apple-system"/>
              </a:rPr>
              <a:t>: Without the right tools for tracking and managing incidents and problems, it can be difficult to maintain an organized approach.</a:t>
            </a:r>
          </a:p>
          <a:p>
            <a:endParaRPr lang="en-TZ" sz="3600" dirty="0"/>
          </a:p>
        </p:txBody>
      </p:sp>
    </p:spTree>
    <p:extLst>
      <p:ext uri="{BB962C8B-B14F-4D97-AF65-F5344CB8AC3E}">
        <p14:creationId xmlns:p14="http://schemas.microsoft.com/office/powerpoint/2010/main" val="36805266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5D473A-89C3-3956-13B4-D9BE86521B30}"/>
              </a:ext>
            </a:extLst>
          </p:cNvPr>
          <p:cNvSpPr>
            <a:spLocks noGrp="1"/>
          </p:cNvSpPr>
          <p:nvPr>
            <p:ph idx="1"/>
          </p:nvPr>
        </p:nvSpPr>
        <p:spPr>
          <a:xfrm>
            <a:off x="389745" y="329784"/>
            <a:ext cx="11422504" cy="6115986"/>
          </a:xfrm>
        </p:spPr>
        <p:txBody>
          <a:bodyPr>
            <a:noAutofit/>
          </a:bodyPr>
          <a:lstStyle/>
          <a:p>
            <a:pPr marL="0" indent="0" algn="l">
              <a:buNone/>
            </a:pPr>
            <a:r>
              <a:rPr lang="en-US" sz="3600" b="1" i="0" dirty="0">
                <a:solidFill>
                  <a:srgbClr val="111111"/>
                </a:solidFill>
                <a:effectLst/>
                <a:highlight>
                  <a:srgbClr val="F3F3F3"/>
                </a:highlight>
                <a:latin typeface="-apple-system"/>
              </a:rPr>
              <a:t>4.Lack of Documentation</a:t>
            </a:r>
            <a:r>
              <a:rPr lang="en-US" sz="3600" b="0" i="0" dirty="0">
                <a:solidFill>
                  <a:srgbClr val="111111"/>
                </a:solidFill>
                <a:effectLst/>
                <a:highlight>
                  <a:srgbClr val="F3F3F3"/>
                </a:highlight>
                <a:latin typeface="-apple-system"/>
              </a:rPr>
              <a:t>: Insufficient documentation can hinder the ability to analyze trends, identify root causes, and prevent recurring issues.</a:t>
            </a:r>
          </a:p>
          <a:p>
            <a:pPr marL="0" indent="0" algn="l">
              <a:buNone/>
            </a:pPr>
            <a:r>
              <a:rPr lang="en-US" sz="3600" b="1" i="0" dirty="0">
                <a:solidFill>
                  <a:srgbClr val="111111"/>
                </a:solidFill>
                <a:effectLst/>
                <a:highlight>
                  <a:srgbClr val="F3F3F3"/>
                </a:highlight>
                <a:latin typeface="-apple-system"/>
              </a:rPr>
              <a:t>5.Inconsistent Processes</a:t>
            </a:r>
            <a:r>
              <a:rPr lang="en-US" sz="3600" b="0" i="0" dirty="0">
                <a:solidFill>
                  <a:srgbClr val="111111"/>
                </a:solidFill>
                <a:effectLst/>
                <a:highlight>
                  <a:srgbClr val="F3F3F3"/>
                </a:highlight>
                <a:latin typeface="-apple-system"/>
              </a:rPr>
              <a:t>: Variability in how incidents and problems are managed can result in inefficiencies and unpredictable outcomes.</a:t>
            </a:r>
          </a:p>
          <a:p>
            <a:pPr marL="0" indent="0" algn="l">
              <a:buNone/>
            </a:pPr>
            <a:r>
              <a:rPr lang="en-US" sz="3600" b="1" i="0" dirty="0">
                <a:solidFill>
                  <a:srgbClr val="111111"/>
                </a:solidFill>
                <a:effectLst/>
                <a:highlight>
                  <a:srgbClr val="F3F3F3"/>
                </a:highlight>
                <a:latin typeface="-apple-system"/>
              </a:rPr>
              <a:t>6.Skill Gaps</a:t>
            </a:r>
            <a:r>
              <a:rPr lang="en-US" sz="3600" b="0" i="0" dirty="0">
                <a:solidFill>
                  <a:srgbClr val="111111"/>
                </a:solidFill>
                <a:effectLst/>
                <a:highlight>
                  <a:srgbClr val="F3F3F3"/>
                </a:highlight>
                <a:latin typeface="-apple-system"/>
              </a:rPr>
              <a:t>: A lack of skilled personnel can impact the ability to diagnose and resolve complex incidents or problems effectively.</a:t>
            </a:r>
          </a:p>
          <a:p>
            <a:pPr marL="0" indent="0">
              <a:buNone/>
            </a:pPr>
            <a:r>
              <a:rPr lang="en-US" sz="3600" b="1" dirty="0"/>
              <a:t>7.</a:t>
            </a:r>
            <a:r>
              <a:rPr lang="en-US" sz="3600" b="1" i="0" dirty="0">
                <a:solidFill>
                  <a:srgbClr val="111111"/>
                </a:solidFill>
                <a:effectLst/>
                <a:highlight>
                  <a:srgbClr val="F3F3F3"/>
                </a:highlight>
                <a:latin typeface="-apple-system"/>
              </a:rPr>
              <a:t> Change Management Integration</a:t>
            </a:r>
            <a:r>
              <a:rPr lang="en-US" sz="3600" b="0" i="0" dirty="0">
                <a:solidFill>
                  <a:srgbClr val="111111"/>
                </a:solidFill>
                <a:effectLst/>
                <a:highlight>
                  <a:srgbClr val="F3F3F3"/>
                </a:highlight>
                <a:latin typeface="-apple-system"/>
              </a:rPr>
              <a:t>: Integrating problem management with change management can be challenging but is necessary to ensure that fixes do not introduce new issues.</a:t>
            </a:r>
          </a:p>
          <a:p>
            <a:pPr marL="0" indent="0">
              <a:buNone/>
            </a:pPr>
            <a:endParaRPr lang="en-TZ" sz="3600" dirty="0"/>
          </a:p>
        </p:txBody>
      </p:sp>
    </p:spTree>
    <p:extLst>
      <p:ext uri="{BB962C8B-B14F-4D97-AF65-F5344CB8AC3E}">
        <p14:creationId xmlns:p14="http://schemas.microsoft.com/office/powerpoint/2010/main" val="32740836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43ED33-C036-75EE-7F04-B104F43CAB5C}"/>
              </a:ext>
            </a:extLst>
          </p:cNvPr>
          <p:cNvSpPr>
            <a:spLocks noGrp="1"/>
          </p:cNvSpPr>
          <p:nvPr>
            <p:ph idx="1"/>
          </p:nvPr>
        </p:nvSpPr>
        <p:spPr>
          <a:xfrm>
            <a:off x="374753" y="344774"/>
            <a:ext cx="11377535" cy="6086006"/>
          </a:xfrm>
        </p:spPr>
        <p:txBody>
          <a:bodyPr>
            <a:normAutofit/>
          </a:bodyPr>
          <a:lstStyle/>
          <a:p>
            <a:pPr marL="0" indent="0">
              <a:buNone/>
            </a:pPr>
            <a:r>
              <a:rPr lang="en-US" sz="3200" b="1" dirty="0">
                <a:solidFill>
                  <a:srgbClr val="111111"/>
                </a:solidFill>
                <a:highlight>
                  <a:srgbClr val="F3F3F3"/>
                </a:highlight>
                <a:latin typeface="-apple-system"/>
              </a:rPr>
              <a:t>8</a:t>
            </a:r>
            <a:r>
              <a:rPr lang="en-US" sz="3200" b="1" i="0" dirty="0">
                <a:solidFill>
                  <a:srgbClr val="111111"/>
                </a:solidFill>
                <a:effectLst/>
                <a:highlight>
                  <a:srgbClr val="F3F3F3"/>
                </a:highlight>
                <a:latin typeface="-apple-system"/>
              </a:rPr>
              <a:t>.Knowledge Sharing</a:t>
            </a:r>
            <a:r>
              <a:rPr lang="en-US" sz="3200" b="0" i="0" dirty="0">
                <a:solidFill>
                  <a:srgbClr val="111111"/>
                </a:solidFill>
                <a:effectLst/>
                <a:highlight>
                  <a:srgbClr val="F3F3F3"/>
                </a:highlight>
                <a:latin typeface="-apple-system"/>
              </a:rPr>
              <a:t>: Failing to share knowledge and learnings from past incidents can lead to repeated mistakes and missed opportunities for improvement.</a:t>
            </a:r>
            <a:endParaRPr lang="en-US" sz="3200" b="1" i="0" dirty="0">
              <a:solidFill>
                <a:srgbClr val="111111"/>
              </a:solidFill>
              <a:effectLst/>
              <a:highlight>
                <a:srgbClr val="F3F3F3"/>
              </a:highlight>
              <a:latin typeface="-apple-system"/>
            </a:endParaRPr>
          </a:p>
          <a:p>
            <a:pPr marL="0" indent="0" algn="l">
              <a:buNone/>
            </a:pPr>
            <a:r>
              <a:rPr lang="en-US" sz="3200" b="1" dirty="0">
                <a:solidFill>
                  <a:srgbClr val="111111"/>
                </a:solidFill>
                <a:highlight>
                  <a:srgbClr val="F3F3F3"/>
                </a:highlight>
                <a:latin typeface="-apple-system"/>
              </a:rPr>
              <a:t>9</a:t>
            </a:r>
            <a:r>
              <a:rPr lang="en-US" sz="3200" b="1" i="0" dirty="0">
                <a:solidFill>
                  <a:srgbClr val="111111"/>
                </a:solidFill>
                <a:effectLst/>
                <a:highlight>
                  <a:srgbClr val="F3F3F3"/>
                </a:highlight>
                <a:latin typeface="-apple-system"/>
              </a:rPr>
              <a:t>.Prioritization Conflicts</a:t>
            </a:r>
            <a:r>
              <a:rPr lang="en-US" sz="3200" b="0" i="0" dirty="0">
                <a:solidFill>
                  <a:srgbClr val="111111"/>
                </a:solidFill>
                <a:effectLst/>
                <a:highlight>
                  <a:srgbClr val="F3F3F3"/>
                </a:highlight>
                <a:latin typeface="-apple-system"/>
              </a:rPr>
              <a:t>: Balancing the urgency of incidents against the importance of ongoing problem resolution efforts can be challenging.</a:t>
            </a:r>
            <a:endParaRPr lang="en-US" sz="3200" b="1" i="0" dirty="0">
              <a:solidFill>
                <a:srgbClr val="111111"/>
              </a:solidFill>
              <a:effectLst/>
              <a:highlight>
                <a:srgbClr val="F3F3F3"/>
              </a:highlight>
              <a:latin typeface="-apple-system"/>
            </a:endParaRPr>
          </a:p>
          <a:p>
            <a:pPr marL="0" indent="0" algn="l">
              <a:buNone/>
            </a:pPr>
            <a:r>
              <a:rPr lang="en-US" sz="3200" b="1" dirty="0">
                <a:solidFill>
                  <a:srgbClr val="111111"/>
                </a:solidFill>
                <a:highlight>
                  <a:srgbClr val="F3F3F3"/>
                </a:highlight>
                <a:latin typeface="-apple-system"/>
              </a:rPr>
              <a:t>10</a:t>
            </a:r>
            <a:r>
              <a:rPr lang="en-US" sz="3200" b="1" i="0" dirty="0">
                <a:solidFill>
                  <a:srgbClr val="111111"/>
                </a:solidFill>
                <a:effectLst/>
                <a:highlight>
                  <a:srgbClr val="F3F3F3"/>
                </a:highlight>
                <a:latin typeface="-apple-system"/>
              </a:rPr>
              <a:t>.Resource Constraints</a:t>
            </a:r>
            <a:r>
              <a:rPr lang="en-US" sz="3200" b="0" i="0" dirty="0">
                <a:solidFill>
                  <a:srgbClr val="111111"/>
                </a:solidFill>
                <a:effectLst/>
                <a:highlight>
                  <a:srgbClr val="F3F3F3"/>
                </a:highlight>
                <a:latin typeface="-apple-system"/>
              </a:rPr>
              <a:t>: Limited resources may force teams to focus on immediate incident resolution at the expense of long-term problem analysis and prevention.</a:t>
            </a:r>
          </a:p>
          <a:p>
            <a:pPr algn="l"/>
            <a:r>
              <a:rPr lang="en-US" sz="3200" b="0" i="0" dirty="0">
                <a:solidFill>
                  <a:srgbClr val="111111"/>
                </a:solidFill>
                <a:effectLst/>
                <a:highlight>
                  <a:srgbClr val="F3F3F3"/>
                </a:highlight>
                <a:latin typeface="-apple-system"/>
              </a:rPr>
              <a:t>Addressing these challenges requires a combination of clear policies, effective communication, proper training, robust ITSM tools, and a culture of continuous improvement.</a:t>
            </a:r>
          </a:p>
          <a:p>
            <a:endParaRPr lang="en-TZ" sz="3200" dirty="0"/>
          </a:p>
        </p:txBody>
      </p:sp>
    </p:spTree>
    <p:extLst>
      <p:ext uri="{BB962C8B-B14F-4D97-AF65-F5344CB8AC3E}">
        <p14:creationId xmlns:p14="http://schemas.microsoft.com/office/powerpoint/2010/main" val="39603564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05D81-E19D-7BA1-CA4E-4F9DC342678C}"/>
              </a:ext>
            </a:extLst>
          </p:cNvPr>
          <p:cNvSpPr>
            <a:spLocks noGrp="1"/>
          </p:cNvSpPr>
          <p:nvPr>
            <p:ph type="title"/>
          </p:nvPr>
        </p:nvSpPr>
        <p:spPr>
          <a:xfrm>
            <a:off x="838200" y="365125"/>
            <a:ext cx="10515600" cy="594245"/>
          </a:xfrm>
        </p:spPr>
        <p:txBody>
          <a:bodyPr>
            <a:normAutofit/>
          </a:bodyPr>
          <a:lstStyle/>
          <a:p>
            <a:r>
              <a:rPr lang="en-US" sz="3600" b="1" u="none" strike="noStrike" dirty="0">
                <a:solidFill>
                  <a:srgbClr val="000000"/>
                </a:solidFill>
                <a:effectLst/>
                <a:latin typeface="Times New Roman" panose="02020603050405020304" pitchFamily="18" charset="0"/>
                <a:ea typeface="Times New Roman" panose="02020603050405020304" pitchFamily="18" charset="0"/>
              </a:rPr>
              <a:t>Change, configuration and release management</a:t>
            </a:r>
            <a:endParaRPr lang="en-TZ" sz="3600" b="1" dirty="0"/>
          </a:p>
        </p:txBody>
      </p:sp>
      <p:sp>
        <p:nvSpPr>
          <p:cNvPr id="3" name="Content Placeholder 2">
            <a:extLst>
              <a:ext uri="{FF2B5EF4-FFF2-40B4-BE49-F238E27FC236}">
                <a16:creationId xmlns:a16="http://schemas.microsoft.com/office/drawing/2014/main" id="{F92CB97B-B675-8799-FA60-B2AC20C0EA5B}"/>
              </a:ext>
            </a:extLst>
          </p:cNvPr>
          <p:cNvSpPr>
            <a:spLocks noGrp="1"/>
          </p:cNvSpPr>
          <p:nvPr>
            <p:ph idx="1"/>
          </p:nvPr>
        </p:nvSpPr>
        <p:spPr>
          <a:xfrm>
            <a:off x="344774" y="1154243"/>
            <a:ext cx="11527436" cy="5338632"/>
          </a:xfrm>
        </p:spPr>
        <p:txBody>
          <a:bodyPr>
            <a:noAutofit/>
          </a:bodyPr>
          <a:lstStyle/>
          <a:p>
            <a:pPr algn="l"/>
            <a:r>
              <a:rPr lang="en-US" sz="3200" b="0" i="0" dirty="0">
                <a:solidFill>
                  <a:srgbClr val="111111"/>
                </a:solidFill>
                <a:effectLst/>
                <a:highlight>
                  <a:srgbClr val="F3F3F3"/>
                </a:highlight>
                <a:latin typeface="-apple-system"/>
              </a:rPr>
              <a:t>Change, configuration, and release management are key IT service management (ITSM) processes that ensure controlled and effective handling of system changes. Here’s an overview:</a:t>
            </a:r>
          </a:p>
          <a:p>
            <a:pPr algn="l"/>
            <a:r>
              <a:rPr lang="en-US" sz="3200" b="1" i="0" dirty="0">
                <a:solidFill>
                  <a:srgbClr val="111111"/>
                </a:solidFill>
                <a:effectLst/>
                <a:highlight>
                  <a:srgbClr val="F3F3F3"/>
                </a:highlight>
                <a:latin typeface="-apple-system"/>
              </a:rPr>
              <a:t>Change Management</a:t>
            </a:r>
            <a:r>
              <a:rPr lang="en-US" sz="3200" b="0" i="0" dirty="0">
                <a:solidFill>
                  <a:srgbClr val="111111"/>
                </a:solidFill>
                <a:effectLst/>
                <a:highlight>
                  <a:srgbClr val="F3F3F3"/>
                </a:highlight>
                <a:latin typeface="-apple-system"/>
              </a:rPr>
              <a:t>:</a:t>
            </a:r>
          </a:p>
          <a:p>
            <a:pPr algn="l">
              <a:buFont typeface="Arial" panose="020B0604020202020204" pitchFamily="34" charset="0"/>
              <a:buChar char="•"/>
            </a:pPr>
            <a:r>
              <a:rPr lang="en-US" sz="3200" b="1" i="0" dirty="0">
                <a:solidFill>
                  <a:srgbClr val="111111"/>
                </a:solidFill>
                <a:effectLst/>
                <a:highlight>
                  <a:srgbClr val="F3F3F3"/>
                </a:highlight>
                <a:latin typeface="-apple-system"/>
              </a:rPr>
              <a:t>Objective</a:t>
            </a:r>
            <a:r>
              <a:rPr lang="en-US" sz="3200" b="0" i="0" dirty="0">
                <a:solidFill>
                  <a:srgbClr val="111111"/>
                </a:solidFill>
                <a:effectLst/>
                <a:highlight>
                  <a:srgbClr val="F3F3F3"/>
                </a:highlight>
                <a:latin typeface="-apple-system"/>
              </a:rPr>
              <a:t>: To control the lifecycle of all changes, enabling beneficial changes to be made with minimal disruption to IT services.</a:t>
            </a:r>
          </a:p>
          <a:p>
            <a:pPr algn="l">
              <a:buFont typeface="Arial" panose="020B0604020202020204" pitchFamily="34" charset="0"/>
              <a:buChar char="•"/>
            </a:pPr>
            <a:r>
              <a:rPr lang="en-US" sz="3200" b="1" i="0" dirty="0">
                <a:solidFill>
                  <a:srgbClr val="111111"/>
                </a:solidFill>
                <a:effectLst/>
                <a:highlight>
                  <a:srgbClr val="F3F3F3"/>
                </a:highlight>
                <a:latin typeface="-apple-system"/>
              </a:rPr>
              <a:t>Process</a:t>
            </a:r>
            <a:r>
              <a:rPr lang="en-US" sz="3200" b="0" i="0" dirty="0">
                <a:solidFill>
                  <a:srgbClr val="111111"/>
                </a:solidFill>
                <a:effectLst/>
                <a:highlight>
                  <a:srgbClr val="F3F3F3"/>
                </a:highlight>
                <a:latin typeface="-apple-system"/>
              </a:rPr>
              <a:t>:</a:t>
            </a:r>
          </a:p>
          <a:p>
            <a:pPr marL="742950" lvl="1" indent="-285750" algn="l">
              <a:buFont typeface="Arial" panose="020B0604020202020204" pitchFamily="34" charset="0"/>
              <a:buChar char="•"/>
            </a:pPr>
            <a:r>
              <a:rPr lang="en-US" b="1" i="0" dirty="0">
                <a:solidFill>
                  <a:srgbClr val="111111"/>
                </a:solidFill>
                <a:effectLst/>
                <a:highlight>
                  <a:srgbClr val="F3F3F3"/>
                </a:highlight>
                <a:latin typeface="-apple-system"/>
              </a:rPr>
              <a:t>Request for Change (RFC)</a:t>
            </a:r>
            <a:r>
              <a:rPr lang="en-US" b="0" i="0" dirty="0">
                <a:solidFill>
                  <a:srgbClr val="111111"/>
                </a:solidFill>
                <a:effectLst/>
                <a:highlight>
                  <a:srgbClr val="F3F3F3"/>
                </a:highlight>
                <a:latin typeface="-apple-system"/>
              </a:rPr>
              <a:t>: Submit and record change requests.</a:t>
            </a:r>
          </a:p>
          <a:p>
            <a:pPr marL="742950" lvl="1" indent="-285750" algn="l">
              <a:buFont typeface="Arial" panose="020B0604020202020204" pitchFamily="34" charset="0"/>
              <a:buChar char="•"/>
            </a:pPr>
            <a:r>
              <a:rPr lang="en-US" b="1" i="0" dirty="0">
                <a:solidFill>
                  <a:srgbClr val="111111"/>
                </a:solidFill>
                <a:effectLst/>
                <a:highlight>
                  <a:srgbClr val="F3F3F3"/>
                </a:highlight>
                <a:latin typeface="-apple-system"/>
              </a:rPr>
              <a:t>Assessment</a:t>
            </a:r>
            <a:r>
              <a:rPr lang="en-US" b="0" i="0" dirty="0">
                <a:solidFill>
                  <a:srgbClr val="111111"/>
                </a:solidFill>
                <a:effectLst/>
                <a:highlight>
                  <a:srgbClr val="F3F3F3"/>
                </a:highlight>
                <a:latin typeface="-apple-system"/>
              </a:rPr>
              <a:t>: Evaluate the impact, cost, benefit, and risk of proposed changes.</a:t>
            </a:r>
          </a:p>
          <a:p>
            <a:endParaRPr lang="en-TZ" sz="3200" dirty="0"/>
          </a:p>
        </p:txBody>
      </p:sp>
    </p:spTree>
    <p:extLst>
      <p:ext uri="{BB962C8B-B14F-4D97-AF65-F5344CB8AC3E}">
        <p14:creationId xmlns:p14="http://schemas.microsoft.com/office/powerpoint/2010/main" val="37419949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A5310F-7148-3459-76A9-415EF1DCD67D}"/>
              </a:ext>
            </a:extLst>
          </p:cNvPr>
          <p:cNvSpPr>
            <a:spLocks noGrp="1"/>
          </p:cNvSpPr>
          <p:nvPr>
            <p:ph idx="1"/>
          </p:nvPr>
        </p:nvSpPr>
        <p:spPr>
          <a:xfrm>
            <a:off x="404733" y="374754"/>
            <a:ext cx="11422505" cy="5951095"/>
          </a:xfrm>
        </p:spPr>
        <p:txBody>
          <a:bodyPr>
            <a:noAutofit/>
          </a:bodyPr>
          <a:lstStyle/>
          <a:p>
            <a:pPr marL="742950" lvl="1" indent="-285750">
              <a:buFont typeface="Arial" panose="020B0604020202020204" pitchFamily="34" charset="0"/>
              <a:buChar char="•"/>
            </a:pPr>
            <a:r>
              <a:rPr lang="en-US" b="1" dirty="0">
                <a:effectLst/>
              </a:rPr>
              <a:t>Approval</a:t>
            </a:r>
            <a:r>
              <a:rPr lang="en-US" dirty="0">
                <a:effectLst/>
              </a:rPr>
              <a:t>: Obtain authorization before proceeding with changes.</a:t>
            </a:r>
          </a:p>
          <a:p>
            <a:pPr marL="742950" lvl="1" indent="-285750">
              <a:buFont typeface="Arial" panose="020B0604020202020204" pitchFamily="34" charset="0"/>
              <a:buChar char="•"/>
            </a:pPr>
            <a:r>
              <a:rPr lang="en-US" b="1" dirty="0">
                <a:effectLst/>
              </a:rPr>
              <a:t>Implementation</a:t>
            </a:r>
            <a:r>
              <a:rPr lang="en-US" dirty="0">
                <a:effectLst/>
              </a:rPr>
              <a:t>: Carefully plan and execute changes.</a:t>
            </a:r>
          </a:p>
          <a:p>
            <a:pPr marL="742950" lvl="1" indent="-285750">
              <a:buFont typeface="Arial" panose="020B0604020202020204" pitchFamily="34" charset="0"/>
              <a:buChar char="•"/>
            </a:pPr>
            <a:r>
              <a:rPr lang="en-US" b="1" dirty="0">
                <a:effectLst/>
              </a:rPr>
              <a:t>Review</a:t>
            </a:r>
            <a:r>
              <a:rPr lang="en-US" dirty="0">
                <a:effectLst/>
              </a:rPr>
              <a:t>: Assess the change implementation to ensure objectives were met and to identify improvements.</a:t>
            </a:r>
          </a:p>
          <a:p>
            <a:r>
              <a:rPr lang="en-US" sz="2400" b="1" dirty="0">
                <a:effectLst/>
              </a:rPr>
              <a:t>Configuration Management</a:t>
            </a:r>
            <a:r>
              <a:rPr lang="en-US" sz="2400" dirty="0">
                <a:effectLst/>
              </a:rPr>
              <a:t>:</a:t>
            </a:r>
          </a:p>
          <a:p>
            <a:pPr>
              <a:buFont typeface="Arial" panose="020B0604020202020204" pitchFamily="34" charset="0"/>
              <a:buChar char="•"/>
            </a:pPr>
            <a:r>
              <a:rPr lang="en-US" sz="2400" b="1" i="0" dirty="0">
                <a:solidFill>
                  <a:srgbClr val="111111"/>
                </a:solidFill>
                <a:effectLst/>
                <a:highlight>
                  <a:srgbClr val="F3F3F3"/>
                </a:highlight>
                <a:latin typeface="-apple-system"/>
              </a:rPr>
              <a:t>Objective</a:t>
            </a:r>
            <a:r>
              <a:rPr lang="en-US" sz="2400" b="0" i="0" dirty="0">
                <a:solidFill>
                  <a:srgbClr val="111111"/>
                </a:solidFill>
                <a:effectLst/>
                <a:highlight>
                  <a:srgbClr val="F3F3F3"/>
                </a:highlight>
                <a:latin typeface="-apple-system"/>
              </a:rPr>
              <a:t>: To maintain information about configuration items (CIs) required to deliver IT services, including their relationships.</a:t>
            </a:r>
          </a:p>
          <a:p>
            <a:pPr algn="l">
              <a:buFont typeface="Arial" panose="020B0604020202020204" pitchFamily="34" charset="0"/>
              <a:buChar char="•"/>
            </a:pPr>
            <a:r>
              <a:rPr lang="en-US" sz="2400" b="1" i="0" dirty="0">
                <a:solidFill>
                  <a:srgbClr val="111111"/>
                </a:solidFill>
                <a:effectLst/>
                <a:highlight>
                  <a:srgbClr val="F3F3F3"/>
                </a:highlight>
                <a:latin typeface="-apple-system"/>
              </a:rPr>
              <a:t>Process</a:t>
            </a:r>
            <a:r>
              <a:rPr lang="en-US" sz="2400" b="0" i="0" dirty="0">
                <a:solidFill>
                  <a:srgbClr val="111111"/>
                </a:solidFill>
                <a:effectLst/>
                <a:highlight>
                  <a:srgbClr val="F3F3F3"/>
                </a:highlight>
                <a:latin typeface="-apple-system"/>
              </a:rPr>
              <a:t>:</a:t>
            </a:r>
          </a:p>
          <a:p>
            <a:pPr lvl="1"/>
            <a:r>
              <a:rPr lang="en-US" b="1" i="0" dirty="0">
                <a:solidFill>
                  <a:srgbClr val="111111"/>
                </a:solidFill>
                <a:effectLst/>
                <a:highlight>
                  <a:srgbClr val="F3F3F3"/>
                </a:highlight>
                <a:latin typeface="-apple-system"/>
              </a:rPr>
              <a:t>Configuration Identification</a:t>
            </a:r>
            <a:r>
              <a:rPr lang="en-US" b="0" i="0" dirty="0">
                <a:solidFill>
                  <a:srgbClr val="111111"/>
                </a:solidFill>
                <a:effectLst/>
                <a:highlight>
                  <a:srgbClr val="F3F3F3"/>
                </a:highlight>
                <a:latin typeface="-apple-system"/>
              </a:rPr>
              <a:t>: Define and maintain the structure of configuration items within a system.</a:t>
            </a:r>
          </a:p>
          <a:p>
            <a:pPr lvl="1"/>
            <a:r>
              <a:rPr lang="en-US" b="1" i="0" dirty="0">
                <a:solidFill>
                  <a:srgbClr val="111111"/>
                </a:solidFill>
                <a:effectLst/>
                <a:highlight>
                  <a:srgbClr val="F3F3F3"/>
                </a:highlight>
                <a:latin typeface="-apple-system"/>
              </a:rPr>
              <a:t>Configuration Control</a:t>
            </a:r>
            <a:r>
              <a:rPr lang="en-US" b="0" i="0" dirty="0">
                <a:solidFill>
                  <a:srgbClr val="111111"/>
                </a:solidFill>
                <a:effectLst/>
                <a:highlight>
                  <a:srgbClr val="F3F3F3"/>
                </a:highlight>
                <a:latin typeface="-apple-system"/>
              </a:rPr>
              <a:t>: Maintain the integrity of CIs through controlled change and version management.</a:t>
            </a:r>
          </a:p>
          <a:p>
            <a:pPr lvl="1"/>
            <a:r>
              <a:rPr lang="en-US" b="1" i="0" dirty="0">
                <a:solidFill>
                  <a:srgbClr val="111111"/>
                </a:solidFill>
                <a:effectLst/>
                <a:highlight>
                  <a:srgbClr val="F3F3F3"/>
                </a:highlight>
                <a:latin typeface="-apple-system"/>
              </a:rPr>
              <a:t>Configuration Status Accounting</a:t>
            </a:r>
            <a:r>
              <a:rPr lang="en-US" b="0" i="0" dirty="0">
                <a:solidFill>
                  <a:srgbClr val="111111"/>
                </a:solidFill>
                <a:effectLst/>
                <a:highlight>
                  <a:srgbClr val="F3F3F3"/>
                </a:highlight>
                <a:latin typeface="-apple-system"/>
              </a:rPr>
              <a:t>: Record and report on the status of CIs and any requested changes.</a:t>
            </a:r>
          </a:p>
          <a:p>
            <a:pPr lvl="1"/>
            <a:r>
              <a:rPr lang="en-US" b="1" i="0" dirty="0">
                <a:solidFill>
                  <a:srgbClr val="111111"/>
                </a:solidFill>
                <a:effectLst/>
                <a:highlight>
                  <a:srgbClr val="F3F3F3"/>
                </a:highlight>
                <a:latin typeface="-apple-system"/>
              </a:rPr>
              <a:t>Configuration Verification and Audit</a:t>
            </a:r>
            <a:r>
              <a:rPr lang="en-US" b="0" i="0" dirty="0">
                <a:solidFill>
                  <a:srgbClr val="111111"/>
                </a:solidFill>
                <a:effectLst/>
                <a:highlight>
                  <a:srgbClr val="F3F3F3"/>
                </a:highlight>
                <a:latin typeface="-apple-system"/>
              </a:rPr>
              <a:t>: Ensure that CIs are consistent with their documentation.</a:t>
            </a:r>
          </a:p>
          <a:p>
            <a:pPr marL="457200" lvl="1" indent="0">
              <a:buNone/>
            </a:pPr>
            <a:br>
              <a:rPr lang="en-US" dirty="0">
                <a:effectLst/>
              </a:rPr>
            </a:br>
            <a:endParaRPr lang="en-TZ" dirty="0"/>
          </a:p>
        </p:txBody>
      </p:sp>
    </p:spTree>
    <p:extLst>
      <p:ext uri="{BB962C8B-B14F-4D97-AF65-F5344CB8AC3E}">
        <p14:creationId xmlns:p14="http://schemas.microsoft.com/office/powerpoint/2010/main" val="38520424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57F8F7-D958-B204-87FB-412598B8C412}"/>
              </a:ext>
            </a:extLst>
          </p:cNvPr>
          <p:cNvSpPr>
            <a:spLocks noGrp="1"/>
          </p:cNvSpPr>
          <p:nvPr>
            <p:ph idx="1"/>
          </p:nvPr>
        </p:nvSpPr>
        <p:spPr>
          <a:xfrm>
            <a:off x="838200" y="404734"/>
            <a:ext cx="10515600" cy="5772229"/>
          </a:xfrm>
        </p:spPr>
        <p:txBody>
          <a:bodyPr/>
          <a:lstStyle/>
          <a:p>
            <a:pPr algn="l"/>
            <a:r>
              <a:rPr lang="en-US" b="1" i="0" dirty="0">
                <a:solidFill>
                  <a:srgbClr val="111111"/>
                </a:solidFill>
                <a:effectLst/>
                <a:highlight>
                  <a:srgbClr val="F3F3F3"/>
                </a:highlight>
                <a:latin typeface="-apple-system"/>
              </a:rPr>
              <a:t>Release Management</a:t>
            </a:r>
            <a:r>
              <a:rPr lang="en-US" b="0" i="0" dirty="0">
                <a:solidFill>
                  <a:srgbClr val="111111"/>
                </a:solidFill>
                <a:effectLst/>
                <a:highlight>
                  <a:srgbClr val="F3F3F3"/>
                </a:highlight>
                <a:latin typeface="-apple-system"/>
              </a:rPr>
              <a:t>:</a:t>
            </a:r>
          </a:p>
          <a:p>
            <a:pPr algn="l">
              <a:buFont typeface="Arial" panose="020B0604020202020204" pitchFamily="34" charset="0"/>
              <a:buChar char="•"/>
            </a:pPr>
            <a:r>
              <a:rPr lang="en-US" b="1" i="0" dirty="0">
                <a:solidFill>
                  <a:srgbClr val="111111"/>
                </a:solidFill>
                <a:effectLst/>
                <a:highlight>
                  <a:srgbClr val="F3F3F3"/>
                </a:highlight>
                <a:latin typeface="-apple-system"/>
              </a:rPr>
              <a:t>Objective</a:t>
            </a:r>
            <a:r>
              <a:rPr lang="en-US" b="0" i="0" dirty="0">
                <a:solidFill>
                  <a:srgbClr val="111111"/>
                </a:solidFill>
                <a:effectLst/>
                <a:highlight>
                  <a:srgbClr val="F3F3F3"/>
                </a:highlight>
                <a:latin typeface="-apple-system"/>
              </a:rPr>
              <a:t>: To plan, schedule, and control the movement of releases to test and live environments, ensuring that the integrity of the live environment is protected.</a:t>
            </a:r>
          </a:p>
          <a:p>
            <a:pPr algn="l">
              <a:buFont typeface="Arial" panose="020B0604020202020204" pitchFamily="34" charset="0"/>
              <a:buChar char="•"/>
            </a:pPr>
            <a:r>
              <a:rPr lang="en-US" b="1" i="0" dirty="0">
                <a:solidFill>
                  <a:srgbClr val="111111"/>
                </a:solidFill>
                <a:effectLst/>
                <a:highlight>
                  <a:srgbClr val="F3F3F3"/>
                </a:highlight>
                <a:latin typeface="-apple-system"/>
              </a:rPr>
              <a:t>Process</a:t>
            </a:r>
            <a:r>
              <a:rPr lang="en-US" b="0" i="0" dirty="0">
                <a:solidFill>
                  <a:srgbClr val="111111"/>
                </a:solidFill>
                <a:effectLst/>
                <a:highlight>
                  <a:srgbClr val="F3F3F3"/>
                </a:highlight>
                <a:latin typeface="-apple-system"/>
              </a:rPr>
              <a:t>:</a:t>
            </a:r>
          </a:p>
          <a:p>
            <a:pPr marL="742950" lvl="1" indent="-285750" algn="l">
              <a:buFont typeface="Arial" panose="020B0604020202020204" pitchFamily="34" charset="0"/>
              <a:buChar char="•"/>
            </a:pPr>
            <a:r>
              <a:rPr lang="en-US" b="1" i="0" dirty="0">
                <a:solidFill>
                  <a:srgbClr val="111111"/>
                </a:solidFill>
                <a:effectLst/>
                <a:highlight>
                  <a:srgbClr val="F3F3F3"/>
                </a:highlight>
                <a:latin typeface="-apple-system"/>
              </a:rPr>
              <a:t>Release Planning</a:t>
            </a:r>
            <a:r>
              <a:rPr lang="en-US" b="0" i="0" dirty="0">
                <a:solidFill>
                  <a:srgbClr val="111111"/>
                </a:solidFill>
                <a:effectLst/>
                <a:highlight>
                  <a:srgbClr val="F3F3F3"/>
                </a:highlight>
                <a:latin typeface="-apple-system"/>
              </a:rPr>
              <a:t>: Plan the scope, timing, and impact of releases.</a:t>
            </a:r>
          </a:p>
          <a:p>
            <a:pPr marL="742950" lvl="1" indent="-285750" algn="l">
              <a:buFont typeface="Arial" panose="020B0604020202020204" pitchFamily="34" charset="0"/>
              <a:buChar char="•"/>
            </a:pPr>
            <a:r>
              <a:rPr lang="en-US" b="1" i="0" dirty="0">
                <a:solidFill>
                  <a:srgbClr val="111111"/>
                </a:solidFill>
                <a:effectLst/>
                <a:highlight>
                  <a:srgbClr val="F3F3F3"/>
                </a:highlight>
                <a:latin typeface="-apple-system"/>
              </a:rPr>
              <a:t>Build and Test</a:t>
            </a:r>
            <a:r>
              <a:rPr lang="en-US" b="0" i="0" dirty="0">
                <a:solidFill>
                  <a:srgbClr val="111111"/>
                </a:solidFill>
                <a:effectLst/>
                <a:highlight>
                  <a:srgbClr val="F3F3F3"/>
                </a:highlight>
                <a:latin typeface="-apple-system"/>
              </a:rPr>
              <a:t>: Develop and test the release in a controlled environment.</a:t>
            </a:r>
          </a:p>
          <a:p>
            <a:pPr marL="742950" lvl="1" indent="-285750" algn="l">
              <a:buFont typeface="Arial" panose="020B0604020202020204" pitchFamily="34" charset="0"/>
              <a:buChar char="•"/>
            </a:pPr>
            <a:r>
              <a:rPr lang="en-US" b="1" i="0" dirty="0">
                <a:solidFill>
                  <a:srgbClr val="111111"/>
                </a:solidFill>
                <a:effectLst/>
                <a:highlight>
                  <a:srgbClr val="F3F3F3"/>
                </a:highlight>
                <a:latin typeface="-apple-system"/>
              </a:rPr>
              <a:t>Deployment</a:t>
            </a:r>
            <a:r>
              <a:rPr lang="en-US" b="0" i="0" dirty="0">
                <a:solidFill>
                  <a:srgbClr val="111111"/>
                </a:solidFill>
                <a:effectLst/>
                <a:highlight>
                  <a:srgbClr val="F3F3F3"/>
                </a:highlight>
                <a:latin typeface="-apple-system"/>
              </a:rPr>
              <a:t>: Roll out the release to the live environment according to plan.</a:t>
            </a:r>
          </a:p>
          <a:p>
            <a:pPr marL="742950" lvl="1" indent="-285750" algn="l">
              <a:buFont typeface="Arial" panose="020B0604020202020204" pitchFamily="34" charset="0"/>
              <a:buChar char="•"/>
            </a:pPr>
            <a:r>
              <a:rPr lang="en-US" b="1" i="0" dirty="0">
                <a:solidFill>
                  <a:srgbClr val="111111"/>
                </a:solidFill>
                <a:effectLst/>
                <a:highlight>
                  <a:srgbClr val="F3F3F3"/>
                </a:highlight>
                <a:latin typeface="-apple-system"/>
              </a:rPr>
              <a:t>Review and Close</a:t>
            </a:r>
            <a:r>
              <a:rPr lang="en-US" b="0" i="0" dirty="0">
                <a:solidFill>
                  <a:srgbClr val="111111"/>
                </a:solidFill>
                <a:effectLst/>
                <a:highlight>
                  <a:srgbClr val="F3F3F3"/>
                </a:highlight>
                <a:latin typeface="-apple-system"/>
              </a:rPr>
              <a:t>: Evaluate the release outcome and close it upon successful deployment.</a:t>
            </a:r>
          </a:p>
          <a:p>
            <a:pPr algn="l"/>
            <a:r>
              <a:rPr lang="en-US" b="0" i="0" dirty="0">
                <a:solidFill>
                  <a:srgbClr val="111111"/>
                </a:solidFill>
                <a:effectLst/>
                <a:highlight>
                  <a:srgbClr val="F3F3F3"/>
                </a:highlight>
                <a:latin typeface="-apple-system"/>
              </a:rPr>
              <a:t>These processes work together to ensure that changes are made in a systematic way that minimizes risks and disruptions while maintaining accurate records of systems and their configurations.</a:t>
            </a:r>
          </a:p>
          <a:p>
            <a:endParaRPr lang="en-TZ" dirty="0"/>
          </a:p>
        </p:txBody>
      </p:sp>
    </p:spTree>
    <p:extLst>
      <p:ext uri="{BB962C8B-B14F-4D97-AF65-F5344CB8AC3E}">
        <p14:creationId xmlns:p14="http://schemas.microsoft.com/office/powerpoint/2010/main" val="27417443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4804C4-5152-9A21-BB16-7EEEFF74EE84}"/>
              </a:ext>
            </a:extLst>
          </p:cNvPr>
          <p:cNvSpPr>
            <a:spLocks noGrp="1"/>
          </p:cNvSpPr>
          <p:nvPr>
            <p:ph idx="1"/>
          </p:nvPr>
        </p:nvSpPr>
        <p:spPr>
          <a:xfrm>
            <a:off x="419725" y="479684"/>
            <a:ext cx="11332564" cy="5936105"/>
          </a:xfrm>
        </p:spPr>
        <p:txBody>
          <a:bodyPr>
            <a:normAutofit/>
          </a:bodyPr>
          <a:lstStyle/>
          <a:p>
            <a:pPr algn="l"/>
            <a:r>
              <a:rPr lang="en-US" sz="3200" b="0" i="0" dirty="0">
                <a:solidFill>
                  <a:srgbClr val="111111"/>
                </a:solidFill>
                <a:effectLst/>
                <a:highlight>
                  <a:srgbClr val="F3F3F3"/>
                </a:highlight>
                <a:latin typeface="-apple-system"/>
              </a:rPr>
              <a:t>Here are some common challenges associated with change, configuration, and release management:</a:t>
            </a:r>
          </a:p>
          <a:p>
            <a:pPr algn="l">
              <a:buFont typeface="+mj-lt"/>
              <a:buAutoNum type="arabicPeriod"/>
            </a:pPr>
            <a:r>
              <a:rPr lang="en-US" sz="3200" b="1" i="0" dirty="0">
                <a:solidFill>
                  <a:srgbClr val="111111"/>
                </a:solidFill>
                <a:effectLst/>
                <a:highlight>
                  <a:srgbClr val="F3F3F3"/>
                </a:highlight>
                <a:latin typeface="-apple-system"/>
              </a:rPr>
              <a:t>Complex Dependencies</a:t>
            </a:r>
            <a:r>
              <a:rPr lang="en-US" sz="3200" b="0" i="0" dirty="0">
                <a:solidFill>
                  <a:srgbClr val="111111"/>
                </a:solidFill>
                <a:effectLst/>
                <a:highlight>
                  <a:srgbClr val="F3F3F3"/>
                </a:highlight>
                <a:latin typeface="-apple-system"/>
              </a:rPr>
              <a:t>: Understanding and managing the complex dependencies between configuration items can be difficult.</a:t>
            </a:r>
          </a:p>
          <a:p>
            <a:pPr algn="l">
              <a:buFont typeface="+mj-lt"/>
              <a:buAutoNum type="arabicPeriod"/>
            </a:pPr>
            <a:r>
              <a:rPr lang="en-US" sz="3200" b="1" i="0" dirty="0">
                <a:solidFill>
                  <a:srgbClr val="111111"/>
                </a:solidFill>
                <a:effectLst/>
                <a:highlight>
                  <a:srgbClr val="F3F3F3"/>
                </a:highlight>
                <a:latin typeface="-apple-system"/>
              </a:rPr>
              <a:t>Resistance to Change</a:t>
            </a:r>
            <a:r>
              <a:rPr lang="en-US" sz="3200" b="0" i="0" dirty="0">
                <a:solidFill>
                  <a:srgbClr val="111111"/>
                </a:solidFill>
                <a:effectLst/>
                <a:highlight>
                  <a:srgbClr val="F3F3F3"/>
                </a:highlight>
                <a:latin typeface="-apple-system"/>
              </a:rPr>
              <a:t>: Organizational resistance to change can hinder the implementation of new processes or technologies.</a:t>
            </a:r>
          </a:p>
          <a:p>
            <a:pPr algn="l">
              <a:buFont typeface="+mj-lt"/>
              <a:buAutoNum type="arabicPeriod"/>
            </a:pPr>
            <a:r>
              <a:rPr lang="en-US" sz="3200" b="1" i="0" dirty="0">
                <a:solidFill>
                  <a:srgbClr val="111111"/>
                </a:solidFill>
                <a:effectLst/>
                <a:highlight>
                  <a:srgbClr val="F3F3F3"/>
                </a:highlight>
                <a:latin typeface="-apple-system"/>
              </a:rPr>
              <a:t>Inadequate Testing</a:t>
            </a:r>
            <a:r>
              <a:rPr lang="en-US" sz="3200" b="0" i="0" dirty="0">
                <a:solidFill>
                  <a:srgbClr val="111111"/>
                </a:solidFill>
                <a:effectLst/>
                <a:highlight>
                  <a:srgbClr val="F3F3F3"/>
                </a:highlight>
                <a:latin typeface="-apple-system"/>
              </a:rPr>
              <a:t>: Insufficient testing can lead to releases that cause more issues than they resolve.</a:t>
            </a:r>
          </a:p>
          <a:p>
            <a:pPr algn="l">
              <a:buFont typeface="+mj-lt"/>
              <a:buAutoNum type="arabicPeriod"/>
            </a:pPr>
            <a:r>
              <a:rPr lang="en-US" sz="3200" b="1" i="0" dirty="0">
                <a:solidFill>
                  <a:srgbClr val="111111"/>
                </a:solidFill>
                <a:effectLst/>
                <a:highlight>
                  <a:srgbClr val="F3F3F3"/>
                </a:highlight>
                <a:latin typeface="-apple-system"/>
              </a:rPr>
              <a:t>Configuration Drift</a:t>
            </a:r>
            <a:r>
              <a:rPr lang="en-US" sz="3200" b="0" i="0" dirty="0">
                <a:solidFill>
                  <a:srgbClr val="111111"/>
                </a:solidFill>
                <a:effectLst/>
                <a:highlight>
                  <a:srgbClr val="F3F3F3"/>
                </a:highlight>
                <a:latin typeface="-apple-system"/>
              </a:rPr>
              <a:t>: Over time, the actual state of configuration items can drift away from the recorded state, leading to inaccuracies.</a:t>
            </a:r>
          </a:p>
          <a:p>
            <a:endParaRPr lang="en-TZ" sz="3200" dirty="0"/>
          </a:p>
        </p:txBody>
      </p:sp>
    </p:spTree>
    <p:extLst>
      <p:ext uri="{BB962C8B-B14F-4D97-AF65-F5344CB8AC3E}">
        <p14:creationId xmlns:p14="http://schemas.microsoft.com/office/powerpoint/2010/main" val="18363809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FD312-A0E2-4261-CDCB-DE3C7A13665C}"/>
              </a:ext>
            </a:extLst>
          </p:cNvPr>
          <p:cNvSpPr>
            <a:spLocks noGrp="1"/>
          </p:cNvSpPr>
          <p:nvPr>
            <p:ph idx="1"/>
          </p:nvPr>
        </p:nvSpPr>
        <p:spPr>
          <a:xfrm>
            <a:off x="374753" y="434715"/>
            <a:ext cx="11422505" cy="5742248"/>
          </a:xfrm>
        </p:spPr>
        <p:txBody>
          <a:bodyPr>
            <a:noAutofit/>
          </a:bodyPr>
          <a:lstStyle/>
          <a:p>
            <a:pPr marL="0" indent="0" algn="l">
              <a:buNone/>
            </a:pPr>
            <a:r>
              <a:rPr lang="en-US" sz="3600" b="1" i="0" dirty="0">
                <a:solidFill>
                  <a:srgbClr val="111111"/>
                </a:solidFill>
                <a:effectLst/>
                <a:highlight>
                  <a:srgbClr val="F3F3F3"/>
                </a:highlight>
                <a:latin typeface="-apple-system"/>
              </a:rPr>
              <a:t>5.Lack of Visibility</a:t>
            </a:r>
            <a:r>
              <a:rPr lang="en-US" sz="3600" b="0" i="0" dirty="0">
                <a:solidFill>
                  <a:srgbClr val="111111"/>
                </a:solidFill>
                <a:effectLst/>
                <a:highlight>
                  <a:srgbClr val="F3F3F3"/>
                </a:highlight>
                <a:latin typeface="-apple-system"/>
              </a:rPr>
              <a:t>: Without a clear view of all changes and configurations, it’s challenging to manage and audit changes effectively.</a:t>
            </a:r>
          </a:p>
          <a:p>
            <a:pPr marL="0" indent="0" algn="l">
              <a:buNone/>
            </a:pPr>
            <a:r>
              <a:rPr lang="en-US" sz="3600" b="1" i="0" dirty="0">
                <a:solidFill>
                  <a:srgbClr val="111111"/>
                </a:solidFill>
                <a:effectLst/>
                <a:highlight>
                  <a:srgbClr val="F3F3F3"/>
                </a:highlight>
                <a:latin typeface="-apple-system"/>
              </a:rPr>
              <a:t>6.Poor Coordination</a:t>
            </a:r>
            <a:r>
              <a:rPr lang="en-US" sz="3600" b="0" i="0" dirty="0">
                <a:solidFill>
                  <a:srgbClr val="111111"/>
                </a:solidFill>
                <a:effectLst/>
                <a:highlight>
                  <a:srgbClr val="F3F3F3"/>
                </a:highlight>
                <a:latin typeface="-apple-system"/>
              </a:rPr>
              <a:t>: Inadequate coordination between teams can result in conflicting changes and disruptions.</a:t>
            </a:r>
          </a:p>
          <a:p>
            <a:pPr marL="0" indent="0" algn="l">
              <a:buNone/>
            </a:pPr>
            <a:r>
              <a:rPr lang="en-US" sz="3600" b="1" i="0" dirty="0">
                <a:solidFill>
                  <a:srgbClr val="111111"/>
                </a:solidFill>
                <a:effectLst/>
                <a:highlight>
                  <a:srgbClr val="F3F3F3"/>
                </a:highlight>
                <a:latin typeface="-apple-system"/>
              </a:rPr>
              <a:t>7.Resource Constraints</a:t>
            </a:r>
            <a:r>
              <a:rPr lang="en-US" sz="3600" b="0" i="0" dirty="0">
                <a:solidFill>
                  <a:srgbClr val="111111"/>
                </a:solidFill>
                <a:effectLst/>
                <a:highlight>
                  <a:srgbClr val="F3F3F3"/>
                </a:highlight>
                <a:latin typeface="-apple-system"/>
              </a:rPr>
              <a:t>: Limited resources can lead to rushed changes or releases, increasing the risk of errors.</a:t>
            </a:r>
          </a:p>
          <a:p>
            <a:pPr marL="0" indent="0" algn="l">
              <a:buNone/>
            </a:pPr>
            <a:r>
              <a:rPr lang="en-US" sz="3600" b="1" i="0" dirty="0">
                <a:solidFill>
                  <a:srgbClr val="111111"/>
                </a:solidFill>
                <a:effectLst/>
                <a:highlight>
                  <a:srgbClr val="F3F3F3"/>
                </a:highlight>
                <a:latin typeface="-apple-system"/>
              </a:rPr>
              <a:t>8.Documentation Gaps</a:t>
            </a:r>
            <a:r>
              <a:rPr lang="en-US" sz="3600" b="0" i="0" dirty="0">
                <a:solidFill>
                  <a:srgbClr val="111111"/>
                </a:solidFill>
                <a:effectLst/>
                <a:highlight>
                  <a:srgbClr val="F3F3F3"/>
                </a:highlight>
                <a:latin typeface="-apple-system"/>
              </a:rPr>
              <a:t>: Incomplete or outdated documentation can complicate change and release processes.</a:t>
            </a:r>
          </a:p>
          <a:p>
            <a:endParaRPr lang="en-TZ" sz="3600" dirty="0"/>
          </a:p>
        </p:txBody>
      </p:sp>
    </p:spTree>
    <p:extLst>
      <p:ext uri="{BB962C8B-B14F-4D97-AF65-F5344CB8AC3E}">
        <p14:creationId xmlns:p14="http://schemas.microsoft.com/office/powerpoint/2010/main" val="36349746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8A753A-DF56-32FF-476B-48BE45AE470E}"/>
              </a:ext>
            </a:extLst>
          </p:cNvPr>
          <p:cNvSpPr>
            <a:spLocks noGrp="1"/>
          </p:cNvSpPr>
          <p:nvPr>
            <p:ph idx="1"/>
          </p:nvPr>
        </p:nvSpPr>
        <p:spPr>
          <a:xfrm>
            <a:off x="838200" y="569626"/>
            <a:ext cx="10515600" cy="5607337"/>
          </a:xfrm>
        </p:spPr>
        <p:txBody>
          <a:bodyPr>
            <a:noAutofit/>
          </a:bodyPr>
          <a:lstStyle/>
          <a:p>
            <a:pPr marL="0" indent="0" algn="l">
              <a:buNone/>
            </a:pPr>
            <a:r>
              <a:rPr lang="en-US" sz="3600" b="1" i="0" dirty="0">
                <a:solidFill>
                  <a:srgbClr val="111111"/>
                </a:solidFill>
                <a:effectLst/>
                <a:highlight>
                  <a:srgbClr val="F3F3F3"/>
                </a:highlight>
                <a:latin typeface="-apple-system"/>
              </a:rPr>
              <a:t>9.Compliance and Standards</a:t>
            </a:r>
            <a:r>
              <a:rPr lang="en-US" sz="3600" b="0" i="0" dirty="0">
                <a:solidFill>
                  <a:srgbClr val="111111"/>
                </a:solidFill>
                <a:effectLst/>
                <a:highlight>
                  <a:srgbClr val="F3F3F3"/>
                </a:highlight>
                <a:latin typeface="-apple-system"/>
              </a:rPr>
              <a:t>: Ensuring that changes comply with industry standards and regulations requires careful planning and documentation.</a:t>
            </a:r>
          </a:p>
          <a:p>
            <a:pPr marL="0" indent="0" algn="l">
              <a:buNone/>
            </a:pPr>
            <a:r>
              <a:rPr lang="en-US" sz="3600" b="1" i="0" dirty="0">
                <a:solidFill>
                  <a:srgbClr val="111111"/>
                </a:solidFill>
                <a:effectLst/>
                <a:highlight>
                  <a:srgbClr val="F3F3F3"/>
                </a:highlight>
                <a:latin typeface="-apple-system"/>
              </a:rPr>
              <a:t>10.Release Scheduling</a:t>
            </a:r>
            <a:r>
              <a:rPr lang="en-US" sz="3600" b="0" i="0" dirty="0">
                <a:solidFill>
                  <a:srgbClr val="111111"/>
                </a:solidFill>
                <a:effectLst/>
                <a:highlight>
                  <a:srgbClr val="F3F3F3"/>
                </a:highlight>
                <a:latin typeface="-apple-system"/>
              </a:rPr>
              <a:t>: Coordinating release schedules to minimize impact on business operations while accommodating various project timelines can be complex.</a:t>
            </a:r>
          </a:p>
          <a:p>
            <a:pPr algn="l"/>
            <a:r>
              <a:rPr lang="en-US" sz="3600" b="0" i="0" dirty="0">
                <a:solidFill>
                  <a:srgbClr val="111111"/>
                </a:solidFill>
                <a:effectLst/>
                <a:highlight>
                  <a:srgbClr val="F3F3F3"/>
                </a:highlight>
                <a:latin typeface="-apple-system"/>
              </a:rPr>
              <a:t>Addressing these challenges involves establishing clear processes, investing in proper tooling, fostering a culture of collaboration, and maintaining rigorous documentation practices.</a:t>
            </a:r>
          </a:p>
          <a:p>
            <a:endParaRPr lang="en-TZ" sz="3600" dirty="0"/>
          </a:p>
        </p:txBody>
      </p:sp>
    </p:spTree>
    <p:extLst>
      <p:ext uri="{BB962C8B-B14F-4D97-AF65-F5344CB8AC3E}">
        <p14:creationId xmlns:p14="http://schemas.microsoft.com/office/powerpoint/2010/main" val="36630674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AF998-B9AF-E54B-3EE3-5BD8D82C0FB4}"/>
              </a:ext>
            </a:extLst>
          </p:cNvPr>
          <p:cNvSpPr>
            <a:spLocks noGrp="1"/>
          </p:cNvSpPr>
          <p:nvPr>
            <p:ph type="title"/>
          </p:nvPr>
        </p:nvSpPr>
        <p:spPr>
          <a:xfrm>
            <a:off x="838200" y="365125"/>
            <a:ext cx="10515600" cy="594245"/>
          </a:xfrm>
        </p:spPr>
        <p:txBody>
          <a:bodyPr>
            <a:normAutofit fontScale="90000"/>
          </a:bodyPr>
          <a:lstStyle/>
          <a:p>
            <a:r>
              <a:rPr lang="en-US" sz="4000" b="1" dirty="0">
                <a:solidFill>
                  <a:srgbClr val="000000"/>
                </a:solidFill>
                <a:effectLst/>
                <a:latin typeface="Times New Roman" panose="02020603050405020304" pitchFamily="18" charset="0"/>
                <a:ea typeface="Times New Roman" panose="02020603050405020304" pitchFamily="18" charset="0"/>
              </a:rPr>
              <a:t>Backup and restoration of systems</a:t>
            </a:r>
            <a:endParaRPr lang="en-TZ" sz="4000" b="1" dirty="0"/>
          </a:p>
        </p:txBody>
      </p:sp>
      <p:sp>
        <p:nvSpPr>
          <p:cNvPr id="3" name="Content Placeholder 2">
            <a:extLst>
              <a:ext uri="{FF2B5EF4-FFF2-40B4-BE49-F238E27FC236}">
                <a16:creationId xmlns:a16="http://schemas.microsoft.com/office/drawing/2014/main" id="{B2217B1F-392B-6CF6-1975-198F96E002E9}"/>
              </a:ext>
            </a:extLst>
          </p:cNvPr>
          <p:cNvSpPr>
            <a:spLocks noGrp="1"/>
          </p:cNvSpPr>
          <p:nvPr>
            <p:ph idx="1"/>
          </p:nvPr>
        </p:nvSpPr>
        <p:spPr>
          <a:xfrm>
            <a:off x="838200" y="1139252"/>
            <a:ext cx="10515600" cy="5037711"/>
          </a:xfrm>
        </p:spPr>
        <p:txBody>
          <a:bodyPr>
            <a:normAutofit/>
          </a:bodyPr>
          <a:lstStyle/>
          <a:p>
            <a:pPr algn="l"/>
            <a:r>
              <a:rPr lang="en-US" sz="3600" b="0" i="0" dirty="0">
                <a:solidFill>
                  <a:srgbClr val="111111"/>
                </a:solidFill>
                <a:effectLst/>
                <a:highlight>
                  <a:srgbClr val="F3F3F3"/>
                </a:highlight>
                <a:latin typeface="-apple-system"/>
              </a:rPr>
              <a:t>Backup and restoration are critical processes in IT service management to ensure data integrity and availability. Here’s an overview:</a:t>
            </a:r>
          </a:p>
          <a:p>
            <a:pPr algn="l"/>
            <a:r>
              <a:rPr lang="en-US" sz="3600" b="1" i="0" dirty="0">
                <a:solidFill>
                  <a:srgbClr val="111111"/>
                </a:solidFill>
                <a:effectLst/>
                <a:highlight>
                  <a:srgbClr val="F3F3F3"/>
                </a:highlight>
                <a:latin typeface="-apple-system"/>
              </a:rPr>
              <a:t>Backup</a:t>
            </a:r>
            <a:r>
              <a:rPr lang="en-US" sz="3600" b="0" i="0" dirty="0">
                <a:solidFill>
                  <a:srgbClr val="111111"/>
                </a:solidFill>
                <a:effectLst/>
                <a:highlight>
                  <a:srgbClr val="F3F3F3"/>
                </a:highlight>
                <a:latin typeface="-apple-system"/>
              </a:rPr>
              <a:t>:</a:t>
            </a:r>
          </a:p>
          <a:p>
            <a:pPr algn="l">
              <a:buFont typeface="Arial" panose="020B0604020202020204" pitchFamily="34" charset="0"/>
              <a:buChar char="•"/>
            </a:pPr>
            <a:r>
              <a:rPr lang="en-US" sz="3600" b="1" i="0" dirty="0">
                <a:solidFill>
                  <a:srgbClr val="111111"/>
                </a:solidFill>
                <a:effectLst/>
                <a:highlight>
                  <a:srgbClr val="F3F3F3"/>
                </a:highlight>
                <a:latin typeface="-apple-system"/>
              </a:rPr>
              <a:t>Objective</a:t>
            </a:r>
            <a:r>
              <a:rPr lang="en-US" sz="3600" b="0" i="0" dirty="0">
                <a:solidFill>
                  <a:srgbClr val="111111"/>
                </a:solidFill>
                <a:effectLst/>
                <a:highlight>
                  <a:srgbClr val="F3F3F3"/>
                </a:highlight>
                <a:latin typeface="-apple-system"/>
              </a:rPr>
              <a:t>: To create copies of data that can be used to restore the original after a data loss event.</a:t>
            </a:r>
          </a:p>
          <a:p>
            <a:pPr algn="l">
              <a:buFont typeface="Arial" panose="020B0604020202020204" pitchFamily="34" charset="0"/>
              <a:buChar char="•"/>
            </a:pPr>
            <a:r>
              <a:rPr lang="en-US" sz="3600" b="1" i="0" dirty="0">
                <a:solidFill>
                  <a:srgbClr val="111111"/>
                </a:solidFill>
                <a:effectLst/>
                <a:highlight>
                  <a:srgbClr val="F3F3F3"/>
                </a:highlight>
                <a:latin typeface="-apple-system"/>
              </a:rPr>
              <a:t>Process</a:t>
            </a:r>
            <a:r>
              <a:rPr lang="en-US" sz="3600" b="0" i="0" dirty="0">
                <a:solidFill>
                  <a:srgbClr val="111111"/>
                </a:solidFill>
                <a:effectLst/>
                <a:highlight>
                  <a:srgbClr val="F3F3F3"/>
                </a:highlight>
                <a:latin typeface="-apple-system"/>
              </a:rPr>
              <a:t>:</a:t>
            </a:r>
          </a:p>
          <a:p>
            <a:pPr marL="742950" lvl="1" indent="-285750" algn="l">
              <a:buFont typeface="Arial" panose="020B0604020202020204" pitchFamily="34" charset="0"/>
              <a:buChar char="•"/>
            </a:pPr>
            <a:r>
              <a:rPr lang="en-US" sz="3600" b="1" i="0" dirty="0">
                <a:solidFill>
                  <a:srgbClr val="111111"/>
                </a:solidFill>
                <a:effectLst/>
                <a:highlight>
                  <a:srgbClr val="F3F3F3"/>
                </a:highlight>
                <a:latin typeface="-apple-system"/>
              </a:rPr>
              <a:t>Planning</a:t>
            </a:r>
            <a:r>
              <a:rPr lang="en-US" sz="3600" b="0" i="0" dirty="0">
                <a:solidFill>
                  <a:srgbClr val="111111"/>
                </a:solidFill>
                <a:effectLst/>
                <a:highlight>
                  <a:srgbClr val="F3F3F3"/>
                </a:highlight>
                <a:latin typeface="-apple-system"/>
              </a:rPr>
              <a:t>: Determine what data needs to be backed up, how often, and the retention policies.</a:t>
            </a:r>
          </a:p>
          <a:p>
            <a:endParaRPr lang="en-TZ" sz="3600" dirty="0"/>
          </a:p>
        </p:txBody>
      </p:sp>
    </p:spTree>
    <p:extLst>
      <p:ext uri="{BB962C8B-B14F-4D97-AF65-F5344CB8AC3E}">
        <p14:creationId xmlns:p14="http://schemas.microsoft.com/office/powerpoint/2010/main" val="13401447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8B860E-9A35-462E-04C9-8BDB85DF0946}"/>
              </a:ext>
            </a:extLst>
          </p:cNvPr>
          <p:cNvSpPr>
            <a:spLocks noGrp="1"/>
          </p:cNvSpPr>
          <p:nvPr>
            <p:ph idx="1"/>
          </p:nvPr>
        </p:nvSpPr>
        <p:spPr>
          <a:xfrm>
            <a:off x="838200" y="524656"/>
            <a:ext cx="10515600" cy="5652307"/>
          </a:xfrm>
        </p:spPr>
        <p:txBody>
          <a:bodyPr>
            <a:normAutofit/>
          </a:bodyPr>
          <a:lstStyle/>
          <a:p>
            <a:pPr algn="l">
              <a:buFont typeface="Arial" panose="020B0604020202020204" pitchFamily="34" charset="0"/>
              <a:buChar char="•"/>
            </a:pPr>
            <a:r>
              <a:rPr lang="en-US" sz="4000" b="1" i="0" dirty="0">
                <a:solidFill>
                  <a:srgbClr val="111111"/>
                </a:solidFill>
                <a:effectLst/>
                <a:highlight>
                  <a:srgbClr val="F3F3F3"/>
                </a:highlight>
                <a:latin typeface="-apple-system"/>
              </a:rPr>
              <a:t>Implementation</a:t>
            </a:r>
            <a:r>
              <a:rPr lang="en-US" sz="4000" b="0" i="0" dirty="0">
                <a:solidFill>
                  <a:srgbClr val="111111"/>
                </a:solidFill>
                <a:effectLst/>
                <a:highlight>
                  <a:srgbClr val="F3F3F3"/>
                </a:highlight>
                <a:latin typeface="-apple-system"/>
              </a:rPr>
              <a:t>: Set up backup solutions that can include on-site, off-site, or cloud-based storage.</a:t>
            </a:r>
          </a:p>
          <a:p>
            <a:pPr algn="l">
              <a:buFont typeface="Arial" panose="020B0604020202020204" pitchFamily="34" charset="0"/>
              <a:buChar char="•"/>
            </a:pPr>
            <a:r>
              <a:rPr lang="en-US" sz="4000" b="1" i="0" dirty="0">
                <a:solidFill>
                  <a:srgbClr val="111111"/>
                </a:solidFill>
                <a:effectLst/>
                <a:highlight>
                  <a:srgbClr val="F3F3F3"/>
                </a:highlight>
                <a:latin typeface="-apple-system"/>
              </a:rPr>
              <a:t>Scheduling</a:t>
            </a:r>
            <a:r>
              <a:rPr lang="en-US" sz="4000" b="0" i="0" dirty="0">
                <a:solidFill>
                  <a:srgbClr val="111111"/>
                </a:solidFill>
                <a:effectLst/>
                <a:highlight>
                  <a:srgbClr val="F3F3F3"/>
                </a:highlight>
                <a:latin typeface="-apple-system"/>
              </a:rPr>
              <a:t>: Automate backups to occur at regular intervals with minimal impact on system performance.</a:t>
            </a:r>
          </a:p>
          <a:p>
            <a:pPr algn="l">
              <a:buFont typeface="Arial" panose="020B0604020202020204" pitchFamily="34" charset="0"/>
              <a:buChar char="•"/>
            </a:pPr>
            <a:r>
              <a:rPr lang="en-US" sz="4000" b="1" i="0" dirty="0">
                <a:solidFill>
                  <a:srgbClr val="111111"/>
                </a:solidFill>
                <a:effectLst/>
                <a:highlight>
                  <a:srgbClr val="F3F3F3"/>
                </a:highlight>
                <a:latin typeface="-apple-system"/>
              </a:rPr>
              <a:t>Verification</a:t>
            </a:r>
            <a:r>
              <a:rPr lang="en-US" sz="4000" b="0" i="0" dirty="0">
                <a:solidFill>
                  <a:srgbClr val="111111"/>
                </a:solidFill>
                <a:effectLst/>
                <a:highlight>
                  <a:srgbClr val="F3F3F3"/>
                </a:highlight>
                <a:latin typeface="-apple-system"/>
              </a:rPr>
              <a:t>: Regularly verify that backups are successful and can be restored.</a:t>
            </a:r>
          </a:p>
          <a:p>
            <a:endParaRPr lang="en-TZ" sz="4000" dirty="0"/>
          </a:p>
        </p:txBody>
      </p:sp>
    </p:spTree>
    <p:extLst>
      <p:ext uri="{BB962C8B-B14F-4D97-AF65-F5344CB8AC3E}">
        <p14:creationId xmlns:p14="http://schemas.microsoft.com/office/powerpoint/2010/main" val="23095452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CF31F2-A027-7E75-A601-243182B8F9D9}"/>
              </a:ext>
            </a:extLst>
          </p:cNvPr>
          <p:cNvSpPr>
            <a:spLocks noGrp="1"/>
          </p:cNvSpPr>
          <p:nvPr>
            <p:ph idx="1"/>
          </p:nvPr>
        </p:nvSpPr>
        <p:spPr>
          <a:xfrm>
            <a:off x="838200" y="479685"/>
            <a:ext cx="10515600" cy="5697278"/>
          </a:xfrm>
        </p:spPr>
        <p:txBody>
          <a:bodyPr>
            <a:normAutofit/>
          </a:bodyPr>
          <a:lstStyle/>
          <a:p>
            <a:pPr algn="l"/>
            <a:r>
              <a:rPr lang="en-US" sz="3600" b="1" i="0" dirty="0">
                <a:solidFill>
                  <a:srgbClr val="111111"/>
                </a:solidFill>
                <a:effectLst/>
                <a:highlight>
                  <a:srgbClr val="F3F3F3"/>
                </a:highlight>
                <a:latin typeface="-apple-system"/>
              </a:rPr>
              <a:t>Restoration</a:t>
            </a:r>
            <a:r>
              <a:rPr lang="en-US" sz="3600" b="0" i="0" dirty="0">
                <a:solidFill>
                  <a:srgbClr val="111111"/>
                </a:solidFill>
                <a:effectLst/>
                <a:highlight>
                  <a:srgbClr val="F3F3F3"/>
                </a:highlight>
                <a:latin typeface="-apple-system"/>
              </a:rPr>
              <a:t>:</a:t>
            </a:r>
          </a:p>
          <a:p>
            <a:pPr algn="l">
              <a:buFont typeface="Arial" panose="020B0604020202020204" pitchFamily="34" charset="0"/>
              <a:buChar char="•"/>
            </a:pPr>
            <a:r>
              <a:rPr lang="en-US" sz="3600" b="1" i="0" dirty="0">
                <a:solidFill>
                  <a:srgbClr val="111111"/>
                </a:solidFill>
                <a:effectLst/>
                <a:highlight>
                  <a:srgbClr val="F3F3F3"/>
                </a:highlight>
                <a:latin typeface="-apple-system"/>
              </a:rPr>
              <a:t>Objective</a:t>
            </a:r>
            <a:r>
              <a:rPr lang="en-US" sz="3600" b="0" i="0" dirty="0">
                <a:solidFill>
                  <a:srgbClr val="111111"/>
                </a:solidFill>
                <a:effectLst/>
                <a:highlight>
                  <a:srgbClr val="F3F3F3"/>
                </a:highlight>
                <a:latin typeface="-apple-system"/>
              </a:rPr>
              <a:t>: To restore data from a backup after a loss event to return to operational status as quickly as possible.</a:t>
            </a:r>
          </a:p>
          <a:p>
            <a:pPr algn="l">
              <a:buFont typeface="Arial" panose="020B0604020202020204" pitchFamily="34" charset="0"/>
              <a:buChar char="•"/>
            </a:pPr>
            <a:r>
              <a:rPr lang="en-US" sz="3600" b="1" i="0" dirty="0">
                <a:solidFill>
                  <a:srgbClr val="111111"/>
                </a:solidFill>
                <a:effectLst/>
                <a:highlight>
                  <a:srgbClr val="F3F3F3"/>
                </a:highlight>
                <a:latin typeface="-apple-system"/>
              </a:rPr>
              <a:t>Process</a:t>
            </a:r>
            <a:r>
              <a:rPr lang="en-US" sz="3600" b="0" i="0" dirty="0">
                <a:solidFill>
                  <a:srgbClr val="111111"/>
                </a:solidFill>
                <a:effectLst/>
                <a:highlight>
                  <a:srgbClr val="F3F3F3"/>
                </a:highlight>
                <a:latin typeface="-apple-system"/>
              </a:rPr>
              <a:t>:</a:t>
            </a:r>
          </a:p>
          <a:p>
            <a:pPr marL="742950" lvl="1" indent="-285750" algn="l">
              <a:buFont typeface="Arial" panose="020B0604020202020204" pitchFamily="34" charset="0"/>
              <a:buChar char="•"/>
            </a:pPr>
            <a:r>
              <a:rPr lang="en-US" sz="3600" b="1" i="0" dirty="0">
                <a:solidFill>
                  <a:srgbClr val="111111"/>
                </a:solidFill>
                <a:effectLst/>
                <a:highlight>
                  <a:srgbClr val="F3F3F3"/>
                </a:highlight>
                <a:latin typeface="-apple-system"/>
              </a:rPr>
              <a:t>Assessment</a:t>
            </a:r>
            <a:r>
              <a:rPr lang="en-US" sz="3600" b="0" i="0" dirty="0">
                <a:solidFill>
                  <a:srgbClr val="111111"/>
                </a:solidFill>
                <a:effectLst/>
                <a:highlight>
                  <a:srgbClr val="F3F3F3"/>
                </a:highlight>
                <a:latin typeface="-apple-system"/>
              </a:rPr>
              <a:t>: Determine the extent of data loss and the most recent backup available.</a:t>
            </a:r>
          </a:p>
          <a:p>
            <a:pPr marL="742950" lvl="1" indent="-285750" algn="l">
              <a:buFont typeface="Arial" panose="020B0604020202020204" pitchFamily="34" charset="0"/>
              <a:buChar char="•"/>
            </a:pPr>
            <a:r>
              <a:rPr lang="en-US" sz="3600" b="1" i="0" dirty="0">
                <a:solidFill>
                  <a:srgbClr val="111111"/>
                </a:solidFill>
                <a:effectLst/>
                <a:highlight>
                  <a:srgbClr val="F3F3F3"/>
                </a:highlight>
                <a:latin typeface="-apple-system"/>
              </a:rPr>
              <a:t>Planning</a:t>
            </a:r>
            <a:r>
              <a:rPr lang="en-US" sz="3600" b="0" i="0" dirty="0">
                <a:solidFill>
                  <a:srgbClr val="111111"/>
                </a:solidFill>
                <a:effectLst/>
                <a:highlight>
                  <a:srgbClr val="F3F3F3"/>
                </a:highlight>
                <a:latin typeface="-apple-system"/>
              </a:rPr>
              <a:t>: Plan the restoration process, including any necessary system downtime.</a:t>
            </a:r>
          </a:p>
          <a:p>
            <a:endParaRPr lang="en-TZ" sz="3600" dirty="0"/>
          </a:p>
        </p:txBody>
      </p:sp>
    </p:spTree>
    <p:extLst>
      <p:ext uri="{BB962C8B-B14F-4D97-AF65-F5344CB8AC3E}">
        <p14:creationId xmlns:p14="http://schemas.microsoft.com/office/powerpoint/2010/main" val="19963873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86E5C4-4BDE-337C-805B-C7BBB0EDF616}"/>
              </a:ext>
            </a:extLst>
          </p:cNvPr>
          <p:cNvSpPr>
            <a:spLocks noGrp="1"/>
          </p:cNvSpPr>
          <p:nvPr>
            <p:ph idx="1"/>
          </p:nvPr>
        </p:nvSpPr>
        <p:spPr>
          <a:xfrm>
            <a:off x="838200" y="524656"/>
            <a:ext cx="10515600" cy="5652307"/>
          </a:xfrm>
        </p:spPr>
        <p:txBody>
          <a:bodyPr>
            <a:normAutofit/>
          </a:bodyPr>
          <a:lstStyle/>
          <a:p>
            <a:pPr algn="l">
              <a:buFont typeface="Arial" panose="020B0604020202020204" pitchFamily="34" charset="0"/>
              <a:buChar char="•"/>
            </a:pPr>
            <a:endParaRPr lang="en-US" sz="3600" b="0" i="0" dirty="0">
              <a:solidFill>
                <a:srgbClr val="111111"/>
              </a:solidFill>
              <a:effectLst/>
              <a:highlight>
                <a:srgbClr val="F3F3F3"/>
              </a:highlight>
              <a:latin typeface="-apple-system"/>
            </a:endParaRPr>
          </a:p>
          <a:p>
            <a:pPr marL="742950" lvl="1" indent="-285750" algn="l">
              <a:buFont typeface="Arial" panose="020B0604020202020204" pitchFamily="34" charset="0"/>
              <a:buChar char="•"/>
            </a:pPr>
            <a:r>
              <a:rPr lang="en-US" sz="3600" b="1" i="0" dirty="0">
                <a:solidFill>
                  <a:srgbClr val="111111"/>
                </a:solidFill>
                <a:effectLst/>
                <a:highlight>
                  <a:srgbClr val="F3F3F3"/>
                </a:highlight>
                <a:latin typeface="-apple-system"/>
              </a:rPr>
              <a:t>Execution</a:t>
            </a:r>
            <a:r>
              <a:rPr lang="en-US" sz="3600" b="0" i="0" dirty="0">
                <a:solidFill>
                  <a:srgbClr val="111111"/>
                </a:solidFill>
                <a:effectLst/>
                <a:highlight>
                  <a:srgbClr val="F3F3F3"/>
                </a:highlight>
                <a:latin typeface="-apple-system"/>
              </a:rPr>
              <a:t>: Restore the data from backups, ensuring that it is complete and accurate.</a:t>
            </a:r>
          </a:p>
          <a:p>
            <a:pPr marL="742950" lvl="1" indent="-285750" algn="l">
              <a:buFont typeface="Arial" panose="020B0604020202020204" pitchFamily="34" charset="0"/>
              <a:buChar char="•"/>
            </a:pPr>
            <a:r>
              <a:rPr lang="en-US" sz="3600" b="1" i="0" dirty="0">
                <a:solidFill>
                  <a:srgbClr val="111111"/>
                </a:solidFill>
                <a:effectLst/>
                <a:highlight>
                  <a:srgbClr val="F3F3F3"/>
                </a:highlight>
                <a:latin typeface="-apple-system"/>
              </a:rPr>
              <a:t>Validation</a:t>
            </a:r>
            <a:r>
              <a:rPr lang="en-US" sz="3600" b="0" i="0" dirty="0">
                <a:solidFill>
                  <a:srgbClr val="111111"/>
                </a:solidFill>
                <a:effectLst/>
                <a:highlight>
                  <a:srgbClr val="F3F3F3"/>
                </a:highlight>
                <a:latin typeface="-apple-system"/>
              </a:rPr>
              <a:t>: Verify that the restored systems are fully functional and that all necessary data has been recovered.</a:t>
            </a:r>
          </a:p>
          <a:p>
            <a:pPr algn="l"/>
            <a:r>
              <a:rPr lang="en-US" sz="3600" b="0" i="0" dirty="0">
                <a:solidFill>
                  <a:srgbClr val="111111"/>
                </a:solidFill>
                <a:effectLst/>
                <a:highlight>
                  <a:srgbClr val="F3F3F3"/>
                </a:highlight>
                <a:latin typeface="-apple-system"/>
              </a:rPr>
              <a:t>Both processes require careful planning, reliable tools, and regular testing to ensure that when a data loss event occurs, recovery is swift and complete.</a:t>
            </a:r>
          </a:p>
          <a:p>
            <a:endParaRPr lang="en-TZ" sz="3600" dirty="0"/>
          </a:p>
        </p:txBody>
      </p:sp>
    </p:spTree>
    <p:extLst>
      <p:ext uri="{BB962C8B-B14F-4D97-AF65-F5344CB8AC3E}">
        <p14:creationId xmlns:p14="http://schemas.microsoft.com/office/powerpoint/2010/main" val="39683127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1285</TotalTime>
  <Words>5430</Words>
  <Application>Microsoft Office PowerPoint</Application>
  <PresentationFormat>Widescreen</PresentationFormat>
  <Paragraphs>283</Paragraphs>
  <Slides>67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67</vt:i4>
      </vt:variant>
    </vt:vector>
  </HeadingPairs>
  <TitlesOfParts>
    <vt:vector size="75" baseType="lpstr">
      <vt:lpstr>-apple-system</vt:lpstr>
      <vt:lpstr>Aptos</vt:lpstr>
      <vt:lpstr>Aptos Display</vt:lpstr>
      <vt:lpstr>Arial</vt:lpstr>
      <vt:lpstr>Nunito</vt:lpstr>
      <vt:lpstr>sofia-pro</vt:lpstr>
      <vt:lpstr>Times New Roman</vt:lpstr>
      <vt:lpstr>Office Theme</vt:lpstr>
      <vt:lpstr>INF3201: Information Systems Audit and Control </vt:lpstr>
      <vt:lpstr>PowerPoint Presentation</vt:lpstr>
      <vt:lpstr>Information systems reviews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Service level management practices</vt:lpstr>
      <vt:lpstr>PowerPoint Presentation</vt:lpstr>
      <vt:lpstr>PowerPoint Presentation</vt:lpstr>
      <vt:lpstr>PowerPoint Presentation</vt:lpstr>
      <vt:lpstr>PowerPoint Presentation</vt:lpstr>
      <vt:lpstr>PowerPoint Presentation</vt:lpstr>
      <vt:lpstr>PowerPoint Presentation</vt:lpstr>
      <vt:lpstr>Third-party management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End-user procedures and operations</vt:lpstr>
      <vt:lpstr>PowerPoint Presentation</vt:lpstr>
      <vt:lpstr>PowerPoint Presentation</vt:lpstr>
      <vt:lpstr>PowerPoint Presentation</vt:lpstr>
      <vt:lpstr>PowerPoint Presentation</vt:lpstr>
      <vt:lpstr>PowerPoint Presentation</vt:lpstr>
      <vt:lpstr>PowerPoint Presentation</vt:lpstr>
      <vt:lpstr>Maintenance of information systems</vt:lpstr>
      <vt:lpstr>PowerPoint Presentation</vt:lpstr>
      <vt:lpstr>PowerPoint Presentation</vt:lpstr>
      <vt:lpstr>PowerPoint Presentation</vt:lpstr>
      <vt:lpstr>Data administration practices</vt:lpstr>
      <vt:lpstr>PowerPoint Presentation</vt:lpstr>
      <vt:lpstr>PowerPoint Presentation</vt:lpstr>
      <vt:lpstr>PowerPoint Presentation</vt:lpstr>
      <vt:lpstr>PowerPoint Presentation</vt:lpstr>
      <vt:lpstr>PowerPoint Presentation</vt:lpstr>
      <vt:lpstr>PowerPoint Presentation</vt:lpstr>
      <vt:lpstr>Capacity and performance monitoring</vt:lpstr>
      <vt:lpstr>PowerPoint Presentation</vt:lpstr>
      <vt:lpstr>PowerPoint Presentation</vt:lpstr>
      <vt:lpstr>PowerPoint Presentation</vt:lpstr>
      <vt:lpstr>PowerPoint Presentation</vt:lpstr>
      <vt:lpstr>PowerPoint Presentation</vt:lpstr>
      <vt:lpstr>Problem and incident management</vt:lpstr>
      <vt:lpstr>PowerPoint Presentation</vt:lpstr>
      <vt:lpstr>PowerPoint Presentation</vt:lpstr>
      <vt:lpstr>PowerPoint Presentation</vt:lpstr>
      <vt:lpstr>PowerPoint Presentation</vt:lpstr>
      <vt:lpstr>PowerPoint Presentation</vt:lpstr>
      <vt:lpstr>PowerPoint Presentation</vt:lpstr>
      <vt:lpstr>Change, configuration and release management</vt:lpstr>
      <vt:lpstr>PowerPoint Presentation</vt:lpstr>
      <vt:lpstr>PowerPoint Presentation</vt:lpstr>
      <vt:lpstr>PowerPoint Presentation</vt:lpstr>
      <vt:lpstr>PowerPoint Presentation</vt:lpstr>
      <vt:lpstr>PowerPoint Presentation</vt:lpstr>
      <vt:lpstr>Backup and restoration of systems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hussein shaaban</dc:creator>
  <cp:lastModifiedBy>hussein shaaban</cp:lastModifiedBy>
  <cp:revision>1</cp:revision>
  <dcterms:created xsi:type="dcterms:W3CDTF">2024-06-18T06:28:19Z</dcterms:created>
  <dcterms:modified xsi:type="dcterms:W3CDTF">2024-11-07T16:34:55Z</dcterms:modified>
</cp:coreProperties>
</file>