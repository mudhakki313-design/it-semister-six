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64" r:id="rId5"/>
    <p:sldId id="265"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58" r:id="rId21"/>
    <p:sldId id="259" r:id="rId22"/>
    <p:sldId id="260" r:id="rId23"/>
    <p:sldId id="261" r:id="rId24"/>
    <p:sldId id="262"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7" r:id="rId42"/>
    <p:sldId id="296"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Lst>
  <p:sldSz cx="12192000" cy="6858000"/>
  <p:notesSz cx="6858000" cy="9144000"/>
  <p:defaultText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6" d="100"/>
          <a:sy n="56" d="100"/>
        </p:scale>
        <p:origin x="1296"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microsoft.com/office/2016/11/relationships/changesInfo" Target="changesInfos/changesInfo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ssein shaaban" userId="9dfb4fc279e24574" providerId="LiveId" clId="{55EA3BD0-E408-4C68-950A-ED5E839FFCD1}"/>
    <pc:docChg chg="modSld">
      <pc:chgData name="hussein shaaban" userId="9dfb4fc279e24574" providerId="LiveId" clId="{55EA3BD0-E408-4C68-950A-ED5E839FFCD1}" dt="2025-06-11T06:49:11.624" v="7" actId="6549"/>
      <pc:docMkLst>
        <pc:docMk/>
      </pc:docMkLst>
      <pc:sldChg chg="modSp mod">
        <pc:chgData name="hussein shaaban" userId="9dfb4fc279e24574" providerId="LiveId" clId="{55EA3BD0-E408-4C68-950A-ED5E839FFCD1}" dt="2025-06-11T06:49:11.624" v="7" actId="6549"/>
        <pc:sldMkLst>
          <pc:docMk/>
          <pc:sldMk cId="1017387494" sldId="264"/>
        </pc:sldMkLst>
        <pc:spChg chg="mod">
          <ac:chgData name="hussein shaaban" userId="9dfb4fc279e24574" providerId="LiveId" clId="{55EA3BD0-E408-4C68-950A-ED5E839FFCD1}" dt="2025-06-11T06:49:11.624" v="7" actId="6549"/>
          <ac:spMkLst>
            <pc:docMk/>
            <pc:sldMk cId="1017387494" sldId="264"/>
            <ac:spMk id="3" creationId="{FBC381F8-8F41-AF3F-D306-BDBA9808363B}"/>
          </ac:spMkLst>
        </pc:spChg>
      </pc:sldChg>
    </pc:docChg>
  </pc:docChgLst>
  <pc:docChgLst>
    <pc:chgData name="hussein shaaban" userId="9dfb4fc279e24574" providerId="LiveId" clId="{E98956FE-A2C6-4CFE-9083-8EE357E54E88}"/>
    <pc:docChg chg="undo custSel addSld delSld modSld">
      <pc:chgData name="hussein shaaban" userId="9dfb4fc279e24574" providerId="LiveId" clId="{E98956FE-A2C6-4CFE-9083-8EE357E54E88}" dt="2024-06-27T16:15:08.995" v="1212" actId="20577"/>
      <pc:docMkLst>
        <pc:docMk/>
      </pc:docMkLst>
      <pc:sldChg chg="modSp mod">
        <pc:chgData name="hussein shaaban" userId="9dfb4fc279e24574" providerId="LiveId" clId="{E98956FE-A2C6-4CFE-9083-8EE357E54E88}" dt="2024-06-24T19:30:01.380" v="10" actId="255"/>
        <pc:sldMkLst>
          <pc:docMk/>
          <pc:sldMk cId="1420399815" sldId="257"/>
        </pc:sldMkLst>
      </pc:sldChg>
      <pc:sldChg chg="delSp modSp new mod">
        <pc:chgData name="hussein shaaban" userId="9dfb4fc279e24574" providerId="LiveId" clId="{E98956FE-A2C6-4CFE-9083-8EE357E54E88}" dt="2024-06-24T19:36:23.338" v="22" actId="255"/>
        <pc:sldMkLst>
          <pc:docMk/>
          <pc:sldMk cId="3465387975" sldId="258"/>
        </pc:sldMkLst>
      </pc:sldChg>
      <pc:sldChg chg="delSp modSp new mod">
        <pc:chgData name="hussein shaaban" userId="9dfb4fc279e24574" providerId="LiveId" clId="{E98956FE-A2C6-4CFE-9083-8EE357E54E88}" dt="2024-06-24T19:38:55.809" v="30" actId="20577"/>
        <pc:sldMkLst>
          <pc:docMk/>
          <pc:sldMk cId="62571911" sldId="259"/>
        </pc:sldMkLst>
      </pc:sldChg>
      <pc:sldChg chg="delSp modSp new mod">
        <pc:chgData name="hussein shaaban" userId="9dfb4fc279e24574" providerId="LiveId" clId="{E98956FE-A2C6-4CFE-9083-8EE357E54E88}" dt="2024-06-24T19:50:34.109" v="41" actId="255"/>
        <pc:sldMkLst>
          <pc:docMk/>
          <pc:sldMk cId="2897912519" sldId="260"/>
        </pc:sldMkLst>
      </pc:sldChg>
      <pc:sldChg chg="delSp modSp new mod">
        <pc:chgData name="hussein shaaban" userId="9dfb4fc279e24574" providerId="LiveId" clId="{E98956FE-A2C6-4CFE-9083-8EE357E54E88}" dt="2024-06-25T08:43:42.914" v="354" actId="20577"/>
        <pc:sldMkLst>
          <pc:docMk/>
          <pc:sldMk cId="3271731998" sldId="261"/>
        </pc:sldMkLst>
      </pc:sldChg>
      <pc:sldChg chg="delSp modSp new mod">
        <pc:chgData name="hussein shaaban" userId="9dfb4fc279e24574" providerId="LiveId" clId="{E98956FE-A2C6-4CFE-9083-8EE357E54E88}" dt="2024-06-25T08:46:37.980" v="371" actId="2711"/>
        <pc:sldMkLst>
          <pc:docMk/>
          <pc:sldMk cId="2072479939" sldId="262"/>
        </pc:sldMkLst>
      </pc:sldChg>
      <pc:sldChg chg="delSp modSp new mod">
        <pc:chgData name="hussein shaaban" userId="9dfb4fc279e24574" providerId="LiveId" clId="{E98956FE-A2C6-4CFE-9083-8EE357E54E88}" dt="2024-06-24T20:02:13.080" v="62" actId="255"/>
        <pc:sldMkLst>
          <pc:docMk/>
          <pc:sldMk cId="4062377617" sldId="263"/>
        </pc:sldMkLst>
      </pc:sldChg>
      <pc:sldChg chg="delSp modSp new mod">
        <pc:chgData name="hussein shaaban" userId="9dfb4fc279e24574" providerId="LiveId" clId="{E98956FE-A2C6-4CFE-9083-8EE357E54E88}" dt="2024-06-24T20:08:47.084" v="81" actId="255"/>
        <pc:sldMkLst>
          <pc:docMk/>
          <pc:sldMk cId="1017387494" sldId="264"/>
        </pc:sldMkLst>
      </pc:sldChg>
      <pc:sldChg chg="delSp modSp new mod">
        <pc:chgData name="hussein shaaban" userId="9dfb4fc279e24574" providerId="LiveId" clId="{E98956FE-A2C6-4CFE-9083-8EE357E54E88}" dt="2024-06-24T20:16:00.516" v="95" actId="255"/>
        <pc:sldMkLst>
          <pc:docMk/>
          <pc:sldMk cId="3343597109" sldId="265"/>
        </pc:sldMkLst>
      </pc:sldChg>
      <pc:sldChg chg="delSp modSp new mod">
        <pc:chgData name="hussein shaaban" userId="9dfb4fc279e24574" providerId="LiveId" clId="{E98956FE-A2C6-4CFE-9083-8EE357E54E88}" dt="2024-06-24T20:19:33.375" v="105" actId="255"/>
        <pc:sldMkLst>
          <pc:docMk/>
          <pc:sldMk cId="3305902686" sldId="266"/>
        </pc:sldMkLst>
      </pc:sldChg>
      <pc:sldChg chg="delSp modSp new mod">
        <pc:chgData name="hussein shaaban" userId="9dfb4fc279e24574" providerId="LiveId" clId="{E98956FE-A2C6-4CFE-9083-8EE357E54E88}" dt="2024-06-24T20:29:21.627" v="155" actId="6549"/>
        <pc:sldMkLst>
          <pc:docMk/>
          <pc:sldMk cId="179132764" sldId="267"/>
        </pc:sldMkLst>
      </pc:sldChg>
      <pc:sldChg chg="delSp modSp new mod">
        <pc:chgData name="hussein shaaban" userId="9dfb4fc279e24574" providerId="LiveId" clId="{E98956FE-A2C6-4CFE-9083-8EE357E54E88}" dt="2024-06-25T07:59:09.964" v="214" actId="20577"/>
        <pc:sldMkLst>
          <pc:docMk/>
          <pc:sldMk cId="784123522" sldId="268"/>
        </pc:sldMkLst>
      </pc:sldChg>
      <pc:sldChg chg="delSp modSp new mod">
        <pc:chgData name="hussein shaaban" userId="9dfb4fc279e24574" providerId="LiveId" clId="{E98956FE-A2C6-4CFE-9083-8EE357E54E88}" dt="2024-06-25T08:03:18.860" v="229" actId="255"/>
        <pc:sldMkLst>
          <pc:docMk/>
          <pc:sldMk cId="600549812" sldId="269"/>
        </pc:sldMkLst>
      </pc:sldChg>
      <pc:sldChg chg="delSp modSp new mod">
        <pc:chgData name="hussein shaaban" userId="9dfb4fc279e24574" providerId="LiveId" clId="{E98956FE-A2C6-4CFE-9083-8EE357E54E88}" dt="2024-06-25T08:07:03.776" v="240" actId="255"/>
        <pc:sldMkLst>
          <pc:docMk/>
          <pc:sldMk cId="121050435" sldId="270"/>
        </pc:sldMkLst>
      </pc:sldChg>
      <pc:sldChg chg="delSp modSp new mod">
        <pc:chgData name="hussein shaaban" userId="9dfb4fc279e24574" providerId="LiveId" clId="{E98956FE-A2C6-4CFE-9083-8EE357E54E88}" dt="2024-06-25T08:09:03.893" v="256" actId="255"/>
        <pc:sldMkLst>
          <pc:docMk/>
          <pc:sldMk cId="4204719693" sldId="271"/>
        </pc:sldMkLst>
      </pc:sldChg>
      <pc:sldChg chg="delSp modSp new mod">
        <pc:chgData name="hussein shaaban" userId="9dfb4fc279e24574" providerId="LiveId" clId="{E98956FE-A2C6-4CFE-9083-8EE357E54E88}" dt="2024-06-25T08:09:54.511" v="262" actId="255"/>
        <pc:sldMkLst>
          <pc:docMk/>
          <pc:sldMk cId="1258047298" sldId="272"/>
        </pc:sldMkLst>
      </pc:sldChg>
      <pc:sldChg chg="delSp modSp new mod">
        <pc:chgData name="hussein shaaban" userId="9dfb4fc279e24574" providerId="LiveId" clId="{E98956FE-A2C6-4CFE-9083-8EE357E54E88}" dt="2024-06-25T08:11:56.257" v="269" actId="255"/>
        <pc:sldMkLst>
          <pc:docMk/>
          <pc:sldMk cId="671917868" sldId="273"/>
        </pc:sldMkLst>
      </pc:sldChg>
      <pc:sldChg chg="delSp modSp new mod">
        <pc:chgData name="hussein shaaban" userId="9dfb4fc279e24574" providerId="LiveId" clId="{E98956FE-A2C6-4CFE-9083-8EE357E54E88}" dt="2024-06-25T08:15:24.653" v="281" actId="20577"/>
        <pc:sldMkLst>
          <pc:docMk/>
          <pc:sldMk cId="2553252753" sldId="274"/>
        </pc:sldMkLst>
      </pc:sldChg>
      <pc:sldChg chg="delSp modSp new mod">
        <pc:chgData name="hussein shaaban" userId="9dfb4fc279e24574" providerId="LiveId" clId="{E98956FE-A2C6-4CFE-9083-8EE357E54E88}" dt="2024-06-25T08:20:37.108" v="301" actId="255"/>
        <pc:sldMkLst>
          <pc:docMk/>
          <pc:sldMk cId="1260576810" sldId="275"/>
        </pc:sldMkLst>
      </pc:sldChg>
      <pc:sldChg chg="delSp modSp new mod">
        <pc:chgData name="hussein shaaban" userId="9dfb4fc279e24574" providerId="LiveId" clId="{E98956FE-A2C6-4CFE-9083-8EE357E54E88}" dt="2024-06-25T08:22:38.737" v="314" actId="255"/>
        <pc:sldMkLst>
          <pc:docMk/>
          <pc:sldMk cId="2780851485" sldId="276"/>
        </pc:sldMkLst>
      </pc:sldChg>
      <pc:sldChg chg="delSp modSp new mod">
        <pc:chgData name="hussein shaaban" userId="9dfb4fc279e24574" providerId="LiveId" clId="{E98956FE-A2C6-4CFE-9083-8EE357E54E88}" dt="2024-06-25T08:24:38.322" v="328" actId="255"/>
        <pc:sldMkLst>
          <pc:docMk/>
          <pc:sldMk cId="3715747603" sldId="277"/>
        </pc:sldMkLst>
      </pc:sldChg>
      <pc:sldChg chg="delSp modSp new mod">
        <pc:chgData name="hussein shaaban" userId="9dfb4fc279e24574" providerId="LiveId" clId="{E98956FE-A2C6-4CFE-9083-8EE357E54E88}" dt="2024-06-25T08:28:32.933" v="336" actId="255"/>
        <pc:sldMkLst>
          <pc:docMk/>
          <pc:sldMk cId="289884141" sldId="278"/>
        </pc:sldMkLst>
      </pc:sldChg>
      <pc:sldChg chg="delSp modSp new mod">
        <pc:chgData name="hussein shaaban" userId="9dfb4fc279e24574" providerId="LiveId" clId="{E98956FE-A2C6-4CFE-9083-8EE357E54E88}" dt="2024-06-25T08:30:44.010" v="345" actId="255"/>
        <pc:sldMkLst>
          <pc:docMk/>
          <pc:sldMk cId="2459168733" sldId="279"/>
        </pc:sldMkLst>
      </pc:sldChg>
      <pc:sldChg chg="modSp new mod">
        <pc:chgData name="hussein shaaban" userId="9dfb4fc279e24574" providerId="LiveId" clId="{E98956FE-A2C6-4CFE-9083-8EE357E54E88}" dt="2024-06-25T08:59:37.003" v="387" actId="20577"/>
        <pc:sldMkLst>
          <pc:docMk/>
          <pc:sldMk cId="2867150484" sldId="280"/>
        </pc:sldMkLst>
      </pc:sldChg>
      <pc:sldChg chg="delSp modSp new mod">
        <pc:chgData name="hussein shaaban" userId="9dfb4fc279e24574" providerId="LiveId" clId="{E98956FE-A2C6-4CFE-9083-8EE357E54E88}" dt="2024-06-25T09:02:12.196" v="400" actId="255"/>
        <pc:sldMkLst>
          <pc:docMk/>
          <pc:sldMk cId="346905311" sldId="281"/>
        </pc:sldMkLst>
      </pc:sldChg>
      <pc:sldChg chg="delSp modSp new mod">
        <pc:chgData name="hussein shaaban" userId="9dfb4fc279e24574" providerId="LiveId" clId="{E98956FE-A2C6-4CFE-9083-8EE357E54E88}" dt="2024-06-25T09:04:43.057" v="411" actId="255"/>
        <pc:sldMkLst>
          <pc:docMk/>
          <pc:sldMk cId="1342607698" sldId="282"/>
        </pc:sldMkLst>
      </pc:sldChg>
      <pc:sldChg chg="modSp new mod">
        <pc:chgData name="hussein shaaban" userId="9dfb4fc279e24574" providerId="LiveId" clId="{E98956FE-A2C6-4CFE-9083-8EE357E54E88}" dt="2024-06-25T09:13:36.888" v="450" actId="14100"/>
        <pc:sldMkLst>
          <pc:docMk/>
          <pc:sldMk cId="2415711581" sldId="283"/>
        </pc:sldMkLst>
      </pc:sldChg>
      <pc:sldChg chg="delSp modSp new mod">
        <pc:chgData name="hussein shaaban" userId="9dfb4fc279e24574" providerId="LiveId" clId="{E98956FE-A2C6-4CFE-9083-8EE357E54E88}" dt="2024-06-25T09:12:58.134" v="447" actId="14100"/>
        <pc:sldMkLst>
          <pc:docMk/>
          <pc:sldMk cId="3060391023" sldId="284"/>
        </pc:sldMkLst>
      </pc:sldChg>
      <pc:sldChg chg="modSp new mod">
        <pc:chgData name="hussein shaaban" userId="9dfb4fc279e24574" providerId="LiveId" clId="{E98956FE-A2C6-4CFE-9083-8EE357E54E88}" dt="2024-06-25T10:28:25.577" v="464" actId="255"/>
        <pc:sldMkLst>
          <pc:docMk/>
          <pc:sldMk cId="308640400" sldId="285"/>
        </pc:sldMkLst>
      </pc:sldChg>
      <pc:sldChg chg="delSp modSp new mod">
        <pc:chgData name="hussein shaaban" userId="9dfb4fc279e24574" providerId="LiveId" clId="{E98956FE-A2C6-4CFE-9083-8EE357E54E88}" dt="2024-06-25T10:32:35.131" v="497" actId="255"/>
        <pc:sldMkLst>
          <pc:docMk/>
          <pc:sldMk cId="3793325297" sldId="286"/>
        </pc:sldMkLst>
      </pc:sldChg>
      <pc:sldChg chg="delSp modSp new mod">
        <pc:chgData name="hussein shaaban" userId="9dfb4fc279e24574" providerId="LiveId" clId="{E98956FE-A2C6-4CFE-9083-8EE357E54E88}" dt="2024-06-25T10:32:24.936" v="496" actId="255"/>
        <pc:sldMkLst>
          <pc:docMk/>
          <pc:sldMk cId="688219631" sldId="287"/>
        </pc:sldMkLst>
      </pc:sldChg>
      <pc:sldChg chg="delSp modSp new mod">
        <pc:chgData name="hussein shaaban" userId="9dfb4fc279e24574" providerId="LiveId" clId="{E98956FE-A2C6-4CFE-9083-8EE357E54E88}" dt="2024-06-25T10:34:04.512" v="506" actId="255"/>
        <pc:sldMkLst>
          <pc:docMk/>
          <pc:sldMk cId="200067729" sldId="288"/>
        </pc:sldMkLst>
      </pc:sldChg>
      <pc:sldChg chg="delSp modSp new mod">
        <pc:chgData name="hussein shaaban" userId="9dfb4fc279e24574" providerId="LiveId" clId="{E98956FE-A2C6-4CFE-9083-8EE357E54E88}" dt="2024-06-25T10:36:09.577" v="515" actId="255"/>
        <pc:sldMkLst>
          <pc:docMk/>
          <pc:sldMk cId="3422769285" sldId="289"/>
        </pc:sldMkLst>
      </pc:sldChg>
      <pc:sldChg chg="delSp modSp new mod">
        <pc:chgData name="hussein shaaban" userId="9dfb4fc279e24574" providerId="LiveId" clId="{E98956FE-A2C6-4CFE-9083-8EE357E54E88}" dt="2024-06-25T10:40:27.333" v="568" actId="255"/>
        <pc:sldMkLst>
          <pc:docMk/>
          <pc:sldMk cId="2911250423" sldId="290"/>
        </pc:sldMkLst>
      </pc:sldChg>
      <pc:sldChg chg="modSp new mod">
        <pc:chgData name="hussein shaaban" userId="9dfb4fc279e24574" providerId="LiveId" clId="{E98956FE-A2C6-4CFE-9083-8EE357E54E88}" dt="2024-06-25T11:49:09.770" v="586" actId="255"/>
        <pc:sldMkLst>
          <pc:docMk/>
          <pc:sldMk cId="593304785" sldId="291"/>
        </pc:sldMkLst>
      </pc:sldChg>
      <pc:sldChg chg="delSp modSp new mod">
        <pc:chgData name="hussein shaaban" userId="9dfb4fc279e24574" providerId="LiveId" clId="{E98956FE-A2C6-4CFE-9083-8EE357E54E88}" dt="2024-06-25T11:49:41.038" v="587" actId="255"/>
        <pc:sldMkLst>
          <pc:docMk/>
          <pc:sldMk cId="1474389414" sldId="292"/>
        </pc:sldMkLst>
      </pc:sldChg>
      <pc:sldChg chg="delSp modSp new mod">
        <pc:chgData name="hussein shaaban" userId="9dfb4fc279e24574" providerId="LiveId" clId="{E98956FE-A2C6-4CFE-9083-8EE357E54E88}" dt="2024-06-25T11:53:21.526" v="600" actId="255"/>
        <pc:sldMkLst>
          <pc:docMk/>
          <pc:sldMk cId="1095059074" sldId="293"/>
        </pc:sldMkLst>
      </pc:sldChg>
      <pc:sldChg chg="delSp modSp new mod">
        <pc:chgData name="hussein shaaban" userId="9dfb4fc279e24574" providerId="LiveId" clId="{E98956FE-A2C6-4CFE-9083-8EE357E54E88}" dt="2024-06-25T11:55:13.159" v="617" actId="113"/>
        <pc:sldMkLst>
          <pc:docMk/>
          <pc:sldMk cId="1870957322" sldId="294"/>
        </pc:sldMkLst>
      </pc:sldChg>
      <pc:sldChg chg="delSp modSp new mod">
        <pc:chgData name="hussein shaaban" userId="9dfb4fc279e24574" providerId="LiveId" clId="{E98956FE-A2C6-4CFE-9083-8EE357E54E88}" dt="2024-06-25T11:57:39.283" v="644" actId="255"/>
        <pc:sldMkLst>
          <pc:docMk/>
          <pc:sldMk cId="1048999029" sldId="295"/>
        </pc:sldMkLst>
      </pc:sldChg>
      <pc:sldChg chg="modSp new mod">
        <pc:chgData name="hussein shaaban" userId="9dfb4fc279e24574" providerId="LiveId" clId="{E98956FE-A2C6-4CFE-9083-8EE357E54E88}" dt="2024-06-25T12:09:30.907" v="679" actId="20577"/>
        <pc:sldMkLst>
          <pc:docMk/>
          <pc:sldMk cId="2297037237" sldId="296"/>
        </pc:sldMkLst>
      </pc:sldChg>
      <pc:sldChg chg="delSp modSp new mod">
        <pc:chgData name="hussein shaaban" userId="9dfb4fc279e24574" providerId="LiveId" clId="{E98956FE-A2C6-4CFE-9083-8EE357E54E88}" dt="2024-06-25T12:04:11.182" v="666" actId="5793"/>
        <pc:sldMkLst>
          <pc:docMk/>
          <pc:sldMk cId="1253118285" sldId="297"/>
        </pc:sldMkLst>
      </pc:sldChg>
      <pc:sldChg chg="new del">
        <pc:chgData name="hussein shaaban" userId="9dfb4fc279e24574" providerId="LiveId" clId="{E98956FE-A2C6-4CFE-9083-8EE357E54E88}" dt="2024-06-25T12:05:13.331" v="668" actId="47"/>
        <pc:sldMkLst>
          <pc:docMk/>
          <pc:sldMk cId="118603242" sldId="298"/>
        </pc:sldMkLst>
      </pc:sldChg>
      <pc:sldChg chg="delSp modSp new mod">
        <pc:chgData name="hussein shaaban" userId="9dfb4fc279e24574" providerId="LiveId" clId="{E98956FE-A2C6-4CFE-9083-8EE357E54E88}" dt="2024-06-25T12:12:22.006" v="692" actId="255"/>
        <pc:sldMkLst>
          <pc:docMk/>
          <pc:sldMk cId="2711582019" sldId="298"/>
        </pc:sldMkLst>
      </pc:sldChg>
      <pc:sldChg chg="delSp modSp new mod">
        <pc:chgData name="hussein shaaban" userId="9dfb4fc279e24574" providerId="LiveId" clId="{E98956FE-A2C6-4CFE-9083-8EE357E54E88}" dt="2024-06-25T12:15:33.930" v="700" actId="27636"/>
        <pc:sldMkLst>
          <pc:docMk/>
          <pc:sldMk cId="853965316" sldId="299"/>
        </pc:sldMkLst>
      </pc:sldChg>
      <pc:sldChg chg="modSp new mod">
        <pc:chgData name="hussein shaaban" userId="9dfb4fc279e24574" providerId="LiveId" clId="{E98956FE-A2C6-4CFE-9083-8EE357E54E88}" dt="2024-06-25T12:21:56.457" v="712" actId="255"/>
        <pc:sldMkLst>
          <pc:docMk/>
          <pc:sldMk cId="3841871678" sldId="300"/>
        </pc:sldMkLst>
      </pc:sldChg>
      <pc:sldChg chg="delSp modSp new mod">
        <pc:chgData name="hussein shaaban" userId="9dfb4fc279e24574" providerId="LiveId" clId="{E98956FE-A2C6-4CFE-9083-8EE357E54E88}" dt="2024-06-25T12:24:07.780" v="721" actId="255"/>
        <pc:sldMkLst>
          <pc:docMk/>
          <pc:sldMk cId="4249302524" sldId="301"/>
        </pc:sldMkLst>
      </pc:sldChg>
      <pc:sldChg chg="delSp modSp new mod">
        <pc:chgData name="hussein shaaban" userId="9dfb4fc279e24574" providerId="LiveId" clId="{E98956FE-A2C6-4CFE-9083-8EE357E54E88}" dt="2024-06-25T12:25:08.527" v="730" actId="255"/>
        <pc:sldMkLst>
          <pc:docMk/>
          <pc:sldMk cId="3909174006" sldId="302"/>
        </pc:sldMkLst>
      </pc:sldChg>
      <pc:sldChg chg="delSp modSp new mod">
        <pc:chgData name="hussein shaaban" userId="9dfb4fc279e24574" providerId="LiveId" clId="{E98956FE-A2C6-4CFE-9083-8EE357E54E88}" dt="2024-06-25T12:26:24.961" v="738" actId="27636"/>
        <pc:sldMkLst>
          <pc:docMk/>
          <pc:sldMk cId="984654554" sldId="303"/>
        </pc:sldMkLst>
      </pc:sldChg>
      <pc:sldChg chg="addSp delSp modSp new mod">
        <pc:chgData name="hussein shaaban" userId="9dfb4fc279e24574" providerId="LiveId" clId="{E98956FE-A2C6-4CFE-9083-8EE357E54E88}" dt="2024-06-25T12:30:09.089" v="744" actId="1076"/>
        <pc:sldMkLst>
          <pc:docMk/>
          <pc:sldMk cId="4076118479" sldId="304"/>
        </pc:sldMkLst>
      </pc:sldChg>
      <pc:sldChg chg="delSp modSp new mod">
        <pc:chgData name="hussein shaaban" userId="9dfb4fc279e24574" providerId="LiveId" clId="{E98956FE-A2C6-4CFE-9083-8EE357E54E88}" dt="2024-06-25T12:31:34.308" v="753" actId="255"/>
        <pc:sldMkLst>
          <pc:docMk/>
          <pc:sldMk cId="1257732019" sldId="305"/>
        </pc:sldMkLst>
      </pc:sldChg>
      <pc:sldChg chg="modSp new mod">
        <pc:chgData name="hussein shaaban" userId="9dfb4fc279e24574" providerId="LiveId" clId="{E98956FE-A2C6-4CFE-9083-8EE357E54E88}" dt="2024-06-25T13:41:36.028" v="783" actId="12"/>
        <pc:sldMkLst>
          <pc:docMk/>
          <pc:sldMk cId="3759414980" sldId="306"/>
        </pc:sldMkLst>
      </pc:sldChg>
      <pc:sldChg chg="delSp modSp new mod">
        <pc:chgData name="hussein shaaban" userId="9dfb4fc279e24574" providerId="LiveId" clId="{E98956FE-A2C6-4CFE-9083-8EE357E54E88}" dt="2024-06-25T13:42:13.748" v="787" actId="20577"/>
        <pc:sldMkLst>
          <pc:docMk/>
          <pc:sldMk cId="804505172" sldId="307"/>
        </pc:sldMkLst>
      </pc:sldChg>
      <pc:sldChg chg="modSp new mod">
        <pc:chgData name="hussein shaaban" userId="9dfb4fc279e24574" providerId="LiveId" clId="{E98956FE-A2C6-4CFE-9083-8EE357E54E88}" dt="2024-06-25T14:09:29.756" v="809" actId="14100"/>
        <pc:sldMkLst>
          <pc:docMk/>
          <pc:sldMk cId="756207914" sldId="308"/>
        </pc:sldMkLst>
      </pc:sldChg>
      <pc:sldChg chg="delSp modSp new mod">
        <pc:chgData name="hussein shaaban" userId="9dfb4fc279e24574" providerId="LiveId" clId="{E98956FE-A2C6-4CFE-9083-8EE357E54E88}" dt="2024-06-25T14:10:12.083" v="813" actId="20577"/>
        <pc:sldMkLst>
          <pc:docMk/>
          <pc:sldMk cId="1179150996" sldId="309"/>
        </pc:sldMkLst>
      </pc:sldChg>
      <pc:sldChg chg="modSp new mod">
        <pc:chgData name="hussein shaaban" userId="9dfb4fc279e24574" providerId="LiveId" clId="{E98956FE-A2C6-4CFE-9083-8EE357E54E88}" dt="2024-06-25T14:19:40.019" v="826" actId="12"/>
        <pc:sldMkLst>
          <pc:docMk/>
          <pc:sldMk cId="1491101617" sldId="310"/>
        </pc:sldMkLst>
      </pc:sldChg>
      <pc:sldChg chg="delSp modSp new mod">
        <pc:chgData name="hussein shaaban" userId="9dfb4fc279e24574" providerId="LiveId" clId="{E98956FE-A2C6-4CFE-9083-8EE357E54E88}" dt="2024-06-25T14:22:04.874" v="840" actId="255"/>
        <pc:sldMkLst>
          <pc:docMk/>
          <pc:sldMk cId="4210759039" sldId="311"/>
        </pc:sldMkLst>
      </pc:sldChg>
      <pc:sldChg chg="delSp modSp new mod">
        <pc:chgData name="hussein shaaban" userId="9dfb4fc279e24574" providerId="LiveId" clId="{E98956FE-A2C6-4CFE-9083-8EE357E54E88}" dt="2024-06-25T14:22:17.455" v="843" actId="20577"/>
        <pc:sldMkLst>
          <pc:docMk/>
          <pc:sldMk cId="3987652548" sldId="312"/>
        </pc:sldMkLst>
      </pc:sldChg>
      <pc:sldChg chg="modSp new mod">
        <pc:chgData name="hussein shaaban" userId="9dfb4fc279e24574" providerId="LiveId" clId="{E98956FE-A2C6-4CFE-9083-8EE357E54E88}" dt="2024-06-25T14:30:40.565" v="857" actId="255"/>
        <pc:sldMkLst>
          <pc:docMk/>
          <pc:sldMk cId="3203787090" sldId="313"/>
        </pc:sldMkLst>
      </pc:sldChg>
      <pc:sldChg chg="delSp modSp new mod">
        <pc:chgData name="hussein shaaban" userId="9dfb4fc279e24574" providerId="LiveId" clId="{E98956FE-A2C6-4CFE-9083-8EE357E54E88}" dt="2024-06-25T14:36:57.625" v="891" actId="255"/>
        <pc:sldMkLst>
          <pc:docMk/>
          <pc:sldMk cId="3819333707" sldId="314"/>
        </pc:sldMkLst>
      </pc:sldChg>
      <pc:sldChg chg="delSp modSp new mod">
        <pc:chgData name="hussein shaaban" userId="9dfb4fc279e24574" providerId="LiveId" clId="{E98956FE-A2C6-4CFE-9083-8EE357E54E88}" dt="2024-06-25T14:36:37.442" v="889" actId="14100"/>
        <pc:sldMkLst>
          <pc:docMk/>
          <pc:sldMk cId="3404423431" sldId="315"/>
        </pc:sldMkLst>
      </pc:sldChg>
      <pc:sldChg chg="modSp new mod">
        <pc:chgData name="hussein shaaban" userId="9dfb4fc279e24574" providerId="LiveId" clId="{E98956FE-A2C6-4CFE-9083-8EE357E54E88}" dt="2024-06-25T14:55:12.187" v="907" actId="255"/>
        <pc:sldMkLst>
          <pc:docMk/>
          <pc:sldMk cId="380140780" sldId="316"/>
        </pc:sldMkLst>
      </pc:sldChg>
      <pc:sldChg chg="delSp modSp new mod">
        <pc:chgData name="hussein shaaban" userId="9dfb4fc279e24574" providerId="LiveId" clId="{E98956FE-A2C6-4CFE-9083-8EE357E54E88}" dt="2024-06-25T14:56:20.757" v="922" actId="12"/>
        <pc:sldMkLst>
          <pc:docMk/>
          <pc:sldMk cId="2874107498" sldId="317"/>
        </pc:sldMkLst>
      </pc:sldChg>
      <pc:sldChg chg="delSp modSp new mod">
        <pc:chgData name="hussein shaaban" userId="9dfb4fc279e24574" providerId="LiveId" clId="{E98956FE-A2C6-4CFE-9083-8EE357E54E88}" dt="2024-06-25T14:58:06.682" v="941" actId="255"/>
        <pc:sldMkLst>
          <pc:docMk/>
          <pc:sldMk cId="3656291293" sldId="318"/>
        </pc:sldMkLst>
      </pc:sldChg>
      <pc:sldChg chg="delSp modSp new mod">
        <pc:chgData name="hussein shaaban" userId="9dfb4fc279e24574" providerId="LiveId" clId="{E98956FE-A2C6-4CFE-9083-8EE357E54E88}" dt="2024-06-25T15:00:36.739" v="955" actId="12"/>
        <pc:sldMkLst>
          <pc:docMk/>
          <pc:sldMk cId="1739841512" sldId="319"/>
        </pc:sldMkLst>
      </pc:sldChg>
      <pc:sldChg chg="modSp new mod">
        <pc:chgData name="hussein shaaban" userId="9dfb4fc279e24574" providerId="LiveId" clId="{E98956FE-A2C6-4CFE-9083-8EE357E54E88}" dt="2024-06-25T15:55:16.805" v="1021" actId="113"/>
        <pc:sldMkLst>
          <pc:docMk/>
          <pc:sldMk cId="2148747117" sldId="320"/>
        </pc:sldMkLst>
      </pc:sldChg>
      <pc:sldChg chg="delSp modSp new mod">
        <pc:chgData name="hussein shaaban" userId="9dfb4fc279e24574" providerId="LiveId" clId="{E98956FE-A2C6-4CFE-9083-8EE357E54E88}" dt="2024-06-25T15:52:04.200" v="1001" actId="255"/>
        <pc:sldMkLst>
          <pc:docMk/>
          <pc:sldMk cId="4217847993" sldId="321"/>
        </pc:sldMkLst>
      </pc:sldChg>
      <pc:sldChg chg="delSp modSp new mod">
        <pc:chgData name="hussein shaaban" userId="9dfb4fc279e24574" providerId="LiveId" clId="{E98956FE-A2C6-4CFE-9083-8EE357E54E88}" dt="2024-06-25T15:55:07.999" v="1020" actId="113"/>
        <pc:sldMkLst>
          <pc:docMk/>
          <pc:sldMk cId="1103230611" sldId="322"/>
        </pc:sldMkLst>
      </pc:sldChg>
      <pc:sldChg chg="delSp modSp new mod">
        <pc:chgData name="hussein shaaban" userId="9dfb4fc279e24574" providerId="LiveId" clId="{E98956FE-A2C6-4CFE-9083-8EE357E54E88}" dt="2024-06-25T15:56:12.896" v="1027" actId="255"/>
        <pc:sldMkLst>
          <pc:docMk/>
          <pc:sldMk cId="1578659810" sldId="323"/>
        </pc:sldMkLst>
      </pc:sldChg>
      <pc:sldChg chg="delSp modSp new mod">
        <pc:chgData name="hussein shaaban" userId="9dfb4fc279e24574" providerId="LiveId" clId="{E98956FE-A2C6-4CFE-9083-8EE357E54E88}" dt="2024-06-25T16:04:59.889" v="1059" actId="207"/>
        <pc:sldMkLst>
          <pc:docMk/>
          <pc:sldMk cId="1073710514" sldId="324"/>
        </pc:sldMkLst>
      </pc:sldChg>
      <pc:sldChg chg="delSp modSp new mod">
        <pc:chgData name="hussein shaaban" userId="9dfb4fc279e24574" providerId="LiveId" clId="{E98956FE-A2C6-4CFE-9083-8EE357E54E88}" dt="2024-06-25T16:03:30.957" v="1058" actId="20577"/>
        <pc:sldMkLst>
          <pc:docMk/>
          <pc:sldMk cId="2957337730" sldId="325"/>
        </pc:sldMkLst>
      </pc:sldChg>
      <pc:sldChg chg="delSp modSp new mod">
        <pc:chgData name="hussein shaaban" userId="9dfb4fc279e24574" providerId="LiveId" clId="{E98956FE-A2C6-4CFE-9083-8EE357E54E88}" dt="2024-06-25T16:11:47.766" v="1067" actId="255"/>
        <pc:sldMkLst>
          <pc:docMk/>
          <pc:sldMk cId="2075548405" sldId="326"/>
        </pc:sldMkLst>
      </pc:sldChg>
      <pc:sldChg chg="delSp modSp new mod">
        <pc:chgData name="hussein shaaban" userId="9dfb4fc279e24574" providerId="LiveId" clId="{E98956FE-A2C6-4CFE-9083-8EE357E54E88}" dt="2024-06-25T16:14:32.063" v="1079" actId="255"/>
        <pc:sldMkLst>
          <pc:docMk/>
          <pc:sldMk cId="3234820945" sldId="327"/>
        </pc:sldMkLst>
      </pc:sldChg>
      <pc:sldChg chg="delSp modSp new mod">
        <pc:chgData name="hussein shaaban" userId="9dfb4fc279e24574" providerId="LiveId" clId="{E98956FE-A2C6-4CFE-9083-8EE357E54E88}" dt="2024-06-25T16:15:58.202" v="1085" actId="255"/>
        <pc:sldMkLst>
          <pc:docMk/>
          <pc:sldMk cId="209710866" sldId="328"/>
        </pc:sldMkLst>
      </pc:sldChg>
      <pc:sldChg chg="delSp modSp new mod">
        <pc:chgData name="hussein shaaban" userId="9dfb4fc279e24574" providerId="LiveId" clId="{E98956FE-A2C6-4CFE-9083-8EE357E54E88}" dt="2024-06-25T16:17:11.322" v="1091" actId="255"/>
        <pc:sldMkLst>
          <pc:docMk/>
          <pc:sldMk cId="3691846059" sldId="329"/>
        </pc:sldMkLst>
      </pc:sldChg>
      <pc:sldChg chg="delSp modSp new mod">
        <pc:chgData name="hussein shaaban" userId="9dfb4fc279e24574" providerId="LiveId" clId="{E98956FE-A2C6-4CFE-9083-8EE357E54E88}" dt="2024-06-25T16:21:03.386" v="1105" actId="255"/>
        <pc:sldMkLst>
          <pc:docMk/>
          <pc:sldMk cId="4108193005" sldId="330"/>
        </pc:sldMkLst>
      </pc:sldChg>
      <pc:sldChg chg="delSp modSp new mod">
        <pc:chgData name="hussein shaaban" userId="9dfb4fc279e24574" providerId="LiveId" clId="{E98956FE-A2C6-4CFE-9083-8EE357E54E88}" dt="2024-06-25T16:32:16.440" v="1117" actId="255"/>
        <pc:sldMkLst>
          <pc:docMk/>
          <pc:sldMk cId="2263432992" sldId="331"/>
        </pc:sldMkLst>
      </pc:sldChg>
      <pc:sldChg chg="delSp modSp new mod">
        <pc:chgData name="hussein shaaban" userId="9dfb4fc279e24574" providerId="LiveId" clId="{E98956FE-A2C6-4CFE-9083-8EE357E54E88}" dt="2024-06-25T16:33:46.534" v="1122" actId="255"/>
        <pc:sldMkLst>
          <pc:docMk/>
          <pc:sldMk cId="3217993186" sldId="332"/>
        </pc:sldMkLst>
      </pc:sldChg>
      <pc:sldChg chg="modSp new mod">
        <pc:chgData name="hussein shaaban" userId="9dfb4fc279e24574" providerId="LiveId" clId="{E98956FE-A2C6-4CFE-9083-8EE357E54E88}" dt="2024-06-25T17:33:14.324" v="1133" actId="255"/>
        <pc:sldMkLst>
          <pc:docMk/>
          <pc:sldMk cId="534074950" sldId="333"/>
        </pc:sldMkLst>
      </pc:sldChg>
      <pc:sldChg chg="delSp modSp new mod">
        <pc:chgData name="hussein shaaban" userId="9dfb4fc279e24574" providerId="LiveId" clId="{E98956FE-A2C6-4CFE-9083-8EE357E54E88}" dt="2024-06-25T17:37:39.507" v="1144" actId="207"/>
        <pc:sldMkLst>
          <pc:docMk/>
          <pc:sldMk cId="4230926242" sldId="334"/>
        </pc:sldMkLst>
      </pc:sldChg>
      <pc:sldChg chg="delSp modSp new mod">
        <pc:chgData name="hussein shaaban" userId="9dfb4fc279e24574" providerId="LiveId" clId="{E98956FE-A2C6-4CFE-9083-8EE357E54E88}" dt="2024-06-25T17:40:00.445" v="1155" actId="255"/>
        <pc:sldMkLst>
          <pc:docMk/>
          <pc:sldMk cId="1763794666" sldId="335"/>
        </pc:sldMkLst>
      </pc:sldChg>
      <pc:sldChg chg="delSp modSp new mod">
        <pc:chgData name="hussein shaaban" userId="9dfb4fc279e24574" providerId="LiveId" clId="{E98956FE-A2C6-4CFE-9083-8EE357E54E88}" dt="2024-06-27T16:15:08.995" v="1212" actId="20577"/>
        <pc:sldMkLst>
          <pc:docMk/>
          <pc:sldMk cId="5898803" sldId="336"/>
        </pc:sldMkLst>
      </pc:sldChg>
      <pc:sldChg chg="delSp modSp new mod">
        <pc:chgData name="hussein shaaban" userId="9dfb4fc279e24574" providerId="LiveId" clId="{E98956FE-A2C6-4CFE-9083-8EE357E54E88}" dt="2024-06-25T17:42:43.735" v="1170" actId="255"/>
        <pc:sldMkLst>
          <pc:docMk/>
          <pc:sldMk cId="1006581708" sldId="337"/>
        </pc:sldMkLst>
      </pc:sldChg>
      <pc:sldChg chg="delSp modSp new mod">
        <pc:chgData name="hussein shaaban" userId="9dfb4fc279e24574" providerId="LiveId" clId="{E98956FE-A2C6-4CFE-9083-8EE357E54E88}" dt="2024-06-25T17:44:33.182" v="1181" actId="6549"/>
        <pc:sldMkLst>
          <pc:docMk/>
          <pc:sldMk cId="3894095824" sldId="338"/>
        </pc:sldMkLst>
      </pc:sldChg>
      <pc:sldChg chg="delSp modSp new mod">
        <pc:chgData name="hussein shaaban" userId="9dfb4fc279e24574" providerId="LiveId" clId="{E98956FE-A2C6-4CFE-9083-8EE357E54E88}" dt="2024-06-25T17:45:46.601" v="1187" actId="255"/>
        <pc:sldMkLst>
          <pc:docMk/>
          <pc:sldMk cId="1742197479" sldId="339"/>
        </pc:sldMkLst>
      </pc:sldChg>
      <pc:sldChg chg="delSp modSp new mod">
        <pc:chgData name="hussein shaaban" userId="9dfb4fc279e24574" providerId="LiveId" clId="{E98956FE-A2C6-4CFE-9083-8EE357E54E88}" dt="2024-06-25T17:47:15.397" v="1198" actId="255"/>
        <pc:sldMkLst>
          <pc:docMk/>
          <pc:sldMk cId="830874392" sldId="340"/>
        </pc:sldMkLst>
      </pc:sldChg>
      <pc:sldChg chg="delSp modSp new mod">
        <pc:chgData name="hussein shaaban" userId="9dfb4fc279e24574" providerId="LiveId" clId="{E98956FE-A2C6-4CFE-9083-8EE357E54E88}" dt="2024-06-25T17:50:52.871" v="1209" actId="207"/>
        <pc:sldMkLst>
          <pc:docMk/>
          <pc:sldMk cId="284923294" sldId="34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49E63-1853-CC10-14C9-52C61B26C8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Z"/>
          </a:p>
        </p:txBody>
      </p:sp>
      <p:sp>
        <p:nvSpPr>
          <p:cNvPr id="3" name="Subtitle 2">
            <a:extLst>
              <a:ext uri="{FF2B5EF4-FFF2-40B4-BE49-F238E27FC236}">
                <a16:creationId xmlns:a16="http://schemas.microsoft.com/office/drawing/2014/main" id="{99D52AB2-9F59-7357-87E3-0801AA6AD4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Z"/>
          </a:p>
        </p:txBody>
      </p:sp>
      <p:sp>
        <p:nvSpPr>
          <p:cNvPr id="4" name="Date Placeholder 3">
            <a:extLst>
              <a:ext uri="{FF2B5EF4-FFF2-40B4-BE49-F238E27FC236}">
                <a16:creationId xmlns:a16="http://schemas.microsoft.com/office/drawing/2014/main" id="{D8F300DA-6913-FABA-2306-1F76C47950BC}"/>
              </a:ext>
            </a:extLst>
          </p:cNvPr>
          <p:cNvSpPr>
            <a:spLocks noGrp="1"/>
          </p:cNvSpPr>
          <p:nvPr>
            <p:ph type="dt" sz="half" idx="10"/>
          </p:nvPr>
        </p:nvSpPr>
        <p:spPr/>
        <p:txBody>
          <a:bodyPr/>
          <a:lstStyle/>
          <a:p>
            <a:fld id="{160A125A-CBB6-4D6D-A68A-E8228440F8A4}" type="datetimeFigureOut">
              <a:rPr lang="en-TZ" smtClean="0"/>
              <a:t>16/06/2025</a:t>
            </a:fld>
            <a:endParaRPr lang="en-TZ"/>
          </a:p>
        </p:txBody>
      </p:sp>
      <p:sp>
        <p:nvSpPr>
          <p:cNvPr id="5" name="Footer Placeholder 4">
            <a:extLst>
              <a:ext uri="{FF2B5EF4-FFF2-40B4-BE49-F238E27FC236}">
                <a16:creationId xmlns:a16="http://schemas.microsoft.com/office/drawing/2014/main" id="{D157D61C-C794-1ED0-5269-C83923855FC8}"/>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C4486F3F-8629-AB2E-9D34-6D9ABB223466}"/>
              </a:ext>
            </a:extLst>
          </p:cNvPr>
          <p:cNvSpPr>
            <a:spLocks noGrp="1"/>
          </p:cNvSpPr>
          <p:nvPr>
            <p:ph type="sldNum" sz="quarter" idx="12"/>
          </p:nvPr>
        </p:nvSpPr>
        <p:spPr/>
        <p:txBody>
          <a:bodyPr/>
          <a:lstStyle/>
          <a:p>
            <a:fld id="{D608A9E9-53F4-4540-855A-5109EB16DAA4}" type="slidenum">
              <a:rPr lang="en-TZ" smtClean="0"/>
              <a:t>‹#›</a:t>
            </a:fld>
            <a:endParaRPr lang="en-TZ"/>
          </a:p>
        </p:txBody>
      </p:sp>
    </p:spTree>
    <p:extLst>
      <p:ext uri="{BB962C8B-B14F-4D97-AF65-F5344CB8AC3E}">
        <p14:creationId xmlns:p14="http://schemas.microsoft.com/office/powerpoint/2010/main" val="127218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18581-452D-842B-4624-1E863B7CD22D}"/>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76A3866B-0232-EB5F-4607-62294FF8A4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27BE4081-EFE8-88B1-F7BE-1A36C2A379A5}"/>
              </a:ext>
            </a:extLst>
          </p:cNvPr>
          <p:cNvSpPr>
            <a:spLocks noGrp="1"/>
          </p:cNvSpPr>
          <p:nvPr>
            <p:ph type="dt" sz="half" idx="10"/>
          </p:nvPr>
        </p:nvSpPr>
        <p:spPr/>
        <p:txBody>
          <a:bodyPr/>
          <a:lstStyle/>
          <a:p>
            <a:fld id="{160A125A-CBB6-4D6D-A68A-E8228440F8A4}" type="datetimeFigureOut">
              <a:rPr lang="en-TZ" smtClean="0"/>
              <a:t>16/06/2025</a:t>
            </a:fld>
            <a:endParaRPr lang="en-TZ"/>
          </a:p>
        </p:txBody>
      </p:sp>
      <p:sp>
        <p:nvSpPr>
          <p:cNvPr id="5" name="Footer Placeholder 4">
            <a:extLst>
              <a:ext uri="{FF2B5EF4-FFF2-40B4-BE49-F238E27FC236}">
                <a16:creationId xmlns:a16="http://schemas.microsoft.com/office/drawing/2014/main" id="{D0D83924-B199-275B-CA19-EE4EF74DAFD1}"/>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768B2220-EEA8-9DF4-1A37-D517AF716639}"/>
              </a:ext>
            </a:extLst>
          </p:cNvPr>
          <p:cNvSpPr>
            <a:spLocks noGrp="1"/>
          </p:cNvSpPr>
          <p:nvPr>
            <p:ph type="sldNum" sz="quarter" idx="12"/>
          </p:nvPr>
        </p:nvSpPr>
        <p:spPr/>
        <p:txBody>
          <a:bodyPr/>
          <a:lstStyle/>
          <a:p>
            <a:fld id="{D608A9E9-53F4-4540-855A-5109EB16DAA4}" type="slidenum">
              <a:rPr lang="en-TZ" smtClean="0"/>
              <a:t>‹#›</a:t>
            </a:fld>
            <a:endParaRPr lang="en-TZ"/>
          </a:p>
        </p:txBody>
      </p:sp>
    </p:spTree>
    <p:extLst>
      <p:ext uri="{BB962C8B-B14F-4D97-AF65-F5344CB8AC3E}">
        <p14:creationId xmlns:p14="http://schemas.microsoft.com/office/powerpoint/2010/main" val="998461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47E35-6FB5-33E5-06E6-73ECD388B5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Z"/>
          </a:p>
        </p:txBody>
      </p:sp>
      <p:sp>
        <p:nvSpPr>
          <p:cNvPr id="3" name="Text Placeholder 2">
            <a:extLst>
              <a:ext uri="{FF2B5EF4-FFF2-40B4-BE49-F238E27FC236}">
                <a16:creationId xmlns:a16="http://schemas.microsoft.com/office/drawing/2014/main" id="{F8E8CF15-4853-70E0-F989-40FAD896E03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9F8E95-F75C-D579-4AB2-F11AF37DD456}"/>
              </a:ext>
            </a:extLst>
          </p:cNvPr>
          <p:cNvSpPr>
            <a:spLocks noGrp="1"/>
          </p:cNvSpPr>
          <p:nvPr>
            <p:ph type="dt" sz="half" idx="10"/>
          </p:nvPr>
        </p:nvSpPr>
        <p:spPr/>
        <p:txBody>
          <a:bodyPr/>
          <a:lstStyle/>
          <a:p>
            <a:fld id="{160A125A-CBB6-4D6D-A68A-E8228440F8A4}" type="datetimeFigureOut">
              <a:rPr lang="en-TZ" smtClean="0"/>
              <a:t>16/06/2025</a:t>
            </a:fld>
            <a:endParaRPr lang="en-TZ"/>
          </a:p>
        </p:txBody>
      </p:sp>
      <p:sp>
        <p:nvSpPr>
          <p:cNvPr id="5" name="Footer Placeholder 4">
            <a:extLst>
              <a:ext uri="{FF2B5EF4-FFF2-40B4-BE49-F238E27FC236}">
                <a16:creationId xmlns:a16="http://schemas.microsoft.com/office/drawing/2014/main" id="{647E0E45-F8C7-7E25-65D6-4333A2978D29}"/>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55C4BCB4-2AAD-428A-9A97-0948A1BBBBB9}"/>
              </a:ext>
            </a:extLst>
          </p:cNvPr>
          <p:cNvSpPr>
            <a:spLocks noGrp="1"/>
          </p:cNvSpPr>
          <p:nvPr>
            <p:ph type="sldNum" sz="quarter" idx="12"/>
          </p:nvPr>
        </p:nvSpPr>
        <p:spPr/>
        <p:txBody>
          <a:bodyPr/>
          <a:lstStyle/>
          <a:p>
            <a:fld id="{D608A9E9-53F4-4540-855A-5109EB16DAA4}" type="slidenum">
              <a:rPr lang="en-TZ" smtClean="0"/>
              <a:t>‹#›</a:t>
            </a:fld>
            <a:endParaRPr lang="en-TZ"/>
          </a:p>
        </p:txBody>
      </p:sp>
    </p:spTree>
    <p:extLst>
      <p:ext uri="{BB962C8B-B14F-4D97-AF65-F5344CB8AC3E}">
        <p14:creationId xmlns:p14="http://schemas.microsoft.com/office/powerpoint/2010/main" val="1965089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855D2-5270-9866-49F6-01521CB3F54D}"/>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8664C338-70C0-FA35-CC02-A41A510346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Content Placeholder 3">
            <a:extLst>
              <a:ext uri="{FF2B5EF4-FFF2-40B4-BE49-F238E27FC236}">
                <a16:creationId xmlns:a16="http://schemas.microsoft.com/office/drawing/2014/main" id="{B2CC8178-293E-6DD8-2094-5D0BFB6BF8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Date Placeholder 4">
            <a:extLst>
              <a:ext uri="{FF2B5EF4-FFF2-40B4-BE49-F238E27FC236}">
                <a16:creationId xmlns:a16="http://schemas.microsoft.com/office/drawing/2014/main" id="{27F3DA83-C870-9706-094F-4886D5C3C108}"/>
              </a:ext>
            </a:extLst>
          </p:cNvPr>
          <p:cNvSpPr>
            <a:spLocks noGrp="1"/>
          </p:cNvSpPr>
          <p:nvPr>
            <p:ph type="dt" sz="half" idx="10"/>
          </p:nvPr>
        </p:nvSpPr>
        <p:spPr/>
        <p:txBody>
          <a:bodyPr/>
          <a:lstStyle/>
          <a:p>
            <a:fld id="{160A125A-CBB6-4D6D-A68A-E8228440F8A4}" type="datetimeFigureOut">
              <a:rPr lang="en-TZ" smtClean="0"/>
              <a:t>16/06/2025</a:t>
            </a:fld>
            <a:endParaRPr lang="en-TZ"/>
          </a:p>
        </p:txBody>
      </p:sp>
      <p:sp>
        <p:nvSpPr>
          <p:cNvPr id="6" name="Footer Placeholder 5">
            <a:extLst>
              <a:ext uri="{FF2B5EF4-FFF2-40B4-BE49-F238E27FC236}">
                <a16:creationId xmlns:a16="http://schemas.microsoft.com/office/drawing/2014/main" id="{9A863B7C-4FCC-5F39-DCCB-09B6D2A8BA0E}"/>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D83A4896-CE15-3E3E-0247-E299BB88298C}"/>
              </a:ext>
            </a:extLst>
          </p:cNvPr>
          <p:cNvSpPr>
            <a:spLocks noGrp="1"/>
          </p:cNvSpPr>
          <p:nvPr>
            <p:ph type="sldNum" sz="quarter" idx="12"/>
          </p:nvPr>
        </p:nvSpPr>
        <p:spPr/>
        <p:txBody>
          <a:bodyPr/>
          <a:lstStyle/>
          <a:p>
            <a:fld id="{D608A9E9-53F4-4540-855A-5109EB16DAA4}" type="slidenum">
              <a:rPr lang="en-TZ" smtClean="0"/>
              <a:t>‹#›</a:t>
            </a:fld>
            <a:endParaRPr lang="en-TZ"/>
          </a:p>
        </p:txBody>
      </p:sp>
    </p:spTree>
    <p:extLst>
      <p:ext uri="{BB962C8B-B14F-4D97-AF65-F5344CB8AC3E}">
        <p14:creationId xmlns:p14="http://schemas.microsoft.com/office/powerpoint/2010/main" val="575737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4BEE2-9E28-C2B9-C661-46017D1E6EE0}"/>
              </a:ext>
            </a:extLst>
          </p:cNvPr>
          <p:cNvSpPr>
            <a:spLocks noGrp="1"/>
          </p:cNvSpPr>
          <p:nvPr>
            <p:ph type="title"/>
          </p:nvPr>
        </p:nvSpPr>
        <p:spPr>
          <a:xfrm>
            <a:off x="839788" y="365125"/>
            <a:ext cx="10515600" cy="1325563"/>
          </a:xfrm>
        </p:spPr>
        <p:txBody>
          <a:bodyPr/>
          <a:lstStyle/>
          <a:p>
            <a:r>
              <a:rPr lang="en-US"/>
              <a:t>Click to edit Master title style</a:t>
            </a:r>
            <a:endParaRPr lang="en-TZ"/>
          </a:p>
        </p:txBody>
      </p:sp>
      <p:sp>
        <p:nvSpPr>
          <p:cNvPr id="3" name="Text Placeholder 2">
            <a:extLst>
              <a:ext uri="{FF2B5EF4-FFF2-40B4-BE49-F238E27FC236}">
                <a16:creationId xmlns:a16="http://schemas.microsoft.com/office/drawing/2014/main" id="{48220374-7CE1-F86F-2BC3-86CFFE8434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D99627-BF4E-5675-0697-6DA6ABB410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Text Placeholder 4">
            <a:extLst>
              <a:ext uri="{FF2B5EF4-FFF2-40B4-BE49-F238E27FC236}">
                <a16:creationId xmlns:a16="http://schemas.microsoft.com/office/drawing/2014/main" id="{0B767C3A-E392-169A-9AE7-DDF7F81739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B30BE8-BC39-4667-6872-7479F77063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7" name="Date Placeholder 6">
            <a:extLst>
              <a:ext uri="{FF2B5EF4-FFF2-40B4-BE49-F238E27FC236}">
                <a16:creationId xmlns:a16="http://schemas.microsoft.com/office/drawing/2014/main" id="{CD73FC51-5630-F596-CFF3-8954065A66F1}"/>
              </a:ext>
            </a:extLst>
          </p:cNvPr>
          <p:cNvSpPr>
            <a:spLocks noGrp="1"/>
          </p:cNvSpPr>
          <p:nvPr>
            <p:ph type="dt" sz="half" idx="10"/>
          </p:nvPr>
        </p:nvSpPr>
        <p:spPr/>
        <p:txBody>
          <a:bodyPr/>
          <a:lstStyle/>
          <a:p>
            <a:fld id="{160A125A-CBB6-4D6D-A68A-E8228440F8A4}" type="datetimeFigureOut">
              <a:rPr lang="en-TZ" smtClean="0"/>
              <a:t>16/06/2025</a:t>
            </a:fld>
            <a:endParaRPr lang="en-TZ"/>
          </a:p>
        </p:txBody>
      </p:sp>
      <p:sp>
        <p:nvSpPr>
          <p:cNvPr id="8" name="Footer Placeholder 7">
            <a:extLst>
              <a:ext uri="{FF2B5EF4-FFF2-40B4-BE49-F238E27FC236}">
                <a16:creationId xmlns:a16="http://schemas.microsoft.com/office/drawing/2014/main" id="{2DA94351-0C51-674A-1BE0-CD95FA6FF57D}"/>
              </a:ext>
            </a:extLst>
          </p:cNvPr>
          <p:cNvSpPr>
            <a:spLocks noGrp="1"/>
          </p:cNvSpPr>
          <p:nvPr>
            <p:ph type="ftr" sz="quarter" idx="11"/>
          </p:nvPr>
        </p:nvSpPr>
        <p:spPr/>
        <p:txBody>
          <a:bodyPr/>
          <a:lstStyle/>
          <a:p>
            <a:endParaRPr lang="en-TZ"/>
          </a:p>
        </p:txBody>
      </p:sp>
      <p:sp>
        <p:nvSpPr>
          <p:cNvPr id="9" name="Slide Number Placeholder 8">
            <a:extLst>
              <a:ext uri="{FF2B5EF4-FFF2-40B4-BE49-F238E27FC236}">
                <a16:creationId xmlns:a16="http://schemas.microsoft.com/office/drawing/2014/main" id="{411E78CE-0C90-BAB7-0E77-AF1205FAA981}"/>
              </a:ext>
            </a:extLst>
          </p:cNvPr>
          <p:cNvSpPr>
            <a:spLocks noGrp="1"/>
          </p:cNvSpPr>
          <p:nvPr>
            <p:ph type="sldNum" sz="quarter" idx="12"/>
          </p:nvPr>
        </p:nvSpPr>
        <p:spPr/>
        <p:txBody>
          <a:bodyPr/>
          <a:lstStyle/>
          <a:p>
            <a:fld id="{D608A9E9-53F4-4540-855A-5109EB16DAA4}" type="slidenum">
              <a:rPr lang="en-TZ" smtClean="0"/>
              <a:t>‹#›</a:t>
            </a:fld>
            <a:endParaRPr lang="en-TZ"/>
          </a:p>
        </p:txBody>
      </p:sp>
    </p:spTree>
    <p:extLst>
      <p:ext uri="{BB962C8B-B14F-4D97-AF65-F5344CB8AC3E}">
        <p14:creationId xmlns:p14="http://schemas.microsoft.com/office/powerpoint/2010/main" val="2026254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62C47-9E97-00A2-3045-FDAA2BE0DF82}"/>
              </a:ext>
            </a:extLst>
          </p:cNvPr>
          <p:cNvSpPr>
            <a:spLocks noGrp="1"/>
          </p:cNvSpPr>
          <p:nvPr>
            <p:ph type="title"/>
          </p:nvPr>
        </p:nvSpPr>
        <p:spPr/>
        <p:txBody>
          <a:bodyPr/>
          <a:lstStyle/>
          <a:p>
            <a:r>
              <a:rPr lang="en-US"/>
              <a:t>Click to edit Master title style</a:t>
            </a:r>
            <a:endParaRPr lang="en-TZ"/>
          </a:p>
        </p:txBody>
      </p:sp>
      <p:sp>
        <p:nvSpPr>
          <p:cNvPr id="3" name="Date Placeholder 2">
            <a:extLst>
              <a:ext uri="{FF2B5EF4-FFF2-40B4-BE49-F238E27FC236}">
                <a16:creationId xmlns:a16="http://schemas.microsoft.com/office/drawing/2014/main" id="{BFDFFF8E-0DCA-4466-B909-B9D4BD5CB919}"/>
              </a:ext>
            </a:extLst>
          </p:cNvPr>
          <p:cNvSpPr>
            <a:spLocks noGrp="1"/>
          </p:cNvSpPr>
          <p:nvPr>
            <p:ph type="dt" sz="half" idx="10"/>
          </p:nvPr>
        </p:nvSpPr>
        <p:spPr/>
        <p:txBody>
          <a:bodyPr/>
          <a:lstStyle/>
          <a:p>
            <a:fld id="{160A125A-CBB6-4D6D-A68A-E8228440F8A4}" type="datetimeFigureOut">
              <a:rPr lang="en-TZ" smtClean="0"/>
              <a:t>16/06/2025</a:t>
            </a:fld>
            <a:endParaRPr lang="en-TZ"/>
          </a:p>
        </p:txBody>
      </p:sp>
      <p:sp>
        <p:nvSpPr>
          <p:cNvPr id="4" name="Footer Placeholder 3">
            <a:extLst>
              <a:ext uri="{FF2B5EF4-FFF2-40B4-BE49-F238E27FC236}">
                <a16:creationId xmlns:a16="http://schemas.microsoft.com/office/drawing/2014/main" id="{CC0815FE-FE75-70ED-9665-C56AC7E0EB04}"/>
              </a:ext>
            </a:extLst>
          </p:cNvPr>
          <p:cNvSpPr>
            <a:spLocks noGrp="1"/>
          </p:cNvSpPr>
          <p:nvPr>
            <p:ph type="ftr" sz="quarter" idx="11"/>
          </p:nvPr>
        </p:nvSpPr>
        <p:spPr/>
        <p:txBody>
          <a:bodyPr/>
          <a:lstStyle/>
          <a:p>
            <a:endParaRPr lang="en-TZ"/>
          </a:p>
        </p:txBody>
      </p:sp>
      <p:sp>
        <p:nvSpPr>
          <p:cNvPr id="5" name="Slide Number Placeholder 4">
            <a:extLst>
              <a:ext uri="{FF2B5EF4-FFF2-40B4-BE49-F238E27FC236}">
                <a16:creationId xmlns:a16="http://schemas.microsoft.com/office/drawing/2014/main" id="{6119F4E8-9E6D-7FFA-4EBB-3576D42274B4}"/>
              </a:ext>
            </a:extLst>
          </p:cNvPr>
          <p:cNvSpPr>
            <a:spLocks noGrp="1"/>
          </p:cNvSpPr>
          <p:nvPr>
            <p:ph type="sldNum" sz="quarter" idx="12"/>
          </p:nvPr>
        </p:nvSpPr>
        <p:spPr/>
        <p:txBody>
          <a:bodyPr/>
          <a:lstStyle/>
          <a:p>
            <a:fld id="{D608A9E9-53F4-4540-855A-5109EB16DAA4}" type="slidenum">
              <a:rPr lang="en-TZ" smtClean="0"/>
              <a:t>‹#›</a:t>
            </a:fld>
            <a:endParaRPr lang="en-TZ"/>
          </a:p>
        </p:txBody>
      </p:sp>
    </p:spTree>
    <p:extLst>
      <p:ext uri="{BB962C8B-B14F-4D97-AF65-F5344CB8AC3E}">
        <p14:creationId xmlns:p14="http://schemas.microsoft.com/office/powerpoint/2010/main" val="2469955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4FCDCF-535E-2469-4298-33DA95AC5A73}"/>
              </a:ext>
            </a:extLst>
          </p:cNvPr>
          <p:cNvSpPr>
            <a:spLocks noGrp="1"/>
          </p:cNvSpPr>
          <p:nvPr>
            <p:ph type="dt" sz="half" idx="10"/>
          </p:nvPr>
        </p:nvSpPr>
        <p:spPr/>
        <p:txBody>
          <a:bodyPr/>
          <a:lstStyle/>
          <a:p>
            <a:fld id="{160A125A-CBB6-4D6D-A68A-E8228440F8A4}" type="datetimeFigureOut">
              <a:rPr lang="en-TZ" smtClean="0"/>
              <a:t>16/06/2025</a:t>
            </a:fld>
            <a:endParaRPr lang="en-TZ"/>
          </a:p>
        </p:txBody>
      </p:sp>
      <p:sp>
        <p:nvSpPr>
          <p:cNvPr id="3" name="Footer Placeholder 2">
            <a:extLst>
              <a:ext uri="{FF2B5EF4-FFF2-40B4-BE49-F238E27FC236}">
                <a16:creationId xmlns:a16="http://schemas.microsoft.com/office/drawing/2014/main" id="{9B7EEEDF-98D2-2721-0CB3-5A6831E041E2}"/>
              </a:ext>
            </a:extLst>
          </p:cNvPr>
          <p:cNvSpPr>
            <a:spLocks noGrp="1"/>
          </p:cNvSpPr>
          <p:nvPr>
            <p:ph type="ftr" sz="quarter" idx="11"/>
          </p:nvPr>
        </p:nvSpPr>
        <p:spPr/>
        <p:txBody>
          <a:bodyPr/>
          <a:lstStyle/>
          <a:p>
            <a:endParaRPr lang="en-TZ"/>
          </a:p>
        </p:txBody>
      </p:sp>
      <p:sp>
        <p:nvSpPr>
          <p:cNvPr id="4" name="Slide Number Placeholder 3">
            <a:extLst>
              <a:ext uri="{FF2B5EF4-FFF2-40B4-BE49-F238E27FC236}">
                <a16:creationId xmlns:a16="http://schemas.microsoft.com/office/drawing/2014/main" id="{A7E5A2B4-1E4F-3F98-6385-BAB85403245A}"/>
              </a:ext>
            </a:extLst>
          </p:cNvPr>
          <p:cNvSpPr>
            <a:spLocks noGrp="1"/>
          </p:cNvSpPr>
          <p:nvPr>
            <p:ph type="sldNum" sz="quarter" idx="12"/>
          </p:nvPr>
        </p:nvSpPr>
        <p:spPr/>
        <p:txBody>
          <a:bodyPr/>
          <a:lstStyle/>
          <a:p>
            <a:fld id="{D608A9E9-53F4-4540-855A-5109EB16DAA4}" type="slidenum">
              <a:rPr lang="en-TZ" smtClean="0"/>
              <a:t>‹#›</a:t>
            </a:fld>
            <a:endParaRPr lang="en-TZ"/>
          </a:p>
        </p:txBody>
      </p:sp>
    </p:spTree>
    <p:extLst>
      <p:ext uri="{BB962C8B-B14F-4D97-AF65-F5344CB8AC3E}">
        <p14:creationId xmlns:p14="http://schemas.microsoft.com/office/powerpoint/2010/main" val="2211143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C6E8-2577-5D70-F19B-AF48C2D392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Content Placeholder 2">
            <a:extLst>
              <a:ext uri="{FF2B5EF4-FFF2-40B4-BE49-F238E27FC236}">
                <a16:creationId xmlns:a16="http://schemas.microsoft.com/office/drawing/2014/main" id="{7B9F76B2-11ED-363E-C3CB-47DC32C77D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Text Placeholder 3">
            <a:extLst>
              <a:ext uri="{FF2B5EF4-FFF2-40B4-BE49-F238E27FC236}">
                <a16:creationId xmlns:a16="http://schemas.microsoft.com/office/drawing/2014/main" id="{01728402-A217-DC34-E15A-69651C1831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E7A3C9-613F-7CD9-FD31-0955BD9DEC26}"/>
              </a:ext>
            </a:extLst>
          </p:cNvPr>
          <p:cNvSpPr>
            <a:spLocks noGrp="1"/>
          </p:cNvSpPr>
          <p:nvPr>
            <p:ph type="dt" sz="half" idx="10"/>
          </p:nvPr>
        </p:nvSpPr>
        <p:spPr/>
        <p:txBody>
          <a:bodyPr/>
          <a:lstStyle/>
          <a:p>
            <a:fld id="{160A125A-CBB6-4D6D-A68A-E8228440F8A4}" type="datetimeFigureOut">
              <a:rPr lang="en-TZ" smtClean="0"/>
              <a:t>16/06/2025</a:t>
            </a:fld>
            <a:endParaRPr lang="en-TZ"/>
          </a:p>
        </p:txBody>
      </p:sp>
      <p:sp>
        <p:nvSpPr>
          <p:cNvPr id="6" name="Footer Placeholder 5">
            <a:extLst>
              <a:ext uri="{FF2B5EF4-FFF2-40B4-BE49-F238E27FC236}">
                <a16:creationId xmlns:a16="http://schemas.microsoft.com/office/drawing/2014/main" id="{E56389C0-D394-DE40-93E1-BB92C53320A5}"/>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BFCEBCE1-4F8C-F4B5-94BC-FFD43C97CDDB}"/>
              </a:ext>
            </a:extLst>
          </p:cNvPr>
          <p:cNvSpPr>
            <a:spLocks noGrp="1"/>
          </p:cNvSpPr>
          <p:nvPr>
            <p:ph type="sldNum" sz="quarter" idx="12"/>
          </p:nvPr>
        </p:nvSpPr>
        <p:spPr/>
        <p:txBody>
          <a:bodyPr/>
          <a:lstStyle/>
          <a:p>
            <a:fld id="{D608A9E9-53F4-4540-855A-5109EB16DAA4}" type="slidenum">
              <a:rPr lang="en-TZ" smtClean="0"/>
              <a:t>‹#›</a:t>
            </a:fld>
            <a:endParaRPr lang="en-TZ"/>
          </a:p>
        </p:txBody>
      </p:sp>
    </p:spTree>
    <p:extLst>
      <p:ext uri="{BB962C8B-B14F-4D97-AF65-F5344CB8AC3E}">
        <p14:creationId xmlns:p14="http://schemas.microsoft.com/office/powerpoint/2010/main" val="1825152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F6193-E389-A8BF-8052-3EF36241BD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Picture Placeholder 2">
            <a:extLst>
              <a:ext uri="{FF2B5EF4-FFF2-40B4-BE49-F238E27FC236}">
                <a16:creationId xmlns:a16="http://schemas.microsoft.com/office/drawing/2014/main" id="{13D7F01D-208D-9214-2618-BF178FAD23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Z"/>
          </a:p>
        </p:txBody>
      </p:sp>
      <p:sp>
        <p:nvSpPr>
          <p:cNvPr id="4" name="Text Placeholder 3">
            <a:extLst>
              <a:ext uri="{FF2B5EF4-FFF2-40B4-BE49-F238E27FC236}">
                <a16:creationId xmlns:a16="http://schemas.microsoft.com/office/drawing/2014/main" id="{DFB20DD4-A3AE-C80C-5B4B-D5DFA9E2CA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8515EE-6B97-641D-2CFB-EBC0DE5B3BFA}"/>
              </a:ext>
            </a:extLst>
          </p:cNvPr>
          <p:cNvSpPr>
            <a:spLocks noGrp="1"/>
          </p:cNvSpPr>
          <p:nvPr>
            <p:ph type="dt" sz="half" idx="10"/>
          </p:nvPr>
        </p:nvSpPr>
        <p:spPr/>
        <p:txBody>
          <a:bodyPr/>
          <a:lstStyle/>
          <a:p>
            <a:fld id="{160A125A-CBB6-4D6D-A68A-E8228440F8A4}" type="datetimeFigureOut">
              <a:rPr lang="en-TZ" smtClean="0"/>
              <a:t>16/06/2025</a:t>
            </a:fld>
            <a:endParaRPr lang="en-TZ"/>
          </a:p>
        </p:txBody>
      </p:sp>
      <p:sp>
        <p:nvSpPr>
          <p:cNvPr id="6" name="Footer Placeholder 5">
            <a:extLst>
              <a:ext uri="{FF2B5EF4-FFF2-40B4-BE49-F238E27FC236}">
                <a16:creationId xmlns:a16="http://schemas.microsoft.com/office/drawing/2014/main" id="{22EEC81F-FB58-8553-70F0-BD911CDD1609}"/>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1F831C9E-024A-F81D-A1BA-0B640172F639}"/>
              </a:ext>
            </a:extLst>
          </p:cNvPr>
          <p:cNvSpPr>
            <a:spLocks noGrp="1"/>
          </p:cNvSpPr>
          <p:nvPr>
            <p:ph type="sldNum" sz="quarter" idx="12"/>
          </p:nvPr>
        </p:nvSpPr>
        <p:spPr/>
        <p:txBody>
          <a:bodyPr/>
          <a:lstStyle/>
          <a:p>
            <a:fld id="{D608A9E9-53F4-4540-855A-5109EB16DAA4}" type="slidenum">
              <a:rPr lang="en-TZ" smtClean="0"/>
              <a:t>‹#›</a:t>
            </a:fld>
            <a:endParaRPr lang="en-TZ"/>
          </a:p>
        </p:txBody>
      </p:sp>
    </p:spTree>
    <p:extLst>
      <p:ext uri="{BB962C8B-B14F-4D97-AF65-F5344CB8AC3E}">
        <p14:creationId xmlns:p14="http://schemas.microsoft.com/office/powerpoint/2010/main" val="598031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3CCB6-9037-295B-B858-1B689C60D394}"/>
              </a:ext>
            </a:extLst>
          </p:cNvPr>
          <p:cNvSpPr>
            <a:spLocks noGrp="1"/>
          </p:cNvSpPr>
          <p:nvPr>
            <p:ph type="title"/>
          </p:nvPr>
        </p:nvSpPr>
        <p:spPr/>
        <p:txBody>
          <a:bodyPr/>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C3BA0513-59B5-415D-11D2-C72D19DA59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5A2C09F7-4B8B-1A02-8EA3-20EB185017E4}"/>
              </a:ext>
            </a:extLst>
          </p:cNvPr>
          <p:cNvSpPr>
            <a:spLocks noGrp="1"/>
          </p:cNvSpPr>
          <p:nvPr>
            <p:ph type="dt" sz="half" idx="10"/>
          </p:nvPr>
        </p:nvSpPr>
        <p:spPr/>
        <p:txBody>
          <a:bodyPr/>
          <a:lstStyle/>
          <a:p>
            <a:fld id="{160A125A-CBB6-4D6D-A68A-E8228440F8A4}" type="datetimeFigureOut">
              <a:rPr lang="en-TZ" smtClean="0"/>
              <a:t>16/06/2025</a:t>
            </a:fld>
            <a:endParaRPr lang="en-TZ"/>
          </a:p>
        </p:txBody>
      </p:sp>
      <p:sp>
        <p:nvSpPr>
          <p:cNvPr id="5" name="Footer Placeholder 4">
            <a:extLst>
              <a:ext uri="{FF2B5EF4-FFF2-40B4-BE49-F238E27FC236}">
                <a16:creationId xmlns:a16="http://schemas.microsoft.com/office/drawing/2014/main" id="{EFC1A05D-3084-79E2-F49B-4BBDFE05C336}"/>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B5E6C002-A800-474D-ABA9-0A22BF9AA98C}"/>
              </a:ext>
            </a:extLst>
          </p:cNvPr>
          <p:cNvSpPr>
            <a:spLocks noGrp="1"/>
          </p:cNvSpPr>
          <p:nvPr>
            <p:ph type="sldNum" sz="quarter" idx="12"/>
          </p:nvPr>
        </p:nvSpPr>
        <p:spPr/>
        <p:txBody>
          <a:bodyPr/>
          <a:lstStyle/>
          <a:p>
            <a:fld id="{D608A9E9-53F4-4540-855A-5109EB16DAA4}" type="slidenum">
              <a:rPr lang="en-TZ" smtClean="0"/>
              <a:t>‹#›</a:t>
            </a:fld>
            <a:endParaRPr lang="en-TZ"/>
          </a:p>
        </p:txBody>
      </p:sp>
    </p:spTree>
    <p:extLst>
      <p:ext uri="{BB962C8B-B14F-4D97-AF65-F5344CB8AC3E}">
        <p14:creationId xmlns:p14="http://schemas.microsoft.com/office/powerpoint/2010/main" val="2637886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7178EC-E3FC-C56B-04AE-ECDF559E4B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E81EE64C-5D5A-A721-E79B-4035D4F0D9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03BF19F2-E54F-5212-CF46-C85AB0A080ED}"/>
              </a:ext>
            </a:extLst>
          </p:cNvPr>
          <p:cNvSpPr>
            <a:spLocks noGrp="1"/>
          </p:cNvSpPr>
          <p:nvPr>
            <p:ph type="dt" sz="half" idx="10"/>
          </p:nvPr>
        </p:nvSpPr>
        <p:spPr/>
        <p:txBody>
          <a:bodyPr/>
          <a:lstStyle/>
          <a:p>
            <a:fld id="{160A125A-CBB6-4D6D-A68A-E8228440F8A4}" type="datetimeFigureOut">
              <a:rPr lang="en-TZ" smtClean="0"/>
              <a:t>16/06/2025</a:t>
            </a:fld>
            <a:endParaRPr lang="en-TZ"/>
          </a:p>
        </p:txBody>
      </p:sp>
      <p:sp>
        <p:nvSpPr>
          <p:cNvPr id="5" name="Footer Placeholder 4">
            <a:extLst>
              <a:ext uri="{FF2B5EF4-FFF2-40B4-BE49-F238E27FC236}">
                <a16:creationId xmlns:a16="http://schemas.microsoft.com/office/drawing/2014/main" id="{EC7A33D1-CF04-4753-2712-BC3C728228BC}"/>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65BF6222-0C81-ECB6-66FF-32DF4A405497}"/>
              </a:ext>
            </a:extLst>
          </p:cNvPr>
          <p:cNvSpPr>
            <a:spLocks noGrp="1"/>
          </p:cNvSpPr>
          <p:nvPr>
            <p:ph type="sldNum" sz="quarter" idx="12"/>
          </p:nvPr>
        </p:nvSpPr>
        <p:spPr/>
        <p:txBody>
          <a:bodyPr/>
          <a:lstStyle/>
          <a:p>
            <a:fld id="{D608A9E9-53F4-4540-855A-5109EB16DAA4}" type="slidenum">
              <a:rPr lang="en-TZ" smtClean="0"/>
              <a:t>‹#›</a:t>
            </a:fld>
            <a:endParaRPr lang="en-TZ"/>
          </a:p>
        </p:txBody>
      </p:sp>
    </p:spTree>
    <p:extLst>
      <p:ext uri="{BB962C8B-B14F-4D97-AF65-F5344CB8AC3E}">
        <p14:creationId xmlns:p14="http://schemas.microsoft.com/office/powerpoint/2010/main" val="2297794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5860A5-6B74-8EC1-8ECE-EB932FA6C2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Z"/>
          </a:p>
        </p:txBody>
      </p:sp>
      <p:sp>
        <p:nvSpPr>
          <p:cNvPr id="3" name="Text Placeholder 2">
            <a:extLst>
              <a:ext uri="{FF2B5EF4-FFF2-40B4-BE49-F238E27FC236}">
                <a16:creationId xmlns:a16="http://schemas.microsoft.com/office/drawing/2014/main" id="{70F374D9-A044-8A3B-C73D-53E5F02E06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D54C0712-DEB5-2C6D-163F-44C90A33F9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60A125A-CBB6-4D6D-A68A-E8228440F8A4}" type="datetimeFigureOut">
              <a:rPr lang="en-TZ" smtClean="0"/>
              <a:t>16/06/2025</a:t>
            </a:fld>
            <a:endParaRPr lang="en-TZ"/>
          </a:p>
        </p:txBody>
      </p:sp>
      <p:sp>
        <p:nvSpPr>
          <p:cNvPr id="5" name="Footer Placeholder 4">
            <a:extLst>
              <a:ext uri="{FF2B5EF4-FFF2-40B4-BE49-F238E27FC236}">
                <a16:creationId xmlns:a16="http://schemas.microsoft.com/office/drawing/2014/main" id="{78705DE8-0075-0952-C8D0-1109E4DC6D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TZ"/>
          </a:p>
        </p:txBody>
      </p:sp>
      <p:sp>
        <p:nvSpPr>
          <p:cNvPr id="6" name="Slide Number Placeholder 5">
            <a:extLst>
              <a:ext uri="{FF2B5EF4-FFF2-40B4-BE49-F238E27FC236}">
                <a16:creationId xmlns:a16="http://schemas.microsoft.com/office/drawing/2014/main" id="{1A1A289B-5E8C-6DEA-F10F-ABE212CF13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608A9E9-53F4-4540-855A-5109EB16DAA4}" type="slidenum">
              <a:rPr lang="en-TZ" smtClean="0"/>
              <a:t>‹#›</a:t>
            </a:fld>
            <a:endParaRPr lang="en-TZ"/>
          </a:p>
        </p:txBody>
      </p:sp>
    </p:spTree>
    <p:extLst>
      <p:ext uri="{BB962C8B-B14F-4D97-AF65-F5344CB8AC3E}">
        <p14:creationId xmlns:p14="http://schemas.microsoft.com/office/powerpoint/2010/main" val="27547430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www.suridata.ai/blog/infosec-guide-to-information-security-controls/"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www.suridata.ai/blog/infosec-guide-to-information-security-controls/"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www.cybermaxx.com/resources/what-is-penetration-testing/"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www.splunk.com/en_us/blog/learn/vulnerability-scanning.html"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intellipaat.com/blog/what-is-des-algorithm/"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intellipaat.com/blog/difference-between-private-key-and-public-key/"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intellipaat.com/blog/what-is-database/" TargetMode="External"/><Relationship Id="rId2" Type="http://schemas.openxmlformats.org/officeDocument/2006/relationships/hyperlink" Target="https://intellipaat.com/blog/hashing-in-blockchain/"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hyperlink" Target="https://auth0.com/blog/the-9-most-common-security-threats-to-mobile-devices-in-2021/"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hyperlink" Target="https://www.enterprisenetworkingplanet.com/security/mobile-network-security/" TargetMode="External"/><Relationship Id="rId2" Type="http://schemas.openxmlformats.org/officeDocument/2006/relationships/hyperlink" Target="https://auth0.com/blog/the-9-most-common-security-threats-to-mobile-devices-in-2021/" TargetMode="External"/><Relationship Id="rId1" Type="http://schemas.openxmlformats.org/officeDocument/2006/relationships/slideLayout" Target="../slideLayouts/slideLayout2.xml"/><Relationship Id="rId4" Type="http://schemas.openxmlformats.org/officeDocument/2006/relationships/hyperlink" Target="https://www.cypressdatadefense.com/blog/mobile-app-security-risks/" TargetMode="External"/></Relationships>
</file>

<file path=ppt/slides/_rels/slide57.xml.rels><?xml version="1.0" encoding="UTF-8" standalone="yes"?>
<Relationships xmlns="http://schemas.openxmlformats.org/package/2006/relationships"><Relationship Id="rId2" Type="http://schemas.openxmlformats.org/officeDocument/2006/relationships/hyperlink" Target="https://auth0.com/blog/the-9-most-common-security-threats-to-mobile-devices-in-2021/"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www.ibm.com/topics/data-centers" TargetMode="External"/><Relationship Id="rId2" Type="http://schemas.openxmlformats.org/officeDocument/2006/relationships/hyperlink" Target="https://www.ibm.com/topics/networking"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s://www.ibm.com/blog/video-what-is-a-ddos-attack"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hyperlink" Target="https://policy.ku.edu/IT/data-classification-handling-procedures"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shinydocs.com/blog/data-classification-standards-and-best-practices-guide/"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hyperlink" Target="https://policy.ku.edu/IT/data-classification-handling-procedures"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hyperlink" Target="https://aptien.com/en/kb/articles/what-is-difference-data-information" TargetMode="Externa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hyperlink" Target="https://aptien.com/en/kb/articles/what-is-information-security" TargetMode="External"/><Relationship Id="rId2" Type="http://schemas.openxmlformats.org/officeDocument/2006/relationships/hyperlink" Target="https://aptien.com/en/kb/articles/what-is-vulnerability" TargetMode="Externa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hyperlink" Target="https://aptien.com/en/kb/articles/what-are-primary-information-assets" TargetMode="Externa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hyperlink" Target="https://aptien.com/en/kb/articles/what-are-supporting-assets" TargetMode="Externa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hyperlink" Target="https://aptien.com/en/kb/articles/how-to-keep-primary-assets-organizer" TargetMode="Externa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B3F04-2338-6CC0-4859-D7F81341871E}"/>
              </a:ext>
            </a:extLst>
          </p:cNvPr>
          <p:cNvSpPr>
            <a:spLocks noGrp="1"/>
          </p:cNvSpPr>
          <p:nvPr>
            <p:ph type="ctrTitle"/>
          </p:nvPr>
        </p:nvSpPr>
        <p:spPr/>
        <p:txBody>
          <a:bodyPr>
            <a:normAutofit/>
          </a:bodyPr>
          <a:lstStyle/>
          <a:p>
            <a:r>
              <a:rPr lang="en-US" b="1" dirty="0">
                <a:solidFill>
                  <a:srgbClr val="000000"/>
                </a:solidFill>
                <a:effectLst/>
                <a:latin typeface="Times New Roman" panose="02020603050405020304" pitchFamily="18" charset="0"/>
                <a:ea typeface="Times New Roman" panose="02020603050405020304" pitchFamily="18" charset="0"/>
              </a:rPr>
              <a:t>INF 3201: Information Systems Audit and Control</a:t>
            </a:r>
            <a:endParaRPr lang="en-TZ" b="1" dirty="0"/>
          </a:p>
        </p:txBody>
      </p:sp>
      <p:sp>
        <p:nvSpPr>
          <p:cNvPr id="3" name="Subtitle 2">
            <a:extLst>
              <a:ext uri="{FF2B5EF4-FFF2-40B4-BE49-F238E27FC236}">
                <a16:creationId xmlns:a16="http://schemas.microsoft.com/office/drawing/2014/main" id="{717A55E3-521E-1041-F7A1-481C18B5040B}"/>
              </a:ext>
            </a:extLst>
          </p:cNvPr>
          <p:cNvSpPr>
            <a:spLocks noGrp="1"/>
          </p:cNvSpPr>
          <p:nvPr>
            <p:ph type="subTitle" idx="1"/>
          </p:nvPr>
        </p:nvSpPr>
        <p:spPr/>
        <p:txBody>
          <a:bodyPr>
            <a:normAutofit/>
          </a:bodyPr>
          <a:lstStyle/>
          <a:p>
            <a:r>
              <a:rPr lang="en-US" sz="4400" b="1" dirty="0">
                <a:solidFill>
                  <a:srgbClr val="000000"/>
                </a:solidFill>
                <a:effectLst/>
                <a:latin typeface="Times New Roman" panose="02020603050405020304" pitchFamily="18" charset="0"/>
                <a:ea typeface="Times New Roman" panose="02020603050405020304" pitchFamily="18" charset="0"/>
              </a:rPr>
              <a:t>Week 13 - 15: Protection of Information Assets</a:t>
            </a:r>
            <a:endParaRPr lang="en-TZ" sz="4400" dirty="0"/>
          </a:p>
        </p:txBody>
      </p:sp>
    </p:spTree>
    <p:extLst>
      <p:ext uri="{BB962C8B-B14F-4D97-AF65-F5344CB8AC3E}">
        <p14:creationId xmlns:p14="http://schemas.microsoft.com/office/powerpoint/2010/main" val="2449637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561B7-4450-E101-E520-963014F6D434}"/>
              </a:ext>
            </a:extLst>
          </p:cNvPr>
          <p:cNvSpPr>
            <a:spLocks noGrp="1"/>
          </p:cNvSpPr>
          <p:nvPr>
            <p:ph type="title"/>
          </p:nvPr>
        </p:nvSpPr>
        <p:spPr>
          <a:xfrm>
            <a:off x="838200" y="335145"/>
            <a:ext cx="10515600" cy="998980"/>
          </a:xfrm>
        </p:spPr>
        <p:txBody>
          <a:bodyPr>
            <a:noAutofit/>
          </a:bodyPr>
          <a:lstStyle/>
          <a:p>
            <a:r>
              <a:rPr lang="en-US" sz="3200" b="1" u="none" strike="noStrike"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Information security policies, standards and procedures and generally accepted practices</a:t>
            </a:r>
            <a:endParaRPr lang="en-TZ"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FDB360F-8D67-4B1C-645F-B748C67C7161}"/>
              </a:ext>
            </a:extLst>
          </p:cNvPr>
          <p:cNvSpPr>
            <a:spLocks noGrp="1"/>
          </p:cNvSpPr>
          <p:nvPr>
            <p:ph idx="1"/>
          </p:nvPr>
        </p:nvSpPr>
        <p:spPr>
          <a:xfrm>
            <a:off x="494675" y="1543987"/>
            <a:ext cx="11182663" cy="4978867"/>
          </a:xfrm>
        </p:spPr>
        <p:txBody>
          <a:bodyPr>
            <a:normAutofit/>
          </a:bodyPr>
          <a:lstStyle/>
          <a:p>
            <a:pPr marL="0" indent="0" algn="l">
              <a:buNone/>
            </a:pPr>
            <a:r>
              <a:rPr lang="en-US" sz="3600" b="1" i="0" dirty="0">
                <a:solidFill>
                  <a:srgbClr val="444444"/>
                </a:solidFill>
                <a:effectLst/>
                <a:highlight>
                  <a:srgbClr val="FFFFFF"/>
                </a:highlight>
                <a:latin typeface="Nunito Sans" panose="020F0502020204030204" pitchFamily="2" charset="0"/>
              </a:rPr>
              <a:t>Information Policies – The “What”</a:t>
            </a:r>
            <a:r>
              <a:rPr lang="en-US" sz="3600" b="0" i="0" dirty="0">
                <a:solidFill>
                  <a:srgbClr val="444444"/>
                </a:solidFill>
                <a:effectLst/>
                <a:highlight>
                  <a:srgbClr val="FFFFFF"/>
                </a:highlight>
                <a:latin typeface="Nunito Sans" panose="020F0502020204030204" pitchFamily="2" charset="0"/>
              </a:rPr>
              <a:t> </a:t>
            </a:r>
          </a:p>
          <a:p>
            <a:pPr algn="l"/>
            <a:r>
              <a:rPr lang="en-US" sz="3600" b="0" i="0" dirty="0">
                <a:solidFill>
                  <a:srgbClr val="444444"/>
                </a:solidFill>
                <a:effectLst/>
                <a:highlight>
                  <a:srgbClr val="FFFFFF"/>
                </a:highlight>
                <a:latin typeface="Nunito Sans" panose="020F0502020204030204" pitchFamily="2" charset="0"/>
              </a:rPr>
              <a:t>Policies are the high-level statements that communicate your objectives. </a:t>
            </a:r>
          </a:p>
          <a:p>
            <a:pPr algn="l"/>
            <a:r>
              <a:rPr lang="en-US" sz="3600" b="0" i="0" dirty="0">
                <a:solidFill>
                  <a:srgbClr val="444444"/>
                </a:solidFill>
                <a:effectLst/>
                <a:highlight>
                  <a:srgbClr val="FFFFFF"/>
                </a:highlight>
                <a:latin typeface="Nunito Sans" panose="020F0502020204030204" pitchFamily="2" charset="0"/>
              </a:rPr>
              <a:t>Think about the information security policies as the vision statement that clearly states your values in this area and what you intend to put into action. </a:t>
            </a:r>
          </a:p>
          <a:p>
            <a:pPr algn="l"/>
            <a:r>
              <a:rPr lang="en-US" sz="3600" b="0" i="0" dirty="0">
                <a:solidFill>
                  <a:srgbClr val="444444"/>
                </a:solidFill>
                <a:effectLst/>
                <a:highlight>
                  <a:srgbClr val="FFFFFF"/>
                </a:highlight>
                <a:latin typeface="Nunito Sans" panose="020F0502020204030204" pitchFamily="2" charset="0"/>
              </a:rPr>
              <a:t>Your organizational culture will drive how you set policies, as they reflect how you view risk, what role you expect end users to play in security and more.</a:t>
            </a:r>
          </a:p>
          <a:p>
            <a:endParaRPr lang="en-TZ" sz="3600" dirty="0"/>
          </a:p>
        </p:txBody>
      </p:sp>
    </p:spTree>
    <p:extLst>
      <p:ext uri="{BB962C8B-B14F-4D97-AF65-F5344CB8AC3E}">
        <p14:creationId xmlns:p14="http://schemas.microsoft.com/office/powerpoint/2010/main" val="1420399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A4DE2A-0DB5-0600-CB48-EBAAB9A41C2B}"/>
              </a:ext>
            </a:extLst>
          </p:cNvPr>
          <p:cNvSpPr>
            <a:spLocks noGrp="1"/>
          </p:cNvSpPr>
          <p:nvPr>
            <p:ph idx="1"/>
          </p:nvPr>
        </p:nvSpPr>
        <p:spPr>
          <a:xfrm>
            <a:off x="359764" y="299803"/>
            <a:ext cx="11497456" cy="6220917"/>
          </a:xfrm>
        </p:spPr>
        <p:txBody>
          <a:bodyPr>
            <a:normAutofit/>
          </a:bodyPr>
          <a:lstStyle/>
          <a:p>
            <a:pPr marL="0" indent="0">
              <a:buNone/>
            </a:pPr>
            <a:r>
              <a:rPr lang="en-US" sz="3400" b="1" dirty="0"/>
              <a:t>Information Security Policy</a:t>
            </a:r>
            <a:r>
              <a:rPr lang="en-US" sz="3400" dirty="0"/>
              <a:t> </a:t>
            </a:r>
          </a:p>
          <a:p>
            <a:r>
              <a:rPr lang="en-US" sz="3400" dirty="0"/>
              <a:t>A security policy is the statement of intent by the management about how to protect a company’s information assets. It is a formal statement of the rules which give people access to an organization's technology and information assets, and which they must abide. </a:t>
            </a:r>
          </a:p>
          <a:p>
            <a:r>
              <a:rPr lang="en-US" sz="3400" dirty="0"/>
              <a:t>In its basic form, a security policy is a document that describes a company’s or organization’s security controls and activities. The policy does not specify technologies or specific solutions; it defines a specific set of intentions and conditions that help protect a company’s assets and its ability to conduct business. </a:t>
            </a:r>
            <a:endParaRPr lang="en-TZ" sz="3400" dirty="0"/>
          </a:p>
        </p:txBody>
      </p:sp>
    </p:spTree>
    <p:extLst>
      <p:ext uri="{BB962C8B-B14F-4D97-AF65-F5344CB8AC3E}">
        <p14:creationId xmlns:p14="http://schemas.microsoft.com/office/powerpoint/2010/main" val="4062377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C381F8-8F41-AF3F-D306-BDBA9808363B}"/>
              </a:ext>
            </a:extLst>
          </p:cNvPr>
          <p:cNvSpPr>
            <a:spLocks noGrp="1"/>
          </p:cNvSpPr>
          <p:nvPr>
            <p:ph idx="1"/>
          </p:nvPr>
        </p:nvSpPr>
        <p:spPr>
          <a:xfrm>
            <a:off x="419725" y="359764"/>
            <a:ext cx="11332564" cy="6130977"/>
          </a:xfrm>
        </p:spPr>
        <p:txBody>
          <a:bodyPr>
            <a:noAutofit/>
          </a:bodyPr>
          <a:lstStyle/>
          <a:p>
            <a:r>
              <a:rPr lang="en-US" sz="3200" dirty="0"/>
              <a:t>A security policy is the essential foundation for an effective and comprehensive security program. It is the primary way in which management’s security concerns are translated into specific measurable and testable goals and objectives. It provides guidance to the people who build, install, and maintain computer systems. Security policies invariably include rules intended to: </a:t>
            </a:r>
          </a:p>
          <a:p>
            <a:pPr marL="0" indent="0">
              <a:buNone/>
            </a:pPr>
            <a:r>
              <a:rPr lang="en-US" sz="3200" dirty="0"/>
              <a:t>	• Preserve and protect information from any unauthorized 	modification, access or disclosure. </a:t>
            </a:r>
          </a:p>
          <a:p>
            <a:pPr marL="0" indent="0">
              <a:buNone/>
            </a:pPr>
            <a:r>
              <a:rPr lang="en-US" sz="3200" dirty="0"/>
              <a:t>	• Limit or eliminate potential legal liability from </a:t>
            </a:r>
            <a:r>
              <a:rPr lang="en-US" sz="3200"/>
              <a:t>employees    	   or third </a:t>
            </a:r>
            <a:r>
              <a:rPr lang="en-US" sz="3200" dirty="0"/>
              <a:t>parties. </a:t>
            </a:r>
          </a:p>
          <a:p>
            <a:pPr marL="0" indent="0">
              <a:buNone/>
            </a:pPr>
            <a:r>
              <a:rPr lang="en-US" sz="3200" dirty="0"/>
              <a:t>	• Prevent waste or inappropriate use of the resources of an 	organization.</a:t>
            </a:r>
            <a:endParaRPr lang="en-TZ" sz="3200" dirty="0"/>
          </a:p>
        </p:txBody>
      </p:sp>
    </p:spTree>
    <p:extLst>
      <p:ext uri="{BB962C8B-B14F-4D97-AF65-F5344CB8AC3E}">
        <p14:creationId xmlns:p14="http://schemas.microsoft.com/office/powerpoint/2010/main" val="1017387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35D26B-BD74-C5C8-A622-DB034F78783A}"/>
              </a:ext>
            </a:extLst>
          </p:cNvPr>
          <p:cNvSpPr>
            <a:spLocks noGrp="1"/>
          </p:cNvSpPr>
          <p:nvPr>
            <p:ph idx="1"/>
          </p:nvPr>
        </p:nvSpPr>
        <p:spPr>
          <a:xfrm>
            <a:off x="404734" y="344774"/>
            <a:ext cx="11317574" cy="6145967"/>
          </a:xfrm>
        </p:spPr>
        <p:txBody>
          <a:bodyPr>
            <a:normAutofit/>
          </a:bodyPr>
          <a:lstStyle/>
          <a:p>
            <a:r>
              <a:rPr lang="en-US" sz="3300" dirty="0"/>
              <a:t>A security policy should be in written form. It provides instructions to employees about what kinds of behavior or resource usage are required and acceptable, and about what is forbidden and unacceptable. </a:t>
            </a:r>
          </a:p>
          <a:p>
            <a:r>
              <a:rPr lang="en-US" sz="3300" dirty="0"/>
              <a:t>It gives clear instructions to IT staff and security professionals about how to restrict authority and enact access controls, authentication methods, privacy practices, and accounting techniques. </a:t>
            </a:r>
          </a:p>
          <a:p>
            <a:r>
              <a:rPr lang="en-US" sz="3300" dirty="0"/>
              <a:t>A security policy also provides information to all employees about how to help protect their employer’s assets and information, and instructions regarding acceptable (and unacceptable) practices and behavior. </a:t>
            </a:r>
            <a:endParaRPr lang="en-TZ" sz="3300" dirty="0"/>
          </a:p>
        </p:txBody>
      </p:sp>
    </p:spTree>
    <p:extLst>
      <p:ext uri="{BB962C8B-B14F-4D97-AF65-F5344CB8AC3E}">
        <p14:creationId xmlns:p14="http://schemas.microsoft.com/office/powerpoint/2010/main" val="3343597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B18C47-E021-760D-C2B9-131649DFE5DA}"/>
              </a:ext>
            </a:extLst>
          </p:cNvPr>
          <p:cNvSpPr>
            <a:spLocks noGrp="1"/>
          </p:cNvSpPr>
          <p:nvPr>
            <p:ph idx="1"/>
          </p:nvPr>
        </p:nvSpPr>
        <p:spPr>
          <a:xfrm>
            <a:off x="569625" y="449704"/>
            <a:ext cx="11077731" cy="5906125"/>
          </a:xfrm>
        </p:spPr>
        <p:txBody>
          <a:bodyPr>
            <a:noAutofit/>
          </a:bodyPr>
          <a:lstStyle/>
          <a:p>
            <a:r>
              <a:rPr lang="en-US" sz="3600" dirty="0"/>
              <a:t>Procedures, standards, and guidelines are used to describe how these policies will be implemented within an organization. Further, while policies are approved at the topmost level, procedures, standards and guidelines are approved at lower levels of management. What is included in a policy may vary from organization to organization. It may also be that an item covered in a policy in one organization may be documented at a procedure or standard level in another organization. </a:t>
            </a:r>
          </a:p>
          <a:p>
            <a:r>
              <a:rPr lang="en-US" sz="3600" b="1" dirty="0"/>
              <a:t>Tools to Implement Policy: Standards, Guidelines, and Procedures</a:t>
            </a:r>
            <a:r>
              <a:rPr lang="en-US" sz="3600" dirty="0"/>
              <a:t> </a:t>
            </a:r>
            <a:endParaRPr lang="en-TZ" sz="3600" dirty="0"/>
          </a:p>
        </p:txBody>
      </p:sp>
    </p:spTree>
    <p:extLst>
      <p:ext uri="{BB962C8B-B14F-4D97-AF65-F5344CB8AC3E}">
        <p14:creationId xmlns:p14="http://schemas.microsoft.com/office/powerpoint/2010/main" val="3305902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083930-4BE6-FFC7-694D-64319D746F54}"/>
              </a:ext>
            </a:extLst>
          </p:cNvPr>
          <p:cNvSpPr>
            <a:spLocks noGrp="1"/>
          </p:cNvSpPr>
          <p:nvPr>
            <p:ph idx="1"/>
          </p:nvPr>
        </p:nvSpPr>
        <p:spPr>
          <a:xfrm>
            <a:off x="838200" y="539646"/>
            <a:ext cx="10515600" cy="5637317"/>
          </a:xfrm>
        </p:spPr>
        <p:txBody>
          <a:bodyPr/>
          <a:lstStyle/>
          <a:p>
            <a:r>
              <a:rPr lang="en-US" dirty="0"/>
              <a:t>Components of a security policy </a:t>
            </a:r>
          </a:p>
          <a:p>
            <a:pPr marL="571500" indent="-571500">
              <a:buAutoNum type="romanLcPeriod"/>
            </a:pPr>
            <a:r>
              <a:rPr lang="en-US" dirty="0"/>
              <a:t>Introduction </a:t>
            </a:r>
          </a:p>
          <a:p>
            <a:pPr marL="571500" indent="-571500">
              <a:buAutoNum type="romanLcPeriod"/>
            </a:pPr>
            <a:r>
              <a:rPr lang="en-US" dirty="0"/>
              <a:t>Purpose of Security Policy </a:t>
            </a:r>
          </a:p>
          <a:p>
            <a:pPr marL="571500" indent="-571500">
              <a:buAutoNum type="romanLcPeriod"/>
            </a:pPr>
            <a:r>
              <a:rPr lang="en-US" dirty="0"/>
              <a:t>Security Policy Scope </a:t>
            </a:r>
          </a:p>
          <a:p>
            <a:pPr marL="571500" indent="-571500">
              <a:buAutoNum type="romanLcPeriod"/>
            </a:pPr>
            <a:r>
              <a:rPr lang="en-US" dirty="0"/>
              <a:t>Security Policy Exemptions </a:t>
            </a:r>
          </a:p>
          <a:p>
            <a:pPr marL="571500" indent="-571500">
              <a:buAutoNum type="romanLcPeriod"/>
            </a:pPr>
            <a:r>
              <a:rPr lang="en-US" dirty="0"/>
              <a:t>General Security Policy </a:t>
            </a:r>
          </a:p>
          <a:p>
            <a:pPr marL="571500" indent="-571500">
              <a:buAutoNum type="romanLcPeriod"/>
            </a:pPr>
            <a:r>
              <a:rPr lang="en-US" dirty="0"/>
              <a:t>Maintenance of Policies, Standards, Guidelines and Recommendations </a:t>
            </a:r>
          </a:p>
          <a:p>
            <a:pPr marL="571500" indent="-571500">
              <a:buAutoNum type="romanLcPeriod"/>
            </a:pPr>
            <a:r>
              <a:rPr lang="en-US" dirty="0"/>
              <a:t>Security Policy: Review, Schedule and Updates </a:t>
            </a:r>
          </a:p>
          <a:p>
            <a:pPr marL="571500" indent="-571500">
              <a:buAutoNum type="romanLcPeriod"/>
            </a:pPr>
            <a:r>
              <a:rPr lang="en-US" dirty="0"/>
              <a:t>Security Officers: Role and Responsibilities </a:t>
            </a:r>
          </a:p>
          <a:p>
            <a:pPr marL="571500" indent="-571500">
              <a:buAutoNum type="romanLcPeriod"/>
            </a:pPr>
            <a:r>
              <a:rPr lang="en-US" dirty="0"/>
              <a:t>Auditing and Compliance; State Auditor’s Role</a:t>
            </a:r>
            <a:endParaRPr lang="en-TZ" dirty="0"/>
          </a:p>
        </p:txBody>
      </p:sp>
    </p:spTree>
    <p:extLst>
      <p:ext uri="{BB962C8B-B14F-4D97-AF65-F5344CB8AC3E}">
        <p14:creationId xmlns:p14="http://schemas.microsoft.com/office/powerpoint/2010/main" val="179132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417F9A-86B9-A2D2-997F-47B7A3F96D35}"/>
              </a:ext>
            </a:extLst>
          </p:cNvPr>
          <p:cNvSpPr>
            <a:spLocks noGrp="1"/>
          </p:cNvSpPr>
          <p:nvPr>
            <p:ph idx="1"/>
          </p:nvPr>
        </p:nvSpPr>
        <p:spPr>
          <a:xfrm>
            <a:off x="838200" y="569626"/>
            <a:ext cx="10515600" cy="5607337"/>
          </a:xfrm>
        </p:spPr>
        <p:txBody>
          <a:bodyPr>
            <a:normAutofit/>
          </a:bodyPr>
          <a:lstStyle/>
          <a:p>
            <a:pPr marL="0" indent="0">
              <a:buNone/>
            </a:pPr>
            <a:r>
              <a:rPr lang="en-US" sz="3600" b="1" dirty="0"/>
              <a:t>Types of Information Security Policies</a:t>
            </a:r>
          </a:p>
          <a:p>
            <a:r>
              <a:rPr lang="en-US" sz="3600" dirty="0"/>
              <a:t>To differentiate among various kinds of policy, we categorize them into three basic types: </a:t>
            </a:r>
          </a:p>
          <a:p>
            <a:pPr marL="0" indent="0">
              <a:buNone/>
            </a:pPr>
            <a:r>
              <a:rPr lang="en-US" sz="3600" dirty="0"/>
              <a:t>• </a:t>
            </a:r>
            <a:r>
              <a:rPr lang="en-US" sz="3600" b="1" dirty="0"/>
              <a:t>Program policy </a:t>
            </a:r>
            <a:r>
              <a:rPr lang="en-US" sz="3600" dirty="0"/>
              <a:t>is used to create an organization’s computer security program. </a:t>
            </a:r>
          </a:p>
          <a:p>
            <a:pPr marL="0" indent="0">
              <a:buNone/>
            </a:pPr>
            <a:r>
              <a:rPr lang="en-US" sz="3600" dirty="0"/>
              <a:t>• </a:t>
            </a:r>
            <a:r>
              <a:rPr lang="en-US" sz="3600" b="1" dirty="0"/>
              <a:t>Issue specific policy </a:t>
            </a:r>
            <a:r>
              <a:rPr lang="en-US" sz="3600" dirty="0"/>
              <a:t>addresses specific issues of concern to the organization. </a:t>
            </a:r>
          </a:p>
          <a:p>
            <a:pPr marL="0" indent="0">
              <a:buNone/>
            </a:pPr>
            <a:r>
              <a:rPr lang="en-US" sz="3600" dirty="0"/>
              <a:t>• </a:t>
            </a:r>
            <a:r>
              <a:rPr lang="en-US" sz="3600" b="1" dirty="0"/>
              <a:t>System specific policy </a:t>
            </a:r>
            <a:r>
              <a:rPr lang="en-US" sz="3600" dirty="0"/>
              <a:t>focuses on decisions taken by the management to protect a particular system. </a:t>
            </a:r>
            <a:endParaRPr lang="en-TZ" sz="3600" dirty="0"/>
          </a:p>
        </p:txBody>
      </p:sp>
    </p:spTree>
    <p:extLst>
      <p:ext uri="{BB962C8B-B14F-4D97-AF65-F5344CB8AC3E}">
        <p14:creationId xmlns:p14="http://schemas.microsoft.com/office/powerpoint/2010/main" val="784123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2A9DF3-91E3-A3BD-A724-00D65109EE1C}"/>
              </a:ext>
            </a:extLst>
          </p:cNvPr>
          <p:cNvSpPr>
            <a:spLocks noGrp="1"/>
          </p:cNvSpPr>
          <p:nvPr>
            <p:ph idx="1"/>
          </p:nvPr>
        </p:nvSpPr>
        <p:spPr>
          <a:xfrm>
            <a:off x="389743" y="389744"/>
            <a:ext cx="11362545" cy="6041036"/>
          </a:xfrm>
        </p:spPr>
        <p:txBody>
          <a:bodyPr>
            <a:noAutofit/>
          </a:bodyPr>
          <a:lstStyle/>
          <a:p>
            <a:pPr marL="0" indent="0">
              <a:buNone/>
            </a:pPr>
            <a:r>
              <a:rPr lang="en-US" sz="3500" b="1" dirty="0"/>
              <a:t>Program Policy</a:t>
            </a:r>
            <a:r>
              <a:rPr lang="en-US" sz="3500" dirty="0"/>
              <a:t> </a:t>
            </a:r>
          </a:p>
          <a:p>
            <a:r>
              <a:rPr lang="en-US" sz="3500" dirty="0"/>
              <a:t>The senior management of an organization issues program policy to establish (or restructure) its computer security program and its basic structure. </a:t>
            </a:r>
          </a:p>
          <a:p>
            <a:r>
              <a:rPr lang="en-US" sz="3500" dirty="0"/>
              <a:t>This high-level policy defines the purpose of the program and its scope assigns responsibilities (to the computer security organization) for direct program implementation, as well as other responsibilities to related offices, and addresses compliance issues. </a:t>
            </a:r>
          </a:p>
          <a:p>
            <a:r>
              <a:rPr lang="en-US" sz="3500" dirty="0"/>
              <a:t>Program policy sets organizational strategic directions for security and assigns resources for its implementation.</a:t>
            </a:r>
            <a:endParaRPr lang="en-TZ" sz="3500" dirty="0"/>
          </a:p>
        </p:txBody>
      </p:sp>
    </p:spTree>
    <p:extLst>
      <p:ext uri="{BB962C8B-B14F-4D97-AF65-F5344CB8AC3E}">
        <p14:creationId xmlns:p14="http://schemas.microsoft.com/office/powerpoint/2010/main" val="600549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93EB7D-ED3A-C65F-43B2-B83A2AB0D011}"/>
              </a:ext>
            </a:extLst>
          </p:cNvPr>
          <p:cNvSpPr>
            <a:spLocks noGrp="1"/>
          </p:cNvSpPr>
          <p:nvPr>
            <p:ph idx="1"/>
          </p:nvPr>
        </p:nvSpPr>
        <p:spPr>
          <a:xfrm>
            <a:off x="838200" y="449705"/>
            <a:ext cx="10515600" cy="5727258"/>
          </a:xfrm>
        </p:spPr>
        <p:txBody>
          <a:bodyPr>
            <a:normAutofit/>
          </a:bodyPr>
          <a:lstStyle/>
          <a:p>
            <a:pPr marL="0" indent="0">
              <a:buNone/>
            </a:pPr>
            <a:r>
              <a:rPr lang="en-US" sz="4000" b="1" dirty="0"/>
              <a:t>Components of Program Policy</a:t>
            </a:r>
          </a:p>
          <a:p>
            <a:r>
              <a:rPr lang="en-US" sz="4000" b="1" dirty="0"/>
              <a:t>Purpose</a:t>
            </a:r>
            <a:r>
              <a:rPr lang="en-US" sz="4000" dirty="0"/>
              <a:t>: Program policy normally includes a statement describing why the program is being established. This includes defining the goals of the program. Security related needs, such as integrity, availability, and confidentiality, form the basis of organizational goals. The primary purpose of program-level policy is to establish the IT security program.</a:t>
            </a:r>
            <a:endParaRPr lang="en-TZ" sz="4000" dirty="0"/>
          </a:p>
        </p:txBody>
      </p:sp>
    </p:spTree>
    <p:extLst>
      <p:ext uri="{BB962C8B-B14F-4D97-AF65-F5344CB8AC3E}">
        <p14:creationId xmlns:p14="http://schemas.microsoft.com/office/powerpoint/2010/main" val="121050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5F0DB4-A0A4-6834-5349-7B7BFCDF984C}"/>
              </a:ext>
            </a:extLst>
          </p:cNvPr>
          <p:cNvSpPr>
            <a:spLocks noGrp="1"/>
          </p:cNvSpPr>
          <p:nvPr>
            <p:ph idx="1"/>
          </p:nvPr>
        </p:nvSpPr>
        <p:spPr>
          <a:xfrm>
            <a:off x="434715" y="269823"/>
            <a:ext cx="11287593" cy="6220917"/>
          </a:xfrm>
        </p:spPr>
        <p:txBody>
          <a:bodyPr>
            <a:noAutofit/>
          </a:bodyPr>
          <a:lstStyle/>
          <a:p>
            <a:r>
              <a:rPr lang="en-US" sz="3400" b="1" dirty="0"/>
              <a:t>Scope</a:t>
            </a:r>
            <a:r>
              <a:rPr lang="en-US" sz="3400" dirty="0"/>
              <a:t>: Program level policy should have sufficient breadth of scope to include all of the organization’s IT resources, including facilities, hardware, software, information, and personnel. In some instances, it may be appropriate for a policy to name specific assets, such as major sites, installations, and large systems. </a:t>
            </a:r>
          </a:p>
          <a:p>
            <a:r>
              <a:rPr lang="en-US" sz="3400" dirty="0"/>
              <a:t>In addition to such specified assets, it is important to include an overview of all the types of IT resources for which the organization is responsible, such as workstations, Local Area Networks (LANs), standalone microcomputers, etc. In some instances, it may be appropriate for an organization’s computer security program to be limited in scope.</a:t>
            </a:r>
            <a:endParaRPr lang="en-TZ" sz="3400" dirty="0"/>
          </a:p>
        </p:txBody>
      </p:sp>
    </p:spTree>
    <p:extLst>
      <p:ext uri="{BB962C8B-B14F-4D97-AF65-F5344CB8AC3E}">
        <p14:creationId xmlns:p14="http://schemas.microsoft.com/office/powerpoint/2010/main" val="4204719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F6624E-0823-6FCF-527F-65A99D6596EA}"/>
              </a:ext>
            </a:extLst>
          </p:cNvPr>
          <p:cNvSpPr>
            <a:spLocks noGrp="1"/>
          </p:cNvSpPr>
          <p:nvPr>
            <p:ph idx="1"/>
          </p:nvPr>
        </p:nvSpPr>
        <p:spPr>
          <a:xfrm>
            <a:off x="838200" y="599607"/>
            <a:ext cx="10515600" cy="5577356"/>
          </a:xfrm>
        </p:spPr>
        <p:txBody>
          <a:bodyPr>
            <a:normAutofit/>
          </a:bodyPr>
          <a:lstStyle/>
          <a:p>
            <a:r>
              <a:rPr lang="en-US" sz="4000" b="1" dirty="0"/>
              <a:t>Responsibilities</a:t>
            </a:r>
            <a:r>
              <a:rPr lang="en-US" sz="4000" dirty="0"/>
              <a:t>: Once the security program is established, its management is normally assigned to either a newly created or existing office. The responsibilities of officials and offices throughout the organization also need to be addressed; these include line managers, applications owners, users, data processing </a:t>
            </a:r>
            <a:r>
              <a:rPr lang="en-US" sz="4000" dirty="0" err="1"/>
              <a:t>centre</a:t>
            </a:r>
            <a:r>
              <a:rPr lang="en-US" sz="4000" dirty="0"/>
              <a:t> manager, and computer systems security group. </a:t>
            </a:r>
            <a:endParaRPr lang="en-TZ" sz="4000" dirty="0"/>
          </a:p>
        </p:txBody>
      </p:sp>
    </p:spTree>
    <p:extLst>
      <p:ext uri="{BB962C8B-B14F-4D97-AF65-F5344CB8AC3E}">
        <p14:creationId xmlns:p14="http://schemas.microsoft.com/office/powerpoint/2010/main" val="1258047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858735-A2C9-A2DB-562F-6D69988C509D}"/>
              </a:ext>
            </a:extLst>
          </p:cNvPr>
          <p:cNvSpPr>
            <a:spLocks noGrp="1"/>
          </p:cNvSpPr>
          <p:nvPr>
            <p:ph idx="1"/>
          </p:nvPr>
        </p:nvSpPr>
        <p:spPr>
          <a:xfrm>
            <a:off x="838200" y="569626"/>
            <a:ext cx="10515600" cy="5607337"/>
          </a:xfrm>
        </p:spPr>
        <p:txBody>
          <a:bodyPr>
            <a:normAutofit/>
          </a:bodyPr>
          <a:lstStyle/>
          <a:p>
            <a:r>
              <a:rPr lang="en-US" sz="3600" b="1" dirty="0"/>
              <a:t>Compliance: </a:t>
            </a:r>
            <a:r>
              <a:rPr lang="en-US" sz="3600" dirty="0"/>
              <a:t>Without a formal, documented information security policy it is not possible for the management to proceed with the development of enforcement standards and mechanisms. Program-level policy serves as the basis for enforcement by describing penalties and disciplinary actions that can result from failure to comply with the organization’s IT security requirements. Discipline commensurate with levels and types of security infractions should be discussed. </a:t>
            </a:r>
            <a:endParaRPr lang="en-TZ" sz="3600" dirty="0"/>
          </a:p>
        </p:txBody>
      </p:sp>
    </p:spTree>
    <p:extLst>
      <p:ext uri="{BB962C8B-B14F-4D97-AF65-F5344CB8AC3E}">
        <p14:creationId xmlns:p14="http://schemas.microsoft.com/office/powerpoint/2010/main" val="671917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445917-D9AF-B252-760B-0E9A70457ECC}"/>
              </a:ext>
            </a:extLst>
          </p:cNvPr>
          <p:cNvSpPr>
            <a:spLocks noGrp="1"/>
          </p:cNvSpPr>
          <p:nvPr>
            <p:ph idx="1"/>
          </p:nvPr>
        </p:nvSpPr>
        <p:spPr>
          <a:xfrm>
            <a:off x="838200" y="554636"/>
            <a:ext cx="10515600" cy="5622327"/>
          </a:xfrm>
        </p:spPr>
        <p:txBody>
          <a:bodyPr>
            <a:normAutofit lnSpcReduction="10000"/>
          </a:bodyPr>
          <a:lstStyle/>
          <a:p>
            <a:pPr marL="0" indent="0">
              <a:buNone/>
            </a:pPr>
            <a:r>
              <a:rPr lang="en-US" b="1" dirty="0"/>
              <a:t>Issue-Specific Policy</a:t>
            </a:r>
            <a:r>
              <a:rPr lang="en-US" dirty="0"/>
              <a:t> </a:t>
            </a:r>
          </a:p>
          <a:p>
            <a:r>
              <a:rPr lang="en-US" dirty="0"/>
              <a:t>Whereas program policy is intended to address the broad organization-wide computer security program, issue-specific policies focus on areas of current relevance and concern to an organization. </a:t>
            </a:r>
          </a:p>
          <a:p>
            <a:r>
              <a:rPr lang="en-US" dirty="0"/>
              <a:t>Management may find it appropriate, for example, to issue a policy on how the organization will approach contingency planning (centralized vs. decentralized) or the use of a particular methodology for managing risk to systems. </a:t>
            </a:r>
          </a:p>
          <a:p>
            <a:r>
              <a:rPr lang="en-US" dirty="0"/>
              <a:t>A policy could also be issued, for example, on the appropriate use of a leading-edge technology, whose security vulnerabilities are still largely unknown within the organization. Issue specific policies may also be appropriate when new issues arise, such as implementing a recently passed law requiring additional protection of particular information</a:t>
            </a:r>
            <a:endParaRPr lang="en-TZ" dirty="0"/>
          </a:p>
        </p:txBody>
      </p:sp>
    </p:spTree>
    <p:extLst>
      <p:ext uri="{BB962C8B-B14F-4D97-AF65-F5344CB8AC3E}">
        <p14:creationId xmlns:p14="http://schemas.microsoft.com/office/powerpoint/2010/main" val="2553252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37671B-358D-1B93-3FCC-3C3A3817ACE2}"/>
              </a:ext>
            </a:extLst>
          </p:cNvPr>
          <p:cNvSpPr>
            <a:spLocks noGrp="1"/>
          </p:cNvSpPr>
          <p:nvPr>
            <p:ph idx="1"/>
          </p:nvPr>
        </p:nvSpPr>
        <p:spPr>
          <a:xfrm>
            <a:off x="494675" y="389744"/>
            <a:ext cx="11197653" cy="5936105"/>
          </a:xfrm>
        </p:spPr>
        <p:txBody>
          <a:bodyPr>
            <a:noAutofit/>
          </a:bodyPr>
          <a:lstStyle/>
          <a:p>
            <a:pPr marL="0" indent="0">
              <a:buNone/>
            </a:pPr>
            <a:r>
              <a:rPr lang="en-US" sz="3500" b="1" dirty="0"/>
              <a:t>Components of Issue-Specific Policy</a:t>
            </a:r>
          </a:p>
          <a:p>
            <a:r>
              <a:rPr lang="en-US" sz="3500" b="1" dirty="0"/>
              <a:t>Issue Statement</a:t>
            </a:r>
            <a:r>
              <a:rPr lang="en-US" sz="3500" dirty="0"/>
              <a:t>: To formulate a policy on an issue, managers first must define the issue with any relevant terms, distinctions, and conditions. It is also often useful to specify the goal or justification for the policy which can be helpful for gaining compliance with the policy. </a:t>
            </a:r>
          </a:p>
          <a:p>
            <a:r>
              <a:rPr lang="en-US" sz="3500" b="1" dirty="0"/>
              <a:t>Statement of the Organization’s Position</a:t>
            </a:r>
            <a:r>
              <a:rPr lang="en-US" sz="3500" dirty="0"/>
              <a:t>: Once the issue is stated and related terms and conditions are defined, this section is used to clearly state the organization’s position (defined management’s decision) on the issue. </a:t>
            </a:r>
            <a:endParaRPr lang="en-TZ" sz="3500" dirty="0"/>
          </a:p>
        </p:txBody>
      </p:sp>
    </p:spTree>
    <p:extLst>
      <p:ext uri="{BB962C8B-B14F-4D97-AF65-F5344CB8AC3E}">
        <p14:creationId xmlns:p14="http://schemas.microsoft.com/office/powerpoint/2010/main" val="1260576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4B74CB-E949-21BD-C295-3AB0E35660B2}"/>
              </a:ext>
            </a:extLst>
          </p:cNvPr>
          <p:cNvSpPr>
            <a:spLocks noGrp="1"/>
          </p:cNvSpPr>
          <p:nvPr>
            <p:ph idx="1"/>
          </p:nvPr>
        </p:nvSpPr>
        <p:spPr>
          <a:xfrm>
            <a:off x="419725" y="389744"/>
            <a:ext cx="11317573" cy="6011056"/>
          </a:xfrm>
        </p:spPr>
        <p:txBody>
          <a:bodyPr>
            <a:normAutofit/>
          </a:bodyPr>
          <a:lstStyle/>
          <a:p>
            <a:r>
              <a:rPr lang="en-US" sz="3600" b="1" dirty="0"/>
              <a:t>Applicability:</a:t>
            </a:r>
            <a:r>
              <a:rPr lang="en-US" sz="3600" dirty="0"/>
              <a:t> Issue-specific policies also need to include statements of applicability. This means clarifying where, how, when, to whom, and to what a particular policy applies. </a:t>
            </a:r>
          </a:p>
          <a:p>
            <a:r>
              <a:rPr lang="en-US" sz="3600" b="1" dirty="0"/>
              <a:t>Roles and Responsibilities: </a:t>
            </a:r>
            <a:r>
              <a:rPr lang="en-US" sz="3600" dirty="0"/>
              <a:t>The assignment of roles and responsibilities is also usually included in issue-specific policies. For example, if the policy permits unofficial software privately owned by employees to be used at work with the appropriate approvals, then the approval authority granting such permission would need to be stated.</a:t>
            </a:r>
            <a:endParaRPr lang="en-TZ" sz="3600" dirty="0"/>
          </a:p>
        </p:txBody>
      </p:sp>
    </p:spTree>
    <p:extLst>
      <p:ext uri="{BB962C8B-B14F-4D97-AF65-F5344CB8AC3E}">
        <p14:creationId xmlns:p14="http://schemas.microsoft.com/office/powerpoint/2010/main" val="2780851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87D636-7399-33F8-2AB0-5D6350AAA7B8}"/>
              </a:ext>
            </a:extLst>
          </p:cNvPr>
          <p:cNvSpPr>
            <a:spLocks noGrp="1"/>
          </p:cNvSpPr>
          <p:nvPr>
            <p:ph idx="1"/>
          </p:nvPr>
        </p:nvSpPr>
        <p:spPr>
          <a:xfrm>
            <a:off x="479685" y="359764"/>
            <a:ext cx="11167672" cy="6026046"/>
          </a:xfrm>
        </p:spPr>
        <p:txBody>
          <a:bodyPr>
            <a:noAutofit/>
          </a:bodyPr>
          <a:lstStyle/>
          <a:p>
            <a:r>
              <a:rPr lang="en-US" sz="3600" b="1" dirty="0"/>
              <a:t>Compliance:</a:t>
            </a:r>
            <a:r>
              <a:rPr lang="en-US" sz="3600" dirty="0"/>
              <a:t> For some types of policy, it may be appropriate to describe, in some detail, the infractions that are unacceptable, and the consequences of such behavior. Penalties should be explicitly stated and be consistent with organizational personnel policies and practices.</a:t>
            </a:r>
          </a:p>
          <a:p>
            <a:r>
              <a:rPr lang="en-US" sz="3600" b="1" dirty="0"/>
              <a:t>Points of Contact</a:t>
            </a:r>
            <a:r>
              <a:rPr lang="en-US" sz="3600" dirty="0"/>
              <a:t>: For any issue-specific policy, the appropriate individuals in the organization to contact for further information, guidance, and compliance should be indicated. Since positions tend to change less often than the people occupying them, specific positions may be preferable as the point of contact.</a:t>
            </a:r>
            <a:endParaRPr lang="en-TZ" sz="3600" dirty="0"/>
          </a:p>
        </p:txBody>
      </p:sp>
    </p:spTree>
    <p:extLst>
      <p:ext uri="{BB962C8B-B14F-4D97-AF65-F5344CB8AC3E}">
        <p14:creationId xmlns:p14="http://schemas.microsoft.com/office/powerpoint/2010/main" val="3715747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F00658-9EC8-49B8-44A0-157456DA2F28}"/>
              </a:ext>
            </a:extLst>
          </p:cNvPr>
          <p:cNvSpPr>
            <a:spLocks noGrp="1"/>
          </p:cNvSpPr>
          <p:nvPr>
            <p:ph idx="1"/>
          </p:nvPr>
        </p:nvSpPr>
        <p:spPr>
          <a:xfrm>
            <a:off x="838200" y="494675"/>
            <a:ext cx="10515600" cy="5682288"/>
          </a:xfrm>
        </p:spPr>
        <p:txBody>
          <a:bodyPr>
            <a:normAutofit/>
          </a:bodyPr>
          <a:lstStyle/>
          <a:p>
            <a:pPr marL="0" indent="0">
              <a:buNone/>
            </a:pPr>
            <a:r>
              <a:rPr lang="en-US" sz="3600" b="1" dirty="0"/>
              <a:t>System-Specific Policy</a:t>
            </a:r>
            <a:r>
              <a:rPr lang="en-US" sz="3600" dirty="0"/>
              <a:t> </a:t>
            </a:r>
          </a:p>
          <a:p>
            <a:r>
              <a:rPr lang="en-US" sz="3600" dirty="0"/>
              <a:t>Program policy and issue-specific policy both address policy from a broad perspective, usually encompassing the entire organization. However, they do not provide sufficient information or direction that can be used , for example, for establishing an access control list or training users on what actions are permitted. System specific policy fills this need. It is very focused, since it addresses only one system.</a:t>
            </a:r>
            <a:endParaRPr lang="en-TZ" sz="3600" dirty="0"/>
          </a:p>
        </p:txBody>
      </p:sp>
    </p:spTree>
    <p:extLst>
      <p:ext uri="{BB962C8B-B14F-4D97-AF65-F5344CB8AC3E}">
        <p14:creationId xmlns:p14="http://schemas.microsoft.com/office/powerpoint/2010/main" val="2898841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946229-47EA-54A8-694D-695BA1F38ABA}"/>
              </a:ext>
            </a:extLst>
          </p:cNvPr>
          <p:cNvSpPr>
            <a:spLocks noGrp="1"/>
          </p:cNvSpPr>
          <p:nvPr>
            <p:ph idx="1"/>
          </p:nvPr>
        </p:nvSpPr>
        <p:spPr>
          <a:xfrm>
            <a:off x="509666" y="479684"/>
            <a:ext cx="11212642" cy="5921115"/>
          </a:xfrm>
        </p:spPr>
        <p:txBody>
          <a:bodyPr>
            <a:normAutofit/>
          </a:bodyPr>
          <a:lstStyle/>
          <a:p>
            <a:r>
              <a:rPr lang="en-US" sz="3200" dirty="0"/>
              <a:t>Many security policy decisions may apply only at the system level and vary from system to system within the same organization. While these decisions may appear to be too detailed to be policy, they are extremely important, for their significant impact on system usage and security. </a:t>
            </a:r>
          </a:p>
          <a:p>
            <a:r>
              <a:rPr lang="en-US" sz="3200" dirty="0"/>
              <a:t>These types of decisions can be made by a management official and not by a technical system administrator. The impact of these decisions, however, is often analyzed by technical system administrators. To develop a cohesive and comprehensive set of security policies, officials may use a management process that derives security rules from security goals</a:t>
            </a:r>
            <a:endParaRPr lang="en-TZ" sz="3200" dirty="0"/>
          </a:p>
        </p:txBody>
      </p:sp>
    </p:spTree>
    <p:extLst>
      <p:ext uri="{BB962C8B-B14F-4D97-AF65-F5344CB8AC3E}">
        <p14:creationId xmlns:p14="http://schemas.microsoft.com/office/powerpoint/2010/main" val="2459168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144083-5400-981D-8F86-0E1D0526F739}"/>
              </a:ext>
            </a:extLst>
          </p:cNvPr>
          <p:cNvSpPr>
            <a:spLocks noGrp="1"/>
          </p:cNvSpPr>
          <p:nvPr>
            <p:ph idx="1"/>
          </p:nvPr>
        </p:nvSpPr>
        <p:spPr>
          <a:xfrm>
            <a:off x="359764" y="239843"/>
            <a:ext cx="11572406" cy="6325849"/>
          </a:xfrm>
        </p:spPr>
        <p:txBody>
          <a:bodyPr>
            <a:normAutofit/>
          </a:bodyPr>
          <a:lstStyle/>
          <a:p>
            <a:pPr marL="0" indent="0" algn="l">
              <a:buNone/>
            </a:pPr>
            <a:r>
              <a:rPr lang="en-US" sz="3200" b="1" i="0" dirty="0">
                <a:solidFill>
                  <a:srgbClr val="444444"/>
                </a:solidFill>
                <a:effectLst/>
                <a:highlight>
                  <a:srgbClr val="FFFFFF"/>
                </a:highlight>
                <a:latin typeface="Nunito Sans" pitchFamily="2" charset="0"/>
              </a:rPr>
              <a:t>Information Standards – The “How Often/Much”</a:t>
            </a:r>
            <a:r>
              <a:rPr lang="en-US" sz="3200" b="0" i="0" dirty="0">
                <a:solidFill>
                  <a:srgbClr val="444444"/>
                </a:solidFill>
                <a:effectLst/>
                <a:highlight>
                  <a:srgbClr val="FFFFFF"/>
                </a:highlight>
                <a:latin typeface="Nunito Sans" pitchFamily="2" charset="0"/>
              </a:rPr>
              <a:t> </a:t>
            </a:r>
          </a:p>
          <a:p>
            <a:pPr algn="l"/>
            <a:r>
              <a:rPr lang="en-US" sz="3200" b="0" i="0" dirty="0">
                <a:solidFill>
                  <a:srgbClr val="444444"/>
                </a:solidFill>
                <a:effectLst/>
                <a:highlight>
                  <a:srgbClr val="FFFFFF"/>
                </a:highlight>
                <a:latin typeface="Nunito Sans" pitchFamily="2" charset="0"/>
              </a:rPr>
              <a:t>Standards go more in-depth and elaborate on the policies. Standards will specify details such as: </a:t>
            </a:r>
          </a:p>
          <a:p>
            <a:pPr algn="l">
              <a:buFont typeface="Arial" panose="020B0604020202020204" pitchFamily="34" charset="0"/>
              <a:buChar char="•"/>
            </a:pPr>
            <a:r>
              <a:rPr lang="en-US" sz="3200" b="0" i="0" dirty="0">
                <a:solidFill>
                  <a:srgbClr val="444444"/>
                </a:solidFill>
                <a:effectLst/>
                <a:highlight>
                  <a:srgbClr val="FFFFFF"/>
                </a:highlight>
                <a:latin typeface="Nunito Sans" pitchFamily="2" charset="0"/>
              </a:rPr>
              <a:t>Who will implement the standards </a:t>
            </a:r>
          </a:p>
          <a:p>
            <a:pPr algn="l">
              <a:buFont typeface="Arial" panose="020B0604020202020204" pitchFamily="34" charset="0"/>
              <a:buChar char="•"/>
            </a:pPr>
            <a:r>
              <a:rPr lang="en-US" sz="3200" b="0" i="0" dirty="0">
                <a:solidFill>
                  <a:srgbClr val="444444"/>
                </a:solidFill>
                <a:effectLst/>
                <a:highlight>
                  <a:srgbClr val="FFFFFF"/>
                </a:highlight>
                <a:latin typeface="Nunito Sans" pitchFamily="2" charset="0"/>
              </a:rPr>
              <a:t>Specific responsibilities of the associated departments </a:t>
            </a:r>
          </a:p>
          <a:p>
            <a:pPr algn="l">
              <a:buFont typeface="Arial" panose="020B0604020202020204" pitchFamily="34" charset="0"/>
              <a:buChar char="•"/>
            </a:pPr>
            <a:r>
              <a:rPr lang="en-US" sz="3200" b="0" i="0" dirty="0">
                <a:solidFill>
                  <a:srgbClr val="444444"/>
                </a:solidFill>
                <a:effectLst/>
                <a:highlight>
                  <a:srgbClr val="FFFFFF"/>
                </a:highlight>
                <a:latin typeface="Nunito Sans" pitchFamily="2" charset="0"/>
              </a:rPr>
              <a:t>Groups affected by the standard </a:t>
            </a:r>
          </a:p>
          <a:p>
            <a:pPr algn="l">
              <a:buFont typeface="Arial" panose="020B0604020202020204" pitchFamily="34" charset="0"/>
              <a:buChar char="•"/>
            </a:pPr>
            <a:r>
              <a:rPr lang="en-US" sz="3200" b="0" i="0" dirty="0">
                <a:solidFill>
                  <a:srgbClr val="444444"/>
                </a:solidFill>
                <a:effectLst/>
                <a:highlight>
                  <a:srgbClr val="FFFFFF"/>
                </a:highlight>
                <a:latin typeface="Nunito Sans" pitchFamily="2" charset="0"/>
              </a:rPr>
              <a:t>Who owns the individual standard </a:t>
            </a:r>
          </a:p>
          <a:p>
            <a:r>
              <a:rPr lang="en-US" sz="3200" b="0" i="0" dirty="0">
                <a:solidFill>
                  <a:srgbClr val="444444"/>
                </a:solidFill>
                <a:effectLst/>
                <a:highlight>
                  <a:srgbClr val="FFFFFF"/>
                </a:highlight>
                <a:latin typeface="Nunito Sans" pitchFamily="2" charset="0"/>
              </a:rPr>
              <a:t>Standards lay out specifics of how each control area fits into the overall information security program. For example, if a control framework you’re following requires specific steps around firewall settings or encryption measures, your standards will explain what you’re doing about those things. </a:t>
            </a:r>
            <a:endParaRPr lang="en-TZ" sz="3200" dirty="0"/>
          </a:p>
        </p:txBody>
      </p:sp>
    </p:spTree>
    <p:extLst>
      <p:ext uri="{BB962C8B-B14F-4D97-AF65-F5344CB8AC3E}">
        <p14:creationId xmlns:p14="http://schemas.microsoft.com/office/powerpoint/2010/main" val="34653879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E1559F-066A-FBE5-6FB3-45CCA70B2375}"/>
              </a:ext>
            </a:extLst>
          </p:cNvPr>
          <p:cNvSpPr>
            <a:spLocks noGrp="1"/>
          </p:cNvSpPr>
          <p:nvPr>
            <p:ph idx="1"/>
          </p:nvPr>
        </p:nvSpPr>
        <p:spPr>
          <a:xfrm>
            <a:off x="838200" y="449705"/>
            <a:ext cx="10515600" cy="5727258"/>
          </a:xfrm>
        </p:spPr>
        <p:txBody>
          <a:bodyPr>
            <a:normAutofit/>
          </a:bodyPr>
          <a:lstStyle/>
          <a:p>
            <a:pPr marL="0" indent="0" algn="l">
              <a:buNone/>
            </a:pPr>
            <a:r>
              <a:rPr lang="en-US" sz="3600" b="1" i="0" dirty="0">
                <a:solidFill>
                  <a:srgbClr val="444444"/>
                </a:solidFill>
                <a:effectLst/>
                <a:highlight>
                  <a:srgbClr val="FFFFFF"/>
                </a:highlight>
                <a:latin typeface="Nunito Sans" pitchFamily="2" charset="0"/>
              </a:rPr>
              <a:t>Information Procedures – The “How”</a:t>
            </a:r>
            <a:r>
              <a:rPr lang="en-US" sz="3600" b="0" i="0" dirty="0">
                <a:solidFill>
                  <a:srgbClr val="444444"/>
                </a:solidFill>
                <a:effectLst/>
                <a:highlight>
                  <a:srgbClr val="FFFFFF"/>
                </a:highlight>
                <a:latin typeface="Nunito Sans" pitchFamily="2" charset="0"/>
              </a:rPr>
              <a:t> </a:t>
            </a:r>
          </a:p>
          <a:p>
            <a:pPr algn="l"/>
            <a:r>
              <a:rPr lang="en-US" sz="3600" b="0" i="0" dirty="0">
                <a:solidFill>
                  <a:srgbClr val="444444"/>
                </a:solidFill>
                <a:effectLst/>
                <a:highlight>
                  <a:srgbClr val="FFFFFF"/>
                </a:highlight>
                <a:latin typeface="Nunito Sans" pitchFamily="2" charset="0"/>
              </a:rPr>
              <a:t>Procedures are the step-by-step instructions for fulfilling the policies and standards. For every control area your policy covers, you should have corresponding procedures explaining how the organization will carry out that policy. </a:t>
            </a:r>
          </a:p>
          <a:p>
            <a:pPr algn="l"/>
            <a:r>
              <a:rPr lang="en-US" sz="3600" b="1" i="0" dirty="0">
                <a:solidFill>
                  <a:srgbClr val="333333"/>
                </a:solidFill>
                <a:effectLst/>
                <a:highlight>
                  <a:srgbClr val="FFFFFF"/>
                </a:highlight>
                <a:latin typeface="Nunito Sans" pitchFamily="2" charset="0"/>
              </a:rPr>
              <a:t>Procedures turn policies and standards into tangible action steps. </a:t>
            </a:r>
            <a:r>
              <a:rPr lang="en-US" sz="3600" b="0" i="0" dirty="0">
                <a:solidFill>
                  <a:srgbClr val="444444"/>
                </a:solidFill>
                <a:effectLst/>
                <a:highlight>
                  <a:srgbClr val="FFFFFF"/>
                </a:highlight>
                <a:latin typeface="Nunito Sans" pitchFamily="2" charset="0"/>
              </a:rPr>
              <a:t>In procedures, the business should call out specific employees and technologies that carry out each procedure.</a:t>
            </a:r>
          </a:p>
          <a:p>
            <a:endParaRPr lang="en-TZ" sz="3600" dirty="0"/>
          </a:p>
        </p:txBody>
      </p:sp>
    </p:spTree>
    <p:extLst>
      <p:ext uri="{BB962C8B-B14F-4D97-AF65-F5344CB8AC3E}">
        <p14:creationId xmlns:p14="http://schemas.microsoft.com/office/powerpoint/2010/main" val="625719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DF5E88-D2DE-D236-C956-06C7FF961948}"/>
              </a:ext>
            </a:extLst>
          </p:cNvPr>
          <p:cNvSpPr>
            <a:spLocks noGrp="1"/>
          </p:cNvSpPr>
          <p:nvPr>
            <p:ph idx="1"/>
          </p:nvPr>
        </p:nvSpPr>
        <p:spPr>
          <a:xfrm>
            <a:off x="449705" y="344774"/>
            <a:ext cx="11287593" cy="6086006"/>
          </a:xfrm>
        </p:spPr>
        <p:txBody>
          <a:bodyPr>
            <a:noAutofit/>
          </a:bodyPr>
          <a:lstStyle/>
          <a:p>
            <a:pPr marL="0" indent="0" algn="l">
              <a:buNone/>
            </a:pPr>
            <a:r>
              <a:rPr lang="en-US" sz="3200" b="1" i="0" dirty="0">
                <a:solidFill>
                  <a:srgbClr val="444444"/>
                </a:solidFill>
                <a:effectLst/>
                <a:highlight>
                  <a:srgbClr val="FFFFFF"/>
                </a:highlight>
                <a:latin typeface="Nunito Sans" pitchFamily="2" charset="0"/>
              </a:rPr>
              <a:t>5 Situations Where Your Work on Policies/Standards/Procedures Pays Off </a:t>
            </a:r>
          </a:p>
          <a:p>
            <a:pPr algn="l">
              <a:buFont typeface="+mj-lt"/>
              <a:buAutoNum type="arabicPeriod"/>
            </a:pPr>
            <a:r>
              <a:rPr lang="en-US" sz="3200" b="1" i="0" dirty="0">
                <a:solidFill>
                  <a:srgbClr val="333333"/>
                </a:solidFill>
                <a:effectLst/>
                <a:highlight>
                  <a:srgbClr val="FFFFFF"/>
                </a:highlight>
                <a:latin typeface="Nunito Sans" pitchFamily="2" charset="0"/>
              </a:rPr>
              <a:t>You experience a breach</a:t>
            </a:r>
            <a:r>
              <a:rPr lang="en-US" sz="3200" b="0" i="0" dirty="0">
                <a:solidFill>
                  <a:srgbClr val="444444"/>
                </a:solidFill>
                <a:effectLst/>
                <a:highlight>
                  <a:srgbClr val="FFFFFF"/>
                </a:highlight>
                <a:latin typeface="Nunito Sans" pitchFamily="2" charset="0"/>
              </a:rPr>
              <a:t> – Your Incident Response plan and Business Continuity/Disaster Recovery plans will help limit the damage and restore your operations as quickly as possible.</a:t>
            </a:r>
          </a:p>
          <a:p>
            <a:pPr algn="l">
              <a:buFont typeface="+mj-lt"/>
              <a:buAutoNum type="arabicPeriod"/>
            </a:pPr>
            <a:r>
              <a:rPr lang="en-US" sz="3200" b="1" i="0" dirty="0">
                <a:solidFill>
                  <a:srgbClr val="333333"/>
                </a:solidFill>
                <a:effectLst/>
                <a:highlight>
                  <a:srgbClr val="FFFFFF"/>
                </a:highlight>
                <a:latin typeface="Nunito Sans" pitchFamily="2" charset="0"/>
              </a:rPr>
              <a:t>You have to discipline/dismiss an employee for inappropriate use of technology</a:t>
            </a:r>
            <a:r>
              <a:rPr lang="en-US" sz="3200" b="0" i="0" dirty="0">
                <a:solidFill>
                  <a:srgbClr val="444444"/>
                </a:solidFill>
                <a:effectLst/>
                <a:highlight>
                  <a:srgbClr val="FFFFFF"/>
                </a:highlight>
                <a:latin typeface="Nunito Sans" pitchFamily="2" charset="0"/>
              </a:rPr>
              <a:t> – Your Acceptable Use Policy, which you had each employee sign on their first day, lets you enforce the rules.  </a:t>
            </a:r>
          </a:p>
          <a:p>
            <a:pPr algn="l">
              <a:buFont typeface="+mj-lt"/>
              <a:buAutoNum type="arabicPeriod"/>
            </a:pPr>
            <a:r>
              <a:rPr lang="en-US" sz="3200" b="1" i="0" dirty="0">
                <a:solidFill>
                  <a:srgbClr val="333333"/>
                </a:solidFill>
                <a:effectLst/>
                <a:highlight>
                  <a:srgbClr val="FFFFFF"/>
                </a:highlight>
                <a:latin typeface="Nunito Sans" pitchFamily="2" charset="0"/>
              </a:rPr>
              <a:t>Vendors demand evidence of your security program –</a:t>
            </a:r>
            <a:r>
              <a:rPr lang="en-US" sz="3200" b="0" i="0" dirty="0">
                <a:solidFill>
                  <a:srgbClr val="444444"/>
                </a:solidFill>
                <a:effectLst/>
                <a:highlight>
                  <a:srgbClr val="FFFFFF"/>
                </a:highlight>
                <a:latin typeface="Nunito Sans" pitchFamily="2" charset="0"/>
              </a:rPr>
              <a:t> You can share a wide variety of documents to show that you take security seriously at all levels of the organization.</a:t>
            </a:r>
          </a:p>
          <a:p>
            <a:endParaRPr lang="en-TZ" sz="3200" dirty="0"/>
          </a:p>
        </p:txBody>
      </p:sp>
    </p:spTree>
    <p:extLst>
      <p:ext uri="{BB962C8B-B14F-4D97-AF65-F5344CB8AC3E}">
        <p14:creationId xmlns:p14="http://schemas.microsoft.com/office/powerpoint/2010/main" val="2897912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F95AB6-9716-8B28-6B69-7E762D2F676C}"/>
              </a:ext>
            </a:extLst>
          </p:cNvPr>
          <p:cNvSpPr>
            <a:spLocks noGrp="1"/>
          </p:cNvSpPr>
          <p:nvPr>
            <p:ph idx="1"/>
          </p:nvPr>
        </p:nvSpPr>
        <p:spPr>
          <a:xfrm>
            <a:off x="838200" y="1259174"/>
            <a:ext cx="10515600" cy="4917789"/>
          </a:xfrm>
        </p:spPr>
        <p:txBody>
          <a:bodyPr>
            <a:noAutofit/>
          </a:bodyPr>
          <a:lstStyle/>
          <a:p>
            <a:pPr marL="0" indent="0" algn="l">
              <a:buNone/>
            </a:pPr>
            <a:r>
              <a:rPr lang="en-US" sz="3600" b="1" i="0" dirty="0">
                <a:solidFill>
                  <a:srgbClr val="333333"/>
                </a:solidFill>
                <a:effectLst/>
                <a:highlight>
                  <a:srgbClr val="FFFFFF"/>
                </a:highlight>
                <a:latin typeface="Nunito Sans" pitchFamily="2" charset="0"/>
              </a:rPr>
              <a:t>4.A user accidentally gives their credentials to a hacker</a:t>
            </a:r>
            <a:r>
              <a:rPr lang="en-US" sz="3600" b="0" i="0" dirty="0">
                <a:solidFill>
                  <a:srgbClr val="444444"/>
                </a:solidFill>
                <a:effectLst/>
                <a:highlight>
                  <a:srgbClr val="FFFFFF"/>
                </a:highlight>
                <a:latin typeface="Nunito Sans" pitchFamily="2" charset="0"/>
              </a:rPr>
              <a:t> – A solid Access Authorization/Identity Access Management policy limits each user’s data access, limiting how much a hacker can pivot within the system.  </a:t>
            </a:r>
          </a:p>
          <a:p>
            <a:pPr marL="0" indent="0" algn="l">
              <a:buNone/>
            </a:pPr>
            <a:r>
              <a:rPr lang="en-US" sz="3600" b="1" i="0" dirty="0">
                <a:solidFill>
                  <a:srgbClr val="333333"/>
                </a:solidFill>
                <a:effectLst/>
                <a:highlight>
                  <a:srgbClr val="FFFFFF"/>
                </a:highlight>
                <a:latin typeface="Nunito Sans" pitchFamily="2" charset="0"/>
              </a:rPr>
              <a:t>5.An entry-level employee makes a bad choice on a firewall setting –</a:t>
            </a:r>
            <a:r>
              <a:rPr lang="en-US" sz="3600" b="0" i="0" dirty="0">
                <a:solidFill>
                  <a:srgbClr val="444444"/>
                </a:solidFill>
                <a:effectLst/>
                <a:highlight>
                  <a:srgbClr val="FFFFFF"/>
                </a:highlight>
                <a:latin typeface="Nunito Sans" pitchFamily="2" charset="0"/>
              </a:rPr>
              <a:t> Your Change Management policy builds in reviews to catch unintended consequences in time. </a:t>
            </a:r>
          </a:p>
          <a:p>
            <a:endParaRPr lang="en-TZ" sz="3600" dirty="0"/>
          </a:p>
        </p:txBody>
      </p:sp>
    </p:spTree>
    <p:extLst>
      <p:ext uri="{BB962C8B-B14F-4D97-AF65-F5344CB8AC3E}">
        <p14:creationId xmlns:p14="http://schemas.microsoft.com/office/powerpoint/2010/main" val="32717319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801FFC-F5F9-A536-F047-4DF24456B6FB}"/>
              </a:ext>
            </a:extLst>
          </p:cNvPr>
          <p:cNvSpPr>
            <a:spLocks noGrp="1"/>
          </p:cNvSpPr>
          <p:nvPr>
            <p:ph idx="1"/>
          </p:nvPr>
        </p:nvSpPr>
        <p:spPr>
          <a:xfrm>
            <a:off x="419725" y="314793"/>
            <a:ext cx="11362544" cy="6160957"/>
          </a:xfrm>
        </p:spPr>
        <p:txBody>
          <a:bodyPr>
            <a:normAutofit/>
          </a:bodyPr>
          <a:lstStyle/>
          <a:p>
            <a:pPr marL="0" indent="0">
              <a:buNone/>
            </a:pPr>
            <a:r>
              <a:rPr lang="en-US" sz="32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Generally accepted practices</a:t>
            </a:r>
          </a:p>
          <a:p>
            <a:pPr algn="l">
              <a:buFont typeface="Arial" panose="020B0604020202020204" pitchFamily="34" charset="0"/>
              <a:buChar char="•"/>
            </a:pPr>
            <a:r>
              <a:rPr lang="en-US" sz="3200" b="1" i="0" dirty="0">
                <a:solidFill>
                  <a:srgbClr val="111111"/>
                </a:solidFill>
                <a:effectLst/>
                <a:highlight>
                  <a:srgbClr val="F3F3F3"/>
                </a:highlight>
                <a:latin typeface="Times New Roman" panose="02020603050405020304" pitchFamily="18" charset="0"/>
                <a:cs typeface="Times New Roman" panose="02020603050405020304" pitchFamily="18" charset="0"/>
              </a:rPr>
              <a:t>Policy</a:t>
            </a:r>
            <a:r>
              <a:rPr lang="en-US" sz="3200" b="0" i="0" dirty="0">
                <a:solidFill>
                  <a:srgbClr val="111111"/>
                </a:solidFill>
                <a:effectLst/>
                <a:highlight>
                  <a:srgbClr val="F3F3F3"/>
                </a:highlight>
                <a:latin typeface="Times New Roman" panose="02020603050405020304" pitchFamily="18" charset="0"/>
                <a:cs typeface="Times New Roman" panose="02020603050405020304" pitchFamily="18" charset="0"/>
              </a:rPr>
              <a:t>: Develop program, issue-specific, and system-specific policies.</a:t>
            </a:r>
          </a:p>
          <a:p>
            <a:pPr algn="l">
              <a:buFont typeface="Arial" panose="020B0604020202020204" pitchFamily="34" charset="0"/>
              <a:buChar char="•"/>
            </a:pPr>
            <a:r>
              <a:rPr lang="en-US" sz="3200" b="1" i="0" dirty="0">
                <a:solidFill>
                  <a:srgbClr val="111111"/>
                </a:solidFill>
                <a:effectLst/>
                <a:highlight>
                  <a:srgbClr val="F3F3F3"/>
                </a:highlight>
                <a:latin typeface="Times New Roman" panose="02020603050405020304" pitchFamily="18" charset="0"/>
                <a:cs typeface="Times New Roman" panose="02020603050405020304" pitchFamily="18" charset="0"/>
              </a:rPr>
              <a:t>Program Management</a:t>
            </a:r>
            <a:r>
              <a:rPr lang="en-US" sz="3200" b="0" i="0" dirty="0">
                <a:solidFill>
                  <a:srgbClr val="111111"/>
                </a:solidFill>
                <a:effectLst/>
                <a:highlight>
                  <a:srgbClr val="F3F3F3"/>
                </a:highlight>
                <a:latin typeface="Times New Roman" panose="02020603050405020304" pitchFamily="18" charset="0"/>
                <a:cs typeface="Times New Roman" panose="02020603050405020304" pitchFamily="18" charset="0"/>
              </a:rPr>
              <a:t>: Establish central and system-level security programs.</a:t>
            </a:r>
          </a:p>
          <a:p>
            <a:pPr algn="l">
              <a:buFont typeface="Arial" panose="020B0604020202020204" pitchFamily="34" charset="0"/>
              <a:buChar char="•"/>
            </a:pPr>
            <a:r>
              <a:rPr lang="en-US" sz="3200" b="1" i="0" dirty="0">
                <a:solidFill>
                  <a:srgbClr val="111111"/>
                </a:solidFill>
                <a:effectLst/>
                <a:highlight>
                  <a:srgbClr val="F3F3F3"/>
                </a:highlight>
                <a:latin typeface="Times New Roman" panose="02020603050405020304" pitchFamily="18" charset="0"/>
                <a:cs typeface="Times New Roman" panose="02020603050405020304" pitchFamily="18" charset="0"/>
              </a:rPr>
              <a:t>Risk Management</a:t>
            </a:r>
            <a:r>
              <a:rPr lang="en-US" sz="3200" b="0" i="0" dirty="0">
                <a:solidFill>
                  <a:srgbClr val="111111"/>
                </a:solidFill>
                <a:effectLst/>
                <a:highlight>
                  <a:srgbClr val="F3F3F3"/>
                </a:highlight>
                <a:latin typeface="Times New Roman" panose="02020603050405020304" pitchFamily="18" charset="0"/>
                <a:cs typeface="Times New Roman" panose="02020603050405020304" pitchFamily="18" charset="0"/>
              </a:rPr>
              <a:t>: Conduct risk assessments, mitigate risks, and analyze uncertainties.</a:t>
            </a:r>
          </a:p>
          <a:p>
            <a:pPr algn="l">
              <a:buFont typeface="Arial" panose="020B0604020202020204" pitchFamily="34" charset="0"/>
              <a:buChar char="•"/>
            </a:pPr>
            <a:r>
              <a:rPr lang="en-US" sz="3200" b="1" i="0" dirty="0">
                <a:solidFill>
                  <a:srgbClr val="111111"/>
                </a:solidFill>
                <a:effectLst/>
                <a:highlight>
                  <a:srgbClr val="F3F3F3"/>
                </a:highlight>
                <a:latin typeface="Times New Roman" panose="02020603050405020304" pitchFamily="18" charset="0"/>
                <a:cs typeface="Times New Roman" panose="02020603050405020304" pitchFamily="18" charset="0"/>
              </a:rPr>
              <a:t>Life Cycle Planning</a:t>
            </a:r>
            <a:r>
              <a:rPr lang="en-US" sz="3200" b="0" i="0" dirty="0">
                <a:solidFill>
                  <a:srgbClr val="111111"/>
                </a:solidFill>
                <a:effectLst/>
                <a:highlight>
                  <a:srgbClr val="F3F3F3"/>
                </a:highlight>
                <a:latin typeface="Times New Roman" panose="02020603050405020304" pitchFamily="18" charset="0"/>
                <a:cs typeface="Times New Roman" panose="02020603050405020304" pitchFamily="18" charset="0"/>
              </a:rPr>
              <a:t>: Address security throughout the system life cycle (initiation, development/acquisition, implementation, operation/maintenance, and disposal phases).</a:t>
            </a:r>
          </a:p>
          <a:p>
            <a:pPr algn="l">
              <a:buFont typeface="Arial" panose="020B0604020202020204" pitchFamily="34" charset="0"/>
              <a:buChar char="•"/>
            </a:pPr>
            <a:r>
              <a:rPr lang="en-US" sz="3200" b="1" i="0" dirty="0">
                <a:solidFill>
                  <a:srgbClr val="111111"/>
                </a:solidFill>
                <a:effectLst/>
                <a:highlight>
                  <a:srgbClr val="F3F3F3"/>
                </a:highlight>
                <a:latin typeface="Times New Roman" panose="02020603050405020304" pitchFamily="18" charset="0"/>
                <a:cs typeface="Times New Roman" panose="02020603050405020304" pitchFamily="18" charset="0"/>
              </a:rPr>
              <a:t>Personnel/User Issues</a:t>
            </a:r>
            <a:r>
              <a:rPr lang="en-US" sz="3200" b="0" i="0" dirty="0">
                <a:solidFill>
                  <a:srgbClr val="111111"/>
                </a:solidFill>
                <a:effectLst/>
                <a:highlight>
                  <a:srgbClr val="F3F3F3"/>
                </a:highlight>
                <a:latin typeface="Times New Roman" panose="02020603050405020304" pitchFamily="18" charset="0"/>
                <a:cs typeface="Times New Roman" panose="02020603050405020304" pitchFamily="18" charset="0"/>
              </a:rPr>
              <a:t>: Address staffing and user-related security concerns.</a:t>
            </a:r>
          </a:p>
          <a:p>
            <a:pPr algn="l">
              <a:buFont typeface="Arial" panose="020B0604020202020204" pitchFamily="34" charset="0"/>
              <a:buChar char="•"/>
            </a:pPr>
            <a:endParaRPr lang="en-US" sz="3200" b="0" i="0" dirty="0">
              <a:solidFill>
                <a:srgbClr val="111111"/>
              </a:solidFill>
              <a:effectLst/>
              <a:highlight>
                <a:srgbClr val="F3F3F3"/>
              </a:highlight>
              <a:latin typeface="Times New Roman" panose="02020603050405020304" pitchFamily="18" charset="0"/>
              <a:cs typeface="Times New Roman" panose="02020603050405020304" pitchFamily="18" charset="0"/>
            </a:endParaRPr>
          </a:p>
          <a:p>
            <a:endParaRPr lang="en-TZ"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24799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7929F-761E-05A4-4BD2-54CCAC894022}"/>
              </a:ext>
            </a:extLst>
          </p:cNvPr>
          <p:cNvSpPr>
            <a:spLocks noGrp="1"/>
          </p:cNvSpPr>
          <p:nvPr>
            <p:ph type="title"/>
          </p:nvPr>
        </p:nvSpPr>
        <p:spPr>
          <a:xfrm>
            <a:off x="838200" y="365126"/>
            <a:ext cx="10515600" cy="1043950"/>
          </a:xfrm>
        </p:spPr>
        <p:txBody>
          <a:bodyPr>
            <a:noAutofit/>
          </a:bodyPr>
          <a:lstStyle/>
          <a:p>
            <a:r>
              <a:rPr lang="en-US" sz="3200" b="1" u="none" strike="noStrike" dirty="0">
                <a:solidFill>
                  <a:srgbClr val="000000"/>
                </a:solidFill>
                <a:effectLst/>
                <a:latin typeface="Times New Roman" panose="02020603050405020304" pitchFamily="18" charset="0"/>
                <a:ea typeface="Times New Roman" panose="02020603050405020304" pitchFamily="18" charset="0"/>
              </a:rPr>
              <a:t>Logical access controls for the identification, authentication and restriction of users to authorize functions and data</a:t>
            </a:r>
            <a:endParaRPr lang="en-TZ" sz="3200" b="1" dirty="0"/>
          </a:p>
        </p:txBody>
      </p:sp>
      <p:sp>
        <p:nvSpPr>
          <p:cNvPr id="3" name="Content Placeholder 2">
            <a:extLst>
              <a:ext uri="{FF2B5EF4-FFF2-40B4-BE49-F238E27FC236}">
                <a16:creationId xmlns:a16="http://schemas.microsoft.com/office/drawing/2014/main" id="{7A5CBB92-B5AC-6505-67A0-0874ED44B135}"/>
              </a:ext>
            </a:extLst>
          </p:cNvPr>
          <p:cNvSpPr>
            <a:spLocks noGrp="1"/>
          </p:cNvSpPr>
          <p:nvPr>
            <p:ph idx="1"/>
          </p:nvPr>
        </p:nvSpPr>
        <p:spPr>
          <a:xfrm>
            <a:off x="374753" y="1573966"/>
            <a:ext cx="11422505" cy="4918907"/>
          </a:xfrm>
        </p:spPr>
        <p:txBody>
          <a:bodyPr>
            <a:noAutofit/>
          </a:bodyPr>
          <a:lstStyle/>
          <a:p>
            <a:r>
              <a:rPr lang="en-US" sz="3600" b="0" i="0" dirty="0">
                <a:solidFill>
                  <a:srgbClr val="202122"/>
                </a:solidFill>
                <a:effectLst/>
                <a:highlight>
                  <a:srgbClr val="FFFFFF"/>
                </a:highlight>
                <a:latin typeface="Arial" panose="020B0604020202020204" pitchFamily="34" charset="0"/>
              </a:rPr>
              <a:t>In </a:t>
            </a:r>
            <a:r>
              <a:rPr lang="en-US" sz="3600" b="0" i="0" u="none" strike="noStrike" dirty="0">
                <a:effectLst/>
                <a:highlight>
                  <a:srgbClr val="FFFFFF"/>
                </a:highlight>
                <a:latin typeface="Arial" panose="020B0604020202020204" pitchFamily="34" charset="0"/>
              </a:rPr>
              <a:t>computers</a:t>
            </a:r>
            <a:r>
              <a:rPr lang="en-US" sz="3600" b="0" i="0" dirty="0">
                <a:solidFill>
                  <a:srgbClr val="202122"/>
                </a:solidFill>
                <a:effectLst/>
                <a:highlight>
                  <a:srgbClr val="FFFFFF"/>
                </a:highlight>
                <a:latin typeface="Arial" panose="020B0604020202020204" pitchFamily="34" charset="0"/>
              </a:rPr>
              <a:t>, </a:t>
            </a:r>
            <a:r>
              <a:rPr lang="en-US" sz="3600" b="1" i="0" dirty="0">
                <a:solidFill>
                  <a:srgbClr val="202122"/>
                </a:solidFill>
                <a:effectLst/>
                <a:highlight>
                  <a:srgbClr val="FFFFFF"/>
                </a:highlight>
                <a:latin typeface="Arial" panose="020B0604020202020204" pitchFamily="34" charset="0"/>
              </a:rPr>
              <a:t>logical access controls</a:t>
            </a:r>
            <a:r>
              <a:rPr lang="en-US" sz="3600" b="0" i="0" dirty="0">
                <a:solidFill>
                  <a:srgbClr val="202122"/>
                </a:solidFill>
                <a:effectLst/>
                <a:highlight>
                  <a:srgbClr val="FFFFFF"/>
                </a:highlight>
                <a:latin typeface="Arial" panose="020B0604020202020204" pitchFamily="34" charset="0"/>
              </a:rPr>
              <a:t> are tools and protocols used for identification, authentication, authorization, and accountability in computer information systems. </a:t>
            </a:r>
          </a:p>
          <a:p>
            <a:r>
              <a:rPr lang="en-US" sz="3600" b="0" i="0" dirty="0">
                <a:solidFill>
                  <a:srgbClr val="202122"/>
                </a:solidFill>
                <a:effectLst/>
                <a:highlight>
                  <a:srgbClr val="FFFFFF"/>
                </a:highlight>
                <a:latin typeface="Arial" panose="020B0604020202020204" pitchFamily="34" charset="0"/>
              </a:rPr>
              <a:t>Logical access is often needed for remote access of hardware and is often contrasted with the term "physical access", which refers to interactions (such as a lock and key) with hardware in the physical environment, where equipment is stored and used.</a:t>
            </a:r>
            <a:endParaRPr lang="en-TZ" sz="3600" dirty="0"/>
          </a:p>
        </p:txBody>
      </p:sp>
    </p:spTree>
    <p:extLst>
      <p:ext uri="{BB962C8B-B14F-4D97-AF65-F5344CB8AC3E}">
        <p14:creationId xmlns:p14="http://schemas.microsoft.com/office/powerpoint/2010/main" val="28671504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9FD3A6-FF6D-A449-0F20-EB81A19D6F56}"/>
              </a:ext>
            </a:extLst>
          </p:cNvPr>
          <p:cNvSpPr>
            <a:spLocks noGrp="1"/>
          </p:cNvSpPr>
          <p:nvPr>
            <p:ph idx="1"/>
          </p:nvPr>
        </p:nvSpPr>
        <p:spPr>
          <a:xfrm>
            <a:off x="404733" y="329784"/>
            <a:ext cx="11362545" cy="6145967"/>
          </a:xfrm>
        </p:spPr>
        <p:txBody>
          <a:bodyPr>
            <a:normAutofit/>
          </a:bodyPr>
          <a:lstStyle/>
          <a:p>
            <a:pPr marL="0" indent="0">
              <a:buNone/>
            </a:pPr>
            <a:r>
              <a:rPr lang="en-US" sz="3000" b="1" i="0" dirty="0">
                <a:effectLst/>
                <a:highlight>
                  <a:srgbClr val="FFFFFF"/>
                </a:highlight>
                <a:latin typeface="Linux Libertine"/>
              </a:rPr>
              <a:t>Models</a:t>
            </a:r>
          </a:p>
          <a:p>
            <a:pPr algn="l"/>
            <a:r>
              <a:rPr lang="en-US" sz="3000" b="0" i="0" dirty="0">
                <a:solidFill>
                  <a:srgbClr val="202122"/>
                </a:solidFill>
                <a:effectLst/>
                <a:highlight>
                  <a:srgbClr val="FFFFFF"/>
                </a:highlight>
                <a:latin typeface="Arial" panose="020B0604020202020204" pitchFamily="34" charset="0"/>
              </a:rPr>
              <a:t>Logical access controls enforce access control measures for systems, programs, processes, and information. The controls can be embedded within operating systems, applications, add-on security packages, or database and telecommunication management systems.</a:t>
            </a:r>
          </a:p>
          <a:p>
            <a:pPr algn="l"/>
            <a:r>
              <a:rPr lang="en-US" sz="3000" b="0" i="0" dirty="0">
                <a:solidFill>
                  <a:srgbClr val="202122"/>
                </a:solidFill>
                <a:effectLst/>
                <a:highlight>
                  <a:srgbClr val="FFFFFF"/>
                </a:highlight>
                <a:latin typeface="Arial" panose="020B0604020202020204" pitchFamily="34" charset="0"/>
              </a:rPr>
              <a:t>The line between logical access and physical access can be blurred when physical access is controlled by software. For example, entry to a room may be controlled by a chip and PIN card and an electronic lock controlled by software. Only those in possession of an appropriate card, with an appropriate security level and with knowledge of the PIN are permitted entry to the room. On swiping the card into a card reader and entering the correct PIN code.</a:t>
            </a:r>
          </a:p>
          <a:p>
            <a:endParaRPr lang="en-US" sz="3000" b="0" i="0" dirty="0">
              <a:effectLst/>
              <a:highlight>
                <a:srgbClr val="FFFFFF"/>
              </a:highlight>
              <a:latin typeface="Linux Libertine"/>
            </a:endParaRPr>
          </a:p>
          <a:p>
            <a:endParaRPr lang="en-TZ" sz="3000" dirty="0"/>
          </a:p>
        </p:txBody>
      </p:sp>
    </p:spTree>
    <p:extLst>
      <p:ext uri="{BB962C8B-B14F-4D97-AF65-F5344CB8AC3E}">
        <p14:creationId xmlns:p14="http://schemas.microsoft.com/office/powerpoint/2010/main" val="3469053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14173B-756C-B128-D038-78F919789F05}"/>
              </a:ext>
            </a:extLst>
          </p:cNvPr>
          <p:cNvSpPr>
            <a:spLocks noGrp="1"/>
          </p:cNvSpPr>
          <p:nvPr>
            <p:ph idx="1"/>
          </p:nvPr>
        </p:nvSpPr>
        <p:spPr>
          <a:xfrm>
            <a:off x="374753" y="329784"/>
            <a:ext cx="11407515" cy="6160957"/>
          </a:xfrm>
        </p:spPr>
        <p:txBody>
          <a:bodyPr>
            <a:normAutofit/>
          </a:bodyPr>
          <a:lstStyle/>
          <a:p>
            <a:r>
              <a:rPr lang="en-US" sz="3000" b="0" i="0" dirty="0">
                <a:solidFill>
                  <a:srgbClr val="202122"/>
                </a:solidFill>
                <a:effectLst/>
                <a:highlight>
                  <a:srgbClr val="FFFFFF"/>
                </a:highlight>
                <a:latin typeface="Arial" panose="020B0604020202020204" pitchFamily="34" charset="0"/>
              </a:rPr>
              <a:t>Logical controls, also called logical access controls and technical controls, protect data and the systems, networks, and environments that protect them. In order to authenticate, authorize, or maintain accountability a variety of methodologies are used such as password protocols, devices coupled with protocols and software, encryption, firewalls, or other systems that can detect intruders and maintain security, reduce vulnerabilities and protect the data and systems from threats.</a:t>
            </a:r>
          </a:p>
          <a:p>
            <a:r>
              <a:rPr lang="en-US" sz="3000" b="0" i="0" dirty="0">
                <a:solidFill>
                  <a:srgbClr val="202122"/>
                </a:solidFill>
                <a:effectLst/>
                <a:highlight>
                  <a:srgbClr val="FFFFFF"/>
                </a:highlight>
                <a:latin typeface="Arial" panose="020B0604020202020204" pitchFamily="34" charset="0"/>
              </a:rPr>
              <a:t>Businesses, organizations and other entities use a wide spectrum of logical access controls to protect hardware from unauthorized remote access. These can include sophisticated password programs, advanced biometric security features, or any other setups that effectively identify and screen users at any administrative level.</a:t>
            </a:r>
            <a:endParaRPr lang="en-TZ" sz="3000" dirty="0"/>
          </a:p>
        </p:txBody>
      </p:sp>
    </p:spTree>
    <p:extLst>
      <p:ext uri="{BB962C8B-B14F-4D97-AF65-F5344CB8AC3E}">
        <p14:creationId xmlns:p14="http://schemas.microsoft.com/office/powerpoint/2010/main" val="13426076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9F077-1D71-A687-663A-815DB2C424CE}"/>
              </a:ext>
            </a:extLst>
          </p:cNvPr>
          <p:cNvSpPr>
            <a:spLocks noGrp="1"/>
          </p:cNvSpPr>
          <p:nvPr>
            <p:ph type="title"/>
          </p:nvPr>
        </p:nvSpPr>
        <p:spPr>
          <a:xfrm>
            <a:off x="838200" y="365125"/>
            <a:ext cx="10515600" cy="789117"/>
          </a:xfrm>
        </p:spPr>
        <p:txBody>
          <a:bodyPr>
            <a:normAutofit/>
          </a:bodyPr>
          <a:lstStyle/>
          <a:p>
            <a:r>
              <a:rPr lang="en-US" sz="3600" b="1" dirty="0">
                <a:solidFill>
                  <a:srgbClr val="000000"/>
                </a:solidFill>
                <a:effectLst/>
                <a:latin typeface="Times New Roman" panose="02020603050405020304" pitchFamily="18" charset="0"/>
                <a:ea typeface="Times New Roman" panose="02020603050405020304" pitchFamily="18" charset="0"/>
              </a:rPr>
              <a:t>Risk and controls associated with virtual systems</a:t>
            </a:r>
            <a:endParaRPr lang="en-TZ" sz="3600" b="1" dirty="0"/>
          </a:p>
        </p:txBody>
      </p:sp>
      <p:sp>
        <p:nvSpPr>
          <p:cNvPr id="3" name="Content Placeholder 2">
            <a:extLst>
              <a:ext uri="{FF2B5EF4-FFF2-40B4-BE49-F238E27FC236}">
                <a16:creationId xmlns:a16="http://schemas.microsoft.com/office/drawing/2014/main" id="{DA9C372C-383E-7741-7D0F-15B6023853A5}"/>
              </a:ext>
            </a:extLst>
          </p:cNvPr>
          <p:cNvSpPr>
            <a:spLocks noGrp="1"/>
          </p:cNvSpPr>
          <p:nvPr>
            <p:ph idx="1"/>
          </p:nvPr>
        </p:nvSpPr>
        <p:spPr>
          <a:xfrm>
            <a:off x="838200" y="1320253"/>
            <a:ext cx="10515600" cy="5082681"/>
          </a:xfrm>
        </p:spPr>
        <p:txBody>
          <a:bodyPr>
            <a:noAutofit/>
          </a:bodyPr>
          <a:lstStyle/>
          <a:p>
            <a:pPr algn="l"/>
            <a:r>
              <a:rPr lang="en-US" sz="4000" b="0" i="0" dirty="0">
                <a:solidFill>
                  <a:srgbClr val="111111"/>
                </a:solidFill>
                <a:effectLst/>
                <a:highlight>
                  <a:srgbClr val="F3F3F3"/>
                </a:highlight>
                <a:latin typeface="-apple-system"/>
              </a:rPr>
              <a:t>Virtualization offers improved efficiency, scalability, and cost reduction, but it also comes with security risks. Let’s explore some of these risks:</a:t>
            </a:r>
          </a:p>
          <a:p>
            <a:pPr algn="l">
              <a:buFont typeface="+mj-lt"/>
              <a:buAutoNum type="arabicPeriod"/>
            </a:pPr>
            <a:r>
              <a:rPr lang="en-US" sz="4000" b="1" i="0" dirty="0">
                <a:solidFill>
                  <a:srgbClr val="111111"/>
                </a:solidFill>
                <a:effectLst/>
                <a:highlight>
                  <a:srgbClr val="F3F3F3"/>
                </a:highlight>
                <a:latin typeface="-apple-system"/>
              </a:rPr>
              <a:t>VM Sprawl</a:t>
            </a:r>
            <a:r>
              <a:rPr lang="en-US" sz="4000" b="0" i="0" dirty="0">
                <a:solidFill>
                  <a:srgbClr val="111111"/>
                </a:solidFill>
                <a:effectLst/>
                <a:highlight>
                  <a:srgbClr val="F3F3F3"/>
                </a:highlight>
                <a:latin typeface="-apple-system"/>
              </a:rPr>
              <a:t>: Uncontrolled proliferation of virtual machines (VMs) created for specific workloads can lead to abandoned VMs with sensitive information. Proper management and updates are essential to prevent compromise.</a:t>
            </a:r>
          </a:p>
          <a:p>
            <a:endParaRPr lang="en-TZ" sz="4000" dirty="0"/>
          </a:p>
        </p:txBody>
      </p:sp>
    </p:spTree>
    <p:extLst>
      <p:ext uri="{BB962C8B-B14F-4D97-AF65-F5344CB8AC3E}">
        <p14:creationId xmlns:p14="http://schemas.microsoft.com/office/powerpoint/2010/main" val="24157115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B99A47-4959-ECFC-4ABA-29EF397DA6C2}"/>
              </a:ext>
            </a:extLst>
          </p:cNvPr>
          <p:cNvSpPr>
            <a:spLocks noGrp="1"/>
          </p:cNvSpPr>
          <p:nvPr>
            <p:ph idx="1"/>
          </p:nvPr>
        </p:nvSpPr>
        <p:spPr>
          <a:xfrm>
            <a:off x="449705" y="299802"/>
            <a:ext cx="11287593" cy="6145967"/>
          </a:xfrm>
        </p:spPr>
        <p:txBody>
          <a:bodyPr>
            <a:noAutofit/>
          </a:bodyPr>
          <a:lstStyle/>
          <a:p>
            <a:pPr marL="0" indent="0">
              <a:buNone/>
            </a:pPr>
            <a:r>
              <a:rPr lang="en-US" sz="3800" b="1" i="0" dirty="0">
                <a:solidFill>
                  <a:srgbClr val="111111"/>
                </a:solidFill>
                <a:effectLst/>
                <a:highlight>
                  <a:srgbClr val="F3F3F3"/>
                </a:highlight>
                <a:latin typeface="-apple-system"/>
              </a:rPr>
              <a:t>2.Malware &amp; Ransomware Attacks</a:t>
            </a:r>
            <a:r>
              <a:rPr lang="en-US" sz="3800" b="0" i="0" dirty="0">
                <a:solidFill>
                  <a:srgbClr val="111111"/>
                </a:solidFill>
                <a:effectLst/>
                <a:highlight>
                  <a:srgbClr val="F3F3F3"/>
                </a:highlight>
                <a:latin typeface="-apple-system"/>
              </a:rPr>
              <a:t>: VMs are susceptible to viruses, malware, and ransomware. Infected VMs can spread malware across the entire virtual infrastructure.</a:t>
            </a:r>
          </a:p>
          <a:p>
            <a:pPr marL="0" indent="0" algn="l">
              <a:buNone/>
            </a:pPr>
            <a:r>
              <a:rPr lang="en-US" sz="3800" b="1" i="0" dirty="0">
                <a:solidFill>
                  <a:srgbClr val="111111"/>
                </a:solidFill>
                <a:effectLst/>
                <a:highlight>
                  <a:srgbClr val="F3F3F3"/>
                </a:highlight>
                <a:latin typeface="-apple-system"/>
              </a:rPr>
              <a:t>3.Network Configuration</a:t>
            </a:r>
            <a:r>
              <a:rPr lang="en-US" sz="3800" b="0" i="0" dirty="0">
                <a:solidFill>
                  <a:srgbClr val="111111"/>
                </a:solidFill>
                <a:effectLst/>
                <a:highlight>
                  <a:srgbClr val="F3F3F3"/>
                </a:highlight>
                <a:latin typeface="-apple-system"/>
              </a:rPr>
              <a:t>: Poor configuration choices (e.g., file sharing between VMs, open firewall ports) can allow hackers to gain access to your virtual infrastructure.</a:t>
            </a:r>
          </a:p>
          <a:p>
            <a:pPr marL="0" indent="0" algn="l">
              <a:buNone/>
            </a:pPr>
            <a:r>
              <a:rPr lang="en-US" sz="3800" b="1" i="0" dirty="0">
                <a:solidFill>
                  <a:srgbClr val="111111"/>
                </a:solidFill>
                <a:effectLst/>
                <a:highlight>
                  <a:srgbClr val="F3F3F3"/>
                </a:highlight>
                <a:latin typeface="-apple-system"/>
              </a:rPr>
              <a:t>4.Access Controls</a:t>
            </a:r>
            <a:r>
              <a:rPr lang="en-US" sz="3800" b="0" i="0" dirty="0">
                <a:solidFill>
                  <a:srgbClr val="111111"/>
                </a:solidFill>
                <a:effectLst/>
                <a:highlight>
                  <a:srgbClr val="F3F3F3"/>
                </a:highlight>
                <a:latin typeface="-apple-system"/>
              </a:rPr>
              <a:t>: An attacker gaining access to your virtual infrastructure (via physical access or compromised user accounts) can cause significant damage</a:t>
            </a:r>
          </a:p>
          <a:p>
            <a:endParaRPr lang="en-TZ" sz="3800" dirty="0"/>
          </a:p>
        </p:txBody>
      </p:sp>
    </p:spTree>
    <p:extLst>
      <p:ext uri="{BB962C8B-B14F-4D97-AF65-F5344CB8AC3E}">
        <p14:creationId xmlns:p14="http://schemas.microsoft.com/office/powerpoint/2010/main" val="30603910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F257F-77D5-2DF7-D1CD-B34C214D48E6}"/>
              </a:ext>
            </a:extLst>
          </p:cNvPr>
          <p:cNvSpPr>
            <a:spLocks noGrp="1"/>
          </p:cNvSpPr>
          <p:nvPr>
            <p:ph type="title"/>
          </p:nvPr>
        </p:nvSpPr>
        <p:spPr>
          <a:xfrm>
            <a:off x="838200" y="365126"/>
            <a:ext cx="10515600" cy="669196"/>
          </a:xfrm>
        </p:spPr>
        <p:txBody>
          <a:bodyPr>
            <a:normAutofit fontScale="90000"/>
          </a:bodyPr>
          <a:lstStyle/>
          <a:p>
            <a:r>
              <a:rPr lang="en-US" sz="3200" b="1" dirty="0">
                <a:solidFill>
                  <a:srgbClr val="000000"/>
                </a:solidFill>
                <a:effectLst/>
                <a:latin typeface="Times New Roman" panose="02020603050405020304" pitchFamily="18" charset="0"/>
                <a:ea typeface="Times New Roman" panose="02020603050405020304" pitchFamily="18" charset="0"/>
              </a:rPr>
              <a:t>Network and Internet security devices, protocols, techniques</a:t>
            </a:r>
            <a:endParaRPr lang="en-TZ" sz="3200" b="1" dirty="0"/>
          </a:p>
        </p:txBody>
      </p:sp>
      <p:sp>
        <p:nvSpPr>
          <p:cNvPr id="3" name="Content Placeholder 2">
            <a:extLst>
              <a:ext uri="{FF2B5EF4-FFF2-40B4-BE49-F238E27FC236}">
                <a16:creationId xmlns:a16="http://schemas.microsoft.com/office/drawing/2014/main" id="{1B279D32-2565-5A73-4FAD-127CB2E2351C}"/>
              </a:ext>
            </a:extLst>
          </p:cNvPr>
          <p:cNvSpPr>
            <a:spLocks noGrp="1"/>
          </p:cNvSpPr>
          <p:nvPr>
            <p:ph idx="1"/>
          </p:nvPr>
        </p:nvSpPr>
        <p:spPr>
          <a:xfrm>
            <a:off x="359763" y="1259174"/>
            <a:ext cx="11422505" cy="5233700"/>
          </a:xfrm>
        </p:spPr>
        <p:txBody>
          <a:bodyPr>
            <a:normAutofit/>
          </a:bodyPr>
          <a:lstStyle/>
          <a:p>
            <a:pPr algn="l"/>
            <a:r>
              <a:rPr lang="en-US" sz="3600" b="1" i="0" dirty="0">
                <a:solidFill>
                  <a:srgbClr val="111111"/>
                </a:solidFill>
                <a:effectLst/>
                <a:highlight>
                  <a:srgbClr val="F3F3F3"/>
                </a:highlight>
                <a:latin typeface="-apple-system"/>
              </a:rPr>
              <a:t>Network Security Devices:</a:t>
            </a:r>
          </a:p>
          <a:p>
            <a:pPr algn="l">
              <a:buFont typeface="+mj-lt"/>
              <a:buAutoNum type="arabicPeriod"/>
            </a:pPr>
            <a:r>
              <a:rPr lang="en-US" sz="3600" b="1" i="0" dirty="0">
                <a:solidFill>
                  <a:srgbClr val="111111"/>
                </a:solidFill>
                <a:effectLst/>
                <a:highlight>
                  <a:srgbClr val="F3F3F3"/>
                </a:highlight>
                <a:latin typeface="-apple-system"/>
              </a:rPr>
              <a:t>Firewall</a:t>
            </a:r>
            <a:r>
              <a:rPr lang="en-US" sz="3600" b="0" i="0" dirty="0">
                <a:solidFill>
                  <a:srgbClr val="111111"/>
                </a:solidFill>
                <a:effectLst/>
                <a:highlight>
                  <a:srgbClr val="F3F3F3"/>
                </a:highlight>
                <a:latin typeface="-apple-system"/>
              </a:rPr>
              <a:t>: A crucial safeguard that filters network traffic, preventing unauthorized intrusions. Firewalls can be hardware or software-based.</a:t>
            </a:r>
          </a:p>
          <a:p>
            <a:pPr algn="l">
              <a:buFont typeface="+mj-lt"/>
              <a:buAutoNum type="arabicPeriod"/>
            </a:pPr>
            <a:r>
              <a:rPr lang="en-US" sz="3600" b="1" i="0" dirty="0">
                <a:solidFill>
                  <a:srgbClr val="111111"/>
                </a:solidFill>
                <a:effectLst/>
                <a:highlight>
                  <a:srgbClr val="F3F3F3"/>
                </a:highlight>
                <a:latin typeface="-apple-system"/>
              </a:rPr>
              <a:t>Intrusion Prevention Systems (IPS)</a:t>
            </a:r>
            <a:r>
              <a:rPr lang="en-US" sz="3600" b="0" i="0" dirty="0">
                <a:solidFill>
                  <a:srgbClr val="111111"/>
                </a:solidFill>
                <a:effectLst/>
                <a:highlight>
                  <a:srgbClr val="F3F3F3"/>
                </a:highlight>
                <a:latin typeface="-apple-system"/>
              </a:rPr>
              <a:t>: Monitors network traffic for suspicious activity and blocks potential threats.</a:t>
            </a:r>
          </a:p>
          <a:p>
            <a:pPr algn="l">
              <a:buFont typeface="+mj-lt"/>
              <a:buAutoNum type="arabicPeriod"/>
            </a:pPr>
            <a:r>
              <a:rPr lang="en-US" sz="3600" b="1" i="0" dirty="0">
                <a:solidFill>
                  <a:srgbClr val="111111"/>
                </a:solidFill>
                <a:effectLst/>
                <a:highlight>
                  <a:srgbClr val="F3F3F3"/>
                </a:highlight>
                <a:latin typeface="-apple-system"/>
              </a:rPr>
              <a:t>Virtual Private Network (VPN)</a:t>
            </a:r>
            <a:r>
              <a:rPr lang="en-US" sz="3600" b="0" i="0" dirty="0">
                <a:solidFill>
                  <a:srgbClr val="111111"/>
                </a:solidFill>
                <a:effectLst/>
                <a:highlight>
                  <a:srgbClr val="F3F3F3"/>
                </a:highlight>
                <a:latin typeface="-apple-system"/>
              </a:rPr>
              <a:t>: Encrypts data transmitted over public networks, ensuring secure communication.</a:t>
            </a:r>
          </a:p>
          <a:p>
            <a:endParaRPr lang="en-TZ" sz="3600" dirty="0"/>
          </a:p>
        </p:txBody>
      </p:sp>
    </p:spTree>
    <p:extLst>
      <p:ext uri="{BB962C8B-B14F-4D97-AF65-F5344CB8AC3E}">
        <p14:creationId xmlns:p14="http://schemas.microsoft.com/office/powerpoint/2010/main" val="3086404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6FCD57-A0C5-80BC-AB87-C3F9631705CC}"/>
              </a:ext>
            </a:extLst>
          </p:cNvPr>
          <p:cNvSpPr>
            <a:spLocks noGrp="1"/>
          </p:cNvSpPr>
          <p:nvPr>
            <p:ph idx="1"/>
          </p:nvPr>
        </p:nvSpPr>
        <p:spPr>
          <a:xfrm>
            <a:off x="838200" y="614597"/>
            <a:ext cx="10515600" cy="5562366"/>
          </a:xfrm>
        </p:spPr>
        <p:txBody>
          <a:bodyPr>
            <a:normAutofit/>
          </a:bodyPr>
          <a:lstStyle/>
          <a:p>
            <a:pPr marL="0" indent="0" algn="l">
              <a:buNone/>
            </a:pPr>
            <a:r>
              <a:rPr lang="en-US" sz="4000" b="1" i="0" dirty="0">
                <a:solidFill>
                  <a:srgbClr val="111111"/>
                </a:solidFill>
                <a:effectLst/>
                <a:highlight>
                  <a:srgbClr val="F3F3F3"/>
                </a:highlight>
                <a:latin typeface="-apple-system"/>
              </a:rPr>
              <a:t>4.Web Application Firewall (WAF)</a:t>
            </a:r>
            <a:r>
              <a:rPr lang="en-US" sz="4000" b="0" i="0" dirty="0">
                <a:solidFill>
                  <a:srgbClr val="111111"/>
                </a:solidFill>
                <a:effectLst/>
                <a:highlight>
                  <a:srgbClr val="F3F3F3"/>
                </a:highlight>
                <a:latin typeface="-apple-system"/>
              </a:rPr>
              <a:t>: Protects web applications from attacks like SQL injection and cross-site scripting.</a:t>
            </a:r>
          </a:p>
          <a:p>
            <a:pPr marL="0" indent="0" algn="l">
              <a:buNone/>
            </a:pPr>
            <a:r>
              <a:rPr lang="en-US" sz="4000" b="1" i="0" dirty="0">
                <a:solidFill>
                  <a:srgbClr val="111111"/>
                </a:solidFill>
                <a:effectLst/>
                <a:highlight>
                  <a:srgbClr val="F3F3F3"/>
                </a:highlight>
                <a:latin typeface="-apple-system"/>
              </a:rPr>
              <a:t>5.Data Loss Prevention (DLP)</a:t>
            </a:r>
            <a:r>
              <a:rPr lang="en-US" sz="4000" b="0" i="0" dirty="0">
                <a:solidFill>
                  <a:srgbClr val="111111"/>
                </a:solidFill>
                <a:effectLst/>
                <a:highlight>
                  <a:srgbClr val="F3F3F3"/>
                </a:highlight>
                <a:latin typeface="-apple-system"/>
              </a:rPr>
              <a:t>: Detects and prevents sensitive data leaks.</a:t>
            </a:r>
          </a:p>
          <a:p>
            <a:pPr marL="0" indent="0" algn="l">
              <a:buNone/>
            </a:pPr>
            <a:r>
              <a:rPr lang="en-US" sz="4000" b="1" i="0" dirty="0">
                <a:solidFill>
                  <a:srgbClr val="111111"/>
                </a:solidFill>
                <a:effectLst/>
                <a:highlight>
                  <a:srgbClr val="F3F3F3"/>
                </a:highlight>
                <a:latin typeface="-apple-system"/>
              </a:rPr>
              <a:t>6.Endpoint Security</a:t>
            </a:r>
            <a:r>
              <a:rPr lang="en-US" sz="4000" b="0" i="0" dirty="0">
                <a:solidFill>
                  <a:srgbClr val="111111"/>
                </a:solidFill>
                <a:effectLst/>
                <a:highlight>
                  <a:srgbClr val="F3F3F3"/>
                </a:highlight>
                <a:latin typeface="-apple-system"/>
              </a:rPr>
              <a:t>: Secures individual devices (e.g., laptops, smartphones) to prevent malware and unauthorized access.</a:t>
            </a:r>
          </a:p>
          <a:p>
            <a:pPr marL="0" indent="0" algn="l">
              <a:buNone/>
            </a:pPr>
            <a:endParaRPr lang="en-US" sz="4000" b="0" i="0" dirty="0">
              <a:solidFill>
                <a:srgbClr val="111111"/>
              </a:solidFill>
              <a:effectLst/>
              <a:highlight>
                <a:srgbClr val="F3F3F3"/>
              </a:highlight>
              <a:latin typeface="-apple-system"/>
            </a:endParaRPr>
          </a:p>
          <a:p>
            <a:endParaRPr lang="en-TZ" sz="4000" dirty="0"/>
          </a:p>
        </p:txBody>
      </p:sp>
    </p:spTree>
    <p:extLst>
      <p:ext uri="{BB962C8B-B14F-4D97-AF65-F5344CB8AC3E}">
        <p14:creationId xmlns:p14="http://schemas.microsoft.com/office/powerpoint/2010/main" val="37933252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AE3490-C0B8-50CF-AC8B-26A0C6C32C6B}"/>
              </a:ext>
            </a:extLst>
          </p:cNvPr>
          <p:cNvSpPr>
            <a:spLocks noGrp="1"/>
          </p:cNvSpPr>
          <p:nvPr>
            <p:ph idx="1"/>
          </p:nvPr>
        </p:nvSpPr>
        <p:spPr>
          <a:xfrm>
            <a:off x="838200" y="929390"/>
            <a:ext cx="10515600" cy="5247573"/>
          </a:xfrm>
        </p:spPr>
        <p:txBody>
          <a:bodyPr>
            <a:noAutofit/>
          </a:bodyPr>
          <a:lstStyle/>
          <a:p>
            <a:pPr marL="0" indent="0" algn="l">
              <a:buNone/>
            </a:pPr>
            <a:r>
              <a:rPr lang="en-US" sz="3600" b="1" i="0" dirty="0">
                <a:solidFill>
                  <a:srgbClr val="111111"/>
                </a:solidFill>
                <a:effectLst/>
                <a:highlight>
                  <a:srgbClr val="F3F3F3"/>
                </a:highlight>
                <a:latin typeface="-apple-system"/>
              </a:rPr>
              <a:t>7.Network Segmentation</a:t>
            </a:r>
            <a:r>
              <a:rPr lang="en-US" sz="3600" b="0" i="0" dirty="0">
                <a:solidFill>
                  <a:srgbClr val="111111"/>
                </a:solidFill>
                <a:effectLst/>
                <a:highlight>
                  <a:srgbClr val="F3F3F3"/>
                </a:highlight>
                <a:latin typeface="-apple-system"/>
              </a:rPr>
              <a:t>: Divides the network into isolated segments, limiting lateral movement for attackers.</a:t>
            </a:r>
          </a:p>
          <a:p>
            <a:pPr marL="0" indent="0" algn="l">
              <a:buNone/>
            </a:pPr>
            <a:r>
              <a:rPr lang="en-US" sz="3600" b="1" i="0" dirty="0">
                <a:solidFill>
                  <a:srgbClr val="111111"/>
                </a:solidFill>
                <a:effectLst/>
                <a:highlight>
                  <a:srgbClr val="F3F3F3"/>
                </a:highlight>
                <a:latin typeface="-apple-system"/>
              </a:rPr>
              <a:t>8.Security Information and Event Management (SIEM)</a:t>
            </a:r>
            <a:r>
              <a:rPr lang="en-US" sz="3600" b="0" i="0" dirty="0">
                <a:solidFill>
                  <a:srgbClr val="111111"/>
                </a:solidFill>
                <a:effectLst/>
                <a:highlight>
                  <a:srgbClr val="F3F3F3"/>
                </a:highlight>
                <a:latin typeface="-apple-system"/>
              </a:rPr>
              <a:t>: Collects and analyzes security event data for threat detection.</a:t>
            </a:r>
          </a:p>
          <a:p>
            <a:pPr marL="0" indent="0" algn="l">
              <a:buNone/>
            </a:pPr>
            <a:r>
              <a:rPr lang="en-US" sz="3600" b="1" i="0" dirty="0">
                <a:solidFill>
                  <a:srgbClr val="111111"/>
                </a:solidFill>
                <a:effectLst/>
                <a:highlight>
                  <a:srgbClr val="F3F3F3"/>
                </a:highlight>
                <a:latin typeface="-apple-system"/>
              </a:rPr>
              <a:t>9.Email Security</a:t>
            </a:r>
            <a:r>
              <a:rPr lang="en-US" sz="3600" b="0" i="0" dirty="0">
                <a:solidFill>
                  <a:srgbClr val="111111"/>
                </a:solidFill>
                <a:effectLst/>
                <a:highlight>
                  <a:srgbClr val="F3F3F3"/>
                </a:highlight>
                <a:latin typeface="-apple-system"/>
              </a:rPr>
              <a:t>: Shields against phishing, spam, and malicious attachments.</a:t>
            </a:r>
          </a:p>
          <a:p>
            <a:pPr marL="0" indent="0" algn="l">
              <a:buNone/>
            </a:pPr>
            <a:r>
              <a:rPr lang="en-US" sz="3600" b="1" i="0" dirty="0">
                <a:solidFill>
                  <a:srgbClr val="111111"/>
                </a:solidFill>
                <a:effectLst/>
                <a:highlight>
                  <a:srgbClr val="F3F3F3"/>
                </a:highlight>
                <a:latin typeface="-apple-system"/>
              </a:rPr>
              <a:t>10.Wireless Security</a:t>
            </a:r>
            <a:r>
              <a:rPr lang="en-US" sz="3600" b="0" i="0" dirty="0">
                <a:solidFill>
                  <a:srgbClr val="111111"/>
                </a:solidFill>
                <a:effectLst/>
                <a:highlight>
                  <a:srgbClr val="F3F3F3"/>
                </a:highlight>
                <a:latin typeface="-apple-system"/>
              </a:rPr>
              <a:t>: Ensures the safety of Wi-Fi networks.</a:t>
            </a:r>
          </a:p>
          <a:p>
            <a:endParaRPr lang="en-TZ" sz="3600" dirty="0"/>
          </a:p>
        </p:txBody>
      </p:sp>
    </p:spTree>
    <p:extLst>
      <p:ext uri="{BB962C8B-B14F-4D97-AF65-F5344CB8AC3E}">
        <p14:creationId xmlns:p14="http://schemas.microsoft.com/office/powerpoint/2010/main" val="6882196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87D260-024F-244C-2514-C12965E657E0}"/>
              </a:ext>
            </a:extLst>
          </p:cNvPr>
          <p:cNvSpPr>
            <a:spLocks noGrp="1"/>
          </p:cNvSpPr>
          <p:nvPr>
            <p:ph idx="1"/>
          </p:nvPr>
        </p:nvSpPr>
        <p:spPr>
          <a:xfrm>
            <a:off x="434715" y="359764"/>
            <a:ext cx="11347554" cy="6100997"/>
          </a:xfrm>
        </p:spPr>
        <p:txBody>
          <a:bodyPr>
            <a:noAutofit/>
          </a:bodyPr>
          <a:lstStyle/>
          <a:p>
            <a:pPr marL="0" indent="0" algn="l">
              <a:buNone/>
            </a:pPr>
            <a:r>
              <a:rPr lang="en-US" sz="3200" b="1" i="0" dirty="0">
                <a:solidFill>
                  <a:srgbClr val="111111"/>
                </a:solidFill>
                <a:effectLst/>
                <a:highlight>
                  <a:srgbClr val="F3F3F3"/>
                </a:highlight>
                <a:latin typeface="-apple-system"/>
              </a:rPr>
              <a:t>Network Security Protocols:</a:t>
            </a:r>
          </a:p>
          <a:p>
            <a:pPr algn="l">
              <a:buFont typeface="+mj-lt"/>
              <a:buAutoNum type="arabicPeriod"/>
            </a:pPr>
            <a:r>
              <a:rPr lang="en-US" sz="3200" b="1" i="0" dirty="0">
                <a:solidFill>
                  <a:srgbClr val="111111"/>
                </a:solidFill>
                <a:effectLst/>
                <a:highlight>
                  <a:srgbClr val="F3F3F3"/>
                </a:highlight>
                <a:latin typeface="-apple-system"/>
              </a:rPr>
              <a:t>IPsec (Internet Protocol Security)</a:t>
            </a:r>
            <a:r>
              <a:rPr lang="en-US" sz="3200" b="0" i="0" dirty="0">
                <a:solidFill>
                  <a:srgbClr val="111111"/>
                </a:solidFill>
                <a:effectLst/>
                <a:highlight>
                  <a:srgbClr val="F3F3F3"/>
                </a:highlight>
                <a:latin typeface="-apple-system"/>
              </a:rPr>
              <a:t>: Encrypts and authenticates data over public networks.</a:t>
            </a:r>
          </a:p>
          <a:p>
            <a:pPr algn="l">
              <a:buFont typeface="+mj-lt"/>
              <a:buAutoNum type="arabicPeriod"/>
            </a:pPr>
            <a:r>
              <a:rPr lang="en-US" sz="3200" b="1" i="0" dirty="0">
                <a:solidFill>
                  <a:srgbClr val="111111"/>
                </a:solidFill>
                <a:effectLst/>
                <a:highlight>
                  <a:srgbClr val="F3F3F3"/>
                </a:highlight>
                <a:latin typeface="-apple-system"/>
              </a:rPr>
              <a:t>SSL/TLS</a:t>
            </a:r>
            <a:r>
              <a:rPr lang="en-US" sz="3200" b="0" i="0" dirty="0">
                <a:solidFill>
                  <a:srgbClr val="111111"/>
                </a:solidFill>
                <a:effectLst/>
                <a:highlight>
                  <a:srgbClr val="F3F3F3"/>
                </a:highlight>
                <a:latin typeface="-apple-system"/>
              </a:rPr>
              <a:t>: Provides secure communication for web browsers (HTTPS).</a:t>
            </a:r>
          </a:p>
          <a:p>
            <a:pPr algn="l">
              <a:buFont typeface="+mj-lt"/>
              <a:buAutoNum type="arabicPeriod"/>
            </a:pPr>
            <a:r>
              <a:rPr lang="en-US" sz="3200" b="1" i="0" dirty="0">
                <a:solidFill>
                  <a:srgbClr val="111111"/>
                </a:solidFill>
                <a:effectLst/>
                <a:highlight>
                  <a:srgbClr val="F3F3F3"/>
                </a:highlight>
                <a:latin typeface="-apple-system"/>
              </a:rPr>
              <a:t>Kerberos</a:t>
            </a:r>
            <a:r>
              <a:rPr lang="en-US" sz="3200" b="0" i="0" dirty="0">
                <a:solidFill>
                  <a:srgbClr val="111111"/>
                </a:solidFill>
                <a:effectLst/>
                <a:highlight>
                  <a:srgbClr val="F3F3F3"/>
                </a:highlight>
                <a:latin typeface="-apple-system"/>
              </a:rPr>
              <a:t>: Authentication protocol for secure network communication.</a:t>
            </a:r>
          </a:p>
          <a:p>
            <a:pPr algn="l">
              <a:buFont typeface="+mj-lt"/>
              <a:buAutoNum type="arabicPeriod"/>
            </a:pPr>
            <a:r>
              <a:rPr lang="en-US" sz="3200" b="1" i="0" dirty="0">
                <a:solidFill>
                  <a:srgbClr val="111111"/>
                </a:solidFill>
                <a:effectLst/>
                <a:highlight>
                  <a:srgbClr val="F3F3F3"/>
                </a:highlight>
                <a:latin typeface="-apple-system"/>
              </a:rPr>
              <a:t>SNMPv3 (Simple Network Management Protocol)</a:t>
            </a:r>
            <a:r>
              <a:rPr lang="en-US" sz="3200" b="0" i="0" dirty="0">
                <a:solidFill>
                  <a:srgbClr val="111111"/>
                </a:solidFill>
                <a:effectLst/>
                <a:highlight>
                  <a:srgbClr val="F3F3F3"/>
                </a:highlight>
                <a:latin typeface="-apple-system"/>
              </a:rPr>
              <a:t>: Enhances security for network management.</a:t>
            </a:r>
          </a:p>
          <a:p>
            <a:pPr algn="l">
              <a:buFont typeface="+mj-lt"/>
              <a:buAutoNum type="arabicPeriod"/>
            </a:pPr>
            <a:r>
              <a:rPr lang="en-US" sz="3200" b="1" i="0" dirty="0">
                <a:solidFill>
                  <a:srgbClr val="111111"/>
                </a:solidFill>
                <a:effectLst/>
                <a:highlight>
                  <a:srgbClr val="F3F3F3"/>
                </a:highlight>
                <a:latin typeface="-apple-system"/>
              </a:rPr>
              <a:t>HTTPS</a:t>
            </a:r>
            <a:r>
              <a:rPr lang="en-US" sz="3200" b="0" i="0" dirty="0">
                <a:solidFill>
                  <a:srgbClr val="111111"/>
                </a:solidFill>
                <a:effectLst/>
                <a:highlight>
                  <a:srgbClr val="F3F3F3"/>
                </a:highlight>
                <a:latin typeface="-apple-system"/>
              </a:rPr>
              <a:t>: Secures web traffic using encryption.</a:t>
            </a:r>
          </a:p>
          <a:p>
            <a:pPr algn="l">
              <a:buFont typeface="+mj-lt"/>
              <a:buAutoNum type="arabicPeriod"/>
            </a:pPr>
            <a:r>
              <a:rPr lang="en-US" sz="3200" b="1" i="0" dirty="0">
                <a:solidFill>
                  <a:srgbClr val="111111"/>
                </a:solidFill>
                <a:effectLst/>
                <a:highlight>
                  <a:srgbClr val="F3F3F3"/>
                </a:highlight>
                <a:latin typeface="-apple-system"/>
              </a:rPr>
              <a:t>DTLS (Datagram Transport Layer Security)</a:t>
            </a:r>
            <a:r>
              <a:rPr lang="en-US" sz="3200" b="0" i="0" dirty="0">
                <a:solidFill>
                  <a:srgbClr val="111111"/>
                </a:solidFill>
                <a:effectLst/>
                <a:highlight>
                  <a:srgbClr val="F3F3F3"/>
                </a:highlight>
                <a:latin typeface="-apple-system"/>
              </a:rPr>
              <a:t>: Protects real-time communication (e.g., VoIP).</a:t>
            </a:r>
          </a:p>
          <a:p>
            <a:endParaRPr lang="en-TZ" sz="3200" dirty="0"/>
          </a:p>
        </p:txBody>
      </p:sp>
    </p:spTree>
    <p:extLst>
      <p:ext uri="{BB962C8B-B14F-4D97-AF65-F5344CB8AC3E}">
        <p14:creationId xmlns:p14="http://schemas.microsoft.com/office/powerpoint/2010/main" val="2000677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67BBE3-1C0F-69B0-BE72-D384CC31D310}"/>
              </a:ext>
            </a:extLst>
          </p:cNvPr>
          <p:cNvSpPr>
            <a:spLocks noGrp="1"/>
          </p:cNvSpPr>
          <p:nvPr>
            <p:ph idx="1"/>
          </p:nvPr>
        </p:nvSpPr>
        <p:spPr>
          <a:xfrm>
            <a:off x="419725" y="359764"/>
            <a:ext cx="11302583" cy="6160957"/>
          </a:xfrm>
        </p:spPr>
        <p:txBody>
          <a:bodyPr>
            <a:noAutofit/>
          </a:bodyPr>
          <a:lstStyle/>
          <a:p>
            <a:pPr algn="l"/>
            <a:r>
              <a:rPr lang="en-US" sz="3200" b="1" i="0" dirty="0">
                <a:solidFill>
                  <a:srgbClr val="111111"/>
                </a:solidFill>
                <a:effectLst/>
                <a:highlight>
                  <a:srgbClr val="F3F3F3"/>
                </a:highlight>
                <a:latin typeface="-apple-system"/>
              </a:rPr>
              <a:t>Network Security Techniques:</a:t>
            </a:r>
          </a:p>
          <a:p>
            <a:pPr algn="l">
              <a:buFont typeface="+mj-lt"/>
              <a:buAutoNum type="arabicPeriod"/>
            </a:pPr>
            <a:r>
              <a:rPr lang="en-US" sz="3200" b="1" i="0" dirty="0">
                <a:solidFill>
                  <a:srgbClr val="111111"/>
                </a:solidFill>
                <a:effectLst/>
                <a:highlight>
                  <a:srgbClr val="F3F3F3"/>
                </a:highlight>
                <a:latin typeface="-apple-system"/>
              </a:rPr>
              <a:t>Access Control</a:t>
            </a:r>
            <a:r>
              <a:rPr lang="en-US" sz="3200" b="0" i="0" dirty="0">
                <a:solidFill>
                  <a:srgbClr val="111111"/>
                </a:solidFill>
                <a:effectLst/>
                <a:highlight>
                  <a:srgbClr val="F3F3F3"/>
                </a:highlight>
                <a:latin typeface="-apple-system"/>
              </a:rPr>
              <a:t>: Restricts user access based on roles and permissions.</a:t>
            </a:r>
          </a:p>
          <a:p>
            <a:pPr algn="l">
              <a:buFont typeface="+mj-lt"/>
              <a:buAutoNum type="arabicPeriod"/>
            </a:pPr>
            <a:r>
              <a:rPr lang="en-US" sz="3200" b="1" i="0" dirty="0">
                <a:solidFill>
                  <a:srgbClr val="111111"/>
                </a:solidFill>
                <a:effectLst/>
                <a:highlight>
                  <a:srgbClr val="F3F3F3"/>
                </a:highlight>
                <a:latin typeface="-apple-system"/>
              </a:rPr>
              <a:t>Anti-malware Software</a:t>
            </a:r>
            <a:r>
              <a:rPr lang="en-US" sz="3200" b="0" i="0" dirty="0">
                <a:solidFill>
                  <a:srgbClr val="111111"/>
                </a:solidFill>
                <a:effectLst/>
                <a:highlight>
                  <a:srgbClr val="F3F3F3"/>
                </a:highlight>
                <a:latin typeface="-apple-system"/>
              </a:rPr>
              <a:t>: Detects and removes malicious software.</a:t>
            </a:r>
          </a:p>
          <a:p>
            <a:pPr algn="l">
              <a:buFont typeface="+mj-lt"/>
              <a:buAutoNum type="arabicPeriod"/>
            </a:pPr>
            <a:r>
              <a:rPr lang="en-US" sz="3200" b="1" i="0" dirty="0">
                <a:solidFill>
                  <a:srgbClr val="111111"/>
                </a:solidFill>
                <a:effectLst/>
                <a:highlight>
                  <a:srgbClr val="F3F3F3"/>
                </a:highlight>
                <a:latin typeface="-apple-system"/>
              </a:rPr>
              <a:t>Anomaly Detection</a:t>
            </a:r>
            <a:r>
              <a:rPr lang="en-US" sz="3200" b="0" i="0" dirty="0">
                <a:solidFill>
                  <a:srgbClr val="111111"/>
                </a:solidFill>
                <a:effectLst/>
                <a:highlight>
                  <a:srgbClr val="F3F3F3"/>
                </a:highlight>
                <a:latin typeface="-apple-system"/>
              </a:rPr>
              <a:t>: Identifies abnormal behavior in network traffic.</a:t>
            </a:r>
          </a:p>
          <a:p>
            <a:pPr algn="l">
              <a:buFont typeface="+mj-lt"/>
              <a:buAutoNum type="arabicPeriod"/>
            </a:pPr>
            <a:r>
              <a:rPr lang="en-US" sz="3200" b="1" i="0" dirty="0">
                <a:solidFill>
                  <a:srgbClr val="111111"/>
                </a:solidFill>
                <a:effectLst/>
                <a:highlight>
                  <a:srgbClr val="F3F3F3"/>
                </a:highlight>
                <a:latin typeface="-apple-system"/>
              </a:rPr>
              <a:t>Application Security</a:t>
            </a:r>
            <a:r>
              <a:rPr lang="en-US" sz="3200" b="0" i="0" dirty="0">
                <a:solidFill>
                  <a:srgbClr val="111111"/>
                </a:solidFill>
                <a:effectLst/>
                <a:highlight>
                  <a:srgbClr val="F3F3F3"/>
                </a:highlight>
                <a:latin typeface="-apple-system"/>
              </a:rPr>
              <a:t>: Ensures secure coding practices.</a:t>
            </a:r>
          </a:p>
          <a:p>
            <a:pPr algn="l">
              <a:buFont typeface="+mj-lt"/>
              <a:buAutoNum type="arabicPeriod"/>
            </a:pPr>
            <a:r>
              <a:rPr lang="en-US" sz="3200" b="1" i="0" dirty="0">
                <a:solidFill>
                  <a:srgbClr val="111111"/>
                </a:solidFill>
                <a:effectLst/>
                <a:highlight>
                  <a:srgbClr val="F3F3F3"/>
                </a:highlight>
                <a:latin typeface="-apple-system"/>
              </a:rPr>
              <a:t>Email Security</a:t>
            </a:r>
            <a:r>
              <a:rPr lang="en-US" sz="3200" b="0" i="0" dirty="0">
                <a:solidFill>
                  <a:srgbClr val="111111"/>
                </a:solidFill>
                <a:effectLst/>
                <a:highlight>
                  <a:srgbClr val="F3F3F3"/>
                </a:highlight>
                <a:latin typeface="-apple-system"/>
              </a:rPr>
              <a:t>: Guards against phishing and email-based threats.</a:t>
            </a:r>
          </a:p>
          <a:p>
            <a:pPr algn="l">
              <a:buFont typeface="+mj-lt"/>
              <a:buAutoNum type="arabicPeriod"/>
            </a:pPr>
            <a:r>
              <a:rPr lang="en-US" sz="3200" b="1" i="0" dirty="0">
                <a:solidFill>
                  <a:srgbClr val="111111"/>
                </a:solidFill>
                <a:effectLst/>
                <a:highlight>
                  <a:srgbClr val="F3F3F3"/>
                </a:highlight>
                <a:latin typeface="-apple-system"/>
              </a:rPr>
              <a:t>Firewall Rules</a:t>
            </a:r>
            <a:r>
              <a:rPr lang="en-US" sz="3200" b="0" i="0" dirty="0">
                <a:solidFill>
                  <a:srgbClr val="111111"/>
                </a:solidFill>
                <a:effectLst/>
                <a:highlight>
                  <a:srgbClr val="F3F3F3"/>
                </a:highlight>
                <a:latin typeface="-apple-system"/>
              </a:rPr>
              <a:t>: Define allowed and blocked traffic.</a:t>
            </a:r>
          </a:p>
          <a:p>
            <a:pPr algn="l">
              <a:buFont typeface="+mj-lt"/>
              <a:buAutoNum type="arabicPeriod"/>
            </a:pPr>
            <a:r>
              <a:rPr lang="en-US" sz="3200" b="1" i="0" dirty="0">
                <a:solidFill>
                  <a:srgbClr val="111111"/>
                </a:solidFill>
                <a:effectLst/>
                <a:highlight>
                  <a:srgbClr val="F3F3F3"/>
                </a:highlight>
                <a:latin typeface="-apple-system"/>
              </a:rPr>
              <a:t>Network Segmentation</a:t>
            </a:r>
            <a:r>
              <a:rPr lang="en-US" sz="3200" b="0" i="0" dirty="0">
                <a:solidFill>
                  <a:srgbClr val="111111"/>
                </a:solidFill>
                <a:effectLst/>
                <a:highlight>
                  <a:srgbClr val="F3F3F3"/>
                </a:highlight>
                <a:latin typeface="-apple-system"/>
              </a:rPr>
              <a:t>: Isolate critical assets from less secure areas.</a:t>
            </a:r>
          </a:p>
          <a:p>
            <a:endParaRPr lang="en-TZ" sz="3200" dirty="0"/>
          </a:p>
        </p:txBody>
      </p:sp>
    </p:spTree>
    <p:extLst>
      <p:ext uri="{BB962C8B-B14F-4D97-AF65-F5344CB8AC3E}">
        <p14:creationId xmlns:p14="http://schemas.microsoft.com/office/powerpoint/2010/main" val="34227692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516CC1-6334-FFC9-0ABE-170A4CA00657}"/>
              </a:ext>
            </a:extLst>
          </p:cNvPr>
          <p:cNvSpPr>
            <a:spLocks noGrp="1"/>
          </p:cNvSpPr>
          <p:nvPr>
            <p:ph idx="1"/>
          </p:nvPr>
        </p:nvSpPr>
        <p:spPr>
          <a:xfrm>
            <a:off x="838200" y="629587"/>
            <a:ext cx="10515600" cy="5547376"/>
          </a:xfrm>
        </p:spPr>
        <p:txBody>
          <a:bodyPr>
            <a:normAutofit/>
          </a:bodyPr>
          <a:lstStyle/>
          <a:p>
            <a:pPr marL="0" indent="0" algn="l">
              <a:buNone/>
            </a:pPr>
            <a:r>
              <a:rPr lang="en-US" sz="3600" b="1" i="0" dirty="0">
                <a:solidFill>
                  <a:srgbClr val="111111"/>
                </a:solidFill>
                <a:effectLst/>
                <a:highlight>
                  <a:srgbClr val="F3F3F3"/>
                </a:highlight>
                <a:latin typeface="-apple-system"/>
              </a:rPr>
              <a:t>8.SIEM Analysis</a:t>
            </a:r>
            <a:r>
              <a:rPr lang="en-US" sz="3600" b="0" i="0" dirty="0">
                <a:solidFill>
                  <a:srgbClr val="111111"/>
                </a:solidFill>
                <a:effectLst/>
                <a:highlight>
                  <a:srgbClr val="F3F3F3"/>
                </a:highlight>
                <a:latin typeface="-apple-system"/>
              </a:rPr>
              <a:t>: Detects and responds to security incidents.</a:t>
            </a:r>
          </a:p>
          <a:p>
            <a:pPr marL="0" indent="0" algn="l">
              <a:buNone/>
            </a:pPr>
            <a:r>
              <a:rPr lang="en-US" sz="3600" b="1" i="0" dirty="0">
                <a:solidFill>
                  <a:srgbClr val="111111"/>
                </a:solidFill>
                <a:effectLst/>
                <a:highlight>
                  <a:srgbClr val="F3F3F3"/>
                </a:highlight>
                <a:latin typeface="-apple-system"/>
              </a:rPr>
              <a:t>9.Virtual Private Networks (VPNs)</a:t>
            </a:r>
            <a:r>
              <a:rPr lang="en-US" sz="3600" b="0" i="0" dirty="0">
                <a:solidFill>
                  <a:srgbClr val="111111"/>
                </a:solidFill>
                <a:effectLst/>
                <a:highlight>
                  <a:srgbClr val="F3F3F3"/>
                </a:highlight>
                <a:latin typeface="-apple-system"/>
              </a:rPr>
              <a:t>: Encrypt data for secure remote access.</a:t>
            </a:r>
          </a:p>
          <a:p>
            <a:pPr marL="0" indent="0" algn="l">
              <a:buNone/>
            </a:pPr>
            <a:r>
              <a:rPr lang="en-US" sz="3600" b="1" i="0" dirty="0">
                <a:solidFill>
                  <a:srgbClr val="111111"/>
                </a:solidFill>
                <a:effectLst/>
                <a:highlight>
                  <a:srgbClr val="F3F3F3"/>
                </a:highlight>
                <a:latin typeface="-apple-system"/>
              </a:rPr>
              <a:t>10.Wireless Security Measures</a:t>
            </a:r>
            <a:r>
              <a:rPr lang="en-US" sz="3600" b="0" i="0" dirty="0">
                <a:solidFill>
                  <a:srgbClr val="111111"/>
                </a:solidFill>
                <a:effectLst/>
                <a:highlight>
                  <a:srgbClr val="F3F3F3"/>
                </a:highlight>
                <a:latin typeface="-apple-system"/>
              </a:rPr>
              <a:t>: Protect Wi-Fi networks from unauthorized access.</a:t>
            </a:r>
          </a:p>
          <a:p>
            <a:pPr algn="l"/>
            <a:r>
              <a:rPr lang="en-US" sz="3600" b="0" i="0" dirty="0">
                <a:solidFill>
                  <a:srgbClr val="111111"/>
                </a:solidFill>
                <a:effectLst/>
                <a:highlight>
                  <a:srgbClr val="F3F3F3"/>
                </a:highlight>
                <a:latin typeface="-apple-system"/>
              </a:rPr>
              <a:t>Remember, network security is a dynamic field, constantly evolving to counter cyber threats. Stay vigilante and keep your network fortified.</a:t>
            </a:r>
          </a:p>
          <a:p>
            <a:endParaRPr lang="en-TZ" sz="3600" dirty="0"/>
          </a:p>
        </p:txBody>
      </p:sp>
    </p:spTree>
    <p:extLst>
      <p:ext uri="{BB962C8B-B14F-4D97-AF65-F5344CB8AC3E}">
        <p14:creationId xmlns:p14="http://schemas.microsoft.com/office/powerpoint/2010/main" val="29112504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ABBCC-2E8A-162D-2E35-ABA469E258F5}"/>
              </a:ext>
            </a:extLst>
          </p:cNvPr>
          <p:cNvSpPr>
            <a:spLocks noGrp="1"/>
          </p:cNvSpPr>
          <p:nvPr>
            <p:ph type="title"/>
          </p:nvPr>
        </p:nvSpPr>
        <p:spPr>
          <a:xfrm>
            <a:off x="838200" y="365125"/>
            <a:ext cx="10515600" cy="714167"/>
          </a:xfrm>
        </p:spPr>
        <p:txBody>
          <a:bodyPr>
            <a:normAutofit/>
          </a:bodyPr>
          <a:lstStyle/>
          <a:p>
            <a:r>
              <a:rPr lang="en-US" sz="4000" b="1" dirty="0">
                <a:solidFill>
                  <a:srgbClr val="000000"/>
                </a:solidFill>
                <a:effectLst/>
                <a:latin typeface="Times New Roman" panose="02020603050405020304" pitchFamily="18" charset="0"/>
                <a:ea typeface="Times New Roman" panose="02020603050405020304" pitchFamily="18" charset="0"/>
              </a:rPr>
              <a:t>Detection tools and control techniques</a:t>
            </a:r>
            <a:endParaRPr lang="en-TZ" sz="4000" b="1" dirty="0"/>
          </a:p>
        </p:txBody>
      </p:sp>
      <p:sp>
        <p:nvSpPr>
          <p:cNvPr id="3" name="Content Placeholder 2">
            <a:extLst>
              <a:ext uri="{FF2B5EF4-FFF2-40B4-BE49-F238E27FC236}">
                <a16:creationId xmlns:a16="http://schemas.microsoft.com/office/drawing/2014/main" id="{C5899115-927C-8FCC-B767-088360961899}"/>
              </a:ext>
            </a:extLst>
          </p:cNvPr>
          <p:cNvSpPr>
            <a:spLocks noGrp="1"/>
          </p:cNvSpPr>
          <p:nvPr>
            <p:ph idx="1"/>
          </p:nvPr>
        </p:nvSpPr>
        <p:spPr>
          <a:xfrm>
            <a:off x="838200" y="1274164"/>
            <a:ext cx="10515600" cy="4902799"/>
          </a:xfrm>
        </p:spPr>
        <p:txBody>
          <a:bodyPr>
            <a:normAutofit/>
          </a:bodyPr>
          <a:lstStyle/>
          <a:p>
            <a:pPr algn="l"/>
            <a:r>
              <a:rPr lang="en-US" sz="3200" b="1" i="0" dirty="0">
                <a:solidFill>
                  <a:srgbClr val="111111"/>
                </a:solidFill>
                <a:effectLst/>
                <a:highlight>
                  <a:srgbClr val="F3F3F3"/>
                </a:highlight>
                <a:latin typeface="-apple-system"/>
              </a:rPr>
              <a:t>Information Security Controls</a:t>
            </a:r>
            <a:r>
              <a:rPr lang="en-US" sz="3200" b="0" i="0" dirty="0">
                <a:solidFill>
                  <a:srgbClr val="111111"/>
                </a:solidFill>
                <a:effectLst/>
                <a:highlight>
                  <a:srgbClr val="F3F3F3"/>
                </a:highlight>
                <a:latin typeface="-apple-system"/>
              </a:rPr>
              <a:t>:</a:t>
            </a:r>
          </a:p>
          <a:p>
            <a:pPr algn="l">
              <a:buFont typeface="Arial" panose="020B0604020202020204" pitchFamily="34" charset="0"/>
              <a:buChar char="•"/>
            </a:pPr>
            <a:r>
              <a:rPr lang="en-US" sz="3200" b="0" i="0" dirty="0">
                <a:solidFill>
                  <a:srgbClr val="111111"/>
                </a:solidFill>
                <a:effectLst/>
                <a:highlight>
                  <a:srgbClr val="F3F3F3"/>
                </a:highlight>
                <a:latin typeface="-apple-system"/>
              </a:rPr>
              <a:t>These controls help detect cyber threats, prevent damage to information assets, and correct any harm that occurs.</a:t>
            </a:r>
          </a:p>
          <a:p>
            <a:pPr algn="l">
              <a:buFont typeface="Arial" panose="020B0604020202020204" pitchFamily="34" charset="0"/>
              <a:buChar char="•"/>
            </a:pPr>
            <a:r>
              <a:rPr lang="en-US" sz="3200" b="0" i="0" dirty="0">
                <a:solidFill>
                  <a:srgbClr val="111111"/>
                </a:solidFill>
                <a:effectLst/>
                <a:highlight>
                  <a:srgbClr val="F3F3F3"/>
                </a:highlight>
                <a:latin typeface="-apple-system"/>
              </a:rPr>
              <a:t>The </a:t>
            </a:r>
            <a:r>
              <a:rPr lang="en-US" sz="3200" b="1" i="0" dirty="0">
                <a:solidFill>
                  <a:srgbClr val="111111"/>
                </a:solidFill>
                <a:effectLst/>
                <a:highlight>
                  <a:srgbClr val="F3F3F3"/>
                </a:highlight>
                <a:latin typeface="-apple-system"/>
              </a:rPr>
              <a:t>CIA Triad</a:t>
            </a:r>
            <a:r>
              <a:rPr lang="en-US" sz="3200" b="0" i="0" dirty="0">
                <a:solidFill>
                  <a:srgbClr val="111111"/>
                </a:solidFill>
                <a:effectLst/>
                <a:highlight>
                  <a:srgbClr val="F3F3F3"/>
                </a:highlight>
                <a:latin typeface="-apple-system"/>
              </a:rPr>
              <a:t> underpins information security efforts:</a:t>
            </a:r>
          </a:p>
          <a:p>
            <a:pPr marL="742950" lvl="1" indent="-285750" algn="l">
              <a:buFont typeface="Arial" panose="020B0604020202020204" pitchFamily="34" charset="0"/>
              <a:buChar char="•"/>
            </a:pPr>
            <a:r>
              <a:rPr lang="en-US" sz="3200" b="1" i="0" dirty="0">
                <a:solidFill>
                  <a:srgbClr val="111111"/>
                </a:solidFill>
                <a:effectLst/>
                <a:highlight>
                  <a:srgbClr val="F3F3F3"/>
                </a:highlight>
                <a:latin typeface="-apple-system"/>
              </a:rPr>
              <a:t>Confidentiality</a:t>
            </a:r>
            <a:r>
              <a:rPr lang="en-US" sz="3200" b="0" i="0" dirty="0">
                <a:solidFill>
                  <a:srgbClr val="111111"/>
                </a:solidFill>
                <a:effectLst/>
                <a:highlight>
                  <a:srgbClr val="F3F3F3"/>
                </a:highlight>
                <a:latin typeface="-apple-system"/>
              </a:rPr>
              <a:t>: Keep information private, allowing only authorized access.</a:t>
            </a:r>
          </a:p>
          <a:p>
            <a:pPr marL="742950" lvl="1" indent="-285750" algn="l">
              <a:buFont typeface="Arial" panose="020B0604020202020204" pitchFamily="34" charset="0"/>
              <a:buChar char="•"/>
            </a:pPr>
            <a:r>
              <a:rPr lang="en-US" sz="3200" b="1" i="0" dirty="0">
                <a:solidFill>
                  <a:srgbClr val="111111"/>
                </a:solidFill>
                <a:effectLst/>
                <a:highlight>
                  <a:srgbClr val="F3F3F3"/>
                </a:highlight>
                <a:latin typeface="-apple-system"/>
              </a:rPr>
              <a:t>Integrity</a:t>
            </a:r>
            <a:r>
              <a:rPr lang="en-US" sz="3200" b="0" i="0" dirty="0">
                <a:solidFill>
                  <a:srgbClr val="111111"/>
                </a:solidFill>
                <a:effectLst/>
                <a:highlight>
                  <a:srgbClr val="F3F3F3"/>
                </a:highlight>
                <a:latin typeface="-apple-system"/>
              </a:rPr>
              <a:t>: Ensure data remains unmodified or selectively deleted.</a:t>
            </a:r>
          </a:p>
          <a:p>
            <a:pPr marL="742950" lvl="1" indent="-285750" algn="l">
              <a:buFont typeface="Arial" panose="020B0604020202020204" pitchFamily="34" charset="0"/>
              <a:buChar char="•"/>
            </a:pPr>
            <a:r>
              <a:rPr lang="en-US" sz="3200" b="1" i="0" dirty="0">
                <a:solidFill>
                  <a:srgbClr val="111111"/>
                </a:solidFill>
                <a:effectLst/>
                <a:highlight>
                  <a:srgbClr val="F3F3F3"/>
                </a:highlight>
                <a:latin typeface="-apple-system"/>
                <a:hlinkClick r:id="rId2"/>
              </a:rPr>
              <a:t>Availability</a:t>
            </a:r>
            <a:r>
              <a:rPr lang="en-US" sz="3200" b="0" i="0" dirty="0">
                <a:solidFill>
                  <a:srgbClr val="111111"/>
                </a:solidFill>
                <a:effectLst/>
                <a:highlight>
                  <a:srgbClr val="F3F3F3"/>
                </a:highlight>
                <a:latin typeface="-apple-system"/>
                <a:hlinkClick r:id="rId2"/>
              </a:rPr>
              <a:t>: Strive for 100% availability of information</a:t>
            </a:r>
            <a:endParaRPr lang="en-US" sz="3200" b="0" i="0" dirty="0">
              <a:solidFill>
                <a:srgbClr val="111111"/>
              </a:solidFill>
              <a:effectLst/>
              <a:highlight>
                <a:srgbClr val="F3F3F3"/>
              </a:highlight>
              <a:latin typeface="-apple-system"/>
            </a:endParaRPr>
          </a:p>
          <a:p>
            <a:endParaRPr lang="en-TZ" sz="3200" dirty="0"/>
          </a:p>
        </p:txBody>
      </p:sp>
    </p:spTree>
    <p:extLst>
      <p:ext uri="{BB962C8B-B14F-4D97-AF65-F5344CB8AC3E}">
        <p14:creationId xmlns:p14="http://schemas.microsoft.com/office/powerpoint/2010/main" val="5933047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B258F9-BFB2-441D-1D3F-03C5F337A722}"/>
              </a:ext>
            </a:extLst>
          </p:cNvPr>
          <p:cNvSpPr>
            <a:spLocks noGrp="1"/>
          </p:cNvSpPr>
          <p:nvPr>
            <p:ph idx="1"/>
          </p:nvPr>
        </p:nvSpPr>
        <p:spPr>
          <a:xfrm>
            <a:off x="838200" y="599607"/>
            <a:ext cx="10515600" cy="5577356"/>
          </a:xfrm>
        </p:spPr>
        <p:txBody>
          <a:bodyPr>
            <a:normAutofit/>
          </a:bodyPr>
          <a:lstStyle/>
          <a:p>
            <a:r>
              <a:rPr lang="en-US" sz="3600" b="1" dirty="0"/>
              <a:t>Application Monitoring: </a:t>
            </a:r>
            <a:r>
              <a:rPr lang="en-US" sz="3600" dirty="0"/>
              <a:t>All servers containing applications designated for monitoring must be constantly monitored during the hours the application operates. The following activities must be monitored: </a:t>
            </a:r>
          </a:p>
          <a:p>
            <a:pPr marL="0" indent="0">
              <a:buNone/>
            </a:pPr>
            <a:r>
              <a:rPr lang="en-US" sz="3600" dirty="0"/>
              <a:t>• Application up/down status </a:t>
            </a:r>
          </a:p>
          <a:p>
            <a:pPr marL="0" indent="0">
              <a:buNone/>
            </a:pPr>
            <a:r>
              <a:rPr lang="en-US" sz="3600" dirty="0"/>
              <a:t>• Resource usage </a:t>
            </a:r>
          </a:p>
          <a:p>
            <a:pPr marL="0" indent="0">
              <a:buNone/>
            </a:pPr>
            <a:r>
              <a:rPr lang="en-US" sz="3600" dirty="0"/>
              <a:t>• Non-standard behavior of application </a:t>
            </a:r>
          </a:p>
          <a:p>
            <a:pPr marL="0" indent="0">
              <a:buNone/>
            </a:pPr>
            <a:r>
              <a:rPr lang="en-US" sz="3600" dirty="0"/>
              <a:t>• Addition or change of the version, or application of software patches </a:t>
            </a:r>
            <a:endParaRPr lang="en-TZ" sz="3600" dirty="0"/>
          </a:p>
        </p:txBody>
      </p:sp>
    </p:spTree>
    <p:extLst>
      <p:ext uri="{BB962C8B-B14F-4D97-AF65-F5344CB8AC3E}">
        <p14:creationId xmlns:p14="http://schemas.microsoft.com/office/powerpoint/2010/main" val="14743894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3328D0-B691-8CF6-1702-8169E7690B6A}"/>
              </a:ext>
            </a:extLst>
          </p:cNvPr>
          <p:cNvSpPr>
            <a:spLocks noGrp="1"/>
          </p:cNvSpPr>
          <p:nvPr>
            <p:ph idx="1"/>
          </p:nvPr>
        </p:nvSpPr>
        <p:spPr>
          <a:xfrm>
            <a:off x="838200" y="524656"/>
            <a:ext cx="10515600" cy="5652307"/>
          </a:xfrm>
        </p:spPr>
        <p:txBody>
          <a:bodyPr>
            <a:normAutofit/>
          </a:bodyPr>
          <a:lstStyle/>
          <a:p>
            <a:r>
              <a:rPr lang="en-US" sz="3200" b="1" dirty="0"/>
              <a:t>Intrusion-Detection Monitoring:</a:t>
            </a:r>
            <a:r>
              <a:rPr lang="en-US" sz="3200" dirty="0"/>
              <a:t> All critical servers must be constantly monitored at all times for intrusion detection. This monitoring must cover at least the following categories: </a:t>
            </a:r>
          </a:p>
          <a:p>
            <a:pPr marL="0" indent="0">
              <a:buNone/>
            </a:pPr>
            <a:r>
              <a:rPr lang="en-US" sz="3200" dirty="0"/>
              <a:t>• Port scans and attempts to discover active services </a:t>
            </a:r>
          </a:p>
          <a:p>
            <a:pPr marL="0" indent="0">
              <a:buNone/>
            </a:pPr>
            <a:r>
              <a:rPr lang="en-US" sz="3200" dirty="0"/>
              <a:t>• Non-standard application connections </a:t>
            </a:r>
          </a:p>
          <a:p>
            <a:pPr marL="0" indent="0">
              <a:buNone/>
            </a:pPr>
            <a:r>
              <a:rPr lang="en-US" sz="3200" dirty="0"/>
              <a:t>• Non-standard application behavior </a:t>
            </a:r>
          </a:p>
          <a:p>
            <a:pPr marL="0" indent="0">
              <a:buNone/>
            </a:pPr>
            <a:r>
              <a:rPr lang="en-US" sz="3200" dirty="0"/>
              <a:t>• Multiple applications </a:t>
            </a:r>
          </a:p>
          <a:p>
            <a:pPr marL="0" indent="0">
              <a:buNone/>
            </a:pPr>
            <a:r>
              <a:rPr lang="en-US" sz="3200" dirty="0"/>
              <a:t>• Sequential activation of multiple applications </a:t>
            </a:r>
          </a:p>
          <a:p>
            <a:pPr marL="0" indent="0">
              <a:buNone/>
            </a:pPr>
            <a:r>
              <a:rPr lang="en-US" sz="3200" dirty="0"/>
              <a:t>• Multiple failed system login attempts</a:t>
            </a:r>
            <a:endParaRPr lang="en-TZ" sz="3200" dirty="0"/>
          </a:p>
        </p:txBody>
      </p:sp>
    </p:spTree>
    <p:extLst>
      <p:ext uri="{BB962C8B-B14F-4D97-AF65-F5344CB8AC3E}">
        <p14:creationId xmlns:p14="http://schemas.microsoft.com/office/powerpoint/2010/main" val="10950590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3CD968-2514-5981-C748-86132DB25DB2}"/>
              </a:ext>
            </a:extLst>
          </p:cNvPr>
          <p:cNvSpPr>
            <a:spLocks noGrp="1"/>
          </p:cNvSpPr>
          <p:nvPr>
            <p:ph idx="1"/>
          </p:nvPr>
        </p:nvSpPr>
        <p:spPr>
          <a:xfrm>
            <a:off x="838200" y="524656"/>
            <a:ext cx="10515600" cy="5652307"/>
          </a:xfrm>
        </p:spPr>
        <p:txBody>
          <a:bodyPr/>
          <a:lstStyle/>
          <a:p>
            <a:r>
              <a:rPr lang="en-US" b="1" dirty="0"/>
              <a:t>Firewall Monitoring: </a:t>
            </a:r>
            <a:r>
              <a:rPr lang="en-US" dirty="0"/>
              <a:t>All firewalls must be constantly monitored, 24x7, by trained security analysts. This monitoring must include at least the following activities:</a:t>
            </a:r>
          </a:p>
          <a:p>
            <a:pPr marL="0" indent="0">
              <a:buNone/>
            </a:pPr>
            <a:r>
              <a:rPr lang="en-US" dirty="0"/>
              <a:t>• Penetration detection (on the firewall) </a:t>
            </a:r>
          </a:p>
          <a:p>
            <a:pPr marL="0" indent="0">
              <a:buNone/>
            </a:pPr>
            <a:r>
              <a:rPr lang="en-US" dirty="0"/>
              <a:t>• Attack detection (through the firewall) </a:t>
            </a:r>
          </a:p>
          <a:p>
            <a:pPr marL="0" indent="0">
              <a:buNone/>
            </a:pPr>
            <a:r>
              <a:rPr lang="en-US" dirty="0"/>
              <a:t>• Denial of service detection </a:t>
            </a:r>
          </a:p>
          <a:p>
            <a:pPr marL="0" indent="0">
              <a:buNone/>
            </a:pPr>
            <a:r>
              <a:rPr lang="en-US" dirty="0"/>
              <a:t>• Virus detection • Attack prediction </a:t>
            </a:r>
          </a:p>
          <a:p>
            <a:pPr marL="0" indent="0">
              <a:buNone/>
            </a:pPr>
            <a:r>
              <a:rPr lang="en-US" dirty="0"/>
              <a:t>• Penetration blocking </a:t>
            </a:r>
          </a:p>
          <a:p>
            <a:pPr marL="0" indent="0">
              <a:buNone/>
            </a:pPr>
            <a:r>
              <a:rPr lang="en-US" dirty="0"/>
              <a:t>• Attack blocking </a:t>
            </a:r>
          </a:p>
          <a:p>
            <a:pPr marL="0" indent="0">
              <a:buNone/>
            </a:pPr>
            <a:r>
              <a:rPr lang="en-US" dirty="0"/>
              <a:t>• Virus blocking </a:t>
            </a:r>
          </a:p>
          <a:p>
            <a:pPr marL="0" indent="0">
              <a:buNone/>
            </a:pPr>
            <a:r>
              <a:rPr lang="en-US" dirty="0"/>
              <a:t>• Intrusion response </a:t>
            </a:r>
            <a:endParaRPr lang="en-TZ" dirty="0"/>
          </a:p>
        </p:txBody>
      </p:sp>
    </p:spTree>
    <p:extLst>
      <p:ext uri="{BB962C8B-B14F-4D97-AF65-F5344CB8AC3E}">
        <p14:creationId xmlns:p14="http://schemas.microsoft.com/office/powerpoint/2010/main" val="18709573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879B58-E140-F9D7-D3AA-69CDC54C2899}"/>
              </a:ext>
            </a:extLst>
          </p:cNvPr>
          <p:cNvSpPr>
            <a:spLocks noGrp="1"/>
          </p:cNvSpPr>
          <p:nvPr>
            <p:ph idx="1"/>
          </p:nvPr>
        </p:nvSpPr>
        <p:spPr>
          <a:xfrm>
            <a:off x="419725" y="329784"/>
            <a:ext cx="11362544" cy="6100996"/>
          </a:xfrm>
        </p:spPr>
        <p:txBody>
          <a:bodyPr>
            <a:noAutofit/>
          </a:bodyPr>
          <a:lstStyle/>
          <a:p>
            <a:r>
              <a:rPr lang="en-US" b="1" dirty="0"/>
              <a:t>Network Security Monitoring: </a:t>
            </a:r>
            <a:r>
              <a:rPr lang="en-US" dirty="0"/>
              <a:t>All internal and external networks must be constantly monitored, 24x7, by trained security analysts. This monitoring must involve at least the following activities: </a:t>
            </a:r>
          </a:p>
          <a:p>
            <a:pPr marL="0" indent="0">
              <a:buNone/>
            </a:pPr>
            <a:r>
              <a:rPr lang="en-US" dirty="0"/>
              <a:t>• Unauthorized access attempts on firewalls, systems, and network devices </a:t>
            </a:r>
          </a:p>
          <a:p>
            <a:pPr marL="0" indent="0">
              <a:buNone/>
            </a:pPr>
            <a:r>
              <a:rPr lang="en-US" dirty="0"/>
              <a:t>• Port scanning </a:t>
            </a:r>
          </a:p>
          <a:p>
            <a:pPr marL="0" indent="0">
              <a:buNone/>
            </a:pPr>
            <a:r>
              <a:rPr lang="en-US" dirty="0"/>
              <a:t>• System intrusion originating from a protected system behind a firewall </a:t>
            </a:r>
          </a:p>
          <a:p>
            <a:pPr marL="0" indent="0">
              <a:buNone/>
            </a:pPr>
            <a:r>
              <a:rPr lang="en-US" dirty="0"/>
              <a:t>• System intrusion originating from outside the firewall • Network intrusion </a:t>
            </a:r>
          </a:p>
          <a:p>
            <a:pPr marL="0" indent="0">
              <a:buNone/>
            </a:pPr>
            <a:r>
              <a:rPr lang="en-US" dirty="0"/>
              <a:t>• Unauthorized modem dial-in usage </a:t>
            </a:r>
          </a:p>
          <a:p>
            <a:pPr marL="0" indent="0">
              <a:buNone/>
            </a:pPr>
            <a:r>
              <a:rPr lang="en-US" dirty="0"/>
              <a:t>• Unauthorized modem dial-out usage </a:t>
            </a:r>
          </a:p>
          <a:p>
            <a:pPr marL="0" indent="0">
              <a:buNone/>
            </a:pPr>
            <a:r>
              <a:rPr lang="en-US" dirty="0"/>
              <a:t>• Denial of services </a:t>
            </a:r>
          </a:p>
          <a:p>
            <a:pPr marL="0" indent="0">
              <a:buNone/>
            </a:pPr>
            <a:r>
              <a:rPr lang="en-US" dirty="0"/>
              <a:t>• Correlation between events on the internal network and the Internet</a:t>
            </a:r>
            <a:endParaRPr lang="en-TZ" dirty="0"/>
          </a:p>
        </p:txBody>
      </p:sp>
    </p:spTree>
    <p:extLst>
      <p:ext uri="{BB962C8B-B14F-4D97-AF65-F5344CB8AC3E}">
        <p14:creationId xmlns:p14="http://schemas.microsoft.com/office/powerpoint/2010/main" val="10489990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458FD2-76F3-024B-7139-E8500E54143D}"/>
              </a:ext>
            </a:extLst>
          </p:cNvPr>
          <p:cNvSpPr>
            <a:spLocks noGrp="1"/>
          </p:cNvSpPr>
          <p:nvPr>
            <p:ph idx="1"/>
          </p:nvPr>
        </p:nvSpPr>
        <p:spPr>
          <a:xfrm>
            <a:off x="449705" y="419724"/>
            <a:ext cx="11197652" cy="6026045"/>
          </a:xfrm>
        </p:spPr>
        <p:txBody>
          <a:bodyPr>
            <a:noAutofit/>
          </a:bodyPr>
          <a:lstStyle/>
          <a:p>
            <a:pPr marL="0" indent="0" algn="l">
              <a:buNone/>
            </a:pPr>
            <a:r>
              <a:rPr lang="en-US" sz="3000" b="1" i="0" dirty="0">
                <a:solidFill>
                  <a:srgbClr val="111111"/>
                </a:solidFill>
                <a:effectLst/>
                <a:highlight>
                  <a:srgbClr val="F3F3F3"/>
                </a:highlight>
                <a:latin typeface="-apple-system"/>
              </a:rPr>
              <a:t>Detection Techniques</a:t>
            </a:r>
            <a:r>
              <a:rPr lang="en-US" sz="3000" b="0" i="0" dirty="0">
                <a:solidFill>
                  <a:srgbClr val="111111"/>
                </a:solidFill>
                <a:effectLst/>
                <a:highlight>
                  <a:srgbClr val="F3F3F3"/>
                </a:highlight>
                <a:latin typeface="-apple-system"/>
              </a:rPr>
              <a:t>:</a:t>
            </a:r>
          </a:p>
          <a:p>
            <a:pPr algn="l">
              <a:buFont typeface="Arial" panose="020B0604020202020204" pitchFamily="34" charset="0"/>
              <a:buChar char="•"/>
            </a:pPr>
            <a:r>
              <a:rPr lang="en-US" sz="3000" b="1" i="0" dirty="0">
                <a:solidFill>
                  <a:srgbClr val="111111"/>
                </a:solidFill>
                <a:effectLst/>
                <a:highlight>
                  <a:srgbClr val="F3F3F3"/>
                </a:highlight>
                <a:latin typeface="-apple-system"/>
              </a:rPr>
              <a:t>Malware Detection</a:t>
            </a:r>
            <a:r>
              <a:rPr lang="en-US" sz="3000" b="0" i="0" dirty="0">
                <a:solidFill>
                  <a:srgbClr val="111111"/>
                </a:solidFill>
                <a:effectLst/>
                <a:highlight>
                  <a:srgbClr val="F3F3F3"/>
                </a:highlight>
                <a:latin typeface="-apple-system"/>
              </a:rPr>
              <a:t>:</a:t>
            </a:r>
          </a:p>
          <a:p>
            <a:pPr marL="742950" lvl="1" indent="-285750" algn="l">
              <a:buFont typeface="Arial" panose="020B0604020202020204" pitchFamily="34" charset="0"/>
              <a:buChar char="•"/>
            </a:pPr>
            <a:r>
              <a:rPr lang="en-US" sz="3000" b="1" i="0" dirty="0">
                <a:solidFill>
                  <a:srgbClr val="111111"/>
                </a:solidFill>
                <a:effectLst/>
                <a:highlight>
                  <a:srgbClr val="F3F3F3"/>
                </a:highlight>
                <a:latin typeface="-apple-system"/>
              </a:rPr>
              <a:t>Signature-Based Detection</a:t>
            </a:r>
            <a:r>
              <a:rPr lang="en-US" sz="3000" b="0" i="0" dirty="0">
                <a:solidFill>
                  <a:srgbClr val="111111"/>
                </a:solidFill>
                <a:effectLst/>
                <a:highlight>
                  <a:srgbClr val="F3F3F3"/>
                </a:highlight>
                <a:latin typeface="-apple-system"/>
              </a:rPr>
              <a:t>: Identifies known malware indicators.</a:t>
            </a:r>
          </a:p>
          <a:p>
            <a:pPr marL="742950" lvl="1" indent="-285750" algn="l">
              <a:buFont typeface="Arial" panose="020B0604020202020204" pitchFamily="34" charset="0"/>
              <a:buChar char="•"/>
            </a:pPr>
            <a:r>
              <a:rPr lang="en-US" sz="3000" b="1" i="0" dirty="0">
                <a:solidFill>
                  <a:srgbClr val="111111"/>
                </a:solidFill>
                <a:effectLst/>
                <a:highlight>
                  <a:srgbClr val="F3F3F3"/>
                </a:highlight>
                <a:latin typeface="-apple-system"/>
              </a:rPr>
              <a:t>Dynamic Analysis</a:t>
            </a:r>
            <a:r>
              <a:rPr lang="en-US" sz="3000" b="0" i="0" dirty="0">
                <a:solidFill>
                  <a:srgbClr val="111111"/>
                </a:solidFill>
                <a:effectLst/>
                <a:highlight>
                  <a:srgbClr val="F3F3F3"/>
                </a:highlight>
                <a:latin typeface="-apple-system"/>
              </a:rPr>
              <a:t>: Executes code in a safe environment (sandbox) to observe behavior.</a:t>
            </a:r>
          </a:p>
          <a:p>
            <a:pPr algn="l">
              <a:buFont typeface="Arial" panose="020B0604020202020204" pitchFamily="34" charset="0"/>
              <a:buChar char="•"/>
            </a:pPr>
            <a:r>
              <a:rPr lang="en-US" sz="3000" b="1" i="0" dirty="0">
                <a:solidFill>
                  <a:srgbClr val="111111"/>
                </a:solidFill>
                <a:effectLst/>
                <a:highlight>
                  <a:srgbClr val="F3F3F3"/>
                </a:highlight>
                <a:latin typeface="-apple-system"/>
              </a:rPr>
              <a:t>Fraud Detection</a:t>
            </a:r>
            <a:r>
              <a:rPr lang="en-US" sz="3000" b="0" i="0" dirty="0">
                <a:solidFill>
                  <a:srgbClr val="111111"/>
                </a:solidFill>
                <a:effectLst/>
                <a:highlight>
                  <a:srgbClr val="F3F3F3"/>
                </a:highlight>
                <a:latin typeface="-apple-system"/>
              </a:rPr>
              <a:t>:</a:t>
            </a:r>
          </a:p>
          <a:p>
            <a:pPr marL="742950" lvl="1" indent="-285750" algn="l">
              <a:buFont typeface="Arial" panose="020B0604020202020204" pitchFamily="34" charset="0"/>
              <a:buChar char="•"/>
            </a:pPr>
            <a:r>
              <a:rPr lang="en-US" sz="3000" b="1" i="0" dirty="0">
                <a:solidFill>
                  <a:srgbClr val="111111"/>
                </a:solidFill>
                <a:effectLst/>
                <a:highlight>
                  <a:srgbClr val="F3F3F3"/>
                </a:highlight>
                <a:latin typeface="-apple-system"/>
              </a:rPr>
              <a:t>Statistical Analysis</a:t>
            </a:r>
            <a:r>
              <a:rPr lang="en-US" sz="3000" b="0" i="0" dirty="0">
                <a:solidFill>
                  <a:srgbClr val="111111"/>
                </a:solidFill>
                <a:effectLst/>
                <a:highlight>
                  <a:srgbClr val="F3F3F3"/>
                </a:highlight>
                <a:latin typeface="-apple-system"/>
              </a:rPr>
              <a:t>: Detects anomalies in fraud-related data.</a:t>
            </a:r>
          </a:p>
          <a:p>
            <a:pPr marL="742950" lvl="1" indent="-285750" algn="l">
              <a:buFont typeface="Arial" panose="020B0604020202020204" pitchFamily="34" charset="0"/>
              <a:buChar char="•"/>
            </a:pPr>
            <a:r>
              <a:rPr lang="en-US" sz="3000" b="1" i="0" dirty="0">
                <a:solidFill>
                  <a:srgbClr val="111111"/>
                </a:solidFill>
                <a:effectLst/>
                <a:highlight>
                  <a:srgbClr val="F3F3F3"/>
                </a:highlight>
                <a:latin typeface="-apple-system"/>
              </a:rPr>
              <a:t>Machine Learning Models</a:t>
            </a:r>
            <a:r>
              <a:rPr lang="en-US" sz="3000" b="0" i="0" dirty="0">
                <a:solidFill>
                  <a:srgbClr val="111111"/>
                </a:solidFill>
                <a:effectLst/>
                <a:highlight>
                  <a:srgbClr val="F3F3F3"/>
                </a:highlight>
                <a:latin typeface="-apple-system"/>
              </a:rPr>
              <a:t>: Predictive models for identifying suspicious behavior.</a:t>
            </a:r>
          </a:p>
          <a:p>
            <a:pPr algn="l">
              <a:buFont typeface="Arial" panose="020B0604020202020204" pitchFamily="34" charset="0"/>
              <a:buChar char="•"/>
            </a:pPr>
            <a:r>
              <a:rPr lang="en-US" sz="3000" b="1" i="0" dirty="0">
                <a:solidFill>
                  <a:srgbClr val="111111"/>
                </a:solidFill>
                <a:effectLst/>
                <a:highlight>
                  <a:srgbClr val="F3F3F3"/>
                </a:highlight>
                <a:latin typeface="-apple-system"/>
              </a:rPr>
              <a:t>AI </a:t>
            </a:r>
            <a:r>
              <a:rPr lang="en-US" sz="3000" b="1" i="0" dirty="0" err="1">
                <a:solidFill>
                  <a:srgbClr val="111111"/>
                </a:solidFill>
                <a:effectLst/>
                <a:highlight>
                  <a:srgbClr val="F3F3F3"/>
                </a:highlight>
                <a:latin typeface="-apple-system"/>
              </a:rPr>
              <a:t>Detection</a:t>
            </a:r>
            <a:r>
              <a:rPr lang="en-US" sz="3000" b="0" i="0" dirty="0" err="1">
                <a:solidFill>
                  <a:srgbClr val="111111"/>
                </a:solidFill>
                <a:effectLst/>
                <a:highlight>
                  <a:srgbClr val="F3F3F3"/>
                </a:highlight>
                <a:latin typeface="-apple-system"/>
              </a:rPr>
              <a:t>:</a:t>
            </a:r>
            <a:r>
              <a:rPr lang="en-US" sz="3000" b="1" i="0" dirty="0" err="1">
                <a:solidFill>
                  <a:srgbClr val="111111"/>
                </a:solidFill>
                <a:effectLst/>
                <a:highlight>
                  <a:srgbClr val="F3F3F3"/>
                </a:highlight>
                <a:latin typeface="-apple-system"/>
              </a:rPr>
              <a:t>Linguistic</a:t>
            </a:r>
            <a:r>
              <a:rPr lang="en-US" sz="3000" b="1" i="0" dirty="0">
                <a:solidFill>
                  <a:srgbClr val="111111"/>
                </a:solidFill>
                <a:effectLst/>
                <a:highlight>
                  <a:srgbClr val="F3F3F3"/>
                </a:highlight>
                <a:latin typeface="-apple-system"/>
              </a:rPr>
              <a:t> Analysis</a:t>
            </a:r>
            <a:r>
              <a:rPr lang="en-US" sz="3000" b="0" i="0" dirty="0">
                <a:solidFill>
                  <a:srgbClr val="111111"/>
                </a:solidFill>
                <a:effectLst/>
                <a:highlight>
                  <a:srgbClr val="F3F3F3"/>
                </a:highlight>
                <a:latin typeface="-apple-system"/>
              </a:rPr>
              <a:t>: Identifies AI-generated patterns in language.</a:t>
            </a:r>
          </a:p>
          <a:p>
            <a:pPr algn="l">
              <a:buFont typeface="Arial" panose="020B0604020202020204" pitchFamily="34" charset="0"/>
              <a:buChar char="•"/>
            </a:pPr>
            <a:r>
              <a:rPr lang="en-US" sz="3000" b="1" i="0" dirty="0">
                <a:solidFill>
                  <a:srgbClr val="111111"/>
                </a:solidFill>
                <a:effectLst/>
                <a:highlight>
                  <a:srgbClr val="F3F3F3"/>
                </a:highlight>
                <a:latin typeface="-apple-system"/>
              </a:rPr>
              <a:t>Statistical Modeling</a:t>
            </a:r>
            <a:r>
              <a:rPr lang="en-US" sz="3000" b="0" i="0" dirty="0">
                <a:solidFill>
                  <a:srgbClr val="111111"/>
                </a:solidFill>
                <a:effectLst/>
                <a:highlight>
                  <a:srgbClr val="F3F3F3"/>
                </a:highlight>
                <a:latin typeface="-apple-system"/>
              </a:rPr>
              <a:t>: Distinguishes human vs. </a:t>
            </a:r>
            <a:r>
              <a:rPr lang="en-US" sz="3000" b="0" i="0" dirty="0">
                <a:solidFill>
                  <a:srgbClr val="111111"/>
                </a:solidFill>
                <a:effectLst/>
                <a:highlight>
                  <a:srgbClr val="F3F3F3"/>
                </a:highlight>
                <a:latin typeface="-apple-system"/>
                <a:hlinkClick r:id="rId2"/>
              </a:rPr>
              <a:t>AI writing</a:t>
            </a:r>
            <a:endParaRPr lang="en-US" sz="3000" b="0" i="0" dirty="0">
              <a:solidFill>
                <a:srgbClr val="111111"/>
              </a:solidFill>
              <a:effectLst/>
              <a:highlight>
                <a:srgbClr val="F3F3F3"/>
              </a:highlight>
              <a:latin typeface="-apple-system"/>
            </a:endParaRPr>
          </a:p>
          <a:p>
            <a:endParaRPr lang="en-TZ" sz="3000" dirty="0"/>
          </a:p>
        </p:txBody>
      </p:sp>
    </p:spTree>
    <p:extLst>
      <p:ext uri="{BB962C8B-B14F-4D97-AF65-F5344CB8AC3E}">
        <p14:creationId xmlns:p14="http://schemas.microsoft.com/office/powerpoint/2010/main" val="1253118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B94AB-7CA9-6996-9397-26468EBD1878}"/>
              </a:ext>
            </a:extLst>
          </p:cNvPr>
          <p:cNvSpPr>
            <a:spLocks noGrp="1"/>
          </p:cNvSpPr>
          <p:nvPr>
            <p:ph type="title"/>
          </p:nvPr>
        </p:nvSpPr>
        <p:spPr>
          <a:xfrm>
            <a:off x="838200" y="365126"/>
            <a:ext cx="10515600" cy="983990"/>
          </a:xfrm>
        </p:spPr>
        <p:txBody>
          <a:bodyPr>
            <a:normAutofit fontScale="90000"/>
          </a:bodyPr>
          <a:lstStyle/>
          <a:p>
            <a:r>
              <a:rPr lang="en-US" sz="3600" b="1" u="none" strike="noStrike" dirty="0">
                <a:solidFill>
                  <a:srgbClr val="000000"/>
                </a:solidFill>
                <a:effectLst/>
                <a:latin typeface="Times New Roman" panose="02020603050405020304" pitchFamily="18" charset="0"/>
                <a:ea typeface="Times New Roman" panose="02020603050405020304" pitchFamily="18" charset="0"/>
              </a:rPr>
              <a:t>Security testing techniques (intrusion testing, vulnerability scanning)</a:t>
            </a:r>
            <a:endParaRPr lang="en-TZ" sz="3600" b="1" dirty="0"/>
          </a:p>
        </p:txBody>
      </p:sp>
      <p:sp>
        <p:nvSpPr>
          <p:cNvPr id="3" name="Content Placeholder 2">
            <a:extLst>
              <a:ext uri="{FF2B5EF4-FFF2-40B4-BE49-F238E27FC236}">
                <a16:creationId xmlns:a16="http://schemas.microsoft.com/office/drawing/2014/main" id="{56F9F648-5630-AB61-A1FF-AB46E34D76E3}"/>
              </a:ext>
            </a:extLst>
          </p:cNvPr>
          <p:cNvSpPr>
            <a:spLocks noGrp="1"/>
          </p:cNvSpPr>
          <p:nvPr>
            <p:ph idx="1"/>
          </p:nvPr>
        </p:nvSpPr>
        <p:spPr>
          <a:xfrm>
            <a:off x="419725" y="1588956"/>
            <a:ext cx="11392524" cy="4903917"/>
          </a:xfrm>
        </p:spPr>
        <p:txBody>
          <a:bodyPr>
            <a:noAutofit/>
          </a:bodyPr>
          <a:lstStyle/>
          <a:p>
            <a:pPr algn="l"/>
            <a:r>
              <a:rPr lang="en-US" sz="3600" b="1" i="0" dirty="0">
                <a:solidFill>
                  <a:srgbClr val="111111"/>
                </a:solidFill>
                <a:effectLst/>
                <a:highlight>
                  <a:srgbClr val="F3F3F3"/>
                </a:highlight>
                <a:latin typeface="-apple-system"/>
              </a:rPr>
              <a:t>Intrusion Testing (Penetration Testing)</a:t>
            </a:r>
            <a:r>
              <a:rPr lang="en-US" sz="3600" b="0" i="0" dirty="0">
                <a:solidFill>
                  <a:srgbClr val="111111"/>
                </a:solidFill>
                <a:effectLst/>
                <a:highlight>
                  <a:srgbClr val="F3F3F3"/>
                </a:highlight>
                <a:latin typeface="-apple-system"/>
              </a:rPr>
              <a:t>:</a:t>
            </a:r>
          </a:p>
          <a:p>
            <a:pPr algn="l">
              <a:buFont typeface="Arial" panose="020B0604020202020204" pitchFamily="34" charset="0"/>
              <a:buChar char="•"/>
            </a:pPr>
            <a:r>
              <a:rPr lang="en-US" sz="3600" b="1" i="0" dirty="0">
                <a:solidFill>
                  <a:srgbClr val="111111"/>
                </a:solidFill>
                <a:effectLst/>
                <a:highlight>
                  <a:srgbClr val="F3F3F3"/>
                </a:highlight>
                <a:latin typeface="-apple-system"/>
              </a:rPr>
              <a:t>Purpose</a:t>
            </a:r>
            <a:r>
              <a:rPr lang="en-US" sz="3600" b="0" i="0" dirty="0">
                <a:solidFill>
                  <a:srgbClr val="111111"/>
                </a:solidFill>
                <a:effectLst/>
                <a:highlight>
                  <a:srgbClr val="F3F3F3"/>
                </a:highlight>
                <a:latin typeface="-apple-system"/>
              </a:rPr>
              <a:t>: Simulates real-world cyberattacks to identify vulnerabilities and assess the security posture of systems.</a:t>
            </a:r>
          </a:p>
          <a:p>
            <a:pPr algn="l">
              <a:buFont typeface="Arial" panose="020B0604020202020204" pitchFamily="34" charset="0"/>
              <a:buChar char="•"/>
            </a:pPr>
            <a:r>
              <a:rPr lang="en-US" sz="3600" b="1" i="0" dirty="0">
                <a:solidFill>
                  <a:srgbClr val="111111"/>
                </a:solidFill>
                <a:effectLst/>
                <a:highlight>
                  <a:srgbClr val="F3F3F3"/>
                </a:highlight>
                <a:latin typeface="-apple-system"/>
              </a:rPr>
              <a:t>Methodology</a:t>
            </a:r>
            <a:r>
              <a:rPr lang="en-US" sz="3600" b="0" i="0" dirty="0">
                <a:solidFill>
                  <a:srgbClr val="111111"/>
                </a:solidFill>
                <a:effectLst/>
                <a:highlight>
                  <a:srgbClr val="F3F3F3"/>
                </a:highlight>
                <a:latin typeface="-apple-system"/>
              </a:rPr>
              <a:t>:</a:t>
            </a:r>
          </a:p>
          <a:p>
            <a:pPr marL="742950" lvl="1" indent="-285750" algn="l">
              <a:buFont typeface="Arial" panose="020B0604020202020204" pitchFamily="34" charset="0"/>
              <a:buChar char="•"/>
            </a:pPr>
            <a:r>
              <a:rPr lang="en-US" sz="2800" b="1" i="0" dirty="0">
                <a:solidFill>
                  <a:srgbClr val="111111"/>
                </a:solidFill>
                <a:effectLst/>
                <a:highlight>
                  <a:srgbClr val="F3F3F3"/>
                </a:highlight>
                <a:latin typeface="-apple-system"/>
              </a:rPr>
              <a:t>Reconnaissance</a:t>
            </a:r>
            <a:r>
              <a:rPr lang="en-US" sz="2800" b="0" i="0" dirty="0">
                <a:solidFill>
                  <a:srgbClr val="111111"/>
                </a:solidFill>
                <a:effectLst/>
                <a:highlight>
                  <a:srgbClr val="F3F3F3"/>
                </a:highlight>
                <a:latin typeface="-apple-system"/>
              </a:rPr>
              <a:t>: Gather information about the target (e.g., IP addresses, domain names).</a:t>
            </a:r>
          </a:p>
          <a:p>
            <a:pPr marL="742950" lvl="1" indent="-285750" algn="l">
              <a:buFont typeface="Arial" panose="020B0604020202020204" pitchFamily="34" charset="0"/>
              <a:buChar char="•"/>
            </a:pPr>
            <a:r>
              <a:rPr lang="en-US" sz="2800" b="1" i="0" dirty="0">
                <a:solidFill>
                  <a:srgbClr val="111111"/>
                </a:solidFill>
                <a:effectLst/>
                <a:highlight>
                  <a:srgbClr val="F3F3F3"/>
                </a:highlight>
                <a:latin typeface="-apple-system"/>
              </a:rPr>
              <a:t>Scanning</a:t>
            </a:r>
            <a:r>
              <a:rPr lang="en-US" sz="2800" b="0" i="0" dirty="0">
                <a:solidFill>
                  <a:srgbClr val="111111"/>
                </a:solidFill>
                <a:effectLst/>
                <a:highlight>
                  <a:srgbClr val="F3F3F3"/>
                </a:highlight>
                <a:latin typeface="-apple-system"/>
              </a:rPr>
              <a:t>: Identify open ports, services, and potential vulnerabilities.</a:t>
            </a:r>
          </a:p>
          <a:p>
            <a:pPr marL="742950" lvl="1" indent="-285750" algn="l">
              <a:buFont typeface="Arial" panose="020B0604020202020204" pitchFamily="34" charset="0"/>
              <a:buChar char="•"/>
            </a:pPr>
            <a:endParaRPr lang="en-US" sz="2800" b="0" i="0" dirty="0">
              <a:solidFill>
                <a:srgbClr val="111111"/>
              </a:solidFill>
              <a:effectLst/>
              <a:highlight>
                <a:srgbClr val="F3F3F3"/>
              </a:highlight>
              <a:latin typeface="-apple-system"/>
            </a:endParaRPr>
          </a:p>
          <a:p>
            <a:endParaRPr lang="en-TZ" sz="3600" dirty="0"/>
          </a:p>
        </p:txBody>
      </p:sp>
    </p:spTree>
    <p:extLst>
      <p:ext uri="{BB962C8B-B14F-4D97-AF65-F5344CB8AC3E}">
        <p14:creationId xmlns:p14="http://schemas.microsoft.com/office/powerpoint/2010/main" val="22970372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FC429A-4242-7008-F0F6-A971B24AF9E3}"/>
              </a:ext>
            </a:extLst>
          </p:cNvPr>
          <p:cNvSpPr>
            <a:spLocks noGrp="1"/>
          </p:cNvSpPr>
          <p:nvPr>
            <p:ph idx="1"/>
          </p:nvPr>
        </p:nvSpPr>
        <p:spPr>
          <a:xfrm>
            <a:off x="404733" y="359764"/>
            <a:ext cx="11377535" cy="6071016"/>
          </a:xfrm>
        </p:spPr>
        <p:txBody>
          <a:bodyPr/>
          <a:lstStyle/>
          <a:p>
            <a:pPr marL="742950" lvl="1" indent="-285750" algn="l">
              <a:buFont typeface="Arial" panose="020B0604020202020204" pitchFamily="34" charset="0"/>
              <a:buChar char="•"/>
            </a:pPr>
            <a:r>
              <a:rPr lang="en-US" sz="2800" b="1" i="0" dirty="0">
                <a:solidFill>
                  <a:srgbClr val="111111"/>
                </a:solidFill>
                <a:effectLst/>
                <a:highlight>
                  <a:srgbClr val="F3F3F3"/>
                </a:highlight>
                <a:latin typeface="-apple-system"/>
              </a:rPr>
              <a:t>Vulnerability Assessment</a:t>
            </a:r>
            <a:r>
              <a:rPr lang="en-US" sz="2800" b="0" i="0" dirty="0">
                <a:solidFill>
                  <a:srgbClr val="111111"/>
                </a:solidFill>
                <a:effectLst/>
                <a:highlight>
                  <a:srgbClr val="F3F3F3"/>
                </a:highlight>
                <a:latin typeface="-apple-system"/>
              </a:rPr>
              <a:t>: Evaluate weaknesses (e.g., outdated software, misconfigurations).</a:t>
            </a:r>
          </a:p>
          <a:p>
            <a:pPr marL="742950" lvl="1" indent="-285750" algn="l">
              <a:buFont typeface="Arial" panose="020B0604020202020204" pitchFamily="34" charset="0"/>
              <a:buChar char="•"/>
            </a:pPr>
            <a:r>
              <a:rPr lang="en-US" sz="2800" b="1" i="0" dirty="0">
                <a:solidFill>
                  <a:srgbClr val="111111"/>
                </a:solidFill>
                <a:effectLst/>
                <a:highlight>
                  <a:srgbClr val="F3F3F3"/>
                </a:highlight>
                <a:latin typeface="-apple-system"/>
              </a:rPr>
              <a:t>Exploitation</a:t>
            </a:r>
            <a:r>
              <a:rPr lang="en-US" sz="2800" b="0" i="0" dirty="0">
                <a:solidFill>
                  <a:srgbClr val="111111"/>
                </a:solidFill>
                <a:effectLst/>
                <a:highlight>
                  <a:srgbClr val="F3F3F3"/>
                </a:highlight>
                <a:latin typeface="-apple-system"/>
              </a:rPr>
              <a:t>: Attempt to exploit identified vulnerabilities.</a:t>
            </a:r>
          </a:p>
          <a:p>
            <a:pPr marL="742950" lvl="1" indent="-285750" algn="l">
              <a:buFont typeface="Arial" panose="020B0604020202020204" pitchFamily="34" charset="0"/>
              <a:buChar char="•"/>
            </a:pPr>
            <a:r>
              <a:rPr lang="en-US" sz="2800" b="1" i="0" dirty="0">
                <a:solidFill>
                  <a:srgbClr val="111111"/>
                </a:solidFill>
                <a:effectLst/>
                <a:highlight>
                  <a:srgbClr val="F3F3F3"/>
                </a:highlight>
                <a:latin typeface="-apple-system"/>
              </a:rPr>
              <a:t>Reporting</a:t>
            </a:r>
            <a:r>
              <a:rPr lang="en-US" sz="2800" b="0" i="0" dirty="0">
                <a:solidFill>
                  <a:srgbClr val="111111"/>
                </a:solidFill>
                <a:effectLst/>
                <a:highlight>
                  <a:srgbClr val="F3F3F3"/>
                </a:highlight>
                <a:latin typeface="-apple-system"/>
              </a:rPr>
              <a:t>: Document findings and recommend remediation steps.</a:t>
            </a:r>
          </a:p>
          <a:p>
            <a:pPr algn="l">
              <a:buFont typeface="Arial" panose="020B0604020202020204" pitchFamily="34" charset="0"/>
              <a:buChar char="•"/>
            </a:pPr>
            <a:r>
              <a:rPr lang="en-US" sz="3200" b="1" i="0" dirty="0">
                <a:solidFill>
                  <a:srgbClr val="111111"/>
                </a:solidFill>
                <a:effectLst/>
                <a:highlight>
                  <a:srgbClr val="F3F3F3"/>
                </a:highlight>
                <a:latin typeface="-apple-system"/>
              </a:rPr>
              <a:t>Duration</a:t>
            </a:r>
            <a:r>
              <a:rPr lang="en-US" sz="3200" b="0" i="0" dirty="0">
                <a:solidFill>
                  <a:srgbClr val="111111"/>
                </a:solidFill>
                <a:effectLst/>
                <a:highlight>
                  <a:srgbClr val="F3F3F3"/>
                </a:highlight>
                <a:latin typeface="-apple-system"/>
              </a:rPr>
              <a:t>: Varies based on scope and complexity.</a:t>
            </a:r>
          </a:p>
          <a:p>
            <a:pPr algn="l">
              <a:buFont typeface="Arial" panose="020B0604020202020204" pitchFamily="34" charset="0"/>
              <a:buChar char="•"/>
            </a:pPr>
            <a:r>
              <a:rPr lang="en-US" sz="3200" b="1" i="0" dirty="0">
                <a:solidFill>
                  <a:srgbClr val="111111"/>
                </a:solidFill>
                <a:effectLst/>
                <a:highlight>
                  <a:srgbClr val="F3F3F3"/>
                </a:highlight>
                <a:latin typeface="-apple-system"/>
                <a:hlinkClick r:id="rId2"/>
              </a:rPr>
              <a:t>Tools</a:t>
            </a:r>
            <a:r>
              <a:rPr lang="en-US" sz="3200" b="0" i="0" dirty="0">
                <a:solidFill>
                  <a:srgbClr val="111111"/>
                </a:solidFill>
                <a:effectLst/>
                <a:highlight>
                  <a:srgbClr val="F3F3F3"/>
                </a:highlight>
                <a:latin typeface="-apple-system"/>
                <a:hlinkClick r:id="rId2"/>
              </a:rPr>
              <a:t>: Examples include Nessus, Metasploit, and Nmap</a:t>
            </a:r>
            <a:endParaRPr lang="en-US" sz="3200" b="0" i="0" dirty="0">
              <a:solidFill>
                <a:srgbClr val="111111"/>
              </a:solidFill>
              <a:effectLst/>
              <a:highlight>
                <a:srgbClr val="F3F3F3"/>
              </a:highlight>
              <a:latin typeface="-apple-system"/>
            </a:endParaRPr>
          </a:p>
          <a:p>
            <a:pPr algn="l"/>
            <a:r>
              <a:rPr lang="en-US" sz="3200" b="1" i="0" dirty="0">
                <a:solidFill>
                  <a:srgbClr val="111111"/>
                </a:solidFill>
                <a:effectLst/>
                <a:highlight>
                  <a:srgbClr val="F3F3F3"/>
                </a:highlight>
                <a:latin typeface="-apple-system"/>
              </a:rPr>
              <a:t>Vulnerability Scanning</a:t>
            </a:r>
            <a:r>
              <a:rPr lang="en-US" sz="3200" b="0" i="0" dirty="0">
                <a:solidFill>
                  <a:srgbClr val="111111"/>
                </a:solidFill>
                <a:effectLst/>
                <a:highlight>
                  <a:srgbClr val="F3F3F3"/>
                </a:highlight>
                <a:latin typeface="-apple-system"/>
              </a:rPr>
              <a:t>:</a:t>
            </a:r>
          </a:p>
          <a:p>
            <a:pPr algn="l">
              <a:buFont typeface="Arial" panose="020B0604020202020204" pitchFamily="34" charset="0"/>
              <a:buChar char="•"/>
            </a:pPr>
            <a:r>
              <a:rPr lang="en-US" sz="3200" b="1" i="0" dirty="0">
                <a:solidFill>
                  <a:srgbClr val="111111"/>
                </a:solidFill>
                <a:effectLst/>
                <a:highlight>
                  <a:srgbClr val="F3F3F3"/>
                </a:highlight>
                <a:latin typeface="-apple-system"/>
              </a:rPr>
              <a:t>Purpose</a:t>
            </a:r>
            <a:r>
              <a:rPr lang="en-US" sz="3200" b="0" i="0" dirty="0">
                <a:solidFill>
                  <a:srgbClr val="111111"/>
                </a:solidFill>
                <a:effectLst/>
                <a:highlight>
                  <a:srgbClr val="F3F3F3"/>
                </a:highlight>
                <a:latin typeface="-apple-system"/>
              </a:rPr>
              <a:t>: Identifies security weaknesses in systems, networks, and software.</a:t>
            </a:r>
          </a:p>
          <a:p>
            <a:pPr algn="l">
              <a:buFont typeface="Arial" panose="020B0604020202020204" pitchFamily="34" charset="0"/>
              <a:buChar char="•"/>
            </a:pPr>
            <a:r>
              <a:rPr lang="en-US" sz="3200" b="1" i="0" dirty="0">
                <a:solidFill>
                  <a:srgbClr val="111111"/>
                </a:solidFill>
                <a:effectLst/>
                <a:highlight>
                  <a:srgbClr val="F3F3F3"/>
                </a:highlight>
                <a:latin typeface="-apple-system"/>
              </a:rPr>
              <a:t>Process</a:t>
            </a:r>
            <a:r>
              <a:rPr lang="en-US" sz="3200" b="0" i="0" dirty="0">
                <a:solidFill>
                  <a:srgbClr val="111111"/>
                </a:solidFill>
                <a:effectLst/>
                <a:highlight>
                  <a:srgbClr val="F3F3F3"/>
                </a:highlight>
                <a:latin typeface="-apple-system"/>
              </a:rPr>
              <a:t>:</a:t>
            </a:r>
          </a:p>
          <a:p>
            <a:pPr marL="742950" lvl="1" indent="-285750" algn="l">
              <a:buFont typeface="Arial" panose="020B0604020202020204" pitchFamily="34" charset="0"/>
              <a:buChar char="•"/>
            </a:pPr>
            <a:r>
              <a:rPr lang="en-US" sz="2800" b="1" i="0" dirty="0">
                <a:solidFill>
                  <a:srgbClr val="111111"/>
                </a:solidFill>
                <a:effectLst/>
                <a:highlight>
                  <a:srgbClr val="F3F3F3"/>
                </a:highlight>
                <a:latin typeface="-apple-system"/>
              </a:rPr>
              <a:t>Asset Inventory</a:t>
            </a:r>
            <a:r>
              <a:rPr lang="en-US" sz="2800" b="0" i="0" dirty="0">
                <a:solidFill>
                  <a:srgbClr val="111111"/>
                </a:solidFill>
                <a:effectLst/>
                <a:highlight>
                  <a:srgbClr val="F3F3F3"/>
                </a:highlight>
                <a:latin typeface="-apple-system"/>
              </a:rPr>
              <a:t>: Identifies connected systems, their OS, software, ports, and accounts.</a:t>
            </a:r>
          </a:p>
          <a:p>
            <a:endParaRPr lang="en-TZ" dirty="0"/>
          </a:p>
        </p:txBody>
      </p:sp>
    </p:spTree>
    <p:extLst>
      <p:ext uri="{BB962C8B-B14F-4D97-AF65-F5344CB8AC3E}">
        <p14:creationId xmlns:p14="http://schemas.microsoft.com/office/powerpoint/2010/main" val="27115820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8D6EF9-6F91-34E9-7BB6-D2A539F0B58F}"/>
              </a:ext>
            </a:extLst>
          </p:cNvPr>
          <p:cNvSpPr>
            <a:spLocks noGrp="1"/>
          </p:cNvSpPr>
          <p:nvPr>
            <p:ph idx="1"/>
          </p:nvPr>
        </p:nvSpPr>
        <p:spPr>
          <a:xfrm>
            <a:off x="838200" y="479685"/>
            <a:ext cx="10515600" cy="5697278"/>
          </a:xfrm>
        </p:spPr>
        <p:txBody>
          <a:bodyPr>
            <a:normAutofit lnSpcReduction="10000"/>
          </a:bodyPr>
          <a:lstStyle/>
          <a:p>
            <a:pPr marL="742950" lvl="1" indent="-285750" algn="l">
              <a:buFont typeface="Arial" panose="020B0604020202020204" pitchFamily="34" charset="0"/>
              <a:buChar char="•"/>
            </a:pPr>
            <a:r>
              <a:rPr lang="en-US" sz="3200" b="1" i="0" dirty="0">
                <a:solidFill>
                  <a:srgbClr val="111111"/>
                </a:solidFill>
                <a:effectLst/>
                <a:highlight>
                  <a:srgbClr val="F3F3F3"/>
                </a:highlight>
                <a:latin typeface="-apple-system"/>
              </a:rPr>
              <a:t>Scans Attack Surface</a:t>
            </a:r>
            <a:r>
              <a:rPr lang="en-US" sz="3200" b="0" i="0" dirty="0">
                <a:solidFill>
                  <a:srgbClr val="111111"/>
                </a:solidFill>
                <a:effectLst/>
                <a:highlight>
                  <a:srgbClr val="F3F3F3"/>
                </a:highlight>
                <a:latin typeface="-apple-system"/>
              </a:rPr>
              <a:t>: Analyzes networks, hardware, and software for risk exposures.</a:t>
            </a:r>
          </a:p>
          <a:p>
            <a:pPr marL="742950" lvl="1" indent="-285750" algn="l">
              <a:buFont typeface="Arial" panose="020B0604020202020204" pitchFamily="34" charset="0"/>
              <a:buChar char="•"/>
            </a:pPr>
            <a:r>
              <a:rPr lang="en-US" sz="3200" b="1" i="0" dirty="0">
                <a:solidFill>
                  <a:srgbClr val="111111"/>
                </a:solidFill>
                <a:effectLst/>
                <a:highlight>
                  <a:srgbClr val="F3F3F3"/>
                </a:highlight>
                <a:latin typeface="-apple-system"/>
              </a:rPr>
              <a:t>Compares with Databases</a:t>
            </a:r>
            <a:r>
              <a:rPr lang="en-US" sz="3200" b="0" i="0" dirty="0">
                <a:solidFill>
                  <a:srgbClr val="111111"/>
                </a:solidFill>
                <a:effectLst/>
                <a:highlight>
                  <a:srgbClr val="F3F3F3"/>
                </a:highlight>
                <a:latin typeface="-apple-system"/>
              </a:rPr>
              <a:t>: Checks for known flaws (e.g., CVEs) and paths to sensitive data.</a:t>
            </a:r>
          </a:p>
          <a:p>
            <a:pPr marL="742950" lvl="1" indent="-285750" algn="l">
              <a:buFont typeface="Arial" panose="020B0604020202020204" pitchFamily="34" charset="0"/>
              <a:buChar char="•"/>
            </a:pPr>
            <a:r>
              <a:rPr lang="en-US" sz="3200" b="1" i="0" dirty="0">
                <a:solidFill>
                  <a:srgbClr val="111111"/>
                </a:solidFill>
                <a:effectLst/>
                <a:highlight>
                  <a:srgbClr val="F3F3F3"/>
                </a:highlight>
                <a:latin typeface="-apple-system"/>
              </a:rPr>
              <a:t>Detects and Classifies</a:t>
            </a:r>
            <a:r>
              <a:rPr lang="en-US" sz="3200" b="0" i="0" dirty="0">
                <a:solidFill>
                  <a:srgbClr val="111111"/>
                </a:solidFill>
                <a:effectLst/>
                <a:highlight>
                  <a:srgbClr val="F3F3F3"/>
                </a:highlight>
                <a:latin typeface="-apple-system"/>
              </a:rPr>
              <a:t>: Identifies exploitable system weaknesses.</a:t>
            </a:r>
          </a:p>
          <a:p>
            <a:pPr marL="742950" lvl="1" indent="-285750" algn="l">
              <a:buFont typeface="Arial" panose="020B0604020202020204" pitchFamily="34" charset="0"/>
              <a:buChar char="•"/>
            </a:pPr>
            <a:r>
              <a:rPr lang="en-US" sz="3200" b="1" i="0" dirty="0">
                <a:solidFill>
                  <a:srgbClr val="111111"/>
                </a:solidFill>
                <a:effectLst/>
                <a:highlight>
                  <a:srgbClr val="F3F3F3"/>
                </a:highlight>
                <a:latin typeface="-apple-system"/>
              </a:rPr>
              <a:t>Reports</a:t>
            </a:r>
            <a:r>
              <a:rPr lang="en-US" sz="3200" b="0" i="0" dirty="0">
                <a:solidFill>
                  <a:srgbClr val="111111"/>
                </a:solidFill>
                <a:effectLst/>
                <a:highlight>
                  <a:srgbClr val="F3F3F3"/>
                </a:highlight>
                <a:latin typeface="-apple-system"/>
              </a:rPr>
              <a:t>: Provides vulnerability reports for prioritized remediation.</a:t>
            </a:r>
          </a:p>
          <a:p>
            <a:pPr algn="l">
              <a:buFont typeface="Arial" panose="020B0604020202020204" pitchFamily="34" charset="0"/>
              <a:buChar char="•"/>
            </a:pPr>
            <a:r>
              <a:rPr lang="en-US" sz="3600" b="1" i="0" dirty="0">
                <a:solidFill>
                  <a:srgbClr val="111111"/>
                </a:solidFill>
                <a:effectLst/>
                <a:highlight>
                  <a:srgbClr val="F3F3F3"/>
                </a:highlight>
                <a:latin typeface="-apple-system"/>
              </a:rPr>
              <a:t>Importance</a:t>
            </a:r>
            <a:r>
              <a:rPr lang="en-US" sz="3600" b="0" i="0" dirty="0">
                <a:solidFill>
                  <a:srgbClr val="111111"/>
                </a:solidFill>
                <a:effectLst/>
                <a:highlight>
                  <a:srgbClr val="F3F3F3"/>
                </a:highlight>
                <a:latin typeface="-apple-system"/>
              </a:rPr>
              <a:t>: Enhances security, compliance, and risk management.</a:t>
            </a:r>
          </a:p>
          <a:p>
            <a:pPr algn="l">
              <a:buFont typeface="Arial" panose="020B0604020202020204" pitchFamily="34" charset="0"/>
              <a:buChar char="•"/>
            </a:pPr>
            <a:r>
              <a:rPr lang="en-US" sz="3600" b="1" i="0" dirty="0">
                <a:solidFill>
                  <a:srgbClr val="111111"/>
                </a:solidFill>
                <a:effectLst/>
                <a:highlight>
                  <a:srgbClr val="F3F3F3"/>
                </a:highlight>
                <a:latin typeface="-apple-system"/>
                <a:hlinkClick r:id="rId2"/>
              </a:rPr>
              <a:t>Tools</a:t>
            </a:r>
            <a:r>
              <a:rPr lang="en-US" sz="3600" b="0" i="0" dirty="0">
                <a:solidFill>
                  <a:srgbClr val="111111"/>
                </a:solidFill>
                <a:effectLst/>
                <a:highlight>
                  <a:srgbClr val="F3F3F3"/>
                </a:highlight>
                <a:latin typeface="-apple-system"/>
                <a:hlinkClick r:id="rId2"/>
              </a:rPr>
              <a:t>: Nessus, OpenVAS, and other vulnerability scanners</a:t>
            </a:r>
            <a:endParaRPr lang="en-US" sz="3600" b="0" i="0" dirty="0">
              <a:solidFill>
                <a:srgbClr val="111111"/>
              </a:solidFill>
              <a:effectLst/>
              <a:highlight>
                <a:srgbClr val="F3F3F3"/>
              </a:highlight>
              <a:latin typeface="-apple-system"/>
            </a:endParaRPr>
          </a:p>
          <a:p>
            <a:endParaRPr lang="en-TZ" dirty="0"/>
          </a:p>
        </p:txBody>
      </p:sp>
    </p:spTree>
    <p:extLst>
      <p:ext uri="{BB962C8B-B14F-4D97-AF65-F5344CB8AC3E}">
        <p14:creationId xmlns:p14="http://schemas.microsoft.com/office/powerpoint/2010/main" val="8539653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2F15D-CC9C-09E9-374D-43D974DAEE52}"/>
              </a:ext>
            </a:extLst>
          </p:cNvPr>
          <p:cNvSpPr>
            <a:spLocks noGrp="1"/>
          </p:cNvSpPr>
          <p:nvPr>
            <p:ph type="title"/>
          </p:nvPr>
        </p:nvSpPr>
        <p:spPr>
          <a:xfrm>
            <a:off x="838200" y="365126"/>
            <a:ext cx="10515600" cy="639216"/>
          </a:xfrm>
        </p:spPr>
        <p:txBody>
          <a:bodyPr>
            <a:normAutofit fontScale="90000"/>
          </a:bodyPr>
          <a:lstStyle/>
          <a:p>
            <a:r>
              <a:rPr lang="en-US" sz="4000" b="1" dirty="0">
                <a:solidFill>
                  <a:srgbClr val="000000"/>
                </a:solidFill>
                <a:effectLst/>
                <a:latin typeface="Times New Roman" panose="02020603050405020304" pitchFamily="18" charset="0"/>
                <a:ea typeface="Times New Roman" panose="02020603050405020304" pitchFamily="18" charset="0"/>
              </a:rPr>
              <a:t>Encryption tools and techniques</a:t>
            </a:r>
            <a:endParaRPr lang="en-TZ" sz="4000" b="1" dirty="0"/>
          </a:p>
        </p:txBody>
      </p:sp>
      <p:sp>
        <p:nvSpPr>
          <p:cNvPr id="3" name="Content Placeholder 2">
            <a:extLst>
              <a:ext uri="{FF2B5EF4-FFF2-40B4-BE49-F238E27FC236}">
                <a16:creationId xmlns:a16="http://schemas.microsoft.com/office/drawing/2014/main" id="{4113D091-DE29-7E56-F9FD-773BBC88C8FC}"/>
              </a:ext>
            </a:extLst>
          </p:cNvPr>
          <p:cNvSpPr>
            <a:spLocks noGrp="1"/>
          </p:cNvSpPr>
          <p:nvPr>
            <p:ph idx="1"/>
          </p:nvPr>
        </p:nvSpPr>
        <p:spPr>
          <a:xfrm>
            <a:off x="434715" y="1214202"/>
            <a:ext cx="11302583" cy="5278671"/>
          </a:xfrm>
        </p:spPr>
        <p:txBody>
          <a:bodyPr>
            <a:noAutofit/>
          </a:bodyPr>
          <a:lstStyle/>
          <a:p>
            <a:pPr algn="l"/>
            <a:r>
              <a:rPr lang="en-US" sz="3200" b="1" i="0" dirty="0">
                <a:solidFill>
                  <a:srgbClr val="3A3A3A"/>
                </a:solidFill>
                <a:effectLst/>
                <a:highlight>
                  <a:srgbClr val="FFFFFF"/>
                </a:highlight>
                <a:latin typeface="Open Sans" panose="020B0606030504020204" pitchFamily="34" charset="0"/>
              </a:rPr>
              <a:t>Encryption Tools</a:t>
            </a:r>
          </a:p>
          <a:p>
            <a:pPr algn="l"/>
            <a:r>
              <a:rPr lang="en-US" sz="3200" b="0" i="0" dirty="0">
                <a:solidFill>
                  <a:srgbClr val="3A3A3A"/>
                </a:solidFill>
                <a:effectLst/>
                <a:highlight>
                  <a:srgbClr val="FFFFFF"/>
                </a:highlight>
                <a:latin typeface="Open Sans" panose="020B0606030504020204" pitchFamily="34" charset="0"/>
              </a:rPr>
              <a:t>Many encryption methods are varying in the key used (Symmetric or Asymmetric), key length, size of data blocks encrypted, etc. We have briefed about some of the most popular encryption techniques in this article. There are few tools available for encryption techniques. They include –</a:t>
            </a:r>
          </a:p>
          <a:p>
            <a:pPr algn="l">
              <a:buFont typeface="Arial" panose="020B0604020202020204" pitchFamily="34" charset="0"/>
              <a:buChar char="•"/>
            </a:pPr>
            <a:r>
              <a:rPr lang="en-US" sz="3200" b="1" i="0" dirty="0">
                <a:solidFill>
                  <a:srgbClr val="3A3A3A"/>
                </a:solidFill>
                <a:effectLst/>
                <a:highlight>
                  <a:srgbClr val="FFFFFF"/>
                </a:highlight>
                <a:latin typeface="Open Sans" panose="020B0606030504020204" pitchFamily="34" charset="0"/>
              </a:rPr>
              <a:t>Triple DES</a:t>
            </a:r>
            <a:r>
              <a:rPr lang="en-US" sz="3200" b="0" i="0" dirty="0">
                <a:solidFill>
                  <a:srgbClr val="3A3A3A"/>
                </a:solidFill>
                <a:effectLst/>
                <a:highlight>
                  <a:srgbClr val="FFFFFF"/>
                </a:highlight>
                <a:latin typeface="Open Sans" panose="020B0606030504020204" pitchFamily="34" charset="0"/>
              </a:rPr>
              <a:t> – Replaces </a:t>
            </a:r>
            <a:r>
              <a:rPr lang="en-US" sz="3200" b="0" i="0" u="none" strike="noStrike" dirty="0">
                <a:solidFill>
                  <a:srgbClr val="3A3A3A"/>
                </a:solidFill>
                <a:effectLst/>
                <a:highlight>
                  <a:srgbClr val="FFFFFF"/>
                </a:highlight>
                <a:latin typeface="Open Sans" panose="020B0606030504020204" pitchFamily="34" charset="0"/>
                <a:hlinkClick r:id="rId2"/>
              </a:rPr>
              <a:t>Data encryption standard(DES) algorithm</a:t>
            </a:r>
            <a:r>
              <a:rPr lang="en-US" sz="3200" b="0" i="0" dirty="0">
                <a:solidFill>
                  <a:srgbClr val="3A3A3A"/>
                </a:solidFill>
                <a:effectLst/>
                <a:highlight>
                  <a:srgbClr val="FFFFFF"/>
                </a:highlight>
                <a:latin typeface="Open Sans" panose="020B0606030504020204" pitchFamily="34" charset="0"/>
              </a:rPr>
              <a:t>, uses 3 individual keys with 56 </a:t>
            </a:r>
            <a:r>
              <a:rPr lang="en-US" sz="3200" b="0" i="0" dirty="0" err="1">
                <a:solidFill>
                  <a:srgbClr val="3A3A3A"/>
                </a:solidFill>
                <a:effectLst/>
                <a:highlight>
                  <a:srgbClr val="FFFFFF"/>
                </a:highlight>
                <a:latin typeface="Open Sans" panose="020B0606030504020204" pitchFamily="34" charset="0"/>
              </a:rPr>
              <a:t>bit.TripleDES</a:t>
            </a:r>
            <a:r>
              <a:rPr lang="en-US" sz="3200" b="0" i="0" dirty="0">
                <a:solidFill>
                  <a:srgbClr val="3A3A3A"/>
                </a:solidFill>
                <a:effectLst/>
                <a:highlight>
                  <a:srgbClr val="FFFFFF"/>
                </a:highlight>
                <a:latin typeface="Open Sans" panose="020B0606030504020204" pitchFamily="34" charset="0"/>
              </a:rPr>
              <a:t> is an advanced DES form that applies the DES cipher algorithm thrice to all the data blocks. They are used to encrypt ATM PINs, etc. </a:t>
            </a:r>
          </a:p>
          <a:p>
            <a:endParaRPr lang="en-TZ" sz="3200" dirty="0"/>
          </a:p>
        </p:txBody>
      </p:sp>
    </p:spTree>
    <p:extLst>
      <p:ext uri="{BB962C8B-B14F-4D97-AF65-F5344CB8AC3E}">
        <p14:creationId xmlns:p14="http://schemas.microsoft.com/office/powerpoint/2010/main" val="38418716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86947A-7221-4E9F-57C5-856EE893D7C8}"/>
              </a:ext>
            </a:extLst>
          </p:cNvPr>
          <p:cNvSpPr>
            <a:spLocks noGrp="1"/>
          </p:cNvSpPr>
          <p:nvPr>
            <p:ph idx="1"/>
          </p:nvPr>
        </p:nvSpPr>
        <p:spPr>
          <a:xfrm>
            <a:off x="464695" y="269823"/>
            <a:ext cx="11317574" cy="6190937"/>
          </a:xfrm>
        </p:spPr>
        <p:txBody>
          <a:bodyPr>
            <a:normAutofit/>
          </a:bodyPr>
          <a:lstStyle/>
          <a:p>
            <a:pPr algn="l">
              <a:buFont typeface="Arial" panose="020B0604020202020204" pitchFamily="34" charset="0"/>
              <a:buChar char="•"/>
            </a:pPr>
            <a:r>
              <a:rPr lang="en-US" sz="3200" b="1" i="0" dirty="0">
                <a:solidFill>
                  <a:srgbClr val="3A3A3A"/>
                </a:solidFill>
                <a:effectLst/>
                <a:highlight>
                  <a:srgbClr val="FFFFFF"/>
                </a:highlight>
                <a:latin typeface="Open Sans" panose="020B0606030504020204" pitchFamily="34" charset="0"/>
              </a:rPr>
              <a:t>RSA </a:t>
            </a:r>
            <a:r>
              <a:rPr lang="en-US" sz="3200" b="0" i="0" dirty="0">
                <a:solidFill>
                  <a:srgbClr val="3A3A3A"/>
                </a:solidFill>
                <a:effectLst/>
                <a:highlight>
                  <a:srgbClr val="FFFFFF"/>
                </a:highlight>
                <a:latin typeface="Open Sans" panose="020B0606030504020204" pitchFamily="34" charset="0"/>
              </a:rPr>
              <a:t>– Public encryption algorithm to protect the data over the internet. It is an asymmetric key encryption algorithm that uses </a:t>
            </a:r>
            <a:r>
              <a:rPr lang="en-US" sz="3200" b="0" i="0" u="none" strike="noStrike" dirty="0">
                <a:solidFill>
                  <a:srgbClr val="3A3A3A"/>
                </a:solidFill>
                <a:effectLst/>
                <a:highlight>
                  <a:srgbClr val="FFFFFF"/>
                </a:highlight>
                <a:latin typeface="Open Sans" panose="020B0606030504020204" pitchFamily="34" charset="0"/>
                <a:hlinkClick r:id="rId2"/>
              </a:rPr>
              <a:t>public and private keys</a:t>
            </a:r>
            <a:r>
              <a:rPr lang="en-US" sz="3200" b="0" i="0" dirty="0">
                <a:solidFill>
                  <a:srgbClr val="3A3A3A"/>
                </a:solidFill>
                <a:effectLst/>
                <a:highlight>
                  <a:srgbClr val="FFFFFF"/>
                </a:highlight>
                <a:latin typeface="Open Sans" panose="020B0606030504020204" pitchFamily="34" charset="0"/>
              </a:rPr>
              <a:t>. RSA is an algorithm based on the factorization of the product of two prime numbers. If the receiver knows these numbers only then, he/she can decrypt the message. RSA finds its applications in digital signatures but is often slow when a large volume of data is to be encrypted. </a:t>
            </a:r>
          </a:p>
          <a:p>
            <a:pPr algn="l">
              <a:buFont typeface="Arial" panose="020B0604020202020204" pitchFamily="34" charset="0"/>
              <a:buChar char="•"/>
            </a:pPr>
            <a:r>
              <a:rPr lang="en-US" sz="3200" b="1" i="0" dirty="0">
                <a:solidFill>
                  <a:srgbClr val="3A3A3A"/>
                </a:solidFill>
                <a:effectLst/>
                <a:highlight>
                  <a:srgbClr val="FFFFFF"/>
                </a:highlight>
                <a:latin typeface="Open Sans" panose="020B0606030504020204" pitchFamily="34" charset="0"/>
              </a:rPr>
              <a:t>Blowfish</a:t>
            </a:r>
            <a:r>
              <a:rPr lang="en-US" sz="3200" b="0" i="0" dirty="0">
                <a:solidFill>
                  <a:srgbClr val="3A3A3A"/>
                </a:solidFill>
                <a:effectLst/>
                <a:highlight>
                  <a:srgbClr val="FFFFFF"/>
                </a:highlight>
                <a:latin typeface="Open Sans" panose="020B0606030504020204" pitchFamily="34" charset="0"/>
              </a:rPr>
              <a:t> – It splits the message into 64 bits and encrypts them, which is used in certain payment gateways. It is fast, effective, and flexible. Blowfish finds its application in embedded systems and has been deemed reasonably secure. </a:t>
            </a:r>
          </a:p>
          <a:p>
            <a:endParaRPr lang="en-TZ" sz="3200" dirty="0"/>
          </a:p>
        </p:txBody>
      </p:sp>
    </p:spTree>
    <p:extLst>
      <p:ext uri="{BB962C8B-B14F-4D97-AF65-F5344CB8AC3E}">
        <p14:creationId xmlns:p14="http://schemas.microsoft.com/office/powerpoint/2010/main" val="42493025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67F53F-42C2-A22F-5A1D-E94B52D78D0D}"/>
              </a:ext>
            </a:extLst>
          </p:cNvPr>
          <p:cNvSpPr>
            <a:spLocks noGrp="1"/>
          </p:cNvSpPr>
          <p:nvPr>
            <p:ph idx="1"/>
          </p:nvPr>
        </p:nvSpPr>
        <p:spPr>
          <a:xfrm>
            <a:off x="464695" y="344774"/>
            <a:ext cx="11287594" cy="6115987"/>
          </a:xfrm>
        </p:spPr>
        <p:txBody>
          <a:bodyPr>
            <a:noAutofit/>
          </a:bodyPr>
          <a:lstStyle/>
          <a:p>
            <a:pPr algn="l">
              <a:buFont typeface="Arial" panose="020B0604020202020204" pitchFamily="34" charset="0"/>
              <a:buChar char="•"/>
            </a:pPr>
            <a:r>
              <a:rPr lang="en-US" sz="3600" b="1" i="0" dirty="0" err="1">
                <a:solidFill>
                  <a:srgbClr val="3A3A3A"/>
                </a:solidFill>
                <a:effectLst/>
                <a:highlight>
                  <a:srgbClr val="FFFFFF"/>
                </a:highlight>
                <a:latin typeface="Open Sans" panose="020B0606030504020204" pitchFamily="34" charset="0"/>
              </a:rPr>
              <a:t>Twofish</a:t>
            </a:r>
            <a:r>
              <a:rPr lang="en-US" sz="3600" b="1" i="0" dirty="0">
                <a:solidFill>
                  <a:srgbClr val="3A3A3A"/>
                </a:solidFill>
                <a:effectLst/>
                <a:highlight>
                  <a:srgbClr val="FFFFFF"/>
                </a:highlight>
                <a:latin typeface="Open Sans" panose="020B0606030504020204" pitchFamily="34" charset="0"/>
              </a:rPr>
              <a:t> </a:t>
            </a:r>
            <a:r>
              <a:rPr lang="en-US" sz="3600" b="0" i="0" dirty="0">
                <a:solidFill>
                  <a:srgbClr val="3A3A3A"/>
                </a:solidFill>
                <a:effectLst/>
                <a:highlight>
                  <a:srgbClr val="FFFFFF"/>
                </a:highlight>
                <a:latin typeface="Open Sans" panose="020B0606030504020204" pitchFamily="34" charset="0"/>
              </a:rPr>
              <a:t>– Keys in this algorithm are 256 bits in length and it is a symmetric key encryption technique. </a:t>
            </a:r>
            <a:r>
              <a:rPr lang="en-US" sz="3600" b="0" i="0" dirty="0" err="1">
                <a:solidFill>
                  <a:srgbClr val="3A3A3A"/>
                </a:solidFill>
                <a:effectLst/>
                <a:highlight>
                  <a:srgbClr val="FFFFFF"/>
                </a:highlight>
                <a:latin typeface="Open Sans" panose="020B0606030504020204" pitchFamily="34" charset="0"/>
              </a:rPr>
              <a:t>Twofish</a:t>
            </a:r>
            <a:r>
              <a:rPr lang="en-US" sz="3600" b="0" i="0" dirty="0">
                <a:solidFill>
                  <a:srgbClr val="3A3A3A"/>
                </a:solidFill>
                <a:effectLst/>
                <a:highlight>
                  <a:srgbClr val="FFFFFF"/>
                </a:highlight>
                <a:latin typeface="Open Sans" panose="020B0606030504020204" pitchFamily="34" charset="0"/>
              </a:rPr>
              <a:t> is still in use by many file and folder encryption software solutions. It is a license-free technique to encrypt 128 bits of a data block, it also always encrypts data in rounds of 16, which makes it slower. </a:t>
            </a:r>
          </a:p>
          <a:p>
            <a:pPr algn="l">
              <a:buFont typeface="Arial" panose="020B0604020202020204" pitchFamily="34" charset="0"/>
              <a:buChar char="•"/>
            </a:pPr>
            <a:r>
              <a:rPr lang="en-US" sz="3600" b="1" i="0" dirty="0">
                <a:solidFill>
                  <a:srgbClr val="3A3A3A"/>
                </a:solidFill>
                <a:effectLst/>
                <a:highlight>
                  <a:srgbClr val="FFFFFF"/>
                </a:highlight>
                <a:latin typeface="Open Sans" panose="020B0606030504020204" pitchFamily="34" charset="0"/>
              </a:rPr>
              <a:t>AES </a:t>
            </a:r>
            <a:r>
              <a:rPr lang="en-US" sz="3600" b="0" i="0" dirty="0">
                <a:solidFill>
                  <a:srgbClr val="3A3A3A"/>
                </a:solidFill>
                <a:effectLst/>
                <a:highlight>
                  <a:srgbClr val="FFFFFF"/>
                </a:highlight>
                <a:latin typeface="Open Sans" panose="020B0606030504020204" pitchFamily="34" charset="0"/>
              </a:rPr>
              <a:t>– Advanced encryption standard, trusted by many standard organizations. It can encrypt 128-bit, 192-bit as well as 256-bit. AES is a symmetric encryption algorithm that is mostly in use today. AES is used for both rest data as well as at transit. </a:t>
            </a:r>
          </a:p>
          <a:p>
            <a:endParaRPr lang="en-TZ" sz="3600" dirty="0"/>
          </a:p>
        </p:txBody>
      </p:sp>
    </p:spTree>
    <p:extLst>
      <p:ext uri="{BB962C8B-B14F-4D97-AF65-F5344CB8AC3E}">
        <p14:creationId xmlns:p14="http://schemas.microsoft.com/office/powerpoint/2010/main" val="39091740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E6004B-1126-FCEF-35C5-7900B110911A}"/>
              </a:ext>
            </a:extLst>
          </p:cNvPr>
          <p:cNvSpPr>
            <a:spLocks noGrp="1"/>
          </p:cNvSpPr>
          <p:nvPr>
            <p:ph idx="1"/>
          </p:nvPr>
        </p:nvSpPr>
        <p:spPr>
          <a:xfrm>
            <a:off x="434715" y="359764"/>
            <a:ext cx="11287593" cy="6071016"/>
          </a:xfrm>
        </p:spPr>
        <p:txBody>
          <a:bodyPr>
            <a:normAutofit fontScale="85000" lnSpcReduction="20000"/>
          </a:bodyPr>
          <a:lstStyle/>
          <a:p>
            <a:pPr algn="l"/>
            <a:r>
              <a:rPr lang="en-US" b="0" i="0" dirty="0">
                <a:solidFill>
                  <a:srgbClr val="3A3A3A"/>
                </a:solidFill>
                <a:effectLst/>
                <a:highlight>
                  <a:srgbClr val="FFFFFF"/>
                </a:highlight>
                <a:latin typeface="Open Sans" panose="020B0606030504020204" pitchFamily="34" charset="0"/>
              </a:rPr>
              <a:t>There are five essential privacy features on the internet to be maintained. They are email, file, voice, chat, and traffic privacy. Few custom software and applications are available for encryption techniques, which include –</a:t>
            </a:r>
          </a:p>
          <a:p>
            <a:pPr algn="l">
              <a:buFont typeface="Arial" panose="020B0604020202020204" pitchFamily="34" charset="0"/>
              <a:buChar char="•"/>
            </a:pPr>
            <a:r>
              <a:rPr lang="en-US" b="1" i="0" dirty="0">
                <a:solidFill>
                  <a:srgbClr val="3A3A3A"/>
                </a:solidFill>
                <a:effectLst/>
                <a:highlight>
                  <a:srgbClr val="FFFFFF"/>
                </a:highlight>
                <a:latin typeface="Open Sans" panose="020B0606030504020204" pitchFamily="34" charset="0"/>
              </a:rPr>
              <a:t>LastPass </a:t>
            </a:r>
            <a:r>
              <a:rPr lang="en-US" b="0" i="0" dirty="0">
                <a:solidFill>
                  <a:srgbClr val="3A3A3A"/>
                </a:solidFill>
                <a:effectLst/>
                <a:highlight>
                  <a:srgbClr val="FFFFFF"/>
                </a:highlight>
                <a:latin typeface="Open Sans" panose="020B0606030504020204" pitchFamily="34" charset="0"/>
              </a:rPr>
              <a:t>– Password manager and used to generate strong and secure passwords.</a:t>
            </a:r>
          </a:p>
          <a:p>
            <a:pPr algn="l">
              <a:buFont typeface="Arial" panose="020B0604020202020204" pitchFamily="34" charset="0"/>
              <a:buChar char="•"/>
            </a:pPr>
            <a:r>
              <a:rPr lang="en-US" b="1" i="0" dirty="0">
                <a:solidFill>
                  <a:srgbClr val="3A3A3A"/>
                </a:solidFill>
                <a:effectLst/>
                <a:highlight>
                  <a:srgbClr val="FFFFFF"/>
                </a:highlight>
                <a:latin typeface="Open Sans" panose="020B0606030504020204" pitchFamily="34" charset="0"/>
              </a:rPr>
              <a:t>BitLocker </a:t>
            </a:r>
            <a:r>
              <a:rPr lang="en-US" b="0" i="0" dirty="0">
                <a:solidFill>
                  <a:srgbClr val="3A3A3A"/>
                </a:solidFill>
                <a:effectLst/>
                <a:highlight>
                  <a:srgbClr val="FFFFFF"/>
                </a:highlight>
                <a:latin typeface="Open Sans" panose="020B0606030504020204" pitchFamily="34" charset="0"/>
              </a:rPr>
              <a:t>– Integrated into Windows OS, it is a full-disk encryption tool that uses AES for encryption.</a:t>
            </a:r>
          </a:p>
          <a:p>
            <a:pPr algn="l">
              <a:buFont typeface="Arial" panose="020B0604020202020204" pitchFamily="34" charset="0"/>
              <a:buChar char="•"/>
            </a:pPr>
            <a:r>
              <a:rPr lang="en-US" b="1" i="0" dirty="0" err="1">
                <a:solidFill>
                  <a:srgbClr val="3A3A3A"/>
                </a:solidFill>
                <a:effectLst/>
                <a:highlight>
                  <a:srgbClr val="FFFFFF"/>
                </a:highlight>
                <a:latin typeface="Open Sans" panose="020B0606030504020204" pitchFamily="34" charset="0"/>
              </a:rPr>
              <a:t>Veracrypt</a:t>
            </a:r>
            <a:r>
              <a:rPr lang="en-US" b="1" i="0" dirty="0">
                <a:solidFill>
                  <a:srgbClr val="3A3A3A"/>
                </a:solidFill>
                <a:effectLst/>
                <a:highlight>
                  <a:srgbClr val="FFFFFF"/>
                </a:highlight>
                <a:latin typeface="Open Sans" panose="020B0606030504020204" pitchFamily="34" charset="0"/>
              </a:rPr>
              <a:t> </a:t>
            </a:r>
            <a:r>
              <a:rPr lang="en-US" b="0" i="0" dirty="0">
                <a:solidFill>
                  <a:srgbClr val="3A3A3A"/>
                </a:solidFill>
                <a:effectLst/>
                <a:highlight>
                  <a:srgbClr val="FFFFFF"/>
                </a:highlight>
                <a:latin typeface="Open Sans" panose="020B0606030504020204" pitchFamily="34" charset="0"/>
              </a:rPr>
              <a:t>– Similar to </a:t>
            </a:r>
            <a:r>
              <a:rPr lang="en-US" b="0" i="0" dirty="0" err="1">
                <a:solidFill>
                  <a:srgbClr val="3A3A3A"/>
                </a:solidFill>
                <a:effectLst/>
                <a:highlight>
                  <a:srgbClr val="FFFFFF"/>
                </a:highlight>
                <a:latin typeface="Open Sans" panose="020B0606030504020204" pitchFamily="34" charset="0"/>
              </a:rPr>
              <a:t>Bitlocker</a:t>
            </a:r>
            <a:r>
              <a:rPr lang="en-US" b="0" i="0" dirty="0">
                <a:solidFill>
                  <a:srgbClr val="3A3A3A"/>
                </a:solidFill>
                <a:effectLst/>
                <a:highlight>
                  <a:srgbClr val="FFFFFF"/>
                </a:highlight>
                <a:latin typeface="Open Sans" panose="020B0606030504020204" pitchFamily="34" charset="0"/>
              </a:rPr>
              <a:t>, but used in cross platforms like Windows, Linux, OS X, and so on.</a:t>
            </a:r>
          </a:p>
          <a:p>
            <a:pPr algn="l">
              <a:buFont typeface="Arial" panose="020B0604020202020204" pitchFamily="34" charset="0"/>
              <a:buChar char="•"/>
            </a:pPr>
            <a:r>
              <a:rPr lang="en-US" b="1" i="0" dirty="0" err="1">
                <a:solidFill>
                  <a:srgbClr val="3A3A3A"/>
                </a:solidFill>
                <a:effectLst/>
                <a:highlight>
                  <a:srgbClr val="FFFFFF"/>
                </a:highlight>
                <a:latin typeface="Open Sans" panose="020B0606030504020204" pitchFamily="34" charset="0"/>
              </a:rPr>
              <a:t>DiskCryptor</a:t>
            </a:r>
            <a:r>
              <a:rPr lang="en-US" b="1" i="0" dirty="0">
                <a:solidFill>
                  <a:srgbClr val="3A3A3A"/>
                </a:solidFill>
                <a:effectLst/>
                <a:highlight>
                  <a:srgbClr val="FFFFFF"/>
                </a:highlight>
                <a:latin typeface="Open Sans" panose="020B0606030504020204" pitchFamily="34" charset="0"/>
              </a:rPr>
              <a:t> </a:t>
            </a:r>
            <a:r>
              <a:rPr lang="en-US" b="0" i="0" dirty="0">
                <a:solidFill>
                  <a:srgbClr val="3A3A3A"/>
                </a:solidFill>
                <a:effectLst/>
                <a:highlight>
                  <a:srgbClr val="FFFFFF"/>
                </a:highlight>
                <a:latin typeface="Open Sans" panose="020B0606030504020204" pitchFamily="34" charset="0"/>
              </a:rPr>
              <a:t>– Free encryption tool, used to even hide system partitions and ISO images.</a:t>
            </a:r>
          </a:p>
          <a:p>
            <a:pPr algn="l">
              <a:buFont typeface="Arial" panose="020B0604020202020204" pitchFamily="34" charset="0"/>
              <a:buChar char="•"/>
            </a:pPr>
            <a:r>
              <a:rPr lang="en-US" b="1" i="0" dirty="0">
                <a:solidFill>
                  <a:srgbClr val="3A3A3A"/>
                </a:solidFill>
                <a:effectLst/>
                <a:highlight>
                  <a:srgbClr val="FFFFFF"/>
                </a:highlight>
                <a:latin typeface="Open Sans" panose="020B0606030504020204" pitchFamily="34" charset="0"/>
              </a:rPr>
              <a:t>HTTPS Everywhere</a:t>
            </a:r>
            <a:r>
              <a:rPr lang="en-US" b="0" i="0" dirty="0">
                <a:solidFill>
                  <a:srgbClr val="3A3A3A"/>
                </a:solidFill>
                <a:effectLst/>
                <a:highlight>
                  <a:srgbClr val="FFFFFF"/>
                </a:highlight>
                <a:latin typeface="Open Sans" panose="020B0606030504020204" pitchFamily="34" charset="0"/>
              </a:rPr>
              <a:t> – Makes sure the websites go through an authentication process while connecting to a secure website.</a:t>
            </a:r>
          </a:p>
          <a:p>
            <a:pPr algn="l">
              <a:buFont typeface="Arial" panose="020B0604020202020204" pitchFamily="34" charset="0"/>
              <a:buChar char="•"/>
            </a:pPr>
            <a:r>
              <a:rPr lang="en-US" b="1" i="0" dirty="0">
                <a:solidFill>
                  <a:srgbClr val="3A3A3A"/>
                </a:solidFill>
                <a:effectLst/>
                <a:highlight>
                  <a:srgbClr val="FFFFFF"/>
                </a:highlight>
                <a:latin typeface="Open Sans" panose="020B0606030504020204" pitchFamily="34" charset="0"/>
              </a:rPr>
              <a:t>VPN</a:t>
            </a:r>
            <a:r>
              <a:rPr lang="en-US" b="0" i="0" dirty="0">
                <a:solidFill>
                  <a:srgbClr val="3A3A3A"/>
                </a:solidFill>
                <a:effectLst/>
                <a:highlight>
                  <a:srgbClr val="FFFFFF"/>
                </a:highlight>
                <a:latin typeface="Open Sans" panose="020B0606030504020204" pitchFamily="34" charset="0"/>
              </a:rPr>
              <a:t> – Tor browser, Express VPN, Cyber ghost, and several other tools are available for VPNs.  It is used to ensure that the web traffic and data remain encrypted.</a:t>
            </a:r>
          </a:p>
          <a:p>
            <a:pPr algn="l">
              <a:buFont typeface="Arial" panose="020B0604020202020204" pitchFamily="34" charset="0"/>
              <a:buChar char="•"/>
            </a:pPr>
            <a:r>
              <a:rPr lang="en-US" b="1" i="0" dirty="0">
                <a:solidFill>
                  <a:srgbClr val="3A3A3A"/>
                </a:solidFill>
                <a:effectLst/>
                <a:highlight>
                  <a:srgbClr val="FFFFFF"/>
                </a:highlight>
                <a:latin typeface="Open Sans" panose="020B0606030504020204" pitchFamily="34" charset="0"/>
              </a:rPr>
              <a:t>Proxy servers</a:t>
            </a:r>
            <a:r>
              <a:rPr lang="en-US" b="0" i="0" dirty="0">
                <a:solidFill>
                  <a:srgbClr val="3A3A3A"/>
                </a:solidFill>
                <a:effectLst/>
                <a:highlight>
                  <a:srgbClr val="FFFFFF"/>
                </a:highlight>
                <a:latin typeface="Open Sans" panose="020B0606030504020204" pitchFamily="34" charset="0"/>
              </a:rPr>
              <a:t> – Using online proxy servers we can hide the IP address and surf anonymously.</a:t>
            </a:r>
          </a:p>
          <a:p>
            <a:endParaRPr lang="en-TZ" dirty="0"/>
          </a:p>
        </p:txBody>
      </p:sp>
    </p:spTree>
    <p:extLst>
      <p:ext uri="{BB962C8B-B14F-4D97-AF65-F5344CB8AC3E}">
        <p14:creationId xmlns:p14="http://schemas.microsoft.com/office/powerpoint/2010/main" val="9846545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B60D8B-138E-6BE9-8C9B-F464B1F722F2}"/>
              </a:ext>
            </a:extLst>
          </p:cNvPr>
          <p:cNvSpPr>
            <a:spLocks noGrp="1"/>
          </p:cNvSpPr>
          <p:nvPr>
            <p:ph idx="1"/>
          </p:nvPr>
        </p:nvSpPr>
        <p:spPr>
          <a:xfrm>
            <a:off x="838200" y="719528"/>
            <a:ext cx="10515600" cy="5457435"/>
          </a:xfrm>
        </p:spPr>
        <p:txBody>
          <a:bodyPr/>
          <a:lstStyle/>
          <a:p>
            <a:pPr algn="l"/>
            <a:r>
              <a:rPr lang="en-US" b="1" i="0" dirty="0">
                <a:solidFill>
                  <a:srgbClr val="3A3A3A"/>
                </a:solidFill>
                <a:effectLst/>
                <a:highlight>
                  <a:srgbClr val="FFFFFF"/>
                </a:highlight>
                <a:latin typeface="Open Sans" panose="020B0606030504020204" pitchFamily="34" charset="0"/>
              </a:rPr>
              <a:t>Secure Hashing Algorithm:</a:t>
            </a:r>
          </a:p>
          <a:p>
            <a:pPr algn="l"/>
            <a:r>
              <a:rPr lang="en-US" b="0" i="0" dirty="0">
                <a:solidFill>
                  <a:srgbClr val="3A3A3A"/>
                </a:solidFill>
                <a:effectLst/>
                <a:highlight>
                  <a:srgbClr val="FFFFFF"/>
                </a:highlight>
                <a:latin typeface="Open Sans" panose="020B0606030504020204" pitchFamily="34" charset="0"/>
              </a:rPr>
              <a:t>A hash is a mathematical function that is used by a computer since they are convenient to compute a hash. They identify, compare or run calculations against files and strings of data. </a:t>
            </a:r>
            <a:r>
              <a:rPr lang="en-US" b="0" i="0" u="none" strike="noStrike" dirty="0">
                <a:solidFill>
                  <a:srgbClr val="3A3A3A"/>
                </a:solidFill>
                <a:effectLst/>
                <a:highlight>
                  <a:srgbClr val="FFFFFF"/>
                </a:highlight>
                <a:latin typeface="Open Sans" panose="020B0606030504020204" pitchFamily="34" charset="0"/>
                <a:hlinkClick r:id="rId2"/>
              </a:rPr>
              <a:t>Hashing</a:t>
            </a:r>
            <a:r>
              <a:rPr lang="en-US" b="0" i="0" dirty="0">
                <a:solidFill>
                  <a:srgbClr val="3A3A3A"/>
                </a:solidFill>
                <a:effectLst/>
                <a:highlight>
                  <a:srgbClr val="FFFFFF"/>
                </a:highlight>
                <a:latin typeface="Open Sans" panose="020B0606030504020204" pitchFamily="34" charset="0"/>
              </a:rPr>
              <a:t> algorithms are used in </a:t>
            </a:r>
            <a:r>
              <a:rPr lang="en-US" b="0" i="0" u="none" strike="noStrike" dirty="0">
                <a:solidFill>
                  <a:srgbClr val="3A3A3A"/>
                </a:solidFill>
                <a:effectLst/>
                <a:highlight>
                  <a:srgbClr val="FFFFFF"/>
                </a:highlight>
                <a:latin typeface="Open Sans" panose="020B0606030504020204" pitchFamily="34" charset="0"/>
                <a:hlinkClick r:id="rId3"/>
              </a:rPr>
              <a:t>databases</a:t>
            </a:r>
            <a:r>
              <a:rPr lang="en-US" b="0" i="0" dirty="0">
                <a:solidFill>
                  <a:srgbClr val="3A3A3A"/>
                </a:solidFill>
                <a:effectLst/>
                <a:highlight>
                  <a:srgbClr val="FFFFFF"/>
                </a:highlight>
                <a:latin typeface="Open Sans" panose="020B0606030504020204" pitchFamily="34" charset="0"/>
              </a:rPr>
              <a:t>, and also used to store passwords.</a:t>
            </a:r>
          </a:p>
          <a:p>
            <a:endParaRPr lang="en-TZ" dirty="0"/>
          </a:p>
        </p:txBody>
      </p:sp>
      <p:graphicFrame>
        <p:nvGraphicFramePr>
          <p:cNvPr id="4" name="Table 3">
            <a:extLst>
              <a:ext uri="{FF2B5EF4-FFF2-40B4-BE49-F238E27FC236}">
                <a16:creationId xmlns:a16="http://schemas.microsoft.com/office/drawing/2014/main" id="{66A70E37-B7DB-B95E-2C70-4963406A53E5}"/>
              </a:ext>
            </a:extLst>
          </p:cNvPr>
          <p:cNvGraphicFramePr>
            <a:graphicFrameLocks noGrp="1"/>
          </p:cNvGraphicFramePr>
          <p:nvPr>
            <p:extLst>
              <p:ext uri="{D42A27DB-BD31-4B8C-83A1-F6EECF244321}">
                <p14:modId xmlns:p14="http://schemas.microsoft.com/office/powerpoint/2010/main" val="1122862136"/>
              </p:ext>
            </p:extLst>
          </p:nvPr>
        </p:nvGraphicFramePr>
        <p:xfrm>
          <a:off x="881921" y="3627290"/>
          <a:ext cx="10515600" cy="1737360"/>
        </p:xfrm>
        <a:graphic>
          <a:graphicData uri="http://schemas.openxmlformats.org/drawingml/2006/table">
            <a:tbl>
              <a:tblPr/>
              <a:tblGrid>
                <a:gridCol w="3505200">
                  <a:extLst>
                    <a:ext uri="{9D8B030D-6E8A-4147-A177-3AD203B41FA5}">
                      <a16:colId xmlns:a16="http://schemas.microsoft.com/office/drawing/2014/main" val="2043631573"/>
                    </a:ext>
                  </a:extLst>
                </a:gridCol>
                <a:gridCol w="3505200">
                  <a:extLst>
                    <a:ext uri="{9D8B030D-6E8A-4147-A177-3AD203B41FA5}">
                      <a16:colId xmlns:a16="http://schemas.microsoft.com/office/drawing/2014/main" val="1099182879"/>
                    </a:ext>
                  </a:extLst>
                </a:gridCol>
                <a:gridCol w="3505200">
                  <a:extLst>
                    <a:ext uri="{9D8B030D-6E8A-4147-A177-3AD203B41FA5}">
                      <a16:colId xmlns:a16="http://schemas.microsoft.com/office/drawing/2014/main" val="1296904061"/>
                    </a:ext>
                  </a:extLst>
                </a:gridCol>
              </a:tblGrid>
              <a:tr h="0">
                <a:tc>
                  <a:txBody>
                    <a:bodyPr/>
                    <a:lstStyle/>
                    <a:p>
                      <a:pPr algn="ctr" fontAlgn="t"/>
                      <a:r>
                        <a:rPr lang="en-US" b="0">
                          <a:solidFill>
                            <a:srgbClr val="FFFFFF"/>
                          </a:solidFill>
                          <a:effectLst/>
                          <a:highlight>
                            <a:srgbClr val="008DD9"/>
                          </a:highlight>
                        </a:rPr>
                        <a:t>S.no.</a:t>
                      </a:r>
                      <a:endParaRPr lang="en-US">
                        <a:solidFill>
                          <a:srgbClr val="FFFFFF"/>
                        </a:solidFill>
                        <a:effectLst/>
                        <a:highlight>
                          <a:srgbClr val="008DD9"/>
                        </a:highlight>
                      </a:endParaRPr>
                    </a:p>
                  </a:txBody>
                  <a:tcPr>
                    <a:lnL w="9525" cap="flat" cmpd="sng" algn="ctr">
                      <a:solidFill>
                        <a:srgbClr val="DEE2E6"/>
                      </a:solidFill>
                      <a:prstDash val="solid"/>
                      <a:round/>
                      <a:headEnd type="none" w="med" len="med"/>
                      <a:tailEnd type="none" w="med" len="med"/>
                    </a:lnL>
                    <a:lnR w="9525" cap="flat" cmpd="sng" algn="ctr">
                      <a:solidFill>
                        <a:srgbClr val="DEE2E6"/>
                      </a:solidFill>
                      <a:prstDash val="solid"/>
                      <a:round/>
                      <a:headEnd type="none" w="med" len="med"/>
                      <a:tailEnd type="none" w="med" len="med"/>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008DD9"/>
                    </a:solidFill>
                  </a:tcPr>
                </a:tc>
                <a:tc>
                  <a:txBody>
                    <a:bodyPr/>
                    <a:lstStyle/>
                    <a:p>
                      <a:pPr algn="ctr" fontAlgn="t"/>
                      <a:r>
                        <a:rPr lang="en-US" b="0" dirty="0">
                          <a:solidFill>
                            <a:srgbClr val="FFFFFF"/>
                          </a:solidFill>
                          <a:effectLst/>
                          <a:highlight>
                            <a:srgbClr val="008DD9"/>
                          </a:highlight>
                        </a:rPr>
                        <a:t>SHA-1</a:t>
                      </a:r>
                      <a:endParaRPr lang="en-US" dirty="0">
                        <a:solidFill>
                          <a:srgbClr val="FFFFFF"/>
                        </a:solidFill>
                        <a:effectLst/>
                        <a:highlight>
                          <a:srgbClr val="008DD9"/>
                        </a:highlight>
                      </a:endParaRPr>
                    </a:p>
                  </a:txBody>
                  <a:tcPr>
                    <a:lnL w="9525" cap="flat" cmpd="sng" algn="ctr">
                      <a:solidFill>
                        <a:srgbClr val="DEE2E6"/>
                      </a:solidFill>
                      <a:prstDash val="solid"/>
                      <a:round/>
                      <a:headEnd type="none" w="med" len="med"/>
                      <a:tailEnd type="none" w="med" len="med"/>
                    </a:lnL>
                    <a:lnR w="9525" cap="flat" cmpd="sng" algn="ctr">
                      <a:solidFill>
                        <a:srgbClr val="DEE2E6"/>
                      </a:solidFill>
                      <a:prstDash val="solid"/>
                      <a:round/>
                      <a:headEnd type="none" w="med" len="med"/>
                      <a:tailEnd type="none" w="med" len="med"/>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008DD9"/>
                    </a:solidFill>
                  </a:tcPr>
                </a:tc>
                <a:tc>
                  <a:txBody>
                    <a:bodyPr/>
                    <a:lstStyle/>
                    <a:p>
                      <a:pPr algn="ctr" fontAlgn="t"/>
                      <a:r>
                        <a:rPr lang="en-US" b="0">
                          <a:solidFill>
                            <a:srgbClr val="FFFFFF"/>
                          </a:solidFill>
                          <a:effectLst/>
                          <a:highlight>
                            <a:srgbClr val="008DD9"/>
                          </a:highlight>
                        </a:rPr>
                        <a:t>SHA-2</a:t>
                      </a:r>
                      <a:endParaRPr lang="en-US">
                        <a:solidFill>
                          <a:srgbClr val="FFFFFF"/>
                        </a:solidFill>
                        <a:effectLst/>
                        <a:highlight>
                          <a:srgbClr val="008DD9"/>
                        </a:highlight>
                      </a:endParaRPr>
                    </a:p>
                  </a:txBody>
                  <a:tcPr>
                    <a:lnL w="9525" cap="flat" cmpd="sng" algn="ctr">
                      <a:solidFill>
                        <a:srgbClr val="DEE2E6"/>
                      </a:solidFill>
                      <a:prstDash val="solid"/>
                      <a:round/>
                      <a:headEnd type="none" w="med" len="med"/>
                      <a:tailEnd type="none" w="med" len="med"/>
                    </a:lnL>
                    <a:lnR w="9525" cap="flat" cmpd="sng" algn="ctr">
                      <a:solidFill>
                        <a:srgbClr val="DEE2E6"/>
                      </a:solidFill>
                      <a:prstDash val="solid"/>
                      <a:round/>
                      <a:headEnd type="none" w="med" len="med"/>
                      <a:tailEnd type="none" w="med" len="med"/>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3666768532"/>
                  </a:ext>
                </a:extLst>
              </a:tr>
              <a:tr h="0">
                <a:tc>
                  <a:txBody>
                    <a:bodyPr/>
                    <a:lstStyle/>
                    <a:p>
                      <a:pPr fontAlgn="t"/>
                      <a:r>
                        <a:rPr lang="en-TZ" b="0">
                          <a:effectLst/>
                        </a:rPr>
                        <a:t>1</a:t>
                      </a:r>
                      <a:endParaRPr lang="en-TZ">
                        <a:effectLst/>
                      </a:endParaRPr>
                    </a:p>
                  </a:txBody>
                  <a:tcPr>
                    <a:lnL w="9525" cap="flat" cmpd="sng" algn="ctr">
                      <a:solidFill>
                        <a:srgbClr val="DEE2E6"/>
                      </a:solidFill>
                      <a:prstDash val="solid"/>
                      <a:round/>
                      <a:headEnd type="none" w="med" len="med"/>
                      <a:tailEnd type="none" w="med" len="med"/>
                    </a:lnL>
                    <a:lnR w="9525" cap="flat" cmpd="sng" algn="ctr">
                      <a:solidFill>
                        <a:srgbClr val="DEE2E6"/>
                      </a:solidFill>
                      <a:prstDash val="solid"/>
                      <a:round/>
                      <a:headEnd type="none" w="med" len="med"/>
                      <a:tailEnd type="none" w="med" len="med"/>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US" b="0">
                          <a:effectLst/>
                        </a:rPr>
                        <a:t>SHA-1 is a 160-bit hash.</a:t>
                      </a:r>
                      <a:endParaRPr lang="en-US">
                        <a:effectLst/>
                      </a:endParaRPr>
                    </a:p>
                  </a:txBody>
                  <a:tcPr>
                    <a:lnL w="9525" cap="flat" cmpd="sng" algn="ctr">
                      <a:solidFill>
                        <a:srgbClr val="DEE2E6"/>
                      </a:solidFill>
                      <a:prstDash val="solid"/>
                      <a:round/>
                      <a:headEnd type="none" w="med" len="med"/>
                      <a:tailEnd type="none" w="med" len="med"/>
                    </a:lnL>
                    <a:lnR w="9525" cap="flat" cmpd="sng" algn="ctr">
                      <a:solidFill>
                        <a:srgbClr val="DEE2E6"/>
                      </a:solidFill>
                      <a:prstDash val="solid"/>
                      <a:round/>
                      <a:headEnd type="none" w="med" len="med"/>
                      <a:tailEnd type="none" w="med" len="med"/>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US" b="0">
                          <a:effectLst/>
                        </a:rPr>
                        <a:t>SHA-2 is a 256 hash.</a:t>
                      </a:r>
                      <a:endParaRPr lang="en-US">
                        <a:effectLst/>
                      </a:endParaRPr>
                    </a:p>
                  </a:txBody>
                  <a:tcPr>
                    <a:lnL w="9525" cap="flat" cmpd="sng" algn="ctr">
                      <a:solidFill>
                        <a:srgbClr val="DEE2E6"/>
                      </a:solidFill>
                      <a:prstDash val="solid"/>
                      <a:round/>
                      <a:headEnd type="none" w="med" len="med"/>
                      <a:tailEnd type="none" w="med" len="med"/>
                    </a:lnL>
                    <a:lnR w="9525" cap="flat" cmpd="sng" algn="ctr">
                      <a:solidFill>
                        <a:srgbClr val="DEE2E6"/>
                      </a:solidFill>
                      <a:prstDash val="solid"/>
                      <a:round/>
                      <a:headEnd type="none" w="med" len="med"/>
                      <a:tailEnd type="none" w="med" len="med"/>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890884009"/>
                  </a:ext>
                </a:extLst>
              </a:tr>
              <a:tr h="0">
                <a:tc>
                  <a:txBody>
                    <a:bodyPr/>
                    <a:lstStyle/>
                    <a:p>
                      <a:pPr fontAlgn="t"/>
                      <a:r>
                        <a:rPr lang="en-TZ" b="0">
                          <a:effectLst/>
                        </a:rPr>
                        <a:t>2</a:t>
                      </a:r>
                      <a:endParaRPr lang="en-TZ">
                        <a:effectLst/>
                      </a:endParaRPr>
                    </a:p>
                  </a:txBody>
                  <a:tcPr>
                    <a:lnL w="9525" cap="flat" cmpd="sng" algn="ctr">
                      <a:solidFill>
                        <a:srgbClr val="DEE2E6"/>
                      </a:solidFill>
                      <a:prstDash val="solid"/>
                      <a:round/>
                      <a:headEnd type="none" w="med" len="med"/>
                      <a:tailEnd type="none" w="med" len="med"/>
                    </a:lnL>
                    <a:lnR w="9525" cap="flat" cmpd="sng" algn="ctr">
                      <a:solidFill>
                        <a:srgbClr val="DEE2E6"/>
                      </a:solidFill>
                      <a:prstDash val="solid"/>
                      <a:round/>
                      <a:headEnd type="none" w="med" len="med"/>
                      <a:tailEnd type="none" w="med" len="med"/>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US" b="0">
                          <a:effectLst/>
                        </a:rPr>
                        <a:t>Developed in 1993.</a:t>
                      </a:r>
                      <a:endParaRPr lang="en-US">
                        <a:effectLst/>
                      </a:endParaRPr>
                    </a:p>
                  </a:txBody>
                  <a:tcPr>
                    <a:lnL w="9525" cap="flat" cmpd="sng" algn="ctr">
                      <a:solidFill>
                        <a:srgbClr val="DEE2E6"/>
                      </a:solidFill>
                      <a:prstDash val="solid"/>
                      <a:round/>
                      <a:headEnd type="none" w="med" len="med"/>
                      <a:tailEnd type="none" w="med" len="med"/>
                    </a:lnL>
                    <a:lnR w="9525" cap="flat" cmpd="sng" algn="ctr">
                      <a:solidFill>
                        <a:srgbClr val="DEE2E6"/>
                      </a:solidFill>
                      <a:prstDash val="solid"/>
                      <a:round/>
                      <a:headEnd type="none" w="med" len="med"/>
                      <a:tailEnd type="none" w="med" len="med"/>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US" b="0">
                          <a:effectLst/>
                        </a:rPr>
                        <a:t>Developed after 2009.</a:t>
                      </a:r>
                      <a:endParaRPr lang="en-US">
                        <a:effectLst/>
                      </a:endParaRPr>
                    </a:p>
                  </a:txBody>
                  <a:tcPr>
                    <a:lnL w="9525" cap="flat" cmpd="sng" algn="ctr">
                      <a:solidFill>
                        <a:srgbClr val="DEE2E6"/>
                      </a:solidFill>
                      <a:prstDash val="solid"/>
                      <a:round/>
                      <a:headEnd type="none" w="med" len="med"/>
                      <a:tailEnd type="none" w="med" len="med"/>
                    </a:lnL>
                    <a:lnR w="9525" cap="flat" cmpd="sng" algn="ctr">
                      <a:solidFill>
                        <a:srgbClr val="DEE2E6"/>
                      </a:solidFill>
                      <a:prstDash val="solid"/>
                      <a:round/>
                      <a:headEnd type="none" w="med" len="med"/>
                      <a:tailEnd type="none" w="med" len="med"/>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109968393"/>
                  </a:ext>
                </a:extLst>
              </a:tr>
              <a:tr h="0">
                <a:tc>
                  <a:txBody>
                    <a:bodyPr/>
                    <a:lstStyle/>
                    <a:p>
                      <a:pPr fontAlgn="t"/>
                      <a:r>
                        <a:rPr lang="en-TZ" b="0">
                          <a:effectLst/>
                        </a:rPr>
                        <a:t>3</a:t>
                      </a:r>
                      <a:endParaRPr lang="en-TZ">
                        <a:effectLst/>
                      </a:endParaRPr>
                    </a:p>
                  </a:txBody>
                  <a:tcPr>
                    <a:lnL w="9525" cap="flat" cmpd="sng" algn="ctr">
                      <a:solidFill>
                        <a:srgbClr val="DEE2E6"/>
                      </a:solidFill>
                      <a:prstDash val="solid"/>
                      <a:round/>
                      <a:headEnd type="none" w="med" len="med"/>
                      <a:tailEnd type="none" w="med" len="med"/>
                    </a:lnL>
                    <a:lnR w="9525" cap="flat" cmpd="sng" algn="ctr">
                      <a:solidFill>
                        <a:srgbClr val="DEE2E6"/>
                      </a:solidFill>
                      <a:prstDash val="solid"/>
                      <a:round/>
                      <a:headEnd type="none" w="med" len="med"/>
                      <a:tailEnd type="none" w="med" len="med"/>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US" b="0">
                          <a:effectLst/>
                        </a:rPr>
                        <a:t>Vulnerable to brute force attacks</a:t>
                      </a:r>
                      <a:endParaRPr lang="en-US">
                        <a:effectLst/>
                      </a:endParaRPr>
                    </a:p>
                  </a:txBody>
                  <a:tcPr>
                    <a:lnL w="9525" cap="flat" cmpd="sng" algn="ctr">
                      <a:solidFill>
                        <a:srgbClr val="DEE2E6"/>
                      </a:solidFill>
                      <a:prstDash val="solid"/>
                      <a:round/>
                      <a:headEnd type="none" w="med" len="med"/>
                      <a:tailEnd type="none" w="med" len="med"/>
                    </a:lnL>
                    <a:lnR w="9525" cap="flat" cmpd="sng" algn="ctr">
                      <a:solidFill>
                        <a:srgbClr val="DEE2E6"/>
                      </a:solidFill>
                      <a:prstDash val="solid"/>
                      <a:round/>
                      <a:headEnd type="none" w="med" len="med"/>
                      <a:tailEnd type="none" w="med" len="med"/>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US" b="0" dirty="0">
                          <a:effectLst/>
                        </a:rPr>
                        <a:t>Brute force attacks are prevented in SHA-2.</a:t>
                      </a:r>
                      <a:endParaRPr lang="en-US" dirty="0">
                        <a:effectLst/>
                      </a:endParaRPr>
                    </a:p>
                  </a:txBody>
                  <a:tcPr>
                    <a:lnL w="9525" cap="flat" cmpd="sng" algn="ctr">
                      <a:solidFill>
                        <a:srgbClr val="DEE2E6"/>
                      </a:solidFill>
                      <a:prstDash val="solid"/>
                      <a:round/>
                      <a:headEnd type="none" w="med" len="med"/>
                      <a:tailEnd type="none" w="med" len="med"/>
                    </a:lnL>
                    <a:lnR w="9525" cap="flat" cmpd="sng" algn="ctr">
                      <a:solidFill>
                        <a:srgbClr val="DEE2E6"/>
                      </a:solidFill>
                      <a:prstDash val="solid"/>
                      <a:round/>
                      <a:headEnd type="none" w="med" len="med"/>
                      <a:tailEnd type="none" w="med" len="med"/>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4046937294"/>
                  </a:ext>
                </a:extLst>
              </a:tr>
            </a:tbl>
          </a:graphicData>
        </a:graphic>
      </p:graphicFrame>
    </p:spTree>
    <p:extLst>
      <p:ext uri="{BB962C8B-B14F-4D97-AF65-F5344CB8AC3E}">
        <p14:creationId xmlns:p14="http://schemas.microsoft.com/office/powerpoint/2010/main" val="40761184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2D26E7-3013-BBEE-CE34-66E9B0AFD1C2}"/>
              </a:ext>
            </a:extLst>
          </p:cNvPr>
          <p:cNvSpPr>
            <a:spLocks noGrp="1"/>
          </p:cNvSpPr>
          <p:nvPr>
            <p:ph idx="1"/>
          </p:nvPr>
        </p:nvSpPr>
        <p:spPr>
          <a:xfrm>
            <a:off x="404733" y="344774"/>
            <a:ext cx="11362545" cy="6160957"/>
          </a:xfrm>
        </p:spPr>
        <p:txBody>
          <a:bodyPr>
            <a:normAutofit/>
          </a:bodyPr>
          <a:lstStyle/>
          <a:p>
            <a:pPr algn="l"/>
            <a:r>
              <a:rPr lang="en-US" sz="3600" b="1" i="0" dirty="0">
                <a:solidFill>
                  <a:srgbClr val="3A3A3A"/>
                </a:solidFill>
                <a:effectLst/>
                <a:highlight>
                  <a:srgbClr val="FFFFFF"/>
                </a:highlight>
                <a:latin typeface="Open Sans" panose="020B0606030504020204" pitchFamily="34" charset="0"/>
              </a:rPr>
              <a:t>Properties of Hash function:</a:t>
            </a:r>
          </a:p>
          <a:p>
            <a:pPr algn="l"/>
            <a:r>
              <a:rPr lang="en-US" sz="3600" b="0" i="0" dirty="0">
                <a:solidFill>
                  <a:srgbClr val="3A3A3A"/>
                </a:solidFill>
                <a:effectLst/>
                <a:highlight>
                  <a:srgbClr val="FFFFFF"/>
                </a:highlight>
                <a:latin typeface="Open Sans" panose="020B0606030504020204" pitchFamily="34" charset="0"/>
              </a:rPr>
              <a:t>A hash function with the following properties is considered desirable. They include –</a:t>
            </a:r>
          </a:p>
          <a:p>
            <a:pPr algn="l">
              <a:buFont typeface="Arial" panose="020B0604020202020204" pitchFamily="34" charset="0"/>
              <a:buChar char="•"/>
            </a:pPr>
            <a:r>
              <a:rPr lang="en-US" sz="3600" b="1" i="0" dirty="0">
                <a:solidFill>
                  <a:srgbClr val="3A3A3A"/>
                </a:solidFill>
                <a:effectLst/>
                <a:highlight>
                  <a:srgbClr val="FFFFFF"/>
                </a:highlight>
                <a:latin typeface="Open Sans" panose="020B0606030504020204" pitchFamily="34" charset="0"/>
              </a:rPr>
              <a:t>Pre-image resistance</a:t>
            </a:r>
            <a:r>
              <a:rPr lang="en-US" sz="3600" b="0" i="0" dirty="0">
                <a:solidFill>
                  <a:srgbClr val="3A3A3A"/>
                </a:solidFill>
                <a:effectLst/>
                <a:highlight>
                  <a:srgbClr val="FFFFFF"/>
                </a:highlight>
                <a:latin typeface="Open Sans" panose="020B0606030504020204" pitchFamily="34" charset="0"/>
              </a:rPr>
              <a:t> – This property is known for hard computation to reverse the hash.</a:t>
            </a:r>
          </a:p>
          <a:p>
            <a:pPr algn="l">
              <a:buFont typeface="Arial" panose="020B0604020202020204" pitchFamily="34" charset="0"/>
              <a:buChar char="•"/>
            </a:pPr>
            <a:r>
              <a:rPr lang="en-US" sz="3600" b="1" i="0" dirty="0">
                <a:solidFill>
                  <a:srgbClr val="3A3A3A"/>
                </a:solidFill>
                <a:effectLst/>
                <a:highlight>
                  <a:srgbClr val="FFFFFF"/>
                </a:highlight>
                <a:latin typeface="Open Sans" panose="020B0606030504020204" pitchFamily="34" charset="0"/>
              </a:rPr>
              <a:t>Second pre-image resistance</a:t>
            </a:r>
            <a:r>
              <a:rPr lang="en-US" sz="3600" b="0" i="0" dirty="0">
                <a:solidFill>
                  <a:srgbClr val="3A3A3A"/>
                </a:solidFill>
                <a:effectLst/>
                <a:highlight>
                  <a:srgbClr val="FFFFFF"/>
                </a:highlight>
                <a:latin typeface="Open Sans" panose="020B0606030504020204" pitchFamily="34" charset="0"/>
              </a:rPr>
              <a:t> – This property gives input and hash and it is hard to find the same input and hash.</a:t>
            </a:r>
          </a:p>
          <a:p>
            <a:pPr algn="l">
              <a:buFont typeface="Arial" panose="020B0604020202020204" pitchFamily="34" charset="0"/>
              <a:buChar char="•"/>
            </a:pPr>
            <a:r>
              <a:rPr lang="en-US" sz="3600" b="1" i="0" dirty="0">
                <a:solidFill>
                  <a:srgbClr val="3A3A3A"/>
                </a:solidFill>
                <a:effectLst/>
                <a:highlight>
                  <a:srgbClr val="FFFFFF"/>
                </a:highlight>
                <a:latin typeface="Open Sans" panose="020B0606030504020204" pitchFamily="34" charset="0"/>
              </a:rPr>
              <a:t>Collision resistance</a:t>
            </a:r>
            <a:r>
              <a:rPr lang="en-US" sz="3600" b="0" i="0" dirty="0">
                <a:solidFill>
                  <a:srgbClr val="3A3A3A"/>
                </a:solidFill>
                <a:effectLst/>
                <a:highlight>
                  <a:srgbClr val="FFFFFF"/>
                </a:highlight>
                <a:latin typeface="Open Sans" panose="020B0606030504020204" pitchFamily="34" charset="0"/>
              </a:rPr>
              <a:t> – This property makes it difficult to find two unique inputs of any length that result in the same hash.</a:t>
            </a:r>
          </a:p>
          <a:p>
            <a:endParaRPr lang="en-TZ" sz="3600" dirty="0"/>
          </a:p>
        </p:txBody>
      </p:sp>
    </p:spTree>
    <p:extLst>
      <p:ext uri="{BB962C8B-B14F-4D97-AF65-F5344CB8AC3E}">
        <p14:creationId xmlns:p14="http://schemas.microsoft.com/office/powerpoint/2010/main" val="12577320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3B77A-0D3D-1A2A-CA70-ACADBB20B85E}"/>
              </a:ext>
            </a:extLst>
          </p:cNvPr>
          <p:cNvSpPr>
            <a:spLocks noGrp="1"/>
          </p:cNvSpPr>
          <p:nvPr>
            <p:ph type="title"/>
          </p:nvPr>
        </p:nvSpPr>
        <p:spPr>
          <a:xfrm>
            <a:off x="838200" y="365126"/>
            <a:ext cx="10515600" cy="669196"/>
          </a:xfrm>
        </p:spPr>
        <p:txBody>
          <a:bodyPr>
            <a:normAutofit/>
          </a:bodyPr>
          <a:lstStyle/>
          <a:p>
            <a:r>
              <a:rPr lang="en-US" sz="4000" b="1" u="none" strike="noStrike" dirty="0">
                <a:solidFill>
                  <a:srgbClr val="000000"/>
                </a:solidFill>
                <a:effectLst/>
                <a:latin typeface="Times New Roman" panose="02020603050405020304" pitchFamily="18" charset="0"/>
                <a:ea typeface="Times New Roman" panose="02020603050405020304" pitchFamily="18" charset="0"/>
              </a:rPr>
              <a:t>Public key infrastructure</a:t>
            </a:r>
            <a:endParaRPr lang="en-TZ" sz="4000" b="1" dirty="0"/>
          </a:p>
        </p:txBody>
      </p:sp>
      <p:sp>
        <p:nvSpPr>
          <p:cNvPr id="3" name="Content Placeholder 2">
            <a:extLst>
              <a:ext uri="{FF2B5EF4-FFF2-40B4-BE49-F238E27FC236}">
                <a16:creationId xmlns:a16="http://schemas.microsoft.com/office/drawing/2014/main" id="{48F5E40A-F4ED-217C-5079-05BB4E55A0A3}"/>
              </a:ext>
            </a:extLst>
          </p:cNvPr>
          <p:cNvSpPr>
            <a:spLocks noGrp="1"/>
          </p:cNvSpPr>
          <p:nvPr>
            <p:ph idx="1"/>
          </p:nvPr>
        </p:nvSpPr>
        <p:spPr>
          <a:xfrm>
            <a:off x="494675" y="1229192"/>
            <a:ext cx="11182663" cy="5263681"/>
          </a:xfrm>
        </p:spPr>
        <p:txBody>
          <a:bodyPr/>
          <a:lstStyle/>
          <a:p>
            <a:pPr algn="l"/>
            <a:r>
              <a:rPr lang="en-US" sz="3600" b="0" i="0" dirty="0">
                <a:solidFill>
                  <a:srgbClr val="111111"/>
                </a:solidFill>
                <a:effectLst/>
                <a:highlight>
                  <a:srgbClr val="F3F3F3"/>
                </a:highlight>
                <a:latin typeface="-apple-system"/>
              </a:rPr>
              <a:t>A </a:t>
            </a:r>
            <a:r>
              <a:rPr lang="en-US" sz="3600" b="1" i="0" dirty="0">
                <a:solidFill>
                  <a:srgbClr val="111111"/>
                </a:solidFill>
                <a:effectLst/>
                <a:highlight>
                  <a:srgbClr val="F3F3F3"/>
                </a:highlight>
                <a:latin typeface="-apple-system"/>
              </a:rPr>
              <a:t>Public Key Infrastructure (PKI)</a:t>
            </a:r>
            <a:r>
              <a:rPr lang="en-US" sz="3600" b="0" i="0" dirty="0">
                <a:solidFill>
                  <a:srgbClr val="111111"/>
                </a:solidFill>
                <a:effectLst/>
                <a:highlight>
                  <a:srgbClr val="F3F3F3"/>
                </a:highlight>
                <a:latin typeface="-apple-system"/>
              </a:rPr>
              <a:t> is a comprehensive system that ensures secure communication and validates identities in digital environments. Here are the key points:</a:t>
            </a:r>
          </a:p>
          <a:p>
            <a:pPr algn="l">
              <a:buFont typeface="+mj-lt"/>
              <a:buAutoNum type="arabicPeriod"/>
            </a:pPr>
            <a:r>
              <a:rPr lang="en-US" sz="3600" b="1" i="0" dirty="0">
                <a:solidFill>
                  <a:srgbClr val="111111"/>
                </a:solidFill>
                <a:effectLst/>
                <a:highlight>
                  <a:srgbClr val="F3F3F3"/>
                </a:highlight>
                <a:latin typeface="-apple-system"/>
              </a:rPr>
              <a:t>Purpose</a:t>
            </a:r>
            <a:r>
              <a:rPr lang="en-US" sz="3600" b="0" i="0" dirty="0">
                <a:solidFill>
                  <a:srgbClr val="111111"/>
                </a:solidFill>
                <a:effectLst/>
                <a:highlight>
                  <a:srgbClr val="F3F3F3"/>
                </a:highlight>
                <a:latin typeface="-apple-system"/>
              </a:rPr>
              <a:t>:</a:t>
            </a:r>
          </a:p>
          <a:p>
            <a:pPr lvl="1" algn="l"/>
            <a:r>
              <a:rPr lang="en-US" sz="2800" b="0" i="0" dirty="0">
                <a:solidFill>
                  <a:srgbClr val="111111"/>
                </a:solidFill>
                <a:effectLst/>
                <a:highlight>
                  <a:srgbClr val="F3F3F3"/>
                </a:highlight>
                <a:latin typeface="-apple-system"/>
              </a:rPr>
              <a:t>Facilitates secure electronic data transfer for activities like e-commerce, internet banking, and confidential email.</a:t>
            </a:r>
          </a:p>
          <a:p>
            <a:pPr lvl="1" algn="l"/>
            <a:r>
              <a:rPr lang="en-US" sz="2800" b="0" i="0" dirty="0">
                <a:solidFill>
                  <a:srgbClr val="111111"/>
                </a:solidFill>
                <a:effectLst/>
                <a:highlight>
                  <a:srgbClr val="F3F3F3"/>
                </a:highlight>
                <a:latin typeface="-apple-system"/>
              </a:rPr>
              <a:t>Replaces simple passwords with stronger authentication methods.</a:t>
            </a:r>
          </a:p>
          <a:p>
            <a:pPr lvl="1" algn="l"/>
            <a:r>
              <a:rPr lang="en-US" sz="2800" b="0" i="0" dirty="0">
                <a:solidFill>
                  <a:srgbClr val="111111"/>
                </a:solidFill>
                <a:effectLst/>
                <a:highlight>
                  <a:srgbClr val="F3F3F3"/>
                </a:highlight>
                <a:latin typeface="-apple-system"/>
              </a:rPr>
              <a:t>Validates parties’ identities during communication</a:t>
            </a:r>
            <a:r>
              <a:rPr lang="en-US" b="0" i="0" dirty="0">
                <a:solidFill>
                  <a:srgbClr val="111111"/>
                </a:solidFill>
                <a:effectLst/>
                <a:highlight>
                  <a:srgbClr val="F3F3F3"/>
                </a:highlight>
                <a:latin typeface="-apple-system"/>
              </a:rPr>
              <a:t>.</a:t>
            </a:r>
          </a:p>
          <a:p>
            <a:pPr algn="l">
              <a:buFont typeface="+mj-lt"/>
              <a:buAutoNum type="arabicPeriod"/>
            </a:pPr>
            <a:r>
              <a:rPr lang="en-US" sz="3600" b="1" i="0" dirty="0">
                <a:solidFill>
                  <a:srgbClr val="111111"/>
                </a:solidFill>
                <a:effectLst/>
                <a:highlight>
                  <a:srgbClr val="F3F3F3"/>
                </a:highlight>
                <a:latin typeface="-apple-system"/>
              </a:rPr>
              <a:t>Components</a:t>
            </a:r>
            <a:r>
              <a:rPr lang="en-US" sz="3600" b="0" i="0" dirty="0">
                <a:solidFill>
                  <a:srgbClr val="111111"/>
                </a:solidFill>
                <a:effectLst/>
                <a:highlight>
                  <a:srgbClr val="F3F3F3"/>
                </a:highlight>
                <a:latin typeface="-apple-system"/>
              </a:rPr>
              <a:t>:</a:t>
            </a:r>
          </a:p>
          <a:p>
            <a:pPr lvl="1" algn="l"/>
            <a:r>
              <a:rPr lang="en-US" sz="2800" b="1" i="0" dirty="0">
                <a:solidFill>
                  <a:srgbClr val="111111"/>
                </a:solidFill>
                <a:effectLst/>
                <a:highlight>
                  <a:srgbClr val="F3F3F3"/>
                </a:highlight>
                <a:latin typeface="-apple-system"/>
              </a:rPr>
              <a:t>Digital Certificates</a:t>
            </a:r>
            <a:r>
              <a:rPr lang="en-US" sz="2800" b="0" i="0" dirty="0">
                <a:solidFill>
                  <a:srgbClr val="111111"/>
                </a:solidFill>
                <a:effectLst/>
                <a:highlight>
                  <a:srgbClr val="F3F3F3"/>
                </a:highlight>
                <a:latin typeface="-apple-system"/>
              </a:rPr>
              <a:t>: Bind public keys to entities (people, organizations).</a:t>
            </a:r>
          </a:p>
          <a:p>
            <a:endParaRPr lang="en-TZ" dirty="0"/>
          </a:p>
        </p:txBody>
      </p:sp>
    </p:spTree>
    <p:extLst>
      <p:ext uri="{BB962C8B-B14F-4D97-AF65-F5344CB8AC3E}">
        <p14:creationId xmlns:p14="http://schemas.microsoft.com/office/powerpoint/2010/main" val="37594149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A61AC8-91E4-4D1D-7539-F63B5DF2EC47}"/>
              </a:ext>
            </a:extLst>
          </p:cNvPr>
          <p:cNvSpPr>
            <a:spLocks noGrp="1"/>
          </p:cNvSpPr>
          <p:nvPr>
            <p:ph idx="1"/>
          </p:nvPr>
        </p:nvSpPr>
        <p:spPr>
          <a:xfrm>
            <a:off x="838200" y="449704"/>
            <a:ext cx="10515600" cy="5996065"/>
          </a:xfrm>
        </p:spPr>
        <p:txBody>
          <a:bodyPr>
            <a:normAutofit/>
          </a:bodyPr>
          <a:lstStyle/>
          <a:p>
            <a:pPr lvl="1" algn="l"/>
            <a:r>
              <a:rPr lang="en-US" sz="3200" b="1" i="0" dirty="0">
                <a:solidFill>
                  <a:srgbClr val="111111"/>
                </a:solidFill>
                <a:effectLst/>
                <a:highlight>
                  <a:srgbClr val="F3F3F3"/>
                </a:highlight>
                <a:latin typeface="-apple-system"/>
              </a:rPr>
              <a:t>Certificate Authority (CA)</a:t>
            </a:r>
            <a:r>
              <a:rPr lang="en-US" sz="3200" b="0" i="0" dirty="0">
                <a:solidFill>
                  <a:srgbClr val="111111"/>
                </a:solidFill>
                <a:effectLst/>
                <a:highlight>
                  <a:srgbClr val="F3F3F3"/>
                </a:highlight>
                <a:latin typeface="-apple-system"/>
              </a:rPr>
              <a:t>: Issues and manages certificates.</a:t>
            </a:r>
          </a:p>
          <a:p>
            <a:pPr lvl="1" algn="l"/>
            <a:r>
              <a:rPr lang="en-US" sz="3200" b="1" i="0" dirty="0">
                <a:solidFill>
                  <a:srgbClr val="111111"/>
                </a:solidFill>
                <a:effectLst/>
                <a:highlight>
                  <a:srgbClr val="F3F3F3"/>
                </a:highlight>
                <a:latin typeface="-apple-system"/>
              </a:rPr>
              <a:t>Registration Authority (RA)</a:t>
            </a:r>
            <a:r>
              <a:rPr lang="en-US" sz="3200" b="0" i="0" dirty="0">
                <a:solidFill>
                  <a:srgbClr val="111111"/>
                </a:solidFill>
                <a:effectLst/>
                <a:highlight>
                  <a:srgbClr val="F3F3F3"/>
                </a:highlight>
                <a:latin typeface="-apple-system"/>
              </a:rPr>
              <a:t>: Assures valid registration.</a:t>
            </a:r>
          </a:p>
          <a:p>
            <a:pPr lvl="1" algn="l"/>
            <a:r>
              <a:rPr lang="en-US" sz="3200" b="1" i="0" dirty="0">
                <a:solidFill>
                  <a:srgbClr val="111111"/>
                </a:solidFill>
                <a:effectLst/>
                <a:highlight>
                  <a:srgbClr val="F3F3F3"/>
                </a:highlight>
                <a:latin typeface="-apple-system"/>
              </a:rPr>
              <a:t>Public/Private Key Pairs</a:t>
            </a:r>
            <a:r>
              <a:rPr lang="en-US" sz="3200" b="0" i="0" dirty="0">
                <a:solidFill>
                  <a:srgbClr val="111111"/>
                </a:solidFill>
                <a:effectLst/>
                <a:highlight>
                  <a:srgbClr val="F3F3F3"/>
                </a:highlight>
                <a:latin typeface="-apple-system"/>
              </a:rPr>
              <a:t>: Used for encryption and authentication.</a:t>
            </a:r>
          </a:p>
          <a:p>
            <a:pPr marL="0" indent="0" algn="l">
              <a:buNone/>
            </a:pPr>
            <a:r>
              <a:rPr lang="en-US" sz="3200" b="1" i="0" dirty="0">
                <a:solidFill>
                  <a:srgbClr val="111111"/>
                </a:solidFill>
                <a:effectLst/>
                <a:highlight>
                  <a:srgbClr val="F3F3F3"/>
                </a:highlight>
                <a:latin typeface="-apple-system"/>
              </a:rPr>
              <a:t>3.How It Works</a:t>
            </a:r>
            <a:r>
              <a:rPr lang="en-US" sz="3200" b="0" i="0" dirty="0">
                <a:solidFill>
                  <a:srgbClr val="111111"/>
                </a:solidFill>
                <a:effectLst/>
                <a:highlight>
                  <a:srgbClr val="F3F3F3"/>
                </a:highlight>
                <a:latin typeface="-apple-system"/>
              </a:rPr>
              <a:t>:</a:t>
            </a:r>
          </a:p>
          <a:p>
            <a:pPr lvl="1" algn="l"/>
            <a:r>
              <a:rPr lang="en-US" sz="3200" b="0" i="0" dirty="0">
                <a:solidFill>
                  <a:srgbClr val="111111"/>
                </a:solidFill>
                <a:effectLst/>
                <a:highlight>
                  <a:srgbClr val="F3F3F3"/>
                </a:highlight>
                <a:latin typeface="-apple-system"/>
              </a:rPr>
              <a:t>Entities register and receive digital certificates from the CA.</a:t>
            </a:r>
          </a:p>
          <a:p>
            <a:pPr lvl="1" algn="l"/>
            <a:r>
              <a:rPr lang="en-US" sz="3200" b="0" i="0" dirty="0">
                <a:solidFill>
                  <a:srgbClr val="111111"/>
                </a:solidFill>
                <a:effectLst/>
                <a:highlight>
                  <a:srgbClr val="F3F3F3"/>
                </a:highlight>
                <a:latin typeface="-apple-system"/>
              </a:rPr>
              <a:t>Certificates contain public keys and identity information.</a:t>
            </a:r>
          </a:p>
          <a:p>
            <a:pPr lvl="1"/>
            <a:r>
              <a:rPr lang="fr-FR" sz="3200" b="0" i="0" dirty="0" err="1">
                <a:solidFill>
                  <a:srgbClr val="111111"/>
                </a:solidFill>
                <a:effectLst/>
                <a:highlight>
                  <a:srgbClr val="F3F3F3"/>
                </a:highlight>
                <a:latin typeface="-apple-system"/>
              </a:rPr>
              <a:t>Asymmetric</a:t>
            </a:r>
            <a:r>
              <a:rPr lang="fr-FR" sz="3200" b="0" i="0" dirty="0">
                <a:solidFill>
                  <a:srgbClr val="111111"/>
                </a:solidFill>
                <a:effectLst/>
                <a:highlight>
                  <a:srgbClr val="F3F3F3"/>
                </a:highlight>
                <a:latin typeface="-apple-system"/>
              </a:rPr>
              <a:t> </a:t>
            </a:r>
            <a:r>
              <a:rPr lang="fr-FR" sz="3200" b="0" i="0" dirty="0" err="1">
                <a:solidFill>
                  <a:srgbClr val="111111"/>
                </a:solidFill>
                <a:effectLst/>
                <a:highlight>
                  <a:srgbClr val="F3F3F3"/>
                </a:highlight>
                <a:latin typeface="-apple-system"/>
              </a:rPr>
              <a:t>encryption</a:t>
            </a:r>
            <a:r>
              <a:rPr lang="fr-FR" sz="3200" b="0" i="0" dirty="0">
                <a:solidFill>
                  <a:srgbClr val="111111"/>
                </a:solidFill>
                <a:effectLst/>
                <a:highlight>
                  <a:srgbClr val="F3F3F3"/>
                </a:highlight>
                <a:latin typeface="-apple-system"/>
              </a:rPr>
              <a:t> </a:t>
            </a:r>
            <a:r>
              <a:rPr lang="fr-FR" sz="3200" b="0" i="0" dirty="0" err="1">
                <a:solidFill>
                  <a:srgbClr val="111111"/>
                </a:solidFill>
                <a:effectLst/>
                <a:highlight>
                  <a:srgbClr val="F3F3F3"/>
                </a:highlight>
                <a:latin typeface="-apple-system"/>
              </a:rPr>
              <a:t>ensures</a:t>
            </a:r>
            <a:r>
              <a:rPr lang="fr-FR" sz="3200" b="0" i="0" dirty="0">
                <a:solidFill>
                  <a:srgbClr val="111111"/>
                </a:solidFill>
                <a:effectLst/>
                <a:highlight>
                  <a:srgbClr val="F3F3F3"/>
                </a:highlight>
                <a:latin typeface="-apple-system"/>
              </a:rPr>
              <a:t> </a:t>
            </a:r>
            <a:r>
              <a:rPr lang="fr-FR" sz="3200" b="0" i="0" dirty="0" err="1">
                <a:solidFill>
                  <a:srgbClr val="111111"/>
                </a:solidFill>
                <a:effectLst/>
                <a:highlight>
                  <a:srgbClr val="F3F3F3"/>
                </a:highlight>
                <a:latin typeface="-apple-system"/>
              </a:rPr>
              <a:t>secure</a:t>
            </a:r>
            <a:r>
              <a:rPr lang="fr-FR" sz="3200" b="0" i="0" dirty="0">
                <a:solidFill>
                  <a:srgbClr val="111111"/>
                </a:solidFill>
                <a:effectLst/>
                <a:highlight>
                  <a:srgbClr val="F3F3F3"/>
                </a:highlight>
                <a:latin typeface="-apple-system"/>
              </a:rPr>
              <a:t> communication.</a:t>
            </a:r>
          </a:p>
          <a:p>
            <a:endParaRPr lang="en-TZ" sz="3200" dirty="0"/>
          </a:p>
        </p:txBody>
      </p:sp>
    </p:spTree>
    <p:extLst>
      <p:ext uri="{BB962C8B-B14F-4D97-AF65-F5344CB8AC3E}">
        <p14:creationId xmlns:p14="http://schemas.microsoft.com/office/powerpoint/2010/main" val="8045051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A8509-2546-161F-33D5-B83C6D1CBCD6}"/>
              </a:ext>
            </a:extLst>
          </p:cNvPr>
          <p:cNvSpPr>
            <a:spLocks noGrp="1"/>
          </p:cNvSpPr>
          <p:nvPr>
            <p:ph type="title"/>
          </p:nvPr>
        </p:nvSpPr>
        <p:spPr>
          <a:xfrm>
            <a:off x="838200" y="365126"/>
            <a:ext cx="10515600" cy="684186"/>
          </a:xfrm>
        </p:spPr>
        <p:txBody>
          <a:bodyPr>
            <a:normAutofit/>
          </a:bodyPr>
          <a:lstStyle/>
          <a:p>
            <a:r>
              <a:rPr lang="en-US" sz="4000" b="1" dirty="0">
                <a:solidFill>
                  <a:srgbClr val="000000"/>
                </a:solidFill>
                <a:effectLst/>
                <a:latin typeface="Times New Roman" panose="02020603050405020304" pitchFamily="18" charset="0"/>
                <a:ea typeface="Times New Roman" panose="02020603050405020304" pitchFamily="18" charset="0"/>
              </a:rPr>
              <a:t>Risk associated with peer-to-peer computing</a:t>
            </a:r>
            <a:endParaRPr lang="en-TZ" sz="4000" b="1" dirty="0"/>
          </a:p>
        </p:txBody>
      </p:sp>
      <p:sp>
        <p:nvSpPr>
          <p:cNvPr id="3" name="Content Placeholder 2">
            <a:extLst>
              <a:ext uri="{FF2B5EF4-FFF2-40B4-BE49-F238E27FC236}">
                <a16:creationId xmlns:a16="http://schemas.microsoft.com/office/drawing/2014/main" id="{A3FF04DA-4B60-6A3B-3223-045BE8F534A4}"/>
              </a:ext>
            </a:extLst>
          </p:cNvPr>
          <p:cNvSpPr>
            <a:spLocks noGrp="1"/>
          </p:cNvSpPr>
          <p:nvPr>
            <p:ph idx="1"/>
          </p:nvPr>
        </p:nvSpPr>
        <p:spPr>
          <a:xfrm>
            <a:off x="509666" y="1229192"/>
            <a:ext cx="11167672" cy="5263681"/>
          </a:xfrm>
        </p:spPr>
        <p:txBody>
          <a:bodyPr>
            <a:noAutofit/>
          </a:bodyPr>
          <a:lstStyle/>
          <a:p>
            <a:pPr algn="l" fontAlgn="base"/>
            <a:r>
              <a:rPr lang="en-US" sz="3600" b="0" i="0" dirty="0">
                <a:solidFill>
                  <a:srgbClr val="000000"/>
                </a:solidFill>
                <a:effectLst/>
                <a:highlight>
                  <a:srgbClr val="FFFFFF"/>
                </a:highlight>
                <a:latin typeface="Basel Grotesk light"/>
              </a:rPr>
              <a:t>Sharing files using peer-to-peer (P2P) software is efficient. But if you misuse P2P software, you expose yourself to the following risks:</a:t>
            </a:r>
          </a:p>
          <a:p>
            <a:pPr algn="l" fontAlgn="base">
              <a:buFont typeface="Arial" panose="020B0604020202020204" pitchFamily="34" charset="0"/>
              <a:buChar char="•"/>
            </a:pPr>
            <a:r>
              <a:rPr lang="en-US" sz="3600" b="0" i="0" dirty="0">
                <a:solidFill>
                  <a:srgbClr val="000000"/>
                </a:solidFill>
                <a:effectLst/>
                <a:highlight>
                  <a:srgbClr val="FFFFFF"/>
                </a:highlight>
                <a:latin typeface="inherit"/>
              </a:rPr>
              <a:t>Exposing your hard disk to others</a:t>
            </a:r>
          </a:p>
          <a:p>
            <a:pPr algn="l" fontAlgn="base">
              <a:buFont typeface="Arial" panose="020B0604020202020204" pitchFamily="34" charset="0"/>
              <a:buChar char="•"/>
            </a:pPr>
            <a:r>
              <a:rPr lang="en-US" sz="3600" b="0" i="0" dirty="0">
                <a:solidFill>
                  <a:srgbClr val="000000"/>
                </a:solidFill>
                <a:effectLst/>
                <a:highlight>
                  <a:srgbClr val="FFFFFF"/>
                </a:highlight>
                <a:latin typeface="inherit"/>
              </a:rPr>
              <a:t>Contracting computer viruses</a:t>
            </a:r>
          </a:p>
          <a:p>
            <a:pPr algn="l" fontAlgn="base">
              <a:buFont typeface="Arial" panose="020B0604020202020204" pitchFamily="34" charset="0"/>
              <a:buChar char="•"/>
            </a:pPr>
            <a:r>
              <a:rPr lang="en-US" sz="3600" b="0" i="0" dirty="0">
                <a:solidFill>
                  <a:srgbClr val="000000"/>
                </a:solidFill>
                <a:effectLst/>
                <a:highlight>
                  <a:srgbClr val="FFFFFF"/>
                </a:highlight>
                <a:latin typeface="inherit"/>
              </a:rPr>
              <a:t>Infringing copyright</a:t>
            </a:r>
          </a:p>
          <a:p>
            <a:pPr algn="l" fontAlgn="base">
              <a:buFont typeface="Arial" panose="020B0604020202020204" pitchFamily="34" charset="0"/>
              <a:buChar char="•"/>
            </a:pPr>
            <a:r>
              <a:rPr lang="en-US" sz="3600" b="0" i="0" dirty="0">
                <a:solidFill>
                  <a:srgbClr val="000000"/>
                </a:solidFill>
                <a:effectLst/>
                <a:highlight>
                  <a:srgbClr val="FFFFFF"/>
                </a:highlight>
                <a:latin typeface="inherit"/>
              </a:rPr>
              <a:t>Violating CUHK Information Technology Services Centre (ITSC) Acceptable Use Policies</a:t>
            </a:r>
          </a:p>
          <a:p>
            <a:pPr algn="l" fontAlgn="base">
              <a:buFont typeface="Arial" panose="020B0604020202020204" pitchFamily="34" charset="0"/>
              <a:buChar char="•"/>
            </a:pPr>
            <a:r>
              <a:rPr lang="en-US" sz="3600" b="0" i="0" dirty="0">
                <a:solidFill>
                  <a:srgbClr val="000000"/>
                </a:solidFill>
                <a:effectLst/>
                <a:highlight>
                  <a:srgbClr val="FFFFFF"/>
                </a:highlight>
                <a:latin typeface="inherit"/>
              </a:rPr>
              <a:t>Slowing down the entire campus network</a:t>
            </a:r>
          </a:p>
          <a:p>
            <a:endParaRPr lang="en-TZ" sz="3600" dirty="0"/>
          </a:p>
        </p:txBody>
      </p:sp>
    </p:spTree>
    <p:extLst>
      <p:ext uri="{BB962C8B-B14F-4D97-AF65-F5344CB8AC3E}">
        <p14:creationId xmlns:p14="http://schemas.microsoft.com/office/powerpoint/2010/main" val="7562079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E29EB0-6B24-DFE5-E2B8-01BEFD530C92}"/>
              </a:ext>
            </a:extLst>
          </p:cNvPr>
          <p:cNvSpPr>
            <a:spLocks noGrp="1"/>
          </p:cNvSpPr>
          <p:nvPr>
            <p:ph idx="1"/>
          </p:nvPr>
        </p:nvSpPr>
        <p:spPr>
          <a:xfrm>
            <a:off x="838200" y="479685"/>
            <a:ext cx="10515600" cy="5697278"/>
          </a:xfrm>
        </p:spPr>
        <p:txBody>
          <a:bodyPr>
            <a:normAutofit/>
          </a:bodyPr>
          <a:lstStyle/>
          <a:p>
            <a:pPr algn="l" fontAlgn="base"/>
            <a:r>
              <a:rPr lang="en-US" sz="3600" b="0" i="0" dirty="0">
                <a:solidFill>
                  <a:srgbClr val="000000"/>
                </a:solidFill>
                <a:effectLst/>
                <a:highlight>
                  <a:srgbClr val="FFFFFF"/>
                </a:highlight>
                <a:latin typeface="Basel Grotesk light"/>
              </a:rPr>
              <a:t>Among these risks, the consequence of infringing copyright can be the most serious. </a:t>
            </a:r>
          </a:p>
          <a:p>
            <a:pPr algn="l" fontAlgn="base"/>
            <a:r>
              <a:rPr lang="en-US" sz="3600" b="0" i="0" dirty="0">
                <a:solidFill>
                  <a:srgbClr val="000000"/>
                </a:solidFill>
                <a:effectLst/>
                <a:highlight>
                  <a:srgbClr val="FFFFFF"/>
                </a:highlight>
                <a:latin typeface="Basel Grotesk light"/>
              </a:rPr>
              <a:t>On one hand, the act of unauthorized uploading of a copyright works for others to download may attract civil or even criminal sanctions. </a:t>
            </a:r>
          </a:p>
          <a:p>
            <a:pPr algn="l" fontAlgn="base"/>
            <a:r>
              <a:rPr lang="en-US" sz="3600" b="0" i="0" dirty="0">
                <a:solidFill>
                  <a:srgbClr val="000000"/>
                </a:solidFill>
                <a:effectLst/>
                <a:highlight>
                  <a:srgbClr val="FFFFFF"/>
                </a:highlight>
                <a:latin typeface="Basel Grotesk light"/>
              </a:rPr>
              <a:t>On the other hand, unauthorized downloading of copyright works entails civil liability. </a:t>
            </a:r>
          </a:p>
          <a:p>
            <a:pPr algn="l" fontAlgn="base"/>
            <a:r>
              <a:rPr lang="en-US" sz="3600" b="0" i="0" dirty="0">
                <a:solidFill>
                  <a:srgbClr val="000000"/>
                </a:solidFill>
                <a:effectLst/>
                <a:highlight>
                  <a:srgbClr val="FFFFFF"/>
                </a:highlight>
                <a:latin typeface="Basel Grotesk light"/>
              </a:rPr>
              <a:t>If you are not sure about the copyright ownership of the files, you should not perform any uploading or downloading of these files.</a:t>
            </a:r>
          </a:p>
          <a:p>
            <a:endParaRPr lang="en-TZ" sz="3600" dirty="0"/>
          </a:p>
        </p:txBody>
      </p:sp>
    </p:spTree>
    <p:extLst>
      <p:ext uri="{BB962C8B-B14F-4D97-AF65-F5344CB8AC3E}">
        <p14:creationId xmlns:p14="http://schemas.microsoft.com/office/powerpoint/2010/main" val="11791509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163F3-A3BA-1EBE-D87C-8E894A8C2587}"/>
              </a:ext>
            </a:extLst>
          </p:cNvPr>
          <p:cNvSpPr>
            <a:spLocks noGrp="1"/>
          </p:cNvSpPr>
          <p:nvPr>
            <p:ph type="title"/>
          </p:nvPr>
        </p:nvSpPr>
        <p:spPr>
          <a:xfrm>
            <a:off x="838200" y="365126"/>
            <a:ext cx="10515600" cy="998980"/>
          </a:xfrm>
        </p:spPr>
        <p:txBody>
          <a:bodyPr>
            <a:normAutofit fontScale="90000"/>
          </a:bodyPr>
          <a:lstStyle/>
          <a:p>
            <a:r>
              <a:rPr lang="en-US" sz="3600" b="1" dirty="0">
                <a:solidFill>
                  <a:srgbClr val="000000"/>
                </a:solidFill>
                <a:effectLst/>
                <a:latin typeface="Times New Roman" panose="02020603050405020304" pitchFamily="18" charset="0"/>
                <a:ea typeface="Times New Roman" panose="02020603050405020304" pitchFamily="18" charset="0"/>
              </a:rPr>
              <a:t>Controls and risk associated with the use of mobile and wireless device</a:t>
            </a:r>
            <a:endParaRPr lang="en-TZ" sz="3600" b="1" dirty="0"/>
          </a:p>
        </p:txBody>
      </p:sp>
      <p:sp>
        <p:nvSpPr>
          <p:cNvPr id="3" name="Content Placeholder 2">
            <a:extLst>
              <a:ext uri="{FF2B5EF4-FFF2-40B4-BE49-F238E27FC236}">
                <a16:creationId xmlns:a16="http://schemas.microsoft.com/office/drawing/2014/main" id="{31DDBF03-02B6-AB88-75BA-C7BBE40A1EF5}"/>
              </a:ext>
            </a:extLst>
          </p:cNvPr>
          <p:cNvSpPr>
            <a:spLocks noGrp="1"/>
          </p:cNvSpPr>
          <p:nvPr>
            <p:ph idx="1"/>
          </p:nvPr>
        </p:nvSpPr>
        <p:spPr>
          <a:xfrm>
            <a:off x="434715" y="1558976"/>
            <a:ext cx="11317574" cy="4933897"/>
          </a:xfrm>
        </p:spPr>
        <p:txBody>
          <a:bodyPr>
            <a:normAutofit/>
          </a:bodyPr>
          <a:lstStyle/>
          <a:p>
            <a:pPr algn="l"/>
            <a:r>
              <a:rPr lang="en-US" sz="3200" b="0" i="0" dirty="0">
                <a:solidFill>
                  <a:srgbClr val="111111"/>
                </a:solidFill>
                <a:effectLst/>
                <a:highlight>
                  <a:srgbClr val="F3F3F3"/>
                </a:highlight>
                <a:latin typeface="-apple-system"/>
              </a:rPr>
              <a:t>Let’s explore the risks associated with mobile and wireless devices, along with recommended controls:</a:t>
            </a:r>
          </a:p>
          <a:p>
            <a:pPr algn="l">
              <a:buFont typeface="+mj-lt"/>
              <a:buAutoNum type="arabicPeriod"/>
            </a:pPr>
            <a:r>
              <a:rPr lang="en-US" sz="3200" b="1" i="0" dirty="0">
                <a:solidFill>
                  <a:srgbClr val="111111"/>
                </a:solidFill>
                <a:effectLst/>
                <a:highlight>
                  <a:srgbClr val="F3F3F3"/>
                </a:highlight>
                <a:latin typeface="-apple-system"/>
              </a:rPr>
              <a:t>Mobile Application Security Threats</a:t>
            </a:r>
            <a:r>
              <a:rPr lang="en-US" sz="3200" b="0" i="0" dirty="0">
                <a:solidFill>
                  <a:srgbClr val="111111"/>
                </a:solidFill>
                <a:effectLst/>
                <a:highlight>
                  <a:srgbClr val="F3F3F3"/>
                </a:highlight>
                <a:latin typeface="-apple-system"/>
              </a:rPr>
              <a:t>:</a:t>
            </a:r>
          </a:p>
          <a:p>
            <a:pPr lvl="1" algn="l"/>
            <a:r>
              <a:rPr lang="en-US" sz="3200" b="1" i="0" dirty="0">
                <a:solidFill>
                  <a:srgbClr val="111111"/>
                </a:solidFill>
                <a:effectLst/>
                <a:highlight>
                  <a:srgbClr val="F3F3F3"/>
                </a:highlight>
                <a:latin typeface="-apple-system"/>
              </a:rPr>
              <a:t>Malicious Apps</a:t>
            </a:r>
            <a:r>
              <a:rPr lang="en-US" sz="3200" b="0" i="0" dirty="0">
                <a:solidFill>
                  <a:srgbClr val="111111"/>
                </a:solidFill>
                <a:effectLst/>
                <a:highlight>
                  <a:srgbClr val="F3F3F3"/>
                </a:highlight>
                <a:latin typeface="-apple-system"/>
              </a:rPr>
              <a:t>: Users may unknowingly download apps that steal personal or business data (spyware, malware). Vigilance and app reputation checks are crucial.</a:t>
            </a:r>
          </a:p>
          <a:p>
            <a:pPr lvl="1" algn="l"/>
            <a:r>
              <a:rPr lang="en-US" sz="3200" b="1" i="0" dirty="0">
                <a:solidFill>
                  <a:srgbClr val="111111"/>
                </a:solidFill>
                <a:effectLst/>
                <a:highlight>
                  <a:srgbClr val="F3F3F3"/>
                </a:highlight>
                <a:latin typeface="-apple-system"/>
              </a:rPr>
              <a:t>Web-Based Threats</a:t>
            </a:r>
            <a:r>
              <a:rPr lang="en-US" sz="3200" b="0" i="0" dirty="0">
                <a:solidFill>
                  <a:srgbClr val="111111"/>
                </a:solidFill>
                <a:effectLst/>
                <a:highlight>
                  <a:srgbClr val="F3F3F3"/>
                </a:highlight>
                <a:latin typeface="-apple-system"/>
              </a:rPr>
              <a:t>: Visiting seemingly harmless sites can lead to automatic downloads of malicious content. </a:t>
            </a:r>
            <a:r>
              <a:rPr lang="en-US" sz="3200" b="0" i="0" dirty="0">
                <a:solidFill>
                  <a:srgbClr val="111111"/>
                </a:solidFill>
                <a:effectLst/>
                <a:highlight>
                  <a:srgbClr val="F3F3F3"/>
                </a:highlight>
                <a:latin typeface="-apple-system"/>
                <a:hlinkClick r:id="rId2"/>
              </a:rPr>
              <a:t>Regularly update browsers and use security tools</a:t>
            </a:r>
            <a:endParaRPr lang="en-US" sz="3200" b="0" i="0" dirty="0">
              <a:solidFill>
                <a:srgbClr val="111111"/>
              </a:solidFill>
              <a:effectLst/>
              <a:highlight>
                <a:srgbClr val="F3F3F3"/>
              </a:highlight>
              <a:latin typeface="-apple-system"/>
            </a:endParaRPr>
          </a:p>
          <a:p>
            <a:endParaRPr lang="en-TZ" sz="3200" dirty="0"/>
          </a:p>
        </p:txBody>
      </p:sp>
    </p:spTree>
    <p:extLst>
      <p:ext uri="{BB962C8B-B14F-4D97-AF65-F5344CB8AC3E}">
        <p14:creationId xmlns:p14="http://schemas.microsoft.com/office/powerpoint/2010/main" val="14911016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AA9F4C-D933-C6CF-F964-2280D2856B4C}"/>
              </a:ext>
            </a:extLst>
          </p:cNvPr>
          <p:cNvSpPr>
            <a:spLocks noGrp="1"/>
          </p:cNvSpPr>
          <p:nvPr>
            <p:ph idx="1"/>
          </p:nvPr>
        </p:nvSpPr>
        <p:spPr>
          <a:xfrm>
            <a:off x="838200" y="479685"/>
            <a:ext cx="10515600" cy="5697278"/>
          </a:xfrm>
        </p:spPr>
        <p:txBody>
          <a:bodyPr>
            <a:normAutofit/>
          </a:bodyPr>
          <a:lstStyle/>
          <a:p>
            <a:pPr marL="0" indent="0" algn="l">
              <a:buNone/>
            </a:pPr>
            <a:r>
              <a:rPr lang="en-US" sz="4000" b="1" i="0" dirty="0">
                <a:solidFill>
                  <a:srgbClr val="111111"/>
                </a:solidFill>
                <a:effectLst/>
                <a:highlight>
                  <a:srgbClr val="F3F3F3"/>
                </a:highlight>
                <a:latin typeface="-apple-system"/>
              </a:rPr>
              <a:t>2.Mobile Network Security Threats</a:t>
            </a:r>
            <a:r>
              <a:rPr lang="en-US" sz="4000" b="0" i="0" dirty="0">
                <a:solidFill>
                  <a:srgbClr val="111111"/>
                </a:solidFill>
                <a:effectLst/>
                <a:highlight>
                  <a:srgbClr val="F3F3F3"/>
                </a:highlight>
                <a:latin typeface="-apple-system"/>
              </a:rPr>
              <a:t>:</a:t>
            </a:r>
          </a:p>
          <a:p>
            <a:pPr algn="l">
              <a:buFont typeface="Arial" panose="020B0604020202020204" pitchFamily="34" charset="0"/>
              <a:buChar char="•"/>
            </a:pPr>
            <a:r>
              <a:rPr lang="en-US" sz="4000" b="1" i="0" dirty="0">
                <a:solidFill>
                  <a:srgbClr val="111111"/>
                </a:solidFill>
                <a:effectLst/>
                <a:highlight>
                  <a:srgbClr val="F3F3F3"/>
                </a:highlight>
                <a:latin typeface="-apple-system"/>
              </a:rPr>
              <a:t>Unsecured Public Wi-Fi</a:t>
            </a:r>
            <a:r>
              <a:rPr lang="en-US" sz="4000" b="0" i="0" dirty="0">
                <a:solidFill>
                  <a:srgbClr val="111111"/>
                </a:solidFill>
                <a:effectLst/>
                <a:highlight>
                  <a:srgbClr val="F3F3F3"/>
                </a:highlight>
                <a:latin typeface="-apple-system"/>
              </a:rPr>
              <a:t>: Cybercriminals can intercept unencrypted data on public Wi-Fi networks. </a:t>
            </a:r>
            <a:r>
              <a:rPr lang="en-US" sz="4000" b="0" i="0" dirty="0">
                <a:solidFill>
                  <a:srgbClr val="111111"/>
                </a:solidFill>
                <a:effectLst/>
                <a:highlight>
                  <a:srgbClr val="F3F3F3"/>
                </a:highlight>
                <a:latin typeface="-apple-system"/>
                <a:hlinkClick r:id="rId2"/>
              </a:rPr>
              <a:t>Use VPNs and avoid sensitive transactions on open networks</a:t>
            </a:r>
            <a:r>
              <a:rPr lang="en-US" sz="4000" b="0" i="0" baseline="30000" dirty="0">
                <a:solidFill>
                  <a:srgbClr val="111111"/>
                </a:solidFill>
                <a:effectLst/>
                <a:highlight>
                  <a:srgbClr val="F3F3F3"/>
                </a:highlight>
                <a:latin typeface="-apple-system"/>
                <a:hlinkClick r:id="rId2"/>
              </a:rPr>
              <a:t>1</a:t>
            </a:r>
            <a:r>
              <a:rPr lang="en-US" sz="4000" b="0" i="0" baseline="30000" dirty="0">
                <a:solidFill>
                  <a:srgbClr val="111111"/>
                </a:solidFill>
                <a:effectLst/>
                <a:highlight>
                  <a:srgbClr val="F3F3F3"/>
                </a:highlight>
                <a:latin typeface="-apple-system"/>
                <a:hlinkClick r:id="rId3"/>
              </a:rPr>
              <a:t>2</a:t>
            </a:r>
            <a:r>
              <a:rPr lang="en-US" sz="4000" b="0" i="0" dirty="0">
                <a:solidFill>
                  <a:srgbClr val="111111"/>
                </a:solidFill>
                <a:effectLst/>
                <a:highlight>
                  <a:srgbClr val="F3F3F3"/>
                </a:highlight>
                <a:latin typeface="-apple-system"/>
              </a:rPr>
              <a:t>.</a:t>
            </a:r>
          </a:p>
          <a:p>
            <a:pPr algn="l">
              <a:buFont typeface="Arial" panose="020B0604020202020204" pitchFamily="34" charset="0"/>
              <a:buChar char="•"/>
            </a:pPr>
            <a:r>
              <a:rPr lang="en-US" sz="4000" b="1" i="0" dirty="0">
                <a:solidFill>
                  <a:srgbClr val="111111"/>
                </a:solidFill>
                <a:effectLst/>
                <a:highlight>
                  <a:srgbClr val="F3F3F3"/>
                </a:highlight>
                <a:latin typeface="-apple-system"/>
              </a:rPr>
              <a:t>Man-in-the-Middle Attacks</a:t>
            </a:r>
            <a:r>
              <a:rPr lang="en-US" sz="4000" b="0" i="0" dirty="0">
                <a:solidFill>
                  <a:srgbClr val="111111"/>
                </a:solidFill>
                <a:effectLst/>
                <a:highlight>
                  <a:srgbClr val="F3F3F3"/>
                </a:highlight>
                <a:latin typeface="-apple-system"/>
              </a:rPr>
              <a:t>: Attackers intercept communication between devices and servers. </a:t>
            </a:r>
            <a:r>
              <a:rPr lang="en-US" sz="4000" b="0" i="0" dirty="0">
                <a:solidFill>
                  <a:srgbClr val="111111"/>
                </a:solidFill>
                <a:effectLst/>
                <a:highlight>
                  <a:srgbClr val="F3F3F3"/>
                </a:highlight>
                <a:latin typeface="-apple-system"/>
                <a:hlinkClick r:id="rId4"/>
              </a:rPr>
              <a:t>Implement secure communication protocols (e.g., HTTPS)</a:t>
            </a:r>
            <a:endParaRPr lang="en-US" sz="4000" b="0" i="0" dirty="0">
              <a:solidFill>
                <a:srgbClr val="111111"/>
              </a:solidFill>
              <a:effectLst/>
              <a:highlight>
                <a:srgbClr val="F3F3F3"/>
              </a:highlight>
              <a:latin typeface="-apple-system"/>
            </a:endParaRPr>
          </a:p>
          <a:p>
            <a:endParaRPr lang="en-TZ" sz="4000" dirty="0"/>
          </a:p>
        </p:txBody>
      </p:sp>
    </p:spTree>
    <p:extLst>
      <p:ext uri="{BB962C8B-B14F-4D97-AF65-F5344CB8AC3E}">
        <p14:creationId xmlns:p14="http://schemas.microsoft.com/office/powerpoint/2010/main" val="42107590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473168-6A7E-967D-4A9E-6F4C3B318B62}"/>
              </a:ext>
            </a:extLst>
          </p:cNvPr>
          <p:cNvSpPr>
            <a:spLocks noGrp="1"/>
          </p:cNvSpPr>
          <p:nvPr>
            <p:ph idx="1"/>
          </p:nvPr>
        </p:nvSpPr>
        <p:spPr>
          <a:xfrm>
            <a:off x="838200" y="599607"/>
            <a:ext cx="10515600" cy="5577356"/>
          </a:xfrm>
        </p:spPr>
        <p:txBody>
          <a:bodyPr>
            <a:normAutofit/>
          </a:bodyPr>
          <a:lstStyle/>
          <a:p>
            <a:pPr marL="0" indent="0" algn="l">
              <a:buNone/>
            </a:pPr>
            <a:r>
              <a:rPr lang="en-US" sz="4000" b="1" i="0" dirty="0">
                <a:solidFill>
                  <a:srgbClr val="111111"/>
                </a:solidFill>
                <a:effectLst/>
                <a:highlight>
                  <a:srgbClr val="F3F3F3"/>
                </a:highlight>
                <a:latin typeface="-apple-system"/>
              </a:rPr>
              <a:t>3.Mobile Device Security Threats</a:t>
            </a:r>
            <a:r>
              <a:rPr lang="en-US" sz="4000" b="0" i="0" dirty="0">
                <a:solidFill>
                  <a:srgbClr val="111111"/>
                </a:solidFill>
                <a:effectLst/>
                <a:highlight>
                  <a:srgbClr val="F3F3F3"/>
                </a:highlight>
                <a:latin typeface="-apple-system"/>
              </a:rPr>
              <a:t>:</a:t>
            </a:r>
          </a:p>
          <a:p>
            <a:pPr algn="l">
              <a:buFont typeface="Arial" panose="020B0604020202020204" pitchFamily="34" charset="0"/>
              <a:buChar char="•"/>
            </a:pPr>
            <a:r>
              <a:rPr lang="en-US" sz="4000" b="1" i="0" dirty="0">
                <a:solidFill>
                  <a:srgbClr val="111111"/>
                </a:solidFill>
                <a:effectLst/>
                <a:highlight>
                  <a:srgbClr val="F3F3F3"/>
                </a:highlight>
                <a:latin typeface="-apple-system"/>
              </a:rPr>
              <a:t>Physical Loss or Theft</a:t>
            </a:r>
            <a:r>
              <a:rPr lang="en-US" sz="4000" b="0" i="0" dirty="0">
                <a:solidFill>
                  <a:srgbClr val="111111"/>
                </a:solidFill>
                <a:effectLst/>
                <a:highlight>
                  <a:srgbClr val="F3F3F3"/>
                </a:highlight>
                <a:latin typeface="-apple-system"/>
              </a:rPr>
              <a:t>: Losing a device grants hackers direct access to stored private data. Encrypt data and use strong authentication methods.</a:t>
            </a:r>
          </a:p>
          <a:p>
            <a:pPr algn="l">
              <a:buFont typeface="Arial" panose="020B0604020202020204" pitchFamily="34" charset="0"/>
              <a:buChar char="•"/>
            </a:pPr>
            <a:r>
              <a:rPr lang="en-US" sz="4000" b="1" i="0" dirty="0">
                <a:solidFill>
                  <a:srgbClr val="111111"/>
                </a:solidFill>
                <a:effectLst/>
                <a:highlight>
                  <a:srgbClr val="F3F3F3"/>
                </a:highlight>
                <a:latin typeface="-apple-system"/>
              </a:rPr>
              <a:t>Social Engineering</a:t>
            </a:r>
            <a:r>
              <a:rPr lang="en-US" sz="4000" b="0" i="0" dirty="0">
                <a:solidFill>
                  <a:srgbClr val="111111"/>
                </a:solidFill>
                <a:effectLst/>
                <a:highlight>
                  <a:srgbClr val="F3F3F3"/>
                </a:highlight>
                <a:latin typeface="-apple-system"/>
              </a:rPr>
              <a:t>: Be cautious of phishing emails and text messages. </a:t>
            </a:r>
            <a:r>
              <a:rPr lang="en-US" sz="4000" b="0" i="0" dirty="0">
                <a:solidFill>
                  <a:srgbClr val="111111"/>
                </a:solidFill>
                <a:effectLst/>
                <a:highlight>
                  <a:srgbClr val="F3F3F3"/>
                </a:highlight>
                <a:latin typeface="-apple-system"/>
                <a:hlinkClick r:id="rId2"/>
              </a:rPr>
              <a:t>Educate employees to recognize suspicious messages</a:t>
            </a:r>
            <a:endParaRPr lang="en-US" sz="4000" b="0" i="0" dirty="0">
              <a:solidFill>
                <a:srgbClr val="111111"/>
              </a:solidFill>
              <a:effectLst/>
              <a:highlight>
                <a:srgbClr val="F3F3F3"/>
              </a:highlight>
              <a:latin typeface="-apple-system"/>
            </a:endParaRPr>
          </a:p>
          <a:p>
            <a:endParaRPr lang="en-TZ" sz="4000" dirty="0"/>
          </a:p>
        </p:txBody>
      </p:sp>
    </p:spTree>
    <p:extLst>
      <p:ext uri="{BB962C8B-B14F-4D97-AF65-F5344CB8AC3E}">
        <p14:creationId xmlns:p14="http://schemas.microsoft.com/office/powerpoint/2010/main" val="39876525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20185-A2F0-BD43-0D08-0B59DAA3D57D}"/>
              </a:ext>
            </a:extLst>
          </p:cNvPr>
          <p:cNvSpPr>
            <a:spLocks noGrp="1"/>
          </p:cNvSpPr>
          <p:nvPr>
            <p:ph type="title"/>
          </p:nvPr>
        </p:nvSpPr>
        <p:spPr>
          <a:xfrm>
            <a:off x="838200" y="365126"/>
            <a:ext cx="10515600" cy="684186"/>
          </a:xfrm>
        </p:spPr>
        <p:txBody>
          <a:bodyPr>
            <a:normAutofit fontScale="90000"/>
          </a:bodyPr>
          <a:lstStyle/>
          <a:p>
            <a:r>
              <a:rPr lang="en-US" b="1" dirty="0">
                <a:effectLst/>
                <a:latin typeface="inherit"/>
              </a:rPr>
              <a:t>Security Controls</a:t>
            </a:r>
            <a:endParaRPr lang="en-TZ" b="1" dirty="0"/>
          </a:p>
        </p:txBody>
      </p:sp>
      <p:sp>
        <p:nvSpPr>
          <p:cNvPr id="3" name="Content Placeholder 2">
            <a:extLst>
              <a:ext uri="{FF2B5EF4-FFF2-40B4-BE49-F238E27FC236}">
                <a16:creationId xmlns:a16="http://schemas.microsoft.com/office/drawing/2014/main" id="{8400A5E2-A941-89DF-8D18-F8DF99482D84}"/>
              </a:ext>
            </a:extLst>
          </p:cNvPr>
          <p:cNvSpPr>
            <a:spLocks noGrp="1"/>
          </p:cNvSpPr>
          <p:nvPr>
            <p:ph idx="1"/>
          </p:nvPr>
        </p:nvSpPr>
        <p:spPr>
          <a:xfrm>
            <a:off x="838200" y="1199213"/>
            <a:ext cx="10515600" cy="4977750"/>
          </a:xfrm>
        </p:spPr>
        <p:txBody>
          <a:bodyPr>
            <a:normAutofit/>
          </a:bodyPr>
          <a:lstStyle/>
          <a:p>
            <a:pPr fontAlgn="base"/>
            <a:r>
              <a:rPr lang="en-US" sz="3600" dirty="0">
                <a:effectLst/>
                <a:latin typeface="inherit"/>
              </a:rPr>
              <a:t>What are security controls?</a:t>
            </a:r>
          </a:p>
          <a:p>
            <a:pPr algn="l" fontAlgn="base"/>
            <a:r>
              <a:rPr lang="en-US" sz="3600" b="0" i="0" dirty="0">
                <a:solidFill>
                  <a:srgbClr val="161616"/>
                </a:solidFill>
                <a:effectLst/>
                <a:highlight>
                  <a:srgbClr val="FFFFFF"/>
                </a:highlight>
                <a:latin typeface="inherit"/>
              </a:rPr>
              <a:t>Security controls are parameters implemented to protect various forms of data and infrastructure important to an organization. Security controls refers to any type of safeguard or countermeasure used to avoid, detect, counteract or minimize security risks to physical property, information, computer systems or other assets.</a:t>
            </a:r>
          </a:p>
          <a:p>
            <a:endParaRPr lang="en-TZ" sz="3600" dirty="0"/>
          </a:p>
        </p:txBody>
      </p:sp>
    </p:spTree>
    <p:extLst>
      <p:ext uri="{BB962C8B-B14F-4D97-AF65-F5344CB8AC3E}">
        <p14:creationId xmlns:p14="http://schemas.microsoft.com/office/powerpoint/2010/main" val="32037870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1E450A-2867-0023-D13F-D19E2B0D1AFA}"/>
              </a:ext>
            </a:extLst>
          </p:cNvPr>
          <p:cNvSpPr>
            <a:spLocks noGrp="1"/>
          </p:cNvSpPr>
          <p:nvPr>
            <p:ph idx="1"/>
          </p:nvPr>
        </p:nvSpPr>
        <p:spPr>
          <a:xfrm>
            <a:off x="419725" y="329784"/>
            <a:ext cx="11407514" cy="6205927"/>
          </a:xfrm>
        </p:spPr>
        <p:txBody>
          <a:bodyPr>
            <a:noAutofit/>
          </a:bodyPr>
          <a:lstStyle/>
          <a:p>
            <a:pPr marL="0" indent="0" fontAlgn="base">
              <a:buNone/>
            </a:pPr>
            <a:r>
              <a:rPr lang="en-US" sz="3600" b="1" dirty="0">
                <a:effectLst/>
                <a:latin typeface="inherit"/>
              </a:rPr>
              <a:t>Types of security controls</a:t>
            </a:r>
          </a:p>
          <a:p>
            <a:pPr algn="l" fontAlgn="base"/>
            <a:r>
              <a:rPr lang="en-US" sz="3600" b="0" i="0" dirty="0">
                <a:solidFill>
                  <a:srgbClr val="161616"/>
                </a:solidFill>
                <a:effectLst/>
                <a:highlight>
                  <a:srgbClr val="FFFFFF"/>
                </a:highlight>
                <a:latin typeface="inherit"/>
              </a:rPr>
              <a:t>Several types of security controls can protect hardware, software, </a:t>
            </a:r>
            <a:r>
              <a:rPr lang="en-US" sz="3600" b="0" i="0" u="none" strike="noStrike" dirty="0">
                <a:solidFill>
                  <a:srgbClr val="0062FE"/>
                </a:solidFill>
                <a:effectLst/>
                <a:highlight>
                  <a:srgbClr val="FFFFFF"/>
                </a:highlight>
                <a:latin typeface="inherit"/>
                <a:hlinkClick r:id="rId2" tooltip="networking-a-complete-guide"/>
              </a:rPr>
              <a:t>networks</a:t>
            </a:r>
            <a:r>
              <a:rPr lang="en-US" sz="3600" b="0" i="0" dirty="0">
                <a:solidFill>
                  <a:srgbClr val="161616"/>
                </a:solidFill>
                <a:effectLst/>
                <a:highlight>
                  <a:srgbClr val="FFFFFF"/>
                </a:highlight>
                <a:latin typeface="inherit"/>
              </a:rPr>
              <a:t> and data from actions and events that could cause loss or damage. For example:</a:t>
            </a:r>
          </a:p>
          <a:p>
            <a:pPr algn="l" fontAlgn="base">
              <a:buFont typeface="Arial" panose="020B0604020202020204" pitchFamily="34" charset="0"/>
              <a:buChar char="•"/>
            </a:pPr>
            <a:r>
              <a:rPr lang="en-US" sz="3600" b="1" i="0" dirty="0">
                <a:solidFill>
                  <a:srgbClr val="161616"/>
                </a:solidFill>
                <a:effectLst/>
                <a:highlight>
                  <a:srgbClr val="FFFFFF"/>
                </a:highlight>
                <a:latin typeface="inherit"/>
              </a:rPr>
              <a:t>Physical security controls</a:t>
            </a:r>
            <a:r>
              <a:rPr lang="en-US" sz="3600" b="0" i="0" dirty="0">
                <a:solidFill>
                  <a:srgbClr val="161616"/>
                </a:solidFill>
                <a:effectLst/>
                <a:highlight>
                  <a:srgbClr val="FFFFFF"/>
                </a:highlight>
                <a:latin typeface="inherit"/>
              </a:rPr>
              <a:t> include such things as </a:t>
            </a:r>
            <a:r>
              <a:rPr lang="en-US" sz="3600" b="0" i="0" u="none" strike="noStrike" dirty="0">
                <a:solidFill>
                  <a:srgbClr val="0062FE"/>
                </a:solidFill>
                <a:effectLst/>
                <a:highlight>
                  <a:srgbClr val="FFFFFF"/>
                </a:highlight>
                <a:latin typeface="inherit"/>
                <a:hlinkClick r:id="rId3" tooltip="data-centers"/>
              </a:rPr>
              <a:t>data center</a:t>
            </a:r>
            <a:r>
              <a:rPr lang="en-US" sz="3600" b="0" i="0" dirty="0">
                <a:solidFill>
                  <a:srgbClr val="161616"/>
                </a:solidFill>
                <a:effectLst/>
                <a:highlight>
                  <a:srgbClr val="FFFFFF"/>
                </a:highlight>
                <a:latin typeface="inherit"/>
              </a:rPr>
              <a:t> perimeter fencing, locks, guards, access control cards, biometric access control systems, surveillance cameras and intrusion detection sensors.</a:t>
            </a:r>
          </a:p>
          <a:p>
            <a:pPr algn="l" fontAlgn="base">
              <a:buFont typeface="Arial" panose="020B0604020202020204" pitchFamily="34" charset="0"/>
              <a:buChar char="•"/>
            </a:pPr>
            <a:r>
              <a:rPr lang="en-US" sz="3600" b="1" i="0" dirty="0">
                <a:solidFill>
                  <a:srgbClr val="161616"/>
                </a:solidFill>
                <a:effectLst/>
                <a:highlight>
                  <a:srgbClr val="FFFFFF"/>
                </a:highlight>
                <a:latin typeface="inherit"/>
              </a:rPr>
              <a:t>Digital security controls</a:t>
            </a:r>
            <a:r>
              <a:rPr lang="en-US" sz="3600" b="0" i="0" dirty="0">
                <a:solidFill>
                  <a:srgbClr val="161616"/>
                </a:solidFill>
                <a:effectLst/>
                <a:highlight>
                  <a:srgbClr val="FFFFFF"/>
                </a:highlight>
                <a:latin typeface="inherit"/>
              </a:rPr>
              <a:t> include such things as usernames and passwords, two-factor authentication, antivirus software and firewalls.</a:t>
            </a:r>
          </a:p>
          <a:p>
            <a:endParaRPr lang="en-TZ" sz="3600" dirty="0"/>
          </a:p>
        </p:txBody>
      </p:sp>
    </p:spTree>
    <p:extLst>
      <p:ext uri="{BB962C8B-B14F-4D97-AF65-F5344CB8AC3E}">
        <p14:creationId xmlns:p14="http://schemas.microsoft.com/office/powerpoint/2010/main" val="38193337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075281-A748-2701-A36A-98009E16D566}"/>
              </a:ext>
            </a:extLst>
          </p:cNvPr>
          <p:cNvSpPr>
            <a:spLocks noGrp="1"/>
          </p:cNvSpPr>
          <p:nvPr>
            <p:ph idx="1"/>
          </p:nvPr>
        </p:nvSpPr>
        <p:spPr>
          <a:xfrm>
            <a:off x="359763" y="344774"/>
            <a:ext cx="11392525" cy="6056025"/>
          </a:xfrm>
        </p:spPr>
        <p:txBody>
          <a:bodyPr>
            <a:noAutofit/>
          </a:bodyPr>
          <a:lstStyle/>
          <a:p>
            <a:pPr algn="l" fontAlgn="base">
              <a:buFont typeface="Arial" panose="020B0604020202020204" pitchFamily="34" charset="0"/>
              <a:buChar char="•"/>
            </a:pPr>
            <a:r>
              <a:rPr lang="en-US" sz="4000" b="1" i="0" dirty="0">
                <a:solidFill>
                  <a:srgbClr val="161616"/>
                </a:solidFill>
                <a:effectLst/>
                <a:highlight>
                  <a:srgbClr val="FFFFFF"/>
                </a:highlight>
                <a:latin typeface="inherit"/>
              </a:rPr>
              <a:t>Cybersecurity controls</a:t>
            </a:r>
            <a:r>
              <a:rPr lang="en-US" sz="4000" b="0" i="0" dirty="0">
                <a:solidFill>
                  <a:srgbClr val="161616"/>
                </a:solidFill>
                <a:effectLst/>
                <a:highlight>
                  <a:srgbClr val="FFFFFF"/>
                </a:highlight>
                <a:latin typeface="inherit"/>
              </a:rPr>
              <a:t> include anything specifically designed to prevent attacks on data, including </a:t>
            </a:r>
            <a:r>
              <a:rPr lang="en-US" sz="4000" b="0" i="0" u="none" strike="noStrike" dirty="0">
                <a:solidFill>
                  <a:srgbClr val="0062FE"/>
                </a:solidFill>
                <a:effectLst/>
                <a:highlight>
                  <a:srgbClr val="FFFFFF"/>
                </a:highlight>
                <a:latin typeface="inherit"/>
                <a:hlinkClick r:id="rId2" tooltip="us-en_cloud_blog_new-builders_video-what-is-a-ddos-attack"/>
              </a:rPr>
              <a:t>DDoS mitigation</a:t>
            </a:r>
            <a:r>
              <a:rPr lang="en-US" sz="4000" b="0" i="0" dirty="0">
                <a:solidFill>
                  <a:srgbClr val="161616"/>
                </a:solidFill>
                <a:effectLst/>
                <a:highlight>
                  <a:srgbClr val="FFFFFF"/>
                </a:highlight>
                <a:latin typeface="inherit"/>
              </a:rPr>
              <a:t> and intrusion prevention systems.</a:t>
            </a:r>
          </a:p>
          <a:p>
            <a:pPr algn="l" fontAlgn="base">
              <a:buFont typeface="Arial" panose="020B0604020202020204" pitchFamily="34" charset="0"/>
              <a:buChar char="•"/>
            </a:pPr>
            <a:r>
              <a:rPr lang="en-US" sz="4000" b="1" i="0" dirty="0">
                <a:solidFill>
                  <a:srgbClr val="161616"/>
                </a:solidFill>
                <a:effectLst/>
                <a:highlight>
                  <a:srgbClr val="FFFFFF"/>
                </a:highlight>
                <a:latin typeface="inherit"/>
              </a:rPr>
              <a:t>Cloud security controls</a:t>
            </a:r>
            <a:r>
              <a:rPr lang="en-US" sz="4000" b="0" i="0" dirty="0">
                <a:solidFill>
                  <a:srgbClr val="161616"/>
                </a:solidFill>
                <a:effectLst/>
                <a:highlight>
                  <a:srgbClr val="FFFFFF"/>
                </a:highlight>
                <a:latin typeface="inherit"/>
              </a:rPr>
              <a:t> include measures that you take in cooperation with a cloud services provider to offer the necessary protection for data and workloads. If your organization runs workloads on the cloud, you must meet their corporate or business policy security requirements </a:t>
            </a:r>
            <a:r>
              <a:rPr lang="en-US" sz="4000" b="0" i="1" dirty="0">
                <a:solidFill>
                  <a:srgbClr val="161616"/>
                </a:solidFill>
                <a:effectLst/>
                <a:highlight>
                  <a:srgbClr val="FFFFFF"/>
                </a:highlight>
                <a:latin typeface="inherit"/>
              </a:rPr>
              <a:t>and</a:t>
            </a:r>
            <a:r>
              <a:rPr lang="en-US" sz="4000" b="0" i="0" dirty="0">
                <a:solidFill>
                  <a:srgbClr val="161616"/>
                </a:solidFill>
                <a:effectLst/>
                <a:highlight>
                  <a:srgbClr val="FFFFFF"/>
                </a:highlight>
                <a:latin typeface="inherit"/>
              </a:rPr>
              <a:t> industry regulations.</a:t>
            </a:r>
          </a:p>
          <a:p>
            <a:endParaRPr lang="en-TZ" sz="4000" dirty="0"/>
          </a:p>
        </p:txBody>
      </p:sp>
    </p:spTree>
    <p:extLst>
      <p:ext uri="{BB962C8B-B14F-4D97-AF65-F5344CB8AC3E}">
        <p14:creationId xmlns:p14="http://schemas.microsoft.com/office/powerpoint/2010/main" val="34044234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0B7BE-410B-59BF-74D9-9C789B2F971D}"/>
              </a:ext>
            </a:extLst>
          </p:cNvPr>
          <p:cNvSpPr>
            <a:spLocks noGrp="1"/>
          </p:cNvSpPr>
          <p:nvPr>
            <p:ph type="title"/>
          </p:nvPr>
        </p:nvSpPr>
        <p:spPr>
          <a:xfrm>
            <a:off x="838200" y="365125"/>
            <a:ext cx="10515600" cy="699177"/>
          </a:xfrm>
        </p:spPr>
        <p:txBody>
          <a:bodyPr>
            <a:normAutofit/>
          </a:bodyPr>
          <a:lstStyle/>
          <a:p>
            <a:r>
              <a:rPr lang="en-US" sz="4000" b="1" u="none" strike="noStrike" dirty="0">
                <a:solidFill>
                  <a:srgbClr val="000000"/>
                </a:solidFill>
                <a:effectLst/>
                <a:latin typeface="Times New Roman" panose="02020603050405020304" pitchFamily="18" charset="0"/>
                <a:ea typeface="Times New Roman" panose="02020603050405020304" pitchFamily="18" charset="0"/>
              </a:rPr>
              <a:t>Data classification processes and procedures</a:t>
            </a:r>
            <a:endParaRPr lang="en-TZ" sz="4000" b="1" dirty="0"/>
          </a:p>
        </p:txBody>
      </p:sp>
      <p:sp>
        <p:nvSpPr>
          <p:cNvPr id="3" name="Content Placeholder 2">
            <a:extLst>
              <a:ext uri="{FF2B5EF4-FFF2-40B4-BE49-F238E27FC236}">
                <a16:creationId xmlns:a16="http://schemas.microsoft.com/office/drawing/2014/main" id="{ECB03991-8B67-A74F-B581-854A06B79EA2}"/>
              </a:ext>
            </a:extLst>
          </p:cNvPr>
          <p:cNvSpPr>
            <a:spLocks noGrp="1"/>
          </p:cNvSpPr>
          <p:nvPr>
            <p:ph idx="1"/>
          </p:nvPr>
        </p:nvSpPr>
        <p:spPr>
          <a:xfrm>
            <a:off x="509666" y="1274164"/>
            <a:ext cx="11167672" cy="4902799"/>
          </a:xfrm>
        </p:spPr>
        <p:txBody>
          <a:bodyPr>
            <a:normAutofit/>
          </a:bodyPr>
          <a:lstStyle/>
          <a:p>
            <a:pPr algn="l"/>
            <a:r>
              <a:rPr lang="en-US" sz="3200" b="0" i="0" dirty="0">
                <a:solidFill>
                  <a:srgbClr val="111111"/>
                </a:solidFill>
                <a:effectLst/>
                <a:highlight>
                  <a:srgbClr val="F3F3F3"/>
                </a:highlight>
                <a:latin typeface="-apple-system"/>
              </a:rPr>
              <a:t>Data classification is crucial for managing information effectively and ensuring its security. Here are some key procedures and practices:</a:t>
            </a:r>
          </a:p>
          <a:p>
            <a:pPr algn="l">
              <a:buFont typeface="+mj-lt"/>
              <a:buAutoNum type="arabicPeriod"/>
            </a:pPr>
            <a:r>
              <a:rPr lang="en-US" sz="3200" b="1" i="0" dirty="0">
                <a:solidFill>
                  <a:srgbClr val="111111"/>
                </a:solidFill>
                <a:effectLst/>
                <a:highlight>
                  <a:srgbClr val="F3F3F3"/>
                </a:highlight>
                <a:latin typeface="-apple-system"/>
              </a:rPr>
              <a:t>Determine How Much Protection Your Information Needs</a:t>
            </a:r>
            <a:r>
              <a:rPr lang="en-US" sz="3200" b="0" i="0" dirty="0">
                <a:solidFill>
                  <a:srgbClr val="111111"/>
                </a:solidFill>
                <a:effectLst/>
                <a:highlight>
                  <a:srgbClr val="F3F3F3"/>
                </a:highlight>
                <a:latin typeface="-apple-system"/>
              </a:rPr>
              <a:t>:</a:t>
            </a:r>
          </a:p>
          <a:p>
            <a:pPr lvl="1" algn="l"/>
            <a:r>
              <a:rPr lang="en-US" sz="3200" b="0" i="0" dirty="0">
                <a:solidFill>
                  <a:srgbClr val="111111"/>
                </a:solidFill>
                <a:effectLst/>
                <a:highlight>
                  <a:srgbClr val="F3F3F3"/>
                </a:highlight>
                <a:latin typeface="-apple-system"/>
              </a:rPr>
              <a:t>Assess the need for confidentiality and criticality of the information.</a:t>
            </a:r>
          </a:p>
          <a:p>
            <a:pPr lvl="1" algn="l"/>
            <a:r>
              <a:rPr lang="en-US" sz="3200" b="0" i="0" dirty="0">
                <a:solidFill>
                  <a:srgbClr val="111111"/>
                </a:solidFill>
                <a:effectLst/>
                <a:highlight>
                  <a:srgbClr val="F3F3F3"/>
                </a:highlight>
                <a:latin typeface="-apple-system"/>
              </a:rPr>
              <a:t>Classify data into levels (e.g., Level I, II, or III) based on sensitivity.</a:t>
            </a:r>
          </a:p>
          <a:p>
            <a:pPr lvl="1" algn="l"/>
            <a:r>
              <a:rPr lang="en-US" sz="3200" b="0" i="0" dirty="0">
                <a:solidFill>
                  <a:srgbClr val="111111"/>
                </a:solidFill>
                <a:effectLst/>
                <a:highlight>
                  <a:srgbClr val="F3F3F3"/>
                </a:highlight>
                <a:latin typeface="-apple-system"/>
                <a:hlinkClick r:id="rId2"/>
              </a:rPr>
              <a:t>Refer to the Data Classification and Handling Policy for detailed criteria</a:t>
            </a:r>
            <a:endParaRPr lang="en-US" sz="3200" b="0" i="0" dirty="0">
              <a:solidFill>
                <a:srgbClr val="111111"/>
              </a:solidFill>
              <a:effectLst/>
              <a:highlight>
                <a:srgbClr val="F3F3F3"/>
              </a:highlight>
              <a:latin typeface="-apple-system"/>
            </a:endParaRPr>
          </a:p>
          <a:p>
            <a:endParaRPr lang="en-TZ" sz="3200" dirty="0"/>
          </a:p>
        </p:txBody>
      </p:sp>
    </p:spTree>
    <p:extLst>
      <p:ext uri="{BB962C8B-B14F-4D97-AF65-F5344CB8AC3E}">
        <p14:creationId xmlns:p14="http://schemas.microsoft.com/office/powerpoint/2010/main" val="3801407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B22FF3-32F8-CDFA-9EBB-D775F871DD86}"/>
              </a:ext>
            </a:extLst>
          </p:cNvPr>
          <p:cNvSpPr>
            <a:spLocks noGrp="1"/>
          </p:cNvSpPr>
          <p:nvPr>
            <p:ph idx="1"/>
          </p:nvPr>
        </p:nvSpPr>
        <p:spPr>
          <a:xfrm>
            <a:off x="838200" y="554636"/>
            <a:ext cx="10515600" cy="5622327"/>
          </a:xfrm>
        </p:spPr>
        <p:txBody>
          <a:bodyPr>
            <a:normAutofit/>
          </a:bodyPr>
          <a:lstStyle/>
          <a:p>
            <a:pPr marL="0" indent="0" algn="l">
              <a:buNone/>
            </a:pPr>
            <a:r>
              <a:rPr lang="en-US" sz="3600" b="1" i="0" dirty="0">
                <a:solidFill>
                  <a:srgbClr val="111111"/>
                </a:solidFill>
                <a:effectLst/>
                <a:highlight>
                  <a:srgbClr val="F3F3F3"/>
                </a:highlight>
                <a:latin typeface="-apple-system"/>
              </a:rPr>
              <a:t>2.Collect Only What Is Necessary</a:t>
            </a:r>
            <a:r>
              <a:rPr lang="en-US" sz="3600" b="0" i="0" dirty="0">
                <a:solidFill>
                  <a:srgbClr val="111111"/>
                </a:solidFill>
                <a:effectLst/>
                <a:highlight>
                  <a:srgbClr val="F3F3F3"/>
                </a:highlight>
                <a:latin typeface="-apple-system"/>
              </a:rPr>
              <a:t>:</a:t>
            </a:r>
          </a:p>
          <a:p>
            <a:pPr lvl="1" algn="l"/>
            <a:r>
              <a:rPr lang="en-US" sz="3600" b="0" i="0" dirty="0">
                <a:solidFill>
                  <a:srgbClr val="111111"/>
                </a:solidFill>
                <a:effectLst/>
                <a:highlight>
                  <a:srgbClr val="F3F3F3"/>
                </a:highlight>
                <a:latin typeface="-apple-system"/>
              </a:rPr>
              <a:t>Avoid unnecessary data collection to minimize risk.</a:t>
            </a:r>
          </a:p>
          <a:p>
            <a:pPr lvl="1" algn="l"/>
            <a:r>
              <a:rPr lang="en-US" sz="3600" b="0" i="0" dirty="0">
                <a:solidFill>
                  <a:srgbClr val="111111"/>
                </a:solidFill>
                <a:effectLst/>
                <a:highlight>
                  <a:srgbClr val="F3F3F3"/>
                </a:highlight>
                <a:latin typeface="-apple-system"/>
              </a:rPr>
              <a:t>Collect information relevant to your purpose.</a:t>
            </a:r>
          </a:p>
          <a:p>
            <a:pPr marL="0" indent="0" algn="l">
              <a:buNone/>
            </a:pPr>
            <a:r>
              <a:rPr lang="en-US" sz="3600" b="1" i="0" dirty="0">
                <a:solidFill>
                  <a:srgbClr val="111111"/>
                </a:solidFill>
                <a:effectLst/>
                <a:highlight>
                  <a:srgbClr val="F3F3F3"/>
                </a:highlight>
                <a:latin typeface="-apple-system"/>
              </a:rPr>
              <a:t>3.Provide Minimum Necessary Access</a:t>
            </a:r>
            <a:r>
              <a:rPr lang="en-US" sz="3600" b="0" i="0" dirty="0">
                <a:solidFill>
                  <a:srgbClr val="111111"/>
                </a:solidFill>
                <a:effectLst/>
                <a:highlight>
                  <a:srgbClr val="F3F3F3"/>
                </a:highlight>
                <a:latin typeface="-apple-system"/>
              </a:rPr>
              <a:t>:</a:t>
            </a:r>
          </a:p>
          <a:p>
            <a:pPr lvl="1" algn="l"/>
            <a:r>
              <a:rPr lang="en-US" sz="3600" b="0" i="0" dirty="0">
                <a:solidFill>
                  <a:srgbClr val="111111"/>
                </a:solidFill>
                <a:effectLst/>
                <a:highlight>
                  <a:srgbClr val="F3F3F3"/>
                </a:highlight>
                <a:latin typeface="-apple-system"/>
              </a:rPr>
              <a:t>Limit access to authorized personnel.</a:t>
            </a:r>
          </a:p>
          <a:p>
            <a:pPr lvl="1" algn="l"/>
            <a:r>
              <a:rPr lang="en-US" sz="3600" b="0" i="0" dirty="0">
                <a:solidFill>
                  <a:srgbClr val="111111"/>
                </a:solidFill>
                <a:effectLst/>
                <a:highlight>
                  <a:srgbClr val="F3F3F3"/>
                </a:highlight>
                <a:latin typeface="-apple-system"/>
              </a:rPr>
              <a:t>Follow the principle of least privilege.</a:t>
            </a:r>
          </a:p>
          <a:p>
            <a:pPr marL="0" indent="0" algn="l">
              <a:buNone/>
            </a:pPr>
            <a:r>
              <a:rPr lang="en-US" sz="3600" b="1" i="0" dirty="0">
                <a:solidFill>
                  <a:srgbClr val="111111"/>
                </a:solidFill>
                <a:effectLst/>
                <a:highlight>
                  <a:srgbClr val="F3F3F3"/>
                </a:highlight>
                <a:latin typeface="-apple-system"/>
              </a:rPr>
              <a:t>4.Disclose Only the Minimum Information Necessary</a:t>
            </a:r>
            <a:r>
              <a:rPr lang="en-US" sz="3600" b="0" i="0" dirty="0">
                <a:solidFill>
                  <a:srgbClr val="111111"/>
                </a:solidFill>
                <a:effectLst/>
                <a:highlight>
                  <a:srgbClr val="F3F3F3"/>
                </a:highlight>
                <a:latin typeface="-apple-system"/>
              </a:rPr>
              <a:t>:</a:t>
            </a:r>
          </a:p>
          <a:p>
            <a:pPr lvl="1" algn="l"/>
            <a:r>
              <a:rPr lang="en-US" sz="3600" b="0" i="0" dirty="0">
                <a:solidFill>
                  <a:srgbClr val="111111"/>
                </a:solidFill>
                <a:effectLst/>
                <a:highlight>
                  <a:srgbClr val="F3F3F3"/>
                </a:highlight>
                <a:latin typeface="-apple-system"/>
              </a:rPr>
              <a:t>Share data on a need-to-know basis.</a:t>
            </a:r>
          </a:p>
          <a:p>
            <a:pPr lvl="1" algn="l"/>
            <a:r>
              <a:rPr lang="en-US" sz="3600" b="0" i="0" dirty="0">
                <a:solidFill>
                  <a:srgbClr val="111111"/>
                </a:solidFill>
                <a:effectLst/>
                <a:highlight>
                  <a:srgbClr val="F3F3F3"/>
                </a:highlight>
                <a:latin typeface="-apple-system"/>
              </a:rPr>
              <a:t>Avoid over-sharing sensitive details.</a:t>
            </a:r>
          </a:p>
          <a:p>
            <a:endParaRPr lang="en-TZ" sz="3600" dirty="0"/>
          </a:p>
        </p:txBody>
      </p:sp>
    </p:spTree>
    <p:extLst>
      <p:ext uri="{BB962C8B-B14F-4D97-AF65-F5344CB8AC3E}">
        <p14:creationId xmlns:p14="http://schemas.microsoft.com/office/powerpoint/2010/main" val="28741074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CC67CF-3A30-BF01-3576-52D6149201BF}"/>
              </a:ext>
            </a:extLst>
          </p:cNvPr>
          <p:cNvSpPr>
            <a:spLocks noGrp="1"/>
          </p:cNvSpPr>
          <p:nvPr>
            <p:ph idx="1"/>
          </p:nvPr>
        </p:nvSpPr>
        <p:spPr>
          <a:xfrm>
            <a:off x="554636" y="449705"/>
            <a:ext cx="11107712" cy="5861154"/>
          </a:xfrm>
        </p:spPr>
        <p:txBody>
          <a:bodyPr>
            <a:normAutofit/>
          </a:bodyPr>
          <a:lstStyle/>
          <a:p>
            <a:pPr marL="0" indent="0" algn="l">
              <a:buNone/>
            </a:pPr>
            <a:r>
              <a:rPr lang="en-US" sz="3200" b="1" dirty="0">
                <a:solidFill>
                  <a:srgbClr val="111111"/>
                </a:solidFill>
                <a:highlight>
                  <a:srgbClr val="F3F3F3"/>
                </a:highlight>
                <a:latin typeface="-apple-system"/>
              </a:rPr>
              <a:t>5.</a:t>
            </a:r>
            <a:r>
              <a:rPr lang="en-US" sz="3200" b="1" i="0" dirty="0">
                <a:solidFill>
                  <a:srgbClr val="111111"/>
                </a:solidFill>
                <a:effectLst/>
                <a:highlight>
                  <a:srgbClr val="F3F3F3"/>
                </a:highlight>
                <a:latin typeface="-apple-system"/>
              </a:rPr>
              <a:t>Safeguard Information in Transit</a:t>
            </a:r>
            <a:r>
              <a:rPr lang="en-US" sz="3200" b="0" i="0" dirty="0">
                <a:solidFill>
                  <a:srgbClr val="111111"/>
                </a:solidFill>
                <a:effectLst/>
                <a:highlight>
                  <a:srgbClr val="F3F3F3"/>
                </a:highlight>
                <a:latin typeface="-apple-system"/>
              </a:rPr>
              <a:t>:</a:t>
            </a:r>
          </a:p>
          <a:p>
            <a:pPr marL="742950" lvl="1" indent="-285750" algn="l">
              <a:buFont typeface="+mj-lt"/>
              <a:buAutoNum type="arabicPeriod"/>
            </a:pPr>
            <a:r>
              <a:rPr lang="en-US" sz="3200" b="0" i="0" dirty="0">
                <a:solidFill>
                  <a:srgbClr val="111111"/>
                </a:solidFill>
                <a:effectLst/>
                <a:highlight>
                  <a:srgbClr val="F3F3F3"/>
                </a:highlight>
                <a:latin typeface="-apple-system"/>
              </a:rPr>
              <a:t>Encrypt data during transmission (e.g., using HTTPS).</a:t>
            </a:r>
          </a:p>
          <a:p>
            <a:pPr marL="742950" lvl="1" indent="-285750" algn="l">
              <a:buFont typeface="+mj-lt"/>
              <a:buAutoNum type="arabicPeriod"/>
            </a:pPr>
            <a:r>
              <a:rPr lang="en-US" sz="3200" b="0" i="0" dirty="0">
                <a:solidFill>
                  <a:srgbClr val="111111"/>
                </a:solidFill>
                <a:effectLst/>
                <a:highlight>
                  <a:srgbClr val="F3F3F3"/>
                </a:highlight>
                <a:latin typeface="-apple-system"/>
                <a:hlinkClick r:id="rId2"/>
              </a:rPr>
              <a:t>Be cautious with public Wi-Fi networks</a:t>
            </a:r>
            <a:r>
              <a:rPr lang="en-US" sz="3200" b="0" i="0" baseline="30000" dirty="0">
                <a:solidFill>
                  <a:srgbClr val="111111"/>
                </a:solidFill>
                <a:effectLst/>
                <a:highlight>
                  <a:srgbClr val="F3F3F3"/>
                </a:highlight>
                <a:latin typeface="-apple-system"/>
                <a:hlinkClick r:id="rId2"/>
              </a:rPr>
              <a:t>2</a:t>
            </a:r>
            <a:r>
              <a:rPr lang="en-US" sz="3200" b="0" i="0" dirty="0">
                <a:solidFill>
                  <a:srgbClr val="111111"/>
                </a:solidFill>
                <a:effectLst/>
                <a:highlight>
                  <a:srgbClr val="F3F3F3"/>
                </a:highlight>
                <a:latin typeface="-apple-system"/>
              </a:rPr>
              <a:t>.</a:t>
            </a:r>
          </a:p>
          <a:p>
            <a:pPr marL="0" indent="0" algn="l">
              <a:buNone/>
            </a:pPr>
            <a:r>
              <a:rPr lang="en-US" sz="3200" b="1" i="0" dirty="0">
                <a:solidFill>
                  <a:srgbClr val="111111"/>
                </a:solidFill>
                <a:effectLst/>
                <a:highlight>
                  <a:srgbClr val="F3F3F3"/>
                </a:highlight>
                <a:latin typeface="-apple-system"/>
              </a:rPr>
              <a:t>6.Secure Physical Equipment and Resources</a:t>
            </a:r>
            <a:r>
              <a:rPr lang="en-US" sz="3200" b="0" i="0" dirty="0">
                <a:solidFill>
                  <a:srgbClr val="111111"/>
                </a:solidFill>
                <a:effectLst/>
                <a:highlight>
                  <a:srgbClr val="F3F3F3"/>
                </a:highlight>
                <a:latin typeface="-apple-system"/>
              </a:rPr>
              <a:t>:</a:t>
            </a:r>
          </a:p>
          <a:p>
            <a:pPr marL="742950" lvl="1" indent="-285750" algn="l">
              <a:buFont typeface="+mj-lt"/>
              <a:buAutoNum type="arabicPeriod"/>
            </a:pPr>
            <a:r>
              <a:rPr lang="en-US" sz="3200" b="0" i="0" dirty="0">
                <a:solidFill>
                  <a:srgbClr val="111111"/>
                </a:solidFill>
                <a:effectLst/>
                <a:highlight>
                  <a:srgbClr val="F3F3F3"/>
                </a:highlight>
                <a:latin typeface="-apple-system"/>
              </a:rPr>
              <a:t>Lock devices, secure servers, and protect physical records.</a:t>
            </a:r>
          </a:p>
          <a:p>
            <a:pPr marL="742950" lvl="1" indent="-285750" algn="l">
              <a:buFont typeface="+mj-lt"/>
              <a:buAutoNum type="arabicPeriod"/>
            </a:pPr>
            <a:r>
              <a:rPr lang="en-US" sz="3200" b="0" i="0" dirty="0">
                <a:solidFill>
                  <a:srgbClr val="111111"/>
                </a:solidFill>
                <a:effectLst/>
                <a:highlight>
                  <a:srgbClr val="F3F3F3"/>
                </a:highlight>
                <a:latin typeface="-apple-system"/>
              </a:rPr>
              <a:t>Implement access controls and monitor physical access.</a:t>
            </a:r>
          </a:p>
          <a:p>
            <a:pPr marL="0" indent="0" algn="l">
              <a:buNone/>
            </a:pPr>
            <a:r>
              <a:rPr lang="en-US" sz="3200" b="1" i="0" dirty="0">
                <a:solidFill>
                  <a:srgbClr val="111111"/>
                </a:solidFill>
                <a:effectLst/>
                <a:highlight>
                  <a:srgbClr val="F3F3F3"/>
                </a:highlight>
                <a:latin typeface="-apple-system"/>
              </a:rPr>
              <a:t>7.Safeguard Information in Storage</a:t>
            </a:r>
            <a:r>
              <a:rPr lang="en-US" sz="3200" b="0" i="0" dirty="0">
                <a:solidFill>
                  <a:srgbClr val="111111"/>
                </a:solidFill>
                <a:effectLst/>
                <a:highlight>
                  <a:srgbClr val="F3F3F3"/>
                </a:highlight>
                <a:latin typeface="-apple-system"/>
              </a:rPr>
              <a:t>:</a:t>
            </a:r>
          </a:p>
          <a:p>
            <a:pPr marL="742950" lvl="1" indent="-285750" algn="l">
              <a:buFont typeface="+mj-lt"/>
              <a:buAutoNum type="arabicPeriod"/>
            </a:pPr>
            <a:r>
              <a:rPr lang="en-US" sz="3200" b="0" i="0" dirty="0">
                <a:solidFill>
                  <a:srgbClr val="111111"/>
                </a:solidFill>
                <a:effectLst/>
                <a:highlight>
                  <a:srgbClr val="F3F3F3"/>
                </a:highlight>
                <a:latin typeface="-apple-system"/>
              </a:rPr>
              <a:t>Encrypt stored data.</a:t>
            </a:r>
          </a:p>
          <a:p>
            <a:pPr marL="742950" lvl="1" indent="-285750" algn="l">
              <a:buFont typeface="+mj-lt"/>
              <a:buAutoNum type="arabicPeriod"/>
            </a:pPr>
            <a:r>
              <a:rPr lang="en-US" sz="3200" b="0" i="0" dirty="0">
                <a:solidFill>
                  <a:srgbClr val="111111"/>
                </a:solidFill>
                <a:effectLst/>
                <a:highlight>
                  <a:srgbClr val="F3F3F3"/>
                </a:highlight>
                <a:latin typeface="-apple-system"/>
              </a:rPr>
              <a:t>Use secure storage solutions (e.g., encrypted drives, cloud storage)</a:t>
            </a:r>
          </a:p>
          <a:p>
            <a:endParaRPr lang="en-TZ" sz="3200" dirty="0"/>
          </a:p>
        </p:txBody>
      </p:sp>
    </p:spTree>
    <p:extLst>
      <p:ext uri="{BB962C8B-B14F-4D97-AF65-F5344CB8AC3E}">
        <p14:creationId xmlns:p14="http://schemas.microsoft.com/office/powerpoint/2010/main" val="36562912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EEAF6C-2477-5051-19DE-374871C676A4}"/>
              </a:ext>
            </a:extLst>
          </p:cNvPr>
          <p:cNvSpPr>
            <a:spLocks noGrp="1"/>
          </p:cNvSpPr>
          <p:nvPr>
            <p:ph idx="1"/>
          </p:nvPr>
        </p:nvSpPr>
        <p:spPr>
          <a:xfrm>
            <a:off x="838200" y="610341"/>
            <a:ext cx="10515600" cy="5637317"/>
          </a:xfrm>
        </p:spPr>
        <p:txBody>
          <a:bodyPr>
            <a:normAutofit/>
          </a:bodyPr>
          <a:lstStyle/>
          <a:p>
            <a:pPr marL="0" indent="0" algn="l">
              <a:buNone/>
            </a:pPr>
            <a:r>
              <a:rPr lang="en-US" sz="4000" b="1" i="0" dirty="0">
                <a:solidFill>
                  <a:srgbClr val="111111"/>
                </a:solidFill>
                <a:effectLst/>
                <a:highlight>
                  <a:srgbClr val="F3F3F3"/>
                </a:highlight>
                <a:latin typeface="-apple-system"/>
              </a:rPr>
              <a:t>8.Dispose of Information Securely When No Longer Needed</a:t>
            </a:r>
            <a:r>
              <a:rPr lang="en-US" sz="4000" b="0" i="0" dirty="0">
                <a:solidFill>
                  <a:srgbClr val="111111"/>
                </a:solidFill>
                <a:effectLst/>
                <a:highlight>
                  <a:srgbClr val="F3F3F3"/>
                </a:highlight>
                <a:latin typeface="-apple-system"/>
              </a:rPr>
              <a:t>:</a:t>
            </a:r>
          </a:p>
          <a:p>
            <a:pPr lvl="1" algn="l"/>
            <a:r>
              <a:rPr lang="en-US" sz="4000" b="0" i="0" dirty="0">
                <a:solidFill>
                  <a:srgbClr val="111111"/>
                </a:solidFill>
                <a:effectLst/>
                <a:highlight>
                  <a:srgbClr val="F3F3F3"/>
                </a:highlight>
                <a:latin typeface="-apple-system"/>
              </a:rPr>
              <a:t>Properly shred paper documents.</a:t>
            </a:r>
          </a:p>
          <a:p>
            <a:pPr lvl="1" algn="l"/>
            <a:r>
              <a:rPr lang="en-US" sz="4000" b="0" i="0" dirty="0">
                <a:solidFill>
                  <a:srgbClr val="111111"/>
                </a:solidFill>
                <a:effectLst/>
                <a:highlight>
                  <a:srgbClr val="F3F3F3"/>
                </a:highlight>
                <a:latin typeface="-apple-system"/>
              </a:rPr>
              <a:t>Erase or securely wipe digital data.</a:t>
            </a:r>
          </a:p>
          <a:p>
            <a:pPr marL="0" indent="0" algn="l">
              <a:buNone/>
            </a:pPr>
            <a:r>
              <a:rPr lang="en-US" sz="4000" b="1" i="0" dirty="0">
                <a:solidFill>
                  <a:srgbClr val="111111"/>
                </a:solidFill>
                <a:effectLst/>
                <a:highlight>
                  <a:srgbClr val="F3F3F3"/>
                </a:highlight>
                <a:latin typeface="-apple-system"/>
              </a:rPr>
              <a:t>9.Stay Informed About Information Risks</a:t>
            </a:r>
            <a:r>
              <a:rPr lang="en-US" sz="4000" b="0" i="0" dirty="0">
                <a:solidFill>
                  <a:srgbClr val="111111"/>
                </a:solidFill>
                <a:effectLst/>
                <a:highlight>
                  <a:srgbClr val="F3F3F3"/>
                </a:highlight>
                <a:latin typeface="-apple-system"/>
              </a:rPr>
              <a:t>:</a:t>
            </a:r>
          </a:p>
          <a:p>
            <a:pPr lvl="1" algn="l"/>
            <a:r>
              <a:rPr lang="en-US" sz="4000" b="0" i="0" dirty="0">
                <a:solidFill>
                  <a:srgbClr val="111111"/>
                </a:solidFill>
                <a:effectLst/>
                <a:highlight>
                  <a:srgbClr val="F3F3F3"/>
                </a:highlight>
                <a:latin typeface="-apple-system"/>
              </a:rPr>
              <a:t>Keep up-to-date with security best practices.</a:t>
            </a:r>
          </a:p>
          <a:p>
            <a:pPr lvl="1" algn="l"/>
            <a:r>
              <a:rPr lang="en-US" sz="4000" b="0" i="0" dirty="0">
                <a:solidFill>
                  <a:srgbClr val="111111"/>
                </a:solidFill>
                <a:effectLst/>
                <a:highlight>
                  <a:srgbClr val="F3F3F3"/>
                </a:highlight>
                <a:latin typeface="-apple-system"/>
                <a:hlinkClick r:id="rId2"/>
              </a:rPr>
              <a:t>Attend training sessions and remain </a:t>
            </a:r>
            <a:r>
              <a:rPr lang="en-US" sz="4000" b="0" i="0" dirty="0" err="1">
                <a:solidFill>
                  <a:srgbClr val="111111"/>
                </a:solidFill>
                <a:effectLst/>
                <a:highlight>
                  <a:srgbClr val="F3F3F3"/>
                </a:highlight>
                <a:latin typeface="-apple-system"/>
                <a:hlinkClick r:id="rId2"/>
              </a:rPr>
              <a:t>vigilan</a:t>
            </a:r>
            <a:endParaRPr lang="en-US" sz="4000" b="0" i="0" dirty="0">
              <a:solidFill>
                <a:srgbClr val="111111"/>
              </a:solidFill>
              <a:effectLst/>
              <a:highlight>
                <a:srgbClr val="F3F3F3"/>
              </a:highlight>
              <a:latin typeface="-apple-system"/>
            </a:endParaRPr>
          </a:p>
          <a:p>
            <a:endParaRPr lang="en-TZ" sz="4000" dirty="0"/>
          </a:p>
        </p:txBody>
      </p:sp>
    </p:spTree>
    <p:extLst>
      <p:ext uri="{BB962C8B-B14F-4D97-AF65-F5344CB8AC3E}">
        <p14:creationId xmlns:p14="http://schemas.microsoft.com/office/powerpoint/2010/main" val="17398415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BD496-C065-5D4E-E895-189CD6C5DE22}"/>
              </a:ext>
            </a:extLst>
          </p:cNvPr>
          <p:cNvSpPr>
            <a:spLocks noGrp="1"/>
          </p:cNvSpPr>
          <p:nvPr>
            <p:ph type="title"/>
          </p:nvPr>
        </p:nvSpPr>
        <p:spPr>
          <a:xfrm>
            <a:off x="838200" y="260193"/>
            <a:ext cx="10515600" cy="729157"/>
          </a:xfrm>
        </p:spPr>
        <p:txBody>
          <a:bodyPr>
            <a:normAutofit/>
          </a:bodyPr>
          <a:lstStyle/>
          <a:p>
            <a:r>
              <a:rPr lang="en-US" sz="4000" b="1" u="none" strike="noStrike" dirty="0">
                <a:solidFill>
                  <a:srgbClr val="000000"/>
                </a:solidFill>
                <a:effectLst/>
                <a:latin typeface="Times New Roman" panose="02020603050405020304" pitchFamily="18" charset="0"/>
                <a:ea typeface="Times New Roman" panose="02020603050405020304" pitchFamily="18" charset="0"/>
              </a:rPr>
              <a:t>Physical access and environmental controls</a:t>
            </a:r>
            <a:endParaRPr lang="en-TZ" sz="4000" b="1" dirty="0"/>
          </a:p>
        </p:txBody>
      </p:sp>
      <p:sp>
        <p:nvSpPr>
          <p:cNvPr id="3" name="Content Placeholder 2">
            <a:extLst>
              <a:ext uri="{FF2B5EF4-FFF2-40B4-BE49-F238E27FC236}">
                <a16:creationId xmlns:a16="http://schemas.microsoft.com/office/drawing/2014/main" id="{EADA8974-506A-C35E-1F0F-55D6783EB397}"/>
              </a:ext>
            </a:extLst>
          </p:cNvPr>
          <p:cNvSpPr>
            <a:spLocks noGrp="1"/>
          </p:cNvSpPr>
          <p:nvPr>
            <p:ph idx="1"/>
          </p:nvPr>
        </p:nvSpPr>
        <p:spPr>
          <a:xfrm>
            <a:off x="404733" y="1169234"/>
            <a:ext cx="11347555" cy="5323642"/>
          </a:xfrm>
        </p:spPr>
        <p:txBody>
          <a:bodyPr>
            <a:normAutofit lnSpcReduction="10000"/>
          </a:bodyPr>
          <a:lstStyle/>
          <a:p>
            <a:r>
              <a:rPr lang="en-US" sz="3400" b="0" i="0" dirty="0">
                <a:solidFill>
                  <a:srgbClr val="000000"/>
                </a:solidFill>
                <a:effectLst/>
                <a:highlight>
                  <a:srgbClr val="FFFFFF"/>
                </a:highlight>
                <a:latin typeface="arial" panose="020B0604020202020204" pitchFamily="34" charset="0"/>
              </a:rPr>
              <a:t>The term </a:t>
            </a:r>
            <a:r>
              <a:rPr lang="en-US" sz="3400" b="0" i="1" dirty="0">
                <a:solidFill>
                  <a:srgbClr val="000000"/>
                </a:solidFill>
                <a:effectLst/>
                <a:highlight>
                  <a:srgbClr val="FFFFFF"/>
                </a:highlight>
                <a:latin typeface="arial" panose="020B0604020202020204" pitchFamily="34" charset="0"/>
              </a:rPr>
              <a:t>physical and environmental security</a:t>
            </a:r>
            <a:r>
              <a:rPr lang="en-US" sz="3400" b="0" i="0" dirty="0">
                <a:solidFill>
                  <a:srgbClr val="000000"/>
                </a:solidFill>
                <a:effectLst/>
                <a:highlight>
                  <a:srgbClr val="FFFFFF"/>
                </a:highlight>
                <a:latin typeface="arial" panose="020B0604020202020204" pitchFamily="34" charset="0"/>
              </a:rPr>
              <a:t>, as used in this document, refers to measures taken to protect systems, buildings, and related supporting infrastructure against threats associated with their physical environment.</a:t>
            </a:r>
            <a:endParaRPr lang="en-US" sz="3400" b="0" i="0" u="sng" baseline="30000" dirty="0">
              <a:solidFill>
                <a:srgbClr val="003399"/>
              </a:solidFill>
              <a:effectLst/>
              <a:highlight>
                <a:srgbClr val="FFFFFF"/>
              </a:highlight>
              <a:latin typeface="arial" panose="020B0604020202020204" pitchFamily="34" charset="0"/>
            </a:endParaRPr>
          </a:p>
          <a:p>
            <a:r>
              <a:rPr lang="en-US" sz="3400" b="0" i="0" dirty="0">
                <a:solidFill>
                  <a:srgbClr val="000000"/>
                </a:solidFill>
                <a:effectLst/>
                <a:highlight>
                  <a:srgbClr val="FFFFFF"/>
                </a:highlight>
                <a:latin typeface="arial" panose="020B0604020202020204" pitchFamily="34" charset="0"/>
              </a:rPr>
              <a:t>Physical and environmental security controls include the following three broad areas:</a:t>
            </a:r>
          </a:p>
          <a:p>
            <a:pPr marL="0" indent="0">
              <a:buNone/>
            </a:pPr>
            <a:r>
              <a:rPr lang="en-US" sz="3400" b="1" i="0" dirty="0">
                <a:solidFill>
                  <a:srgbClr val="000000"/>
                </a:solidFill>
                <a:effectLst/>
                <a:highlight>
                  <a:srgbClr val="FFFFFF"/>
                </a:highlight>
                <a:latin typeface="arial" panose="020B0604020202020204" pitchFamily="34" charset="0"/>
              </a:rPr>
              <a:t>1.</a:t>
            </a:r>
            <a:r>
              <a:rPr lang="en-US" sz="3400" b="0" i="0" dirty="0">
                <a:solidFill>
                  <a:srgbClr val="000000"/>
                </a:solidFill>
                <a:effectLst/>
                <a:highlight>
                  <a:srgbClr val="FFFFFF"/>
                </a:highlight>
                <a:latin typeface="arial" panose="020B0604020202020204" pitchFamily="34" charset="0"/>
              </a:rPr>
              <a:t>The physical facility is usually the building, other structure, or vehicle housing the system and network components. Systems can be characterized, based upon their operating location, as static, mobile, or portable.</a:t>
            </a:r>
          </a:p>
          <a:p>
            <a:endParaRPr lang="en-TZ" sz="3400" dirty="0"/>
          </a:p>
        </p:txBody>
      </p:sp>
    </p:spTree>
    <p:extLst>
      <p:ext uri="{BB962C8B-B14F-4D97-AF65-F5344CB8AC3E}">
        <p14:creationId xmlns:p14="http://schemas.microsoft.com/office/powerpoint/2010/main" val="21487471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AB1192-88D5-9704-627C-81C40C21DAAB}"/>
              </a:ext>
            </a:extLst>
          </p:cNvPr>
          <p:cNvSpPr>
            <a:spLocks noGrp="1"/>
          </p:cNvSpPr>
          <p:nvPr>
            <p:ph idx="1"/>
          </p:nvPr>
        </p:nvSpPr>
        <p:spPr>
          <a:xfrm>
            <a:off x="838200" y="344774"/>
            <a:ext cx="10515600" cy="5832189"/>
          </a:xfrm>
        </p:spPr>
        <p:txBody>
          <a:bodyPr>
            <a:normAutofit/>
          </a:bodyPr>
          <a:lstStyle/>
          <a:p>
            <a:r>
              <a:rPr lang="en-US" sz="3600" b="0" i="0" dirty="0">
                <a:solidFill>
                  <a:srgbClr val="000000"/>
                </a:solidFill>
                <a:effectLst/>
                <a:highlight>
                  <a:srgbClr val="FFFFFF"/>
                </a:highlight>
                <a:latin typeface="arial" panose="020B0604020202020204" pitchFamily="34" charset="0"/>
              </a:rPr>
              <a:t>Static systems are installed in structures at fixed locations. Mobile systems are installed in vehicles that perform the function of a structure, but not at a fixed location. Portable systems are not installed in fixed operating locations. They may be operated in wide variety of locations, including buildings or vehicles, or in the open. The physical characteristics of these structures and vehicles determine the level of such physical threats as fire, roof leaks, or unauthorized access.</a:t>
            </a:r>
            <a:endParaRPr lang="en-TZ" sz="3600" dirty="0"/>
          </a:p>
        </p:txBody>
      </p:sp>
    </p:spTree>
    <p:extLst>
      <p:ext uri="{BB962C8B-B14F-4D97-AF65-F5344CB8AC3E}">
        <p14:creationId xmlns:p14="http://schemas.microsoft.com/office/powerpoint/2010/main" val="42178479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870E85-B9DB-615D-4D15-140BE076BCF0}"/>
              </a:ext>
            </a:extLst>
          </p:cNvPr>
          <p:cNvSpPr>
            <a:spLocks noGrp="1"/>
          </p:cNvSpPr>
          <p:nvPr>
            <p:ph idx="1"/>
          </p:nvPr>
        </p:nvSpPr>
        <p:spPr>
          <a:xfrm>
            <a:off x="749508" y="1019331"/>
            <a:ext cx="10643017" cy="5096656"/>
          </a:xfrm>
        </p:spPr>
        <p:txBody>
          <a:bodyPr>
            <a:normAutofit/>
          </a:bodyPr>
          <a:lstStyle/>
          <a:p>
            <a:pPr marL="0" indent="0">
              <a:buNone/>
            </a:pPr>
            <a:r>
              <a:rPr lang="en-US" sz="3600" b="1" i="0" dirty="0">
                <a:solidFill>
                  <a:srgbClr val="000000"/>
                </a:solidFill>
                <a:effectLst/>
                <a:highlight>
                  <a:srgbClr val="FFFFFF"/>
                </a:highlight>
                <a:latin typeface="arial" panose="020B0604020202020204" pitchFamily="34" charset="0"/>
              </a:rPr>
              <a:t>2.</a:t>
            </a:r>
            <a:r>
              <a:rPr lang="en-US" sz="3600" b="0" i="0" dirty="0">
                <a:solidFill>
                  <a:srgbClr val="000000"/>
                </a:solidFill>
                <a:effectLst/>
                <a:highlight>
                  <a:srgbClr val="FFFFFF"/>
                </a:highlight>
                <a:latin typeface="arial" panose="020B0604020202020204" pitchFamily="34" charset="0"/>
              </a:rPr>
              <a:t>The facility's general geographic operating location determines the characteristics of </a:t>
            </a:r>
            <a:r>
              <a:rPr lang="en-US" sz="3600" b="0" i="1" dirty="0">
                <a:solidFill>
                  <a:srgbClr val="000000"/>
                </a:solidFill>
                <a:effectLst/>
                <a:highlight>
                  <a:srgbClr val="FFFFFF"/>
                </a:highlight>
                <a:latin typeface="arial" panose="020B0604020202020204" pitchFamily="34" charset="0"/>
              </a:rPr>
              <a:t>natural threats</a:t>
            </a:r>
            <a:r>
              <a:rPr lang="en-US" sz="3600" b="0" i="0" dirty="0">
                <a:solidFill>
                  <a:srgbClr val="000000"/>
                </a:solidFill>
                <a:effectLst/>
                <a:highlight>
                  <a:srgbClr val="FFFFFF"/>
                </a:highlight>
                <a:latin typeface="arial" panose="020B0604020202020204" pitchFamily="34" charset="0"/>
              </a:rPr>
              <a:t>, which include earthquakes and flooding; </a:t>
            </a:r>
            <a:r>
              <a:rPr lang="en-US" sz="3600" b="0" i="1" dirty="0">
                <a:solidFill>
                  <a:srgbClr val="000000"/>
                </a:solidFill>
                <a:effectLst/>
                <a:highlight>
                  <a:srgbClr val="FFFFFF"/>
                </a:highlight>
                <a:latin typeface="arial" panose="020B0604020202020204" pitchFamily="34" charset="0"/>
              </a:rPr>
              <a:t>man-made threats</a:t>
            </a:r>
            <a:r>
              <a:rPr lang="en-US" sz="3600" b="0" i="0" dirty="0">
                <a:solidFill>
                  <a:srgbClr val="000000"/>
                </a:solidFill>
                <a:effectLst/>
                <a:highlight>
                  <a:srgbClr val="FFFFFF"/>
                </a:highlight>
                <a:latin typeface="arial" panose="020B0604020202020204" pitchFamily="34" charset="0"/>
              </a:rPr>
              <a:t> such as burglary, civil disorders, or interception of transmissions and emanations; and </a:t>
            </a:r>
            <a:r>
              <a:rPr lang="en-US" sz="3600" b="0" i="1" dirty="0">
                <a:solidFill>
                  <a:srgbClr val="000000"/>
                </a:solidFill>
                <a:effectLst/>
                <a:highlight>
                  <a:srgbClr val="FFFFFF"/>
                </a:highlight>
                <a:latin typeface="arial" panose="020B0604020202020204" pitchFamily="34" charset="0"/>
              </a:rPr>
              <a:t>damaging nearby activities</a:t>
            </a:r>
            <a:r>
              <a:rPr lang="en-US" sz="3600" b="0" i="0" dirty="0">
                <a:solidFill>
                  <a:srgbClr val="000000"/>
                </a:solidFill>
                <a:effectLst/>
                <a:highlight>
                  <a:srgbClr val="FFFFFF"/>
                </a:highlight>
                <a:latin typeface="arial" panose="020B0604020202020204" pitchFamily="34" charset="0"/>
              </a:rPr>
              <a:t>, including toxic chemical spills, explosions, fires, and electromagnetic interference from emitters, such as radars.</a:t>
            </a:r>
            <a:endParaRPr lang="en-TZ" sz="3600" dirty="0"/>
          </a:p>
        </p:txBody>
      </p:sp>
    </p:spTree>
    <p:extLst>
      <p:ext uri="{BB962C8B-B14F-4D97-AF65-F5344CB8AC3E}">
        <p14:creationId xmlns:p14="http://schemas.microsoft.com/office/powerpoint/2010/main" val="110323061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DC130E-86C8-81D3-FE60-5109CE6C47CC}"/>
              </a:ext>
            </a:extLst>
          </p:cNvPr>
          <p:cNvSpPr>
            <a:spLocks noGrp="1"/>
          </p:cNvSpPr>
          <p:nvPr>
            <p:ph idx="1"/>
          </p:nvPr>
        </p:nvSpPr>
        <p:spPr>
          <a:xfrm>
            <a:off x="838200" y="539646"/>
            <a:ext cx="10515600" cy="5637317"/>
          </a:xfrm>
        </p:spPr>
        <p:txBody>
          <a:bodyPr>
            <a:normAutofit/>
          </a:bodyPr>
          <a:lstStyle/>
          <a:p>
            <a:pPr marL="0" indent="0">
              <a:buNone/>
            </a:pPr>
            <a:r>
              <a:rPr lang="en-US" sz="4000" b="1" i="0" dirty="0">
                <a:solidFill>
                  <a:srgbClr val="000000"/>
                </a:solidFill>
                <a:effectLst/>
                <a:highlight>
                  <a:srgbClr val="FFFFFF"/>
                </a:highlight>
                <a:latin typeface="arial" panose="020B0604020202020204" pitchFamily="34" charset="0"/>
              </a:rPr>
              <a:t>3.</a:t>
            </a:r>
            <a:r>
              <a:rPr lang="en-US" sz="4000" b="0" i="0" dirty="0">
                <a:solidFill>
                  <a:srgbClr val="000000"/>
                </a:solidFill>
                <a:effectLst/>
                <a:highlight>
                  <a:srgbClr val="FFFFFF"/>
                </a:highlight>
                <a:latin typeface="arial" panose="020B0604020202020204" pitchFamily="34" charset="0"/>
              </a:rPr>
              <a:t>Supporting facilities are those services (both technical and human) that underpin the operation of the system. The system's operation usually depends on supporting facilities such as electric power, heating and air conditioning, and telecommunications. The failure or substandard performance of these facilities may interrupt operation of the system and may cause physical damage to system hardware or stored data.</a:t>
            </a:r>
          </a:p>
          <a:p>
            <a:endParaRPr lang="en-TZ" sz="4000" dirty="0"/>
          </a:p>
        </p:txBody>
      </p:sp>
    </p:spTree>
    <p:extLst>
      <p:ext uri="{BB962C8B-B14F-4D97-AF65-F5344CB8AC3E}">
        <p14:creationId xmlns:p14="http://schemas.microsoft.com/office/powerpoint/2010/main" val="15786598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FE89E3-A98D-7293-AE9A-C7F0BFAAEB44}"/>
              </a:ext>
            </a:extLst>
          </p:cNvPr>
          <p:cNvSpPr>
            <a:spLocks noGrp="1"/>
          </p:cNvSpPr>
          <p:nvPr>
            <p:ph idx="1"/>
          </p:nvPr>
        </p:nvSpPr>
        <p:spPr>
          <a:xfrm>
            <a:off x="838200" y="524656"/>
            <a:ext cx="10515600" cy="5652307"/>
          </a:xfrm>
        </p:spPr>
        <p:txBody>
          <a:bodyPr>
            <a:noAutofit/>
          </a:bodyPr>
          <a:lstStyle/>
          <a:p>
            <a:pPr algn="l"/>
            <a:r>
              <a:rPr lang="en-US" sz="3200" b="0" i="0" dirty="0">
                <a:effectLst/>
                <a:highlight>
                  <a:srgbClr val="FFFFFF"/>
                </a:highlight>
                <a:latin typeface="arial" panose="020B0604020202020204" pitchFamily="34" charset="0"/>
              </a:rPr>
              <a:t>This section discusses seven major areas of physical and environmental security controls:</a:t>
            </a:r>
          </a:p>
          <a:p>
            <a:pPr algn="l">
              <a:buFont typeface="Arial" panose="020B0604020202020204" pitchFamily="34" charset="0"/>
              <a:buChar char="•"/>
            </a:pPr>
            <a:r>
              <a:rPr lang="en-US" sz="3200" b="0" i="0" dirty="0">
                <a:effectLst/>
                <a:highlight>
                  <a:srgbClr val="FFFFFF"/>
                </a:highlight>
                <a:latin typeface="arial" panose="020B0604020202020204" pitchFamily="34" charset="0"/>
              </a:rPr>
              <a:t>physical access controls, </a:t>
            </a:r>
          </a:p>
          <a:p>
            <a:pPr algn="l">
              <a:buFont typeface="Arial" panose="020B0604020202020204" pitchFamily="34" charset="0"/>
              <a:buChar char="•"/>
            </a:pPr>
            <a:r>
              <a:rPr lang="en-US" sz="3200" b="0" i="0" dirty="0">
                <a:effectLst/>
                <a:highlight>
                  <a:srgbClr val="FFFFFF"/>
                </a:highlight>
                <a:latin typeface="arial" panose="020B0604020202020204" pitchFamily="34" charset="0"/>
              </a:rPr>
              <a:t>fire safety, </a:t>
            </a:r>
          </a:p>
          <a:p>
            <a:pPr algn="l">
              <a:buFont typeface="Arial" panose="020B0604020202020204" pitchFamily="34" charset="0"/>
              <a:buChar char="•"/>
            </a:pPr>
            <a:r>
              <a:rPr lang="en-US" sz="3200" b="0" i="0" dirty="0">
                <a:effectLst/>
                <a:highlight>
                  <a:srgbClr val="FFFFFF"/>
                </a:highlight>
                <a:latin typeface="arial" panose="020B0604020202020204" pitchFamily="34" charset="0"/>
              </a:rPr>
              <a:t>supporting utilities, </a:t>
            </a:r>
          </a:p>
          <a:p>
            <a:pPr algn="l">
              <a:buFont typeface="Arial" panose="020B0604020202020204" pitchFamily="34" charset="0"/>
              <a:buChar char="•"/>
            </a:pPr>
            <a:r>
              <a:rPr lang="en-US" sz="3200" b="0" i="0" dirty="0">
                <a:effectLst/>
                <a:highlight>
                  <a:srgbClr val="FFFFFF"/>
                </a:highlight>
                <a:latin typeface="arial" panose="020B0604020202020204" pitchFamily="34" charset="0"/>
              </a:rPr>
              <a:t>structural collapse, </a:t>
            </a:r>
          </a:p>
          <a:p>
            <a:pPr algn="l">
              <a:buFont typeface="Arial" panose="020B0604020202020204" pitchFamily="34" charset="0"/>
              <a:buChar char="•"/>
            </a:pPr>
            <a:r>
              <a:rPr lang="en-US" sz="3200" b="0" i="0" dirty="0">
                <a:effectLst/>
                <a:highlight>
                  <a:srgbClr val="FFFFFF"/>
                </a:highlight>
                <a:latin typeface="arial" panose="020B0604020202020204" pitchFamily="34" charset="0"/>
              </a:rPr>
              <a:t>plumbing leaks, </a:t>
            </a:r>
          </a:p>
          <a:p>
            <a:pPr algn="l">
              <a:buFont typeface="Arial" panose="020B0604020202020204" pitchFamily="34" charset="0"/>
              <a:buChar char="•"/>
            </a:pPr>
            <a:r>
              <a:rPr lang="en-US" sz="3200" b="0" i="0" dirty="0">
                <a:effectLst/>
                <a:highlight>
                  <a:srgbClr val="FFFFFF"/>
                </a:highlight>
                <a:latin typeface="arial" panose="020B0604020202020204" pitchFamily="34" charset="0"/>
              </a:rPr>
              <a:t>interception of data, and </a:t>
            </a:r>
          </a:p>
          <a:p>
            <a:pPr algn="l">
              <a:buFont typeface="Arial" panose="020B0604020202020204" pitchFamily="34" charset="0"/>
              <a:buChar char="•"/>
            </a:pPr>
            <a:r>
              <a:rPr lang="en-US" sz="3200" b="0" i="0" dirty="0">
                <a:effectLst/>
                <a:highlight>
                  <a:srgbClr val="FFFFFF"/>
                </a:highlight>
                <a:latin typeface="arial" panose="020B0604020202020204" pitchFamily="34" charset="0"/>
              </a:rPr>
              <a:t>mobile and portable systems</a:t>
            </a:r>
          </a:p>
          <a:p>
            <a:endParaRPr lang="en-TZ" sz="3200" dirty="0"/>
          </a:p>
        </p:txBody>
      </p:sp>
    </p:spTree>
    <p:extLst>
      <p:ext uri="{BB962C8B-B14F-4D97-AF65-F5344CB8AC3E}">
        <p14:creationId xmlns:p14="http://schemas.microsoft.com/office/powerpoint/2010/main" val="10737105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CFD7A8-5ACB-7BAC-3C89-1EA7947FD016}"/>
              </a:ext>
            </a:extLst>
          </p:cNvPr>
          <p:cNvSpPr>
            <a:spLocks noGrp="1"/>
          </p:cNvSpPr>
          <p:nvPr>
            <p:ph idx="1"/>
          </p:nvPr>
        </p:nvSpPr>
        <p:spPr>
          <a:xfrm>
            <a:off x="838200" y="569626"/>
            <a:ext cx="10515600" cy="5607337"/>
          </a:xfrm>
        </p:spPr>
        <p:txBody>
          <a:bodyPr>
            <a:noAutofit/>
          </a:bodyPr>
          <a:lstStyle/>
          <a:p>
            <a:pPr algn="l"/>
            <a:r>
              <a:rPr lang="en-US" sz="3600" b="1" i="0" dirty="0">
                <a:solidFill>
                  <a:srgbClr val="000000"/>
                </a:solidFill>
                <a:effectLst/>
                <a:highlight>
                  <a:srgbClr val="FFFFFF"/>
                </a:highlight>
                <a:latin typeface="arial" panose="020B0604020202020204" pitchFamily="34" charset="0"/>
              </a:rPr>
              <a:t>Physical access controls:</a:t>
            </a:r>
            <a:r>
              <a:rPr lang="en-US" sz="3600" b="0" i="0" dirty="0">
                <a:solidFill>
                  <a:srgbClr val="000000"/>
                </a:solidFill>
                <a:effectLst/>
                <a:highlight>
                  <a:srgbClr val="FFFFFF"/>
                </a:highlight>
                <a:latin typeface="arial" panose="020B0604020202020204" pitchFamily="34" charset="0"/>
              </a:rPr>
              <a:t> Physical access controls restrict the entry and exit of personnel (and often equipment and media) from an area, such as an office building, suite, data center, or room containing a LAN server.</a:t>
            </a:r>
          </a:p>
          <a:p>
            <a:pPr algn="l"/>
            <a:r>
              <a:rPr lang="en-US" sz="3600" b="0" i="0" dirty="0">
                <a:solidFill>
                  <a:srgbClr val="000000"/>
                </a:solidFill>
                <a:effectLst/>
                <a:highlight>
                  <a:srgbClr val="FFFFFF"/>
                </a:highlight>
                <a:latin typeface="arial" panose="020B0604020202020204" pitchFamily="34" charset="0"/>
              </a:rPr>
              <a:t>The control over physical access to the elements of a system can include controlled areas, barriers that isolate each area, entry points in the barriers that isolate each area, entry points in the barriers, and screening measures at each of the entry points.</a:t>
            </a:r>
          </a:p>
          <a:p>
            <a:endParaRPr lang="en-TZ" sz="3600" dirty="0"/>
          </a:p>
        </p:txBody>
      </p:sp>
    </p:spTree>
    <p:extLst>
      <p:ext uri="{BB962C8B-B14F-4D97-AF65-F5344CB8AC3E}">
        <p14:creationId xmlns:p14="http://schemas.microsoft.com/office/powerpoint/2010/main" val="29573377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CC8B45-477C-2F93-74EB-5FBD34A09E6C}"/>
              </a:ext>
            </a:extLst>
          </p:cNvPr>
          <p:cNvSpPr>
            <a:spLocks noGrp="1"/>
          </p:cNvSpPr>
          <p:nvPr>
            <p:ph idx="1"/>
          </p:nvPr>
        </p:nvSpPr>
        <p:spPr>
          <a:xfrm>
            <a:off x="838200" y="554636"/>
            <a:ext cx="10515600" cy="5622327"/>
          </a:xfrm>
        </p:spPr>
        <p:txBody>
          <a:bodyPr>
            <a:normAutofit/>
          </a:bodyPr>
          <a:lstStyle/>
          <a:p>
            <a:pPr algn="l"/>
            <a:r>
              <a:rPr lang="en-US" sz="3600" b="1" i="1" dirty="0">
                <a:effectLst/>
                <a:highlight>
                  <a:srgbClr val="FFFFFF"/>
                </a:highlight>
                <a:latin typeface="arial" panose="020B0604020202020204" pitchFamily="34" charset="0"/>
              </a:rPr>
              <a:t>Fire Safety Factors</a:t>
            </a:r>
          </a:p>
          <a:p>
            <a:pPr algn="l"/>
            <a:r>
              <a:rPr lang="en-US" sz="3600" b="0" i="0" dirty="0">
                <a:effectLst/>
                <a:highlight>
                  <a:srgbClr val="FFFFFF"/>
                </a:highlight>
                <a:latin typeface="arial" panose="020B0604020202020204" pitchFamily="34" charset="0"/>
              </a:rPr>
              <a:t>Building fires are a particularly important security threat because of the potential for complete destruction of both hardware and data, the risk to human life, and the pervasiveness of the damage. Smoke, corrosive gases, and high humidity from a localized fire can damage systems throughout an entire building. Consequently, it is important to evaluate the fire safety of buildings that house systems.</a:t>
            </a:r>
          </a:p>
          <a:p>
            <a:endParaRPr lang="en-TZ" sz="3600" dirty="0"/>
          </a:p>
        </p:txBody>
      </p:sp>
    </p:spTree>
    <p:extLst>
      <p:ext uri="{BB962C8B-B14F-4D97-AF65-F5344CB8AC3E}">
        <p14:creationId xmlns:p14="http://schemas.microsoft.com/office/powerpoint/2010/main" val="20755484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40AE64-9C6B-435A-F5E0-B07272F4B1C6}"/>
              </a:ext>
            </a:extLst>
          </p:cNvPr>
          <p:cNvSpPr>
            <a:spLocks noGrp="1"/>
          </p:cNvSpPr>
          <p:nvPr>
            <p:ph idx="1"/>
          </p:nvPr>
        </p:nvSpPr>
        <p:spPr>
          <a:xfrm>
            <a:off x="404733" y="329784"/>
            <a:ext cx="11362545" cy="6205927"/>
          </a:xfrm>
        </p:spPr>
        <p:txBody>
          <a:bodyPr>
            <a:noAutofit/>
          </a:bodyPr>
          <a:lstStyle/>
          <a:p>
            <a:pPr algn="l"/>
            <a:r>
              <a:rPr lang="en-US" sz="3200" b="1" i="1" dirty="0">
                <a:effectLst/>
                <a:highlight>
                  <a:srgbClr val="FFFFFF"/>
                </a:highlight>
                <a:latin typeface="arial" panose="020B0604020202020204" pitchFamily="34" charset="0"/>
              </a:rPr>
              <a:t>Failure of Supporting Utilities</a:t>
            </a:r>
          </a:p>
          <a:p>
            <a:pPr algn="l"/>
            <a:r>
              <a:rPr lang="en-US" sz="3200" b="0" i="0" dirty="0">
                <a:solidFill>
                  <a:srgbClr val="000000"/>
                </a:solidFill>
                <a:effectLst/>
                <a:highlight>
                  <a:srgbClr val="FFFFFF"/>
                </a:highlight>
                <a:latin typeface="arial" panose="020B0604020202020204" pitchFamily="34" charset="0"/>
              </a:rPr>
              <a:t>Systems and the people who operate them need to have a reasonably well-controlled operating environment. Consequently, failures of heating and air-conditioning systems will usually cause a service interruption and may damage hardware. These utilities are composed of many elements, each of which must function properly.</a:t>
            </a:r>
          </a:p>
          <a:p>
            <a:pPr algn="l"/>
            <a:r>
              <a:rPr lang="en-US" sz="3200" b="0" i="0" dirty="0">
                <a:solidFill>
                  <a:srgbClr val="000000"/>
                </a:solidFill>
                <a:effectLst/>
                <a:highlight>
                  <a:srgbClr val="FFFFFF"/>
                </a:highlight>
                <a:latin typeface="arial" panose="020B0604020202020204" pitchFamily="34" charset="0"/>
              </a:rPr>
              <a:t>For example, the typical air-conditioning system consists of (1) air handlers that cool and humidify room air, (2) circulating pumps that send chilled water to the air handlers, (3) chillers that extract heat from the water, and (4) cooling towers that discharge the heat to the outside air. Each of these elements has a mean-time-between-failures (MTBF) and a mean-time-to-repair (MTTR). </a:t>
            </a:r>
          </a:p>
          <a:p>
            <a:endParaRPr lang="en-TZ" sz="3200" dirty="0"/>
          </a:p>
        </p:txBody>
      </p:sp>
    </p:spTree>
    <p:extLst>
      <p:ext uri="{BB962C8B-B14F-4D97-AF65-F5344CB8AC3E}">
        <p14:creationId xmlns:p14="http://schemas.microsoft.com/office/powerpoint/2010/main" val="32348209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8E7037-B465-DDBB-7ECD-A1B5669F63CA}"/>
              </a:ext>
            </a:extLst>
          </p:cNvPr>
          <p:cNvSpPr>
            <a:spLocks noGrp="1"/>
          </p:cNvSpPr>
          <p:nvPr>
            <p:ph idx="1"/>
          </p:nvPr>
        </p:nvSpPr>
        <p:spPr>
          <a:xfrm>
            <a:off x="838200" y="539646"/>
            <a:ext cx="10515600" cy="5637317"/>
          </a:xfrm>
        </p:spPr>
        <p:txBody>
          <a:bodyPr>
            <a:normAutofit/>
          </a:bodyPr>
          <a:lstStyle/>
          <a:p>
            <a:pPr algn="l"/>
            <a:r>
              <a:rPr lang="en-US" sz="3200" b="1" i="1" dirty="0">
                <a:effectLst/>
                <a:highlight>
                  <a:srgbClr val="FFFFFF"/>
                </a:highlight>
                <a:latin typeface="arial" panose="020B0604020202020204" pitchFamily="34" charset="0"/>
              </a:rPr>
              <a:t>Structural Collapse</a:t>
            </a:r>
          </a:p>
          <a:p>
            <a:pPr algn="l"/>
            <a:r>
              <a:rPr lang="en-US" sz="3200" b="0" i="0" dirty="0">
                <a:effectLst/>
                <a:highlight>
                  <a:srgbClr val="FFFFFF"/>
                </a:highlight>
                <a:latin typeface="arial" panose="020B0604020202020204" pitchFamily="34" charset="0"/>
              </a:rPr>
              <a:t>A building may be subjected to a load greater than it can support. Most commonly this is a result of an earthquake, a snow load on the roof beyond design criteria, an explosion that displaces or cuts structural members, or a fire that weakens structural members. Even if the structure is not completely demolished, the authorities may decide to ban its further use, sometimes even banning entry to remove materials. This threat applies primarily to high-rise buildings and those with large interior spaces without supporting columns.</a:t>
            </a:r>
          </a:p>
          <a:p>
            <a:endParaRPr lang="en-TZ" sz="3200" dirty="0"/>
          </a:p>
        </p:txBody>
      </p:sp>
    </p:spTree>
    <p:extLst>
      <p:ext uri="{BB962C8B-B14F-4D97-AF65-F5344CB8AC3E}">
        <p14:creationId xmlns:p14="http://schemas.microsoft.com/office/powerpoint/2010/main" val="2097108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068825-21F5-C06E-9917-C184836CF638}"/>
              </a:ext>
            </a:extLst>
          </p:cNvPr>
          <p:cNvSpPr>
            <a:spLocks noGrp="1"/>
          </p:cNvSpPr>
          <p:nvPr>
            <p:ph idx="1"/>
          </p:nvPr>
        </p:nvSpPr>
        <p:spPr>
          <a:xfrm>
            <a:off x="838200" y="524656"/>
            <a:ext cx="10515600" cy="5652307"/>
          </a:xfrm>
        </p:spPr>
        <p:txBody>
          <a:bodyPr>
            <a:normAutofit/>
          </a:bodyPr>
          <a:lstStyle/>
          <a:p>
            <a:pPr algn="l"/>
            <a:r>
              <a:rPr lang="en-US" sz="3600" b="1" i="1" dirty="0">
                <a:effectLst/>
                <a:highlight>
                  <a:srgbClr val="FFFFFF"/>
                </a:highlight>
                <a:latin typeface="arial" panose="020B0604020202020204" pitchFamily="34" charset="0"/>
              </a:rPr>
              <a:t>Plumbing Leaks</a:t>
            </a:r>
          </a:p>
          <a:p>
            <a:pPr algn="l"/>
            <a:r>
              <a:rPr lang="en-US" sz="3600" b="0" i="0" dirty="0">
                <a:effectLst/>
                <a:highlight>
                  <a:srgbClr val="FFFFFF"/>
                </a:highlight>
                <a:latin typeface="arial" panose="020B0604020202020204" pitchFamily="34" charset="0"/>
              </a:rPr>
              <a:t>While plumbing leaks do not occur every day, they can be seriously disruptive. The building's plumbing drawings can help locate plumbing lines that might endanger system hardware. These lines include hot and cold water, chilled water supply and return lines, steam lines, automatic sprinkler lines, fire hose standpipes, and drains. If a building includes a laboratory or manufacturing spaces, there may be other lines that conduct water, corrosive or toxic chemicals, or gases.</a:t>
            </a:r>
          </a:p>
          <a:p>
            <a:endParaRPr lang="en-TZ" sz="3600" dirty="0"/>
          </a:p>
        </p:txBody>
      </p:sp>
    </p:spTree>
    <p:extLst>
      <p:ext uri="{BB962C8B-B14F-4D97-AF65-F5344CB8AC3E}">
        <p14:creationId xmlns:p14="http://schemas.microsoft.com/office/powerpoint/2010/main" val="369184605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491A03-2218-1A26-D899-39D3F0DDC30A}"/>
              </a:ext>
            </a:extLst>
          </p:cNvPr>
          <p:cNvSpPr>
            <a:spLocks noGrp="1"/>
          </p:cNvSpPr>
          <p:nvPr>
            <p:ph idx="1"/>
          </p:nvPr>
        </p:nvSpPr>
        <p:spPr>
          <a:xfrm>
            <a:off x="838200" y="569626"/>
            <a:ext cx="10515600" cy="5607337"/>
          </a:xfrm>
        </p:spPr>
        <p:txBody>
          <a:bodyPr>
            <a:normAutofit/>
          </a:bodyPr>
          <a:lstStyle/>
          <a:p>
            <a:pPr algn="l"/>
            <a:r>
              <a:rPr lang="en-US" sz="3200" b="1" i="1" dirty="0">
                <a:effectLst/>
                <a:highlight>
                  <a:srgbClr val="FFFFFF"/>
                </a:highlight>
                <a:latin typeface="arial" panose="020B0604020202020204" pitchFamily="34" charset="0"/>
              </a:rPr>
              <a:t>Interception of Data</a:t>
            </a:r>
          </a:p>
          <a:p>
            <a:pPr algn="l"/>
            <a:r>
              <a:rPr lang="en-US" sz="3200" b="0" i="0" dirty="0">
                <a:effectLst/>
                <a:highlight>
                  <a:srgbClr val="FFFFFF"/>
                </a:highlight>
                <a:latin typeface="arial" panose="020B0604020202020204" pitchFamily="34" charset="0"/>
              </a:rPr>
              <a:t>Depending on the type of data a system processes, there may be a significant risk if the data is intercepted. There are three routes of data interception: direct observation, interception of data transmission, and electromagnetic interception.</a:t>
            </a:r>
          </a:p>
          <a:p>
            <a:r>
              <a:rPr lang="en-US" sz="3200" b="0" i="1" dirty="0">
                <a:effectLst/>
                <a:highlight>
                  <a:srgbClr val="FFFFFF"/>
                </a:highlight>
                <a:latin typeface="arial" panose="020B0604020202020204" pitchFamily="34" charset="0"/>
              </a:rPr>
              <a:t>Direct Observation.</a:t>
            </a:r>
            <a:r>
              <a:rPr lang="en-US" sz="3200" b="0" i="0" dirty="0">
                <a:effectLst/>
                <a:highlight>
                  <a:srgbClr val="FFFFFF"/>
                </a:highlight>
                <a:latin typeface="arial" panose="020B0604020202020204" pitchFamily="34" charset="0"/>
              </a:rPr>
              <a:t> System terminal and workstation display screens may be observed by unauthorized persons. In most cases, it is relatively easy to relocate the display to eliminate the exposure.</a:t>
            </a:r>
            <a:endParaRPr lang="en-TZ" sz="3200" dirty="0"/>
          </a:p>
        </p:txBody>
      </p:sp>
    </p:spTree>
    <p:extLst>
      <p:ext uri="{BB962C8B-B14F-4D97-AF65-F5344CB8AC3E}">
        <p14:creationId xmlns:p14="http://schemas.microsoft.com/office/powerpoint/2010/main" val="410819300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8FD1AD-EA66-C448-8CE4-AC432B325FE8}"/>
              </a:ext>
            </a:extLst>
          </p:cNvPr>
          <p:cNvSpPr>
            <a:spLocks noGrp="1"/>
          </p:cNvSpPr>
          <p:nvPr>
            <p:ph idx="1"/>
          </p:nvPr>
        </p:nvSpPr>
        <p:spPr>
          <a:xfrm>
            <a:off x="374754" y="314792"/>
            <a:ext cx="11317574" cy="6115987"/>
          </a:xfrm>
        </p:spPr>
        <p:txBody>
          <a:bodyPr>
            <a:noAutofit/>
          </a:bodyPr>
          <a:lstStyle/>
          <a:p>
            <a:r>
              <a:rPr lang="en-US" sz="3600" b="0" i="1" dirty="0">
                <a:solidFill>
                  <a:srgbClr val="000000"/>
                </a:solidFill>
                <a:effectLst/>
                <a:highlight>
                  <a:srgbClr val="FFFFFF"/>
                </a:highlight>
                <a:latin typeface="arial" panose="020B0604020202020204" pitchFamily="34" charset="0"/>
              </a:rPr>
              <a:t>Interception of Data Transmissions.</a:t>
            </a:r>
            <a:r>
              <a:rPr lang="en-US" sz="3600" b="0" i="0" dirty="0">
                <a:solidFill>
                  <a:srgbClr val="000000"/>
                </a:solidFill>
                <a:effectLst/>
                <a:highlight>
                  <a:srgbClr val="FFFFFF"/>
                </a:highlight>
                <a:latin typeface="arial" panose="020B0604020202020204" pitchFamily="34" charset="0"/>
              </a:rPr>
              <a:t> If an interceptor can gain access to data transmission lines, it may be feasible to tap into the lines and read the data being transmitted. Network monitoring tools can be used to capture data packets.</a:t>
            </a:r>
          </a:p>
          <a:p>
            <a:r>
              <a:rPr lang="en-US" sz="3600" b="0" i="1" dirty="0">
                <a:solidFill>
                  <a:srgbClr val="000000"/>
                </a:solidFill>
                <a:effectLst/>
                <a:highlight>
                  <a:srgbClr val="FFFFFF"/>
                </a:highlight>
                <a:latin typeface="arial" panose="020B0604020202020204" pitchFamily="34" charset="0"/>
              </a:rPr>
              <a:t>Electromagnetic Interception.</a:t>
            </a:r>
            <a:r>
              <a:rPr lang="en-US" sz="3600" b="0" i="0" dirty="0">
                <a:solidFill>
                  <a:srgbClr val="000000"/>
                </a:solidFill>
                <a:effectLst/>
                <a:highlight>
                  <a:srgbClr val="FFFFFF"/>
                </a:highlight>
                <a:latin typeface="arial" panose="020B0604020202020204" pitchFamily="34" charset="0"/>
              </a:rPr>
              <a:t> Systems routinely radiate electromagnetic energy that can be detected with special-purpose radio receivers. Successful interception will depend on the signal strength at the receiver location; the greater the separation between the system and the receiver, the lower the success rate.</a:t>
            </a:r>
            <a:endParaRPr lang="en-TZ" sz="3600" dirty="0"/>
          </a:p>
        </p:txBody>
      </p:sp>
    </p:spTree>
    <p:extLst>
      <p:ext uri="{BB962C8B-B14F-4D97-AF65-F5344CB8AC3E}">
        <p14:creationId xmlns:p14="http://schemas.microsoft.com/office/powerpoint/2010/main" val="22634329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DFE301-D82E-02B3-04BB-28CECDC42921}"/>
              </a:ext>
            </a:extLst>
          </p:cNvPr>
          <p:cNvSpPr>
            <a:spLocks noGrp="1"/>
          </p:cNvSpPr>
          <p:nvPr>
            <p:ph idx="1"/>
          </p:nvPr>
        </p:nvSpPr>
        <p:spPr>
          <a:xfrm>
            <a:off x="838200" y="854439"/>
            <a:ext cx="10515600" cy="5322524"/>
          </a:xfrm>
        </p:spPr>
        <p:txBody>
          <a:bodyPr>
            <a:normAutofit/>
          </a:bodyPr>
          <a:lstStyle/>
          <a:p>
            <a:pPr algn="l"/>
            <a:r>
              <a:rPr lang="en-US" sz="4000" b="1" i="1" dirty="0">
                <a:solidFill>
                  <a:srgbClr val="4C4C4C"/>
                </a:solidFill>
                <a:effectLst/>
                <a:highlight>
                  <a:srgbClr val="FFFFFF"/>
                </a:highlight>
                <a:latin typeface="arial" panose="020B0604020202020204" pitchFamily="34" charset="0"/>
              </a:rPr>
              <a:t>Mobile and Portable Systems</a:t>
            </a:r>
          </a:p>
          <a:p>
            <a:pPr algn="l"/>
            <a:r>
              <a:rPr lang="en-US" sz="4000" b="0" i="0" dirty="0">
                <a:solidFill>
                  <a:srgbClr val="000000"/>
                </a:solidFill>
                <a:effectLst/>
                <a:highlight>
                  <a:srgbClr val="FFFFFF"/>
                </a:highlight>
                <a:latin typeface="arial" panose="020B0604020202020204" pitchFamily="34" charset="0"/>
              </a:rPr>
              <a:t>The analysis and management of risk usually has to be modified if a system is installed in a vehicle or is portable, such as a laptop computer. The system in a vehicle will share the risks of the vehicle, including accidents and theft, as well as regional and local risks.</a:t>
            </a:r>
          </a:p>
          <a:p>
            <a:endParaRPr lang="en-TZ" sz="4000" dirty="0"/>
          </a:p>
        </p:txBody>
      </p:sp>
    </p:spTree>
    <p:extLst>
      <p:ext uri="{BB962C8B-B14F-4D97-AF65-F5344CB8AC3E}">
        <p14:creationId xmlns:p14="http://schemas.microsoft.com/office/powerpoint/2010/main" val="32179931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9D7C4-1165-69D8-2E48-9EA8F18947FE}"/>
              </a:ext>
            </a:extLst>
          </p:cNvPr>
          <p:cNvSpPr>
            <a:spLocks noGrp="1"/>
          </p:cNvSpPr>
          <p:nvPr>
            <p:ph type="title"/>
          </p:nvPr>
        </p:nvSpPr>
        <p:spPr>
          <a:xfrm>
            <a:off x="838200" y="365126"/>
            <a:ext cx="10515600" cy="1043950"/>
          </a:xfrm>
        </p:spPr>
        <p:txBody>
          <a:bodyPr>
            <a:normAutofit fontScale="90000"/>
          </a:bodyPr>
          <a:lstStyle/>
          <a:p>
            <a:r>
              <a:rPr lang="en-US" sz="3600" b="1" dirty="0">
                <a:solidFill>
                  <a:srgbClr val="000000"/>
                </a:solidFill>
                <a:effectLst/>
                <a:latin typeface="Times New Roman" panose="02020603050405020304" pitchFamily="18" charset="0"/>
                <a:ea typeface="Times New Roman" panose="02020603050405020304" pitchFamily="18" charset="0"/>
              </a:rPr>
              <a:t>Processes for storing, retrieving, transporting and disposing of information assets.</a:t>
            </a:r>
            <a:endParaRPr lang="en-TZ" sz="3600" b="1" dirty="0"/>
          </a:p>
        </p:txBody>
      </p:sp>
      <p:sp>
        <p:nvSpPr>
          <p:cNvPr id="3" name="Content Placeholder 2">
            <a:extLst>
              <a:ext uri="{FF2B5EF4-FFF2-40B4-BE49-F238E27FC236}">
                <a16:creationId xmlns:a16="http://schemas.microsoft.com/office/drawing/2014/main" id="{9577F48B-CB42-56B4-EDA5-6A13EFF3B6A1}"/>
              </a:ext>
            </a:extLst>
          </p:cNvPr>
          <p:cNvSpPr>
            <a:spLocks noGrp="1"/>
          </p:cNvSpPr>
          <p:nvPr>
            <p:ph idx="1"/>
          </p:nvPr>
        </p:nvSpPr>
        <p:spPr>
          <a:xfrm>
            <a:off x="838200" y="1573967"/>
            <a:ext cx="10515600" cy="4602996"/>
          </a:xfrm>
        </p:spPr>
        <p:txBody>
          <a:bodyPr>
            <a:noAutofit/>
          </a:bodyPr>
          <a:lstStyle/>
          <a:p>
            <a:pPr algn="l"/>
            <a:r>
              <a:rPr lang="en-US" sz="3600" b="1" i="0" dirty="0">
                <a:effectLst/>
                <a:highlight>
                  <a:srgbClr val="FFFFFF"/>
                </a:highlight>
                <a:latin typeface="Times New Roman" panose="02020603050405020304" pitchFamily="18" charset="0"/>
                <a:cs typeface="Times New Roman" panose="02020603050405020304" pitchFamily="18" charset="0"/>
              </a:rPr>
              <a:t>What are information assets and why are they important?</a:t>
            </a:r>
          </a:p>
          <a:p>
            <a:pPr algn="l"/>
            <a:r>
              <a:rPr lang="en-US" sz="3600" b="1" i="0" dirty="0">
                <a:effectLst/>
                <a:highlight>
                  <a:srgbClr val="FFFFFF"/>
                </a:highlight>
                <a:latin typeface="Times New Roman" panose="02020603050405020304" pitchFamily="18" charset="0"/>
                <a:cs typeface="Times New Roman" panose="02020603050405020304" pitchFamily="18" charset="0"/>
              </a:rPr>
              <a:t>Information assets</a:t>
            </a:r>
            <a:r>
              <a:rPr lang="en-US" sz="3600" b="0" i="0" dirty="0">
                <a:effectLst/>
                <a:highlight>
                  <a:srgbClr val="FFFFFF"/>
                </a:highlight>
                <a:latin typeface="Times New Roman" panose="02020603050405020304" pitchFamily="18" charset="0"/>
                <a:cs typeface="Times New Roman" panose="02020603050405020304" pitchFamily="18" charset="0"/>
              </a:rPr>
              <a:t> are any </a:t>
            </a:r>
            <a:r>
              <a:rPr lang="en-US" sz="3600" b="0" i="0" u="sng" dirty="0">
                <a:effectLst/>
                <a:highlight>
                  <a:srgbClr val="FFFFFF"/>
                </a:highligh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data, information, knowledge</a:t>
            </a:r>
            <a:r>
              <a:rPr lang="en-US" sz="3600" b="0" i="0" dirty="0">
                <a:effectLst/>
                <a:highlight>
                  <a:srgbClr val="FFFFFF"/>
                </a:highlight>
                <a:latin typeface="Times New Roman" panose="02020603050405020304" pitchFamily="18" charset="0"/>
                <a:cs typeface="Times New Roman" panose="02020603050405020304" pitchFamily="18" charset="0"/>
              </a:rPr>
              <a:t>, software, hardware, IT service, data storage, IT equipment that has</a:t>
            </a:r>
            <a:r>
              <a:rPr lang="en-US" sz="3600" b="1" i="0" dirty="0">
                <a:effectLst/>
                <a:highlight>
                  <a:srgbClr val="FFFFFF"/>
                </a:highlight>
                <a:latin typeface="Times New Roman" panose="02020603050405020304" pitchFamily="18" charset="0"/>
                <a:cs typeface="Times New Roman" panose="02020603050405020304" pitchFamily="18" charset="0"/>
              </a:rPr>
              <a:t> value to the company</a:t>
            </a:r>
            <a:r>
              <a:rPr lang="en-US" sz="3600" b="0" i="0" dirty="0">
                <a:effectLst/>
                <a:highlight>
                  <a:srgbClr val="FFFFFF"/>
                </a:highlight>
                <a:latin typeface="Times New Roman" panose="02020603050405020304" pitchFamily="18" charset="0"/>
                <a:cs typeface="Times New Roman" panose="02020603050405020304" pitchFamily="18" charset="0"/>
              </a:rPr>
              <a:t> and its loss, theft or misuse would be a problem for the company because without information assets, processes, decision-making and company management cannot work.</a:t>
            </a:r>
          </a:p>
          <a:p>
            <a:endParaRPr lang="en-TZ"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407495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5CAC67-BCC2-719B-E9DC-CF06B8DAA17E}"/>
              </a:ext>
            </a:extLst>
          </p:cNvPr>
          <p:cNvSpPr>
            <a:spLocks noGrp="1"/>
          </p:cNvSpPr>
          <p:nvPr>
            <p:ph idx="1"/>
          </p:nvPr>
        </p:nvSpPr>
        <p:spPr>
          <a:xfrm>
            <a:off x="374753" y="389744"/>
            <a:ext cx="11407515" cy="6056026"/>
          </a:xfrm>
        </p:spPr>
        <p:txBody>
          <a:bodyPr>
            <a:noAutofit/>
          </a:bodyPr>
          <a:lstStyle/>
          <a:p>
            <a:pPr algn="l">
              <a:buFont typeface="Arial" panose="020B0604020202020204" pitchFamily="34" charset="0"/>
              <a:buChar char="•"/>
            </a:pPr>
            <a:r>
              <a:rPr lang="en-US" sz="3200" b="0" i="0" dirty="0">
                <a:effectLst/>
                <a:highlight>
                  <a:srgbClr val="FFFFFF"/>
                </a:highlight>
                <a:latin typeface="Open Sans" panose="020B0606030504020204" pitchFamily="34" charset="0"/>
              </a:rPr>
              <a:t>Every organization needs information assets for its functioning and decision-making. Companies cannot exist without information.</a:t>
            </a:r>
          </a:p>
          <a:p>
            <a:pPr algn="l">
              <a:buFont typeface="Arial" panose="020B0604020202020204" pitchFamily="34" charset="0"/>
              <a:buChar char="•"/>
            </a:pPr>
            <a:r>
              <a:rPr lang="en-US" sz="3200" b="0" i="0" dirty="0">
                <a:effectLst/>
                <a:highlight>
                  <a:srgbClr val="FFFFFF"/>
                </a:highlight>
                <a:latin typeface="Open Sans" panose="020B0606030504020204" pitchFamily="34" charset="0"/>
              </a:rPr>
              <a:t>Every information asset is </a:t>
            </a:r>
            <a:r>
              <a:rPr lang="en-US" sz="3200" b="0" i="0" u="sng" dirty="0">
                <a:effectLst/>
                <a:highlight>
                  <a:srgbClr val="FFFFFF"/>
                </a:highlight>
                <a:latin typeface="Open Sans" panose="020B0606030504020204" pitchFamily="34" charset="0"/>
                <a:hlinkClick r:id="rId2">
                  <a:extLst>
                    <a:ext uri="{A12FA001-AC4F-418D-AE19-62706E023703}">
                      <ahyp:hlinkClr xmlns:ahyp="http://schemas.microsoft.com/office/drawing/2018/hyperlinkcolor" val="tx"/>
                    </a:ext>
                  </a:extLst>
                </a:hlinkClick>
              </a:rPr>
              <a:t>vulnerable</a:t>
            </a:r>
            <a:r>
              <a:rPr lang="en-US" sz="3200" b="0" i="0" dirty="0">
                <a:effectLst/>
                <a:highlight>
                  <a:srgbClr val="FFFFFF"/>
                </a:highlight>
                <a:latin typeface="Open Sans" panose="020B0606030504020204" pitchFamily="34" charset="0"/>
              </a:rPr>
              <a:t> and thus should be protected. So it is an object of </a:t>
            </a:r>
            <a:r>
              <a:rPr lang="en-US" sz="3200" b="0" i="0" u="sng" dirty="0">
                <a:effectLst/>
                <a:highlight>
                  <a:srgbClr val="FFFFFF"/>
                </a:highlight>
                <a:latin typeface="Open Sans" panose="020B0606030504020204" pitchFamily="34" charset="0"/>
                <a:hlinkClick r:id="rId3">
                  <a:extLst>
                    <a:ext uri="{A12FA001-AC4F-418D-AE19-62706E023703}">
                      <ahyp:hlinkClr xmlns:ahyp="http://schemas.microsoft.com/office/drawing/2018/hyperlinkcolor" val="tx"/>
                    </a:ext>
                  </a:extLst>
                </a:hlinkClick>
              </a:rPr>
              <a:t>information security</a:t>
            </a:r>
            <a:r>
              <a:rPr lang="en-US" sz="3200" b="0" i="0" dirty="0">
                <a:effectLst/>
                <a:highlight>
                  <a:srgbClr val="FFFFFF"/>
                </a:highlight>
                <a:latin typeface="Open Sans" panose="020B0606030504020204" pitchFamily="34" charset="0"/>
              </a:rPr>
              <a:t>.</a:t>
            </a:r>
          </a:p>
          <a:p>
            <a:pPr algn="l"/>
            <a:r>
              <a:rPr lang="en-US" sz="3200" b="1" i="0" dirty="0">
                <a:effectLst/>
                <a:highlight>
                  <a:srgbClr val="FFFFFF"/>
                </a:highlight>
                <a:latin typeface="Nunito" pitchFamily="2" charset="0"/>
              </a:rPr>
              <a:t>How to divide information assets</a:t>
            </a:r>
          </a:p>
          <a:p>
            <a:pPr algn="l"/>
            <a:r>
              <a:rPr lang="en-US" sz="3200" b="0" i="0" dirty="0">
                <a:effectLst/>
                <a:highlight>
                  <a:srgbClr val="FFFFFF"/>
                </a:highlight>
                <a:latin typeface="Open Sans" panose="020B0606030504020204" pitchFamily="34" charset="0"/>
              </a:rPr>
              <a:t>Information assets are not all at the same level, they are not just a flat list. They are of different importance and have dependencies between them. Information assets have dependencies between them. The loss of one asset can damage the value of another information asset. For example; flooding a server room will damage servers and therefore the data stored on it.</a:t>
            </a:r>
          </a:p>
          <a:p>
            <a:endParaRPr lang="en-TZ" sz="3200" dirty="0"/>
          </a:p>
        </p:txBody>
      </p:sp>
    </p:spTree>
    <p:extLst>
      <p:ext uri="{BB962C8B-B14F-4D97-AF65-F5344CB8AC3E}">
        <p14:creationId xmlns:p14="http://schemas.microsoft.com/office/powerpoint/2010/main" val="423092624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1D45B5-F809-4C72-7273-57F2E3549533}"/>
              </a:ext>
            </a:extLst>
          </p:cNvPr>
          <p:cNvSpPr>
            <a:spLocks noGrp="1"/>
          </p:cNvSpPr>
          <p:nvPr>
            <p:ph idx="1"/>
          </p:nvPr>
        </p:nvSpPr>
        <p:spPr>
          <a:xfrm>
            <a:off x="838200" y="479685"/>
            <a:ext cx="10515600" cy="5697278"/>
          </a:xfrm>
        </p:spPr>
        <p:txBody>
          <a:bodyPr>
            <a:normAutofit/>
          </a:bodyPr>
          <a:lstStyle/>
          <a:p>
            <a:pPr algn="l"/>
            <a:r>
              <a:rPr lang="en-US" sz="4000" b="1" i="0" dirty="0">
                <a:effectLst/>
                <a:highlight>
                  <a:srgbClr val="FFFFFF"/>
                </a:highlight>
                <a:latin typeface="Times New Roman" panose="02020603050405020304" pitchFamily="18" charset="0"/>
                <a:cs typeface="Times New Roman" panose="02020603050405020304" pitchFamily="18" charset="0"/>
              </a:rPr>
              <a:t>Primary information assets</a:t>
            </a:r>
            <a:r>
              <a:rPr lang="en-US" sz="4000" b="0" i="0" dirty="0">
                <a:effectLst/>
                <a:highlight>
                  <a:srgbClr val="FFFFFF"/>
                </a:highlight>
                <a:latin typeface="Times New Roman" panose="02020603050405020304" pitchFamily="18" charset="0"/>
                <a:cs typeface="Times New Roman" panose="02020603050405020304" pitchFamily="18" charset="0"/>
              </a:rPr>
              <a:t>: what you must protect and secure</a:t>
            </a:r>
          </a:p>
          <a:p>
            <a:pPr algn="l">
              <a:buFont typeface="Arial" panose="020B0604020202020204" pitchFamily="34" charset="0"/>
              <a:buChar char="•"/>
            </a:pPr>
            <a:r>
              <a:rPr lang="en-US" sz="4000" b="0" i="0" u="sng" dirty="0">
                <a:effectLst/>
                <a:highlight>
                  <a:srgbClr val="FFFFFF"/>
                </a:highligh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Primary information assets</a:t>
            </a:r>
            <a:r>
              <a:rPr lang="en-US" sz="4000" b="0" i="0" dirty="0">
                <a:effectLst/>
                <a:highlight>
                  <a:srgbClr val="FFFFFF"/>
                </a:highlight>
                <a:latin typeface="Times New Roman" panose="02020603050405020304" pitchFamily="18" charset="0"/>
                <a:cs typeface="Times New Roman" panose="02020603050405020304" pitchFamily="18" charset="0"/>
              </a:rPr>
              <a:t> are data, situated at the top of the pyramid</a:t>
            </a:r>
          </a:p>
          <a:p>
            <a:pPr algn="l">
              <a:buFont typeface="Arial" panose="020B0604020202020204" pitchFamily="34" charset="0"/>
              <a:buChar char="•"/>
            </a:pPr>
            <a:r>
              <a:rPr lang="en-US" sz="4000" b="0" i="0" dirty="0">
                <a:effectLst/>
                <a:highlight>
                  <a:srgbClr val="FFFFFF"/>
                </a:highlight>
                <a:latin typeface="Times New Roman" panose="02020603050405020304" pitchFamily="18" charset="0"/>
                <a:cs typeface="Times New Roman" panose="02020603050405020304" pitchFamily="18" charset="0"/>
              </a:rPr>
              <a:t>Information and data: A collection of data or information that has value, is organized and managed and enables the organization to operate business processes and decision making</a:t>
            </a:r>
          </a:p>
          <a:p>
            <a:endParaRPr lang="en-TZ"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379466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603289-778E-1AF1-E7ED-6F29BD6698BA}"/>
              </a:ext>
            </a:extLst>
          </p:cNvPr>
          <p:cNvSpPr>
            <a:spLocks noGrp="1"/>
          </p:cNvSpPr>
          <p:nvPr>
            <p:ph idx="1"/>
          </p:nvPr>
        </p:nvSpPr>
        <p:spPr>
          <a:xfrm>
            <a:off x="838200" y="464695"/>
            <a:ext cx="10515600" cy="5712268"/>
          </a:xfrm>
        </p:spPr>
        <p:txBody>
          <a:bodyPr>
            <a:noAutofit/>
          </a:bodyPr>
          <a:lstStyle/>
          <a:p>
            <a:pPr algn="l"/>
            <a:r>
              <a:rPr lang="en-US" sz="3600" b="0" i="0" dirty="0">
                <a:effectLst/>
                <a:highlight>
                  <a:srgbClr val="FFFFFF"/>
                </a:highlight>
                <a:latin typeface="Times New Roman" panose="02020603050405020304" pitchFamily="18" charset="0"/>
                <a:cs typeface="Times New Roman" panose="02020603050405020304" pitchFamily="18" charset="0"/>
              </a:rPr>
              <a:t>Supporting, secondary information assets: what must work and you must protect and secure</a:t>
            </a:r>
          </a:p>
          <a:p>
            <a:pPr algn="l">
              <a:buFont typeface="Arial" panose="020B0604020202020204" pitchFamily="34" charset="0"/>
              <a:buChar char="•"/>
            </a:pPr>
            <a:r>
              <a:rPr lang="en-US" sz="3600" b="0" i="0" u="sng" dirty="0">
                <a:effectLst/>
                <a:highlight>
                  <a:srgbClr val="FFFFFF"/>
                </a:highligh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Secondary, supporting information assets</a:t>
            </a:r>
            <a:r>
              <a:rPr lang="en-US" sz="3600" b="0" i="0" dirty="0">
                <a:effectLst/>
                <a:highlight>
                  <a:srgbClr val="FFFFFF"/>
                </a:highlight>
                <a:latin typeface="Times New Roman" panose="02020603050405020304" pitchFamily="18" charset="0"/>
                <a:cs typeface="Times New Roman" panose="02020603050405020304" pitchFamily="18" charset="0"/>
              </a:rPr>
              <a:t> are those that must work in order to have data and </a:t>
            </a:r>
            <a:r>
              <a:rPr lang="en-US" sz="3600" b="0" i="0">
                <a:effectLst/>
                <a:highlight>
                  <a:srgbClr val="FFFFFF"/>
                </a:highlight>
                <a:latin typeface="Times New Roman" panose="02020603050405020304" pitchFamily="18" charset="0"/>
                <a:cs typeface="Times New Roman" panose="02020603050405020304" pitchFamily="18" charset="0"/>
              </a:rPr>
              <a:t>information available </a:t>
            </a:r>
          </a:p>
          <a:p>
            <a:pPr algn="l">
              <a:buFont typeface="Arial" panose="020B0604020202020204" pitchFamily="34" charset="0"/>
              <a:buChar char="•"/>
            </a:pPr>
            <a:r>
              <a:rPr lang="en-US" sz="3600" b="0" i="0">
                <a:effectLst/>
                <a:highlight>
                  <a:srgbClr val="FFFFFF"/>
                </a:highlight>
                <a:latin typeface="Times New Roman" panose="02020603050405020304" pitchFamily="18" charset="0"/>
                <a:cs typeface="Times New Roman" panose="02020603050405020304" pitchFamily="18" charset="0"/>
              </a:rPr>
              <a:t>are </a:t>
            </a:r>
            <a:r>
              <a:rPr lang="en-US" sz="3600" b="0" i="0" dirty="0">
                <a:effectLst/>
                <a:highlight>
                  <a:srgbClr val="FFFFFF"/>
                </a:highlight>
                <a:latin typeface="Times New Roman" panose="02020603050405020304" pitchFamily="18" charset="0"/>
                <a:cs typeface="Times New Roman" panose="02020603050405020304" pitchFamily="18" charset="0"/>
              </a:rPr>
              <a:t>everything that enables and supports the provision of data, i.e. software, hardware, physical infrastructure, purchased services, and people</a:t>
            </a:r>
          </a:p>
          <a:p>
            <a:pPr algn="l">
              <a:buFont typeface="Arial" panose="020B0604020202020204" pitchFamily="34" charset="0"/>
              <a:buChar char="•"/>
            </a:pPr>
            <a:r>
              <a:rPr lang="en-US" sz="3600" b="0" i="0" dirty="0">
                <a:effectLst/>
                <a:highlight>
                  <a:srgbClr val="FFFFFF"/>
                </a:highlight>
                <a:latin typeface="Times New Roman" panose="02020603050405020304" pitchFamily="18" charset="0"/>
                <a:cs typeface="Times New Roman" panose="02020603050405020304" pitchFamily="18" charset="0"/>
              </a:rPr>
              <a:t>Software: software or applications where data is stored or processed </a:t>
            </a:r>
          </a:p>
          <a:p>
            <a:endParaRPr lang="en-TZ"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9880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CD0DA6-6C58-F442-5B46-37E4ADAF0D67}"/>
              </a:ext>
            </a:extLst>
          </p:cNvPr>
          <p:cNvSpPr>
            <a:spLocks noGrp="1"/>
          </p:cNvSpPr>
          <p:nvPr>
            <p:ph idx="1"/>
          </p:nvPr>
        </p:nvSpPr>
        <p:spPr>
          <a:xfrm>
            <a:off x="838200" y="479685"/>
            <a:ext cx="10515600" cy="5697278"/>
          </a:xfrm>
        </p:spPr>
        <p:txBody>
          <a:bodyPr>
            <a:noAutofit/>
          </a:bodyPr>
          <a:lstStyle/>
          <a:p>
            <a:pPr algn="l">
              <a:buFont typeface="Arial" panose="020B0604020202020204" pitchFamily="34" charset="0"/>
              <a:buChar char="•"/>
            </a:pPr>
            <a:r>
              <a:rPr lang="en-US" sz="4000" b="0" i="0" dirty="0">
                <a:effectLst/>
                <a:highlight>
                  <a:srgbClr val="FFFFFF"/>
                </a:highlight>
                <a:latin typeface="Open Sans" panose="020B0606030504020204" pitchFamily="34" charset="0"/>
              </a:rPr>
              <a:t>Hardware: Any other IT or other equipment</a:t>
            </a:r>
          </a:p>
          <a:p>
            <a:pPr algn="l">
              <a:buFont typeface="Arial" panose="020B0604020202020204" pitchFamily="34" charset="0"/>
              <a:buChar char="•"/>
            </a:pPr>
            <a:r>
              <a:rPr lang="en-US" sz="4000" b="0" i="0" dirty="0">
                <a:effectLst/>
                <a:highlight>
                  <a:srgbClr val="FFFFFF"/>
                </a:highlight>
                <a:latin typeface="Open Sans" panose="020B0606030504020204" pitchFamily="34" charset="0"/>
              </a:rPr>
              <a:t>Services: IT services, internal or external, for example cloud data storage</a:t>
            </a:r>
          </a:p>
          <a:p>
            <a:pPr algn="l">
              <a:buFont typeface="Arial" panose="020B0604020202020204" pitchFamily="34" charset="0"/>
              <a:buChar char="•"/>
            </a:pPr>
            <a:r>
              <a:rPr lang="en-US" sz="4000" b="0" i="0" dirty="0">
                <a:effectLst/>
                <a:highlight>
                  <a:srgbClr val="FFFFFF"/>
                </a:highlight>
                <a:latin typeface="Open Sans" panose="020B0606030504020204" pitchFamily="34" charset="0"/>
              </a:rPr>
              <a:t>People: as carriers of knowledge and information, also as a source of risk or failure </a:t>
            </a:r>
          </a:p>
          <a:p>
            <a:pPr algn="l">
              <a:buFont typeface="Arial" panose="020B0604020202020204" pitchFamily="34" charset="0"/>
              <a:buChar char="•"/>
            </a:pPr>
            <a:r>
              <a:rPr lang="en-US" sz="4000" b="0" i="0" dirty="0">
                <a:effectLst/>
                <a:highlight>
                  <a:srgbClr val="FFFFFF"/>
                </a:highlight>
                <a:latin typeface="Open Sans" panose="020B0606030504020204" pitchFamily="34" charset="0"/>
              </a:rPr>
              <a:t>Physical infrastructure: Any physical equipment, location on which other assets depend, such as a server room</a:t>
            </a:r>
          </a:p>
          <a:p>
            <a:endParaRPr lang="en-TZ" sz="4000" dirty="0"/>
          </a:p>
        </p:txBody>
      </p:sp>
    </p:spTree>
    <p:extLst>
      <p:ext uri="{BB962C8B-B14F-4D97-AF65-F5344CB8AC3E}">
        <p14:creationId xmlns:p14="http://schemas.microsoft.com/office/powerpoint/2010/main" val="100658170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038263-5887-1600-C673-D06F2301B257}"/>
              </a:ext>
            </a:extLst>
          </p:cNvPr>
          <p:cNvSpPr>
            <a:spLocks noGrp="1"/>
          </p:cNvSpPr>
          <p:nvPr>
            <p:ph idx="1"/>
          </p:nvPr>
        </p:nvSpPr>
        <p:spPr>
          <a:xfrm>
            <a:off x="838200" y="554636"/>
            <a:ext cx="10515600" cy="5622327"/>
          </a:xfrm>
        </p:spPr>
        <p:txBody>
          <a:bodyPr>
            <a:normAutofit fontScale="85000" lnSpcReduction="20000"/>
          </a:bodyPr>
          <a:lstStyle/>
          <a:p>
            <a:pPr algn="l"/>
            <a:r>
              <a:rPr lang="en-US" b="1" i="0" dirty="0">
                <a:effectLst/>
                <a:highlight>
                  <a:srgbClr val="FFFFFF"/>
                </a:highlight>
                <a:latin typeface="Nunito" pitchFamily="2" charset="0"/>
              </a:rPr>
              <a:t>Examples of information assets</a:t>
            </a:r>
          </a:p>
          <a:p>
            <a:pPr algn="l">
              <a:buFont typeface="Arial" panose="020B0604020202020204" pitchFamily="34" charset="0"/>
              <a:buChar char="•"/>
            </a:pPr>
            <a:r>
              <a:rPr lang="en-US" b="0" i="0" dirty="0">
                <a:effectLst/>
                <a:highlight>
                  <a:srgbClr val="FFFFFF"/>
                </a:highlight>
                <a:latin typeface="Open Sans" panose="020B0606030504020204" pitchFamily="34" charset="0"/>
              </a:rPr>
              <a:t>Personal customer data</a:t>
            </a:r>
          </a:p>
          <a:p>
            <a:pPr algn="l">
              <a:buFont typeface="Arial" panose="020B0604020202020204" pitchFamily="34" charset="0"/>
              <a:buChar char="•"/>
            </a:pPr>
            <a:r>
              <a:rPr lang="en-US" b="0" i="0" dirty="0">
                <a:effectLst/>
                <a:highlight>
                  <a:srgbClr val="FFFFFF"/>
                </a:highlight>
                <a:latin typeface="Open Sans" panose="020B0606030504020204" pitchFamily="34" charset="0"/>
              </a:rPr>
              <a:t>Login data</a:t>
            </a:r>
          </a:p>
          <a:p>
            <a:pPr algn="l">
              <a:buFont typeface="Arial" panose="020B0604020202020204" pitchFamily="34" charset="0"/>
              <a:buChar char="•"/>
            </a:pPr>
            <a:r>
              <a:rPr lang="en-US" b="0" i="0" dirty="0">
                <a:effectLst/>
                <a:highlight>
                  <a:srgbClr val="FFFFFF"/>
                </a:highlight>
                <a:latin typeface="Open Sans" panose="020B0606030504020204" pitchFamily="34" charset="0"/>
              </a:rPr>
              <a:t>Backup of data</a:t>
            </a:r>
          </a:p>
          <a:p>
            <a:pPr algn="l">
              <a:buFont typeface="Arial" panose="020B0604020202020204" pitchFamily="34" charset="0"/>
              <a:buChar char="•"/>
            </a:pPr>
            <a:r>
              <a:rPr lang="en-US" b="0" i="0" dirty="0">
                <a:effectLst/>
                <a:highlight>
                  <a:srgbClr val="FFFFFF"/>
                </a:highlight>
                <a:latin typeface="Open Sans" panose="020B0606030504020204" pitchFamily="34" charset="0"/>
              </a:rPr>
              <a:t>Business plans</a:t>
            </a:r>
          </a:p>
          <a:p>
            <a:pPr algn="l">
              <a:buFont typeface="Arial" panose="020B0604020202020204" pitchFamily="34" charset="0"/>
              <a:buChar char="•"/>
            </a:pPr>
            <a:r>
              <a:rPr lang="en-US" b="0" i="0" dirty="0">
                <a:effectLst/>
                <a:highlight>
                  <a:srgbClr val="FFFFFF"/>
                </a:highlight>
                <a:latin typeface="Open Sans" panose="020B0606030504020204" pitchFamily="34" charset="0"/>
              </a:rPr>
              <a:t>Payroll processing applications</a:t>
            </a:r>
          </a:p>
          <a:p>
            <a:pPr algn="l">
              <a:buFont typeface="Arial" panose="020B0604020202020204" pitchFamily="34" charset="0"/>
              <a:buChar char="•"/>
            </a:pPr>
            <a:r>
              <a:rPr lang="en-US" b="0" i="0" dirty="0">
                <a:effectLst/>
                <a:highlight>
                  <a:srgbClr val="FFFFFF"/>
                </a:highlight>
                <a:latin typeface="Open Sans" panose="020B0606030504020204" pitchFamily="34" charset="0"/>
              </a:rPr>
              <a:t>Server running enterprise software</a:t>
            </a:r>
          </a:p>
          <a:p>
            <a:pPr algn="l">
              <a:buFont typeface="Arial" panose="020B0604020202020204" pitchFamily="34" charset="0"/>
              <a:buChar char="•"/>
            </a:pPr>
            <a:r>
              <a:rPr lang="en-US" b="0" i="0" dirty="0">
                <a:effectLst/>
                <a:highlight>
                  <a:srgbClr val="FFFFFF"/>
                </a:highlight>
                <a:latin typeface="Open Sans" panose="020B0606030504020204" pitchFamily="34" charset="0"/>
              </a:rPr>
              <a:t>Employee's laptop</a:t>
            </a:r>
          </a:p>
          <a:p>
            <a:pPr algn="l">
              <a:buFont typeface="Arial" panose="020B0604020202020204" pitchFamily="34" charset="0"/>
              <a:buChar char="•"/>
            </a:pPr>
            <a:r>
              <a:rPr lang="en-US" b="0" i="0" dirty="0">
                <a:effectLst/>
                <a:highlight>
                  <a:srgbClr val="FFFFFF"/>
                </a:highlight>
                <a:latin typeface="Open Sans" panose="020B0606030504020204" pitchFamily="34" charset="0"/>
              </a:rPr>
              <a:t>Employee's mobile phone</a:t>
            </a:r>
          </a:p>
          <a:p>
            <a:pPr algn="l">
              <a:buFont typeface="Arial" panose="020B0604020202020204" pitchFamily="34" charset="0"/>
              <a:buChar char="•"/>
            </a:pPr>
            <a:r>
              <a:rPr lang="en-US" b="0" i="0" dirty="0">
                <a:effectLst/>
                <a:highlight>
                  <a:srgbClr val="FFFFFF"/>
                </a:highlight>
                <a:latin typeface="Open Sans" panose="020B0606030504020204" pitchFamily="34" charset="0"/>
              </a:rPr>
              <a:t>Any hardware (printers, network elements, etc.)</a:t>
            </a:r>
          </a:p>
          <a:p>
            <a:pPr algn="l">
              <a:buFont typeface="Arial" panose="020B0604020202020204" pitchFamily="34" charset="0"/>
              <a:buChar char="•"/>
            </a:pPr>
            <a:r>
              <a:rPr lang="en-US" b="0" i="0" dirty="0">
                <a:effectLst/>
                <a:highlight>
                  <a:srgbClr val="FFFFFF"/>
                </a:highlight>
                <a:latin typeface="Open Sans" panose="020B0606030504020204" pitchFamily="34" charset="0"/>
              </a:rPr>
              <a:t>Services (cloud services, electricity supply, air-conditioning etc.)</a:t>
            </a:r>
          </a:p>
          <a:p>
            <a:pPr algn="l">
              <a:buFont typeface="Arial" panose="020B0604020202020204" pitchFamily="34" charset="0"/>
              <a:buChar char="•"/>
            </a:pPr>
            <a:r>
              <a:rPr lang="en-US" b="0" i="0" dirty="0">
                <a:effectLst/>
                <a:highlight>
                  <a:srgbClr val="FFFFFF"/>
                </a:highlight>
                <a:latin typeface="Open Sans" panose="020B0606030504020204" pitchFamily="34" charset="0"/>
              </a:rPr>
              <a:t>Cloud storage</a:t>
            </a:r>
          </a:p>
          <a:p>
            <a:pPr algn="l">
              <a:buFont typeface="Arial" panose="020B0604020202020204" pitchFamily="34" charset="0"/>
              <a:buChar char="•"/>
            </a:pPr>
            <a:r>
              <a:rPr lang="en-US" b="0" i="0" dirty="0">
                <a:effectLst/>
                <a:highlight>
                  <a:srgbClr val="FFFFFF"/>
                </a:highlight>
                <a:latin typeface="Open Sans" panose="020B0606030504020204" pitchFamily="34" charset="0"/>
              </a:rPr>
              <a:t>VPN's</a:t>
            </a:r>
          </a:p>
          <a:p>
            <a:pPr algn="l">
              <a:buFont typeface="Arial" panose="020B0604020202020204" pitchFamily="34" charset="0"/>
              <a:buChar char="•"/>
            </a:pPr>
            <a:r>
              <a:rPr lang="en-US" b="0" i="0" dirty="0">
                <a:effectLst/>
                <a:highlight>
                  <a:srgbClr val="FFFFFF"/>
                </a:highlight>
                <a:latin typeface="Open Sans" panose="020B0606030504020204" pitchFamily="34" charset="0"/>
              </a:rPr>
              <a:t>Access management processes</a:t>
            </a:r>
          </a:p>
          <a:p>
            <a:endParaRPr lang="en-TZ" dirty="0"/>
          </a:p>
        </p:txBody>
      </p:sp>
    </p:spTree>
    <p:extLst>
      <p:ext uri="{BB962C8B-B14F-4D97-AF65-F5344CB8AC3E}">
        <p14:creationId xmlns:p14="http://schemas.microsoft.com/office/powerpoint/2010/main" val="389409582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A244B7-98E8-3B17-F65E-0D37BE758C0D}"/>
              </a:ext>
            </a:extLst>
          </p:cNvPr>
          <p:cNvSpPr>
            <a:spLocks noGrp="1"/>
          </p:cNvSpPr>
          <p:nvPr>
            <p:ph idx="1"/>
          </p:nvPr>
        </p:nvSpPr>
        <p:spPr>
          <a:xfrm>
            <a:off x="838200" y="614597"/>
            <a:ext cx="10515600" cy="5562366"/>
          </a:xfrm>
        </p:spPr>
        <p:txBody>
          <a:bodyPr>
            <a:normAutofit/>
          </a:bodyPr>
          <a:lstStyle/>
          <a:p>
            <a:pPr algn="l"/>
            <a:r>
              <a:rPr lang="en-US" sz="4000" b="1" i="0" dirty="0">
                <a:solidFill>
                  <a:srgbClr val="280A66"/>
                </a:solidFill>
                <a:effectLst/>
                <a:highlight>
                  <a:srgbClr val="FFFFFF"/>
                </a:highlight>
                <a:latin typeface="Times New Roman" panose="02020603050405020304" pitchFamily="18" charset="0"/>
                <a:cs typeface="Times New Roman" panose="02020603050405020304" pitchFamily="18" charset="0"/>
              </a:rPr>
              <a:t>How to keep an information asset inventory</a:t>
            </a:r>
          </a:p>
          <a:p>
            <a:pPr algn="l"/>
            <a:r>
              <a:rPr lang="en-US" sz="4000" b="0" i="0" dirty="0">
                <a:solidFill>
                  <a:srgbClr val="575656"/>
                </a:solidFill>
                <a:effectLst/>
                <a:highlight>
                  <a:srgbClr val="FFFFFF"/>
                </a:highlight>
                <a:latin typeface="Times New Roman" panose="02020603050405020304" pitchFamily="18" charset="0"/>
                <a:cs typeface="Times New Roman" panose="02020603050405020304" pitchFamily="18" charset="0"/>
              </a:rPr>
              <a:t>Creating the asset inventory is one of the first actions for information security management. The inventory is the essential foundation for other information security data. The information asset inventory should be validated regularly by the management and the asset owners. </a:t>
            </a:r>
          </a:p>
          <a:p>
            <a:endParaRPr lang="en-TZ"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219747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0C44CB-63F6-F982-4B1D-A4FE7AA4885E}"/>
              </a:ext>
            </a:extLst>
          </p:cNvPr>
          <p:cNvSpPr>
            <a:spLocks noGrp="1"/>
          </p:cNvSpPr>
          <p:nvPr>
            <p:ph idx="1"/>
          </p:nvPr>
        </p:nvSpPr>
        <p:spPr>
          <a:xfrm>
            <a:off x="374753" y="389744"/>
            <a:ext cx="11377535" cy="6100997"/>
          </a:xfrm>
        </p:spPr>
        <p:txBody>
          <a:bodyPr>
            <a:normAutofit/>
          </a:bodyPr>
          <a:lstStyle/>
          <a:p>
            <a:pPr algn="l">
              <a:buFont typeface="Arial" panose="020B0604020202020204" pitchFamily="34" charset="0"/>
              <a:buChar char="•"/>
            </a:pPr>
            <a:r>
              <a:rPr lang="en-US" sz="3200" b="0" i="0" dirty="0">
                <a:effectLst/>
                <a:highlight>
                  <a:srgbClr val="FFFFFF"/>
                </a:highlight>
                <a:latin typeface="Open Sans" panose="020B0606030504020204" pitchFamily="34" charset="0"/>
              </a:rPr>
              <a:t>for keeping an information asset inventory, use </a:t>
            </a:r>
            <a:r>
              <a:rPr lang="en-US" sz="3200" b="0" i="0" u="sng" dirty="0">
                <a:effectLst/>
                <a:highlight>
                  <a:srgbClr val="FFFFFF"/>
                </a:highlight>
                <a:latin typeface="Open Sans" panose="020B0606030504020204" pitchFamily="34" charset="0"/>
                <a:hlinkClick r:id="rId2">
                  <a:extLst>
                    <a:ext uri="{A12FA001-AC4F-418D-AE19-62706E023703}">
                      <ahyp:hlinkClr xmlns:ahyp="http://schemas.microsoft.com/office/drawing/2018/hyperlinkcolor" val="tx"/>
                    </a:ext>
                  </a:extLst>
                </a:hlinkClick>
              </a:rPr>
              <a:t>Information asset organizers for primary</a:t>
            </a:r>
            <a:r>
              <a:rPr lang="en-US" sz="3200" b="0" i="0" dirty="0">
                <a:effectLst/>
                <a:highlight>
                  <a:srgbClr val="FFFFFF"/>
                </a:highlight>
                <a:latin typeface="Open Sans" panose="020B0606030504020204" pitchFamily="34" charset="0"/>
              </a:rPr>
              <a:t> and supporting assets </a:t>
            </a:r>
          </a:p>
          <a:p>
            <a:pPr algn="l">
              <a:buFont typeface="Arial" panose="020B0604020202020204" pitchFamily="34" charset="0"/>
              <a:buChar char="•"/>
            </a:pPr>
            <a:r>
              <a:rPr lang="en-US" sz="3200" b="0" i="0" dirty="0">
                <a:effectLst/>
                <a:highlight>
                  <a:srgbClr val="FFFFFF"/>
                </a:highlight>
                <a:latin typeface="Open Sans" panose="020B0606030504020204" pitchFamily="34" charset="0"/>
              </a:rPr>
              <a:t>maintain an overview of information assets, divided according to the above methodology or according to your own methodology</a:t>
            </a:r>
          </a:p>
          <a:p>
            <a:pPr algn="l">
              <a:buFont typeface="Arial" panose="020B0604020202020204" pitchFamily="34" charset="0"/>
              <a:buChar char="•"/>
            </a:pPr>
            <a:r>
              <a:rPr lang="en-US" sz="3200" b="0" i="0" dirty="0">
                <a:effectLst/>
                <a:highlight>
                  <a:srgbClr val="FFFFFF"/>
                </a:highlight>
                <a:latin typeface="Open Sans" panose="020B0606030504020204" pitchFamily="34" charset="0"/>
              </a:rPr>
              <a:t>for each asset, you keep key information such as type, confidentiality, etc.</a:t>
            </a:r>
          </a:p>
          <a:p>
            <a:pPr algn="l">
              <a:buFont typeface="Arial" panose="020B0604020202020204" pitchFamily="34" charset="0"/>
              <a:buChar char="•"/>
            </a:pPr>
            <a:r>
              <a:rPr lang="en-US" sz="3200" b="0" i="0" dirty="0">
                <a:effectLst/>
                <a:highlight>
                  <a:srgbClr val="FFFFFF"/>
                </a:highlight>
                <a:latin typeface="Open Sans" panose="020B0606030504020204" pitchFamily="34" charset="0"/>
              </a:rPr>
              <a:t>you can link each individual asset to others to keep them related</a:t>
            </a:r>
          </a:p>
          <a:p>
            <a:pPr algn="l">
              <a:buFont typeface="Arial" panose="020B0604020202020204" pitchFamily="34" charset="0"/>
              <a:buChar char="•"/>
            </a:pPr>
            <a:r>
              <a:rPr lang="en-US" sz="3200" b="0" i="0" dirty="0">
                <a:effectLst/>
                <a:highlight>
                  <a:srgbClr val="FFFFFF"/>
                </a:highlight>
                <a:latin typeface="Open Sans" panose="020B0606030504020204" pitchFamily="34" charset="0"/>
              </a:rPr>
              <a:t>the inventory should be updated when additional assets are uncovered.</a:t>
            </a:r>
          </a:p>
          <a:p>
            <a:endParaRPr lang="en-TZ" sz="3200" dirty="0"/>
          </a:p>
        </p:txBody>
      </p:sp>
    </p:spTree>
    <p:extLst>
      <p:ext uri="{BB962C8B-B14F-4D97-AF65-F5344CB8AC3E}">
        <p14:creationId xmlns:p14="http://schemas.microsoft.com/office/powerpoint/2010/main" val="83087439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6F2D99-A5E5-8CC6-D8FA-209EEB9D10CB}"/>
              </a:ext>
            </a:extLst>
          </p:cNvPr>
          <p:cNvSpPr>
            <a:spLocks noGrp="1"/>
          </p:cNvSpPr>
          <p:nvPr>
            <p:ph idx="1"/>
          </p:nvPr>
        </p:nvSpPr>
        <p:spPr>
          <a:xfrm>
            <a:off x="344773" y="314792"/>
            <a:ext cx="11437495" cy="6115987"/>
          </a:xfrm>
        </p:spPr>
        <p:txBody>
          <a:bodyPr>
            <a:normAutofit/>
          </a:bodyPr>
          <a:lstStyle/>
          <a:p>
            <a:pPr algn="l"/>
            <a:r>
              <a:rPr lang="en-US" b="1" i="0" dirty="0">
                <a:effectLst/>
                <a:highlight>
                  <a:srgbClr val="FFFFFF"/>
                </a:highlight>
                <a:latin typeface="Nunito" pitchFamily="2" charset="0"/>
              </a:rPr>
              <a:t>Maintaining information asset inventory</a:t>
            </a:r>
          </a:p>
          <a:p>
            <a:pPr algn="l">
              <a:buFont typeface="Arial" panose="020B0604020202020204" pitchFamily="34" charset="0"/>
              <a:buChar char="•"/>
            </a:pPr>
            <a:r>
              <a:rPr lang="en-US" b="0" i="0" dirty="0">
                <a:effectLst/>
                <a:highlight>
                  <a:srgbClr val="FFFFFF"/>
                </a:highlight>
                <a:latin typeface="Open Sans" panose="020B0606030504020204" pitchFamily="34" charset="0"/>
              </a:rPr>
              <a:t>Information asset register should be continuously updated by the information security team based on new assets, risks, workshops, incidents and inquiries from other employees</a:t>
            </a:r>
          </a:p>
          <a:p>
            <a:pPr algn="l">
              <a:buFont typeface="Arial" panose="020B0604020202020204" pitchFamily="34" charset="0"/>
              <a:buChar char="•"/>
            </a:pPr>
            <a:r>
              <a:rPr lang="en-US" b="0" i="0" dirty="0">
                <a:effectLst/>
                <a:highlight>
                  <a:srgbClr val="FFFFFF"/>
                </a:highlight>
                <a:latin typeface="Open Sans" panose="020B0606030504020204" pitchFamily="34" charset="0"/>
              </a:rPr>
              <a:t>It should be validated regularly by management and asset owners, every six months or once a year.</a:t>
            </a:r>
          </a:p>
          <a:p>
            <a:pPr algn="l">
              <a:buFont typeface="Arial" panose="020B0604020202020204" pitchFamily="34" charset="0"/>
              <a:buChar char="•"/>
            </a:pPr>
            <a:r>
              <a:rPr lang="en-US" b="0" i="0" dirty="0">
                <a:effectLst/>
                <a:highlight>
                  <a:srgbClr val="FFFFFF"/>
                </a:highlight>
                <a:latin typeface="Open Sans" panose="020B0606030504020204" pitchFamily="34" charset="0"/>
              </a:rPr>
              <a:t>We recommend planning regular meetings on the topic of information security, where one of the items on the agenda is a review of the list of your information assets</a:t>
            </a:r>
          </a:p>
          <a:p>
            <a:pPr algn="l">
              <a:buFont typeface="Arial" panose="020B0604020202020204" pitchFamily="34" charset="0"/>
              <a:buChar char="•"/>
            </a:pPr>
            <a:r>
              <a:rPr lang="en-US" b="0" i="0" dirty="0">
                <a:effectLst/>
                <a:highlight>
                  <a:srgbClr val="FFFFFF"/>
                </a:highlight>
                <a:latin typeface="Open Sans" panose="020B0606030504020204" pitchFamily="34" charset="0"/>
              </a:rPr>
              <a:t>Top management should check that all information assets they know and care about are present</a:t>
            </a:r>
          </a:p>
          <a:p>
            <a:pPr algn="l">
              <a:buFont typeface="Arial" panose="020B0604020202020204" pitchFamily="34" charset="0"/>
              <a:buChar char="•"/>
            </a:pPr>
            <a:r>
              <a:rPr lang="en-US" b="0" i="0" dirty="0">
                <a:effectLst/>
                <a:highlight>
                  <a:srgbClr val="FFFFFF"/>
                </a:highlight>
                <a:latin typeface="Open Sans" panose="020B0606030504020204" pitchFamily="34" charset="0"/>
              </a:rPr>
              <a:t>Information assets owners should verify that they recognize and understand all assets assigned to them and are willing to take responsibility</a:t>
            </a:r>
          </a:p>
          <a:p>
            <a:endParaRPr lang="en-TZ" dirty="0"/>
          </a:p>
        </p:txBody>
      </p:sp>
    </p:spTree>
    <p:extLst>
      <p:ext uri="{BB962C8B-B14F-4D97-AF65-F5344CB8AC3E}">
        <p14:creationId xmlns:p14="http://schemas.microsoft.com/office/powerpoint/2010/main" val="2849232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1735</TotalTime>
  <Words>6917</Words>
  <Application>Microsoft Office PowerPoint</Application>
  <PresentationFormat>Widescreen</PresentationFormat>
  <Paragraphs>382</Paragraphs>
  <Slides>86</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86</vt:i4>
      </vt:variant>
    </vt:vector>
  </HeadingPairs>
  <TitlesOfParts>
    <vt:vector size="99" baseType="lpstr">
      <vt:lpstr>-apple-system</vt:lpstr>
      <vt:lpstr>Aptos</vt:lpstr>
      <vt:lpstr>Aptos Display</vt:lpstr>
      <vt:lpstr>Arial</vt:lpstr>
      <vt:lpstr>Arial</vt:lpstr>
      <vt:lpstr>Basel Grotesk light</vt:lpstr>
      <vt:lpstr>inherit</vt:lpstr>
      <vt:lpstr>Linux Libertine</vt:lpstr>
      <vt:lpstr>Nunito</vt:lpstr>
      <vt:lpstr>Nunito Sans</vt:lpstr>
      <vt:lpstr>Open Sans</vt:lpstr>
      <vt:lpstr>Times New Roman</vt:lpstr>
      <vt:lpstr>Office Theme</vt:lpstr>
      <vt:lpstr>INF 3201: Information Systems Audit and Control</vt:lpstr>
      <vt:lpstr>Information security policies, standards and procedures and generally accepted practices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Logical access controls for the identification, authentication and restriction of users to authorize functions and data</vt:lpstr>
      <vt:lpstr>PowerPoint Presentation</vt:lpstr>
      <vt:lpstr>PowerPoint Presentation</vt:lpstr>
      <vt:lpstr>Risk and controls associated with virtual systems</vt:lpstr>
      <vt:lpstr>PowerPoint Presentation</vt:lpstr>
      <vt:lpstr>Network and Internet security devices, protocols, techniques</vt:lpstr>
      <vt:lpstr>PowerPoint Presentation</vt:lpstr>
      <vt:lpstr>PowerPoint Presentation</vt:lpstr>
      <vt:lpstr>PowerPoint Presentation</vt:lpstr>
      <vt:lpstr>PowerPoint Presentation</vt:lpstr>
      <vt:lpstr>PowerPoint Presentation</vt:lpstr>
      <vt:lpstr>Detection tools and control techniques</vt:lpstr>
      <vt:lpstr>PowerPoint Presentation</vt:lpstr>
      <vt:lpstr>PowerPoint Presentation</vt:lpstr>
      <vt:lpstr>PowerPoint Presentation</vt:lpstr>
      <vt:lpstr>PowerPoint Presentation</vt:lpstr>
      <vt:lpstr>PowerPoint Presentation</vt:lpstr>
      <vt:lpstr>Security testing techniques (intrusion testing, vulnerability scanning)</vt:lpstr>
      <vt:lpstr>PowerPoint Presentation</vt:lpstr>
      <vt:lpstr>PowerPoint Presentation</vt:lpstr>
      <vt:lpstr>Encryption tools and techniques</vt:lpstr>
      <vt:lpstr>PowerPoint Presentation</vt:lpstr>
      <vt:lpstr>PowerPoint Presentation</vt:lpstr>
      <vt:lpstr>PowerPoint Presentation</vt:lpstr>
      <vt:lpstr>PowerPoint Presentation</vt:lpstr>
      <vt:lpstr>PowerPoint Presentation</vt:lpstr>
      <vt:lpstr>Public key infrastructure</vt:lpstr>
      <vt:lpstr>PowerPoint Presentation</vt:lpstr>
      <vt:lpstr>Risk associated with peer-to-peer computing</vt:lpstr>
      <vt:lpstr>PowerPoint Presentation</vt:lpstr>
      <vt:lpstr>Controls and risk associated with the use of mobile and wireless device</vt:lpstr>
      <vt:lpstr>PowerPoint Presentation</vt:lpstr>
      <vt:lpstr>PowerPoint Presentation</vt:lpstr>
      <vt:lpstr>Security Controls</vt:lpstr>
      <vt:lpstr>PowerPoint Presentation</vt:lpstr>
      <vt:lpstr>PowerPoint Presentation</vt:lpstr>
      <vt:lpstr>Data classification processes and procedures</vt:lpstr>
      <vt:lpstr>PowerPoint Presentation</vt:lpstr>
      <vt:lpstr>PowerPoint Presentation</vt:lpstr>
      <vt:lpstr>PowerPoint Presentation</vt:lpstr>
      <vt:lpstr>Physical access and environmental controls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Processes for storing, retrieving, transporting and disposing of information assets.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hussein shaaban</dc:creator>
  <cp:lastModifiedBy>hussein shaaban</cp:lastModifiedBy>
  <cp:revision>2</cp:revision>
  <dcterms:created xsi:type="dcterms:W3CDTF">2024-06-24T18:20:59Z</dcterms:created>
  <dcterms:modified xsi:type="dcterms:W3CDTF">2025-06-16T08:04:19Z</dcterms:modified>
</cp:coreProperties>
</file>