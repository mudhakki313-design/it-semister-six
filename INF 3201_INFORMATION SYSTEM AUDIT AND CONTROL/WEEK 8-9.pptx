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04" r:id="rId56"/>
    <p:sldId id="294" r:id="rId57"/>
    <p:sldId id="295" r:id="rId58"/>
    <p:sldId id="296" r:id="rId59"/>
    <p:sldId id="297" r:id="rId60"/>
    <p:sldId id="298" r:id="rId61"/>
    <p:sldId id="299" r:id="rId62"/>
    <p:sldId id="300" r:id="rId63"/>
    <p:sldId id="301" r:id="rId64"/>
    <p:sldId id="302" r:id="rId65"/>
    <p:sldId id="303" r:id="rId66"/>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71447C-7CBF-4683-8CD8-F7304D075522}" v="3" dt="2024-05-28T13:32:14.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129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ein shaaban" userId="9dfb4fc279e24574" providerId="LiveId" clId="{2B71447C-7CBF-4683-8CD8-F7304D075522}"/>
    <pc:docChg chg="undo custSel addSld modSld">
      <pc:chgData name="hussein shaaban" userId="9dfb4fc279e24574" providerId="LiveId" clId="{2B71447C-7CBF-4683-8CD8-F7304D075522}" dt="2024-06-27T12:43:50.184" v="469" actId="20577"/>
      <pc:docMkLst>
        <pc:docMk/>
      </pc:docMkLst>
      <pc:sldChg chg="modSp mod">
        <pc:chgData name="hussein shaaban" userId="9dfb4fc279e24574" providerId="LiveId" clId="{2B71447C-7CBF-4683-8CD8-F7304D075522}" dt="2024-06-05T05:34:18.608" v="467" actId="6549"/>
        <pc:sldMkLst>
          <pc:docMk/>
          <pc:sldMk cId="1742289191" sldId="258"/>
        </pc:sldMkLst>
        <pc:spChg chg="mod">
          <ac:chgData name="hussein shaaban" userId="9dfb4fc279e24574" providerId="LiveId" clId="{2B71447C-7CBF-4683-8CD8-F7304D075522}" dt="2024-06-05T05:34:18.608" v="467" actId="6549"/>
          <ac:spMkLst>
            <pc:docMk/>
            <pc:sldMk cId="1742289191" sldId="258"/>
            <ac:spMk id="3" creationId="{063DBB98-03D0-4B8B-8388-1ACDCB18F278}"/>
          </ac:spMkLst>
        </pc:spChg>
      </pc:sldChg>
      <pc:sldChg chg="modSp new mod">
        <pc:chgData name="hussein shaaban" userId="9dfb4fc279e24574" providerId="LiveId" clId="{2B71447C-7CBF-4683-8CD8-F7304D075522}" dt="2024-05-28T12:32:19.382" v="9" actId="113"/>
        <pc:sldMkLst>
          <pc:docMk/>
          <pc:sldMk cId="3991149050" sldId="259"/>
        </pc:sldMkLst>
        <pc:spChg chg="mod">
          <ac:chgData name="hussein shaaban" userId="9dfb4fc279e24574" providerId="LiveId" clId="{2B71447C-7CBF-4683-8CD8-F7304D075522}" dt="2024-05-28T12:32:19.382" v="9" actId="113"/>
          <ac:spMkLst>
            <pc:docMk/>
            <pc:sldMk cId="3991149050" sldId="259"/>
            <ac:spMk id="2" creationId="{8A963940-78BE-1474-9676-1AD473343A13}"/>
          </ac:spMkLst>
        </pc:spChg>
        <pc:spChg chg="mod">
          <ac:chgData name="hussein shaaban" userId="9dfb4fc279e24574" providerId="LiveId" clId="{2B71447C-7CBF-4683-8CD8-F7304D075522}" dt="2024-05-28T12:32:11.260" v="8" actId="207"/>
          <ac:spMkLst>
            <pc:docMk/>
            <pc:sldMk cId="3991149050" sldId="259"/>
            <ac:spMk id="3" creationId="{C5C419A8-020E-97C9-EAA1-D30A7D26CE21}"/>
          </ac:spMkLst>
        </pc:spChg>
      </pc:sldChg>
      <pc:sldChg chg="delSp modSp new mod">
        <pc:chgData name="hussein shaaban" userId="9dfb4fc279e24574" providerId="LiveId" clId="{2B71447C-7CBF-4683-8CD8-F7304D075522}" dt="2024-05-28T12:33:21.913" v="14" actId="255"/>
        <pc:sldMkLst>
          <pc:docMk/>
          <pc:sldMk cId="2029748050" sldId="260"/>
        </pc:sldMkLst>
        <pc:spChg chg="del">
          <ac:chgData name="hussein shaaban" userId="9dfb4fc279e24574" providerId="LiveId" clId="{2B71447C-7CBF-4683-8CD8-F7304D075522}" dt="2024-05-28T12:32:29.917" v="11" actId="478"/>
          <ac:spMkLst>
            <pc:docMk/>
            <pc:sldMk cId="2029748050" sldId="260"/>
            <ac:spMk id="2" creationId="{81AEDC89-6896-C6BA-FA11-8DB66A1E69E0}"/>
          </ac:spMkLst>
        </pc:spChg>
        <pc:spChg chg="mod">
          <ac:chgData name="hussein shaaban" userId="9dfb4fc279e24574" providerId="LiveId" clId="{2B71447C-7CBF-4683-8CD8-F7304D075522}" dt="2024-05-28T12:33:21.913" v="14" actId="255"/>
          <ac:spMkLst>
            <pc:docMk/>
            <pc:sldMk cId="2029748050" sldId="260"/>
            <ac:spMk id="3" creationId="{D6686BAA-0972-34AC-9052-3C1978A75EF7}"/>
          </ac:spMkLst>
        </pc:spChg>
      </pc:sldChg>
      <pc:sldChg chg="delSp modSp new mod">
        <pc:chgData name="hussein shaaban" userId="9dfb4fc279e24574" providerId="LiveId" clId="{2B71447C-7CBF-4683-8CD8-F7304D075522}" dt="2024-05-28T12:34:09.162" v="20" actId="255"/>
        <pc:sldMkLst>
          <pc:docMk/>
          <pc:sldMk cId="1631113956" sldId="261"/>
        </pc:sldMkLst>
        <pc:spChg chg="del">
          <ac:chgData name="hussein shaaban" userId="9dfb4fc279e24574" providerId="LiveId" clId="{2B71447C-7CBF-4683-8CD8-F7304D075522}" dt="2024-05-28T12:33:30.657" v="16" actId="478"/>
          <ac:spMkLst>
            <pc:docMk/>
            <pc:sldMk cId="1631113956" sldId="261"/>
            <ac:spMk id="2" creationId="{08FFAD4F-9259-3C99-6FAB-39430E7AF557}"/>
          </ac:spMkLst>
        </pc:spChg>
        <pc:spChg chg="mod">
          <ac:chgData name="hussein shaaban" userId="9dfb4fc279e24574" providerId="LiveId" clId="{2B71447C-7CBF-4683-8CD8-F7304D075522}" dt="2024-05-28T12:34:09.162" v="20" actId="255"/>
          <ac:spMkLst>
            <pc:docMk/>
            <pc:sldMk cId="1631113956" sldId="261"/>
            <ac:spMk id="3" creationId="{42DA28BC-1638-CC23-CC1F-2DD4557B8F1A}"/>
          </ac:spMkLst>
        </pc:spChg>
      </pc:sldChg>
      <pc:sldChg chg="modSp new mod">
        <pc:chgData name="hussein shaaban" userId="9dfb4fc279e24574" providerId="LiveId" clId="{2B71447C-7CBF-4683-8CD8-F7304D075522}" dt="2024-05-28T12:39:03.714" v="31" actId="255"/>
        <pc:sldMkLst>
          <pc:docMk/>
          <pc:sldMk cId="3639640876" sldId="262"/>
        </pc:sldMkLst>
        <pc:spChg chg="mod">
          <ac:chgData name="hussein shaaban" userId="9dfb4fc279e24574" providerId="LiveId" clId="{2B71447C-7CBF-4683-8CD8-F7304D075522}" dt="2024-05-28T12:35:04.834" v="27" actId="14100"/>
          <ac:spMkLst>
            <pc:docMk/>
            <pc:sldMk cId="3639640876" sldId="262"/>
            <ac:spMk id="2" creationId="{42183FAE-4C18-80BA-30D9-31D8D8503C46}"/>
          </ac:spMkLst>
        </pc:spChg>
        <pc:spChg chg="mod">
          <ac:chgData name="hussein shaaban" userId="9dfb4fc279e24574" providerId="LiveId" clId="{2B71447C-7CBF-4683-8CD8-F7304D075522}" dt="2024-05-28T12:39:03.714" v="31" actId="255"/>
          <ac:spMkLst>
            <pc:docMk/>
            <pc:sldMk cId="3639640876" sldId="262"/>
            <ac:spMk id="3" creationId="{B32303D1-C036-C175-3B4B-A74C42576DA9}"/>
          </ac:spMkLst>
        </pc:spChg>
      </pc:sldChg>
      <pc:sldChg chg="delSp modSp new mod">
        <pc:chgData name="hussein shaaban" userId="9dfb4fc279e24574" providerId="LiveId" clId="{2B71447C-7CBF-4683-8CD8-F7304D075522}" dt="2024-05-28T12:40:21.912" v="37" actId="255"/>
        <pc:sldMkLst>
          <pc:docMk/>
          <pc:sldMk cId="134255520" sldId="263"/>
        </pc:sldMkLst>
        <pc:spChg chg="del">
          <ac:chgData name="hussein shaaban" userId="9dfb4fc279e24574" providerId="LiveId" clId="{2B71447C-7CBF-4683-8CD8-F7304D075522}" dt="2024-05-28T12:40:07.937" v="34" actId="478"/>
          <ac:spMkLst>
            <pc:docMk/>
            <pc:sldMk cId="134255520" sldId="263"/>
            <ac:spMk id="2" creationId="{E07EFCDB-E99B-F0BB-6060-8D5FA9DCDE38}"/>
          </ac:spMkLst>
        </pc:spChg>
        <pc:spChg chg="mod">
          <ac:chgData name="hussein shaaban" userId="9dfb4fc279e24574" providerId="LiveId" clId="{2B71447C-7CBF-4683-8CD8-F7304D075522}" dt="2024-05-28T12:40:21.912" v="37" actId="255"/>
          <ac:spMkLst>
            <pc:docMk/>
            <pc:sldMk cId="134255520" sldId="263"/>
            <ac:spMk id="3" creationId="{24BFD45A-522F-5734-8BD1-1D951BAAF51C}"/>
          </ac:spMkLst>
        </pc:spChg>
      </pc:sldChg>
      <pc:sldChg chg="delSp modSp new mod">
        <pc:chgData name="hussein shaaban" userId="9dfb4fc279e24574" providerId="LiveId" clId="{2B71447C-7CBF-4683-8CD8-F7304D075522}" dt="2024-05-28T12:42:04.314" v="42" actId="207"/>
        <pc:sldMkLst>
          <pc:docMk/>
          <pc:sldMk cId="246367061" sldId="264"/>
        </pc:sldMkLst>
        <pc:spChg chg="del">
          <ac:chgData name="hussein shaaban" userId="9dfb4fc279e24574" providerId="LiveId" clId="{2B71447C-7CBF-4683-8CD8-F7304D075522}" dt="2024-05-28T12:41:45.740" v="39" actId="478"/>
          <ac:spMkLst>
            <pc:docMk/>
            <pc:sldMk cId="246367061" sldId="264"/>
            <ac:spMk id="2" creationId="{E4DE937A-5C34-D3A3-6AC1-8DDDB34963E4}"/>
          </ac:spMkLst>
        </pc:spChg>
        <pc:spChg chg="mod">
          <ac:chgData name="hussein shaaban" userId="9dfb4fc279e24574" providerId="LiveId" clId="{2B71447C-7CBF-4683-8CD8-F7304D075522}" dt="2024-05-28T12:42:04.314" v="42" actId="207"/>
          <ac:spMkLst>
            <pc:docMk/>
            <pc:sldMk cId="246367061" sldId="264"/>
            <ac:spMk id="3" creationId="{3470A9D5-A1EB-6B40-82E6-4FD2208CA651}"/>
          </ac:spMkLst>
        </pc:spChg>
      </pc:sldChg>
      <pc:sldChg chg="delSp modSp new mod">
        <pc:chgData name="hussein shaaban" userId="9dfb4fc279e24574" providerId="LiveId" clId="{2B71447C-7CBF-4683-8CD8-F7304D075522}" dt="2024-05-28T12:43:36.846" v="50" actId="207"/>
        <pc:sldMkLst>
          <pc:docMk/>
          <pc:sldMk cId="1384710000" sldId="265"/>
        </pc:sldMkLst>
        <pc:spChg chg="del">
          <ac:chgData name="hussein shaaban" userId="9dfb4fc279e24574" providerId="LiveId" clId="{2B71447C-7CBF-4683-8CD8-F7304D075522}" dt="2024-05-28T12:42:56.043" v="45" actId="478"/>
          <ac:spMkLst>
            <pc:docMk/>
            <pc:sldMk cId="1384710000" sldId="265"/>
            <ac:spMk id="2" creationId="{E96ED1EF-EE09-878C-7C86-BB51E125E813}"/>
          </ac:spMkLst>
        </pc:spChg>
        <pc:spChg chg="mod">
          <ac:chgData name="hussein shaaban" userId="9dfb4fc279e24574" providerId="LiveId" clId="{2B71447C-7CBF-4683-8CD8-F7304D075522}" dt="2024-05-28T12:43:36.846" v="50" actId="207"/>
          <ac:spMkLst>
            <pc:docMk/>
            <pc:sldMk cId="1384710000" sldId="265"/>
            <ac:spMk id="3" creationId="{BC2FF5FD-2EA1-8B73-4D08-A14863478DFE}"/>
          </ac:spMkLst>
        </pc:spChg>
      </pc:sldChg>
      <pc:sldChg chg="delSp modSp new mod">
        <pc:chgData name="hussein shaaban" userId="9dfb4fc279e24574" providerId="LiveId" clId="{2B71447C-7CBF-4683-8CD8-F7304D075522}" dt="2024-05-28T12:45:36.146" v="59" actId="207"/>
        <pc:sldMkLst>
          <pc:docMk/>
          <pc:sldMk cId="1450272644" sldId="266"/>
        </pc:sldMkLst>
        <pc:spChg chg="del">
          <ac:chgData name="hussein shaaban" userId="9dfb4fc279e24574" providerId="LiveId" clId="{2B71447C-7CBF-4683-8CD8-F7304D075522}" dt="2024-05-28T12:43:46.207" v="52" actId="478"/>
          <ac:spMkLst>
            <pc:docMk/>
            <pc:sldMk cId="1450272644" sldId="266"/>
            <ac:spMk id="2" creationId="{401420A7-A417-D558-A644-94D937382B87}"/>
          </ac:spMkLst>
        </pc:spChg>
        <pc:spChg chg="mod">
          <ac:chgData name="hussein shaaban" userId="9dfb4fc279e24574" providerId="LiveId" clId="{2B71447C-7CBF-4683-8CD8-F7304D075522}" dt="2024-05-28T12:45:36.146" v="59" actId="207"/>
          <ac:spMkLst>
            <pc:docMk/>
            <pc:sldMk cId="1450272644" sldId="266"/>
            <ac:spMk id="3" creationId="{95030C9A-373F-32BE-A18A-F93E9CDAC905}"/>
          </ac:spMkLst>
        </pc:spChg>
      </pc:sldChg>
      <pc:sldChg chg="delSp modSp new mod">
        <pc:chgData name="hussein shaaban" userId="9dfb4fc279e24574" providerId="LiveId" clId="{2B71447C-7CBF-4683-8CD8-F7304D075522}" dt="2024-05-28T12:48:08.808" v="66" actId="5793"/>
        <pc:sldMkLst>
          <pc:docMk/>
          <pc:sldMk cId="873558443" sldId="267"/>
        </pc:sldMkLst>
        <pc:spChg chg="del">
          <ac:chgData name="hussein shaaban" userId="9dfb4fc279e24574" providerId="LiveId" clId="{2B71447C-7CBF-4683-8CD8-F7304D075522}" dt="2024-05-28T12:47:36.328" v="61" actId="478"/>
          <ac:spMkLst>
            <pc:docMk/>
            <pc:sldMk cId="873558443" sldId="267"/>
            <ac:spMk id="2" creationId="{BA7117BD-23CC-7159-9BCC-058720A4AC87}"/>
          </ac:spMkLst>
        </pc:spChg>
        <pc:spChg chg="mod">
          <ac:chgData name="hussein shaaban" userId="9dfb4fc279e24574" providerId="LiveId" clId="{2B71447C-7CBF-4683-8CD8-F7304D075522}" dt="2024-05-28T12:48:08.808" v="66" actId="5793"/>
          <ac:spMkLst>
            <pc:docMk/>
            <pc:sldMk cId="873558443" sldId="267"/>
            <ac:spMk id="3" creationId="{1A4FBAD7-EF5A-EF2A-0043-AA21A4BEBAD1}"/>
          </ac:spMkLst>
        </pc:spChg>
      </pc:sldChg>
      <pc:sldChg chg="delSp modSp new mod">
        <pc:chgData name="hussein shaaban" userId="9dfb4fc279e24574" providerId="LiveId" clId="{2B71447C-7CBF-4683-8CD8-F7304D075522}" dt="2024-05-28T12:48:55.534" v="73" actId="207"/>
        <pc:sldMkLst>
          <pc:docMk/>
          <pc:sldMk cId="4112284744" sldId="268"/>
        </pc:sldMkLst>
        <pc:spChg chg="del">
          <ac:chgData name="hussein shaaban" userId="9dfb4fc279e24574" providerId="LiveId" clId="{2B71447C-7CBF-4683-8CD8-F7304D075522}" dt="2024-05-28T12:48:17.342" v="68" actId="478"/>
          <ac:spMkLst>
            <pc:docMk/>
            <pc:sldMk cId="4112284744" sldId="268"/>
            <ac:spMk id="2" creationId="{DE6566CD-4646-1C84-E338-4822898EFF60}"/>
          </ac:spMkLst>
        </pc:spChg>
        <pc:spChg chg="mod">
          <ac:chgData name="hussein shaaban" userId="9dfb4fc279e24574" providerId="LiveId" clId="{2B71447C-7CBF-4683-8CD8-F7304D075522}" dt="2024-05-28T12:48:55.534" v="73" actId="207"/>
          <ac:spMkLst>
            <pc:docMk/>
            <pc:sldMk cId="4112284744" sldId="268"/>
            <ac:spMk id="3" creationId="{76D72AD5-15B8-4267-6AEB-E97626AC27DD}"/>
          </ac:spMkLst>
        </pc:spChg>
      </pc:sldChg>
      <pc:sldChg chg="delSp modSp new mod">
        <pc:chgData name="hussein shaaban" userId="9dfb4fc279e24574" providerId="LiveId" clId="{2B71447C-7CBF-4683-8CD8-F7304D075522}" dt="2024-05-28T12:49:54.946" v="80" actId="5793"/>
        <pc:sldMkLst>
          <pc:docMk/>
          <pc:sldMk cId="4221167758" sldId="269"/>
        </pc:sldMkLst>
        <pc:spChg chg="del">
          <ac:chgData name="hussein shaaban" userId="9dfb4fc279e24574" providerId="LiveId" clId="{2B71447C-7CBF-4683-8CD8-F7304D075522}" dt="2024-05-28T12:49:33.013" v="75" actId="478"/>
          <ac:spMkLst>
            <pc:docMk/>
            <pc:sldMk cId="4221167758" sldId="269"/>
            <ac:spMk id="2" creationId="{9163DCE3-87E0-8122-6C76-22FDDF4E51D4}"/>
          </ac:spMkLst>
        </pc:spChg>
        <pc:spChg chg="mod">
          <ac:chgData name="hussein shaaban" userId="9dfb4fc279e24574" providerId="LiveId" clId="{2B71447C-7CBF-4683-8CD8-F7304D075522}" dt="2024-05-28T12:49:54.946" v="80" actId="5793"/>
          <ac:spMkLst>
            <pc:docMk/>
            <pc:sldMk cId="4221167758" sldId="269"/>
            <ac:spMk id="3" creationId="{A6A5B82B-FFF5-9C58-5CA3-4BA8D2BE4BC6}"/>
          </ac:spMkLst>
        </pc:spChg>
      </pc:sldChg>
      <pc:sldChg chg="addSp delSp modSp new mod">
        <pc:chgData name="hussein shaaban" userId="9dfb4fc279e24574" providerId="LiveId" clId="{2B71447C-7CBF-4683-8CD8-F7304D075522}" dt="2024-05-28T13:32:14.499" v="89"/>
        <pc:sldMkLst>
          <pc:docMk/>
          <pc:sldMk cId="1251051132" sldId="270"/>
        </pc:sldMkLst>
        <pc:spChg chg="mod">
          <ac:chgData name="hussein shaaban" userId="9dfb4fc279e24574" providerId="LiveId" clId="{2B71447C-7CBF-4683-8CD8-F7304D075522}" dt="2024-05-28T12:51:32.964" v="85" actId="14100"/>
          <ac:spMkLst>
            <pc:docMk/>
            <pc:sldMk cId="1251051132" sldId="270"/>
            <ac:spMk id="2" creationId="{AB51F348-6C42-45DF-0013-A4A4DD556B7E}"/>
          </ac:spMkLst>
        </pc:spChg>
        <pc:spChg chg="add del mod">
          <ac:chgData name="hussein shaaban" userId="9dfb4fc279e24574" providerId="LiveId" clId="{2B71447C-7CBF-4683-8CD8-F7304D075522}" dt="2024-05-28T13:32:14.499" v="89"/>
          <ac:spMkLst>
            <pc:docMk/>
            <pc:sldMk cId="1251051132" sldId="270"/>
            <ac:spMk id="3" creationId="{03C103D6-B1D3-916F-C3AD-D6DAF227EC32}"/>
          </ac:spMkLst>
        </pc:spChg>
        <pc:spChg chg="add">
          <ac:chgData name="hussein shaaban" userId="9dfb4fc279e24574" providerId="LiveId" clId="{2B71447C-7CBF-4683-8CD8-F7304D075522}" dt="2024-05-28T12:54:09.578" v="87"/>
          <ac:spMkLst>
            <pc:docMk/>
            <pc:sldMk cId="1251051132" sldId="270"/>
            <ac:spMk id="5" creationId="{DEF0CAA9-118B-618C-71E0-50E387E6EA04}"/>
          </ac:spMkLst>
        </pc:spChg>
        <pc:graphicFrameChg chg="add mod">
          <ac:chgData name="hussein shaaban" userId="9dfb4fc279e24574" providerId="LiveId" clId="{2B71447C-7CBF-4683-8CD8-F7304D075522}" dt="2024-05-28T12:54:25.758" v="88"/>
          <ac:graphicFrameMkLst>
            <pc:docMk/>
            <pc:sldMk cId="1251051132" sldId="270"/>
            <ac:graphicFrameMk id="4" creationId="{1B614FEC-5A56-327D-9DDA-070EE623D846}"/>
          </ac:graphicFrameMkLst>
        </pc:graphicFrameChg>
        <pc:graphicFrameChg chg="add mod">
          <ac:chgData name="hussein shaaban" userId="9dfb4fc279e24574" providerId="LiveId" clId="{2B71447C-7CBF-4683-8CD8-F7304D075522}" dt="2024-05-28T13:32:14.499" v="89"/>
          <ac:graphicFrameMkLst>
            <pc:docMk/>
            <pc:sldMk cId="1251051132" sldId="270"/>
            <ac:graphicFrameMk id="6" creationId="{D0A8AD1D-A916-20DC-CA38-AA236BC90436}"/>
          </ac:graphicFrameMkLst>
        </pc:graphicFrameChg>
      </pc:sldChg>
      <pc:sldChg chg="delSp modSp new mod">
        <pc:chgData name="hussein shaaban" userId="9dfb4fc279e24574" providerId="LiveId" clId="{2B71447C-7CBF-4683-8CD8-F7304D075522}" dt="2024-05-28T13:33:51.598" v="95" actId="5793"/>
        <pc:sldMkLst>
          <pc:docMk/>
          <pc:sldMk cId="3261410096" sldId="271"/>
        </pc:sldMkLst>
        <pc:spChg chg="del">
          <ac:chgData name="hussein shaaban" userId="9dfb4fc279e24574" providerId="LiveId" clId="{2B71447C-7CBF-4683-8CD8-F7304D075522}" dt="2024-05-28T13:33:30.956" v="91" actId="478"/>
          <ac:spMkLst>
            <pc:docMk/>
            <pc:sldMk cId="3261410096" sldId="271"/>
            <ac:spMk id="2" creationId="{FBAC36E2-F43C-6DB9-3096-3C2B5641AF3F}"/>
          </ac:spMkLst>
        </pc:spChg>
        <pc:spChg chg="mod">
          <ac:chgData name="hussein shaaban" userId="9dfb4fc279e24574" providerId="LiveId" clId="{2B71447C-7CBF-4683-8CD8-F7304D075522}" dt="2024-05-28T13:33:51.598" v="95" actId="5793"/>
          <ac:spMkLst>
            <pc:docMk/>
            <pc:sldMk cId="3261410096" sldId="271"/>
            <ac:spMk id="3" creationId="{A59E6AD2-6962-719F-25C5-7863219A659D}"/>
          </ac:spMkLst>
        </pc:spChg>
      </pc:sldChg>
      <pc:sldChg chg="delSp modSp new mod">
        <pc:chgData name="hussein shaaban" userId="9dfb4fc279e24574" providerId="LiveId" clId="{2B71447C-7CBF-4683-8CD8-F7304D075522}" dt="2024-05-28T13:34:43.551" v="101" actId="207"/>
        <pc:sldMkLst>
          <pc:docMk/>
          <pc:sldMk cId="3198986073" sldId="272"/>
        </pc:sldMkLst>
        <pc:spChg chg="del">
          <ac:chgData name="hussein shaaban" userId="9dfb4fc279e24574" providerId="LiveId" clId="{2B71447C-7CBF-4683-8CD8-F7304D075522}" dt="2024-05-28T13:34:00.660" v="97" actId="478"/>
          <ac:spMkLst>
            <pc:docMk/>
            <pc:sldMk cId="3198986073" sldId="272"/>
            <ac:spMk id="2" creationId="{498DD0E8-2D44-CF13-FFFC-3724B4105DEC}"/>
          </ac:spMkLst>
        </pc:spChg>
        <pc:spChg chg="mod">
          <ac:chgData name="hussein shaaban" userId="9dfb4fc279e24574" providerId="LiveId" clId="{2B71447C-7CBF-4683-8CD8-F7304D075522}" dt="2024-05-28T13:34:43.551" v="101" actId="207"/>
          <ac:spMkLst>
            <pc:docMk/>
            <pc:sldMk cId="3198986073" sldId="272"/>
            <ac:spMk id="3" creationId="{8B02C151-A833-6F75-D854-D291A3894BA9}"/>
          </ac:spMkLst>
        </pc:spChg>
      </pc:sldChg>
      <pc:sldChg chg="delSp modSp new mod">
        <pc:chgData name="hussein shaaban" userId="9dfb4fc279e24574" providerId="LiveId" clId="{2B71447C-7CBF-4683-8CD8-F7304D075522}" dt="2024-05-28T13:36:48.082" v="108" actId="207"/>
        <pc:sldMkLst>
          <pc:docMk/>
          <pc:sldMk cId="851549705" sldId="273"/>
        </pc:sldMkLst>
        <pc:spChg chg="del">
          <ac:chgData name="hussein shaaban" userId="9dfb4fc279e24574" providerId="LiveId" clId="{2B71447C-7CBF-4683-8CD8-F7304D075522}" dt="2024-05-28T13:35:20.938" v="103" actId="478"/>
          <ac:spMkLst>
            <pc:docMk/>
            <pc:sldMk cId="851549705" sldId="273"/>
            <ac:spMk id="2" creationId="{116CA49F-8827-D7A9-66A0-2FDBC6A641F5}"/>
          </ac:spMkLst>
        </pc:spChg>
        <pc:spChg chg="mod">
          <ac:chgData name="hussein shaaban" userId="9dfb4fc279e24574" providerId="LiveId" clId="{2B71447C-7CBF-4683-8CD8-F7304D075522}" dt="2024-05-28T13:36:48.082" v="108" actId="207"/>
          <ac:spMkLst>
            <pc:docMk/>
            <pc:sldMk cId="851549705" sldId="273"/>
            <ac:spMk id="3" creationId="{557AE23A-9C9F-FCF7-E343-35C7D3A00AA7}"/>
          </ac:spMkLst>
        </pc:spChg>
      </pc:sldChg>
      <pc:sldChg chg="delSp modSp new mod">
        <pc:chgData name="hussein shaaban" userId="9dfb4fc279e24574" providerId="LiveId" clId="{2B71447C-7CBF-4683-8CD8-F7304D075522}" dt="2024-05-28T13:38:14.345" v="113" actId="207"/>
        <pc:sldMkLst>
          <pc:docMk/>
          <pc:sldMk cId="179256977" sldId="274"/>
        </pc:sldMkLst>
        <pc:spChg chg="del">
          <ac:chgData name="hussein shaaban" userId="9dfb4fc279e24574" providerId="LiveId" clId="{2B71447C-7CBF-4683-8CD8-F7304D075522}" dt="2024-05-28T13:38:04.568" v="110" actId="478"/>
          <ac:spMkLst>
            <pc:docMk/>
            <pc:sldMk cId="179256977" sldId="274"/>
            <ac:spMk id="2" creationId="{66F52726-7EEC-B403-D2D4-437DCECFC4E2}"/>
          </ac:spMkLst>
        </pc:spChg>
        <pc:spChg chg="mod">
          <ac:chgData name="hussein shaaban" userId="9dfb4fc279e24574" providerId="LiveId" clId="{2B71447C-7CBF-4683-8CD8-F7304D075522}" dt="2024-05-28T13:38:14.345" v="113" actId="207"/>
          <ac:spMkLst>
            <pc:docMk/>
            <pc:sldMk cId="179256977" sldId="274"/>
            <ac:spMk id="3" creationId="{3991F522-1C3D-05AC-6F0D-261F570E2C15}"/>
          </ac:spMkLst>
        </pc:spChg>
      </pc:sldChg>
      <pc:sldChg chg="delSp modSp new mod">
        <pc:chgData name="hussein shaaban" userId="9dfb4fc279e24574" providerId="LiveId" clId="{2B71447C-7CBF-4683-8CD8-F7304D075522}" dt="2024-05-28T13:39:21.768" v="119" actId="255"/>
        <pc:sldMkLst>
          <pc:docMk/>
          <pc:sldMk cId="2139413510" sldId="275"/>
        </pc:sldMkLst>
        <pc:spChg chg="del">
          <ac:chgData name="hussein shaaban" userId="9dfb4fc279e24574" providerId="LiveId" clId="{2B71447C-7CBF-4683-8CD8-F7304D075522}" dt="2024-05-28T13:39:04.054" v="115" actId="478"/>
          <ac:spMkLst>
            <pc:docMk/>
            <pc:sldMk cId="2139413510" sldId="275"/>
            <ac:spMk id="2" creationId="{E640AC82-972A-A245-B5E2-09EE65B910B7}"/>
          </ac:spMkLst>
        </pc:spChg>
        <pc:spChg chg="mod">
          <ac:chgData name="hussein shaaban" userId="9dfb4fc279e24574" providerId="LiveId" clId="{2B71447C-7CBF-4683-8CD8-F7304D075522}" dt="2024-05-28T13:39:21.768" v="119" actId="255"/>
          <ac:spMkLst>
            <pc:docMk/>
            <pc:sldMk cId="2139413510" sldId="275"/>
            <ac:spMk id="3" creationId="{C73FF273-0766-F60F-6716-AE7DEE11ED1F}"/>
          </ac:spMkLst>
        </pc:spChg>
      </pc:sldChg>
      <pc:sldChg chg="delSp modSp new mod">
        <pc:chgData name="hussein shaaban" userId="9dfb4fc279e24574" providerId="LiveId" clId="{2B71447C-7CBF-4683-8CD8-F7304D075522}" dt="2024-05-28T13:40:16.989" v="124" actId="207"/>
        <pc:sldMkLst>
          <pc:docMk/>
          <pc:sldMk cId="2238802988" sldId="276"/>
        </pc:sldMkLst>
        <pc:spChg chg="del">
          <ac:chgData name="hussein shaaban" userId="9dfb4fc279e24574" providerId="LiveId" clId="{2B71447C-7CBF-4683-8CD8-F7304D075522}" dt="2024-05-28T13:40:05.359" v="121" actId="478"/>
          <ac:spMkLst>
            <pc:docMk/>
            <pc:sldMk cId="2238802988" sldId="276"/>
            <ac:spMk id="2" creationId="{799A8B0B-4BB2-BB87-C6CE-8A271A8B27DE}"/>
          </ac:spMkLst>
        </pc:spChg>
        <pc:spChg chg="mod">
          <ac:chgData name="hussein shaaban" userId="9dfb4fc279e24574" providerId="LiveId" clId="{2B71447C-7CBF-4683-8CD8-F7304D075522}" dt="2024-05-28T13:40:16.989" v="124" actId="207"/>
          <ac:spMkLst>
            <pc:docMk/>
            <pc:sldMk cId="2238802988" sldId="276"/>
            <ac:spMk id="3" creationId="{A0B81602-1388-5B1D-E433-176BB44278DF}"/>
          </ac:spMkLst>
        </pc:spChg>
      </pc:sldChg>
      <pc:sldChg chg="modSp new mod">
        <pc:chgData name="hussein shaaban" userId="9dfb4fc279e24574" providerId="LiveId" clId="{2B71447C-7CBF-4683-8CD8-F7304D075522}" dt="2024-05-28T15:45:32.076" v="136" actId="207"/>
        <pc:sldMkLst>
          <pc:docMk/>
          <pc:sldMk cId="3386453714" sldId="277"/>
        </pc:sldMkLst>
        <pc:spChg chg="mod">
          <ac:chgData name="hussein shaaban" userId="9dfb4fc279e24574" providerId="LiveId" clId="{2B71447C-7CBF-4683-8CD8-F7304D075522}" dt="2024-05-28T13:40:56.811" v="130" actId="14100"/>
          <ac:spMkLst>
            <pc:docMk/>
            <pc:sldMk cId="3386453714" sldId="277"/>
            <ac:spMk id="2" creationId="{C43E1054-0987-C94B-8407-D93ACC1C753F}"/>
          </ac:spMkLst>
        </pc:spChg>
        <pc:spChg chg="mod">
          <ac:chgData name="hussein shaaban" userId="9dfb4fc279e24574" providerId="LiveId" clId="{2B71447C-7CBF-4683-8CD8-F7304D075522}" dt="2024-05-28T15:45:32.076" v="136" actId="207"/>
          <ac:spMkLst>
            <pc:docMk/>
            <pc:sldMk cId="3386453714" sldId="277"/>
            <ac:spMk id="3" creationId="{FB16A70C-A614-98AB-11CA-4AF138E9CB1E}"/>
          </ac:spMkLst>
        </pc:spChg>
      </pc:sldChg>
      <pc:sldChg chg="delSp modSp new mod">
        <pc:chgData name="hussein shaaban" userId="9dfb4fc279e24574" providerId="LiveId" clId="{2B71447C-7CBF-4683-8CD8-F7304D075522}" dt="2024-05-28T15:48:41.205" v="143" actId="207"/>
        <pc:sldMkLst>
          <pc:docMk/>
          <pc:sldMk cId="812236779" sldId="278"/>
        </pc:sldMkLst>
        <pc:spChg chg="del">
          <ac:chgData name="hussein shaaban" userId="9dfb4fc279e24574" providerId="LiveId" clId="{2B71447C-7CBF-4683-8CD8-F7304D075522}" dt="2024-05-28T15:48:18.586" v="138" actId="478"/>
          <ac:spMkLst>
            <pc:docMk/>
            <pc:sldMk cId="812236779" sldId="278"/>
            <ac:spMk id="2" creationId="{A5A39B93-ACE8-80DD-2EC1-AA5485636EF0}"/>
          </ac:spMkLst>
        </pc:spChg>
        <pc:spChg chg="mod">
          <ac:chgData name="hussein shaaban" userId="9dfb4fc279e24574" providerId="LiveId" clId="{2B71447C-7CBF-4683-8CD8-F7304D075522}" dt="2024-05-28T15:48:41.205" v="143" actId="207"/>
          <ac:spMkLst>
            <pc:docMk/>
            <pc:sldMk cId="812236779" sldId="278"/>
            <ac:spMk id="3" creationId="{5DEB12B0-8E3B-CFBA-49BF-AF3D3FA06F74}"/>
          </ac:spMkLst>
        </pc:spChg>
      </pc:sldChg>
      <pc:sldChg chg="delSp modSp new mod">
        <pc:chgData name="hussein shaaban" userId="9dfb4fc279e24574" providerId="LiveId" clId="{2B71447C-7CBF-4683-8CD8-F7304D075522}" dt="2024-05-28T15:50:26.870" v="149" actId="207"/>
        <pc:sldMkLst>
          <pc:docMk/>
          <pc:sldMk cId="2062436596" sldId="279"/>
        </pc:sldMkLst>
        <pc:spChg chg="del">
          <ac:chgData name="hussein shaaban" userId="9dfb4fc279e24574" providerId="LiveId" clId="{2B71447C-7CBF-4683-8CD8-F7304D075522}" dt="2024-05-28T15:50:03.357" v="145" actId="478"/>
          <ac:spMkLst>
            <pc:docMk/>
            <pc:sldMk cId="2062436596" sldId="279"/>
            <ac:spMk id="2" creationId="{C21353BD-70D5-F9D7-3E34-0AB60979713E}"/>
          </ac:spMkLst>
        </pc:spChg>
        <pc:spChg chg="mod">
          <ac:chgData name="hussein shaaban" userId="9dfb4fc279e24574" providerId="LiveId" clId="{2B71447C-7CBF-4683-8CD8-F7304D075522}" dt="2024-05-28T15:50:26.870" v="149" actId="207"/>
          <ac:spMkLst>
            <pc:docMk/>
            <pc:sldMk cId="2062436596" sldId="279"/>
            <ac:spMk id="3" creationId="{D1C78859-D848-346F-BA7D-42883220F6B4}"/>
          </ac:spMkLst>
        </pc:spChg>
      </pc:sldChg>
      <pc:sldChg chg="delSp modSp new mod">
        <pc:chgData name="hussein shaaban" userId="9dfb4fc279e24574" providerId="LiveId" clId="{2B71447C-7CBF-4683-8CD8-F7304D075522}" dt="2024-05-28T15:52:14.138" v="156" actId="207"/>
        <pc:sldMkLst>
          <pc:docMk/>
          <pc:sldMk cId="2052965074" sldId="280"/>
        </pc:sldMkLst>
        <pc:spChg chg="del">
          <ac:chgData name="hussein shaaban" userId="9dfb4fc279e24574" providerId="LiveId" clId="{2B71447C-7CBF-4683-8CD8-F7304D075522}" dt="2024-05-28T15:51:55.939" v="152" actId="478"/>
          <ac:spMkLst>
            <pc:docMk/>
            <pc:sldMk cId="2052965074" sldId="280"/>
            <ac:spMk id="2" creationId="{483FB39B-BA9F-A479-816D-C1AA8E82578A}"/>
          </ac:spMkLst>
        </pc:spChg>
        <pc:spChg chg="mod">
          <ac:chgData name="hussein shaaban" userId="9dfb4fc279e24574" providerId="LiveId" clId="{2B71447C-7CBF-4683-8CD8-F7304D075522}" dt="2024-05-28T15:52:14.138" v="156" actId="207"/>
          <ac:spMkLst>
            <pc:docMk/>
            <pc:sldMk cId="2052965074" sldId="280"/>
            <ac:spMk id="3" creationId="{92427D0C-E3F1-EAA8-8ECB-513592527B3F}"/>
          </ac:spMkLst>
        </pc:spChg>
      </pc:sldChg>
      <pc:sldChg chg="delSp modSp new mod">
        <pc:chgData name="hussein shaaban" userId="9dfb4fc279e24574" providerId="LiveId" clId="{2B71447C-7CBF-4683-8CD8-F7304D075522}" dt="2024-05-28T15:53:28.591" v="165" actId="207"/>
        <pc:sldMkLst>
          <pc:docMk/>
          <pc:sldMk cId="3816455930" sldId="281"/>
        </pc:sldMkLst>
        <pc:spChg chg="del">
          <ac:chgData name="hussein shaaban" userId="9dfb4fc279e24574" providerId="LiveId" clId="{2B71447C-7CBF-4683-8CD8-F7304D075522}" dt="2024-05-28T15:52:58.443" v="158" actId="478"/>
          <ac:spMkLst>
            <pc:docMk/>
            <pc:sldMk cId="3816455930" sldId="281"/>
            <ac:spMk id="2" creationId="{F22F5B87-223C-C750-10D6-C04DFFB44563}"/>
          </ac:spMkLst>
        </pc:spChg>
        <pc:spChg chg="mod">
          <ac:chgData name="hussein shaaban" userId="9dfb4fc279e24574" providerId="LiveId" clId="{2B71447C-7CBF-4683-8CD8-F7304D075522}" dt="2024-05-28T15:53:28.591" v="165" actId="207"/>
          <ac:spMkLst>
            <pc:docMk/>
            <pc:sldMk cId="3816455930" sldId="281"/>
            <ac:spMk id="3" creationId="{C027955F-A0E4-1484-3DE0-C4695F73DC12}"/>
          </ac:spMkLst>
        </pc:spChg>
      </pc:sldChg>
      <pc:sldChg chg="delSp modSp new mod">
        <pc:chgData name="hussein shaaban" userId="9dfb4fc279e24574" providerId="LiveId" clId="{2B71447C-7CBF-4683-8CD8-F7304D075522}" dt="2024-05-28T15:54:54.059" v="169"/>
        <pc:sldMkLst>
          <pc:docMk/>
          <pc:sldMk cId="3014197673" sldId="282"/>
        </pc:sldMkLst>
        <pc:spChg chg="del">
          <ac:chgData name="hussein shaaban" userId="9dfb4fc279e24574" providerId="LiveId" clId="{2B71447C-7CBF-4683-8CD8-F7304D075522}" dt="2024-05-28T15:54:25.011" v="167" actId="478"/>
          <ac:spMkLst>
            <pc:docMk/>
            <pc:sldMk cId="3014197673" sldId="282"/>
            <ac:spMk id="2" creationId="{03EF411F-AB6D-9AD0-2B36-36E21503C2EB}"/>
          </ac:spMkLst>
        </pc:spChg>
        <pc:spChg chg="mod">
          <ac:chgData name="hussein shaaban" userId="9dfb4fc279e24574" providerId="LiveId" clId="{2B71447C-7CBF-4683-8CD8-F7304D075522}" dt="2024-05-28T15:54:54.059" v="169"/>
          <ac:spMkLst>
            <pc:docMk/>
            <pc:sldMk cId="3014197673" sldId="282"/>
            <ac:spMk id="3" creationId="{34F84169-7C75-7122-7D19-272D89E67B21}"/>
          </ac:spMkLst>
        </pc:spChg>
      </pc:sldChg>
      <pc:sldChg chg="delSp modSp new mod">
        <pc:chgData name="hussein shaaban" userId="9dfb4fc279e24574" providerId="LiveId" clId="{2B71447C-7CBF-4683-8CD8-F7304D075522}" dt="2024-05-28T15:56:18.444" v="177" actId="255"/>
        <pc:sldMkLst>
          <pc:docMk/>
          <pc:sldMk cId="4011336465" sldId="283"/>
        </pc:sldMkLst>
        <pc:spChg chg="del">
          <ac:chgData name="hussein shaaban" userId="9dfb4fc279e24574" providerId="LiveId" clId="{2B71447C-7CBF-4683-8CD8-F7304D075522}" dt="2024-05-28T15:55:55.983" v="172" actId="478"/>
          <ac:spMkLst>
            <pc:docMk/>
            <pc:sldMk cId="4011336465" sldId="283"/>
            <ac:spMk id="2" creationId="{E2A27ABE-E8A2-8E6C-78E2-BBD2E1FA5EFC}"/>
          </ac:spMkLst>
        </pc:spChg>
        <pc:spChg chg="mod">
          <ac:chgData name="hussein shaaban" userId="9dfb4fc279e24574" providerId="LiveId" clId="{2B71447C-7CBF-4683-8CD8-F7304D075522}" dt="2024-05-28T15:56:18.444" v="177" actId="255"/>
          <ac:spMkLst>
            <pc:docMk/>
            <pc:sldMk cId="4011336465" sldId="283"/>
            <ac:spMk id="3" creationId="{CEBEA411-266E-5629-DC20-83D8540270EB}"/>
          </ac:spMkLst>
        </pc:spChg>
      </pc:sldChg>
      <pc:sldChg chg="delSp modSp new mod">
        <pc:chgData name="hussein shaaban" userId="9dfb4fc279e24574" providerId="LiveId" clId="{2B71447C-7CBF-4683-8CD8-F7304D075522}" dt="2024-05-28T16:00:05.821" v="189" actId="255"/>
        <pc:sldMkLst>
          <pc:docMk/>
          <pc:sldMk cId="1272327966" sldId="284"/>
        </pc:sldMkLst>
        <pc:spChg chg="del">
          <ac:chgData name="hussein shaaban" userId="9dfb4fc279e24574" providerId="LiveId" clId="{2B71447C-7CBF-4683-8CD8-F7304D075522}" dt="2024-05-28T15:58:49.095" v="179" actId="478"/>
          <ac:spMkLst>
            <pc:docMk/>
            <pc:sldMk cId="1272327966" sldId="284"/>
            <ac:spMk id="2" creationId="{FB2829A4-C2D6-4F5B-812A-F224DED8E947}"/>
          </ac:spMkLst>
        </pc:spChg>
        <pc:spChg chg="mod">
          <ac:chgData name="hussein shaaban" userId="9dfb4fc279e24574" providerId="LiveId" clId="{2B71447C-7CBF-4683-8CD8-F7304D075522}" dt="2024-05-28T16:00:05.821" v="189" actId="255"/>
          <ac:spMkLst>
            <pc:docMk/>
            <pc:sldMk cId="1272327966" sldId="284"/>
            <ac:spMk id="3" creationId="{5B916BA5-7A17-9DBB-D7FB-5E00F5CD8040}"/>
          </ac:spMkLst>
        </pc:spChg>
      </pc:sldChg>
      <pc:sldChg chg="delSp modSp new mod">
        <pc:chgData name="hussein shaaban" userId="9dfb4fc279e24574" providerId="LiveId" clId="{2B71447C-7CBF-4683-8CD8-F7304D075522}" dt="2024-05-28T15:59:56.965" v="188" actId="255"/>
        <pc:sldMkLst>
          <pc:docMk/>
          <pc:sldMk cId="557549397" sldId="285"/>
        </pc:sldMkLst>
        <pc:spChg chg="del">
          <ac:chgData name="hussein shaaban" userId="9dfb4fc279e24574" providerId="LiveId" clId="{2B71447C-7CBF-4683-8CD8-F7304D075522}" dt="2024-05-28T15:59:49.438" v="186" actId="478"/>
          <ac:spMkLst>
            <pc:docMk/>
            <pc:sldMk cId="557549397" sldId="285"/>
            <ac:spMk id="2" creationId="{E795D78A-F015-B207-9565-8AA9452311FB}"/>
          </ac:spMkLst>
        </pc:spChg>
        <pc:spChg chg="mod">
          <ac:chgData name="hussein shaaban" userId="9dfb4fc279e24574" providerId="LiveId" clId="{2B71447C-7CBF-4683-8CD8-F7304D075522}" dt="2024-05-28T15:59:56.965" v="188" actId="255"/>
          <ac:spMkLst>
            <pc:docMk/>
            <pc:sldMk cId="557549397" sldId="285"/>
            <ac:spMk id="3" creationId="{3D522907-62F7-947B-2FA8-47B8596B8F0A}"/>
          </ac:spMkLst>
        </pc:spChg>
      </pc:sldChg>
      <pc:sldChg chg="delSp modSp new mod">
        <pc:chgData name="hussein shaaban" userId="9dfb4fc279e24574" providerId="LiveId" clId="{2B71447C-7CBF-4683-8CD8-F7304D075522}" dt="2024-05-28T16:06:04.721" v="194" actId="255"/>
        <pc:sldMkLst>
          <pc:docMk/>
          <pc:sldMk cId="3653266089" sldId="286"/>
        </pc:sldMkLst>
        <pc:spChg chg="del">
          <ac:chgData name="hussein shaaban" userId="9dfb4fc279e24574" providerId="LiveId" clId="{2B71447C-7CBF-4683-8CD8-F7304D075522}" dt="2024-05-28T16:05:52.671" v="192" actId="478"/>
          <ac:spMkLst>
            <pc:docMk/>
            <pc:sldMk cId="3653266089" sldId="286"/>
            <ac:spMk id="2" creationId="{A72F9C8A-9E8F-4FA2-6967-C3480812AEE4}"/>
          </ac:spMkLst>
        </pc:spChg>
        <pc:spChg chg="mod">
          <ac:chgData name="hussein shaaban" userId="9dfb4fc279e24574" providerId="LiveId" clId="{2B71447C-7CBF-4683-8CD8-F7304D075522}" dt="2024-05-28T16:06:04.721" v="194" actId="255"/>
          <ac:spMkLst>
            <pc:docMk/>
            <pc:sldMk cId="3653266089" sldId="286"/>
            <ac:spMk id="3" creationId="{9FFC6721-DE77-6843-25E9-EEBEB57692CB}"/>
          </ac:spMkLst>
        </pc:spChg>
      </pc:sldChg>
      <pc:sldChg chg="delSp modSp new mod">
        <pc:chgData name="hussein shaaban" userId="9dfb4fc279e24574" providerId="LiveId" clId="{2B71447C-7CBF-4683-8CD8-F7304D075522}" dt="2024-05-28T16:07:19.940" v="200" actId="255"/>
        <pc:sldMkLst>
          <pc:docMk/>
          <pc:sldMk cId="1260658893" sldId="287"/>
        </pc:sldMkLst>
        <pc:spChg chg="del">
          <ac:chgData name="hussein shaaban" userId="9dfb4fc279e24574" providerId="LiveId" clId="{2B71447C-7CBF-4683-8CD8-F7304D075522}" dt="2024-05-28T16:06:59.205" v="197" actId="478"/>
          <ac:spMkLst>
            <pc:docMk/>
            <pc:sldMk cId="1260658893" sldId="287"/>
            <ac:spMk id="2" creationId="{310D2128-716D-1D65-39DF-62177B49E008}"/>
          </ac:spMkLst>
        </pc:spChg>
        <pc:spChg chg="mod">
          <ac:chgData name="hussein shaaban" userId="9dfb4fc279e24574" providerId="LiveId" clId="{2B71447C-7CBF-4683-8CD8-F7304D075522}" dt="2024-05-28T16:07:19.940" v="200" actId="255"/>
          <ac:spMkLst>
            <pc:docMk/>
            <pc:sldMk cId="1260658893" sldId="287"/>
            <ac:spMk id="3" creationId="{621B4465-B088-F7E0-5B5A-28599D188970}"/>
          </ac:spMkLst>
        </pc:spChg>
      </pc:sldChg>
      <pc:sldChg chg="delSp modSp new mod">
        <pc:chgData name="hussein shaaban" userId="9dfb4fc279e24574" providerId="LiveId" clId="{2B71447C-7CBF-4683-8CD8-F7304D075522}" dt="2024-05-28T16:07:58.800" v="205" actId="255"/>
        <pc:sldMkLst>
          <pc:docMk/>
          <pc:sldMk cId="2723152698" sldId="288"/>
        </pc:sldMkLst>
        <pc:spChg chg="del">
          <ac:chgData name="hussein shaaban" userId="9dfb4fc279e24574" providerId="LiveId" clId="{2B71447C-7CBF-4683-8CD8-F7304D075522}" dt="2024-05-28T16:07:48.999" v="203" actId="478"/>
          <ac:spMkLst>
            <pc:docMk/>
            <pc:sldMk cId="2723152698" sldId="288"/>
            <ac:spMk id="2" creationId="{42D69186-2E9D-2044-FA95-B18C7641F86A}"/>
          </ac:spMkLst>
        </pc:spChg>
        <pc:spChg chg="mod">
          <ac:chgData name="hussein shaaban" userId="9dfb4fc279e24574" providerId="LiveId" clId="{2B71447C-7CBF-4683-8CD8-F7304D075522}" dt="2024-05-28T16:07:58.800" v="205" actId="255"/>
          <ac:spMkLst>
            <pc:docMk/>
            <pc:sldMk cId="2723152698" sldId="288"/>
            <ac:spMk id="3" creationId="{26B644CB-AA63-88CC-49AC-F5F8C868A3E2}"/>
          </ac:spMkLst>
        </pc:spChg>
      </pc:sldChg>
      <pc:sldChg chg="delSp modSp new mod">
        <pc:chgData name="hussein shaaban" userId="9dfb4fc279e24574" providerId="LiveId" clId="{2B71447C-7CBF-4683-8CD8-F7304D075522}" dt="2024-05-28T16:09:31.906" v="210" actId="207"/>
        <pc:sldMkLst>
          <pc:docMk/>
          <pc:sldMk cId="3939994907" sldId="289"/>
        </pc:sldMkLst>
        <pc:spChg chg="del">
          <ac:chgData name="hussein shaaban" userId="9dfb4fc279e24574" providerId="LiveId" clId="{2B71447C-7CBF-4683-8CD8-F7304D075522}" dt="2024-05-28T16:09:09.647" v="207" actId="478"/>
          <ac:spMkLst>
            <pc:docMk/>
            <pc:sldMk cId="3939994907" sldId="289"/>
            <ac:spMk id="2" creationId="{87FBD384-8A76-3423-9CF0-681E348A65B3}"/>
          </ac:spMkLst>
        </pc:spChg>
        <pc:spChg chg="mod">
          <ac:chgData name="hussein shaaban" userId="9dfb4fc279e24574" providerId="LiveId" clId="{2B71447C-7CBF-4683-8CD8-F7304D075522}" dt="2024-05-28T16:09:31.906" v="210" actId="207"/>
          <ac:spMkLst>
            <pc:docMk/>
            <pc:sldMk cId="3939994907" sldId="289"/>
            <ac:spMk id="3" creationId="{FECDCEEC-6C7E-15BC-E813-8F9B5D0F6AC3}"/>
          </ac:spMkLst>
        </pc:spChg>
      </pc:sldChg>
      <pc:sldChg chg="delSp modSp new mod">
        <pc:chgData name="hussein shaaban" userId="9dfb4fc279e24574" providerId="LiveId" clId="{2B71447C-7CBF-4683-8CD8-F7304D075522}" dt="2024-05-28T16:10:42.186" v="219" actId="207"/>
        <pc:sldMkLst>
          <pc:docMk/>
          <pc:sldMk cId="802912124" sldId="290"/>
        </pc:sldMkLst>
        <pc:spChg chg="del">
          <ac:chgData name="hussein shaaban" userId="9dfb4fc279e24574" providerId="LiveId" clId="{2B71447C-7CBF-4683-8CD8-F7304D075522}" dt="2024-05-28T16:10:05.095" v="212" actId="478"/>
          <ac:spMkLst>
            <pc:docMk/>
            <pc:sldMk cId="802912124" sldId="290"/>
            <ac:spMk id="2" creationId="{0FA03BF4-F043-0F53-B2CF-72581E1B52F5}"/>
          </ac:spMkLst>
        </pc:spChg>
        <pc:spChg chg="mod">
          <ac:chgData name="hussein shaaban" userId="9dfb4fc279e24574" providerId="LiveId" clId="{2B71447C-7CBF-4683-8CD8-F7304D075522}" dt="2024-05-28T16:10:42.186" v="219" actId="207"/>
          <ac:spMkLst>
            <pc:docMk/>
            <pc:sldMk cId="802912124" sldId="290"/>
            <ac:spMk id="3" creationId="{1FCFBF4D-A3B9-E5F7-8677-A49CF5627D5D}"/>
          </ac:spMkLst>
        </pc:spChg>
      </pc:sldChg>
      <pc:sldChg chg="delSp modSp new mod">
        <pc:chgData name="hussein shaaban" userId="9dfb4fc279e24574" providerId="LiveId" clId="{2B71447C-7CBF-4683-8CD8-F7304D075522}" dt="2024-05-28T16:46:52.898" v="241" actId="207"/>
        <pc:sldMkLst>
          <pc:docMk/>
          <pc:sldMk cId="4007254803" sldId="291"/>
        </pc:sldMkLst>
        <pc:spChg chg="del">
          <ac:chgData name="hussein shaaban" userId="9dfb4fc279e24574" providerId="LiveId" clId="{2B71447C-7CBF-4683-8CD8-F7304D075522}" dt="2024-05-28T16:42:17.289" v="222" actId="478"/>
          <ac:spMkLst>
            <pc:docMk/>
            <pc:sldMk cId="4007254803" sldId="291"/>
            <ac:spMk id="2" creationId="{415F618C-3D7A-7605-38ED-00DEE287B1FB}"/>
          </ac:spMkLst>
        </pc:spChg>
        <pc:spChg chg="mod">
          <ac:chgData name="hussein shaaban" userId="9dfb4fc279e24574" providerId="LiveId" clId="{2B71447C-7CBF-4683-8CD8-F7304D075522}" dt="2024-05-28T16:46:52.898" v="241" actId="207"/>
          <ac:spMkLst>
            <pc:docMk/>
            <pc:sldMk cId="4007254803" sldId="291"/>
            <ac:spMk id="3" creationId="{E7D14687-125A-DE09-6120-32B3DC5AFEE7}"/>
          </ac:spMkLst>
        </pc:spChg>
      </pc:sldChg>
      <pc:sldChg chg="delSp modSp new mod">
        <pc:chgData name="hussein shaaban" userId="9dfb4fc279e24574" providerId="LiveId" clId="{2B71447C-7CBF-4683-8CD8-F7304D075522}" dt="2024-05-28T16:46:58.783" v="242" actId="207"/>
        <pc:sldMkLst>
          <pc:docMk/>
          <pc:sldMk cId="1270679072" sldId="292"/>
        </pc:sldMkLst>
        <pc:spChg chg="del">
          <ac:chgData name="hussein shaaban" userId="9dfb4fc279e24574" providerId="LiveId" clId="{2B71447C-7CBF-4683-8CD8-F7304D075522}" dt="2024-05-28T16:45:40.378" v="237" actId="478"/>
          <ac:spMkLst>
            <pc:docMk/>
            <pc:sldMk cId="1270679072" sldId="292"/>
            <ac:spMk id="2" creationId="{BFC96BD6-9BA1-0E47-91CA-4943E3ABB6C7}"/>
          </ac:spMkLst>
        </pc:spChg>
        <pc:spChg chg="mod">
          <ac:chgData name="hussein shaaban" userId="9dfb4fc279e24574" providerId="LiveId" clId="{2B71447C-7CBF-4683-8CD8-F7304D075522}" dt="2024-05-28T16:46:58.783" v="242" actId="207"/>
          <ac:spMkLst>
            <pc:docMk/>
            <pc:sldMk cId="1270679072" sldId="292"/>
            <ac:spMk id="3" creationId="{369ACF4E-8816-B39C-87FB-628EC6AB4410}"/>
          </ac:spMkLst>
        </pc:spChg>
      </pc:sldChg>
      <pc:sldChg chg="modSp new mod">
        <pc:chgData name="hussein shaaban" userId="9dfb4fc279e24574" providerId="LiveId" clId="{2B71447C-7CBF-4683-8CD8-F7304D075522}" dt="2024-06-04T17:28:20.163" v="355" actId="255"/>
        <pc:sldMkLst>
          <pc:docMk/>
          <pc:sldMk cId="1175168976" sldId="293"/>
        </pc:sldMkLst>
        <pc:spChg chg="mod">
          <ac:chgData name="hussein shaaban" userId="9dfb4fc279e24574" providerId="LiveId" clId="{2B71447C-7CBF-4683-8CD8-F7304D075522}" dt="2024-05-28T16:48:16.597" v="249" actId="14100"/>
          <ac:spMkLst>
            <pc:docMk/>
            <pc:sldMk cId="1175168976" sldId="293"/>
            <ac:spMk id="2" creationId="{3A63EFA7-ECE9-D2E2-ADC3-47652AB5D83D}"/>
          </ac:spMkLst>
        </pc:spChg>
        <pc:spChg chg="mod">
          <ac:chgData name="hussein shaaban" userId="9dfb4fc279e24574" providerId="LiveId" clId="{2B71447C-7CBF-4683-8CD8-F7304D075522}" dt="2024-06-04T17:28:20.163" v="355" actId="255"/>
          <ac:spMkLst>
            <pc:docMk/>
            <pc:sldMk cId="1175168976" sldId="293"/>
            <ac:spMk id="3" creationId="{6F969702-4D65-42FD-AAA8-61AC0D8CF35C}"/>
          </ac:spMkLst>
        </pc:spChg>
      </pc:sldChg>
      <pc:sldChg chg="delSp modSp new mod">
        <pc:chgData name="hussein shaaban" userId="9dfb4fc279e24574" providerId="LiveId" clId="{2B71447C-7CBF-4683-8CD8-F7304D075522}" dt="2024-05-28T16:58:45.119" v="262" actId="255"/>
        <pc:sldMkLst>
          <pc:docMk/>
          <pc:sldMk cId="2982797480" sldId="294"/>
        </pc:sldMkLst>
        <pc:spChg chg="del">
          <ac:chgData name="hussein shaaban" userId="9dfb4fc279e24574" providerId="LiveId" clId="{2B71447C-7CBF-4683-8CD8-F7304D075522}" dt="2024-05-28T16:57:30.017" v="255" actId="478"/>
          <ac:spMkLst>
            <pc:docMk/>
            <pc:sldMk cId="2982797480" sldId="294"/>
            <ac:spMk id="2" creationId="{9B53FFC4-3684-6A18-264D-BA45360D0A15}"/>
          </ac:spMkLst>
        </pc:spChg>
        <pc:spChg chg="mod">
          <ac:chgData name="hussein shaaban" userId="9dfb4fc279e24574" providerId="LiveId" clId="{2B71447C-7CBF-4683-8CD8-F7304D075522}" dt="2024-05-28T16:58:45.119" v="262" actId="255"/>
          <ac:spMkLst>
            <pc:docMk/>
            <pc:sldMk cId="2982797480" sldId="294"/>
            <ac:spMk id="3" creationId="{B914E1FA-D58D-42B1-FD4C-929C72D9B210}"/>
          </ac:spMkLst>
        </pc:spChg>
      </pc:sldChg>
      <pc:sldChg chg="delSp modSp new mod">
        <pc:chgData name="hussein shaaban" userId="9dfb4fc279e24574" providerId="LiveId" clId="{2B71447C-7CBF-4683-8CD8-F7304D075522}" dt="2024-05-28T17:23:31.561" v="268" actId="255"/>
        <pc:sldMkLst>
          <pc:docMk/>
          <pc:sldMk cId="1289776055" sldId="295"/>
        </pc:sldMkLst>
        <pc:spChg chg="del">
          <ac:chgData name="hussein shaaban" userId="9dfb4fc279e24574" providerId="LiveId" clId="{2B71447C-7CBF-4683-8CD8-F7304D075522}" dt="2024-05-28T17:22:34.305" v="264" actId="478"/>
          <ac:spMkLst>
            <pc:docMk/>
            <pc:sldMk cId="1289776055" sldId="295"/>
            <ac:spMk id="2" creationId="{0EC8122B-4CA7-7943-D893-EF1BF0FB1FEA}"/>
          </ac:spMkLst>
        </pc:spChg>
        <pc:spChg chg="mod">
          <ac:chgData name="hussein shaaban" userId="9dfb4fc279e24574" providerId="LiveId" clId="{2B71447C-7CBF-4683-8CD8-F7304D075522}" dt="2024-05-28T17:23:31.561" v="268" actId="255"/>
          <ac:spMkLst>
            <pc:docMk/>
            <pc:sldMk cId="1289776055" sldId="295"/>
            <ac:spMk id="3" creationId="{59446DE0-39B6-4FAC-5B2E-4DA109872647}"/>
          </ac:spMkLst>
        </pc:spChg>
      </pc:sldChg>
      <pc:sldChg chg="delSp modSp new mod">
        <pc:chgData name="hussein shaaban" userId="9dfb4fc279e24574" providerId="LiveId" clId="{2B71447C-7CBF-4683-8CD8-F7304D075522}" dt="2024-05-28T17:25:11.189" v="274" actId="255"/>
        <pc:sldMkLst>
          <pc:docMk/>
          <pc:sldMk cId="1257368200" sldId="296"/>
        </pc:sldMkLst>
        <pc:spChg chg="del">
          <ac:chgData name="hussein shaaban" userId="9dfb4fc279e24574" providerId="LiveId" clId="{2B71447C-7CBF-4683-8CD8-F7304D075522}" dt="2024-05-28T17:24:53.416" v="270" actId="478"/>
          <ac:spMkLst>
            <pc:docMk/>
            <pc:sldMk cId="1257368200" sldId="296"/>
            <ac:spMk id="2" creationId="{557A0710-A7BF-70B9-D222-31E6D02C6102}"/>
          </ac:spMkLst>
        </pc:spChg>
        <pc:spChg chg="mod">
          <ac:chgData name="hussein shaaban" userId="9dfb4fc279e24574" providerId="LiveId" clId="{2B71447C-7CBF-4683-8CD8-F7304D075522}" dt="2024-05-28T17:25:11.189" v="274" actId="255"/>
          <ac:spMkLst>
            <pc:docMk/>
            <pc:sldMk cId="1257368200" sldId="296"/>
            <ac:spMk id="3" creationId="{7E799F3A-AEB1-554D-9FBB-108F9F3FBA68}"/>
          </ac:spMkLst>
        </pc:spChg>
      </pc:sldChg>
      <pc:sldChg chg="delSp modSp new mod">
        <pc:chgData name="hussein shaaban" userId="9dfb4fc279e24574" providerId="LiveId" clId="{2B71447C-7CBF-4683-8CD8-F7304D075522}" dt="2024-05-28T17:26:05.160" v="280" actId="255"/>
        <pc:sldMkLst>
          <pc:docMk/>
          <pc:sldMk cId="1465335543" sldId="297"/>
        </pc:sldMkLst>
        <pc:spChg chg="del">
          <ac:chgData name="hussein shaaban" userId="9dfb4fc279e24574" providerId="LiveId" clId="{2B71447C-7CBF-4683-8CD8-F7304D075522}" dt="2024-05-28T17:25:20.082" v="276" actId="478"/>
          <ac:spMkLst>
            <pc:docMk/>
            <pc:sldMk cId="1465335543" sldId="297"/>
            <ac:spMk id="2" creationId="{E2C89305-04C3-CA9E-C98E-47BA9E5799DB}"/>
          </ac:spMkLst>
        </pc:spChg>
        <pc:spChg chg="mod">
          <ac:chgData name="hussein shaaban" userId="9dfb4fc279e24574" providerId="LiveId" clId="{2B71447C-7CBF-4683-8CD8-F7304D075522}" dt="2024-05-28T17:26:05.160" v="280" actId="255"/>
          <ac:spMkLst>
            <pc:docMk/>
            <pc:sldMk cId="1465335543" sldId="297"/>
            <ac:spMk id="3" creationId="{55548AF2-F148-0FE8-F538-541DFD708BED}"/>
          </ac:spMkLst>
        </pc:spChg>
      </pc:sldChg>
      <pc:sldChg chg="delSp modSp new mod">
        <pc:chgData name="hussein shaaban" userId="9dfb4fc279e24574" providerId="LiveId" clId="{2B71447C-7CBF-4683-8CD8-F7304D075522}" dt="2024-05-28T17:27:47.808" v="288" actId="255"/>
        <pc:sldMkLst>
          <pc:docMk/>
          <pc:sldMk cId="3977586781" sldId="298"/>
        </pc:sldMkLst>
        <pc:spChg chg="del">
          <ac:chgData name="hussein shaaban" userId="9dfb4fc279e24574" providerId="LiveId" clId="{2B71447C-7CBF-4683-8CD8-F7304D075522}" dt="2024-05-28T17:26:13.767" v="282" actId="478"/>
          <ac:spMkLst>
            <pc:docMk/>
            <pc:sldMk cId="3977586781" sldId="298"/>
            <ac:spMk id="2" creationId="{F5AA1584-D0BF-1F71-9EE9-6CDA399624C4}"/>
          </ac:spMkLst>
        </pc:spChg>
        <pc:spChg chg="mod">
          <ac:chgData name="hussein shaaban" userId="9dfb4fc279e24574" providerId="LiveId" clId="{2B71447C-7CBF-4683-8CD8-F7304D075522}" dt="2024-05-28T17:27:47.808" v="288" actId="255"/>
          <ac:spMkLst>
            <pc:docMk/>
            <pc:sldMk cId="3977586781" sldId="298"/>
            <ac:spMk id="3" creationId="{EDB05440-F8ED-8BA7-4AB8-CB0DBDC0D24F}"/>
          </ac:spMkLst>
        </pc:spChg>
      </pc:sldChg>
      <pc:sldChg chg="delSp modSp new mod">
        <pc:chgData name="hussein shaaban" userId="9dfb4fc279e24574" providerId="LiveId" clId="{2B71447C-7CBF-4683-8CD8-F7304D075522}" dt="2024-05-28T17:29:50.593" v="300" actId="255"/>
        <pc:sldMkLst>
          <pc:docMk/>
          <pc:sldMk cId="2127128557" sldId="299"/>
        </pc:sldMkLst>
        <pc:spChg chg="del">
          <ac:chgData name="hussein shaaban" userId="9dfb4fc279e24574" providerId="LiveId" clId="{2B71447C-7CBF-4683-8CD8-F7304D075522}" dt="2024-05-28T17:27:58.004" v="290" actId="478"/>
          <ac:spMkLst>
            <pc:docMk/>
            <pc:sldMk cId="2127128557" sldId="299"/>
            <ac:spMk id="2" creationId="{AE5A168B-8534-85B0-931F-A516F79A59B9}"/>
          </ac:spMkLst>
        </pc:spChg>
        <pc:spChg chg="mod">
          <ac:chgData name="hussein shaaban" userId="9dfb4fc279e24574" providerId="LiveId" clId="{2B71447C-7CBF-4683-8CD8-F7304D075522}" dt="2024-05-28T17:29:50.593" v="300" actId="255"/>
          <ac:spMkLst>
            <pc:docMk/>
            <pc:sldMk cId="2127128557" sldId="299"/>
            <ac:spMk id="3" creationId="{F0225AB9-6B03-6505-7220-3440504BE809}"/>
          </ac:spMkLst>
        </pc:spChg>
      </pc:sldChg>
      <pc:sldChg chg="delSp modSp new mod">
        <pc:chgData name="hussein shaaban" userId="9dfb4fc279e24574" providerId="LiveId" clId="{2B71447C-7CBF-4683-8CD8-F7304D075522}" dt="2024-05-28T17:30:43.088" v="305" actId="255"/>
        <pc:sldMkLst>
          <pc:docMk/>
          <pc:sldMk cId="656446027" sldId="300"/>
        </pc:sldMkLst>
        <pc:spChg chg="del">
          <ac:chgData name="hussein shaaban" userId="9dfb4fc279e24574" providerId="LiveId" clId="{2B71447C-7CBF-4683-8CD8-F7304D075522}" dt="2024-05-28T17:30:32.338" v="303" actId="478"/>
          <ac:spMkLst>
            <pc:docMk/>
            <pc:sldMk cId="656446027" sldId="300"/>
            <ac:spMk id="2" creationId="{A90263AD-96B8-86FF-295E-D7B5432E448B}"/>
          </ac:spMkLst>
        </pc:spChg>
        <pc:spChg chg="mod">
          <ac:chgData name="hussein shaaban" userId="9dfb4fc279e24574" providerId="LiveId" clId="{2B71447C-7CBF-4683-8CD8-F7304D075522}" dt="2024-05-28T17:30:43.088" v="305" actId="255"/>
          <ac:spMkLst>
            <pc:docMk/>
            <pc:sldMk cId="656446027" sldId="300"/>
            <ac:spMk id="3" creationId="{8174AB05-6C8D-55C6-3023-8CF1E9E227A0}"/>
          </ac:spMkLst>
        </pc:spChg>
      </pc:sldChg>
      <pc:sldChg chg="delSp modSp new mod">
        <pc:chgData name="hussein shaaban" userId="9dfb4fc279e24574" providerId="LiveId" clId="{2B71447C-7CBF-4683-8CD8-F7304D075522}" dt="2024-05-28T17:33:49.673" v="312" actId="255"/>
        <pc:sldMkLst>
          <pc:docMk/>
          <pc:sldMk cId="4102912078" sldId="301"/>
        </pc:sldMkLst>
        <pc:spChg chg="del">
          <ac:chgData name="hussein shaaban" userId="9dfb4fc279e24574" providerId="LiveId" clId="{2B71447C-7CBF-4683-8CD8-F7304D075522}" dt="2024-05-28T17:31:55.524" v="307" actId="478"/>
          <ac:spMkLst>
            <pc:docMk/>
            <pc:sldMk cId="4102912078" sldId="301"/>
            <ac:spMk id="2" creationId="{294CABA9-6BB0-84DD-95C6-E002251E8696}"/>
          </ac:spMkLst>
        </pc:spChg>
        <pc:spChg chg="mod">
          <ac:chgData name="hussein shaaban" userId="9dfb4fc279e24574" providerId="LiveId" clId="{2B71447C-7CBF-4683-8CD8-F7304D075522}" dt="2024-05-28T17:33:49.673" v="312" actId="255"/>
          <ac:spMkLst>
            <pc:docMk/>
            <pc:sldMk cId="4102912078" sldId="301"/>
            <ac:spMk id="3" creationId="{6B7EC3C3-64A1-2B0C-F2ED-894F80F9CE7B}"/>
          </ac:spMkLst>
        </pc:spChg>
      </pc:sldChg>
      <pc:sldChg chg="delSp modSp new mod">
        <pc:chgData name="hussein shaaban" userId="9dfb4fc279e24574" providerId="LiveId" clId="{2B71447C-7CBF-4683-8CD8-F7304D075522}" dt="2024-05-28T17:36:04.430" v="323" actId="255"/>
        <pc:sldMkLst>
          <pc:docMk/>
          <pc:sldMk cId="1173536975" sldId="302"/>
        </pc:sldMkLst>
        <pc:spChg chg="del">
          <ac:chgData name="hussein shaaban" userId="9dfb4fc279e24574" providerId="LiveId" clId="{2B71447C-7CBF-4683-8CD8-F7304D075522}" dt="2024-05-28T17:34:37.631" v="315" actId="478"/>
          <ac:spMkLst>
            <pc:docMk/>
            <pc:sldMk cId="1173536975" sldId="302"/>
            <ac:spMk id="2" creationId="{78FC88EF-ECAE-86C7-B1FE-DE63D6C3F049}"/>
          </ac:spMkLst>
        </pc:spChg>
        <pc:spChg chg="mod">
          <ac:chgData name="hussein shaaban" userId="9dfb4fc279e24574" providerId="LiveId" clId="{2B71447C-7CBF-4683-8CD8-F7304D075522}" dt="2024-05-28T17:36:04.430" v="323" actId="255"/>
          <ac:spMkLst>
            <pc:docMk/>
            <pc:sldMk cId="1173536975" sldId="302"/>
            <ac:spMk id="3" creationId="{0A01BFA5-65A9-463B-1E8B-65A93936E910}"/>
          </ac:spMkLst>
        </pc:spChg>
      </pc:sldChg>
      <pc:sldChg chg="delSp modSp new mod">
        <pc:chgData name="hussein shaaban" userId="9dfb4fc279e24574" providerId="LiveId" clId="{2B71447C-7CBF-4683-8CD8-F7304D075522}" dt="2024-05-28T17:38:39.050" v="333" actId="255"/>
        <pc:sldMkLst>
          <pc:docMk/>
          <pc:sldMk cId="3575096489" sldId="303"/>
        </pc:sldMkLst>
        <pc:spChg chg="del">
          <ac:chgData name="hussein shaaban" userId="9dfb4fc279e24574" providerId="LiveId" clId="{2B71447C-7CBF-4683-8CD8-F7304D075522}" dt="2024-05-28T17:37:42.651" v="325" actId="478"/>
          <ac:spMkLst>
            <pc:docMk/>
            <pc:sldMk cId="3575096489" sldId="303"/>
            <ac:spMk id="2" creationId="{CC4F6FEA-9DC7-EA3D-0B6B-1BDFAA61F5DC}"/>
          </ac:spMkLst>
        </pc:spChg>
        <pc:spChg chg="mod">
          <ac:chgData name="hussein shaaban" userId="9dfb4fc279e24574" providerId="LiveId" clId="{2B71447C-7CBF-4683-8CD8-F7304D075522}" dt="2024-05-28T17:38:39.050" v="333" actId="255"/>
          <ac:spMkLst>
            <pc:docMk/>
            <pc:sldMk cId="3575096489" sldId="303"/>
            <ac:spMk id="3" creationId="{83B1FCA7-91BB-40F3-82E8-075847216BAE}"/>
          </ac:spMkLst>
        </pc:spChg>
      </pc:sldChg>
      <pc:sldChg chg="modSp new mod">
        <pc:chgData name="hussein shaaban" userId="9dfb4fc279e24574" providerId="LiveId" clId="{2B71447C-7CBF-4683-8CD8-F7304D075522}" dt="2024-06-04T15:06:19.264" v="344" actId="255"/>
        <pc:sldMkLst>
          <pc:docMk/>
          <pc:sldMk cId="4009572727" sldId="304"/>
        </pc:sldMkLst>
        <pc:spChg chg="mod">
          <ac:chgData name="hussein shaaban" userId="9dfb4fc279e24574" providerId="LiveId" clId="{2B71447C-7CBF-4683-8CD8-F7304D075522}" dt="2024-06-04T15:06:04.816" v="342" actId="27636"/>
          <ac:spMkLst>
            <pc:docMk/>
            <pc:sldMk cId="4009572727" sldId="304"/>
            <ac:spMk id="2" creationId="{17FA778B-B9DD-5F8C-532F-76BB695CF0B9}"/>
          </ac:spMkLst>
        </pc:spChg>
        <pc:spChg chg="mod">
          <ac:chgData name="hussein shaaban" userId="9dfb4fc279e24574" providerId="LiveId" clId="{2B71447C-7CBF-4683-8CD8-F7304D075522}" dt="2024-06-04T15:06:19.264" v="344" actId="255"/>
          <ac:spMkLst>
            <pc:docMk/>
            <pc:sldMk cId="4009572727" sldId="304"/>
            <ac:spMk id="3" creationId="{1B5F1B04-4024-AF92-115F-3AEEE96A60F4}"/>
          </ac:spMkLst>
        </pc:spChg>
      </pc:sldChg>
      <pc:sldChg chg="delSp modSp new mod">
        <pc:chgData name="hussein shaaban" userId="9dfb4fc279e24574" providerId="LiveId" clId="{2B71447C-7CBF-4683-8CD8-F7304D075522}" dt="2024-06-04T17:28:50.484" v="362" actId="20577"/>
        <pc:sldMkLst>
          <pc:docMk/>
          <pc:sldMk cId="2442585328" sldId="305"/>
        </pc:sldMkLst>
        <pc:spChg chg="del">
          <ac:chgData name="hussein shaaban" userId="9dfb4fc279e24574" providerId="LiveId" clId="{2B71447C-7CBF-4683-8CD8-F7304D075522}" dt="2024-06-04T17:28:31.429" v="358" actId="478"/>
          <ac:spMkLst>
            <pc:docMk/>
            <pc:sldMk cId="2442585328" sldId="305"/>
            <ac:spMk id="2" creationId="{4D392FCD-5F89-BAC5-3364-F1B90C62547F}"/>
          </ac:spMkLst>
        </pc:spChg>
        <pc:spChg chg="mod">
          <ac:chgData name="hussein shaaban" userId="9dfb4fc279e24574" providerId="LiveId" clId="{2B71447C-7CBF-4683-8CD8-F7304D075522}" dt="2024-06-04T17:28:50.484" v="362" actId="20577"/>
          <ac:spMkLst>
            <pc:docMk/>
            <pc:sldMk cId="2442585328" sldId="305"/>
            <ac:spMk id="3" creationId="{B8297936-9062-48E2-5A80-C18F4799BB44}"/>
          </ac:spMkLst>
        </pc:spChg>
      </pc:sldChg>
      <pc:sldChg chg="delSp modSp new mod">
        <pc:chgData name="hussein shaaban" userId="9dfb4fc279e24574" providerId="LiveId" clId="{2B71447C-7CBF-4683-8CD8-F7304D075522}" dt="2024-06-27T12:43:50.184" v="469" actId="20577"/>
        <pc:sldMkLst>
          <pc:docMk/>
          <pc:sldMk cId="1488466158" sldId="306"/>
        </pc:sldMkLst>
        <pc:spChg chg="del">
          <ac:chgData name="hussein shaaban" userId="9dfb4fc279e24574" providerId="LiveId" clId="{2B71447C-7CBF-4683-8CD8-F7304D075522}" dt="2024-06-04T17:29:47.944" v="364" actId="478"/>
          <ac:spMkLst>
            <pc:docMk/>
            <pc:sldMk cId="1488466158" sldId="306"/>
            <ac:spMk id="2" creationId="{38926C48-BB7B-553B-03BD-638C1A7CBDF9}"/>
          </ac:spMkLst>
        </pc:spChg>
        <pc:spChg chg="mod">
          <ac:chgData name="hussein shaaban" userId="9dfb4fc279e24574" providerId="LiveId" clId="{2B71447C-7CBF-4683-8CD8-F7304D075522}" dt="2024-06-27T12:43:50.184" v="469" actId="20577"/>
          <ac:spMkLst>
            <pc:docMk/>
            <pc:sldMk cId="1488466158" sldId="306"/>
            <ac:spMk id="3" creationId="{A6C0C18D-DEE0-7E92-0015-0C02862EDFE8}"/>
          </ac:spMkLst>
        </pc:spChg>
      </pc:sldChg>
      <pc:sldChg chg="delSp modSp new mod">
        <pc:chgData name="hussein shaaban" userId="9dfb4fc279e24574" providerId="LiveId" clId="{2B71447C-7CBF-4683-8CD8-F7304D075522}" dt="2024-06-04T17:32:12.113" v="372" actId="5793"/>
        <pc:sldMkLst>
          <pc:docMk/>
          <pc:sldMk cId="1420932913" sldId="307"/>
        </pc:sldMkLst>
        <pc:spChg chg="del">
          <ac:chgData name="hussein shaaban" userId="9dfb4fc279e24574" providerId="LiveId" clId="{2B71447C-7CBF-4683-8CD8-F7304D075522}" dt="2024-06-04T17:31:51.481" v="369" actId="478"/>
          <ac:spMkLst>
            <pc:docMk/>
            <pc:sldMk cId="1420932913" sldId="307"/>
            <ac:spMk id="2" creationId="{C2057052-CD58-D866-BAFB-35C2B8D06EC9}"/>
          </ac:spMkLst>
        </pc:spChg>
        <pc:spChg chg="mod">
          <ac:chgData name="hussein shaaban" userId="9dfb4fc279e24574" providerId="LiveId" clId="{2B71447C-7CBF-4683-8CD8-F7304D075522}" dt="2024-06-04T17:32:12.113" v="372" actId="5793"/>
          <ac:spMkLst>
            <pc:docMk/>
            <pc:sldMk cId="1420932913" sldId="307"/>
            <ac:spMk id="3" creationId="{9F61A37A-D349-6EDD-9E02-1BA5B54B4C4C}"/>
          </ac:spMkLst>
        </pc:spChg>
      </pc:sldChg>
      <pc:sldChg chg="delSp modSp new mod">
        <pc:chgData name="hussein shaaban" userId="9dfb4fc279e24574" providerId="LiveId" clId="{2B71447C-7CBF-4683-8CD8-F7304D075522}" dt="2024-06-04T17:33:59.856" v="384" actId="14100"/>
        <pc:sldMkLst>
          <pc:docMk/>
          <pc:sldMk cId="1225027474" sldId="308"/>
        </pc:sldMkLst>
        <pc:spChg chg="del">
          <ac:chgData name="hussein shaaban" userId="9dfb4fc279e24574" providerId="LiveId" clId="{2B71447C-7CBF-4683-8CD8-F7304D075522}" dt="2024-06-04T17:32:24.363" v="374" actId="478"/>
          <ac:spMkLst>
            <pc:docMk/>
            <pc:sldMk cId="1225027474" sldId="308"/>
            <ac:spMk id="2" creationId="{217FBB4A-49BE-A539-7CBE-EE5780B23B18}"/>
          </ac:spMkLst>
        </pc:spChg>
        <pc:spChg chg="mod">
          <ac:chgData name="hussein shaaban" userId="9dfb4fc279e24574" providerId="LiveId" clId="{2B71447C-7CBF-4683-8CD8-F7304D075522}" dt="2024-06-04T17:33:59.856" v="384" actId="14100"/>
          <ac:spMkLst>
            <pc:docMk/>
            <pc:sldMk cId="1225027474" sldId="308"/>
            <ac:spMk id="3" creationId="{A6F99BEF-E129-7D87-DFE1-E52DE71DF069}"/>
          </ac:spMkLst>
        </pc:spChg>
      </pc:sldChg>
      <pc:sldChg chg="delSp modSp new mod">
        <pc:chgData name="hussein shaaban" userId="9dfb4fc279e24574" providerId="LiveId" clId="{2B71447C-7CBF-4683-8CD8-F7304D075522}" dt="2024-06-04T17:35:04.111" v="391" actId="255"/>
        <pc:sldMkLst>
          <pc:docMk/>
          <pc:sldMk cId="3716126951" sldId="309"/>
        </pc:sldMkLst>
        <pc:spChg chg="del">
          <ac:chgData name="hussein shaaban" userId="9dfb4fc279e24574" providerId="LiveId" clId="{2B71447C-7CBF-4683-8CD8-F7304D075522}" dt="2024-06-04T17:34:13.888" v="386" actId="478"/>
          <ac:spMkLst>
            <pc:docMk/>
            <pc:sldMk cId="3716126951" sldId="309"/>
            <ac:spMk id="2" creationId="{2530653A-4A17-FBE6-DE8F-57DE10AF45A9}"/>
          </ac:spMkLst>
        </pc:spChg>
        <pc:spChg chg="mod">
          <ac:chgData name="hussein shaaban" userId="9dfb4fc279e24574" providerId="LiveId" clId="{2B71447C-7CBF-4683-8CD8-F7304D075522}" dt="2024-06-04T17:35:04.111" v="391" actId="255"/>
          <ac:spMkLst>
            <pc:docMk/>
            <pc:sldMk cId="3716126951" sldId="309"/>
            <ac:spMk id="3" creationId="{EFF667ED-0797-2051-C1CD-37EEE4CCE634}"/>
          </ac:spMkLst>
        </pc:spChg>
      </pc:sldChg>
      <pc:sldChg chg="delSp modSp new mod">
        <pc:chgData name="hussein shaaban" userId="9dfb4fc279e24574" providerId="LiveId" clId="{2B71447C-7CBF-4683-8CD8-F7304D075522}" dt="2024-06-04T17:35:52.690" v="397" actId="255"/>
        <pc:sldMkLst>
          <pc:docMk/>
          <pc:sldMk cId="776645014" sldId="310"/>
        </pc:sldMkLst>
        <pc:spChg chg="del">
          <ac:chgData name="hussein shaaban" userId="9dfb4fc279e24574" providerId="LiveId" clId="{2B71447C-7CBF-4683-8CD8-F7304D075522}" dt="2024-06-04T17:35:30.809" v="393" actId="478"/>
          <ac:spMkLst>
            <pc:docMk/>
            <pc:sldMk cId="776645014" sldId="310"/>
            <ac:spMk id="2" creationId="{0CD2E89E-B5D9-329A-8D43-05B773272D08}"/>
          </ac:spMkLst>
        </pc:spChg>
        <pc:spChg chg="mod">
          <ac:chgData name="hussein shaaban" userId="9dfb4fc279e24574" providerId="LiveId" clId="{2B71447C-7CBF-4683-8CD8-F7304D075522}" dt="2024-06-04T17:35:52.690" v="397" actId="255"/>
          <ac:spMkLst>
            <pc:docMk/>
            <pc:sldMk cId="776645014" sldId="310"/>
            <ac:spMk id="3" creationId="{CD014ED7-82BC-4402-885B-00794B1480B2}"/>
          </ac:spMkLst>
        </pc:spChg>
      </pc:sldChg>
      <pc:sldChg chg="delSp modSp new mod">
        <pc:chgData name="hussein shaaban" userId="9dfb4fc279e24574" providerId="LiveId" clId="{2B71447C-7CBF-4683-8CD8-F7304D075522}" dt="2024-06-04T17:36:33.391" v="403" actId="255"/>
        <pc:sldMkLst>
          <pc:docMk/>
          <pc:sldMk cId="4189281050" sldId="311"/>
        </pc:sldMkLst>
        <pc:spChg chg="del">
          <ac:chgData name="hussein shaaban" userId="9dfb4fc279e24574" providerId="LiveId" clId="{2B71447C-7CBF-4683-8CD8-F7304D075522}" dt="2024-06-04T17:36:17.144" v="399" actId="478"/>
          <ac:spMkLst>
            <pc:docMk/>
            <pc:sldMk cId="4189281050" sldId="311"/>
            <ac:spMk id="2" creationId="{F3AC5DBE-BAA9-A2C4-0CB5-87879B6FDFDF}"/>
          </ac:spMkLst>
        </pc:spChg>
        <pc:spChg chg="mod">
          <ac:chgData name="hussein shaaban" userId="9dfb4fc279e24574" providerId="LiveId" clId="{2B71447C-7CBF-4683-8CD8-F7304D075522}" dt="2024-06-04T17:36:33.391" v="403" actId="255"/>
          <ac:spMkLst>
            <pc:docMk/>
            <pc:sldMk cId="4189281050" sldId="311"/>
            <ac:spMk id="3" creationId="{F23D7E51-DDCA-92D5-6993-7C1C5AC41DE3}"/>
          </ac:spMkLst>
        </pc:spChg>
      </pc:sldChg>
      <pc:sldChg chg="delSp modSp new mod">
        <pc:chgData name="hussein shaaban" userId="9dfb4fc279e24574" providerId="LiveId" clId="{2B71447C-7CBF-4683-8CD8-F7304D075522}" dt="2024-06-04T17:37:14.265" v="409" actId="255"/>
        <pc:sldMkLst>
          <pc:docMk/>
          <pc:sldMk cId="1635675249" sldId="312"/>
        </pc:sldMkLst>
        <pc:spChg chg="del">
          <ac:chgData name="hussein shaaban" userId="9dfb4fc279e24574" providerId="LiveId" clId="{2B71447C-7CBF-4683-8CD8-F7304D075522}" dt="2024-06-04T17:36:54.809" v="405" actId="478"/>
          <ac:spMkLst>
            <pc:docMk/>
            <pc:sldMk cId="1635675249" sldId="312"/>
            <ac:spMk id="2" creationId="{96B70D6F-FC38-FCA7-AB8C-7098D8B31B86}"/>
          </ac:spMkLst>
        </pc:spChg>
        <pc:spChg chg="mod">
          <ac:chgData name="hussein shaaban" userId="9dfb4fc279e24574" providerId="LiveId" clId="{2B71447C-7CBF-4683-8CD8-F7304D075522}" dt="2024-06-04T17:37:14.265" v="409" actId="255"/>
          <ac:spMkLst>
            <pc:docMk/>
            <pc:sldMk cId="1635675249" sldId="312"/>
            <ac:spMk id="3" creationId="{EC410DC2-C466-E2F5-7253-3BDE2511BF9B}"/>
          </ac:spMkLst>
        </pc:spChg>
      </pc:sldChg>
      <pc:sldChg chg="delSp modSp new mod">
        <pc:chgData name="hussein shaaban" userId="9dfb4fc279e24574" providerId="LiveId" clId="{2B71447C-7CBF-4683-8CD8-F7304D075522}" dt="2024-06-04T17:38:16.334" v="415" actId="255"/>
        <pc:sldMkLst>
          <pc:docMk/>
          <pc:sldMk cId="3936573505" sldId="313"/>
        </pc:sldMkLst>
        <pc:spChg chg="del">
          <ac:chgData name="hussein shaaban" userId="9dfb4fc279e24574" providerId="LiveId" clId="{2B71447C-7CBF-4683-8CD8-F7304D075522}" dt="2024-06-04T17:37:58.841" v="411" actId="478"/>
          <ac:spMkLst>
            <pc:docMk/>
            <pc:sldMk cId="3936573505" sldId="313"/>
            <ac:spMk id="2" creationId="{1961F5F6-E021-A0DB-7A63-BB5E1B809692}"/>
          </ac:spMkLst>
        </pc:spChg>
        <pc:spChg chg="mod">
          <ac:chgData name="hussein shaaban" userId="9dfb4fc279e24574" providerId="LiveId" clId="{2B71447C-7CBF-4683-8CD8-F7304D075522}" dt="2024-06-04T17:38:16.334" v="415" actId="255"/>
          <ac:spMkLst>
            <pc:docMk/>
            <pc:sldMk cId="3936573505" sldId="313"/>
            <ac:spMk id="3" creationId="{6A22512B-5F5A-6DDF-D3C0-F0ED8C4E1B74}"/>
          </ac:spMkLst>
        </pc:spChg>
      </pc:sldChg>
      <pc:sldChg chg="delSp modSp new mod">
        <pc:chgData name="hussein shaaban" userId="9dfb4fc279e24574" providerId="LiveId" clId="{2B71447C-7CBF-4683-8CD8-F7304D075522}" dt="2024-06-04T17:40:25.776" v="427" actId="255"/>
        <pc:sldMkLst>
          <pc:docMk/>
          <pc:sldMk cId="869573322" sldId="314"/>
        </pc:sldMkLst>
        <pc:spChg chg="del">
          <ac:chgData name="hussein shaaban" userId="9dfb4fc279e24574" providerId="LiveId" clId="{2B71447C-7CBF-4683-8CD8-F7304D075522}" dt="2024-06-04T17:39:51.597" v="419" actId="478"/>
          <ac:spMkLst>
            <pc:docMk/>
            <pc:sldMk cId="869573322" sldId="314"/>
            <ac:spMk id="2" creationId="{A6AC959E-B033-B5A4-FCA3-7561116175ED}"/>
          </ac:spMkLst>
        </pc:spChg>
        <pc:spChg chg="mod">
          <ac:chgData name="hussein shaaban" userId="9dfb4fc279e24574" providerId="LiveId" clId="{2B71447C-7CBF-4683-8CD8-F7304D075522}" dt="2024-06-04T17:40:25.776" v="427" actId="255"/>
          <ac:spMkLst>
            <pc:docMk/>
            <pc:sldMk cId="869573322" sldId="314"/>
            <ac:spMk id="3" creationId="{C5517D9A-F1DB-9B69-186E-F2D618CB4372}"/>
          </ac:spMkLst>
        </pc:spChg>
      </pc:sldChg>
      <pc:sldChg chg="delSp modSp new mod">
        <pc:chgData name="hussein shaaban" userId="9dfb4fc279e24574" providerId="LiveId" clId="{2B71447C-7CBF-4683-8CD8-F7304D075522}" dt="2024-06-04T17:42:23.402" v="435" actId="5793"/>
        <pc:sldMkLst>
          <pc:docMk/>
          <pc:sldMk cId="2168895406" sldId="315"/>
        </pc:sldMkLst>
        <pc:spChg chg="del">
          <ac:chgData name="hussein shaaban" userId="9dfb4fc279e24574" providerId="LiveId" clId="{2B71447C-7CBF-4683-8CD8-F7304D075522}" dt="2024-06-04T17:40:52.112" v="429" actId="478"/>
          <ac:spMkLst>
            <pc:docMk/>
            <pc:sldMk cId="2168895406" sldId="315"/>
            <ac:spMk id="2" creationId="{F4287480-0A59-E479-B9CC-1C01F3CF0861}"/>
          </ac:spMkLst>
        </pc:spChg>
        <pc:spChg chg="mod">
          <ac:chgData name="hussein shaaban" userId="9dfb4fc279e24574" providerId="LiveId" clId="{2B71447C-7CBF-4683-8CD8-F7304D075522}" dt="2024-06-04T17:42:23.402" v="435" actId="5793"/>
          <ac:spMkLst>
            <pc:docMk/>
            <pc:sldMk cId="2168895406" sldId="315"/>
            <ac:spMk id="3" creationId="{3DCB1F81-8DE9-5B0C-63FA-079D05A8471A}"/>
          </ac:spMkLst>
        </pc:spChg>
      </pc:sldChg>
      <pc:sldChg chg="delSp modSp new mod">
        <pc:chgData name="hussein shaaban" userId="9dfb4fc279e24574" providerId="LiveId" clId="{2B71447C-7CBF-4683-8CD8-F7304D075522}" dt="2024-06-04T17:44:37.323" v="441" actId="255"/>
        <pc:sldMkLst>
          <pc:docMk/>
          <pc:sldMk cId="1098265344" sldId="316"/>
        </pc:sldMkLst>
        <pc:spChg chg="del">
          <ac:chgData name="hussein shaaban" userId="9dfb4fc279e24574" providerId="LiveId" clId="{2B71447C-7CBF-4683-8CD8-F7304D075522}" dt="2024-06-04T17:42:38.322" v="437" actId="478"/>
          <ac:spMkLst>
            <pc:docMk/>
            <pc:sldMk cId="1098265344" sldId="316"/>
            <ac:spMk id="2" creationId="{C7C37CC5-84D9-5348-5A49-AAC7CA261171}"/>
          </ac:spMkLst>
        </pc:spChg>
        <pc:spChg chg="mod">
          <ac:chgData name="hussein shaaban" userId="9dfb4fc279e24574" providerId="LiveId" clId="{2B71447C-7CBF-4683-8CD8-F7304D075522}" dt="2024-06-04T17:44:37.323" v="441" actId="255"/>
          <ac:spMkLst>
            <pc:docMk/>
            <pc:sldMk cId="1098265344" sldId="316"/>
            <ac:spMk id="3" creationId="{30A7B414-A832-BB73-3960-DA243C56E9FF}"/>
          </ac:spMkLst>
        </pc:spChg>
      </pc:sldChg>
      <pc:sldChg chg="delSp modSp new mod">
        <pc:chgData name="hussein shaaban" userId="9dfb4fc279e24574" providerId="LiveId" clId="{2B71447C-7CBF-4683-8CD8-F7304D075522}" dt="2024-06-04T17:45:25.036" v="447" actId="255"/>
        <pc:sldMkLst>
          <pc:docMk/>
          <pc:sldMk cId="929041323" sldId="317"/>
        </pc:sldMkLst>
        <pc:spChg chg="del">
          <ac:chgData name="hussein shaaban" userId="9dfb4fc279e24574" providerId="LiveId" clId="{2B71447C-7CBF-4683-8CD8-F7304D075522}" dt="2024-06-04T17:45:08.323" v="443" actId="478"/>
          <ac:spMkLst>
            <pc:docMk/>
            <pc:sldMk cId="929041323" sldId="317"/>
            <ac:spMk id="2" creationId="{F8A6F59F-C517-1729-BA13-A4A34C1E2F90}"/>
          </ac:spMkLst>
        </pc:spChg>
        <pc:spChg chg="mod">
          <ac:chgData name="hussein shaaban" userId="9dfb4fc279e24574" providerId="LiveId" clId="{2B71447C-7CBF-4683-8CD8-F7304D075522}" dt="2024-06-04T17:45:25.036" v="447" actId="255"/>
          <ac:spMkLst>
            <pc:docMk/>
            <pc:sldMk cId="929041323" sldId="317"/>
            <ac:spMk id="3" creationId="{B07C9B2C-5B81-A4AD-DB16-389D31517C18}"/>
          </ac:spMkLst>
        </pc:spChg>
      </pc:sldChg>
      <pc:sldChg chg="delSp modSp new mod">
        <pc:chgData name="hussein shaaban" userId="9dfb4fc279e24574" providerId="LiveId" clId="{2B71447C-7CBF-4683-8CD8-F7304D075522}" dt="2024-06-04T17:47:53.978" v="453" actId="255"/>
        <pc:sldMkLst>
          <pc:docMk/>
          <pc:sldMk cId="3506368902" sldId="318"/>
        </pc:sldMkLst>
        <pc:spChg chg="del">
          <ac:chgData name="hussein shaaban" userId="9dfb4fc279e24574" providerId="LiveId" clId="{2B71447C-7CBF-4683-8CD8-F7304D075522}" dt="2024-06-04T17:46:50.874" v="450" actId="478"/>
          <ac:spMkLst>
            <pc:docMk/>
            <pc:sldMk cId="3506368902" sldId="318"/>
            <ac:spMk id="2" creationId="{2866FEBF-41A5-1CBC-D5CC-BBD3EA1F86F1}"/>
          </ac:spMkLst>
        </pc:spChg>
        <pc:spChg chg="mod">
          <ac:chgData name="hussein shaaban" userId="9dfb4fc279e24574" providerId="LiveId" clId="{2B71447C-7CBF-4683-8CD8-F7304D075522}" dt="2024-06-04T17:47:53.978" v="453" actId="255"/>
          <ac:spMkLst>
            <pc:docMk/>
            <pc:sldMk cId="3506368902" sldId="318"/>
            <ac:spMk id="3" creationId="{2DBCAA80-18C5-7918-F0C6-8D07D463F751}"/>
          </ac:spMkLst>
        </pc:spChg>
      </pc:sldChg>
      <pc:sldChg chg="delSp modSp new mod">
        <pc:chgData name="hussein shaaban" userId="9dfb4fc279e24574" providerId="LiveId" clId="{2B71447C-7CBF-4683-8CD8-F7304D075522}" dt="2024-06-04T17:48:25.643" v="459" actId="20577"/>
        <pc:sldMkLst>
          <pc:docMk/>
          <pc:sldMk cId="2819909955" sldId="319"/>
        </pc:sldMkLst>
        <pc:spChg chg="del">
          <ac:chgData name="hussein shaaban" userId="9dfb4fc279e24574" providerId="LiveId" clId="{2B71447C-7CBF-4683-8CD8-F7304D075522}" dt="2024-06-04T17:48:02.290" v="455" actId="478"/>
          <ac:spMkLst>
            <pc:docMk/>
            <pc:sldMk cId="2819909955" sldId="319"/>
            <ac:spMk id="2" creationId="{D290D5C7-C36C-52AB-2D95-A731346CDA93}"/>
          </ac:spMkLst>
        </pc:spChg>
        <pc:spChg chg="mod">
          <ac:chgData name="hussein shaaban" userId="9dfb4fc279e24574" providerId="LiveId" clId="{2B71447C-7CBF-4683-8CD8-F7304D075522}" dt="2024-06-04T17:48:25.643" v="459" actId="20577"/>
          <ac:spMkLst>
            <pc:docMk/>
            <pc:sldMk cId="2819909955" sldId="319"/>
            <ac:spMk id="3" creationId="{36ED5F68-E248-206C-B2DB-1CF7513B5F25}"/>
          </ac:spMkLst>
        </pc:spChg>
      </pc:sldChg>
      <pc:sldChg chg="delSp modSp new mod">
        <pc:chgData name="hussein shaaban" userId="9dfb4fc279e24574" providerId="LiveId" clId="{2B71447C-7CBF-4683-8CD8-F7304D075522}" dt="2024-06-04T17:50:58.798" v="466" actId="27636"/>
        <pc:sldMkLst>
          <pc:docMk/>
          <pc:sldMk cId="1607332928" sldId="320"/>
        </pc:sldMkLst>
        <pc:spChg chg="del">
          <ac:chgData name="hussein shaaban" userId="9dfb4fc279e24574" providerId="LiveId" clId="{2B71447C-7CBF-4683-8CD8-F7304D075522}" dt="2024-06-04T17:50:38.574" v="462" actId="478"/>
          <ac:spMkLst>
            <pc:docMk/>
            <pc:sldMk cId="1607332928" sldId="320"/>
            <ac:spMk id="2" creationId="{6C61F13A-E384-6FBD-CA2B-196881A23A51}"/>
          </ac:spMkLst>
        </pc:spChg>
        <pc:spChg chg="mod">
          <ac:chgData name="hussein shaaban" userId="9dfb4fc279e24574" providerId="LiveId" clId="{2B71447C-7CBF-4683-8CD8-F7304D075522}" dt="2024-06-04T17:50:58.798" v="466" actId="27636"/>
          <ac:spMkLst>
            <pc:docMk/>
            <pc:sldMk cId="1607332928" sldId="320"/>
            <ac:spMk id="3" creationId="{6C680B06-7F14-0688-C9EA-A2B6BD75DEA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5142D-DBB1-427A-1C43-7921476582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BC747946-5775-FA5A-4054-29CAECB366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A1CCA6FC-B9B1-3F92-816B-423475F468CC}"/>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9B1A9F31-2835-B400-E771-A4BD5634B860}"/>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3C512F68-44E5-DA93-4859-769C1D9F318A}"/>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331878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F9617-5D4F-AA6B-0AF4-57C71F34D4BF}"/>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C9ED999E-5A7D-4EA0-F693-B0B30BA62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638A7C52-691E-EE05-EAF0-B75027748A36}"/>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51BA8760-2EB0-7690-4C56-A0ECD99B4208}"/>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4D3CF0BA-5E87-E983-3680-5826FC6B6553}"/>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4241281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3D3B-254F-25FE-BF6B-36069B083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EAED9394-FDE1-DB99-B571-101DBE5894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C622BE-C82F-0021-7C5B-25FF528D1A66}"/>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BC387D10-24AD-66C0-D166-881A19983E4F}"/>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8F9EBCE9-DEAB-09A8-67F5-E03E5EEFF3EF}"/>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113786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F2E53-782B-C3EA-E15F-F29274A7F839}"/>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7B60FDAE-CB8B-C48C-1AA5-4956DFF59B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7A0439EA-D018-237B-EC48-BF8C340976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A1BE1E8B-EDB3-FF6A-9A5C-D13AA8F33ADD}"/>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6" name="Footer Placeholder 5">
            <a:extLst>
              <a:ext uri="{FF2B5EF4-FFF2-40B4-BE49-F238E27FC236}">
                <a16:creationId xmlns:a16="http://schemas.microsoft.com/office/drawing/2014/main" id="{AC9CCCCE-3B45-0764-47EA-A5167EEAC452}"/>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01756D17-590C-B4D6-0D90-9CAE2B3FB6D7}"/>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1687636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07C8-A930-9F25-A53C-4C52202D6C67}"/>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D89BCC20-4C18-1F26-C321-8B54163DF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D0302A-2E41-24A2-9DD1-56D74915F6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F537B587-F649-B345-B147-DF8864DCBC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E604C9-5FE6-BF6F-AA60-2948D2CC52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23BF42D3-C6E3-4A62-40A3-2EB7032DE94F}"/>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8" name="Footer Placeholder 7">
            <a:extLst>
              <a:ext uri="{FF2B5EF4-FFF2-40B4-BE49-F238E27FC236}">
                <a16:creationId xmlns:a16="http://schemas.microsoft.com/office/drawing/2014/main" id="{B23C3FF5-6D28-0BB3-6421-DD7EE42A1BFE}"/>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E98F3B97-77D9-D9B3-E572-6B79F7164BA4}"/>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1223210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FF9D-4CE3-9254-B8EE-0BE1EE106DC6}"/>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F52FB21F-A8FF-2E02-1E88-A087064A39D9}"/>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4" name="Footer Placeholder 3">
            <a:extLst>
              <a:ext uri="{FF2B5EF4-FFF2-40B4-BE49-F238E27FC236}">
                <a16:creationId xmlns:a16="http://schemas.microsoft.com/office/drawing/2014/main" id="{FCE91D30-537D-7F4E-9BEA-8E00946519F5}"/>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2DB55079-23EE-C370-382C-2385C0C46A50}"/>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130606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189905-CA31-748E-96DE-17BC09A11A7C}"/>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3" name="Footer Placeholder 2">
            <a:extLst>
              <a:ext uri="{FF2B5EF4-FFF2-40B4-BE49-F238E27FC236}">
                <a16:creationId xmlns:a16="http://schemas.microsoft.com/office/drawing/2014/main" id="{6F4FD4F3-E74E-58B9-E0FB-3DFAA45E62E4}"/>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59C02B86-81A1-A211-1408-77F4BE268ED3}"/>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4145397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3032D-7E9C-F491-91B0-B06B27FEA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776129E8-463F-1230-2C3A-95C4139947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3CD7B264-BFC0-4733-8DE6-7F5B0CCBAA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ABA25-5CA6-0F85-6029-49B72629704F}"/>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6" name="Footer Placeholder 5">
            <a:extLst>
              <a:ext uri="{FF2B5EF4-FFF2-40B4-BE49-F238E27FC236}">
                <a16:creationId xmlns:a16="http://schemas.microsoft.com/office/drawing/2014/main" id="{281EBA17-7664-2747-088F-5819A3DFDD3E}"/>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05CBB93-FE96-B73D-9563-952EB9228C5D}"/>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178088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E12A0-11A5-EB30-1055-D09FAE6B1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45A0CEF3-3285-125A-8D1A-63EEA87FD2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90ABDB8B-93F4-77FD-B7A2-63A63B1B4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BBC5D2-3AFF-EEF3-BBCD-42864EDB2A08}"/>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6" name="Footer Placeholder 5">
            <a:extLst>
              <a:ext uri="{FF2B5EF4-FFF2-40B4-BE49-F238E27FC236}">
                <a16:creationId xmlns:a16="http://schemas.microsoft.com/office/drawing/2014/main" id="{41CAD62E-2A11-FFD7-B9A2-A24C2BFA6268}"/>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2C445F01-F56F-4F1C-3C7C-37F0F7340625}"/>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2331142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2855-3555-2833-C3CD-0BF47CE5735C}"/>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6DBF7B3F-A161-2BD0-E0A6-4F2E2A6D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BBC631FF-4EBE-186A-6468-45C79DB4944E}"/>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3D0EDE34-750F-EF85-E000-E649B1F5EE3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6A24B6CD-DC0C-4767-9021-4ADC2C9F014C}"/>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2365506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18ED03-00C8-3174-360C-CA135267FA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20B1FE01-50E1-6C1A-344A-A75BF3C1F4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EEA8AAA5-2168-693A-2451-BC1915834A53}"/>
              </a:ext>
            </a:extLst>
          </p:cNvPr>
          <p:cNvSpPr>
            <a:spLocks noGrp="1"/>
          </p:cNvSpPr>
          <p:nvPr>
            <p:ph type="dt" sz="half" idx="10"/>
          </p:nvPr>
        </p:nvSpPr>
        <p:spPr/>
        <p:txBody>
          <a:body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378C7FC0-3276-B7FE-19FE-34B4EB9304A0}"/>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CEDB8898-4D1D-A876-BF3D-98D38BA36B05}"/>
              </a:ext>
            </a:extLst>
          </p:cNvPr>
          <p:cNvSpPr>
            <a:spLocks noGrp="1"/>
          </p:cNvSpPr>
          <p:nvPr>
            <p:ph type="sldNum" sz="quarter" idx="12"/>
          </p:nvPr>
        </p:nvSpPr>
        <p:spPr/>
        <p:txBody>
          <a:bodyPr/>
          <a:lstStyle/>
          <a:p>
            <a:fld id="{68AC34CC-9C8E-4DBE-83C7-068074466283}" type="slidenum">
              <a:rPr lang="en-TZ" smtClean="0"/>
              <a:t>‹#›</a:t>
            </a:fld>
            <a:endParaRPr lang="en-TZ"/>
          </a:p>
        </p:txBody>
      </p:sp>
    </p:spTree>
    <p:extLst>
      <p:ext uri="{BB962C8B-B14F-4D97-AF65-F5344CB8AC3E}">
        <p14:creationId xmlns:p14="http://schemas.microsoft.com/office/powerpoint/2010/main" val="274547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27467-D7B0-5A36-FEE5-8000BF56C3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A9B955C2-5EF2-8E61-D4BE-B4B82E7973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BCC68632-5765-180F-A5E1-F675DA3336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8E72D5-930E-4B87-A38C-5AB9EC172F16}" type="datetimeFigureOut">
              <a:rPr lang="en-TZ" smtClean="0"/>
              <a:t>28/06/2025</a:t>
            </a:fld>
            <a:endParaRPr lang="en-TZ"/>
          </a:p>
        </p:txBody>
      </p:sp>
      <p:sp>
        <p:nvSpPr>
          <p:cNvPr id="5" name="Footer Placeholder 4">
            <a:extLst>
              <a:ext uri="{FF2B5EF4-FFF2-40B4-BE49-F238E27FC236}">
                <a16:creationId xmlns:a16="http://schemas.microsoft.com/office/drawing/2014/main" id="{C455F997-32E3-9E2C-B09C-24777AB4DB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Z"/>
          </a:p>
        </p:txBody>
      </p:sp>
      <p:sp>
        <p:nvSpPr>
          <p:cNvPr id="6" name="Slide Number Placeholder 5">
            <a:extLst>
              <a:ext uri="{FF2B5EF4-FFF2-40B4-BE49-F238E27FC236}">
                <a16:creationId xmlns:a16="http://schemas.microsoft.com/office/drawing/2014/main" id="{8BFC4D48-E86F-443E-0983-19DC137D68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AC34CC-9C8E-4DBE-83C7-068074466283}" type="slidenum">
              <a:rPr lang="en-TZ" smtClean="0"/>
              <a:t>‹#›</a:t>
            </a:fld>
            <a:endParaRPr lang="en-TZ"/>
          </a:p>
        </p:txBody>
      </p:sp>
    </p:spTree>
    <p:extLst>
      <p:ext uri="{BB962C8B-B14F-4D97-AF65-F5344CB8AC3E}">
        <p14:creationId xmlns:p14="http://schemas.microsoft.com/office/powerpoint/2010/main" val="614755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indeed.com/career-advice/career-development/project-revie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indeed.com/career-advice/career-development/post-project-review" TargetMode="External"/><Relationship Id="rId2" Type="http://schemas.openxmlformats.org/officeDocument/2006/relationships/hyperlink" Target="https://primalogik.com/blog/team-communication-ultimate-guid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pmi.org/learning/library/best-practices-create-project-office-49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cio.com/article/244577/top-project-management-methodologies.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hbr.org/2016/11/the-four-phases-of-project-managemen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rimalogik.com/analytics-reporting-performance-management-software-primalogik/" TargetMode="External"/><Relationship Id="rId2" Type="http://schemas.openxmlformats.org/officeDocument/2006/relationships/hyperlink" Target="https://primalogik.com/goal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aliresources.hexagon.com/hexagon-knowledge-pages/projectportfoliomanagement"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ecosys.net/solutions/project-controls-project-managemen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v.fastcdn.co/u/351f312f/37497121-0-The-LogiKal-2018-Pro.pdf"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logikalprojects.com/mpa-controls-report"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pwc.com/gx/en/capital-projects-infrastructure/pdf/pwc-correcting-the-course-of-capital-projects-v3-pdf.pd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aliresources.hexagon.com/hexagon-knowledge-pages/projectpredictability" TargetMode="External"/><Relationship Id="rId2" Type="http://schemas.openxmlformats.org/officeDocument/2006/relationships/hyperlink" Target="https://www.mckinsey.com/industries/capital-projects-and-infrastructure/our-insights/megaprojects-the-good-the-bad-and-the-better"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5686D-9644-DD21-35BA-953342A97392}"/>
              </a:ext>
            </a:extLst>
          </p:cNvPr>
          <p:cNvSpPr>
            <a:spLocks noGrp="1"/>
          </p:cNvSpPr>
          <p:nvPr>
            <p:ph type="ctrTitle"/>
          </p:nvPr>
        </p:nvSpPr>
        <p:spPr/>
        <p:txBody>
          <a:bodyPr/>
          <a:lstStyle/>
          <a:p>
            <a:r>
              <a:rPr lang="en-US" dirty="0"/>
              <a:t>INF3201: </a:t>
            </a:r>
            <a:r>
              <a:rPr lang="en-US" dirty="0">
                <a:solidFill>
                  <a:srgbClr val="000000"/>
                </a:solidFill>
                <a:effectLst/>
                <a:latin typeface="Times New Roman" panose="02020603050405020304" pitchFamily="18" charset="0"/>
                <a:ea typeface="Times New Roman" panose="02020603050405020304" pitchFamily="18" charset="0"/>
              </a:rPr>
              <a:t>Information Systems Audit and Control</a:t>
            </a:r>
            <a:r>
              <a:rPr lang="en-US" dirty="0"/>
              <a:t> </a:t>
            </a:r>
            <a:endParaRPr lang="en-TZ" dirty="0"/>
          </a:p>
        </p:txBody>
      </p:sp>
      <p:sp>
        <p:nvSpPr>
          <p:cNvPr id="3" name="Subtitle 2">
            <a:extLst>
              <a:ext uri="{FF2B5EF4-FFF2-40B4-BE49-F238E27FC236}">
                <a16:creationId xmlns:a16="http://schemas.microsoft.com/office/drawing/2014/main" id="{8EB80784-F887-2618-975D-3BF064EF34A9}"/>
              </a:ext>
            </a:extLst>
          </p:cNvPr>
          <p:cNvSpPr>
            <a:spLocks noGrp="1"/>
          </p:cNvSpPr>
          <p:nvPr>
            <p:ph type="subTitle" idx="1"/>
          </p:nvPr>
        </p:nvSpPr>
        <p:spPr/>
        <p:txBody>
          <a:bodyPr>
            <a:normAutofit lnSpcReduction="10000"/>
          </a:bodyPr>
          <a:lstStyle/>
          <a:p>
            <a:r>
              <a:rPr lang="en-US" sz="4000" b="1" dirty="0">
                <a:solidFill>
                  <a:srgbClr val="000000"/>
                </a:solidFill>
                <a:effectLst/>
                <a:latin typeface="Times New Roman" panose="02020603050405020304" pitchFamily="18" charset="0"/>
                <a:ea typeface="Times New Roman" panose="02020603050405020304" pitchFamily="18" charset="0"/>
              </a:rPr>
              <a:t>Week 8 - 9: Information Systems Acquisition, Development and Implementation</a:t>
            </a:r>
            <a:endParaRPr lang="en-TZ" sz="4000" dirty="0">
              <a:solidFill>
                <a:srgbClr val="000000"/>
              </a:solidFill>
              <a:effectLst/>
              <a:latin typeface="Calibri" panose="020F0502020204030204" pitchFamily="34" charset="0"/>
              <a:ea typeface="Calibri" panose="020F0502020204030204" pitchFamily="34" charset="0"/>
            </a:endParaRPr>
          </a:p>
          <a:p>
            <a:endParaRPr lang="en-TZ" dirty="0"/>
          </a:p>
        </p:txBody>
      </p:sp>
    </p:spTree>
    <p:extLst>
      <p:ext uri="{BB962C8B-B14F-4D97-AF65-F5344CB8AC3E}">
        <p14:creationId xmlns:p14="http://schemas.microsoft.com/office/powerpoint/2010/main" val="1301355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A8E5A-7274-9A83-B223-42EF15FB9A75}"/>
              </a:ext>
            </a:extLst>
          </p:cNvPr>
          <p:cNvSpPr>
            <a:spLocks noGrp="1"/>
          </p:cNvSpPr>
          <p:nvPr>
            <p:ph type="title"/>
          </p:nvPr>
        </p:nvSpPr>
        <p:spPr>
          <a:xfrm>
            <a:off x="838200" y="365125"/>
            <a:ext cx="10515600" cy="729157"/>
          </a:xfrm>
        </p:spPr>
        <p:txBody>
          <a:bodyPr/>
          <a:lstStyle/>
          <a:p>
            <a:r>
              <a:rPr lang="en-US" b="1" i="0" dirty="0">
                <a:solidFill>
                  <a:srgbClr val="212529"/>
                </a:solidFill>
                <a:effectLst/>
                <a:highlight>
                  <a:srgbClr val="FFFFFF"/>
                </a:highlight>
                <a:latin typeface="RobotoSlab-Bold"/>
              </a:rPr>
              <a:t>Developing the business case</a:t>
            </a:r>
            <a:endParaRPr lang="en-TZ" dirty="0"/>
          </a:p>
        </p:txBody>
      </p:sp>
      <p:sp>
        <p:nvSpPr>
          <p:cNvPr id="3" name="Content Placeholder 2">
            <a:extLst>
              <a:ext uri="{FF2B5EF4-FFF2-40B4-BE49-F238E27FC236}">
                <a16:creationId xmlns:a16="http://schemas.microsoft.com/office/drawing/2014/main" id="{D67391B9-D016-FA14-E771-07BF6E17FBEE}"/>
              </a:ext>
            </a:extLst>
          </p:cNvPr>
          <p:cNvSpPr>
            <a:spLocks noGrp="1"/>
          </p:cNvSpPr>
          <p:nvPr>
            <p:ph idx="1"/>
          </p:nvPr>
        </p:nvSpPr>
        <p:spPr>
          <a:xfrm>
            <a:off x="838200" y="1289154"/>
            <a:ext cx="10515600" cy="4887809"/>
          </a:xfrm>
        </p:spPr>
        <p:txBody>
          <a:bodyPr>
            <a:noAutofit/>
          </a:bodyPr>
          <a:lstStyle/>
          <a:p>
            <a:pPr algn="l"/>
            <a:r>
              <a:rPr lang="en-US" sz="3200" b="0" i="0" dirty="0">
                <a:effectLst/>
                <a:highlight>
                  <a:srgbClr val="FFFFFF"/>
                </a:highlight>
                <a:latin typeface="Open Sans" panose="020B0606030504020204" pitchFamily="34" charset="0"/>
              </a:rPr>
              <a:t>Before starting any IS project, the organization should make sure it supports the IS Strategy, is affordable and decide what benefits it must deliver to be judged a success. This information is brought together in the business case which is approved by senior management and continually re-evaluated throughout the project.</a:t>
            </a:r>
          </a:p>
          <a:p>
            <a:pPr algn="l"/>
            <a:r>
              <a:rPr lang="en-US" sz="3200" b="0" i="0" dirty="0">
                <a:effectLst/>
                <a:highlight>
                  <a:srgbClr val="FFFFFF"/>
                </a:highlight>
                <a:latin typeface="Open Sans" panose="020B0606030504020204" pitchFamily="34" charset="0"/>
              </a:rPr>
              <a:t>A benefits realization process is also used throughout the project to ensure the benefits, such as cost reduction or improved system reliability, are delivered.</a:t>
            </a:r>
          </a:p>
          <a:p>
            <a:endParaRPr lang="en-TZ" sz="3200" dirty="0"/>
          </a:p>
        </p:txBody>
      </p:sp>
    </p:spTree>
    <p:extLst>
      <p:ext uri="{BB962C8B-B14F-4D97-AF65-F5344CB8AC3E}">
        <p14:creationId xmlns:p14="http://schemas.microsoft.com/office/powerpoint/2010/main" val="351842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3DBB98-03D0-4B8B-8388-1ACDCB18F278}"/>
              </a:ext>
            </a:extLst>
          </p:cNvPr>
          <p:cNvSpPr>
            <a:spLocks noGrp="1"/>
          </p:cNvSpPr>
          <p:nvPr>
            <p:ph idx="1"/>
          </p:nvPr>
        </p:nvSpPr>
        <p:spPr>
          <a:xfrm>
            <a:off x="838200" y="644577"/>
            <a:ext cx="10515600" cy="5532386"/>
          </a:xfrm>
        </p:spPr>
        <p:txBody>
          <a:bodyPr>
            <a:normAutofit/>
          </a:bodyPr>
          <a:lstStyle/>
          <a:p>
            <a:pPr algn="l"/>
            <a:r>
              <a:rPr lang="en-US" sz="3600" b="0" i="0" dirty="0">
                <a:effectLst/>
                <a:highlight>
                  <a:srgbClr val="FFFFFF"/>
                </a:highlight>
                <a:latin typeface="Open Sans" panose="020B0606030504020204" pitchFamily="34" charset="0"/>
              </a:rPr>
              <a:t>The need for the project will come from the portfolio which has been created to support the IS strategy, and a feasibility study might be used to evaluate the approach, and the results included in the business case.</a:t>
            </a:r>
          </a:p>
          <a:p>
            <a:pPr algn="l"/>
            <a:r>
              <a:rPr lang="en-US" sz="3600" b="0" i="0" dirty="0">
                <a:effectLst/>
                <a:highlight>
                  <a:srgbClr val="FFFFFF"/>
                </a:highlight>
                <a:latin typeface="Open Sans" panose="020B0606030504020204" pitchFamily="34" charset="0"/>
              </a:rPr>
              <a:t>The candidate must understand the approach to business case development and investment evaluation techniques such as return on investment (ROI)</a:t>
            </a:r>
          </a:p>
          <a:p>
            <a:endParaRPr lang="en-TZ" sz="3600" dirty="0"/>
          </a:p>
        </p:txBody>
      </p:sp>
    </p:spTree>
    <p:extLst>
      <p:ext uri="{BB962C8B-B14F-4D97-AF65-F5344CB8AC3E}">
        <p14:creationId xmlns:p14="http://schemas.microsoft.com/office/powerpoint/2010/main" val="1742289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3940-78BE-1474-9676-1AD473343A13}"/>
              </a:ext>
            </a:extLst>
          </p:cNvPr>
          <p:cNvSpPr>
            <a:spLocks noGrp="1"/>
          </p:cNvSpPr>
          <p:nvPr>
            <p:ph type="title"/>
          </p:nvPr>
        </p:nvSpPr>
        <p:spPr>
          <a:xfrm>
            <a:off x="838200" y="545007"/>
            <a:ext cx="10515600" cy="744147"/>
          </a:xfrm>
        </p:spPr>
        <p:txBody>
          <a:bodyPr>
            <a:normAutofit/>
          </a:bodyPr>
          <a:lstStyle/>
          <a:p>
            <a:r>
              <a:rPr lang="en-US" sz="4000" b="1" dirty="0">
                <a:effectLst/>
                <a:latin typeface="Times New Roman" panose="02020603050405020304" pitchFamily="18" charset="0"/>
                <a:ea typeface="Times New Roman" panose="02020603050405020304" pitchFamily="18" charset="0"/>
              </a:rPr>
              <a:t>Project management practices</a:t>
            </a:r>
            <a:endParaRPr lang="en-TZ" sz="4000" b="1" dirty="0"/>
          </a:p>
        </p:txBody>
      </p:sp>
      <p:sp>
        <p:nvSpPr>
          <p:cNvPr id="3" name="Content Placeholder 2">
            <a:extLst>
              <a:ext uri="{FF2B5EF4-FFF2-40B4-BE49-F238E27FC236}">
                <a16:creationId xmlns:a16="http://schemas.microsoft.com/office/drawing/2014/main" id="{C5C419A8-020E-97C9-EAA1-D30A7D26CE21}"/>
              </a:ext>
            </a:extLst>
          </p:cNvPr>
          <p:cNvSpPr>
            <a:spLocks noGrp="1"/>
          </p:cNvSpPr>
          <p:nvPr>
            <p:ph idx="1"/>
          </p:nvPr>
        </p:nvSpPr>
        <p:spPr>
          <a:xfrm>
            <a:off x="838200" y="1289154"/>
            <a:ext cx="10515600" cy="4887809"/>
          </a:xfrm>
        </p:spPr>
        <p:txBody>
          <a:bodyPr/>
          <a:lstStyle/>
          <a:p>
            <a:pPr algn="l"/>
            <a:r>
              <a:rPr lang="en-US" b="0" i="0" dirty="0">
                <a:effectLst/>
                <a:highlight>
                  <a:srgbClr val="FFFFFF"/>
                </a:highlight>
                <a:latin typeface="Open Sans" panose="020B0606030504020204" pitchFamily="34" charset="0"/>
              </a:rPr>
              <a:t>Candidates must understand how project management tools and techniques are used to manage the risks associated with IS acquisition, development, and implementation, and should be able to evaluate if projects are progressing to plan and are on track to deliver the benefits contained in the business case.</a:t>
            </a:r>
          </a:p>
          <a:p>
            <a:pPr algn="l"/>
            <a:r>
              <a:rPr lang="en-US" b="0" i="0" dirty="0">
                <a:effectLst/>
                <a:highlight>
                  <a:srgbClr val="FFFFFF"/>
                </a:highlight>
                <a:latin typeface="Open Sans" panose="020B0606030504020204" pitchFamily="34" charset="0"/>
              </a:rPr>
              <a:t>Attention must be paid to the project brief and project plan. A comprehensive project brief and accurate delivery plan, developed with input from the main stakeholders, are the foundations for a successful project and poor-quality content should be a major concern for the auditor.</a:t>
            </a:r>
          </a:p>
          <a:p>
            <a:endParaRPr lang="en-TZ" dirty="0"/>
          </a:p>
        </p:txBody>
      </p:sp>
    </p:spTree>
    <p:extLst>
      <p:ext uri="{BB962C8B-B14F-4D97-AF65-F5344CB8AC3E}">
        <p14:creationId xmlns:p14="http://schemas.microsoft.com/office/powerpoint/2010/main" val="3991149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686BAA-0972-34AC-9052-3C1978A75EF7}"/>
              </a:ext>
            </a:extLst>
          </p:cNvPr>
          <p:cNvSpPr>
            <a:spLocks noGrp="1"/>
          </p:cNvSpPr>
          <p:nvPr>
            <p:ph idx="1"/>
          </p:nvPr>
        </p:nvSpPr>
        <p:spPr>
          <a:xfrm>
            <a:off x="838200" y="689548"/>
            <a:ext cx="10515600" cy="5487415"/>
          </a:xfrm>
        </p:spPr>
        <p:txBody>
          <a:bodyPr>
            <a:noAutofit/>
          </a:bodyPr>
          <a:lstStyle/>
          <a:p>
            <a:r>
              <a:rPr lang="en-US" sz="4000" b="0" i="0" dirty="0">
                <a:solidFill>
                  <a:srgbClr val="212529"/>
                </a:solidFill>
                <a:effectLst/>
                <a:highlight>
                  <a:srgbClr val="FFFFFF"/>
                </a:highlight>
                <a:latin typeface="Open Sans" panose="020B0606030504020204" pitchFamily="34" charset="0"/>
              </a:rPr>
              <a:t>There are various project management methodologies, such as those offered by APM and PMI, and, although candidates don't need to know the details, they should have a basic understanding of the different approaches. Additionally, many organizations tailor these methodologies to meet their own needs, and auditors should familiarize themselves with what's being used before starting a review.</a:t>
            </a:r>
            <a:endParaRPr lang="en-TZ" sz="4000" dirty="0"/>
          </a:p>
        </p:txBody>
      </p:sp>
    </p:spTree>
    <p:extLst>
      <p:ext uri="{BB962C8B-B14F-4D97-AF65-F5344CB8AC3E}">
        <p14:creationId xmlns:p14="http://schemas.microsoft.com/office/powerpoint/2010/main" val="2029748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DA28BC-1638-CC23-CC1F-2DD4557B8F1A}"/>
              </a:ext>
            </a:extLst>
          </p:cNvPr>
          <p:cNvSpPr>
            <a:spLocks noGrp="1"/>
          </p:cNvSpPr>
          <p:nvPr>
            <p:ph idx="1"/>
          </p:nvPr>
        </p:nvSpPr>
        <p:spPr>
          <a:xfrm>
            <a:off x="838200" y="614597"/>
            <a:ext cx="10515600" cy="5562366"/>
          </a:xfrm>
        </p:spPr>
        <p:txBody>
          <a:bodyPr>
            <a:noAutofit/>
          </a:bodyPr>
          <a:lstStyle/>
          <a:p>
            <a:pPr algn="l"/>
            <a:r>
              <a:rPr lang="en-US" sz="3600" b="0" i="0" dirty="0">
                <a:effectLst/>
                <a:highlight>
                  <a:srgbClr val="FFFFFF"/>
                </a:highlight>
                <a:latin typeface="Open Sans" panose="020B0606030504020204" pitchFamily="34" charset="0"/>
              </a:rPr>
              <a:t>Agile development methods have a different approach to project management - largely abandoning it and using the concept of self-managed teams - and that also needs to be borne in mind by auditors.</a:t>
            </a:r>
          </a:p>
          <a:p>
            <a:pPr algn="l"/>
            <a:r>
              <a:rPr lang="en-US" sz="3600" b="0" i="0" dirty="0">
                <a:effectLst/>
                <a:highlight>
                  <a:srgbClr val="FFFFFF"/>
                </a:highlight>
                <a:latin typeface="Open Sans" panose="020B0606030504020204" pitchFamily="34" charset="0"/>
              </a:rPr>
              <a:t>An important element of the project management process is Governance, and the auditor should look for evidence that risks, issues, and dependencies are being actively managed, and the project controlled by a steering committee or project board.</a:t>
            </a:r>
          </a:p>
          <a:p>
            <a:endParaRPr lang="en-TZ" sz="3600" dirty="0"/>
          </a:p>
        </p:txBody>
      </p:sp>
    </p:spTree>
    <p:extLst>
      <p:ext uri="{BB962C8B-B14F-4D97-AF65-F5344CB8AC3E}">
        <p14:creationId xmlns:p14="http://schemas.microsoft.com/office/powerpoint/2010/main" val="1631113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3FAE-4C18-80BA-30D9-31D8D8503C46}"/>
              </a:ext>
            </a:extLst>
          </p:cNvPr>
          <p:cNvSpPr>
            <a:spLocks noGrp="1"/>
          </p:cNvSpPr>
          <p:nvPr>
            <p:ph type="title"/>
          </p:nvPr>
        </p:nvSpPr>
        <p:spPr>
          <a:xfrm>
            <a:off x="838200" y="365125"/>
            <a:ext cx="10515600" cy="729157"/>
          </a:xfrm>
        </p:spPr>
        <p:txBody>
          <a:bodyPr>
            <a:normAutofit/>
          </a:bodyPr>
          <a:lstStyle/>
          <a:p>
            <a:r>
              <a:rPr lang="en-US" b="1" u="none" strike="noStrike" dirty="0">
                <a:effectLst/>
                <a:latin typeface="Times New Roman" panose="02020603050405020304" pitchFamily="18" charset="0"/>
                <a:ea typeface="Times New Roman" panose="02020603050405020304" pitchFamily="18" charset="0"/>
              </a:rPr>
              <a:t>Project reviews</a:t>
            </a:r>
            <a:endParaRPr lang="en-TZ" b="1" dirty="0"/>
          </a:p>
        </p:txBody>
      </p:sp>
      <p:sp>
        <p:nvSpPr>
          <p:cNvPr id="3" name="Content Placeholder 2">
            <a:extLst>
              <a:ext uri="{FF2B5EF4-FFF2-40B4-BE49-F238E27FC236}">
                <a16:creationId xmlns:a16="http://schemas.microsoft.com/office/drawing/2014/main" id="{B32303D1-C036-C175-3B4B-A74C42576DA9}"/>
              </a:ext>
            </a:extLst>
          </p:cNvPr>
          <p:cNvSpPr>
            <a:spLocks noGrp="1"/>
          </p:cNvSpPr>
          <p:nvPr>
            <p:ph idx="1"/>
          </p:nvPr>
        </p:nvSpPr>
        <p:spPr>
          <a:xfrm>
            <a:off x="838200" y="1214203"/>
            <a:ext cx="10515600" cy="4962760"/>
          </a:xfrm>
        </p:spPr>
        <p:txBody>
          <a:bodyPr>
            <a:normAutofit/>
          </a:bodyPr>
          <a:lstStyle/>
          <a:p>
            <a:pPr algn="l" fontAlgn="base"/>
            <a:r>
              <a:rPr lang="en-US" sz="3600" b="1" i="0" dirty="0">
                <a:solidFill>
                  <a:srgbClr val="161A24"/>
                </a:solidFill>
                <a:effectLst/>
                <a:highlight>
                  <a:srgbClr val="FFFFFF"/>
                </a:highlight>
                <a:latin typeface="Poppins" panose="00000500000000000000" pitchFamily="2" charset="0"/>
              </a:rPr>
              <a:t>The Purpose of A Project Review</a:t>
            </a:r>
          </a:p>
          <a:p>
            <a:pPr algn="l" fontAlgn="base"/>
            <a:r>
              <a:rPr lang="en-US" sz="3600" b="0" i="0" dirty="0">
                <a:effectLst/>
                <a:highlight>
                  <a:srgbClr val="FFFFFF"/>
                </a:highlight>
                <a:latin typeface="Roboto" panose="02000000000000000000" pitchFamily="2" charset="0"/>
              </a:rPr>
              <a:t>A project review evaluates the </a:t>
            </a:r>
            <a:r>
              <a:rPr lang="en-US" sz="3600"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success of an initiative</a:t>
            </a:r>
            <a:r>
              <a:rPr lang="en-US" sz="3600" b="0" i="0" dirty="0">
                <a:effectLst/>
                <a:highlight>
                  <a:srgbClr val="FFFFFF"/>
                </a:highlight>
                <a:latin typeface="Roboto" panose="02000000000000000000" pitchFamily="2" charset="0"/>
              </a:rPr>
              <a:t> and identifies areas for improvement. It can also evaluate a current project to determine whether it’s on the right track. Or, it can determine the success of a completed project. Either way, teams identify lessons learned within this process. By doing so, they’ll improve their success in the future.</a:t>
            </a:r>
            <a:r>
              <a:rPr lang="en-US" sz="3600" b="0" i="0" dirty="0">
                <a:solidFill>
                  <a:srgbClr val="46586A"/>
                </a:solidFill>
                <a:effectLst/>
                <a:highlight>
                  <a:srgbClr val="FFFFFF"/>
                </a:highlight>
                <a:latin typeface="Roboto" panose="02000000000000000000" pitchFamily="2" charset="0"/>
              </a:rPr>
              <a:t> </a:t>
            </a:r>
          </a:p>
          <a:p>
            <a:endParaRPr lang="en-TZ" sz="3600" dirty="0"/>
          </a:p>
        </p:txBody>
      </p:sp>
    </p:spTree>
    <p:extLst>
      <p:ext uri="{BB962C8B-B14F-4D97-AF65-F5344CB8AC3E}">
        <p14:creationId xmlns:p14="http://schemas.microsoft.com/office/powerpoint/2010/main" val="363964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BFD45A-522F-5734-8BD1-1D951BAAF51C}"/>
              </a:ext>
            </a:extLst>
          </p:cNvPr>
          <p:cNvSpPr>
            <a:spLocks noGrp="1"/>
          </p:cNvSpPr>
          <p:nvPr>
            <p:ph idx="1"/>
          </p:nvPr>
        </p:nvSpPr>
        <p:spPr>
          <a:xfrm>
            <a:off x="838200" y="539646"/>
            <a:ext cx="10515600" cy="5637317"/>
          </a:xfrm>
        </p:spPr>
        <p:txBody>
          <a:bodyPr>
            <a:normAutofit/>
          </a:bodyPr>
          <a:lstStyle/>
          <a:p>
            <a:pPr algn="l" fontAlgn="base"/>
            <a:r>
              <a:rPr lang="en-US" sz="3600" b="0" i="0" dirty="0">
                <a:effectLst/>
                <a:highlight>
                  <a:srgbClr val="FFFFFF"/>
                </a:highlight>
                <a:latin typeface="Roboto" panose="02000000000000000000" pitchFamily="2" charset="0"/>
              </a:rPr>
              <a:t>As part of the review, teams debrief the project as a group. Together, they explore what they could have done better. For example, they may learn specific ways in which they can </a:t>
            </a:r>
            <a:r>
              <a:rPr lang="en-US" sz="3600"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communicate better</a:t>
            </a:r>
            <a:r>
              <a:rPr lang="en-US" sz="3600" b="0" i="0" dirty="0">
                <a:effectLst/>
                <a:highlight>
                  <a:srgbClr val="FFFFFF"/>
                </a:highlight>
                <a:latin typeface="Roboto" panose="02000000000000000000" pitchFamily="2" charset="0"/>
              </a:rPr>
              <a:t>. They also acknowledge their successes so they can celebrate them. By comparing results with goals, they can </a:t>
            </a:r>
            <a:r>
              <a:rPr lang="en-US" sz="3600" b="0" i="0" u="none" strike="noStrike" dirty="0">
                <a:effectLst/>
                <a:highlight>
                  <a:srgbClr val="FFFFFF"/>
                </a:highlight>
                <a:latin typeface="Roboto" panose="02000000000000000000" pitchFamily="2" charset="0"/>
                <a:hlinkClick r:id="rId3">
                  <a:extLst>
                    <a:ext uri="{A12FA001-AC4F-418D-AE19-62706E023703}">
                      <ahyp:hlinkClr xmlns:ahyp="http://schemas.microsoft.com/office/drawing/2018/hyperlinkcolor" val="tx"/>
                    </a:ext>
                  </a:extLst>
                </a:hlinkClick>
              </a:rPr>
              <a:t>refine their strategy</a:t>
            </a:r>
            <a:r>
              <a:rPr lang="en-US" sz="3600" b="0" i="0" dirty="0">
                <a:effectLst/>
                <a:highlight>
                  <a:srgbClr val="FFFFFF"/>
                </a:highlight>
                <a:latin typeface="Roboto" panose="02000000000000000000" pitchFamily="2" charset="0"/>
              </a:rPr>
              <a:t>.</a:t>
            </a:r>
          </a:p>
          <a:p>
            <a:pPr algn="l" fontAlgn="base"/>
            <a:r>
              <a:rPr lang="en-US" sz="3600" b="0" i="0" dirty="0">
                <a:effectLst/>
                <a:highlight>
                  <a:srgbClr val="FFFFFF"/>
                </a:highlight>
                <a:latin typeface="Roboto" panose="02000000000000000000" pitchFamily="2" charset="0"/>
              </a:rPr>
              <a:t>If the project is still in progress, they can correct course midstream.</a:t>
            </a:r>
          </a:p>
          <a:p>
            <a:endParaRPr lang="en-TZ" sz="3600" dirty="0"/>
          </a:p>
        </p:txBody>
      </p:sp>
    </p:spTree>
    <p:extLst>
      <p:ext uri="{BB962C8B-B14F-4D97-AF65-F5344CB8AC3E}">
        <p14:creationId xmlns:p14="http://schemas.microsoft.com/office/powerpoint/2010/main" val="13425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70A9D5-A1EB-6B40-82E6-4FD2208CA651}"/>
              </a:ext>
            </a:extLst>
          </p:cNvPr>
          <p:cNvSpPr>
            <a:spLocks noGrp="1"/>
          </p:cNvSpPr>
          <p:nvPr>
            <p:ph idx="1"/>
          </p:nvPr>
        </p:nvSpPr>
        <p:spPr>
          <a:xfrm>
            <a:off x="838200" y="659567"/>
            <a:ext cx="10515600" cy="5517396"/>
          </a:xfrm>
        </p:spPr>
        <p:txBody>
          <a:bodyPr/>
          <a:lstStyle/>
          <a:p>
            <a:pPr algn="l" fontAlgn="base"/>
            <a:r>
              <a:rPr lang="en-US" b="1" i="0" dirty="0">
                <a:effectLst/>
                <a:highlight>
                  <a:srgbClr val="FFFFFF"/>
                </a:highlight>
                <a:latin typeface="Poppins" panose="00000500000000000000" pitchFamily="2" charset="0"/>
              </a:rPr>
              <a:t>How to Build A Great Project Review Team</a:t>
            </a:r>
          </a:p>
          <a:p>
            <a:pPr algn="l" fontAlgn="base"/>
            <a:r>
              <a:rPr lang="en-US" b="0" i="0" dirty="0">
                <a:effectLst/>
                <a:highlight>
                  <a:srgbClr val="FFFFFF"/>
                </a:highlight>
                <a:latin typeface="Roboto" panose="02000000000000000000" pitchFamily="2" charset="0"/>
              </a:rPr>
              <a:t>Several </a:t>
            </a:r>
            <a:r>
              <a:rPr lang="en-US"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important roles</a:t>
            </a:r>
            <a:r>
              <a:rPr lang="en-US" b="0" i="0" dirty="0">
                <a:effectLst/>
                <a:highlight>
                  <a:srgbClr val="FFFFFF"/>
                </a:highlight>
                <a:latin typeface="Roboto" panose="02000000000000000000" pitchFamily="2" charset="0"/>
              </a:rPr>
              <a:t> guide the project review process. It’s also important to assign a project review leader to facilitate the process. This person can also make assessments based on data prior to the review. Assign another staff member to assist with data analysis. Also assign a notetaker who can record information throughout the process.</a:t>
            </a:r>
          </a:p>
          <a:p>
            <a:pPr algn="l" fontAlgn="base"/>
            <a:r>
              <a:rPr lang="en-US" b="0" i="0" dirty="0">
                <a:effectLst/>
                <a:highlight>
                  <a:srgbClr val="FFFFFF"/>
                </a:highlight>
                <a:latin typeface="Roboto" panose="02000000000000000000" pitchFamily="2" charset="0"/>
              </a:rPr>
              <a:t>Some organizations assign these roles to people who had no involvement in the project. In some cases, different project managers review one another’s projects. They first brief one another on project goals, scope, team, and process. That may not always prove feasible, however. In many organizations, teams review their own projects.</a:t>
            </a:r>
          </a:p>
          <a:p>
            <a:endParaRPr lang="en-TZ" dirty="0"/>
          </a:p>
        </p:txBody>
      </p:sp>
    </p:spTree>
    <p:extLst>
      <p:ext uri="{BB962C8B-B14F-4D97-AF65-F5344CB8AC3E}">
        <p14:creationId xmlns:p14="http://schemas.microsoft.com/office/powerpoint/2010/main" val="246367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FF5FD-2EA1-8B73-4D08-A14863478DFE}"/>
              </a:ext>
            </a:extLst>
          </p:cNvPr>
          <p:cNvSpPr>
            <a:spLocks noGrp="1"/>
          </p:cNvSpPr>
          <p:nvPr>
            <p:ph idx="1"/>
          </p:nvPr>
        </p:nvSpPr>
        <p:spPr>
          <a:xfrm>
            <a:off x="838200" y="599607"/>
            <a:ext cx="10515600" cy="5577356"/>
          </a:xfrm>
        </p:spPr>
        <p:txBody>
          <a:bodyPr>
            <a:normAutofit/>
          </a:bodyPr>
          <a:lstStyle/>
          <a:p>
            <a:r>
              <a:rPr lang="en-US" sz="3600" b="1" i="0" dirty="0">
                <a:effectLst/>
                <a:highlight>
                  <a:srgbClr val="FFFFFF"/>
                </a:highlight>
                <a:latin typeface="Poppins" panose="00000500000000000000" pitchFamily="2" charset="0"/>
              </a:rPr>
              <a:t>The Project Review Process</a:t>
            </a:r>
          </a:p>
          <a:p>
            <a:r>
              <a:rPr lang="en-US" sz="3600" b="0" i="0" dirty="0">
                <a:effectLst/>
                <a:highlight>
                  <a:srgbClr val="FFFFFF"/>
                </a:highlight>
                <a:latin typeface="Roboto" panose="02000000000000000000" pitchFamily="2" charset="0"/>
              </a:rPr>
              <a:t>As mentioned, you can hold product reviews during the course of a project. For large projects, this can prove especially important. For small projects, it may be overkill. If you hold reviews during a current project, set them at regular intervals. And always hold a project review at the end of a project.</a:t>
            </a:r>
            <a:endParaRPr lang="en-US" sz="3600" b="1" i="0" dirty="0">
              <a:effectLst/>
              <a:highlight>
                <a:srgbClr val="FFFFFF"/>
              </a:highlight>
              <a:latin typeface="Poppins" panose="00000500000000000000" pitchFamily="2" charset="0"/>
            </a:endParaRPr>
          </a:p>
          <a:p>
            <a:endParaRPr lang="en-TZ" sz="3600" dirty="0"/>
          </a:p>
        </p:txBody>
      </p:sp>
    </p:spTree>
    <p:extLst>
      <p:ext uri="{BB962C8B-B14F-4D97-AF65-F5344CB8AC3E}">
        <p14:creationId xmlns:p14="http://schemas.microsoft.com/office/powerpoint/2010/main" val="138471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030C9A-373F-32BE-A18A-F93E9CDAC905}"/>
              </a:ext>
            </a:extLst>
          </p:cNvPr>
          <p:cNvSpPr>
            <a:spLocks noGrp="1"/>
          </p:cNvSpPr>
          <p:nvPr>
            <p:ph idx="1"/>
          </p:nvPr>
        </p:nvSpPr>
        <p:spPr>
          <a:xfrm>
            <a:off x="838200" y="584616"/>
            <a:ext cx="10515600" cy="5592347"/>
          </a:xfrm>
        </p:spPr>
        <p:txBody>
          <a:bodyPr>
            <a:normAutofit/>
          </a:bodyPr>
          <a:lstStyle/>
          <a:p>
            <a:r>
              <a:rPr lang="en-US" sz="3600" b="1" i="0" dirty="0">
                <a:effectLst/>
                <a:highlight>
                  <a:srgbClr val="FFFFFF"/>
                </a:highlight>
                <a:latin typeface="Poppins" panose="00000500000000000000" pitchFamily="2" charset="0"/>
              </a:rPr>
              <a:t>Types of Evidence Examined in the Process</a:t>
            </a:r>
          </a:p>
          <a:p>
            <a:r>
              <a:rPr lang="en-US" sz="3600" b="0" i="0" dirty="0">
                <a:effectLst/>
                <a:highlight>
                  <a:srgbClr val="FFFFFF"/>
                </a:highlight>
                <a:latin typeface="Roboto" panose="02000000000000000000" pitchFamily="2" charset="0"/>
              </a:rPr>
              <a:t>In project reviews, teams examine metrics and voice observations. They look at both internal and external factors that led them to achieve a particular result. Both objective and subjective information comes into play. Teams may discuss interpersonal issues that arose along with hard data. This can illuminate what human issues may have led to the project outcome. </a:t>
            </a:r>
            <a:endParaRPr lang="en-TZ" sz="3600" dirty="0"/>
          </a:p>
        </p:txBody>
      </p:sp>
    </p:spTree>
    <p:extLst>
      <p:ext uri="{BB962C8B-B14F-4D97-AF65-F5344CB8AC3E}">
        <p14:creationId xmlns:p14="http://schemas.microsoft.com/office/powerpoint/2010/main" val="1450272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FBAD7-EF5A-EF2A-0043-AA21A4BEBAD1}"/>
              </a:ext>
            </a:extLst>
          </p:cNvPr>
          <p:cNvSpPr>
            <a:spLocks noGrp="1"/>
          </p:cNvSpPr>
          <p:nvPr>
            <p:ph idx="1"/>
          </p:nvPr>
        </p:nvSpPr>
        <p:spPr>
          <a:xfrm>
            <a:off x="838200" y="584616"/>
            <a:ext cx="10515600" cy="5592347"/>
          </a:xfrm>
        </p:spPr>
        <p:txBody>
          <a:bodyPr>
            <a:noAutofit/>
          </a:bodyPr>
          <a:lstStyle/>
          <a:p>
            <a:pPr marL="0" indent="0" algn="l" fontAlgn="base">
              <a:buNone/>
            </a:pPr>
            <a:r>
              <a:rPr lang="en-US" sz="3000" b="1" i="0" dirty="0">
                <a:effectLst/>
                <a:highlight>
                  <a:srgbClr val="FFFFFF"/>
                </a:highlight>
                <a:latin typeface="Poppins" panose="00000500000000000000" pitchFamily="2" charset="0"/>
              </a:rPr>
              <a:t>Project Review Process Guidelines</a:t>
            </a:r>
          </a:p>
          <a:p>
            <a:pPr algn="l" fontAlgn="base"/>
            <a:r>
              <a:rPr lang="en-US" sz="3000" b="0" i="0" dirty="0">
                <a:effectLst/>
                <a:highlight>
                  <a:srgbClr val="FFFFFF"/>
                </a:highlight>
                <a:latin typeface="Roboto" panose="02000000000000000000" pitchFamily="2" charset="0"/>
              </a:rPr>
              <a:t>Within your review, make sure to cover several key elements. The following instructions and questions will ensure you address the key components of the review process. The project review leader can use them as a guide to conducting the review. </a:t>
            </a:r>
          </a:p>
          <a:p>
            <a:pPr algn="l" fontAlgn="base">
              <a:buFont typeface="Arial" panose="020B0604020202020204" pitchFamily="34" charset="0"/>
              <a:buChar char="•"/>
            </a:pPr>
            <a:r>
              <a:rPr lang="en-US" sz="3000" b="1" i="0" dirty="0">
                <a:effectLst/>
                <a:highlight>
                  <a:srgbClr val="FFFFFF"/>
                </a:highlight>
                <a:latin typeface="Roboto" panose="02000000000000000000" pitchFamily="2" charset="0"/>
              </a:rPr>
              <a:t>Evaluate quality, time, and cost</a:t>
            </a:r>
            <a:r>
              <a:rPr lang="en-US" sz="3000" b="0" i="0" dirty="0">
                <a:effectLst/>
                <a:highlight>
                  <a:srgbClr val="FFFFFF"/>
                </a:highlight>
                <a:latin typeface="Roboto" panose="02000000000000000000" pitchFamily="2" charset="0"/>
              </a:rPr>
              <a:t>—the three main project variables, according to </a:t>
            </a:r>
            <a:r>
              <a:rPr lang="en-US" sz="3000" b="0" i="1" dirty="0">
                <a:effectLst/>
                <a:highlight>
                  <a:srgbClr val="FFFFFF"/>
                </a:highlight>
                <a:latin typeface="Roboto" panose="02000000000000000000" pitchFamily="2" charset="0"/>
              </a:rPr>
              <a:t>Harvard Business Review </a:t>
            </a:r>
            <a:r>
              <a:rPr lang="en-US" sz="3000" b="0" i="0" dirty="0">
                <a:effectLst/>
                <a:highlight>
                  <a:srgbClr val="FFFFFF"/>
                </a:highlight>
                <a:latin typeface="Roboto" panose="02000000000000000000" pitchFamily="2" charset="0"/>
              </a:rPr>
              <a:t>editors. Did you make any tradeoffs between them? Were project milestones achieved on schedule, with the desired results? Did the project exceed the budget? Detail any particular areas that proved more expensive (or inexpensive) than expected.</a:t>
            </a:r>
          </a:p>
          <a:p>
            <a:endParaRPr lang="en-TZ" sz="3000" dirty="0"/>
          </a:p>
        </p:txBody>
      </p:sp>
    </p:spTree>
    <p:extLst>
      <p:ext uri="{BB962C8B-B14F-4D97-AF65-F5344CB8AC3E}">
        <p14:creationId xmlns:p14="http://schemas.microsoft.com/office/powerpoint/2010/main" val="87355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72AD5-15B8-4267-6AEB-E97626AC27DD}"/>
              </a:ext>
            </a:extLst>
          </p:cNvPr>
          <p:cNvSpPr>
            <a:spLocks noGrp="1"/>
          </p:cNvSpPr>
          <p:nvPr>
            <p:ph idx="1"/>
          </p:nvPr>
        </p:nvSpPr>
        <p:spPr>
          <a:xfrm>
            <a:off x="838200" y="689548"/>
            <a:ext cx="10515600" cy="5487415"/>
          </a:xfrm>
        </p:spPr>
        <p:txBody>
          <a:bodyPr>
            <a:noAutofit/>
          </a:bodyPr>
          <a:lstStyle/>
          <a:p>
            <a:pPr algn="l" fontAlgn="base">
              <a:buFont typeface="Arial" panose="020B0604020202020204" pitchFamily="34" charset="0"/>
              <a:buChar char="•"/>
            </a:pPr>
            <a:r>
              <a:rPr lang="en-US" sz="3000" b="1" i="0" dirty="0">
                <a:effectLst/>
                <a:highlight>
                  <a:srgbClr val="FFFFFF"/>
                </a:highlight>
                <a:latin typeface="Roboto" panose="02000000000000000000" pitchFamily="2" charset="0"/>
              </a:rPr>
              <a:t>Assess your project management methodology. </a:t>
            </a:r>
            <a:r>
              <a:rPr lang="en-US" sz="3000" b="0" i="0" dirty="0">
                <a:effectLst/>
                <a:highlight>
                  <a:srgbClr val="FFFFFF"/>
                </a:highlight>
                <a:latin typeface="Roboto" panose="02000000000000000000" pitchFamily="2" charset="0"/>
              </a:rPr>
              <a:t>Was it the best choice for your team? For the project? For instance, if you employed an </a:t>
            </a:r>
            <a:r>
              <a:rPr lang="en-US" sz="3000"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agile approach</a:t>
            </a:r>
            <a:r>
              <a:rPr lang="en-US" sz="3000" b="0" i="0" dirty="0">
                <a:effectLst/>
                <a:highlight>
                  <a:srgbClr val="FFFFFF"/>
                </a:highlight>
                <a:latin typeface="Roboto" panose="02000000000000000000" pitchFamily="2" charset="0"/>
              </a:rPr>
              <a:t> that prioritized speed and flexibility, did it work well?</a:t>
            </a:r>
          </a:p>
          <a:p>
            <a:pPr algn="l" fontAlgn="base">
              <a:buFont typeface="Arial" panose="020B0604020202020204" pitchFamily="34" charset="0"/>
              <a:buChar char="•"/>
            </a:pPr>
            <a:r>
              <a:rPr lang="en-US" sz="3000" b="1" i="0" dirty="0">
                <a:effectLst/>
                <a:highlight>
                  <a:srgbClr val="FFFFFF"/>
                </a:highlight>
                <a:latin typeface="Roboto" panose="02000000000000000000" pitchFamily="2" charset="0"/>
              </a:rPr>
              <a:t>Evaluate risk exposure. </a:t>
            </a:r>
            <a:r>
              <a:rPr lang="en-US" sz="3000" b="0" i="0" dirty="0">
                <a:effectLst/>
                <a:highlight>
                  <a:srgbClr val="FFFFFF"/>
                </a:highlight>
                <a:latin typeface="Roboto" panose="02000000000000000000" pitchFamily="2" charset="0"/>
              </a:rPr>
              <a:t>In addition to addressing what actually happened, look at what </a:t>
            </a:r>
            <a:r>
              <a:rPr lang="en-US" sz="3000" b="0" i="1" dirty="0">
                <a:effectLst/>
                <a:highlight>
                  <a:srgbClr val="FFFFFF"/>
                </a:highlight>
                <a:latin typeface="Roboto" panose="02000000000000000000" pitchFamily="2" charset="0"/>
              </a:rPr>
              <a:t>could</a:t>
            </a:r>
            <a:r>
              <a:rPr lang="en-US" sz="3000" b="0" i="0" dirty="0">
                <a:effectLst/>
                <a:highlight>
                  <a:srgbClr val="FFFFFF"/>
                </a:highlight>
                <a:latin typeface="Roboto" panose="02000000000000000000" pitchFamily="2" charset="0"/>
              </a:rPr>
              <a:t> have happened. Consider what serious risks occurred and how to avoid them next time. </a:t>
            </a:r>
          </a:p>
          <a:p>
            <a:pPr algn="l" fontAlgn="base">
              <a:buFont typeface="Arial" panose="020B0604020202020204" pitchFamily="34" charset="0"/>
              <a:buChar char="•"/>
            </a:pPr>
            <a:r>
              <a:rPr lang="en-US" sz="3000" b="1" i="0" dirty="0">
                <a:effectLst/>
                <a:highlight>
                  <a:srgbClr val="FFFFFF"/>
                </a:highlight>
                <a:latin typeface="Roboto" panose="02000000000000000000" pitchFamily="2" charset="0"/>
              </a:rPr>
              <a:t>Consider whether project transitions happened efficiently, </a:t>
            </a:r>
            <a:r>
              <a:rPr lang="en-US" sz="3000" b="0" i="0" dirty="0">
                <a:effectLst/>
                <a:highlight>
                  <a:srgbClr val="FFFFFF"/>
                </a:highlight>
                <a:latin typeface="Roboto" panose="02000000000000000000" pitchFamily="2" charset="0"/>
              </a:rPr>
              <a:t>as Indeed suggests. Did the project move from one group to another at particular stages? If so, how smoothly did the project handoff unfold?</a:t>
            </a:r>
          </a:p>
          <a:p>
            <a:endParaRPr lang="en-TZ" sz="3000" dirty="0"/>
          </a:p>
        </p:txBody>
      </p:sp>
    </p:spTree>
    <p:extLst>
      <p:ext uri="{BB962C8B-B14F-4D97-AF65-F5344CB8AC3E}">
        <p14:creationId xmlns:p14="http://schemas.microsoft.com/office/powerpoint/2010/main" val="411228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5B82B-FFF5-9C58-5CA3-4BA8D2BE4BC6}"/>
              </a:ext>
            </a:extLst>
          </p:cNvPr>
          <p:cNvSpPr>
            <a:spLocks noGrp="1"/>
          </p:cNvSpPr>
          <p:nvPr>
            <p:ph idx="1"/>
          </p:nvPr>
        </p:nvSpPr>
        <p:spPr>
          <a:xfrm>
            <a:off x="838200" y="614597"/>
            <a:ext cx="10515600" cy="5562366"/>
          </a:xfrm>
        </p:spPr>
        <p:txBody>
          <a:bodyPr>
            <a:normAutofit lnSpcReduction="10000"/>
          </a:bodyPr>
          <a:lstStyle/>
          <a:p>
            <a:pPr algn="l" fontAlgn="base">
              <a:buFont typeface="Arial" panose="020B0604020202020204" pitchFamily="34" charset="0"/>
              <a:buChar char="•"/>
            </a:pPr>
            <a:r>
              <a:rPr lang="en-US" b="1" i="0" dirty="0">
                <a:effectLst/>
                <a:highlight>
                  <a:srgbClr val="FFFFFF"/>
                </a:highlight>
                <a:latin typeface="Roboto" panose="02000000000000000000" pitchFamily="2" charset="0"/>
              </a:rPr>
              <a:t>Conduct a gap analysis. </a:t>
            </a:r>
            <a:r>
              <a:rPr lang="en-US" b="0" i="0" dirty="0">
                <a:effectLst/>
                <a:highlight>
                  <a:srgbClr val="FFFFFF"/>
                </a:highlight>
                <a:latin typeface="Roboto" panose="02000000000000000000" pitchFamily="2" charset="0"/>
              </a:rPr>
              <a:t>Did team members fit their individual roles well? Did particular roles demand any skills they needed? Moreover, determine any strengths the team lacked, along with strengths they demonstrated.</a:t>
            </a:r>
          </a:p>
          <a:p>
            <a:pPr algn="l" fontAlgn="base">
              <a:buFont typeface="Arial" panose="020B0604020202020204" pitchFamily="34" charset="0"/>
              <a:buChar char="•"/>
            </a:pPr>
            <a:r>
              <a:rPr lang="en-US" b="1" i="0" dirty="0">
                <a:effectLst/>
                <a:highlight>
                  <a:srgbClr val="FFFFFF"/>
                </a:highlight>
                <a:latin typeface="Roboto" panose="02000000000000000000" pitchFamily="2" charset="0"/>
              </a:rPr>
              <a:t>Use a simple scoring system</a:t>
            </a:r>
            <a:r>
              <a:rPr lang="en-US" b="0" i="0" dirty="0">
                <a:effectLst/>
                <a:highlight>
                  <a:srgbClr val="FFFFFF"/>
                </a:highlight>
                <a:latin typeface="Roboto" panose="02000000000000000000" pitchFamily="2" charset="0"/>
              </a:rPr>
              <a:t> to represent a project’s success or risk level. Assigning a </a:t>
            </a:r>
            <a:r>
              <a:rPr lang="en-US" b="0" i="0" dirty="0" err="1">
                <a:effectLst/>
                <a:highlight>
                  <a:srgbClr val="FFFFFF"/>
                </a:highlight>
                <a:latin typeface="Roboto" panose="02000000000000000000" pitchFamily="2" charset="0"/>
              </a:rPr>
              <a:t>colour</a:t>
            </a:r>
            <a:r>
              <a:rPr lang="en-US" b="0" i="0" dirty="0">
                <a:effectLst/>
                <a:highlight>
                  <a:srgbClr val="FFFFFF"/>
                </a:highlight>
                <a:latin typeface="Roboto" panose="02000000000000000000" pitchFamily="2" charset="0"/>
              </a:rPr>
              <a:t> can work well, as Indeed outlines:</a:t>
            </a:r>
          </a:p>
          <a:p>
            <a:pPr algn="l" fontAlgn="base">
              <a:buFont typeface="Arial" panose="020B0604020202020204" pitchFamily="34" charset="0"/>
              <a:buChar char="•"/>
            </a:pPr>
            <a:r>
              <a:rPr lang="en-US" b="0" i="0" dirty="0">
                <a:effectLst/>
                <a:highlight>
                  <a:srgbClr val="FFFFFF"/>
                </a:highlight>
                <a:latin typeface="Roboto" panose="02000000000000000000" pitchFamily="2" charset="0"/>
              </a:rPr>
              <a:t>Green = low risk; everything is on track.</a:t>
            </a:r>
          </a:p>
          <a:p>
            <a:pPr algn="l" fontAlgn="base">
              <a:buFont typeface="Arial" panose="020B0604020202020204" pitchFamily="34" charset="0"/>
              <a:buChar char="•"/>
            </a:pPr>
            <a:r>
              <a:rPr lang="en-US" b="0" i="0" dirty="0">
                <a:effectLst/>
                <a:highlight>
                  <a:srgbClr val="FFFFFF"/>
                </a:highlight>
                <a:latin typeface="Roboto" panose="02000000000000000000" pitchFamily="2" charset="0"/>
              </a:rPr>
              <a:t>Yellow = some concern about progress or risk exists.</a:t>
            </a:r>
          </a:p>
          <a:p>
            <a:pPr algn="l" fontAlgn="base">
              <a:buFont typeface="Arial" panose="020B0604020202020204" pitchFamily="34" charset="0"/>
              <a:buChar char="•"/>
            </a:pPr>
            <a:r>
              <a:rPr lang="en-US" b="0" i="0" dirty="0">
                <a:effectLst/>
                <a:highlight>
                  <a:srgbClr val="FFFFFF"/>
                </a:highlight>
                <a:latin typeface="Roboto" panose="02000000000000000000" pitchFamily="2" charset="0"/>
              </a:rPr>
              <a:t>Red = major adjustments need to be made. Follow progress closely after making them.</a:t>
            </a:r>
          </a:p>
          <a:p>
            <a:pPr marL="0" indent="0" algn="l" fontAlgn="base">
              <a:buNone/>
            </a:pPr>
            <a:r>
              <a:rPr lang="en-US" b="0" i="0" dirty="0">
                <a:effectLst/>
                <a:highlight>
                  <a:srgbClr val="FFFFFF"/>
                </a:highlight>
                <a:latin typeface="Roboto" panose="02000000000000000000" pitchFamily="2" charset="0"/>
              </a:rPr>
              <a:t>Using the information you’ve gained, complete a project review template.</a:t>
            </a:r>
          </a:p>
          <a:p>
            <a:endParaRPr lang="en-TZ" dirty="0"/>
          </a:p>
        </p:txBody>
      </p:sp>
    </p:spTree>
    <p:extLst>
      <p:ext uri="{BB962C8B-B14F-4D97-AF65-F5344CB8AC3E}">
        <p14:creationId xmlns:p14="http://schemas.microsoft.com/office/powerpoint/2010/main" val="422116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F348-6C42-45DF-0013-A4A4DD556B7E}"/>
              </a:ext>
            </a:extLst>
          </p:cNvPr>
          <p:cNvSpPr>
            <a:spLocks noGrp="1"/>
          </p:cNvSpPr>
          <p:nvPr>
            <p:ph type="title"/>
          </p:nvPr>
        </p:nvSpPr>
        <p:spPr>
          <a:xfrm>
            <a:off x="838200" y="365125"/>
            <a:ext cx="10515600" cy="579255"/>
          </a:xfrm>
        </p:spPr>
        <p:txBody>
          <a:bodyPr>
            <a:normAutofit/>
          </a:bodyPr>
          <a:lstStyle/>
          <a:p>
            <a:r>
              <a:rPr lang="en-US" sz="3200" b="1" i="0" dirty="0">
                <a:solidFill>
                  <a:srgbClr val="161A24"/>
                </a:solidFill>
                <a:effectLst/>
                <a:highlight>
                  <a:srgbClr val="FFFFFF"/>
                </a:highlight>
                <a:latin typeface="Poppins" panose="00000500000000000000" pitchFamily="2" charset="0"/>
              </a:rPr>
              <a:t>Project Review Template</a:t>
            </a:r>
            <a:endParaRPr lang="en-TZ" sz="3200" dirty="0"/>
          </a:p>
        </p:txBody>
      </p:sp>
      <p:graphicFrame>
        <p:nvGraphicFramePr>
          <p:cNvPr id="6" name="Content Placeholder 5">
            <a:extLst>
              <a:ext uri="{FF2B5EF4-FFF2-40B4-BE49-F238E27FC236}">
                <a16:creationId xmlns:a16="http://schemas.microsoft.com/office/drawing/2014/main" id="{D0A8AD1D-A916-20DC-CA38-AA236BC90436}"/>
              </a:ext>
            </a:extLst>
          </p:cNvPr>
          <p:cNvGraphicFramePr>
            <a:graphicFrameLocks noGrp="1" noChangeAspect="1"/>
          </p:cNvGraphicFramePr>
          <p:nvPr>
            <p:ph idx="1"/>
            <p:extLst>
              <p:ext uri="{D42A27DB-BD31-4B8C-83A1-F6EECF244321}">
                <p14:modId xmlns:p14="http://schemas.microsoft.com/office/powerpoint/2010/main" val="817742672"/>
              </p:ext>
            </p:extLst>
          </p:nvPr>
        </p:nvGraphicFramePr>
        <p:xfrm>
          <a:off x="4435475" y="1184275"/>
          <a:ext cx="3319463" cy="4992688"/>
        </p:xfrm>
        <a:graphic>
          <a:graphicData uri="http://schemas.openxmlformats.org/presentationml/2006/ole">
            <mc:AlternateContent xmlns:mc="http://schemas.openxmlformats.org/markup-compatibility/2006">
              <mc:Choice xmlns:v="urn:schemas-microsoft-com:vml" Requires="v">
                <p:oleObj name="Document" r:id="rId2" imgW="5728906" imgH="8616696" progId="Word.Document.12">
                  <p:embed/>
                </p:oleObj>
              </mc:Choice>
              <mc:Fallback>
                <p:oleObj name="Document" r:id="rId2" imgW="5728906" imgH="8616696" progId="Word.Document.12">
                  <p:embed/>
                  <p:pic>
                    <p:nvPicPr>
                      <p:cNvPr id="6" name="Content Placeholder 5">
                        <a:extLst>
                          <a:ext uri="{FF2B5EF4-FFF2-40B4-BE49-F238E27FC236}">
                            <a16:creationId xmlns:a16="http://schemas.microsoft.com/office/drawing/2014/main" id="{D0A8AD1D-A916-20DC-CA38-AA236BC90436}"/>
                          </a:ext>
                        </a:extLst>
                      </p:cNvPr>
                      <p:cNvPicPr/>
                      <p:nvPr/>
                    </p:nvPicPr>
                    <p:blipFill>
                      <a:blip r:embed="rId3"/>
                      <a:stretch>
                        <a:fillRect/>
                      </a:stretch>
                    </p:blipFill>
                    <p:spPr>
                      <a:xfrm>
                        <a:off x="4435475" y="1184275"/>
                        <a:ext cx="3319463" cy="4992688"/>
                      </a:xfrm>
                      <a:prstGeom prst="rect">
                        <a:avLst/>
                      </a:prstGeom>
                    </p:spPr>
                  </p:pic>
                </p:oleObj>
              </mc:Fallback>
            </mc:AlternateContent>
          </a:graphicData>
        </a:graphic>
      </p:graphicFrame>
    </p:spTree>
    <p:extLst>
      <p:ext uri="{BB962C8B-B14F-4D97-AF65-F5344CB8AC3E}">
        <p14:creationId xmlns:p14="http://schemas.microsoft.com/office/powerpoint/2010/main" val="1251051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E6AD2-6962-719F-25C5-7863219A659D}"/>
              </a:ext>
            </a:extLst>
          </p:cNvPr>
          <p:cNvSpPr>
            <a:spLocks noGrp="1"/>
          </p:cNvSpPr>
          <p:nvPr>
            <p:ph idx="1"/>
          </p:nvPr>
        </p:nvSpPr>
        <p:spPr>
          <a:xfrm>
            <a:off x="838200" y="659567"/>
            <a:ext cx="10515600" cy="5517396"/>
          </a:xfrm>
        </p:spPr>
        <p:txBody>
          <a:bodyPr/>
          <a:lstStyle/>
          <a:p>
            <a:pPr marL="0" indent="0" algn="l" fontAlgn="base">
              <a:buNone/>
            </a:pPr>
            <a:r>
              <a:rPr lang="en-US" b="1" i="0" dirty="0">
                <a:effectLst/>
                <a:highlight>
                  <a:srgbClr val="FFFFFF"/>
                </a:highlight>
                <a:latin typeface="Poppins" panose="00000500000000000000" pitchFamily="2" charset="0"/>
              </a:rPr>
              <a:t>Different Types of Project Reviews</a:t>
            </a:r>
          </a:p>
          <a:p>
            <a:pPr algn="l" fontAlgn="base"/>
            <a:r>
              <a:rPr lang="en-US" b="0" i="0" dirty="0">
                <a:effectLst/>
                <a:highlight>
                  <a:srgbClr val="FFFFFF"/>
                </a:highlight>
                <a:latin typeface="Roboto" panose="02000000000000000000" pitchFamily="2" charset="0"/>
              </a:rPr>
              <a:t>Here are several common types of project reviews an organization might conduct.</a:t>
            </a:r>
          </a:p>
          <a:p>
            <a:pPr algn="l" fontAlgn="base"/>
            <a:r>
              <a:rPr lang="en-US" b="1" i="0" dirty="0">
                <a:effectLst/>
                <a:highlight>
                  <a:srgbClr val="FFFFFF"/>
                </a:highlight>
                <a:latin typeface="Poppins" panose="00000500000000000000" pitchFamily="2" charset="0"/>
              </a:rPr>
              <a:t>Gate Review</a:t>
            </a:r>
          </a:p>
          <a:p>
            <a:pPr algn="l" fontAlgn="base"/>
            <a:r>
              <a:rPr lang="en-US" b="0" i="0" dirty="0">
                <a:effectLst/>
                <a:highlight>
                  <a:srgbClr val="FFFFFF"/>
                </a:highlight>
                <a:latin typeface="Roboto" panose="02000000000000000000" pitchFamily="2" charset="0"/>
              </a:rPr>
              <a:t>The gate review determines whether to authorize a current project to proceed to the next stage. It examines factors like current risks and budget requirements. In many cases, it involves approving funding as well.</a:t>
            </a:r>
          </a:p>
          <a:p>
            <a:pPr algn="l" fontAlgn="base"/>
            <a:r>
              <a:rPr lang="en-US" b="1" i="0" dirty="0">
                <a:effectLst/>
                <a:highlight>
                  <a:srgbClr val="FFFFFF"/>
                </a:highlight>
                <a:latin typeface="Poppins" panose="00000500000000000000" pitchFamily="2" charset="0"/>
              </a:rPr>
              <a:t>Completion Review</a:t>
            </a:r>
          </a:p>
          <a:p>
            <a:pPr algn="l" fontAlgn="base"/>
            <a:r>
              <a:rPr lang="en-US" b="0" i="0" dirty="0">
                <a:effectLst/>
                <a:highlight>
                  <a:srgbClr val="FFFFFF"/>
                </a:highlight>
                <a:latin typeface="Roboto" panose="02000000000000000000" pitchFamily="2" charset="0"/>
              </a:rPr>
              <a:t>Every project should have a completion review, as discussed. This review assesses the overall success of the project. </a:t>
            </a:r>
          </a:p>
          <a:p>
            <a:endParaRPr lang="en-TZ" dirty="0"/>
          </a:p>
        </p:txBody>
      </p:sp>
    </p:spTree>
    <p:extLst>
      <p:ext uri="{BB962C8B-B14F-4D97-AF65-F5344CB8AC3E}">
        <p14:creationId xmlns:p14="http://schemas.microsoft.com/office/powerpoint/2010/main" val="3261410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2C151-A833-6F75-D854-D291A3894BA9}"/>
              </a:ext>
            </a:extLst>
          </p:cNvPr>
          <p:cNvSpPr>
            <a:spLocks noGrp="1"/>
          </p:cNvSpPr>
          <p:nvPr>
            <p:ph idx="1"/>
          </p:nvPr>
        </p:nvSpPr>
        <p:spPr>
          <a:xfrm>
            <a:off x="838200" y="614597"/>
            <a:ext cx="10515600" cy="5562366"/>
          </a:xfrm>
        </p:spPr>
        <p:txBody>
          <a:bodyPr>
            <a:normAutofit lnSpcReduction="10000"/>
          </a:bodyPr>
          <a:lstStyle/>
          <a:p>
            <a:pPr algn="l" fontAlgn="base"/>
            <a:r>
              <a:rPr lang="en-US" b="1" i="0" dirty="0">
                <a:effectLst/>
                <a:highlight>
                  <a:srgbClr val="FFFFFF"/>
                </a:highlight>
                <a:latin typeface="Poppins" panose="00000500000000000000" pitchFamily="2" charset="0"/>
              </a:rPr>
              <a:t>Follow-Up Review</a:t>
            </a:r>
          </a:p>
          <a:p>
            <a:pPr algn="l" fontAlgn="base"/>
            <a:r>
              <a:rPr lang="en-US" b="0" i="0" dirty="0">
                <a:effectLst/>
                <a:highlight>
                  <a:srgbClr val="FFFFFF"/>
                </a:highlight>
                <a:latin typeface="Roboto" panose="02000000000000000000" pitchFamily="2" charset="0"/>
              </a:rPr>
              <a:t>A follow-up review addresses issues of noncompliance, as Timothy Briscoe and coauthors explain in a Project Management Institute conference presentation. This can occur after a gate review that reveals concerns. Or, it can occur after a completion review that found the project has not yet met its goals.</a:t>
            </a:r>
          </a:p>
          <a:p>
            <a:pPr algn="l" fontAlgn="base"/>
            <a:r>
              <a:rPr lang="en-US" b="0" i="0" dirty="0">
                <a:effectLst/>
                <a:highlight>
                  <a:srgbClr val="FFFFFF"/>
                </a:highlight>
                <a:latin typeface="Roboto" panose="02000000000000000000" pitchFamily="2" charset="0"/>
              </a:rPr>
              <a:t>It might be scheduled for two weeks or one month after the gate review.</a:t>
            </a:r>
          </a:p>
          <a:p>
            <a:pPr algn="l" fontAlgn="base"/>
            <a:r>
              <a:rPr lang="en-US" b="1" i="0" dirty="0">
                <a:effectLst/>
                <a:highlight>
                  <a:srgbClr val="FFFFFF"/>
                </a:highlight>
                <a:latin typeface="Poppins" panose="00000500000000000000" pitchFamily="2" charset="0"/>
              </a:rPr>
              <a:t>Peer Review</a:t>
            </a:r>
          </a:p>
          <a:p>
            <a:pPr algn="l" fontAlgn="base"/>
            <a:r>
              <a:rPr lang="en-US" b="0" i="0" dirty="0">
                <a:effectLst/>
                <a:highlight>
                  <a:srgbClr val="FFFFFF"/>
                </a:highlight>
                <a:latin typeface="Roboto" panose="02000000000000000000" pitchFamily="2" charset="0"/>
              </a:rPr>
              <a:t>These reviews deliver third-party feedback to the project manager. Peers of this leader evaluate the project’s success. Such reviews can occur at any stage of the project.</a:t>
            </a:r>
          </a:p>
          <a:p>
            <a:endParaRPr lang="en-TZ" dirty="0"/>
          </a:p>
        </p:txBody>
      </p:sp>
    </p:spTree>
    <p:extLst>
      <p:ext uri="{BB962C8B-B14F-4D97-AF65-F5344CB8AC3E}">
        <p14:creationId xmlns:p14="http://schemas.microsoft.com/office/powerpoint/2010/main" val="3198986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7AE23A-9C9F-FCF7-E343-35C7D3A00AA7}"/>
              </a:ext>
            </a:extLst>
          </p:cNvPr>
          <p:cNvSpPr>
            <a:spLocks noGrp="1"/>
          </p:cNvSpPr>
          <p:nvPr>
            <p:ph idx="1"/>
          </p:nvPr>
        </p:nvSpPr>
        <p:spPr>
          <a:xfrm>
            <a:off x="838200" y="764498"/>
            <a:ext cx="10515600" cy="5412465"/>
          </a:xfrm>
        </p:spPr>
        <p:txBody>
          <a:bodyPr>
            <a:normAutofit/>
          </a:bodyPr>
          <a:lstStyle/>
          <a:p>
            <a:r>
              <a:rPr lang="en-US" sz="3000" b="1" i="0" dirty="0">
                <a:effectLst/>
                <a:highlight>
                  <a:srgbClr val="FFFFFF"/>
                </a:highlight>
                <a:latin typeface="Poppins" panose="00000500000000000000" pitchFamily="2" charset="0"/>
              </a:rPr>
              <a:t>Project Review Best Practices</a:t>
            </a:r>
          </a:p>
          <a:p>
            <a:pPr algn="l" fontAlgn="base"/>
            <a:r>
              <a:rPr lang="en-US" sz="3000" b="0" i="0" dirty="0">
                <a:effectLst/>
                <a:highlight>
                  <a:srgbClr val="FFFFFF"/>
                </a:highlight>
                <a:latin typeface="Roboto" panose="02000000000000000000" pitchFamily="2" charset="0"/>
              </a:rPr>
              <a:t>Every project review leader should employ this set of best practices. By doing so, they’ll gain a full picture of the issues that impacted success.</a:t>
            </a:r>
          </a:p>
          <a:p>
            <a:pPr algn="l" fontAlgn="base"/>
            <a:r>
              <a:rPr lang="en-US" sz="3000" b="1" i="0" dirty="0">
                <a:effectLst/>
                <a:highlight>
                  <a:srgbClr val="FFFFFF"/>
                </a:highlight>
                <a:latin typeface="Poppins" panose="00000500000000000000" pitchFamily="2" charset="0"/>
              </a:rPr>
              <a:t>Debrief the Project as a Team</a:t>
            </a:r>
          </a:p>
          <a:p>
            <a:pPr algn="l" fontAlgn="base"/>
            <a:r>
              <a:rPr lang="en-US" sz="3000" b="0" i="0" dirty="0">
                <a:effectLst/>
                <a:highlight>
                  <a:srgbClr val="FFFFFF"/>
                </a:highlight>
                <a:latin typeface="Roboto" panose="02000000000000000000" pitchFamily="2" charset="0"/>
              </a:rPr>
              <a:t>Project reviews should include the whole project team. Hold a meeting where you invite input and discussion from everyone. Employees doing the hands-on work have an extremely valuable perspective. They may notice issues or strengths that leaders have overlooked.</a:t>
            </a:r>
          </a:p>
          <a:p>
            <a:endParaRPr lang="en-TZ" sz="3000" dirty="0"/>
          </a:p>
        </p:txBody>
      </p:sp>
    </p:spTree>
    <p:extLst>
      <p:ext uri="{BB962C8B-B14F-4D97-AF65-F5344CB8AC3E}">
        <p14:creationId xmlns:p14="http://schemas.microsoft.com/office/powerpoint/2010/main" val="85154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1F522-1C3D-05AC-6F0D-261F570E2C15}"/>
              </a:ext>
            </a:extLst>
          </p:cNvPr>
          <p:cNvSpPr>
            <a:spLocks noGrp="1"/>
          </p:cNvSpPr>
          <p:nvPr>
            <p:ph idx="1"/>
          </p:nvPr>
        </p:nvSpPr>
        <p:spPr>
          <a:xfrm>
            <a:off x="838200" y="674557"/>
            <a:ext cx="10515600" cy="5502406"/>
          </a:xfrm>
        </p:spPr>
        <p:txBody>
          <a:bodyPr/>
          <a:lstStyle/>
          <a:p>
            <a:pPr algn="l" fontAlgn="base"/>
            <a:r>
              <a:rPr lang="en-US" b="1" i="0" dirty="0">
                <a:effectLst/>
                <a:highlight>
                  <a:srgbClr val="FFFFFF"/>
                </a:highlight>
                <a:latin typeface="Poppins" panose="00000500000000000000" pitchFamily="2" charset="0"/>
              </a:rPr>
              <a:t>Encourage Staff to Bring Supporting Documentation</a:t>
            </a:r>
          </a:p>
          <a:p>
            <a:pPr algn="l" fontAlgn="base"/>
            <a:r>
              <a:rPr lang="en-US" b="0" i="0" dirty="0">
                <a:effectLst/>
                <a:highlight>
                  <a:srgbClr val="FFFFFF"/>
                </a:highlight>
                <a:latin typeface="Roboto" panose="02000000000000000000" pitchFamily="2" charset="0"/>
              </a:rPr>
              <a:t>People with key project roles should bring evidence that the team achieved (or didn’t achieve) deliverables. They can also bring documentation showing why the team adopted the chosen plan and methodology, as Briscoe and coauthors assert. This will ensure a productive and detailed discussion.</a:t>
            </a:r>
          </a:p>
          <a:p>
            <a:pPr algn="l" fontAlgn="base"/>
            <a:r>
              <a:rPr lang="en-US" b="1" i="0" dirty="0">
                <a:effectLst/>
                <a:highlight>
                  <a:srgbClr val="FFFFFF"/>
                </a:highlight>
                <a:latin typeface="Poppins" panose="00000500000000000000" pitchFamily="2" charset="0"/>
              </a:rPr>
              <a:t>Ask Thoughtful Questions</a:t>
            </a:r>
          </a:p>
          <a:p>
            <a:pPr algn="l" fontAlgn="base"/>
            <a:r>
              <a:rPr lang="en-US" b="0" i="0" dirty="0">
                <a:effectLst/>
                <a:highlight>
                  <a:srgbClr val="FFFFFF"/>
                </a:highlight>
                <a:latin typeface="Roboto" panose="02000000000000000000" pitchFamily="2" charset="0"/>
              </a:rPr>
              <a:t>Make sure everyone has a chance to share input. Prompt individuals to speak up in areas where they may have feedback if need be. For example, say, “Susan, you handled a lot of coordination between team members. How did communication flow?”</a:t>
            </a:r>
          </a:p>
          <a:p>
            <a:endParaRPr lang="en-TZ" dirty="0"/>
          </a:p>
        </p:txBody>
      </p:sp>
    </p:spTree>
    <p:extLst>
      <p:ext uri="{BB962C8B-B14F-4D97-AF65-F5344CB8AC3E}">
        <p14:creationId xmlns:p14="http://schemas.microsoft.com/office/powerpoint/2010/main" val="17925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FF273-0766-F60F-6716-AE7DEE11ED1F}"/>
              </a:ext>
            </a:extLst>
          </p:cNvPr>
          <p:cNvSpPr>
            <a:spLocks noGrp="1"/>
          </p:cNvSpPr>
          <p:nvPr>
            <p:ph idx="1"/>
          </p:nvPr>
        </p:nvSpPr>
        <p:spPr>
          <a:xfrm>
            <a:off x="838200" y="644577"/>
            <a:ext cx="10515600" cy="5532386"/>
          </a:xfrm>
        </p:spPr>
        <p:txBody>
          <a:bodyPr>
            <a:normAutofit/>
          </a:bodyPr>
          <a:lstStyle/>
          <a:p>
            <a:pPr algn="l" fontAlgn="base"/>
            <a:r>
              <a:rPr lang="en-US" sz="3000" b="1" i="0" dirty="0">
                <a:effectLst/>
                <a:highlight>
                  <a:srgbClr val="FFFFFF"/>
                </a:highlight>
                <a:latin typeface="Poppins" panose="00000500000000000000" pitchFamily="2" charset="0"/>
              </a:rPr>
              <a:t>Interview Individuals</a:t>
            </a:r>
          </a:p>
          <a:p>
            <a:pPr algn="l" fontAlgn="base"/>
            <a:r>
              <a:rPr lang="en-US" sz="3000" b="0" i="0" dirty="0">
                <a:effectLst/>
                <a:highlight>
                  <a:srgbClr val="FFFFFF"/>
                </a:highlight>
                <a:latin typeface="Roboto" panose="02000000000000000000" pitchFamily="2" charset="0"/>
              </a:rPr>
              <a:t>Conduct one-on-one interviews with individual team members if you need more input. This gives you a chance to ask follow-up questions.</a:t>
            </a:r>
          </a:p>
          <a:p>
            <a:pPr algn="l" fontAlgn="base"/>
            <a:r>
              <a:rPr lang="en-US" sz="3000" b="1" i="0" dirty="0">
                <a:effectLst/>
                <a:highlight>
                  <a:srgbClr val="FFFFFF"/>
                </a:highlight>
                <a:latin typeface="Poppins" panose="00000500000000000000" pitchFamily="2" charset="0"/>
              </a:rPr>
              <a:t>Discuss the Results with Stakeholders</a:t>
            </a:r>
          </a:p>
          <a:p>
            <a:pPr algn="l" fontAlgn="base"/>
            <a:r>
              <a:rPr lang="en-US" sz="3000" b="0" i="0" dirty="0">
                <a:effectLst/>
                <a:highlight>
                  <a:srgbClr val="FFFFFF"/>
                </a:highlight>
                <a:latin typeface="Roboto" panose="02000000000000000000" pitchFamily="2" charset="0"/>
              </a:rPr>
              <a:t>Present project outcomes to stakeholders and explain what you accomplished. Remind them of the project scope when you start the meeting. Then try to </a:t>
            </a:r>
            <a:r>
              <a:rPr lang="en-US" sz="3000"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reach consensus with stakeholders</a:t>
            </a:r>
            <a:r>
              <a:rPr lang="en-US" sz="3000" b="0" i="0" dirty="0">
                <a:effectLst/>
                <a:highlight>
                  <a:srgbClr val="FFFFFF"/>
                </a:highlight>
                <a:latin typeface="Roboto" panose="02000000000000000000" pitchFamily="2" charset="0"/>
              </a:rPr>
              <a:t> on whether you’ve fulfilled the project goals. Reach an agreement on whether you’ve successfully completed the project or need to do more work. </a:t>
            </a:r>
          </a:p>
          <a:p>
            <a:endParaRPr lang="en-TZ" sz="3000" dirty="0"/>
          </a:p>
        </p:txBody>
      </p:sp>
    </p:spTree>
    <p:extLst>
      <p:ext uri="{BB962C8B-B14F-4D97-AF65-F5344CB8AC3E}">
        <p14:creationId xmlns:p14="http://schemas.microsoft.com/office/powerpoint/2010/main" val="2139413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B81602-1388-5B1D-E433-176BB44278DF}"/>
              </a:ext>
            </a:extLst>
          </p:cNvPr>
          <p:cNvSpPr>
            <a:spLocks noGrp="1"/>
          </p:cNvSpPr>
          <p:nvPr>
            <p:ph idx="1"/>
          </p:nvPr>
        </p:nvSpPr>
        <p:spPr>
          <a:xfrm>
            <a:off x="838200" y="674557"/>
            <a:ext cx="10515600" cy="5502406"/>
          </a:xfrm>
        </p:spPr>
        <p:txBody>
          <a:bodyPr/>
          <a:lstStyle/>
          <a:p>
            <a:pPr algn="l" fontAlgn="base"/>
            <a:r>
              <a:rPr lang="en-US" b="1" i="0" dirty="0">
                <a:effectLst/>
                <a:highlight>
                  <a:srgbClr val="FFFFFF"/>
                </a:highlight>
                <a:latin typeface="Poppins" panose="00000500000000000000" pitchFamily="2" charset="0"/>
              </a:rPr>
              <a:t>Produce Project Review Reports</a:t>
            </a:r>
          </a:p>
          <a:p>
            <a:pPr algn="l" fontAlgn="base"/>
            <a:r>
              <a:rPr lang="en-US" b="0" i="0" dirty="0">
                <a:effectLst/>
                <a:highlight>
                  <a:srgbClr val="FFFFFF"/>
                </a:highlight>
                <a:latin typeface="Roboto" panose="02000000000000000000" pitchFamily="2" charset="0"/>
              </a:rPr>
              <a:t>After a great discussion, don’t let the collective knowledge you’ve gained be forgotten. Along with completing the above template, produce a detailed report. Then share it with the group as well as HR and organizational leadership. The team can refer back to it when planning their next project or continuing the current one.</a:t>
            </a:r>
          </a:p>
          <a:p>
            <a:pPr algn="l" fontAlgn="base"/>
            <a:r>
              <a:rPr lang="en-US" b="1" i="0" dirty="0">
                <a:effectLst/>
                <a:highlight>
                  <a:srgbClr val="FFFFFF"/>
                </a:highlight>
                <a:latin typeface="Poppins" panose="00000500000000000000" pitchFamily="2" charset="0"/>
              </a:rPr>
              <a:t>Use the Right Tools</a:t>
            </a:r>
          </a:p>
          <a:p>
            <a:pPr algn="l" fontAlgn="base"/>
            <a:r>
              <a:rPr lang="en-US" b="0" i="0" dirty="0">
                <a:effectLst/>
                <a:highlight>
                  <a:srgbClr val="FFFFFF"/>
                </a:highlight>
                <a:latin typeface="Roboto" panose="02000000000000000000" pitchFamily="2" charset="0"/>
              </a:rPr>
              <a:t>Software can assist in your project review process. Firstly, it can help you </a:t>
            </a:r>
            <a:r>
              <a:rPr lang="en-US" b="0" i="0" u="none" strike="noStrike" dirty="0">
                <a:effectLst/>
                <a:highlight>
                  <a:srgbClr val="FFFFFF"/>
                </a:highlight>
                <a:latin typeface="Roboto" panose="02000000000000000000" pitchFamily="2" charset="0"/>
                <a:hlinkClick r:id="rId2">
                  <a:extLst>
                    <a:ext uri="{A12FA001-AC4F-418D-AE19-62706E023703}">
                      <ahyp:hlinkClr xmlns:ahyp="http://schemas.microsoft.com/office/drawing/2018/hyperlinkcolor" val="tx"/>
                    </a:ext>
                  </a:extLst>
                </a:hlinkClick>
              </a:rPr>
              <a:t>track progress</a:t>
            </a:r>
            <a:r>
              <a:rPr lang="en-US" b="0" i="0" dirty="0">
                <a:effectLst/>
                <a:highlight>
                  <a:srgbClr val="FFFFFF"/>
                </a:highlight>
                <a:latin typeface="Roboto" panose="02000000000000000000" pitchFamily="2" charset="0"/>
              </a:rPr>
              <a:t> toward project goals. Secondly, it can </a:t>
            </a:r>
            <a:r>
              <a:rPr lang="en-US" b="0" i="0" u="none" strike="noStrike" dirty="0">
                <a:effectLst/>
                <a:highlight>
                  <a:srgbClr val="FFFFFF"/>
                </a:highlight>
                <a:latin typeface="Roboto" panose="02000000000000000000" pitchFamily="2" charset="0"/>
                <a:hlinkClick r:id="rId3">
                  <a:extLst>
                    <a:ext uri="{A12FA001-AC4F-418D-AE19-62706E023703}">
                      <ahyp:hlinkClr xmlns:ahyp="http://schemas.microsoft.com/office/drawing/2018/hyperlinkcolor" val="tx"/>
                    </a:ext>
                  </a:extLst>
                </a:hlinkClick>
              </a:rPr>
              <a:t>generate analytics</a:t>
            </a:r>
            <a:r>
              <a:rPr lang="en-US" b="0" i="0" dirty="0">
                <a:effectLst/>
                <a:highlight>
                  <a:srgbClr val="FFFFFF"/>
                </a:highlight>
                <a:latin typeface="Roboto" panose="02000000000000000000" pitchFamily="2" charset="0"/>
              </a:rPr>
              <a:t> to assist in evaluating success. This provides objective evidence of strengths and shortcomings.</a:t>
            </a:r>
          </a:p>
          <a:p>
            <a:endParaRPr lang="en-TZ" dirty="0"/>
          </a:p>
        </p:txBody>
      </p:sp>
    </p:spTree>
    <p:extLst>
      <p:ext uri="{BB962C8B-B14F-4D97-AF65-F5344CB8AC3E}">
        <p14:creationId xmlns:p14="http://schemas.microsoft.com/office/powerpoint/2010/main" val="2238802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E1054-0987-C94B-8407-D93ACC1C753F}"/>
              </a:ext>
            </a:extLst>
          </p:cNvPr>
          <p:cNvSpPr>
            <a:spLocks noGrp="1"/>
          </p:cNvSpPr>
          <p:nvPr>
            <p:ph type="title"/>
          </p:nvPr>
        </p:nvSpPr>
        <p:spPr>
          <a:xfrm>
            <a:off x="838200" y="365125"/>
            <a:ext cx="10515600" cy="729157"/>
          </a:xfrm>
        </p:spPr>
        <p:txBody>
          <a:bodyPr>
            <a:normAutofit/>
          </a:bodyPr>
          <a:lstStyle/>
          <a:p>
            <a:r>
              <a:rPr lang="en-US" sz="4000" b="1" dirty="0">
                <a:effectLst/>
                <a:latin typeface="Times New Roman" panose="02020603050405020304" pitchFamily="18" charset="0"/>
                <a:ea typeface="Times New Roman" panose="02020603050405020304" pitchFamily="18" charset="0"/>
              </a:rPr>
              <a:t>Develop project controls</a:t>
            </a:r>
            <a:endParaRPr lang="en-TZ" sz="4000" b="1" dirty="0"/>
          </a:p>
        </p:txBody>
      </p:sp>
      <p:sp>
        <p:nvSpPr>
          <p:cNvPr id="3" name="Content Placeholder 2">
            <a:extLst>
              <a:ext uri="{FF2B5EF4-FFF2-40B4-BE49-F238E27FC236}">
                <a16:creationId xmlns:a16="http://schemas.microsoft.com/office/drawing/2014/main" id="{FB16A70C-A614-98AB-11CA-4AF138E9CB1E}"/>
              </a:ext>
            </a:extLst>
          </p:cNvPr>
          <p:cNvSpPr>
            <a:spLocks noGrp="1"/>
          </p:cNvSpPr>
          <p:nvPr>
            <p:ph idx="1"/>
          </p:nvPr>
        </p:nvSpPr>
        <p:spPr>
          <a:xfrm>
            <a:off x="838200" y="1274164"/>
            <a:ext cx="10515600" cy="4902799"/>
          </a:xfrm>
        </p:spPr>
        <p:txBody>
          <a:bodyPr>
            <a:normAutofit/>
          </a:bodyPr>
          <a:lstStyle/>
          <a:p>
            <a:pPr marL="0" indent="0" algn="l" fontAlgn="base">
              <a:buNone/>
            </a:pPr>
            <a:r>
              <a:rPr lang="en-US" sz="3200" b="1" i="0" dirty="0">
                <a:effectLst/>
                <a:highlight>
                  <a:srgbClr val="FFFFFF"/>
                </a:highlight>
                <a:latin typeface="inherit"/>
              </a:rPr>
              <a:t>What Are Project Controls?</a:t>
            </a:r>
            <a:endParaRPr lang="en-US" sz="3200" b="0" i="0" dirty="0">
              <a:effectLst/>
              <a:highlight>
                <a:srgbClr val="FFFFFF"/>
              </a:highlight>
              <a:latin typeface="Lato" panose="020F0502020204030203" pitchFamily="34" charset="0"/>
            </a:endParaRPr>
          </a:p>
          <a:p>
            <a:pPr algn="l" fontAlgn="base"/>
            <a:r>
              <a:rPr lang="en-US" sz="3200" b="0" i="0" dirty="0">
                <a:effectLst/>
                <a:highlight>
                  <a:srgbClr val="FFFFFF"/>
                </a:highlight>
                <a:latin typeface="Hexagon Akkurat Web"/>
              </a:rPr>
              <a:t>Project controls are processes for gathering and analyzing project data to keep costs and schedules on track. The functions of project controls include initiating, planning, monitoring and controlling, communicating, and closing out project costs and schedule. Ultimately, project controls are repeatable processes for </a:t>
            </a:r>
            <a:r>
              <a:rPr lang="en-US" sz="3200" b="1" i="0" dirty="0">
                <a:effectLst/>
                <a:highlight>
                  <a:srgbClr val="FFFFFF"/>
                </a:highlight>
                <a:latin typeface="inherit"/>
              </a:rPr>
              <a:t>measuring </a:t>
            </a:r>
            <a:r>
              <a:rPr lang="en-US" sz="3200" b="0" i="0" dirty="0">
                <a:effectLst/>
                <a:highlight>
                  <a:srgbClr val="FFFFFF"/>
                </a:highlight>
                <a:latin typeface="Hexagon Akkurat Web"/>
              </a:rPr>
              <a:t>project status, </a:t>
            </a:r>
            <a:r>
              <a:rPr lang="en-US" sz="3200" b="1" i="0" dirty="0">
                <a:effectLst/>
                <a:highlight>
                  <a:srgbClr val="FFFFFF"/>
                </a:highlight>
                <a:latin typeface="inherit"/>
              </a:rPr>
              <a:t>forecasting </a:t>
            </a:r>
            <a:r>
              <a:rPr lang="en-US" sz="3200" b="0" i="0" dirty="0">
                <a:effectLst/>
                <a:highlight>
                  <a:srgbClr val="FFFFFF"/>
                </a:highlight>
                <a:latin typeface="Hexagon Akkurat Web"/>
              </a:rPr>
              <a:t>likely outcomes based on those measurements and then </a:t>
            </a:r>
            <a:r>
              <a:rPr lang="en-US" sz="3200" b="1" i="0" dirty="0">
                <a:effectLst/>
                <a:highlight>
                  <a:srgbClr val="FFFFFF"/>
                </a:highlight>
                <a:latin typeface="inherit"/>
              </a:rPr>
              <a:t>improving </a:t>
            </a:r>
            <a:r>
              <a:rPr lang="en-US" sz="3200" b="0" i="0" dirty="0">
                <a:effectLst/>
                <a:highlight>
                  <a:srgbClr val="FFFFFF"/>
                </a:highlight>
                <a:latin typeface="Hexagon Akkurat Web"/>
              </a:rPr>
              <a:t>project performance if those projected outcomes are unacceptable.</a:t>
            </a:r>
          </a:p>
          <a:p>
            <a:endParaRPr lang="en-TZ" sz="3200" dirty="0"/>
          </a:p>
        </p:txBody>
      </p:sp>
    </p:spTree>
    <p:extLst>
      <p:ext uri="{BB962C8B-B14F-4D97-AF65-F5344CB8AC3E}">
        <p14:creationId xmlns:p14="http://schemas.microsoft.com/office/powerpoint/2010/main" val="338645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EB12B0-8E3B-CFBA-49BF-AF3D3FA06F74}"/>
              </a:ext>
            </a:extLst>
          </p:cNvPr>
          <p:cNvSpPr>
            <a:spLocks noGrp="1"/>
          </p:cNvSpPr>
          <p:nvPr>
            <p:ph idx="1"/>
          </p:nvPr>
        </p:nvSpPr>
        <p:spPr>
          <a:xfrm>
            <a:off x="838200" y="554636"/>
            <a:ext cx="10515600" cy="5622327"/>
          </a:xfrm>
        </p:spPr>
        <p:txBody>
          <a:bodyPr/>
          <a:lstStyle/>
          <a:p>
            <a:pPr marL="0" indent="0" algn="l" fontAlgn="base">
              <a:buNone/>
            </a:pPr>
            <a:r>
              <a:rPr lang="en-US" b="0" i="0" dirty="0">
                <a:effectLst/>
                <a:highlight>
                  <a:srgbClr val="FFFFFF"/>
                </a:highlight>
                <a:latin typeface="Hexagon Akkurat Web"/>
              </a:rPr>
              <a:t>Activities under the umbrella of project controls may include:</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Aligning projects with portfolio/organization goals and objectives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Developing a work-breakdown structure (WBS)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Collaborating on initial project schedules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Developing a risk management plan</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Project budgeting and forecasting</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Monitoring project costs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Feedback and reporting</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Optimizing project strategies to enable better outcomes in the future</a:t>
            </a:r>
          </a:p>
          <a:p>
            <a:endParaRPr lang="en-TZ" dirty="0"/>
          </a:p>
        </p:txBody>
      </p:sp>
    </p:spTree>
    <p:extLst>
      <p:ext uri="{BB962C8B-B14F-4D97-AF65-F5344CB8AC3E}">
        <p14:creationId xmlns:p14="http://schemas.microsoft.com/office/powerpoint/2010/main" val="812236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C78859-D848-346F-BA7D-42883220F6B4}"/>
              </a:ext>
            </a:extLst>
          </p:cNvPr>
          <p:cNvSpPr>
            <a:spLocks noGrp="1"/>
          </p:cNvSpPr>
          <p:nvPr>
            <p:ph idx="1"/>
          </p:nvPr>
        </p:nvSpPr>
        <p:spPr>
          <a:xfrm>
            <a:off x="838200" y="554636"/>
            <a:ext cx="10515600" cy="5622327"/>
          </a:xfrm>
        </p:spPr>
        <p:txBody>
          <a:bodyPr>
            <a:noAutofit/>
          </a:bodyPr>
          <a:lstStyle/>
          <a:p>
            <a:pPr algn="l" fontAlgn="base"/>
            <a:r>
              <a:rPr lang="en-US" sz="3600" b="0" i="0" dirty="0">
                <a:effectLst/>
                <a:highlight>
                  <a:srgbClr val="FFFFFF"/>
                </a:highlight>
                <a:latin typeface="Hexagon Akkurat Web"/>
              </a:rPr>
              <a:t>While a project may deal with many parameters, such as quality, scope, etc., the discipline of project controls puts a spotlight on the cost and schedule factors, continuously monitoring for any risk to them.</a:t>
            </a:r>
          </a:p>
          <a:p>
            <a:pPr algn="l" fontAlgn="base"/>
            <a:r>
              <a:rPr lang="en-US" sz="3600" b="0" i="0" dirty="0">
                <a:effectLst/>
                <a:highlight>
                  <a:srgbClr val="FFFFFF"/>
                </a:highlight>
                <a:latin typeface="Hexagon Akkurat Web"/>
              </a:rPr>
              <a:t>Hierarchically, project controls nest under project management. A project controller could be reporting to a project manager on a specific project or an entire </a:t>
            </a:r>
            <a:r>
              <a:rPr lang="en-US" sz="3600" b="0" i="0" u="sng" dirty="0">
                <a:effectLst/>
                <a:highlight>
                  <a:srgbClr val="FFFFFF"/>
                </a:highlight>
                <a:latin typeface="Hexagon Akkurat Web"/>
                <a:hlinkClick r:id="rId2">
                  <a:extLst>
                    <a:ext uri="{A12FA001-AC4F-418D-AE19-62706E023703}">
                      <ahyp:hlinkClr xmlns:ahyp="http://schemas.microsoft.com/office/drawing/2018/hyperlinkcolor" val="tx"/>
                    </a:ext>
                  </a:extLst>
                </a:hlinkClick>
              </a:rPr>
              <a:t>portfolio of projects</a:t>
            </a:r>
            <a:r>
              <a:rPr lang="en-US" sz="3600" b="0" i="0" dirty="0">
                <a:effectLst/>
                <a:highlight>
                  <a:srgbClr val="FFFFFF"/>
                </a:highlight>
                <a:latin typeface="Hexagon Akkurat Web"/>
              </a:rPr>
              <a:t>. Project controls are vital to successful project management, as it alerts project stakeholders to potential trouble areas and allows them to course correct, if needed.</a:t>
            </a:r>
          </a:p>
          <a:p>
            <a:endParaRPr lang="en-TZ" sz="3600" dirty="0"/>
          </a:p>
        </p:txBody>
      </p:sp>
    </p:spTree>
    <p:extLst>
      <p:ext uri="{BB962C8B-B14F-4D97-AF65-F5344CB8AC3E}">
        <p14:creationId xmlns:p14="http://schemas.microsoft.com/office/powerpoint/2010/main" val="2062436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427D0C-E3F1-EAA8-8ECB-513592527B3F}"/>
              </a:ext>
            </a:extLst>
          </p:cNvPr>
          <p:cNvSpPr>
            <a:spLocks noGrp="1"/>
          </p:cNvSpPr>
          <p:nvPr>
            <p:ph idx="1"/>
          </p:nvPr>
        </p:nvSpPr>
        <p:spPr>
          <a:xfrm>
            <a:off x="838200" y="644577"/>
            <a:ext cx="10515600" cy="5532386"/>
          </a:xfrm>
        </p:spPr>
        <p:txBody>
          <a:bodyPr>
            <a:normAutofit/>
          </a:bodyPr>
          <a:lstStyle/>
          <a:p>
            <a:pPr marL="0" indent="0" algn="l" fontAlgn="base">
              <a:buNone/>
            </a:pPr>
            <a:r>
              <a:rPr lang="en-US" sz="3600" b="1" i="0" dirty="0">
                <a:effectLst/>
                <a:highlight>
                  <a:srgbClr val="FFFFFF"/>
                </a:highlight>
                <a:latin typeface="inherit"/>
              </a:rPr>
              <a:t>Processes That Define Project Controls</a:t>
            </a:r>
            <a:endParaRPr lang="en-US" sz="3600" b="0" i="0" dirty="0">
              <a:effectLst/>
              <a:highlight>
                <a:srgbClr val="FFFFFF"/>
              </a:highlight>
              <a:latin typeface="Lato" panose="020F0502020204030203" pitchFamily="34" charset="0"/>
            </a:endParaRPr>
          </a:p>
          <a:p>
            <a:pPr algn="l" fontAlgn="base"/>
            <a:r>
              <a:rPr lang="en-US" sz="3600" b="0" i="0" dirty="0">
                <a:effectLst/>
                <a:highlight>
                  <a:srgbClr val="FFFFFF"/>
                </a:highlight>
                <a:latin typeface="Hexagon Akkurat Web"/>
              </a:rPr>
              <a:t>The strengths of project controls lie in their data-focused approach and attention to detail. A project manager does not simply want to know that there is a cost overrun, but rather wants to know the root causes, the precise numbers, and how it can be resolved. This is where a </a:t>
            </a:r>
            <a:r>
              <a:rPr lang="en-US" sz="3600" b="0" i="0" u="sng" dirty="0">
                <a:effectLst/>
                <a:highlight>
                  <a:srgbClr val="FFFFFF"/>
                </a:highlight>
                <a:latin typeface="Hexagon Akkurat Web"/>
                <a:hlinkClick r:id="rId2">
                  <a:extLst>
                    <a:ext uri="{A12FA001-AC4F-418D-AE19-62706E023703}">
                      <ahyp:hlinkClr xmlns:ahyp="http://schemas.microsoft.com/office/drawing/2018/hyperlinkcolor" val="tx"/>
                    </a:ext>
                  </a:extLst>
                </a:hlinkClick>
              </a:rPr>
              <a:t>fully integrated project controls solution</a:t>
            </a:r>
            <a:r>
              <a:rPr lang="en-US" sz="3600" b="0" i="0" dirty="0">
                <a:effectLst/>
                <a:highlight>
                  <a:srgbClr val="FFFFFF"/>
                </a:highlight>
                <a:latin typeface="Hexagon Akkurat Web"/>
              </a:rPr>
              <a:t> can help with efficiency in obtaining answers quickly, and provide visibility into performance that can reduce project costs.</a:t>
            </a:r>
          </a:p>
          <a:p>
            <a:endParaRPr lang="en-TZ" sz="3600" dirty="0"/>
          </a:p>
        </p:txBody>
      </p:sp>
    </p:spTree>
    <p:extLst>
      <p:ext uri="{BB962C8B-B14F-4D97-AF65-F5344CB8AC3E}">
        <p14:creationId xmlns:p14="http://schemas.microsoft.com/office/powerpoint/2010/main" val="2052965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7955F-A0E4-1484-3DE0-C4695F73DC12}"/>
              </a:ext>
            </a:extLst>
          </p:cNvPr>
          <p:cNvSpPr>
            <a:spLocks noGrp="1"/>
          </p:cNvSpPr>
          <p:nvPr>
            <p:ph idx="1"/>
          </p:nvPr>
        </p:nvSpPr>
        <p:spPr>
          <a:xfrm>
            <a:off x="614597" y="554636"/>
            <a:ext cx="10972800" cy="5741233"/>
          </a:xfrm>
        </p:spPr>
        <p:txBody>
          <a:bodyPr/>
          <a:lstStyle/>
          <a:p>
            <a:pPr marL="0" indent="0" algn="l" fontAlgn="base">
              <a:buNone/>
            </a:pPr>
            <a:r>
              <a:rPr lang="en-US" b="0" i="0" dirty="0">
                <a:effectLst/>
                <a:highlight>
                  <a:srgbClr val="FFFFFF"/>
                </a:highlight>
                <a:latin typeface="Hexagon Akkurat Web"/>
              </a:rPr>
              <a:t>Let’s dive into the processes that define project controls.</a:t>
            </a:r>
          </a:p>
          <a:p>
            <a:pPr algn="l" fontAlgn="base"/>
            <a:r>
              <a:rPr lang="en-US" b="1" i="0" dirty="0">
                <a:effectLst/>
                <a:highlight>
                  <a:srgbClr val="FFFFFF"/>
                </a:highlight>
                <a:latin typeface="inherit"/>
              </a:rPr>
              <a:t>Project Planning</a:t>
            </a:r>
            <a:endParaRPr lang="en-US" b="0" i="0" dirty="0">
              <a:effectLst/>
              <a:highlight>
                <a:srgbClr val="FFFFFF"/>
              </a:highlight>
              <a:latin typeface="Lato" panose="020F0502020204030203" pitchFamily="34" charset="0"/>
            </a:endParaRPr>
          </a:p>
          <a:p>
            <a:pPr algn="l" fontAlgn="base"/>
            <a:r>
              <a:rPr lang="en-US" b="0" i="0" dirty="0">
                <a:effectLst/>
                <a:highlight>
                  <a:srgbClr val="FFFFFF"/>
                </a:highlight>
                <a:latin typeface="Hexagon Akkurat Web"/>
              </a:rPr>
              <a:t>Planning is one of the important steps in which controllers and project managers work together. Whether it’s creating project plans, schedules, work-breakdown structures or cost estimates, planning gives your team a baseline to work with throughout the project.</a:t>
            </a:r>
          </a:p>
          <a:p>
            <a:pPr algn="l" fontAlgn="base"/>
            <a:r>
              <a:rPr lang="en-US" b="1" i="0" dirty="0">
                <a:effectLst/>
                <a:highlight>
                  <a:srgbClr val="FFFFFF"/>
                </a:highlight>
                <a:latin typeface="inherit"/>
              </a:rPr>
              <a:t>Budgeting</a:t>
            </a:r>
            <a:endParaRPr lang="en-US" b="0" i="0" dirty="0">
              <a:effectLst/>
              <a:highlight>
                <a:srgbClr val="FFFFFF"/>
              </a:highlight>
              <a:latin typeface="Lato" panose="020F0502020204030203" pitchFamily="34" charset="0"/>
            </a:endParaRPr>
          </a:p>
          <a:p>
            <a:pPr algn="l" fontAlgn="base"/>
            <a:r>
              <a:rPr lang="en-US" b="0" i="0" dirty="0">
                <a:effectLst/>
                <a:highlight>
                  <a:srgbClr val="FFFFFF"/>
                </a:highlight>
                <a:latin typeface="Hexagon Akkurat Web"/>
              </a:rPr>
              <a:t>Integrating the budgeting process into project activities is essential to calculate costs accurately and to understand when and why variances occur. By time-phasing budgets and refining the numbers, a transparent model is available for senior managers and team members alike. This model serves as a benchmark throughout the project to understand vitally important cash flows.</a:t>
            </a:r>
          </a:p>
          <a:p>
            <a:endParaRPr lang="en-TZ" dirty="0"/>
          </a:p>
        </p:txBody>
      </p:sp>
    </p:spTree>
    <p:extLst>
      <p:ext uri="{BB962C8B-B14F-4D97-AF65-F5344CB8AC3E}">
        <p14:creationId xmlns:p14="http://schemas.microsoft.com/office/powerpoint/2010/main" val="3816455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84169-7C75-7122-7D19-272D89E67B21}"/>
              </a:ext>
            </a:extLst>
          </p:cNvPr>
          <p:cNvSpPr>
            <a:spLocks noGrp="1"/>
          </p:cNvSpPr>
          <p:nvPr>
            <p:ph idx="1"/>
          </p:nvPr>
        </p:nvSpPr>
        <p:spPr>
          <a:xfrm>
            <a:off x="838200" y="644577"/>
            <a:ext cx="10515600" cy="5532386"/>
          </a:xfrm>
        </p:spPr>
        <p:txBody>
          <a:bodyPr/>
          <a:lstStyle/>
          <a:p>
            <a:pPr algn="l" fontAlgn="base"/>
            <a:r>
              <a:rPr lang="en-US" b="1" i="0" dirty="0">
                <a:solidFill>
                  <a:srgbClr val="363636"/>
                </a:solidFill>
                <a:effectLst/>
                <a:highlight>
                  <a:srgbClr val="FFFFFF"/>
                </a:highlight>
                <a:latin typeface="inherit"/>
              </a:rPr>
              <a:t>Risk Management</a:t>
            </a:r>
            <a:endParaRPr lang="en-US" b="0" i="0" dirty="0">
              <a:solidFill>
                <a:srgbClr val="333333"/>
              </a:solidFill>
              <a:effectLst/>
              <a:highlight>
                <a:srgbClr val="FFFFFF"/>
              </a:highlight>
              <a:latin typeface="Lato" panose="020F0502020204030203" pitchFamily="34" charset="0"/>
            </a:endParaRPr>
          </a:p>
          <a:p>
            <a:pPr algn="l" fontAlgn="base"/>
            <a:r>
              <a:rPr lang="en-US" b="0" i="0" dirty="0">
                <a:solidFill>
                  <a:srgbClr val="000000"/>
                </a:solidFill>
                <a:effectLst/>
                <a:highlight>
                  <a:srgbClr val="FFFFFF"/>
                </a:highlight>
                <a:latin typeface="Hexagon Akkurat Web"/>
              </a:rPr>
              <a:t>Project controls provide a meticulous approach to managing risk. By preemptively identifying risks, monitoring risk continuously, and developing contingency plans to address and mitigate issues, it becomes possible to reduce impact on budget and schedule. It also helps prevent some risks from happening in the future.</a:t>
            </a:r>
          </a:p>
          <a:p>
            <a:pPr algn="l" fontAlgn="base"/>
            <a:r>
              <a:rPr lang="en-US" b="1" i="0" dirty="0">
                <a:solidFill>
                  <a:srgbClr val="363636"/>
                </a:solidFill>
                <a:effectLst/>
                <a:highlight>
                  <a:srgbClr val="FFFFFF"/>
                </a:highlight>
                <a:latin typeface="inherit"/>
              </a:rPr>
              <a:t>Change Management</a:t>
            </a:r>
            <a:endParaRPr lang="en-US" b="0" i="0" dirty="0">
              <a:solidFill>
                <a:srgbClr val="333333"/>
              </a:solidFill>
              <a:effectLst/>
              <a:highlight>
                <a:srgbClr val="FFFFFF"/>
              </a:highlight>
              <a:latin typeface="Lato" panose="020F0502020204030203" pitchFamily="34" charset="0"/>
            </a:endParaRPr>
          </a:p>
          <a:p>
            <a:pPr algn="l" fontAlgn="base"/>
            <a:r>
              <a:rPr lang="en-US" b="0" i="0" dirty="0">
                <a:solidFill>
                  <a:srgbClr val="000000"/>
                </a:solidFill>
                <a:effectLst/>
                <a:highlight>
                  <a:srgbClr val="FFFFFF"/>
                </a:highlight>
                <a:latin typeface="Hexagon Akkurat Web"/>
              </a:rPr>
              <a:t>When a project deviates from its original estimates, it’s often not due to a single factor, but due to the cumulative effect of several factors that tend to go unnoticed. This is why change management is critical. By tracking changes and understanding their impact, while following a clear process for evaluation, approval, and accountability, projects can stay on their charted trajectory.</a:t>
            </a:r>
          </a:p>
          <a:p>
            <a:endParaRPr lang="en-TZ" dirty="0"/>
          </a:p>
        </p:txBody>
      </p:sp>
    </p:spTree>
    <p:extLst>
      <p:ext uri="{BB962C8B-B14F-4D97-AF65-F5344CB8AC3E}">
        <p14:creationId xmlns:p14="http://schemas.microsoft.com/office/powerpoint/2010/main" val="3014197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EA411-266E-5629-DC20-83D8540270EB}"/>
              </a:ext>
            </a:extLst>
          </p:cNvPr>
          <p:cNvSpPr>
            <a:spLocks noGrp="1"/>
          </p:cNvSpPr>
          <p:nvPr>
            <p:ph idx="1"/>
          </p:nvPr>
        </p:nvSpPr>
        <p:spPr>
          <a:xfrm>
            <a:off x="674557" y="509666"/>
            <a:ext cx="10882859" cy="5801193"/>
          </a:xfrm>
        </p:spPr>
        <p:txBody>
          <a:bodyPr>
            <a:noAutofit/>
          </a:bodyPr>
          <a:lstStyle/>
          <a:p>
            <a:pPr algn="l" fontAlgn="base"/>
            <a:r>
              <a:rPr lang="en-US" sz="3600" b="1" i="0" dirty="0">
                <a:solidFill>
                  <a:srgbClr val="363636"/>
                </a:solidFill>
                <a:effectLst/>
                <a:highlight>
                  <a:srgbClr val="FFFFFF"/>
                </a:highlight>
                <a:latin typeface="inherit"/>
              </a:rPr>
              <a:t>Forecasting</a:t>
            </a:r>
            <a:endParaRPr lang="en-US" sz="3600" b="0" i="0" dirty="0">
              <a:solidFill>
                <a:srgbClr val="333333"/>
              </a:solidFill>
              <a:effectLst/>
              <a:highlight>
                <a:srgbClr val="FFFFFF"/>
              </a:highlight>
              <a:latin typeface="Lato" panose="020F0502020204030203" pitchFamily="34" charset="0"/>
            </a:endParaRPr>
          </a:p>
          <a:p>
            <a:pPr algn="l" fontAlgn="base"/>
            <a:r>
              <a:rPr lang="en-US" sz="3600" b="0" i="0" dirty="0">
                <a:solidFill>
                  <a:srgbClr val="000000"/>
                </a:solidFill>
                <a:effectLst/>
                <a:highlight>
                  <a:srgbClr val="FFFFFF"/>
                </a:highlight>
                <a:latin typeface="Hexagon Akkurat Web"/>
              </a:rPr>
              <a:t>By increasing the accuracy of estimates-at-complete, project controllers and managers can gain more insight into the current drivers of cost and schedule overruns. Good progress measurement is a vital input to the forecasting process.  It serves as the comparison against actual and committed costs that enable project controllers to extrapolate a forecast using a combination of standard forecasting methods and formulas. Regular, timely updates aid the project controller by enabling faster response and corrective action to when a project starts to get off track.</a:t>
            </a:r>
          </a:p>
          <a:p>
            <a:endParaRPr lang="en-TZ" sz="3600" dirty="0"/>
          </a:p>
        </p:txBody>
      </p:sp>
    </p:spTree>
    <p:extLst>
      <p:ext uri="{BB962C8B-B14F-4D97-AF65-F5344CB8AC3E}">
        <p14:creationId xmlns:p14="http://schemas.microsoft.com/office/powerpoint/2010/main" val="4011336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16BA5-7A17-9DBB-D7FB-5E00F5CD8040}"/>
              </a:ext>
            </a:extLst>
          </p:cNvPr>
          <p:cNvSpPr>
            <a:spLocks noGrp="1"/>
          </p:cNvSpPr>
          <p:nvPr>
            <p:ph idx="1"/>
          </p:nvPr>
        </p:nvSpPr>
        <p:spPr>
          <a:xfrm>
            <a:off x="838200" y="629587"/>
            <a:ext cx="10515600" cy="5547376"/>
          </a:xfrm>
        </p:spPr>
        <p:txBody>
          <a:bodyPr>
            <a:normAutofit/>
          </a:bodyPr>
          <a:lstStyle/>
          <a:p>
            <a:pPr algn="l" fontAlgn="base"/>
            <a:r>
              <a:rPr lang="en-US" sz="3600" b="1" i="0" dirty="0">
                <a:solidFill>
                  <a:srgbClr val="363636"/>
                </a:solidFill>
                <a:effectLst/>
                <a:highlight>
                  <a:srgbClr val="FFFFFF"/>
                </a:highlight>
                <a:latin typeface="inherit"/>
              </a:rPr>
              <a:t>Performance Management</a:t>
            </a:r>
            <a:endParaRPr lang="en-US" sz="3600" b="0" i="0" dirty="0">
              <a:solidFill>
                <a:srgbClr val="333333"/>
              </a:solidFill>
              <a:effectLst/>
              <a:highlight>
                <a:srgbClr val="FFFFFF"/>
              </a:highlight>
              <a:latin typeface="Lato" panose="020F0502020204030203" pitchFamily="34" charset="0"/>
            </a:endParaRPr>
          </a:p>
          <a:p>
            <a:pPr algn="l" fontAlgn="base"/>
            <a:r>
              <a:rPr lang="en-US" sz="3600" b="0" i="0" dirty="0">
                <a:solidFill>
                  <a:srgbClr val="000000"/>
                </a:solidFill>
                <a:effectLst/>
                <a:highlight>
                  <a:srgbClr val="FFFFFF"/>
                </a:highlight>
                <a:latin typeface="Hexagon Akkurat Web"/>
              </a:rPr>
              <a:t>Defining and using key performance indicators (KPIs) to monitor project health and forecast trends is crucial to take corrective actions. Organizations that use performance information to manage projects, like the calculations used in Earned Value Management, achieve a </a:t>
            </a:r>
            <a:r>
              <a:rPr lang="en-US" sz="3600" b="0" i="0" u="sng" dirty="0">
                <a:solidFill>
                  <a:srgbClr val="005470"/>
                </a:solidFill>
                <a:effectLst/>
                <a:highlight>
                  <a:srgbClr val="FFFFFF"/>
                </a:highlight>
                <a:latin typeface="Hexagon Akkurat Web"/>
                <a:hlinkClick r:id="rId2"/>
              </a:rPr>
              <a:t>68% success rate</a:t>
            </a:r>
            <a:r>
              <a:rPr lang="en-US" sz="3600" b="0" i="0" dirty="0">
                <a:solidFill>
                  <a:srgbClr val="000000"/>
                </a:solidFill>
                <a:effectLst/>
                <a:highlight>
                  <a:srgbClr val="FFFFFF"/>
                </a:highlight>
                <a:latin typeface="Hexagon Akkurat Web"/>
              </a:rPr>
              <a:t>, compared to a 7% success rate for projects that don’t leverage this data.</a:t>
            </a:r>
          </a:p>
          <a:p>
            <a:pPr algn="l" fontAlgn="base"/>
            <a:r>
              <a:rPr lang="en-US" sz="3600" b="0" i="0" dirty="0">
                <a:solidFill>
                  <a:srgbClr val="000000"/>
                </a:solidFill>
                <a:effectLst/>
                <a:highlight>
                  <a:srgbClr val="FFFFFF"/>
                </a:highlight>
                <a:latin typeface="Hexagon Akkurat Web"/>
              </a:rPr>
              <a:t> </a:t>
            </a:r>
          </a:p>
          <a:p>
            <a:endParaRPr lang="en-TZ" sz="3600" dirty="0"/>
          </a:p>
        </p:txBody>
      </p:sp>
    </p:spTree>
    <p:extLst>
      <p:ext uri="{BB962C8B-B14F-4D97-AF65-F5344CB8AC3E}">
        <p14:creationId xmlns:p14="http://schemas.microsoft.com/office/powerpoint/2010/main" val="1272327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22907-62F7-947B-2FA8-47B8596B8F0A}"/>
              </a:ext>
            </a:extLst>
          </p:cNvPr>
          <p:cNvSpPr>
            <a:spLocks noGrp="1"/>
          </p:cNvSpPr>
          <p:nvPr>
            <p:ph idx="1"/>
          </p:nvPr>
        </p:nvSpPr>
        <p:spPr>
          <a:xfrm>
            <a:off x="838200" y="689548"/>
            <a:ext cx="10515600" cy="5487415"/>
          </a:xfrm>
        </p:spPr>
        <p:txBody>
          <a:bodyPr>
            <a:normAutofit/>
          </a:bodyPr>
          <a:lstStyle/>
          <a:p>
            <a:pPr algn="l" fontAlgn="base"/>
            <a:r>
              <a:rPr lang="en-US" sz="3600" b="1" i="0" dirty="0">
                <a:solidFill>
                  <a:srgbClr val="363636"/>
                </a:solidFill>
                <a:effectLst/>
                <a:highlight>
                  <a:srgbClr val="FFFFFF"/>
                </a:highlight>
                <a:latin typeface="inherit"/>
              </a:rPr>
              <a:t>Project Administration</a:t>
            </a:r>
            <a:endParaRPr lang="en-US" sz="3600" b="0" i="0" dirty="0">
              <a:solidFill>
                <a:srgbClr val="333333"/>
              </a:solidFill>
              <a:effectLst/>
              <a:highlight>
                <a:srgbClr val="FFFFFF"/>
              </a:highlight>
              <a:latin typeface="Lato" panose="020F0502020204030203" pitchFamily="34" charset="0"/>
            </a:endParaRPr>
          </a:p>
          <a:p>
            <a:pPr algn="l" fontAlgn="base"/>
            <a:r>
              <a:rPr lang="en-US" sz="3600" b="0" i="0" dirty="0">
                <a:solidFill>
                  <a:srgbClr val="000000"/>
                </a:solidFill>
                <a:effectLst/>
                <a:highlight>
                  <a:srgbClr val="FFFFFF"/>
                </a:highlight>
                <a:latin typeface="Hexagon Akkurat Web"/>
              </a:rPr>
              <a:t>This process involves establishing processes and systems that can help team members communicate and collaborate with each other. The goal is to track status updates, capture meeting minutes and lessons learned, and manage workflows seamlessly so teams can focus on actual execution rather than routine tasks.</a:t>
            </a:r>
            <a:endParaRPr lang="en-TZ" sz="3600" dirty="0"/>
          </a:p>
        </p:txBody>
      </p:sp>
    </p:spTree>
    <p:extLst>
      <p:ext uri="{BB962C8B-B14F-4D97-AF65-F5344CB8AC3E}">
        <p14:creationId xmlns:p14="http://schemas.microsoft.com/office/powerpoint/2010/main" val="557549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FC6721-DE77-6843-25E9-EEBEB57692CB}"/>
              </a:ext>
            </a:extLst>
          </p:cNvPr>
          <p:cNvSpPr>
            <a:spLocks noGrp="1"/>
          </p:cNvSpPr>
          <p:nvPr>
            <p:ph idx="1"/>
          </p:nvPr>
        </p:nvSpPr>
        <p:spPr>
          <a:xfrm>
            <a:off x="838200" y="569626"/>
            <a:ext cx="10515600" cy="5607337"/>
          </a:xfrm>
        </p:spPr>
        <p:txBody>
          <a:bodyPr>
            <a:normAutofit/>
          </a:bodyPr>
          <a:lstStyle/>
          <a:p>
            <a:pPr marL="0" indent="0" algn="l" fontAlgn="base">
              <a:buNone/>
            </a:pPr>
            <a:r>
              <a:rPr lang="en-US" sz="3600" b="1" i="0" dirty="0">
                <a:solidFill>
                  <a:srgbClr val="363636"/>
                </a:solidFill>
                <a:effectLst/>
                <a:highlight>
                  <a:srgbClr val="FFFFFF"/>
                </a:highlight>
                <a:latin typeface="inherit"/>
              </a:rPr>
              <a:t>Importance of Project Controls</a:t>
            </a:r>
            <a:endParaRPr lang="en-US" sz="3600" b="0" i="0" dirty="0">
              <a:solidFill>
                <a:srgbClr val="333333"/>
              </a:solidFill>
              <a:effectLst/>
              <a:highlight>
                <a:srgbClr val="FFFFFF"/>
              </a:highlight>
              <a:latin typeface="Lato" panose="020F0502020204030203" pitchFamily="34" charset="0"/>
            </a:endParaRPr>
          </a:p>
          <a:p>
            <a:pPr algn="l" fontAlgn="base"/>
            <a:r>
              <a:rPr lang="en-US" sz="3600" b="0" i="0" dirty="0">
                <a:solidFill>
                  <a:srgbClr val="000000"/>
                </a:solidFill>
                <a:effectLst/>
                <a:highlight>
                  <a:srgbClr val="FFFFFF"/>
                </a:highlight>
                <a:latin typeface="Hexagon Akkurat Web"/>
              </a:rPr>
              <a:t>In a 2018 survey, </a:t>
            </a:r>
            <a:r>
              <a:rPr lang="en-US" sz="3600" b="0" i="0" u="sng" dirty="0">
                <a:solidFill>
                  <a:srgbClr val="005470"/>
                </a:solidFill>
                <a:effectLst/>
                <a:highlight>
                  <a:srgbClr val="FFFFFF"/>
                </a:highlight>
                <a:latin typeface="Hexagon Akkurat Web"/>
                <a:hlinkClick r:id="rId2"/>
              </a:rPr>
              <a:t>88% of respondents</a:t>
            </a:r>
            <a:r>
              <a:rPr lang="en-US" sz="3600" b="0" i="0" dirty="0">
                <a:solidFill>
                  <a:srgbClr val="000000"/>
                </a:solidFill>
                <a:effectLst/>
                <a:highlight>
                  <a:srgbClr val="FFFFFF"/>
                </a:highlight>
                <a:latin typeface="Hexagon Akkurat Web"/>
              </a:rPr>
              <a:t> said they perceive project controls to be important or critical to the success of enterprise projects.</a:t>
            </a:r>
          </a:p>
          <a:p>
            <a:pPr algn="l" fontAlgn="base"/>
            <a:r>
              <a:rPr lang="en-US" sz="3600" b="0" i="0" dirty="0">
                <a:solidFill>
                  <a:srgbClr val="000000"/>
                </a:solidFill>
                <a:effectLst/>
                <a:highlight>
                  <a:srgbClr val="FFFFFF"/>
                </a:highlight>
                <a:latin typeface="Hexagon Akkurat Web"/>
              </a:rPr>
              <a:t>The report also confirms the correlation between project controls and success: those that perceived controls as ‘critical’ were twice as likely to meet all project objectives. Those who perceived project controls as ‘not important at all’ were more than 3 times more likely to fail.</a:t>
            </a:r>
          </a:p>
          <a:p>
            <a:endParaRPr lang="en-TZ" sz="3600" dirty="0"/>
          </a:p>
        </p:txBody>
      </p:sp>
    </p:spTree>
    <p:extLst>
      <p:ext uri="{BB962C8B-B14F-4D97-AF65-F5344CB8AC3E}">
        <p14:creationId xmlns:p14="http://schemas.microsoft.com/office/powerpoint/2010/main" val="3653266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1B4465-B088-F7E0-5B5A-28599D188970}"/>
              </a:ext>
            </a:extLst>
          </p:cNvPr>
          <p:cNvSpPr>
            <a:spLocks noGrp="1"/>
          </p:cNvSpPr>
          <p:nvPr>
            <p:ph idx="1"/>
          </p:nvPr>
        </p:nvSpPr>
        <p:spPr>
          <a:xfrm>
            <a:off x="838200" y="524656"/>
            <a:ext cx="10515600" cy="5652307"/>
          </a:xfrm>
        </p:spPr>
        <p:txBody>
          <a:bodyPr>
            <a:normAutofit/>
          </a:bodyPr>
          <a:lstStyle/>
          <a:p>
            <a:pPr algn="l" fontAlgn="base"/>
            <a:r>
              <a:rPr lang="en-US" sz="4000" b="0" i="0" dirty="0">
                <a:solidFill>
                  <a:srgbClr val="000000"/>
                </a:solidFill>
                <a:effectLst/>
                <a:highlight>
                  <a:srgbClr val="FFFFFF"/>
                </a:highlight>
                <a:latin typeface="Hexagon Akkurat Web"/>
              </a:rPr>
              <a:t>These results emphasize the significance of controls, especially considering the number of major deviations from initial project estimates in the past.</a:t>
            </a:r>
          </a:p>
          <a:p>
            <a:pPr algn="l" fontAlgn="base"/>
            <a:r>
              <a:rPr lang="en-US" sz="4000" b="0" i="0" dirty="0">
                <a:solidFill>
                  <a:srgbClr val="000000"/>
                </a:solidFill>
                <a:effectLst/>
                <a:highlight>
                  <a:srgbClr val="FFFFFF"/>
                </a:highlight>
                <a:latin typeface="Hexagon Akkurat Web"/>
              </a:rPr>
              <a:t>In a </a:t>
            </a:r>
            <a:r>
              <a:rPr lang="en-US" sz="4000" b="0" i="0" u="sng" dirty="0">
                <a:solidFill>
                  <a:srgbClr val="005470"/>
                </a:solidFill>
                <a:effectLst/>
                <a:highlight>
                  <a:srgbClr val="FFFFFF"/>
                </a:highlight>
                <a:latin typeface="Hexagon Akkurat Web"/>
                <a:hlinkClick r:id="rId2"/>
              </a:rPr>
              <a:t>PwC analysis of capital projects</a:t>
            </a:r>
            <a:r>
              <a:rPr lang="en-US" sz="4000" b="0" i="0" dirty="0">
                <a:solidFill>
                  <a:srgbClr val="000000"/>
                </a:solidFill>
                <a:effectLst/>
                <a:highlight>
                  <a:srgbClr val="FFFFFF"/>
                </a:highlight>
                <a:latin typeface="Hexagon Akkurat Web"/>
              </a:rPr>
              <a:t>, six nuclear plants observed an average cost overrun of 157%! In another instance, a refinery project eventually overshot its budget from an initial $4 billion to $12 billion.</a:t>
            </a:r>
          </a:p>
          <a:p>
            <a:endParaRPr lang="en-TZ" sz="4000" dirty="0"/>
          </a:p>
        </p:txBody>
      </p:sp>
    </p:spTree>
    <p:extLst>
      <p:ext uri="{BB962C8B-B14F-4D97-AF65-F5344CB8AC3E}">
        <p14:creationId xmlns:p14="http://schemas.microsoft.com/office/powerpoint/2010/main" val="1260658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B644CB-AA63-88CC-49AC-F5F8C868A3E2}"/>
              </a:ext>
            </a:extLst>
          </p:cNvPr>
          <p:cNvSpPr>
            <a:spLocks noGrp="1"/>
          </p:cNvSpPr>
          <p:nvPr>
            <p:ph idx="1"/>
          </p:nvPr>
        </p:nvSpPr>
        <p:spPr>
          <a:xfrm>
            <a:off x="838200" y="509666"/>
            <a:ext cx="10515600" cy="5667297"/>
          </a:xfrm>
        </p:spPr>
        <p:txBody>
          <a:bodyPr>
            <a:noAutofit/>
          </a:bodyPr>
          <a:lstStyle/>
          <a:p>
            <a:r>
              <a:rPr lang="en-US" sz="4400" b="0" i="0" dirty="0">
                <a:solidFill>
                  <a:srgbClr val="000000"/>
                </a:solidFill>
                <a:effectLst/>
                <a:highlight>
                  <a:srgbClr val="FFFFFF"/>
                </a:highlight>
                <a:latin typeface="Hexagon Akkurat Web"/>
              </a:rPr>
              <a:t>Project professionals know that, whether it’s a large-scale construction project or the launch of a new website for a small business, there will always be unexpected delays, additional costs, or unforeseen circumstances. But without project controls to anticipate and resolve these issues, costs and delays can quickly become huge expenses and affect other areas of the business.</a:t>
            </a:r>
            <a:endParaRPr lang="en-TZ" sz="4400" dirty="0"/>
          </a:p>
        </p:txBody>
      </p:sp>
    </p:spTree>
    <p:extLst>
      <p:ext uri="{BB962C8B-B14F-4D97-AF65-F5344CB8AC3E}">
        <p14:creationId xmlns:p14="http://schemas.microsoft.com/office/powerpoint/2010/main" val="2723152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CDCEEC-6C7E-15BC-E813-8F9B5D0F6AC3}"/>
              </a:ext>
            </a:extLst>
          </p:cNvPr>
          <p:cNvSpPr>
            <a:spLocks noGrp="1"/>
          </p:cNvSpPr>
          <p:nvPr>
            <p:ph idx="1"/>
          </p:nvPr>
        </p:nvSpPr>
        <p:spPr>
          <a:xfrm>
            <a:off x="838200" y="509666"/>
            <a:ext cx="10515600" cy="5667297"/>
          </a:xfrm>
        </p:spPr>
        <p:txBody>
          <a:bodyPr/>
          <a:lstStyle/>
          <a:p>
            <a:pPr algn="l" fontAlgn="base"/>
            <a:r>
              <a:rPr lang="en-US" b="1" i="0" dirty="0">
                <a:effectLst/>
                <a:highlight>
                  <a:srgbClr val="FFFFFF"/>
                </a:highlight>
                <a:latin typeface="inherit"/>
              </a:rPr>
              <a:t>Benefits of Project Controls</a:t>
            </a:r>
            <a:endParaRPr lang="en-US" b="0" i="0" dirty="0">
              <a:effectLst/>
              <a:highlight>
                <a:srgbClr val="FFFFFF"/>
              </a:highlight>
              <a:latin typeface="Lato" panose="020F0502020204030203" pitchFamily="34" charset="0"/>
            </a:endParaRPr>
          </a:p>
          <a:p>
            <a:pPr algn="l" fontAlgn="base"/>
            <a:r>
              <a:rPr lang="en-US" b="0" i="0" dirty="0">
                <a:effectLst/>
                <a:highlight>
                  <a:srgbClr val="FFFFFF"/>
                </a:highlight>
                <a:latin typeface="Hexagon Akkurat Web"/>
              </a:rPr>
              <a:t>In </a:t>
            </a:r>
            <a:r>
              <a:rPr lang="en-US" b="0" i="0" u="sng" dirty="0">
                <a:effectLst/>
                <a:highlight>
                  <a:srgbClr val="FFFFFF"/>
                </a:highlight>
                <a:latin typeface="Hexagon Akkurat Web"/>
                <a:hlinkClick r:id="rId2">
                  <a:extLst>
                    <a:ext uri="{A12FA001-AC4F-418D-AE19-62706E023703}">
                      <ahyp:hlinkClr xmlns:ahyp="http://schemas.microsoft.com/office/drawing/2018/hyperlinkcolor" val="tx"/>
                    </a:ext>
                  </a:extLst>
                </a:hlinkClick>
              </a:rPr>
              <a:t>megaprojects</a:t>
            </a:r>
            <a:r>
              <a:rPr lang="en-US" b="0" i="0" dirty="0">
                <a:effectLst/>
                <a:highlight>
                  <a:srgbClr val="FFFFFF"/>
                </a:highlight>
                <a:latin typeface="Hexagon Akkurat Web"/>
              </a:rPr>
              <a:t>, the various moving parts can make it difficult to stay aligned with the initial plans. However, close monitoring, analysis, and regulation can keep this in check. Projects of all sizes, not just large projects, experience significant benefits when controls are properly executed.</a:t>
            </a:r>
          </a:p>
          <a:p>
            <a:pPr algn="l" fontAlgn="base"/>
            <a:r>
              <a:rPr lang="en-US" b="0" i="0" dirty="0">
                <a:effectLst/>
                <a:highlight>
                  <a:srgbClr val="FFFFFF"/>
                </a:highlight>
                <a:latin typeface="Hexagon Akkurat Web"/>
              </a:rPr>
              <a:t>The following are some of the key benefits of project controls: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Reduced project costs through ability to make timely decisions using KPIs</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Increased </a:t>
            </a:r>
            <a:r>
              <a:rPr lang="en-US" b="0" i="0" u="sng" dirty="0">
                <a:effectLst/>
                <a:highlight>
                  <a:srgbClr val="FFFFFF"/>
                </a:highlight>
                <a:latin typeface="Lato" panose="020F0502020204030203" pitchFamily="34" charset="0"/>
                <a:hlinkClick r:id="rId3">
                  <a:extLst>
                    <a:ext uri="{A12FA001-AC4F-418D-AE19-62706E023703}">
                      <ahyp:hlinkClr xmlns:ahyp="http://schemas.microsoft.com/office/drawing/2018/hyperlinkcolor" val="tx"/>
                    </a:ext>
                  </a:extLst>
                </a:hlinkClick>
              </a:rPr>
              <a:t>project predictability</a:t>
            </a:r>
            <a:r>
              <a:rPr lang="en-US" b="0" i="0" dirty="0">
                <a:effectLst/>
                <a:highlight>
                  <a:srgbClr val="FFFFFF"/>
                </a:highlight>
                <a:latin typeface="Lato" panose="020F0502020204030203" pitchFamily="34" charset="0"/>
              </a:rPr>
              <a:t> for cost and completion date</a:t>
            </a:r>
          </a:p>
          <a:p>
            <a:pPr algn="l" fontAlgn="base">
              <a:buFont typeface="Arial" panose="020B0604020202020204" pitchFamily="34" charset="0"/>
              <a:buChar char="•"/>
            </a:pPr>
            <a:r>
              <a:rPr lang="en-US" b="0" i="0" dirty="0">
                <a:effectLst/>
                <a:highlight>
                  <a:srgbClr val="FFFFFF"/>
                </a:highlight>
                <a:latin typeface="Lato" panose="020F0502020204030203" pitchFamily="34" charset="0"/>
              </a:rPr>
              <a:t>Increased visibility into the financial health of the project as it progresses</a:t>
            </a:r>
          </a:p>
          <a:p>
            <a:endParaRPr lang="en-TZ" dirty="0"/>
          </a:p>
        </p:txBody>
      </p:sp>
    </p:spTree>
    <p:extLst>
      <p:ext uri="{BB962C8B-B14F-4D97-AF65-F5344CB8AC3E}">
        <p14:creationId xmlns:p14="http://schemas.microsoft.com/office/powerpoint/2010/main" val="3939994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CFBF4D-A3B9-E5F7-8677-A49CF5627D5D}"/>
              </a:ext>
            </a:extLst>
          </p:cNvPr>
          <p:cNvSpPr>
            <a:spLocks noGrp="1"/>
          </p:cNvSpPr>
          <p:nvPr>
            <p:ph idx="1"/>
          </p:nvPr>
        </p:nvSpPr>
        <p:spPr>
          <a:xfrm>
            <a:off x="554635" y="599607"/>
            <a:ext cx="11062741" cy="5696262"/>
          </a:xfrm>
        </p:spPr>
        <p:txBody>
          <a:bodyPr>
            <a:normAutofit/>
          </a:bodyPr>
          <a:lstStyle/>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Ability to mitigate project scope creep</a:t>
            </a:r>
          </a:p>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Meaningful benchmarking data for future projects via well-structured projects</a:t>
            </a:r>
          </a:p>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Increased margins when working in a fixed-price environment</a:t>
            </a:r>
          </a:p>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Improved reputation for properly managing and controlling projects</a:t>
            </a:r>
          </a:p>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Competitive advantage over organizations with less mature project management capabilities</a:t>
            </a:r>
          </a:p>
          <a:p>
            <a:pPr algn="l" fontAlgn="base">
              <a:buFont typeface="Arial" panose="020B0604020202020204" pitchFamily="34" charset="0"/>
              <a:buChar char="•"/>
            </a:pPr>
            <a:r>
              <a:rPr lang="en-US" sz="3600" b="0" i="0" dirty="0">
                <a:effectLst/>
                <a:highlight>
                  <a:srgbClr val="FFFFFF"/>
                </a:highlight>
                <a:latin typeface="Lato" panose="020F0502020204030203" pitchFamily="34" charset="0"/>
              </a:rPr>
              <a:t>Increased job satisfaction for project team members</a:t>
            </a:r>
          </a:p>
          <a:p>
            <a:endParaRPr lang="en-TZ" sz="3600" dirty="0"/>
          </a:p>
        </p:txBody>
      </p:sp>
    </p:spTree>
    <p:extLst>
      <p:ext uri="{BB962C8B-B14F-4D97-AF65-F5344CB8AC3E}">
        <p14:creationId xmlns:p14="http://schemas.microsoft.com/office/powerpoint/2010/main" val="802912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D14687-125A-DE09-6120-32B3DC5AFEE7}"/>
              </a:ext>
            </a:extLst>
          </p:cNvPr>
          <p:cNvSpPr>
            <a:spLocks noGrp="1"/>
          </p:cNvSpPr>
          <p:nvPr>
            <p:ph idx="1"/>
          </p:nvPr>
        </p:nvSpPr>
        <p:spPr>
          <a:xfrm>
            <a:off x="524656" y="464694"/>
            <a:ext cx="11212642" cy="5936105"/>
          </a:xfrm>
        </p:spPr>
        <p:txBody>
          <a:bodyPr>
            <a:noAutofit/>
          </a:bodyPr>
          <a:lstStyle/>
          <a:p>
            <a:pPr marL="0" indent="0">
              <a:buNone/>
            </a:pPr>
            <a:r>
              <a:rPr lang="en-US" sz="3000" b="1" i="0" dirty="0">
                <a:effectLst/>
                <a:highlight>
                  <a:srgbClr val="FFFFFF"/>
                </a:highlight>
                <a:latin typeface="inherit"/>
              </a:rPr>
              <a:t>Reports That Every Project Controls Team Should Have</a:t>
            </a:r>
          </a:p>
          <a:p>
            <a:r>
              <a:rPr lang="en-US" sz="3000" b="1" i="0" dirty="0">
                <a:effectLst/>
                <a:highlight>
                  <a:srgbClr val="FFFFFF"/>
                </a:highlight>
                <a:latin typeface="Hexagon Akkurat Web"/>
              </a:rPr>
              <a:t>1. Cost Report</a:t>
            </a:r>
            <a:br>
              <a:rPr lang="en-US" sz="3000" dirty="0"/>
            </a:br>
            <a:r>
              <a:rPr lang="en-US" sz="3000" b="0" i="0" dirty="0">
                <a:effectLst/>
                <a:highlight>
                  <a:srgbClr val="FFFFFF"/>
                </a:highlight>
                <a:latin typeface="Hexagon Akkurat Web"/>
              </a:rPr>
              <a:t>One of the most frequently used tools for communication, a status report should include all metrics regarding project costs. Examples of metrics on cost include actual budget consumed so far, committed expenditures—such as contracts signed with vendors for work yet to be completed—and ratios of actual versus planned work as of a given date.</a:t>
            </a:r>
          </a:p>
          <a:p>
            <a:r>
              <a:rPr lang="en-US" sz="3000" b="1" i="0" dirty="0">
                <a:effectLst/>
                <a:highlight>
                  <a:srgbClr val="FFFFFF"/>
                </a:highlight>
                <a:latin typeface="Hexagon Akkurat Web"/>
              </a:rPr>
              <a:t>2. Change Management Register</a:t>
            </a:r>
            <a:br>
              <a:rPr lang="en-US" sz="3000" dirty="0"/>
            </a:br>
            <a:r>
              <a:rPr lang="en-US" sz="3000" b="0" i="0" dirty="0">
                <a:effectLst/>
                <a:highlight>
                  <a:srgbClr val="FFFFFF"/>
                </a:highlight>
                <a:latin typeface="Hexagon Akkurat Web"/>
              </a:rPr>
              <a:t>Scope creep is a common challenge for most project managers. A change management register keeps track of change in scope from the initial statement of work or estimate. It identifies how much extra cost the project has to incur and how much the project may be delayed because of the addition in scope.  </a:t>
            </a:r>
            <a:endParaRPr lang="en-US" sz="3000" b="1" dirty="0">
              <a:highlight>
                <a:srgbClr val="FFFFFF"/>
              </a:highlight>
              <a:latin typeface="inherit"/>
            </a:endParaRPr>
          </a:p>
          <a:p>
            <a:endParaRPr lang="en-US" sz="3000" b="0" i="0" dirty="0">
              <a:effectLst/>
              <a:highlight>
                <a:srgbClr val="FFFFFF"/>
              </a:highlight>
              <a:latin typeface="Lato" panose="020F0502020204030203" pitchFamily="34" charset="0"/>
            </a:endParaRPr>
          </a:p>
          <a:p>
            <a:endParaRPr lang="en-TZ" sz="3000" dirty="0"/>
          </a:p>
        </p:txBody>
      </p:sp>
    </p:spTree>
    <p:extLst>
      <p:ext uri="{BB962C8B-B14F-4D97-AF65-F5344CB8AC3E}">
        <p14:creationId xmlns:p14="http://schemas.microsoft.com/office/powerpoint/2010/main" val="4007254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ACF4E-8816-B39C-87FB-628EC6AB4410}"/>
              </a:ext>
            </a:extLst>
          </p:cNvPr>
          <p:cNvSpPr>
            <a:spLocks noGrp="1"/>
          </p:cNvSpPr>
          <p:nvPr>
            <p:ph idx="1"/>
          </p:nvPr>
        </p:nvSpPr>
        <p:spPr>
          <a:xfrm>
            <a:off x="838200" y="524656"/>
            <a:ext cx="10515600" cy="5652307"/>
          </a:xfrm>
        </p:spPr>
        <p:txBody>
          <a:bodyPr>
            <a:normAutofit/>
          </a:bodyPr>
          <a:lstStyle/>
          <a:p>
            <a:pPr algn="l" fontAlgn="base"/>
            <a:r>
              <a:rPr lang="en-US" sz="4000" b="1" i="0" dirty="0">
                <a:effectLst/>
                <a:highlight>
                  <a:srgbClr val="FFFFFF"/>
                </a:highlight>
                <a:latin typeface="inherit"/>
              </a:rPr>
              <a:t>3. Risk Register</a:t>
            </a:r>
            <a:br>
              <a:rPr lang="en-US" sz="4000" b="0" i="0" dirty="0">
                <a:effectLst/>
                <a:highlight>
                  <a:srgbClr val="FFFFFF"/>
                </a:highlight>
                <a:latin typeface="Hexagon Akkurat Web"/>
              </a:rPr>
            </a:br>
            <a:r>
              <a:rPr lang="en-US" sz="4000" b="0" i="0" dirty="0">
                <a:effectLst/>
                <a:highlight>
                  <a:srgbClr val="FFFFFF"/>
                </a:highlight>
                <a:latin typeface="Hexagon Akkurat Web"/>
              </a:rPr>
              <a:t>A risk register is a document that manages risks and records contingency dollars associated with known risks.</a:t>
            </a:r>
          </a:p>
          <a:p>
            <a:pPr algn="l" fontAlgn="base"/>
            <a:r>
              <a:rPr lang="en-US" sz="4000" b="0" i="0" dirty="0">
                <a:effectLst/>
                <a:highlight>
                  <a:srgbClr val="FFFFFF"/>
                </a:highlight>
                <a:latin typeface="Hexagon Akkurat Web"/>
              </a:rPr>
              <a:t>It works as a RAID (risk, action, issues, decision) log and is created at the beginning of a project, documenting risks, assumptions, issues, and dependencies. </a:t>
            </a:r>
          </a:p>
          <a:p>
            <a:endParaRPr lang="en-TZ" sz="4000" dirty="0"/>
          </a:p>
        </p:txBody>
      </p:sp>
    </p:spTree>
    <p:extLst>
      <p:ext uri="{BB962C8B-B14F-4D97-AF65-F5344CB8AC3E}">
        <p14:creationId xmlns:p14="http://schemas.microsoft.com/office/powerpoint/2010/main" val="1270679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3EFA7-ECE9-D2E2-ADC3-47652AB5D83D}"/>
              </a:ext>
            </a:extLst>
          </p:cNvPr>
          <p:cNvSpPr>
            <a:spLocks noGrp="1"/>
          </p:cNvSpPr>
          <p:nvPr>
            <p:ph type="title"/>
          </p:nvPr>
        </p:nvSpPr>
        <p:spPr>
          <a:xfrm>
            <a:off x="838200" y="365125"/>
            <a:ext cx="10515600" cy="699177"/>
          </a:xfrm>
        </p:spPr>
        <p:txBody>
          <a:bodyPr>
            <a:normAutofit/>
          </a:bodyPr>
          <a:lstStyle/>
          <a:p>
            <a:r>
              <a:rPr lang="en-US" sz="3600" b="1" dirty="0">
                <a:effectLst/>
                <a:latin typeface="Times New Roman" panose="02020603050405020304" pitchFamily="18" charset="0"/>
                <a:ea typeface="Times New Roman" panose="02020603050405020304" pitchFamily="18" charset="0"/>
              </a:rPr>
              <a:t>Information systems implementation and migration</a:t>
            </a:r>
            <a:endParaRPr lang="en-TZ" sz="3600" b="1" dirty="0"/>
          </a:p>
        </p:txBody>
      </p:sp>
      <p:sp>
        <p:nvSpPr>
          <p:cNvPr id="3" name="Content Placeholder 2">
            <a:extLst>
              <a:ext uri="{FF2B5EF4-FFF2-40B4-BE49-F238E27FC236}">
                <a16:creationId xmlns:a16="http://schemas.microsoft.com/office/drawing/2014/main" id="{6F969702-4D65-42FD-AAA8-61AC0D8CF35C}"/>
              </a:ext>
            </a:extLst>
          </p:cNvPr>
          <p:cNvSpPr>
            <a:spLocks noGrp="1"/>
          </p:cNvSpPr>
          <p:nvPr>
            <p:ph idx="1"/>
          </p:nvPr>
        </p:nvSpPr>
        <p:spPr>
          <a:xfrm>
            <a:off x="838200" y="1304144"/>
            <a:ext cx="10515600" cy="4872819"/>
          </a:xfrm>
        </p:spPr>
        <p:txBody>
          <a:bodyPr>
            <a:noAutofit/>
          </a:bodyPr>
          <a:lstStyle/>
          <a:p>
            <a:pPr marL="0" indent="0" algn="l">
              <a:buNone/>
            </a:pPr>
            <a:r>
              <a:rPr lang="en-US" sz="4400" b="1" dirty="0">
                <a:effectLst/>
                <a:latin typeface="Times New Roman" panose="02020603050405020304" pitchFamily="18" charset="0"/>
                <a:ea typeface="Times New Roman" panose="02020603050405020304" pitchFamily="18" charset="0"/>
              </a:rPr>
              <a:t>Information systems implementation</a:t>
            </a:r>
          </a:p>
          <a:p>
            <a:pPr marL="0" marR="0" algn="l">
              <a:spcBef>
                <a:spcPts val="0"/>
              </a:spcBef>
              <a:spcAft>
                <a:spcPts val="0"/>
              </a:spcAft>
            </a:pPr>
            <a:r>
              <a:rPr lang="en-US" sz="4400" b="1" i="0" dirty="0">
                <a:solidFill>
                  <a:srgbClr val="000000"/>
                </a:solidFill>
                <a:effectLst/>
                <a:latin typeface="Times New Roman" panose="02020603050405020304" pitchFamily="18" charset="0"/>
              </a:rPr>
              <a:t>Systems implementation</a:t>
            </a:r>
            <a:r>
              <a:rPr lang="en-US" sz="4400" b="0" i="0" dirty="0">
                <a:solidFill>
                  <a:srgbClr val="000000"/>
                </a:solidFill>
                <a:effectLst/>
                <a:latin typeface="Times New Roman" panose="02020603050405020304" pitchFamily="18" charset="0"/>
              </a:rPr>
              <a:t> is the process of:</a:t>
            </a:r>
          </a:p>
          <a:p>
            <a:pPr marL="0" marR="0" algn="l">
              <a:spcBef>
                <a:spcPts val="0"/>
              </a:spcBef>
              <a:spcAft>
                <a:spcPts val="0"/>
              </a:spcAft>
              <a:buFont typeface="+mj-lt"/>
              <a:buAutoNum type="arabicPeriod"/>
            </a:pPr>
            <a:r>
              <a:rPr lang="en-US" sz="4400" b="0" i="0" dirty="0">
                <a:solidFill>
                  <a:srgbClr val="000000"/>
                </a:solidFill>
                <a:effectLst/>
                <a:latin typeface="Times New Roman" panose="02020603050405020304" pitchFamily="18" charset="0"/>
              </a:rPr>
              <a:t>defining how the information system should be built (i.e., physical system design),</a:t>
            </a:r>
          </a:p>
          <a:p>
            <a:pPr marL="0" marR="0" algn="l">
              <a:spcBef>
                <a:spcPts val="0"/>
              </a:spcBef>
              <a:spcAft>
                <a:spcPts val="0"/>
              </a:spcAft>
              <a:buFont typeface="+mj-lt"/>
              <a:buAutoNum type="arabicPeriod"/>
            </a:pPr>
            <a:r>
              <a:rPr lang="en-US" sz="4400" b="0" i="0" dirty="0">
                <a:solidFill>
                  <a:srgbClr val="000000"/>
                </a:solidFill>
                <a:effectLst/>
                <a:latin typeface="Times New Roman" panose="02020603050405020304" pitchFamily="18" charset="0"/>
              </a:rPr>
              <a:t>ensuring that the information system is operational and used,</a:t>
            </a:r>
          </a:p>
          <a:p>
            <a:pPr marL="0" marR="0" algn="l">
              <a:spcBef>
                <a:spcPts val="0"/>
              </a:spcBef>
              <a:spcAft>
                <a:spcPts val="0"/>
              </a:spcAft>
              <a:buFont typeface="+mj-lt"/>
              <a:buAutoNum type="arabicPeriod"/>
            </a:pPr>
            <a:r>
              <a:rPr lang="en-US" sz="4400" b="0" i="0" dirty="0">
                <a:solidFill>
                  <a:srgbClr val="000000"/>
                </a:solidFill>
                <a:effectLst/>
                <a:latin typeface="Times New Roman" panose="02020603050405020304" pitchFamily="18" charset="0"/>
              </a:rPr>
              <a:t>ensuring that the information system meets quality standard (i.e., quality assurance)</a:t>
            </a:r>
          </a:p>
          <a:p>
            <a:pPr algn="l"/>
            <a:endParaRPr lang="en-TZ" sz="4400" dirty="0"/>
          </a:p>
        </p:txBody>
      </p:sp>
    </p:spTree>
    <p:extLst>
      <p:ext uri="{BB962C8B-B14F-4D97-AF65-F5344CB8AC3E}">
        <p14:creationId xmlns:p14="http://schemas.microsoft.com/office/powerpoint/2010/main" val="117516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97936-9062-48E2-5A80-C18F4799BB44}"/>
              </a:ext>
            </a:extLst>
          </p:cNvPr>
          <p:cNvSpPr>
            <a:spLocks noGrp="1"/>
          </p:cNvSpPr>
          <p:nvPr>
            <p:ph idx="1"/>
          </p:nvPr>
        </p:nvSpPr>
        <p:spPr>
          <a:xfrm>
            <a:off x="838200" y="614597"/>
            <a:ext cx="10515600" cy="5562366"/>
          </a:xfrm>
        </p:spPr>
        <p:txBody>
          <a:bodyPr>
            <a:normAutofit/>
          </a:bodyPr>
          <a:lstStyle/>
          <a:p>
            <a:r>
              <a:rPr lang="en-US" sz="3600" b="0" i="0" dirty="0">
                <a:effectLst/>
                <a:highlight>
                  <a:srgbClr val="FFFFFF"/>
                </a:highlight>
                <a:latin typeface="barlow-medium"/>
              </a:rPr>
              <a:t>Implementation of a system is as important as the creation of it. Implementation can easily destroy the good work done in the earlier phases and bring the system to a standstill. </a:t>
            </a:r>
          </a:p>
          <a:p>
            <a:r>
              <a:rPr lang="en-US" sz="3600" b="0" i="0" dirty="0">
                <a:effectLst/>
                <a:highlight>
                  <a:srgbClr val="FFFFFF"/>
                </a:highlight>
                <a:latin typeface="barlow-medium"/>
              </a:rPr>
              <a:t>Implementation requires technical and managerial skills as the implementers work as change agents. Implementation is also a process that has a series of sequential steps which culminates in making operational the new system.</a:t>
            </a:r>
            <a:endParaRPr lang="en-US" sz="3600" b="0" i="0" dirty="0">
              <a:effectLst/>
              <a:latin typeface="Times New Roman" panose="02020603050405020304" pitchFamily="18" charset="0"/>
            </a:endParaRPr>
          </a:p>
          <a:p>
            <a:endParaRPr lang="en-TZ" sz="3600" dirty="0"/>
          </a:p>
        </p:txBody>
      </p:sp>
    </p:spTree>
    <p:extLst>
      <p:ext uri="{BB962C8B-B14F-4D97-AF65-F5344CB8AC3E}">
        <p14:creationId xmlns:p14="http://schemas.microsoft.com/office/powerpoint/2010/main" val="2442585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0C18D-DEE0-7E92-0015-0C02862EDFE8}"/>
              </a:ext>
            </a:extLst>
          </p:cNvPr>
          <p:cNvSpPr>
            <a:spLocks noGrp="1"/>
          </p:cNvSpPr>
          <p:nvPr>
            <p:ph idx="1"/>
          </p:nvPr>
        </p:nvSpPr>
        <p:spPr>
          <a:xfrm>
            <a:off x="838200" y="674557"/>
            <a:ext cx="10515600" cy="5502406"/>
          </a:xfrm>
        </p:spPr>
        <p:txBody>
          <a:bodyPr/>
          <a:lstStyle/>
          <a:p>
            <a:pPr algn="l" fontAlgn="base"/>
            <a:r>
              <a:rPr lang="en-US" b="1" i="0" dirty="0">
                <a:solidFill>
                  <a:srgbClr val="000000"/>
                </a:solidFill>
                <a:effectLst/>
                <a:highlight>
                  <a:srgbClr val="FFFFFF"/>
                </a:highlight>
                <a:latin typeface="var(--ricos-custom-h3-font-family,unset)"/>
              </a:rPr>
              <a:t>Process Of Management Information System:</a:t>
            </a:r>
          </a:p>
          <a:p>
            <a:pPr algn="l" fontAlgn="base"/>
            <a:r>
              <a:rPr lang="en-US" b="0" i="0" dirty="0">
                <a:solidFill>
                  <a:srgbClr val="000000"/>
                </a:solidFill>
                <a:effectLst/>
                <a:highlight>
                  <a:srgbClr val="FFFFFF"/>
                </a:highlight>
                <a:latin typeface="var(--ricos-custom-p-font-family,unset)"/>
              </a:rPr>
              <a:t>Implementation of MIS in any </a:t>
            </a:r>
            <a:r>
              <a:rPr lang="en-US" b="0" i="0" dirty="0" err="1">
                <a:solidFill>
                  <a:srgbClr val="000000"/>
                </a:solidFill>
                <a:effectLst/>
                <a:highlight>
                  <a:srgbClr val="FFFFFF"/>
                </a:highlight>
                <a:latin typeface="var(--ricos-custom-p-font-family,unset)"/>
              </a:rPr>
              <a:t>organisation</a:t>
            </a:r>
            <a:r>
              <a:rPr lang="en-US" b="0" i="0" dirty="0">
                <a:solidFill>
                  <a:srgbClr val="000000"/>
                </a:solidFill>
                <a:effectLst/>
                <a:highlight>
                  <a:srgbClr val="FFFFFF"/>
                </a:highlight>
                <a:latin typeface="var(--ricos-custom-p-font-family,unset)"/>
              </a:rPr>
              <a:t> is a very important step. So various steps involved in implementation process are:-</a:t>
            </a:r>
          </a:p>
          <a:p>
            <a:pPr algn="l" fontAlgn="base">
              <a:buFont typeface="+mj-lt"/>
              <a:buAutoNum type="arabicPeriod"/>
            </a:pPr>
            <a:r>
              <a:rPr lang="en-US" b="0" i="0" dirty="0">
                <a:solidFill>
                  <a:srgbClr val="000000"/>
                </a:solidFill>
                <a:effectLst/>
                <a:highlight>
                  <a:srgbClr val="FFFFFF"/>
                </a:highlight>
                <a:latin typeface="var(--ricos-custom-p-font-family,unset)"/>
              </a:rPr>
              <a:t>Planning the Implementation</a:t>
            </a:r>
          </a:p>
          <a:p>
            <a:pPr algn="l" fontAlgn="base">
              <a:buFont typeface="+mj-lt"/>
              <a:buAutoNum type="arabicPeriod"/>
            </a:pPr>
            <a:r>
              <a:rPr lang="en-US" b="0" i="0" dirty="0">
                <a:solidFill>
                  <a:srgbClr val="000000"/>
                </a:solidFill>
                <a:effectLst/>
                <a:highlight>
                  <a:srgbClr val="FFFFFF"/>
                </a:highlight>
                <a:latin typeface="var(--ricos-custom-p-font-family,unset)"/>
              </a:rPr>
              <a:t>Acquisition of facilities and space planning</a:t>
            </a:r>
          </a:p>
          <a:p>
            <a:pPr algn="l" fontAlgn="base">
              <a:buFont typeface="+mj-lt"/>
              <a:buAutoNum type="arabicPeriod"/>
            </a:pPr>
            <a:r>
              <a:rPr lang="en-US" b="0" i="0" dirty="0">
                <a:solidFill>
                  <a:srgbClr val="000000"/>
                </a:solidFill>
                <a:effectLst/>
                <a:highlight>
                  <a:srgbClr val="FFFFFF"/>
                </a:highlight>
                <a:latin typeface="var(--ricos-custom-p-font-family,unset)"/>
              </a:rPr>
              <a:t>MIS </a:t>
            </a:r>
            <a:r>
              <a:rPr lang="en-US" b="0" i="0" dirty="0" err="1">
                <a:solidFill>
                  <a:srgbClr val="000000"/>
                </a:solidFill>
                <a:effectLst/>
                <a:highlight>
                  <a:srgbClr val="FFFFFF"/>
                </a:highlight>
                <a:latin typeface="var(--ricos-custom-p-font-family,unset)"/>
              </a:rPr>
              <a:t>organisation</a:t>
            </a:r>
            <a:r>
              <a:rPr lang="en-US" b="0" i="0" dirty="0">
                <a:solidFill>
                  <a:srgbClr val="000000"/>
                </a:solidFill>
                <a:effectLst/>
                <a:highlight>
                  <a:srgbClr val="FFFFFF"/>
                </a:highlight>
                <a:latin typeface="var(--ricos-custom-p-font-family,unset)"/>
              </a:rPr>
              <a:t> and procedure development</a:t>
            </a:r>
          </a:p>
          <a:p>
            <a:pPr algn="l" fontAlgn="base">
              <a:buFont typeface="+mj-lt"/>
              <a:buAutoNum type="arabicPeriod"/>
            </a:pPr>
            <a:r>
              <a:rPr lang="en-US" b="0" i="0" dirty="0">
                <a:solidFill>
                  <a:srgbClr val="000000"/>
                </a:solidFill>
                <a:effectLst/>
                <a:highlight>
                  <a:srgbClr val="FFFFFF"/>
                </a:highlight>
                <a:latin typeface="var(--ricos-custom-p-font-family,unset)"/>
              </a:rPr>
              <a:t>User Training</a:t>
            </a:r>
          </a:p>
          <a:p>
            <a:pPr algn="l" fontAlgn="base">
              <a:buFont typeface="+mj-lt"/>
              <a:buAutoNum type="arabicPeriod"/>
            </a:pPr>
            <a:r>
              <a:rPr lang="en-US" b="0" i="0" dirty="0">
                <a:solidFill>
                  <a:srgbClr val="000000"/>
                </a:solidFill>
                <a:effectLst/>
                <a:highlight>
                  <a:srgbClr val="FFFFFF"/>
                </a:highlight>
                <a:latin typeface="var(--ricos-custom-p-font-family,unset)"/>
              </a:rPr>
              <a:t>Acquisition of hardware and software</a:t>
            </a:r>
          </a:p>
          <a:p>
            <a:pPr algn="l" fontAlgn="base">
              <a:buFont typeface="+mj-lt"/>
              <a:buAutoNum type="arabicPeriod"/>
            </a:pPr>
            <a:r>
              <a:rPr lang="en-US" b="0" i="0" dirty="0">
                <a:solidFill>
                  <a:srgbClr val="000000"/>
                </a:solidFill>
                <a:effectLst/>
                <a:highlight>
                  <a:srgbClr val="FFFFFF"/>
                </a:highlight>
                <a:latin typeface="var(--ricos-custom-p-font-family,unset)"/>
              </a:rPr>
              <a:t>Creation of forms and databases</a:t>
            </a:r>
          </a:p>
          <a:p>
            <a:pPr algn="l" fontAlgn="base">
              <a:buFont typeface="+mj-lt"/>
              <a:buAutoNum type="arabicPeriod"/>
            </a:pPr>
            <a:r>
              <a:rPr lang="en-US" b="0" i="0" dirty="0">
                <a:solidFill>
                  <a:srgbClr val="000000"/>
                </a:solidFill>
                <a:effectLst/>
                <a:highlight>
                  <a:srgbClr val="FFFFFF"/>
                </a:highlight>
                <a:latin typeface="var(--ricos-custom-p-font-family,unset)"/>
              </a:rPr>
              <a:t>Testing</a:t>
            </a:r>
          </a:p>
          <a:p>
            <a:pPr algn="l" fontAlgn="base">
              <a:buFont typeface="+mj-lt"/>
              <a:buAutoNum type="arabicPeriod"/>
            </a:pPr>
            <a:r>
              <a:rPr lang="en-US" b="0" i="0" dirty="0">
                <a:solidFill>
                  <a:srgbClr val="000000"/>
                </a:solidFill>
                <a:effectLst/>
                <a:highlight>
                  <a:srgbClr val="FFFFFF"/>
                </a:highlight>
                <a:latin typeface="var(--ricos-custom-p-font-family,unset)"/>
              </a:rPr>
              <a:t>Change over</a:t>
            </a:r>
          </a:p>
          <a:p>
            <a:endParaRPr lang="en-TZ" dirty="0"/>
          </a:p>
        </p:txBody>
      </p:sp>
    </p:spTree>
    <p:extLst>
      <p:ext uri="{BB962C8B-B14F-4D97-AF65-F5344CB8AC3E}">
        <p14:creationId xmlns:p14="http://schemas.microsoft.com/office/powerpoint/2010/main" val="1488466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61A37A-D349-6EDD-9E02-1BA5B54B4C4C}"/>
              </a:ext>
            </a:extLst>
          </p:cNvPr>
          <p:cNvSpPr>
            <a:spLocks noGrp="1"/>
          </p:cNvSpPr>
          <p:nvPr>
            <p:ph idx="1"/>
          </p:nvPr>
        </p:nvSpPr>
        <p:spPr>
          <a:xfrm>
            <a:off x="838200" y="539646"/>
            <a:ext cx="10515600" cy="5637317"/>
          </a:xfrm>
        </p:spPr>
        <p:txBody>
          <a:bodyPr>
            <a:noAutofit/>
          </a:bodyPr>
          <a:lstStyle/>
          <a:p>
            <a:pPr marL="0" indent="0" algn="l" fontAlgn="base">
              <a:buNone/>
            </a:pPr>
            <a:r>
              <a:rPr lang="en-US" sz="3600" b="1" i="0" dirty="0">
                <a:solidFill>
                  <a:srgbClr val="000000"/>
                </a:solidFill>
                <a:effectLst/>
                <a:highlight>
                  <a:srgbClr val="FFFFFF"/>
                </a:highlight>
                <a:latin typeface="var(--ricos-custom-h4-font-family,unset)"/>
              </a:rPr>
              <a:t>1. Planning the Implementation:</a:t>
            </a:r>
          </a:p>
          <a:p>
            <a:pPr algn="l" fontAlgn="base"/>
            <a:r>
              <a:rPr lang="en-US" sz="3600" b="0" i="0" dirty="0">
                <a:solidFill>
                  <a:srgbClr val="000000"/>
                </a:solidFill>
                <a:effectLst/>
                <a:highlight>
                  <a:srgbClr val="FFFFFF"/>
                </a:highlight>
                <a:latin typeface="var(--ricos-custom-p-font-family,unset)"/>
              </a:rPr>
              <a:t>Proper planning is required to implement the system. Plan is a prerequisite activity and is known as a pre-implementation activity. In this step we identify various activities which are required for implementing a system, are identified and their sequence and relation to each other is decided. Here we also decide various other estimates like time required for each activity and cost estimates. To better describe the plan and implementation schedule, a system analyst can make use of various tools like </a:t>
            </a:r>
            <a:r>
              <a:rPr lang="en-US" sz="3600" b="0" i="0" dirty="0" err="1">
                <a:solidFill>
                  <a:srgbClr val="000000"/>
                </a:solidFill>
                <a:effectLst/>
                <a:highlight>
                  <a:srgbClr val="FFFFFF"/>
                </a:highlight>
                <a:latin typeface="var(--ricos-custom-p-font-family,unset)"/>
              </a:rPr>
              <a:t>gantt</a:t>
            </a:r>
            <a:r>
              <a:rPr lang="en-US" sz="3600" b="0" i="0" dirty="0">
                <a:solidFill>
                  <a:srgbClr val="000000"/>
                </a:solidFill>
                <a:effectLst/>
                <a:highlight>
                  <a:srgbClr val="FFFFFF"/>
                </a:highlight>
                <a:latin typeface="var(--ricos-custom-p-font-family,unset)"/>
              </a:rPr>
              <a:t> charts, etc.</a:t>
            </a:r>
          </a:p>
          <a:p>
            <a:endParaRPr lang="en-TZ" sz="3600" dirty="0"/>
          </a:p>
        </p:txBody>
      </p:sp>
    </p:spTree>
    <p:extLst>
      <p:ext uri="{BB962C8B-B14F-4D97-AF65-F5344CB8AC3E}">
        <p14:creationId xmlns:p14="http://schemas.microsoft.com/office/powerpoint/2010/main" val="14209329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99BEF-E129-7D87-DFE1-E52DE71DF069}"/>
              </a:ext>
            </a:extLst>
          </p:cNvPr>
          <p:cNvSpPr>
            <a:spLocks noGrp="1"/>
          </p:cNvSpPr>
          <p:nvPr>
            <p:ph idx="1"/>
          </p:nvPr>
        </p:nvSpPr>
        <p:spPr>
          <a:xfrm>
            <a:off x="494675" y="404734"/>
            <a:ext cx="11257614" cy="6071017"/>
          </a:xfrm>
        </p:spPr>
        <p:txBody>
          <a:bodyPr>
            <a:noAutofit/>
          </a:bodyPr>
          <a:lstStyle/>
          <a:p>
            <a:pPr marL="0" indent="0" algn="l" fontAlgn="base">
              <a:buNone/>
            </a:pPr>
            <a:r>
              <a:rPr lang="en-US" sz="3200" b="1" i="0" dirty="0">
                <a:solidFill>
                  <a:srgbClr val="000000"/>
                </a:solidFill>
                <a:effectLst/>
                <a:highlight>
                  <a:srgbClr val="FFFFFF"/>
                </a:highlight>
                <a:latin typeface="var(--ricos-custom-h3-font-family,unset)"/>
              </a:rPr>
              <a:t>2. Acquisition of facilities and space planning:</a:t>
            </a:r>
          </a:p>
          <a:p>
            <a:pPr algn="l" fontAlgn="base"/>
            <a:r>
              <a:rPr lang="en-US" sz="3200" b="0" i="0" dirty="0">
                <a:solidFill>
                  <a:srgbClr val="000000"/>
                </a:solidFill>
                <a:effectLst/>
                <a:highlight>
                  <a:srgbClr val="FFFFFF"/>
                </a:highlight>
                <a:latin typeface="var(--ricos-custom-p-font-family,unset)"/>
              </a:rPr>
              <a:t>The information system to be implemented may be for a new </a:t>
            </a:r>
            <a:r>
              <a:rPr lang="en-US" sz="3200" b="0" i="0" dirty="0" err="1">
                <a:solidFill>
                  <a:srgbClr val="000000"/>
                </a:solidFill>
                <a:effectLst/>
                <a:highlight>
                  <a:srgbClr val="FFFFFF"/>
                </a:highlight>
                <a:latin typeface="var(--ricos-custom-p-font-family,unset)"/>
              </a:rPr>
              <a:t>organisation</a:t>
            </a:r>
            <a:r>
              <a:rPr lang="en-US" sz="3200" b="0" i="0" dirty="0">
                <a:solidFill>
                  <a:srgbClr val="000000"/>
                </a:solidFill>
                <a:effectLst/>
                <a:highlight>
                  <a:srgbClr val="FFFFFF"/>
                </a:highlight>
                <a:latin typeface="var(--ricos-custom-p-font-family,unset)"/>
              </a:rPr>
              <a:t>, where the MIS has been modified to a great extent or altogether a new one has been developed. This will need acquisition of facilities like office, computer room, computer library etc.</a:t>
            </a:r>
          </a:p>
          <a:p>
            <a:r>
              <a:rPr lang="en-US" sz="3200" b="0" i="0" dirty="0">
                <a:solidFill>
                  <a:srgbClr val="000000"/>
                </a:solidFill>
                <a:effectLst/>
                <a:highlight>
                  <a:srgbClr val="FFFFFF"/>
                </a:highlight>
                <a:latin typeface="barlow-medium"/>
              </a:rPr>
              <a:t>For proper implementation, system analysts should prepare estimates of floor space requirements and rough layouts. Space planning should consider space occupied by computers, terminals, printers and other peripheral devices, etc. It should also include number and type of exits, storage areas, air-conditioning location of utilities, safety and security factors etc.</a:t>
            </a:r>
            <a:endParaRPr lang="en-TZ" sz="3200" dirty="0"/>
          </a:p>
        </p:txBody>
      </p:sp>
    </p:spTree>
    <p:extLst>
      <p:ext uri="{BB962C8B-B14F-4D97-AF65-F5344CB8AC3E}">
        <p14:creationId xmlns:p14="http://schemas.microsoft.com/office/powerpoint/2010/main" val="12250274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667ED-0797-2051-C1CD-37EEE4CCE634}"/>
              </a:ext>
            </a:extLst>
          </p:cNvPr>
          <p:cNvSpPr>
            <a:spLocks noGrp="1"/>
          </p:cNvSpPr>
          <p:nvPr>
            <p:ph idx="1"/>
          </p:nvPr>
        </p:nvSpPr>
        <p:spPr>
          <a:xfrm>
            <a:off x="838200" y="659567"/>
            <a:ext cx="10515600" cy="5517396"/>
          </a:xfrm>
        </p:spPr>
        <p:txBody>
          <a:bodyPr>
            <a:normAutofit/>
          </a:bodyPr>
          <a:lstStyle/>
          <a:p>
            <a:pPr marL="0" indent="0" algn="l" fontAlgn="base">
              <a:buNone/>
            </a:pPr>
            <a:r>
              <a:rPr lang="en-US" sz="3600" b="1" i="0" dirty="0">
                <a:solidFill>
                  <a:srgbClr val="000000"/>
                </a:solidFill>
                <a:effectLst/>
                <a:highlight>
                  <a:srgbClr val="FFFFFF"/>
                </a:highlight>
                <a:latin typeface="var(--ricos-custom-h4-font-family,unset)"/>
              </a:rPr>
              <a:t>3. MIS </a:t>
            </a:r>
            <a:r>
              <a:rPr lang="en-US" sz="3600" b="1" i="0" dirty="0" err="1">
                <a:solidFill>
                  <a:srgbClr val="000000"/>
                </a:solidFill>
                <a:effectLst/>
                <a:highlight>
                  <a:srgbClr val="FFFFFF"/>
                </a:highlight>
                <a:latin typeface="var(--ricos-custom-h4-font-family,unset)"/>
              </a:rPr>
              <a:t>organisation</a:t>
            </a:r>
            <a:r>
              <a:rPr lang="en-US" sz="3600" b="1" i="0" dirty="0">
                <a:solidFill>
                  <a:srgbClr val="000000"/>
                </a:solidFill>
                <a:effectLst/>
                <a:highlight>
                  <a:srgbClr val="FFFFFF"/>
                </a:highlight>
                <a:latin typeface="var(--ricos-custom-h4-font-family,unset)"/>
              </a:rPr>
              <a:t> and procedure development:</a:t>
            </a:r>
          </a:p>
          <a:p>
            <a:pPr algn="l" fontAlgn="base"/>
            <a:r>
              <a:rPr lang="en-US" sz="3600" b="0" i="0" dirty="0">
                <a:solidFill>
                  <a:srgbClr val="000000"/>
                </a:solidFill>
                <a:effectLst/>
                <a:highlight>
                  <a:srgbClr val="FFFFFF"/>
                </a:highlight>
                <a:latin typeface="var(--ricos-custom-p-font-family,unset)"/>
              </a:rPr>
              <a:t>System analysts must make the role of line managers/users clear and ensure their involvement in the system to the maximum. It will help to manage users' resistance to change and increase their acceptance. The various activities involved in this step are evaluating and selecting hardware, buying or developing software, implementation strategies testing of the system, hiring/recruiting personnel required etc.</a:t>
            </a:r>
          </a:p>
          <a:p>
            <a:endParaRPr lang="en-TZ" sz="3600" dirty="0"/>
          </a:p>
        </p:txBody>
      </p:sp>
    </p:spTree>
    <p:extLst>
      <p:ext uri="{BB962C8B-B14F-4D97-AF65-F5344CB8AC3E}">
        <p14:creationId xmlns:p14="http://schemas.microsoft.com/office/powerpoint/2010/main" val="3716126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14ED7-82BC-4402-885B-00794B1480B2}"/>
              </a:ext>
            </a:extLst>
          </p:cNvPr>
          <p:cNvSpPr>
            <a:spLocks noGrp="1"/>
          </p:cNvSpPr>
          <p:nvPr>
            <p:ph idx="1"/>
          </p:nvPr>
        </p:nvSpPr>
        <p:spPr>
          <a:xfrm>
            <a:off x="838200" y="614597"/>
            <a:ext cx="10515600" cy="5562366"/>
          </a:xfrm>
        </p:spPr>
        <p:txBody>
          <a:bodyPr>
            <a:noAutofit/>
          </a:bodyPr>
          <a:lstStyle/>
          <a:p>
            <a:pPr marL="0" indent="0" algn="l" fontAlgn="base">
              <a:buNone/>
            </a:pPr>
            <a:r>
              <a:rPr lang="en-US" sz="3600" b="1" i="0" dirty="0">
                <a:solidFill>
                  <a:srgbClr val="000000"/>
                </a:solidFill>
                <a:effectLst/>
                <a:highlight>
                  <a:srgbClr val="FFFFFF"/>
                </a:highlight>
                <a:latin typeface="var(--ricos-custom-h4-font-family,unset)"/>
              </a:rPr>
              <a:t>4. User Training:</a:t>
            </a:r>
          </a:p>
          <a:p>
            <a:pPr algn="l" fontAlgn="base"/>
            <a:r>
              <a:rPr lang="en-US" sz="3600" b="0" i="0" dirty="0">
                <a:solidFill>
                  <a:srgbClr val="000000"/>
                </a:solidFill>
                <a:effectLst/>
                <a:highlight>
                  <a:srgbClr val="FFFFFF"/>
                </a:highlight>
                <a:latin typeface="var(--ricos-custom-p-font-family,unset)"/>
              </a:rPr>
              <a:t>Training is a very important step for implementing the system. If people are not properly trained to work upon that system then how will they make efficient use of the system? The users may be identified and classified on the basis of operations/functions performed by them. The MIS manager must design training schedules as per the needs of these users. Proper user training helps us to ensure the acceptance of new systems are very important for the successful implementation.</a:t>
            </a:r>
          </a:p>
          <a:p>
            <a:endParaRPr lang="en-TZ" sz="3600" dirty="0"/>
          </a:p>
        </p:txBody>
      </p:sp>
    </p:spTree>
    <p:extLst>
      <p:ext uri="{BB962C8B-B14F-4D97-AF65-F5344CB8AC3E}">
        <p14:creationId xmlns:p14="http://schemas.microsoft.com/office/powerpoint/2010/main" val="7766450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3D7E51-DDCA-92D5-6993-7C1C5AC41DE3}"/>
              </a:ext>
            </a:extLst>
          </p:cNvPr>
          <p:cNvSpPr>
            <a:spLocks noGrp="1"/>
          </p:cNvSpPr>
          <p:nvPr>
            <p:ph idx="1"/>
          </p:nvPr>
        </p:nvSpPr>
        <p:spPr>
          <a:xfrm>
            <a:off x="838200" y="509666"/>
            <a:ext cx="10515600" cy="5667297"/>
          </a:xfrm>
        </p:spPr>
        <p:txBody>
          <a:bodyPr>
            <a:normAutofit/>
          </a:bodyPr>
          <a:lstStyle/>
          <a:p>
            <a:pPr marL="0" indent="0" algn="l" fontAlgn="base">
              <a:buNone/>
            </a:pPr>
            <a:r>
              <a:rPr lang="en-US" sz="3200" b="1" i="0" dirty="0">
                <a:solidFill>
                  <a:srgbClr val="000000"/>
                </a:solidFill>
                <a:effectLst/>
                <a:highlight>
                  <a:srgbClr val="FFFFFF"/>
                </a:highlight>
                <a:latin typeface="var(--ricos-custom-h4-font-family,unset)"/>
              </a:rPr>
              <a:t>5. Acquisition of hardware and software:</a:t>
            </a:r>
          </a:p>
          <a:p>
            <a:pPr algn="l" fontAlgn="base"/>
            <a:r>
              <a:rPr lang="en-US" sz="3200" b="0" i="0" dirty="0">
                <a:solidFill>
                  <a:srgbClr val="000000"/>
                </a:solidFill>
                <a:effectLst/>
                <a:highlight>
                  <a:srgbClr val="FFFFFF"/>
                </a:highlight>
                <a:latin typeface="var(--ricos-custom-p-font-family,unset)"/>
              </a:rPr>
              <a:t>The process of acquiring the necessary hardware and software is a very important step and should be started at the early stage, because selecting software and hardware may be quite complex and time consuming. MIS managers must ensure that facilities needed to install the hardware like site preparation work, computer room layout, air-conditioning, electric connections, and communication lines should be completed on time. Consumables like ink/cartridges, papers, tapes, compact disks, pen drives, </a:t>
            </a:r>
            <a:r>
              <a:rPr lang="en-US" sz="3200" b="0" i="0" dirty="0" err="1">
                <a:solidFill>
                  <a:srgbClr val="000000"/>
                </a:solidFill>
                <a:effectLst/>
                <a:highlight>
                  <a:srgbClr val="FFFFFF"/>
                </a:highlight>
                <a:latin typeface="var(--ricos-custom-p-font-family,unset)"/>
              </a:rPr>
              <a:t>etc</a:t>
            </a:r>
            <a:r>
              <a:rPr lang="en-US" sz="3200" b="0" i="0" dirty="0">
                <a:solidFill>
                  <a:srgbClr val="000000"/>
                </a:solidFill>
                <a:effectLst/>
                <a:highlight>
                  <a:srgbClr val="FFFFFF"/>
                </a:highlight>
                <a:latin typeface="var(--ricos-custom-p-font-family,unset)"/>
              </a:rPr>
              <a:t> should also be acquired by this time.</a:t>
            </a:r>
          </a:p>
          <a:p>
            <a:endParaRPr lang="en-TZ" sz="3200" dirty="0"/>
          </a:p>
        </p:txBody>
      </p:sp>
    </p:spTree>
    <p:extLst>
      <p:ext uri="{BB962C8B-B14F-4D97-AF65-F5344CB8AC3E}">
        <p14:creationId xmlns:p14="http://schemas.microsoft.com/office/powerpoint/2010/main" val="41892810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410DC2-C466-E2F5-7253-3BDE2511BF9B}"/>
              </a:ext>
            </a:extLst>
          </p:cNvPr>
          <p:cNvSpPr>
            <a:spLocks noGrp="1"/>
          </p:cNvSpPr>
          <p:nvPr>
            <p:ph idx="1"/>
          </p:nvPr>
        </p:nvSpPr>
        <p:spPr>
          <a:xfrm>
            <a:off x="838200" y="629587"/>
            <a:ext cx="10515600" cy="5547376"/>
          </a:xfrm>
        </p:spPr>
        <p:txBody>
          <a:bodyPr>
            <a:normAutofit/>
          </a:bodyPr>
          <a:lstStyle/>
          <a:p>
            <a:pPr marL="0" indent="0" algn="l" fontAlgn="base">
              <a:buNone/>
            </a:pPr>
            <a:r>
              <a:rPr lang="en-US" sz="3600" b="1" i="0" dirty="0">
                <a:solidFill>
                  <a:srgbClr val="000000"/>
                </a:solidFill>
                <a:effectLst/>
                <a:highlight>
                  <a:srgbClr val="FFFFFF"/>
                </a:highlight>
                <a:latin typeface="var(--ricos-custom-h4-font-family,unset)"/>
              </a:rPr>
              <a:t>6. Creation of forms and database:</a:t>
            </a:r>
          </a:p>
          <a:p>
            <a:pPr algn="l" fontAlgn="base"/>
            <a:r>
              <a:rPr lang="en-US" sz="3600" b="0" i="0" dirty="0">
                <a:solidFill>
                  <a:srgbClr val="000000"/>
                </a:solidFill>
                <a:effectLst/>
                <a:highlight>
                  <a:srgbClr val="FFFFFF"/>
                </a:highlight>
                <a:latin typeface="var(--ricos-custom-p-font-family,unset)"/>
              </a:rPr>
              <a:t>Form plays an important part in transmitting data, they are required for input to the system and output from the system. For the implementation process, proper forms should be generated, keeping the context of the entire MIS in the frame. For acquiring the data and creating the database, forms are required.</a:t>
            </a:r>
          </a:p>
          <a:p>
            <a:endParaRPr lang="en-TZ" sz="3600" dirty="0"/>
          </a:p>
        </p:txBody>
      </p:sp>
    </p:spTree>
    <p:extLst>
      <p:ext uri="{BB962C8B-B14F-4D97-AF65-F5344CB8AC3E}">
        <p14:creationId xmlns:p14="http://schemas.microsoft.com/office/powerpoint/2010/main" val="16356752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22512B-5F5A-6DDF-D3C0-F0ED8C4E1B74}"/>
              </a:ext>
            </a:extLst>
          </p:cNvPr>
          <p:cNvSpPr>
            <a:spLocks noGrp="1"/>
          </p:cNvSpPr>
          <p:nvPr>
            <p:ph idx="1"/>
          </p:nvPr>
        </p:nvSpPr>
        <p:spPr>
          <a:xfrm>
            <a:off x="838200" y="614597"/>
            <a:ext cx="10515600" cy="5562366"/>
          </a:xfrm>
        </p:spPr>
        <p:txBody>
          <a:bodyPr>
            <a:normAutofit/>
          </a:bodyPr>
          <a:lstStyle/>
          <a:p>
            <a:pPr marL="0" indent="0" algn="l" fontAlgn="base">
              <a:buNone/>
            </a:pPr>
            <a:r>
              <a:rPr lang="en-US" sz="3200" b="1" i="0" dirty="0">
                <a:solidFill>
                  <a:srgbClr val="000000"/>
                </a:solidFill>
                <a:effectLst/>
                <a:highlight>
                  <a:srgbClr val="FFFFFF"/>
                </a:highlight>
                <a:latin typeface="var(--ricos-custom-h4-font-family,unset)"/>
              </a:rPr>
              <a:t>7. Testing:</a:t>
            </a:r>
          </a:p>
          <a:p>
            <a:pPr algn="l" fontAlgn="base"/>
            <a:r>
              <a:rPr lang="en-US" sz="3200" b="0" i="0" dirty="0">
                <a:solidFill>
                  <a:srgbClr val="000000"/>
                </a:solidFill>
                <a:effectLst/>
                <a:highlight>
                  <a:srgbClr val="FFFFFF"/>
                </a:highlight>
                <a:latin typeface="var(--ricos-custom-p-font-family,unset)"/>
              </a:rPr>
              <a:t>Testing should be performed at every phrase to ensure the smooth running of the system. Testing is more important in the implementation phase because testing at this stage is done under real operating conditions with facial data. Testing can be done alone with small representative data, starting from elementary level to sub-system level and then to the system as a whole. The elementary level may include equipment, forms, programs, work procedures and formats etc. These tests are performed mainly for </a:t>
            </a:r>
            <a:r>
              <a:rPr lang="en-US" sz="3200" b="0" i="0" dirty="0" err="1">
                <a:solidFill>
                  <a:srgbClr val="000000"/>
                </a:solidFill>
                <a:effectLst/>
                <a:highlight>
                  <a:srgbClr val="FFFFFF"/>
                </a:highlight>
                <a:latin typeface="var(--ricos-custom-p-font-family,unset)"/>
              </a:rPr>
              <a:t>accuray</a:t>
            </a:r>
            <a:r>
              <a:rPr lang="en-US" sz="3200" b="0" i="0" dirty="0">
                <a:solidFill>
                  <a:srgbClr val="000000"/>
                </a:solidFill>
                <a:effectLst/>
                <a:highlight>
                  <a:srgbClr val="FFFFFF"/>
                </a:highlight>
                <a:latin typeface="var(--ricos-custom-p-font-family,unset)"/>
              </a:rPr>
              <a:t>, range of inputs, frequency of inputs, operating conditions and reliability etc.</a:t>
            </a:r>
          </a:p>
          <a:p>
            <a:endParaRPr lang="en-TZ" sz="3200" dirty="0"/>
          </a:p>
        </p:txBody>
      </p:sp>
    </p:spTree>
    <p:extLst>
      <p:ext uri="{BB962C8B-B14F-4D97-AF65-F5344CB8AC3E}">
        <p14:creationId xmlns:p14="http://schemas.microsoft.com/office/powerpoint/2010/main" val="3936573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17D9A-F1DB-9B69-186E-F2D618CB4372}"/>
              </a:ext>
            </a:extLst>
          </p:cNvPr>
          <p:cNvSpPr>
            <a:spLocks noGrp="1"/>
          </p:cNvSpPr>
          <p:nvPr>
            <p:ph idx="1"/>
          </p:nvPr>
        </p:nvSpPr>
        <p:spPr>
          <a:xfrm>
            <a:off x="838200" y="614597"/>
            <a:ext cx="10515600" cy="5562366"/>
          </a:xfrm>
        </p:spPr>
        <p:txBody>
          <a:bodyPr>
            <a:normAutofit/>
          </a:bodyPr>
          <a:lstStyle/>
          <a:p>
            <a:pPr marL="0" indent="0" algn="l" fontAlgn="base">
              <a:buNone/>
            </a:pPr>
            <a:r>
              <a:rPr lang="en-US" sz="3600" b="1" i="0" dirty="0">
                <a:solidFill>
                  <a:srgbClr val="000000"/>
                </a:solidFill>
                <a:effectLst/>
                <a:highlight>
                  <a:srgbClr val="FFFFFF"/>
                </a:highlight>
                <a:latin typeface="var(--ricos-custom-h4-font-family,unset)"/>
              </a:rPr>
              <a:t>8. Change Over:</a:t>
            </a:r>
          </a:p>
          <a:p>
            <a:pPr algn="l" fontAlgn="base"/>
            <a:r>
              <a:rPr lang="en-US" sz="3600" b="0" i="0" dirty="0">
                <a:solidFill>
                  <a:srgbClr val="000000"/>
                </a:solidFill>
                <a:effectLst/>
                <a:highlight>
                  <a:srgbClr val="FFFFFF"/>
                </a:highlight>
                <a:latin typeface="var(--ricos-custom-p-font-family,unset)"/>
              </a:rPr>
              <a:t>Changeover is the event of switching over from the old system to the new system, which takes place after ensuring the reliability of the system.</a:t>
            </a:r>
          </a:p>
          <a:p>
            <a:pPr algn="l" fontAlgn="base"/>
            <a:r>
              <a:rPr lang="en-US" sz="3600" b="0" i="0" dirty="0">
                <a:solidFill>
                  <a:srgbClr val="000000"/>
                </a:solidFill>
                <a:effectLst/>
                <a:highlight>
                  <a:srgbClr val="FFFFFF"/>
                </a:highlight>
                <a:latin typeface="var(--ricos-custom-p-font-family,unset)"/>
              </a:rPr>
              <a:t>For a new </a:t>
            </a:r>
            <a:r>
              <a:rPr lang="en-US" sz="3600" b="0" i="0" dirty="0" err="1">
                <a:solidFill>
                  <a:srgbClr val="000000"/>
                </a:solidFill>
                <a:effectLst/>
                <a:highlight>
                  <a:srgbClr val="FFFFFF"/>
                </a:highlight>
                <a:latin typeface="var(--ricos-custom-p-font-family,unset)"/>
              </a:rPr>
              <a:t>organisation</a:t>
            </a:r>
            <a:r>
              <a:rPr lang="en-US" sz="3600" b="0" i="0" dirty="0">
                <a:solidFill>
                  <a:srgbClr val="000000"/>
                </a:solidFill>
                <a:effectLst/>
                <a:highlight>
                  <a:srgbClr val="FFFFFF"/>
                </a:highlight>
                <a:latin typeface="var(--ricos-custom-p-font-family,unset)"/>
              </a:rPr>
              <a:t> where any old system does not exist, the only step to be taken is to install the new system.</a:t>
            </a:r>
          </a:p>
          <a:p>
            <a:pPr algn="l" fontAlgn="base"/>
            <a:r>
              <a:rPr lang="en-US" sz="3600" b="0" i="0" dirty="0">
                <a:solidFill>
                  <a:srgbClr val="000000"/>
                </a:solidFill>
                <a:effectLst/>
                <a:highlight>
                  <a:srgbClr val="FFFFFF"/>
                </a:highlight>
                <a:latin typeface="var(--ricos-custom-p-font-family,unset)"/>
              </a:rPr>
              <a:t>For old </a:t>
            </a:r>
            <a:r>
              <a:rPr lang="en-US" sz="3600" b="0" i="0" dirty="0" err="1">
                <a:solidFill>
                  <a:srgbClr val="000000"/>
                </a:solidFill>
                <a:effectLst/>
                <a:highlight>
                  <a:srgbClr val="FFFFFF"/>
                </a:highlight>
                <a:latin typeface="var(--ricos-custom-p-font-family,unset)"/>
              </a:rPr>
              <a:t>organisations</a:t>
            </a:r>
            <a:r>
              <a:rPr lang="en-US" sz="3600" b="0" i="0" dirty="0">
                <a:solidFill>
                  <a:srgbClr val="000000"/>
                </a:solidFill>
                <a:effectLst/>
                <a:highlight>
                  <a:srgbClr val="FFFFFF"/>
                </a:highlight>
                <a:latin typeface="var(--ricos-custom-p-font-family,unset)"/>
              </a:rPr>
              <a:t>, where earlier any system was in existence, different strategies are to be considered. They are:</a:t>
            </a:r>
          </a:p>
          <a:p>
            <a:endParaRPr lang="en-TZ" sz="3600" dirty="0"/>
          </a:p>
        </p:txBody>
      </p:sp>
    </p:spTree>
    <p:extLst>
      <p:ext uri="{BB962C8B-B14F-4D97-AF65-F5344CB8AC3E}">
        <p14:creationId xmlns:p14="http://schemas.microsoft.com/office/powerpoint/2010/main" val="8695733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CB1F81-8DE9-5B0C-63FA-079D05A8471A}"/>
              </a:ext>
            </a:extLst>
          </p:cNvPr>
          <p:cNvSpPr>
            <a:spLocks noGrp="1"/>
          </p:cNvSpPr>
          <p:nvPr>
            <p:ph idx="1"/>
          </p:nvPr>
        </p:nvSpPr>
        <p:spPr>
          <a:xfrm>
            <a:off x="838200" y="584616"/>
            <a:ext cx="10515600" cy="5592347"/>
          </a:xfrm>
        </p:spPr>
        <p:txBody>
          <a:bodyPr>
            <a:normAutofit lnSpcReduction="10000"/>
          </a:bodyPr>
          <a:lstStyle/>
          <a:p>
            <a:pPr marL="0" indent="0" algn="l" fontAlgn="base">
              <a:buNone/>
            </a:pPr>
            <a:r>
              <a:rPr lang="en-US" b="1" i="0" dirty="0">
                <a:solidFill>
                  <a:srgbClr val="000000"/>
                </a:solidFill>
                <a:effectLst/>
                <a:highlight>
                  <a:srgbClr val="FFFFFF"/>
                </a:highlight>
                <a:latin typeface="var(--ricos-custom-h5-font-family,unset)"/>
              </a:rPr>
              <a:t>a. Direct Approach:</a:t>
            </a:r>
          </a:p>
          <a:p>
            <a:pPr algn="l" fontAlgn="base"/>
            <a:r>
              <a:rPr lang="en-US" b="0" i="0" dirty="0">
                <a:solidFill>
                  <a:srgbClr val="000000"/>
                </a:solidFill>
                <a:effectLst/>
                <a:highlight>
                  <a:srgbClr val="FFFFFF"/>
                </a:highlight>
                <a:latin typeface="var(--ricos-custom-p-font-family,unset)"/>
              </a:rPr>
              <a:t>Direct approach is the installation of the new system and the immediate discontinuation of the old system. This approach produces a time gap when no system is working. This approach is used in </a:t>
            </a:r>
            <a:r>
              <a:rPr lang="en-US" b="0" i="0" dirty="0" err="1">
                <a:solidFill>
                  <a:srgbClr val="000000"/>
                </a:solidFill>
                <a:effectLst/>
                <a:highlight>
                  <a:srgbClr val="FFFFFF"/>
                </a:highlight>
                <a:latin typeface="var(--ricos-custom-p-font-family,unset)"/>
              </a:rPr>
              <a:t>organisations</a:t>
            </a:r>
            <a:r>
              <a:rPr lang="en-US" b="0" i="0" dirty="0">
                <a:solidFill>
                  <a:srgbClr val="000000"/>
                </a:solidFill>
                <a:effectLst/>
                <a:highlight>
                  <a:srgbClr val="FFFFFF"/>
                </a:highlight>
                <a:latin typeface="var(--ricos-custom-p-font-family,unset)"/>
              </a:rPr>
              <a:t> where seasonal operations like sugarcane processing or plant shut down are to be done. It is quite inexpensive, but it provides a big risk of failure.</a:t>
            </a:r>
          </a:p>
          <a:p>
            <a:pPr marL="0" indent="0" algn="l" fontAlgn="base">
              <a:buNone/>
            </a:pPr>
            <a:r>
              <a:rPr lang="en-US" b="1" i="0" dirty="0">
                <a:solidFill>
                  <a:srgbClr val="000000"/>
                </a:solidFill>
                <a:effectLst/>
                <a:highlight>
                  <a:srgbClr val="FFFFFF"/>
                </a:highlight>
                <a:latin typeface="var(--ricos-custom-h5-font-family,unset)"/>
              </a:rPr>
              <a:t>b. Parallel Approach:</a:t>
            </a:r>
          </a:p>
          <a:p>
            <a:pPr algn="l" fontAlgn="base"/>
            <a:r>
              <a:rPr lang="en-US" b="0" i="0" dirty="0">
                <a:solidFill>
                  <a:srgbClr val="000000"/>
                </a:solidFill>
                <a:effectLst/>
                <a:highlight>
                  <a:srgbClr val="FFFFFF"/>
                </a:highlight>
                <a:latin typeface="var(--ricos-custom-p-font-family,unset)"/>
              </a:rPr>
              <a:t>Parallel approach is the approach where a new system is installed and operated in parallel with the current system until the new system has been tested thoroughly. Here outputs frame both systems are compared and differences are reconciled. It is very expensive as both systems have to be managed in parallel. Its main benefit is that the accuracy of the system is properly checked.</a:t>
            </a:r>
          </a:p>
          <a:p>
            <a:endParaRPr lang="en-TZ" dirty="0"/>
          </a:p>
        </p:txBody>
      </p:sp>
    </p:spTree>
    <p:extLst>
      <p:ext uri="{BB962C8B-B14F-4D97-AF65-F5344CB8AC3E}">
        <p14:creationId xmlns:p14="http://schemas.microsoft.com/office/powerpoint/2010/main" val="2168895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7B414-A832-BB73-3960-DA243C56E9FF}"/>
              </a:ext>
            </a:extLst>
          </p:cNvPr>
          <p:cNvSpPr>
            <a:spLocks noGrp="1"/>
          </p:cNvSpPr>
          <p:nvPr>
            <p:ph idx="1"/>
          </p:nvPr>
        </p:nvSpPr>
        <p:spPr>
          <a:xfrm>
            <a:off x="838200" y="539646"/>
            <a:ext cx="10515600" cy="5637317"/>
          </a:xfrm>
        </p:spPr>
        <p:txBody>
          <a:bodyPr>
            <a:noAutofit/>
          </a:bodyPr>
          <a:lstStyle/>
          <a:p>
            <a:pPr algn="l" fontAlgn="base"/>
            <a:r>
              <a:rPr lang="en-US" sz="3200" b="1" dirty="0">
                <a:effectLst/>
                <a:latin typeface="var(--ricos-custom-h5-font-family,unset)"/>
              </a:rPr>
              <a:t>c. Modular Approach:</a:t>
            </a:r>
          </a:p>
          <a:p>
            <a:pPr algn="l" fontAlgn="base"/>
            <a:r>
              <a:rPr lang="en-US" sz="3200" dirty="0">
                <a:effectLst/>
                <a:latin typeface="var(--ricos-custom-p-font-family,unset)"/>
              </a:rPr>
              <a:t>Modular approach refers to the implementation of a system in the </a:t>
            </a:r>
            <a:r>
              <a:rPr lang="en-US" sz="3200" dirty="0" err="1">
                <a:effectLst/>
                <a:latin typeface="var(--ricos-custom-p-font-family,unset)"/>
              </a:rPr>
              <a:t>organisation</a:t>
            </a:r>
            <a:r>
              <a:rPr lang="en-US" sz="3200" dirty="0">
                <a:effectLst/>
                <a:latin typeface="var(--ricos-custom-p-font-family,unset)"/>
              </a:rPr>
              <a:t> on a module basis. For example- information systems can only be implemented with any selected product or with all the products in any particular subsystem or location.</a:t>
            </a:r>
          </a:p>
          <a:p>
            <a:pPr algn="l" fontAlgn="base"/>
            <a:r>
              <a:rPr lang="en-US" sz="3200" b="0" i="0" dirty="0">
                <a:solidFill>
                  <a:srgbClr val="000000"/>
                </a:solidFill>
                <a:effectLst/>
                <a:highlight>
                  <a:srgbClr val="FFFFFF"/>
                </a:highlight>
                <a:latin typeface="var(--ricos-custom-p-font-family,unset)"/>
              </a:rPr>
              <a:t>This type of approach will have the following advantage:</a:t>
            </a:r>
          </a:p>
          <a:p>
            <a:pPr algn="l" fontAlgn="base">
              <a:buFont typeface="+mj-lt"/>
              <a:buAutoNum type="arabicPeriod"/>
            </a:pPr>
            <a:r>
              <a:rPr lang="en-US" sz="3200" b="0" i="0" dirty="0">
                <a:solidFill>
                  <a:srgbClr val="000000"/>
                </a:solidFill>
                <a:effectLst/>
                <a:highlight>
                  <a:srgbClr val="FFFFFF"/>
                </a:highlight>
                <a:latin typeface="var(--ricos-custom-p-font-family,unset)"/>
              </a:rPr>
              <a:t>The risk of the system failure will be </a:t>
            </a:r>
            <a:r>
              <a:rPr lang="en-US" sz="3200" b="0" i="0" dirty="0" err="1">
                <a:solidFill>
                  <a:srgbClr val="000000"/>
                </a:solidFill>
                <a:effectLst/>
                <a:highlight>
                  <a:srgbClr val="FFFFFF"/>
                </a:highlight>
                <a:latin typeface="var(--ricos-custom-p-font-family,unset)"/>
              </a:rPr>
              <a:t>localised</a:t>
            </a:r>
            <a:r>
              <a:rPr lang="en-US" sz="3200" b="0" i="0" dirty="0">
                <a:solidFill>
                  <a:srgbClr val="000000"/>
                </a:solidFill>
                <a:effectLst/>
                <a:highlight>
                  <a:srgbClr val="FFFFFF"/>
                </a:highlight>
                <a:latin typeface="var(--ricos-custom-p-font-family,unset)"/>
              </a:rPr>
              <a:t>,</a:t>
            </a:r>
          </a:p>
          <a:p>
            <a:pPr algn="l" fontAlgn="base">
              <a:buFont typeface="+mj-lt"/>
              <a:buAutoNum type="arabicPeriod"/>
            </a:pPr>
            <a:r>
              <a:rPr lang="en-US" sz="3200" b="0" i="0" dirty="0">
                <a:solidFill>
                  <a:srgbClr val="000000"/>
                </a:solidFill>
                <a:effectLst/>
                <a:highlight>
                  <a:srgbClr val="FFFFFF"/>
                </a:highlight>
                <a:latin typeface="var(--ricos-custom-p-font-family,unset)"/>
              </a:rPr>
              <a:t>Problems can be rectified before further implementation.</a:t>
            </a:r>
          </a:p>
          <a:p>
            <a:pPr algn="l" fontAlgn="base">
              <a:buFont typeface="+mj-lt"/>
              <a:buAutoNum type="arabicPeriod"/>
            </a:pPr>
            <a:r>
              <a:rPr lang="en-US" sz="3200" b="0" i="0" dirty="0">
                <a:solidFill>
                  <a:srgbClr val="000000"/>
                </a:solidFill>
                <a:effectLst/>
                <a:highlight>
                  <a:srgbClr val="FFFFFF"/>
                </a:highlight>
                <a:latin typeface="var(--ricos-custom-p-font-family,unset)"/>
              </a:rPr>
              <a:t>Other remaining staff can be trained in a “live” environment.</a:t>
            </a:r>
          </a:p>
          <a:p>
            <a:br>
              <a:rPr lang="en-US" sz="3200" dirty="0">
                <a:effectLst/>
                <a:latin typeface="var(--ricos-custom-p-font-family,unset)"/>
              </a:rPr>
            </a:br>
            <a:endParaRPr lang="en-TZ" sz="3200" dirty="0"/>
          </a:p>
        </p:txBody>
      </p:sp>
    </p:spTree>
    <p:extLst>
      <p:ext uri="{BB962C8B-B14F-4D97-AF65-F5344CB8AC3E}">
        <p14:creationId xmlns:p14="http://schemas.microsoft.com/office/powerpoint/2010/main" val="10982653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C9B2C-5B81-A4AD-DB16-389D31517C18}"/>
              </a:ext>
            </a:extLst>
          </p:cNvPr>
          <p:cNvSpPr>
            <a:spLocks noGrp="1"/>
          </p:cNvSpPr>
          <p:nvPr>
            <p:ph idx="1"/>
          </p:nvPr>
        </p:nvSpPr>
        <p:spPr>
          <a:xfrm>
            <a:off x="838200" y="629587"/>
            <a:ext cx="10515600" cy="5547376"/>
          </a:xfrm>
        </p:spPr>
        <p:txBody>
          <a:bodyPr>
            <a:normAutofit/>
          </a:bodyPr>
          <a:lstStyle/>
          <a:p>
            <a:pPr marL="0" indent="0" algn="l" fontAlgn="base">
              <a:buNone/>
            </a:pPr>
            <a:r>
              <a:rPr lang="en-US" sz="3600" b="1" i="0" dirty="0">
                <a:solidFill>
                  <a:srgbClr val="000000"/>
                </a:solidFill>
                <a:effectLst/>
                <a:highlight>
                  <a:srgbClr val="FFFFFF"/>
                </a:highlight>
                <a:latin typeface="var(--ricos-custom-h5-font-family,unset)"/>
              </a:rPr>
              <a:t>d. Phase-in Approach:</a:t>
            </a:r>
          </a:p>
          <a:p>
            <a:pPr algn="l" fontAlgn="base"/>
            <a:r>
              <a:rPr lang="en-US" sz="3600" b="0" i="0" dirty="0">
                <a:solidFill>
                  <a:srgbClr val="000000"/>
                </a:solidFill>
                <a:effectLst/>
                <a:highlight>
                  <a:srgbClr val="FFFFFF"/>
                </a:highlight>
                <a:latin typeface="var(--ricos-custom-p-font-family,unset)"/>
              </a:rPr>
              <a:t>Phase-in implementation is also referred to as “cut over by segments”. This system is almost similar to modular approach but the only difference is that the system itself is segmented and not the </a:t>
            </a:r>
            <a:r>
              <a:rPr lang="en-US" sz="3600" b="0" i="0" dirty="0" err="1">
                <a:solidFill>
                  <a:srgbClr val="000000"/>
                </a:solidFill>
                <a:effectLst/>
                <a:highlight>
                  <a:srgbClr val="FFFFFF"/>
                </a:highlight>
                <a:latin typeface="var(--ricos-custom-p-font-family,unset)"/>
              </a:rPr>
              <a:t>organisation</a:t>
            </a:r>
            <a:r>
              <a:rPr lang="en-US" sz="3600" b="0" i="0" dirty="0">
                <a:solidFill>
                  <a:srgbClr val="000000"/>
                </a:solidFill>
                <a:effectLst/>
                <a:highlight>
                  <a:srgbClr val="FFFFFF"/>
                </a:highlight>
                <a:latin typeface="var(--ricos-custom-p-font-family,unset)"/>
              </a:rPr>
              <a:t>. This system allows the old system to operate with the new input data. The advantage of this approach is the rate of change in a given </a:t>
            </a:r>
            <a:r>
              <a:rPr lang="en-US" sz="3600" b="0" i="0" dirty="0" err="1">
                <a:solidFill>
                  <a:srgbClr val="000000"/>
                </a:solidFill>
                <a:effectLst/>
                <a:highlight>
                  <a:srgbClr val="FFFFFF"/>
                </a:highlight>
                <a:latin typeface="var(--ricos-custom-p-font-family,unset)"/>
              </a:rPr>
              <a:t>organisation</a:t>
            </a:r>
            <a:r>
              <a:rPr lang="en-US" sz="3600" b="0" i="0" dirty="0">
                <a:solidFill>
                  <a:srgbClr val="000000"/>
                </a:solidFill>
                <a:effectLst/>
                <a:highlight>
                  <a:srgbClr val="FFFFFF"/>
                </a:highlight>
                <a:latin typeface="var(--ricos-custom-p-font-family,unset)"/>
              </a:rPr>
              <a:t> can be </a:t>
            </a:r>
            <a:r>
              <a:rPr lang="en-US" sz="3600" b="0" i="0" dirty="0" err="1">
                <a:solidFill>
                  <a:srgbClr val="000000"/>
                </a:solidFill>
                <a:effectLst/>
                <a:highlight>
                  <a:srgbClr val="FFFFFF"/>
                </a:highlight>
                <a:latin typeface="var(--ricos-custom-p-font-family,unset)"/>
              </a:rPr>
              <a:t>minimised</a:t>
            </a:r>
            <a:r>
              <a:rPr lang="en-US" sz="3600" b="0" i="0" dirty="0">
                <a:solidFill>
                  <a:srgbClr val="000000"/>
                </a:solidFill>
                <a:effectLst/>
                <a:highlight>
                  <a:srgbClr val="FFFFFF"/>
                </a:highlight>
                <a:latin typeface="var(--ricos-custom-p-font-family,unset)"/>
              </a:rPr>
              <a:t>. This method is most suited for systems which require only the upgrading of the old system.</a:t>
            </a:r>
          </a:p>
          <a:p>
            <a:endParaRPr lang="en-TZ" sz="3600" dirty="0"/>
          </a:p>
        </p:txBody>
      </p:sp>
    </p:spTree>
    <p:extLst>
      <p:ext uri="{BB962C8B-B14F-4D97-AF65-F5344CB8AC3E}">
        <p14:creationId xmlns:p14="http://schemas.microsoft.com/office/powerpoint/2010/main" val="9290413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BCAA80-18C5-7918-F0C6-8D07D463F751}"/>
              </a:ext>
            </a:extLst>
          </p:cNvPr>
          <p:cNvSpPr>
            <a:spLocks noGrp="1"/>
          </p:cNvSpPr>
          <p:nvPr>
            <p:ph idx="1"/>
          </p:nvPr>
        </p:nvSpPr>
        <p:spPr>
          <a:xfrm>
            <a:off x="838200" y="449705"/>
            <a:ext cx="10515600" cy="5727258"/>
          </a:xfrm>
        </p:spPr>
        <p:txBody>
          <a:bodyPr>
            <a:normAutofit/>
          </a:bodyPr>
          <a:lstStyle/>
          <a:p>
            <a:pPr algn="l" fontAlgn="base"/>
            <a:r>
              <a:rPr lang="en-US" sz="3600" b="1" i="0" dirty="0">
                <a:solidFill>
                  <a:srgbClr val="000000"/>
                </a:solidFill>
                <a:effectLst/>
                <a:highlight>
                  <a:srgbClr val="FFFFFF"/>
                </a:highlight>
                <a:latin typeface="var(--ricos-custom-h3-font-family,unset)"/>
              </a:rPr>
              <a:t>Problems in Implementing MIS:</a:t>
            </a:r>
          </a:p>
          <a:p>
            <a:pPr algn="l" fontAlgn="base"/>
            <a:r>
              <a:rPr lang="en-US" sz="3600" b="0" i="0" dirty="0">
                <a:solidFill>
                  <a:srgbClr val="000000"/>
                </a:solidFill>
                <a:effectLst/>
                <a:highlight>
                  <a:srgbClr val="FFFFFF"/>
                </a:highlight>
                <a:latin typeface="var(--ricos-custom-p-font-family,unset)"/>
              </a:rPr>
              <a:t>Resistance to change is a normal human tendency. MIS when implemented, changes a lot of things within the </a:t>
            </a:r>
            <a:r>
              <a:rPr lang="en-US" sz="3600" b="0" i="0" dirty="0" err="1">
                <a:solidFill>
                  <a:srgbClr val="000000"/>
                </a:solidFill>
                <a:effectLst/>
                <a:highlight>
                  <a:srgbClr val="FFFFFF"/>
                </a:highlight>
                <a:latin typeface="var(--ricos-custom-p-font-family,unset)"/>
              </a:rPr>
              <a:t>organisation</a:t>
            </a:r>
            <a:r>
              <a:rPr lang="en-US" sz="3600" b="0" i="0" dirty="0">
                <a:solidFill>
                  <a:srgbClr val="000000"/>
                </a:solidFill>
                <a:effectLst/>
                <a:highlight>
                  <a:srgbClr val="FFFFFF"/>
                </a:highlight>
                <a:latin typeface="var(--ricos-custom-p-font-family,unset)"/>
              </a:rPr>
              <a:t>. It ushers in a new way of working in the </a:t>
            </a:r>
            <a:r>
              <a:rPr lang="en-US" sz="3600" b="0" i="0" dirty="0" err="1">
                <a:solidFill>
                  <a:srgbClr val="000000"/>
                </a:solidFill>
                <a:effectLst/>
                <a:highlight>
                  <a:srgbClr val="FFFFFF"/>
                </a:highlight>
                <a:latin typeface="var(--ricos-custom-p-font-family,unset)"/>
              </a:rPr>
              <a:t>organisation</a:t>
            </a:r>
            <a:r>
              <a:rPr lang="en-US" sz="3600" b="0" i="0" dirty="0">
                <a:solidFill>
                  <a:srgbClr val="000000"/>
                </a:solidFill>
                <a:effectLst/>
                <a:highlight>
                  <a:srgbClr val="FFFFFF"/>
                </a:highlight>
                <a:latin typeface="var(--ricos-custom-p-font-family,unset)"/>
              </a:rPr>
              <a:t>. It changes power structures, the way people view their work, changes skill requirements of employees, processes and also the entire </a:t>
            </a:r>
            <a:r>
              <a:rPr lang="en-US" sz="3600" b="0" i="0" dirty="0" err="1">
                <a:solidFill>
                  <a:srgbClr val="000000"/>
                </a:solidFill>
                <a:effectLst/>
                <a:highlight>
                  <a:srgbClr val="FFFFFF"/>
                </a:highlight>
                <a:latin typeface="var(--ricos-custom-p-font-family,unset)"/>
              </a:rPr>
              <a:t>organisational</a:t>
            </a:r>
            <a:r>
              <a:rPr lang="en-US" sz="3600" b="0" i="0" dirty="0">
                <a:solidFill>
                  <a:srgbClr val="000000"/>
                </a:solidFill>
                <a:effectLst/>
                <a:highlight>
                  <a:srgbClr val="FFFFFF"/>
                </a:highlight>
                <a:latin typeface="var(--ricos-custom-p-font-family,unset)"/>
              </a:rPr>
              <a:t> culture.</a:t>
            </a:r>
          </a:p>
          <a:p>
            <a:pPr algn="l" fontAlgn="base"/>
            <a:endParaRPr lang="en-US" sz="3600" b="0" i="0" dirty="0">
              <a:solidFill>
                <a:srgbClr val="000000"/>
              </a:solidFill>
              <a:effectLst/>
              <a:highlight>
                <a:srgbClr val="FFFFFF"/>
              </a:highlight>
              <a:latin typeface="var(--ricos-custom-p-font-family,unset)"/>
            </a:endParaRPr>
          </a:p>
          <a:p>
            <a:endParaRPr lang="en-TZ" sz="3600" dirty="0"/>
          </a:p>
        </p:txBody>
      </p:sp>
    </p:spTree>
    <p:extLst>
      <p:ext uri="{BB962C8B-B14F-4D97-AF65-F5344CB8AC3E}">
        <p14:creationId xmlns:p14="http://schemas.microsoft.com/office/powerpoint/2010/main" val="35063689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ED5F68-E248-206C-B2DB-1CF7513B5F25}"/>
              </a:ext>
            </a:extLst>
          </p:cNvPr>
          <p:cNvSpPr>
            <a:spLocks noGrp="1"/>
          </p:cNvSpPr>
          <p:nvPr>
            <p:ph idx="1"/>
          </p:nvPr>
        </p:nvSpPr>
        <p:spPr>
          <a:xfrm>
            <a:off x="838200" y="539646"/>
            <a:ext cx="10515600" cy="5637317"/>
          </a:xfrm>
        </p:spPr>
        <p:txBody>
          <a:bodyPr>
            <a:normAutofit/>
          </a:bodyPr>
          <a:lstStyle/>
          <a:p>
            <a:r>
              <a:rPr lang="en-US" sz="3200" b="0" i="0" dirty="0">
                <a:solidFill>
                  <a:srgbClr val="000000"/>
                </a:solidFill>
                <a:effectLst/>
                <a:highlight>
                  <a:srgbClr val="FFFFFF"/>
                </a:highlight>
                <a:latin typeface="barlow-medium"/>
              </a:rPr>
              <a:t>This change can cause problems in the implementation process, as there may be resistance to this change from employees. Moreover, the implementation of MIS involves migration of an information system from a controlled environment of design and development to a ‘real’ environment of an </a:t>
            </a:r>
            <a:r>
              <a:rPr lang="en-US" sz="3200" b="0" i="0" dirty="0" err="1">
                <a:solidFill>
                  <a:srgbClr val="000000"/>
                </a:solidFill>
                <a:effectLst/>
                <a:highlight>
                  <a:srgbClr val="FFFFFF"/>
                </a:highlight>
                <a:latin typeface="barlow-medium"/>
              </a:rPr>
              <a:t>organisation</a:t>
            </a:r>
            <a:r>
              <a:rPr lang="en-US" sz="3200" b="0" i="0" dirty="0">
                <a:solidFill>
                  <a:srgbClr val="000000"/>
                </a:solidFill>
                <a:effectLst/>
                <a:highlight>
                  <a:srgbClr val="FFFFFF"/>
                </a:highlight>
                <a:latin typeface="barlow-medium"/>
              </a:rPr>
              <a:t>. </a:t>
            </a:r>
          </a:p>
          <a:p>
            <a:r>
              <a:rPr lang="en-US" sz="3200" b="0" i="0" dirty="0">
                <a:solidFill>
                  <a:srgbClr val="000000"/>
                </a:solidFill>
                <a:effectLst/>
                <a:highlight>
                  <a:srgbClr val="FFFFFF"/>
                </a:highlight>
                <a:latin typeface="barlow-medium"/>
              </a:rPr>
              <a:t>Sometimes, information systems that work fine in a controlled environment fail to deliver in the ‘real’ environment. This may require some tailoring and customization of the system. The management should ensure that such minor glitches should not be used as an excuse by rumormongers to malign the new system.</a:t>
            </a:r>
            <a:endParaRPr lang="en-TZ" sz="3200" dirty="0"/>
          </a:p>
        </p:txBody>
      </p:sp>
    </p:spTree>
    <p:extLst>
      <p:ext uri="{BB962C8B-B14F-4D97-AF65-F5344CB8AC3E}">
        <p14:creationId xmlns:p14="http://schemas.microsoft.com/office/powerpoint/2010/main" val="28199099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680B06-7F14-0688-C9EA-A2B6BD75DEAC}"/>
              </a:ext>
            </a:extLst>
          </p:cNvPr>
          <p:cNvSpPr>
            <a:spLocks noGrp="1"/>
          </p:cNvSpPr>
          <p:nvPr>
            <p:ph idx="1"/>
          </p:nvPr>
        </p:nvSpPr>
        <p:spPr>
          <a:xfrm>
            <a:off x="838200" y="614597"/>
            <a:ext cx="10515600" cy="5562366"/>
          </a:xfrm>
        </p:spPr>
        <p:txBody>
          <a:bodyPr>
            <a:normAutofit lnSpcReduction="10000"/>
          </a:bodyPr>
          <a:lstStyle/>
          <a:p>
            <a:r>
              <a:rPr lang="en-US" sz="3600" b="0" i="0" dirty="0">
                <a:solidFill>
                  <a:srgbClr val="000000"/>
                </a:solidFill>
                <a:effectLst/>
                <a:highlight>
                  <a:srgbClr val="FFFFFF"/>
                </a:highlight>
                <a:latin typeface="barlow-medium"/>
              </a:rPr>
              <a:t>Management should have a mature view that such problems are not expected in the implementation process, ensuring such technical issues remain a technical issue only and are not blown up into an </a:t>
            </a:r>
            <a:r>
              <a:rPr lang="en-US" sz="3600" b="0" i="0" dirty="0" err="1">
                <a:solidFill>
                  <a:srgbClr val="000000"/>
                </a:solidFill>
                <a:effectLst/>
                <a:highlight>
                  <a:srgbClr val="FFFFFF"/>
                </a:highlight>
                <a:latin typeface="barlow-medium"/>
              </a:rPr>
              <a:t>organisational</a:t>
            </a:r>
            <a:r>
              <a:rPr lang="en-US" sz="3600" b="0" i="0" dirty="0">
                <a:solidFill>
                  <a:srgbClr val="000000"/>
                </a:solidFill>
                <a:effectLst/>
                <a:highlight>
                  <a:srgbClr val="FFFFFF"/>
                </a:highlight>
                <a:latin typeface="barlow-medium"/>
              </a:rPr>
              <a:t> issue</a:t>
            </a:r>
            <a:r>
              <a:rPr lang="en-US" sz="3600" b="0" i="0">
                <a:solidFill>
                  <a:srgbClr val="000000"/>
                </a:solidFill>
                <a:effectLst/>
                <a:highlight>
                  <a:srgbClr val="FFFFFF"/>
                </a:highlight>
                <a:latin typeface="barlow-medium"/>
              </a:rPr>
              <a:t>. </a:t>
            </a:r>
          </a:p>
          <a:p>
            <a:r>
              <a:rPr lang="en-US" sz="3600" b="0" i="0">
                <a:solidFill>
                  <a:srgbClr val="000000"/>
                </a:solidFill>
                <a:effectLst/>
                <a:highlight>
                  <a:srgbClr val="FFFFFF"/>
                </a:highlight>
                <a:latin typeface="barlow-medium"/>
              </a:rPr>
              <a:t>A </a:t>
            </a:r>
            <a:r>
              <a:rPr lang="en-US" sz="3600" b="0" i="0" dirty="0">
                <a:solidFill>
                  <a:srgbClr val="000000"/>
                </a:solidFill>
                <a:effectLst/>
                <a:highlight>
                  <a:srgbClr val="FFFFFF"/>
                </a:highlight>
                <a:latin typeface="barlow-medium"/>
              </a:rPr>
              <a:t>strong message from the top management </a:t>
            </a:r>
            <a:r>
              <a:rPr lang="en-US" sz="3600" b="0" i="0" dirty="0" err="1">
                <a:solidFill>
                  <a:srgbClr val="000000"/>
                </a:solidFill>
                <a:effectLst/>
                <a:highlight>
                  <a:srgbClr val="FFFFFF"/>
                </a:highlight>
                <a:latin typeface="barlow-medium"/>
              </a:rPr>
              <a:t>favouring</a:t>
            </a:r>
            <a:r>
              <a:rPr lang="en-US" sz="3600" b="0" i="0" dirty="0">
                <a:solidFill>
                  <a:srgbClr val="000000"/>
                </a:solidFill>
                <a:effectLst/>
                <a:highlight>
                  <a:srgbClr val="FFFFFF"/>
                </a:highlight>
                <a:latin typeface="barlow-medium"/>
              </a:rPr>
              <a:t> the new system thwarts such attempts at maligning the new system and hence is advocated. However, in spite of the best efforts some factors cause problems in the implementation process. </a:t>
            </a:r>
            <a:endParaRPr lang="en-TZ" sz="3600" dirty="0"/>
          </a:p>
        </p:txBody>
      </p:sp>
    </p:spTree>
    <p:extLst>
      <p:ext uri="{BB962C8B-B14F-4D97-AF65-F5344CB8AC3E}">
        <p14:creationId xmlns:p14="http://schemas.microsoft.com/office/powerpoint/2010/main" val="16073329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778B-B9DD-5F8C-532F-76BB695CF0B9}"/>
              </a:ext>
            </a:extLst>
          </p:cNvPr>
          <p:cNvSpPr>
            <a:spLocks noGrp="1"/>
          </p:cNvSpPr>
          <p:nvPr>
            <p:ph type="title"/>
          </p:nvPr>
        </p:nvSpPr>
        <p:spPr>
          <a:xfrm>
            <a:off x="838200" y="365126"/>
            <a:ext cx="10515600" cy="669196"/>
          </a:xfrm>
        </p:spPr>
        <p:txBody>
          <a:bodyPr>
            <a:normAutofit fontScale="90000"/>
          </a:bodyPr>
          <a:lstStyle/>
          <a:p>
            <a:r>
              <a:rPr lang="en-US" sz="4400" b="1" dirty="0">
                <a:effectLst/>
                <a:latin typeface="Times New Roman" panose="02020603050405020304" pitchFamily="18" charset="0"/>
                <a:ea typeface="Times New Roman" panose="02020603050405020304" pitchFamily="18" charset="0"/>
              </a:rPr>
              <a:t>Information systems migration</a:t>
            </a:r>
            <a:endParaRPr lang="en-TZ" dirty="0"/>
          </a:p>
        </p:txBody>
      </p:sp>
      <p:sp>
        <p:nvSpPr>
          <p:cNvPr id="3" name="Content Placeholder 2">
            <a:extLst>
              <a:ext uri="{FF2B5EF4-FFF2-40B4-BE49-F238E27FC236}">
                <a16:creationId xmlns:a16="http://schemas.microsoft.com/office/drawing/2014/main" id="{1B5F1B04-4024-AF92-115F-3AEEE96A60F4}"/>
              </a:ext>
            </a:extLst>
          </p:cNvPr>
          <p:cNvSpPr>
            <a:spLocks noGrp="1"/>
          </p:cNvSpPr>
          <p:nvPr>
            <p:ph idx="1"/>
          </p:nvPr>
        </p:nvSpPr>
        <p:spPr>
          <a:xfrm>
            <a:off x="838200" y="1274164"/>
            <a:ext cx="10515600" cy="4902799"/>
          </a:xfrm>
        </p:spPr>
        <p:txBody>
          <a:bodyPr>
            <a:normAutofit/>
          </a:bodyPr>
          <a:lstStyle/>
          <a:p>
            <a:pPr algn="l"/>
            <a:r>
              <a:rPr lang="en-US" sz="3200" b="1" i="0" dirty="0">
                <a:effectLst/>
                <a:latin typeface="Indeed Sans"/>
              </a:rPr>
              <a:t>What is system migration?</a:t>
            </a:r>
          </a:p>
          <a:p>
            <a:r>
              <a:rPr lang="en-US" sz="3200" b="0" i="0" dirty="0">
                <a:effectLst/>
                <a:latin typeface="Indeed Sans"/>
              </a:rPr>
              <a:t>If you're interested in database administration or systems engineering, you may have wondered, “What is system migration?”. System migration is the process of moving data and applications from one computing system to another. It may entail a physical system migration if outdated hardware components are unable to meet the system's requirements or there's a compromise. It may also involve a data-based migration, requiring the transfer of data and records to a newer running system.</a:t>
            </a:r>
            <a:endParaRPr lang="en-TZ" sz="3200" dirty="0"/>
          </a:p>
          <a:p>
            <a:endParaRPr lang="en-TZ" sz="3200" dirty="0"/>
          </a:p>
        </p:txBody>
      </p:sp>
    </p:spTree>
    <p:extLst>
      <p:ext uri="{BB962C8B-B14F-4D97-AF65-F5344CB8AC3E}">
        <p14:creationId xmlns:p14="http://schemas.microsoft.com/office/powerpoint/2010/main" val="40095727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4E1FA-D58D-42B1-FD4C-929C72D9B210}"/>
              </a:ext>
            </a:extLst>
          </p:cNvPr>
          <p:cNvSpPr>
            <a:spLocks noGrp="1"/>
          </p:cNvSpPr>
          <p:nvPr>
            <p:ph idx="1"/>
          </p:nvPr>
        </p:nvSpPr>
        <p:spPr>
          <a:xfrm>
            <a:off x="838200" y="614597"/>
            <a:ext cx="10515600" cy="5562366"/>
          </a:xfrm>
        </p:spPr>
        <p:txBody>
          <a:bodyPr>
            <a:noAutofit/>
          </a:bodyPr>
          <a:lstStyle/>
          <a:p>
            <a:pPr algn="l"/>
            <a:r>
              <a:rPr lang="en-US" sz="3600" b="1" i="0" dirty="0">
                <a:effectLst/>
                <a:latin typeface="Indeed Sans"/>
              </a:rPr>
              <a:t>How to effectively plan a system migration</a:t>
            </a:r>
          </a:p>
          <a:p>
            <a:r>
              <a:rPr lang="en-US" sz="3600" b="0" i="0" dirty="0">
                <a:effectLst/>
                <a:latin typeface="Indeed Sans"/>
              </a:rPr>
              <a:t>For the system migration to be effective and successful, there are precautions and applicative steps you can consider. Here are nine steps you can follow to plan a system migration effectively:</a:t>
            </a:r>
          </a:p>
          <a:p>
            <a:pPr algn="l"/>
            <a:r>
              <a:rPr lang="en-US" sz="3600" b="1" i="0" dirty="0">
                <a:effectLst/>
                <a:latin typeface="Indeed Sans"/>
              </a:rPr>
              <a:t>1. Speak to a representative from all departments</a:t>
            </a:r>
          </a:p>
          <a:p>
            <a:r>
              <a:rPr lang="en-US" sz="3600" b="0" i="0" dirty="0">
                <a:effectLst/>
                <a:latin typeface="Indeed Sans"/>
              </a:rPr>
              <a:t>You can discuss with a representative from every part of the company to inform them about the migration process, how they can prepare for it, and how to contribute. Doing this can help enhance the speed and efficiency of the process.</a:t>
            </a:r>
            <a:endParaRPr lang="en-US" sz="3600" dirty="0">
              <a:latin typeface="Indeed Sans"/>
            </a:endParaRPr>
          </a:p>
          <a:p>
            <a:endParaRPr lang="en-TZ" sz="3600" dirty="0"/>
          </a:p>
        </p:txBody>
      </p:sp>
    </p:spTree>
    <p:extLst>
      <p:ext uri="{BB962C8B-B14F-4D97-AF65-F5344CB8AC3E}">
        <p14:creationId xmlns:p14="http://schemas.microsoft.com/office/powerpoint/2010/main" val="2982797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46DE0-39B6-4FAC-5B2E-4DA109872647}"/>
              </a:ext>
            </a:extLst>
          </p:cNvPr>
          <p:cNvSpPr>
            <a:spLocks noGrp="1"/>
          </p:cNvSpPr>
          <p:nvPr>
            <p:ph idx="1"/>
          </p:nvPr>
        </p:nvSpPr>
        <p:spPr>
          <a:xfrm>
            <a:off x="838200" y="464695"/>
            <a:ext cx="10515600" cy="5712268"/>
          </a:xfrm>
        </p:spPr>
        <p:txBody>
          <a:bodyPr>
            <a:normAutofit/>
          </a:bodyPr>
          <a:lstStyle/>
          <a:p>
            <a:pPr algn="l"/>
            <a:r>
              <a:rPr lang="en-US" sz="3600" b="1" i="0" dirty="0">
                <a:effectLst/>
                <a:latin typeface="Indeed Sans"/>
              </a:rPr>
              <a:t>2. Make the migration as accessible as possible</a:t>
            </a:r>
          </a:p>
          <a:p>
            <a:r>
              <a:rPr lang="en-US" sz="3600" b="0" i="0" dirty="0">
                <a:effectLst/>
                <a:latin typeface="Indeed Sans"/>
              </a:rPr>
              <a:t>Due to prolonged use of the old system, some individuals or entire teams can find operating on the newer system challenging. That's why it's often necessary to consider accessibility during the migration process. You can request inputs and suggestions from the departments in the company to know how best to structure the framework. Making the process open, easy to understand, and accessible can help it operate more smoothly.</a:t>
            </a:r>
            <a:endParaRPr lang="en-TZ" sz="3600" dirty="0"/>
          </a:p>
        </p:txBody>
      </p:sp>
    </p:spTree>
    <p:extLst>
      <p:ext uri="{BB962C8B-B14F-4D97-AF65-F5344CB8AC3E}">
        <p14:creationId xmlns:p14="http://schemas.microsoft.com/office/powerpoint/2010/main" val="12897760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99F3A-AEB1-554D-9FBB-108F9F3FBA68}"/>
              </a:ext>
            </a:extLst>
          </p:cNvPr>
          <p:cNvSpPr>
            <a:spLocks noGrp="1"/>
          </p:cNvSpPr>
          <p:nvPr>
            <p:ph idx="1"/>
          </p:nvPr>
        </p:nvSpPr>
        <p:spPr>
          <a:xfrm>
            <a:off x="838200" y="449706"/>
            <a:ext cx="10515600" cy="5727258"/>
          </a:xfrm>
        </p:spPr>
        <p:txBody>
          <a:bodyPr>
            <a:normAutofit/>
          </a:bodyPr>
          <a:lstStyle/>
          <a:p>
            <a:pPr algn="l"/>
            <a:r>
              <a:rPr lang="en-US" sz="4000" b="1" i="0" dirty="0">
                <a:solidFill>
                  <a:srgbClr val="2D2D2D"/>
                </a:solidFill>
                <a:effectLst/>
                <a:latin typeface="Indeed Sans"/>
              </a:rPr>
              <a:t>3. Perform proper inventory management</a:t>
            </a:r>
          </a:p>
          <a:p>
            <a:r>
              <a:rPr lang="en-US" sz="4000" b="0" i="0" dirty="0">
                <a:solidFill>
                  <a:srgbClr val="2D2D2D"/>
                </a:solidFill>
                <a:effectLst/>
                <a:latin typeface="Indeed Sans"/>
              </a:rPr>
              <a:t>If you don't know whether the transfer of all data was successful in the process, you may not be able to determine the completion of the migration. To keep track of the process, you can appoint team members to monitor data storage, perform backups, and export it to a lightweight format either in comma-separated values (CSV) files or in physical copy.</a:t>
            </a:r>
            <a:endParaRPr lang="en-TZ" sz="4000" dirty="0"/>
          </a:p>
        </p:txBody>
      </p:sp>
    </p:spTree>
    <p:extLst>
      <p:ext uri="{BB962C8B-B14F-4D97-AF65-F5344CB8AC3E}">
        <p14:creationId xmlns:p14="http://schemas.microsoft.com/office/powerpoint/2010/main" val="12573682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548AF2-F148-0FE8-F538-541DFD708BED}"/>
              </a:ext>
            </a:extLst>
          </p:cNvPr>
          <p:cNvSpPr>
            <a:spLocks noGrp="1"/>
          </p:cNvSpPr>
          <p:nvPr>
            <p:ph idx="1"/>
          </p:nvPr>
        </p:nvSpPr>
        <p:spPr>
          <a:xfrm>
            <a:off x="838200" y="614597"/>
            <a:ext cx="10515600" cy="5562366"/>
          </a:xfrm>
        </p:spPr>
        <p:txBody>
          <a:bodyPr>
            <a:normAutofit/>
          </a:bodyPr>
          <a:lstStyle/>
          <a:p>
            <a:pPr algn="l"/>
            <a:r>
              <a:rPr lang="en-US" sz="4000" b="1" i="0" dirty="0">
                <a:effectLst/>
                <a:latin typeface="Indeed Sans"/>
              </a:rPr>
              <a:t>4. Do a risk assessment</a:t>
            </a:r>
          </a:p>
          <a:p>
            <a:r>
              <a:rPr lang="en-US" sz="4000" b="0" i="0" dirty="0">
                <a:effectLst/>
                <a:latin typeface="Indeed Sans"/>
              </a:rPr>
              <a:t>Assessing the risks that may be present in the migration process can help prepare you to contain them or know if the migration is appropriate at that time. You can determine all the risks in the migration, which may include opportunity costs and regulatory compliance issues.</a:t>
            </a:r>
            <a:endParaRPr lang="en-TZ" sz="4000" dirty="0"/>
          </a:p>
        </p:txBody>
      </p:sp>
    </p:spTree>
    <p:extLst>
      <p:ext uri="{BB962C8B-B14F-4D97-AF65-F5344CB8AC3E}">
        <p14:creationId xmlns:p14="http://schemas.microsoft.com/office/powerpoint/2010/main" val="14653355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05440-F8ED-8BA7-4AB8-CB0DBDC0D24F}"/>
              </a:ext>
            </a:extLst>
          </p:cNvPr>
          <p:cNvSpPr>
            <a:spLocks noGrp="1"/>
          </p:cNvSpPr>
          <p:nvPr>
            <p:ph idx="1"/>
          </p:nvPr>
        </p:nvSpPr>
        <p:spPr>
          <a:xfrm>
            <a:off x="838200" y="614597"/>
            <a:ext cx="10515600" cy="5562366"/>
          </a:xfrm>
        </p:spPr>
        <p:txBody>
          <a:bodyPr>
            <a:noAutofit/>
          </a:bodyPr>
          <a:lstStyle/>
          <a:p>
            <a:pPr algn="l"/>
            <a:r>
              <a:rPr lang="en-US" sz="3600" b="1" i="0" dirty="0">
                <a:effectLst/>
                <a:latin typeface="Indeed Sans"/>
              </a:rPr>
              <a:t>5. Create a cost overview for the process</a:t>
            </a:r>
          </a:p>
          <a:p>
            <a:r>
              <a:rPr lang="en-US" sz="3600" b="0" i="0" dirty="0">
                <a:effectLst/>
                <a:latin typeface="Indeed Sans"/>
              </a:rPr>
              <a:t>It's also necessary to evaluate the financial, technical, and miscellaneous expenses in the migration process. You can work with the finance professionals in the company to figure out the migration project's costs. </a:t>
            </a:r>
          </a:p>
          <a:p>
            <a:pPr algn="l"/>
            <a:r>
              <a:rPr lang="en-US" sz="3600" b="1" i="0" dirty="0">
                <a:effectLst/>
                <a:latin typeface="Indeed Sans"/>
              </a:rPr>
              <a:t>6. Establish a transparent project management system</a:t>
            </a:r>
          </a:p>
          <a:p>
            <a:r>
              <a:rPr lang="en-US" sz="3600" b="0" i="0" dirty="0">
                <a:effectLst/>
                <a:latin typeface="Indeed Sans"/>
              </a:rPr>
              <a:t>After assessing risk and creating the budget, it can be helpful to set up a project management portal where everyone can check progress, attach files, recommend suggestions, and observe the process. </a:t>
            </a:r>
            <a:endParaRPr lang="en-TZ" sz="3600" dirty="0"/>
          </a:p>
        </p:txBody>
      </p:sp>
    </p:spTree>
    <p:extLst>
      <p:ext uri="{BB962C8B-B14F-4D97-AF65-F5344CB8AC3E}">
        <p14:creationId xmlns:p14="http://schemas.microsoft.com/office/powerpoint/2010/main" val="39775867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25AB9-6B03-6505-7220-3440504BE809}"/>
              </a:ext>
            </a:extLst>
          </p:cNvPr>
          <p:cNvSpPr>
            <a:spLocks noGrp="1"/>
          </p:cNvSpPr>
          <p:nvPr>
            <p:ph idx="1"/>
          </p:nvPr>
        </p:nvSpPr>
        <p:spPr>
          <a:xfrm>
            <a:off x="374753" y="329784"/>
            <a:ext cx="11437495" cy="5981075"/>
          </a:xfrm>
        </p:spPr>
        <p:txBody>
          <a:bodyPr>
            <a:noAutofit/>
          </a:bodyPr>
          <a:lstStyle/>
          <a:p>
            <a:pPr algn="l"/>
            <a:r>
              <a:rPr lang="en-US" sz="3400" b="1" i="0" dirty="0">
                <a:solidFill>
                  <a:srgbClr val="2D2D2D"/>
                </a:solidFill>
                <a:effectLst/>
                <a:latin typeface="Indeed Sans"/>
              </a:rPr>
              <a:t>7. Implement the migration in phases</a:t>
            </a:r>
          </a:p>
          <a:p>
            <a:r>
              <a:rPr lang="en-US" sz="3400" b="0" i="0" dirty="0">
                <a:solidFill>
                  <a:srgbClr val="2D2D2D"/>
                </a:solidFill>
                <a:effectLst/>
                <a:latin typeface="Indeed Sans"/>
              </a:rPr>
              <a:t>Migration is often a gradual process that you can set up a schedule to achieve. You can perform the migration departmentally and in phases to ensure organization and prevent a total shutdown of work. </a:t>
            </a:r>
          </a:p>
          <a:p>
            <a:pPr algn="l"/>
            <a:r>
              <a:rPr lang="en-US" sz="3400" b="1" i="0" dirty="0">
                <a:solidFill>
                  <a:srgbClr val="2D2D2D"/>
                </a:solidFill>
                <a:effectLst/>
                <a:latin typeface="Indeed Sans"/>
              </a:rPr>
              <a:t>8. Observe progress and test results</a:t>
            </a:r>
          </a:p>
          <a:p>
            <a:r>
              <a:rPr lang="en-US" sz="3400" b="0" i="0" dirty="0">
                <a:solidFill>
                  <a:srgbClr val="2D2D2D"/>
                </a:solidFill>
                <a:effectLst/>
                <a:latin typeface="Indeed Sans"/>
              </a:rPr>
              <a:t>As the migration progresses, you can evaluate results in the different stages or within departments rather than migrating all at once and discovering undesirable results. Testing the outcome of the migration at each stage can help you determine whether the final implementation can manifest as intended. </a:t>
            </a:r>
            <a:endParaRPr lang="en-TZ" sz="3400" dirty="0"/>
          </a:p>
        </p:txBody>
      </p:sp>
    </p:spTree>
    <p:extLst>
      <p:ext uri="{BB962C8B-B14F-4D97-AF65-F5344CB8AC3E}">
        <p14:creationId xmlns:p14="http://schemas.microsoft.com/office/powerpoint/2010/main" val="21271285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74AB05-6C8D-55C6-3023-8CF1E9E227A0}"/>
              </a:ext>
            </a:extLst>
          </p:cNvPr>
          <p:cNvSpPr>
            <a:spLocks noGrp="1"/>
          </p:cNvSpPr>
          <p:nvPr>
            <p:ph idx="1"/>
          </p:nvPr>
        </p:nvSpPr>
        <p:spPr>
          <a:xfrm>
            <a:off x="838200" y="719528"/>
            <a:ext cx="10515600" cy="5457435"/>
          </a:xfrm>
        </p:spPr>
        <p:txBody>
          <a:bodyPr>
            <a:normAutofit/>
          </a:bodyPr>
          <a:lstStyle/>
          <a:p>
            <a:pPr algn="l"/>
            <a:r>
              <a:rPr lang="en-US" sz="4000" b="1" i="0" dirty="0">
                <a:solidFill>
                  <a:srgbClr val="2D2D2D"/>
                </a:solidFill>
                <a:effectLst/>
                <a:latin typeface="Indeed Sans"/>
              </a:rPr>
              <a:t>9. Assess the final outcome</a:t>
            </a:r>
          </a:p>
          <a:p>
            <a:r>
              <a:rPr lang="en-US" sz="4000" b="0" i="0" dirty="0">
                <a:solidFill>
                  <a:srgbClr val="2D2D2D"/>
                </a:solidFill>
                <a:effectLst/>
                <a:latin typeface="Indeed Sans"/>
              </a:rPr>
              <a:t>After the entire migration process, you can assess the system and compare it with the previous one to know whether the project was successful. You can perform extensive user testing of the software to understand problems that may arise and solve them immediately if possible. </a:t>
            </a:r>
            <a:endParaRPr lang="en-TZ" sz="4000" dirty="0"/>
          </a:p>
        </p:txBody>
      </p:sp>
    </p:spTree>
    <p:extLst>
      <p:ext uri="{BB962C8B-B14F-4D97-AF65-F5344CB8AC3E}">
        <p14:creationId xmlns:p14="http://schemas.microsoft.com/office/powerpoint/2010/main" val="6564460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7EC3C3-64A1-2B0C-F2ED-894F80F9CE7B}"/>
              </a:ext>
            </a:extLst>
          </p:cNvPr>
          <p:cNvSpPr>
            <a:spLocks noGrp="1"/>
          </p:cNvSpPr>
          <p:nvPr>
            <p:ph idx="1"/>
          </p:nvPr>
        </p:nvSpPr>
        <p:spPr>
          <a:xfrm>
            <a:off x="838200" y="509666"/>
            <a:ext cx="10515600" cy="5667297"/>
          </a:xfrm>
        </p:spPr>
        <p:txBody>
          <a:bodyPr>
            <a:noAutofit/>
          </a:bodyPr>
          <a:lstStyle/>
          <a:p>
            <a:pPr algn="l"/>
            <a:r>
              <a:rPr lang="en-US" sz="3600" b="1" i="0" dirty="0">
                <a:solidFill>
                  <a:srgbClr val="2D2D2D"/>
                </a:solidFill>
                <a:effectLst/>
                <a:latin typeface="Indeed Sans"/>
              </a:rPr>
              <a:t>Types of system migration</a:t>
            </a:r>
          </a:p>
          <a:p>
            <a:r>
              <a:rPr lang="en-US" sz="3600" b="0" i="0" dirty="0">
                <a:solidFill>
                  <a:srgbClr val="2D2D2D"/>
                </a:solidFill>
                <a:effectLst/>
                <a:latin typeface="Indeed Sans"/>
              </a:rPr>
              <a:t>Although there are different types of system migration, some may share features or be combinations of others. Here are six types of migration:</a:t>
            </a:r>
          </a:p>
          <a:p>
            <a:pPr algn="l"/>
            <a:r>
              <a:rPr lang="en-US" sz="3600" b="1" i="0" dirty="0">
                <a:solidFill>
                  <a:srgbClr val="2D2D2D"/>
                </a:solidFill>
                <a:effectLst/>
                <a:latin typeface="Indeed Sans"/>
              </a:rPr>
              <a:t>Data </a:t>
            </a:r>
            <a:r>
              <a:rPr lang="en-US" sz="3600" b="1" i="0" dirty="0" err="1">
                <a:solidFill>
                  <a:srgbClr val="2D2D2D"/>
                </a:solidFill>
                <a:effectLst/>
                <a:latin typeface="Indeed Sans"/>
              </a:rPr>
              <a:t>centre</a:t>
            </a:r>
            <a:r>
              <a:rPr lang="en-US" sz="3600" b="1" i="0" dirty="0">
                <a:solidFill>
                  <a:srgbClr val="2D2D2D"/>
                </a:solidFill>
                <a:effectLst/>
                <a:latin typeface="Indeed Sans"/>
              </a:rPr>
              <a:t> migration</a:t>
            </a:r>
          </a:p>
          <a:p>
            <a:r>
              <a:rPr lang="en-US" sz="3600" b="0" i="0" dirty="0">
                <a:solidFill>
                  <a:srgbClr val="2D2D2D"/>
                </a:solidFill>
                <a:effectLst/>
                <a:latin typeface="Indeed Sans"/>
              </a:rPr>
              <a:t>Many organizations may migrate their data </a:t>
            </a:r>
            <a:r>
              <a:rPr lang="en-US" sz="3600" b="0" i="0" dirty="0" err="1">
                <a:solidFill>
                  <a:srgbClr val="2D2D2D"/>
                </a:solidFill>
                <a:effectLst/>
                <a:latin typeface="Indeed Sans"/>
              </a:rPr>
              <a:t>centre</a:t>
            </a:r>
            <a:r>
              <a:rPr lang="en-US" sz="3600" b="0" i="0" dirty="0">
                <a:solidFill>
                  <a:srgbClr val="2D2D2D"/>
                </a:solidFill>
                <a:effectLst/>
                <a:latin typeface="Indeed Sans"/>
              </a:rPr>
              <a:t> periodically. The data </a:t>
            </a:r>
            <a:r>
              <a:rPr lang="en-US" sz="3600" b="0" i="0" dirty="0" err="1">
                <a:solidFill>
                  <a:srgbClr val="2D2D2D"/>
                </a:solidFill>
                <a:effectLst/>
                <a:latin typeface="Indeed Sans"/>
              </a:rPr>
              <a:t>centre</a:t>
            </a:r>
            <a:r>
              <a:rPr lang="en-US" sz="3600" b="0" i="0" dirty="0">
                <a:solidFill>
                  <a:srgbClr val="2D2D2D"/>
                </a:solidFill>
                <a:effectLst/>
                <a:latin typeface="Indeed Sans"/>
              </a:rPr>
              <a:t> contains switches, servers, and networks that form the physical infrastructure of a network. Data </a:t>
            </a:r>
            <a:r>
              <a:rPr lang="en-US" sz="3600" b="0" i="0" dirty="0" err="1">
                <a:solidFill>
                  <a:srgbClr val="2D2D2D"/>
                </a:solidFill>
                <a:effectLst/>
                <a:latin typeface="Indeed Sans"/>
              </a:rPr>
              <a:t>centre</a:t>
            </a:r>
            <a:r>
              <a:rPr lang="en-US" sz="3600" b="0" i="0" dirty="0">
                <a:solidFill>
                  <a:srgbClr val="2D2D2D"/>
                </a:solidFill>
                <a:effectLst/>
                <a:latin typeface="Indeed Sans"/>
              </a:rPr>
              <a:t> migration may be digital or physical.</a:t>
            </a:r>
            <a:endParaRPr lang="en-TZ" sz="3600" dirty="0"/>
          </a:p>
        </p:txBody>
      </p:sp>
    </p:spTree>
    <p:extLst>
      <p:ext uri="{BB962C8B-B14F-4D97-AF65-F5344CB8AC3E}">
        <p14:creationId xmlns:p14="http://schemas.microsoft.com/office/powerpoint/2010/main" val="4102912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1BFA5-65A9-463B-1E8B-65A93936E910}"/>
              </a:ext>
            </a:extLst>
          </p:cNvPr>
          <p:cNvSpPr>
            <a:spLocks noGrp="1"/>
          </p:cNvSpPr>
          <p:nvPr>
            <p:ph idx="1"/>
          </p:nvPr>
        </p:nvSpPr>
        <p:spPr>
          <a:xfrm>
            <a:off x="374753" y="359764"/>
            <a:ext cx="11422505" cy="6071016"/>
          </a:xfrm>
        </p:spPr>
        <p:txBody>
          <a:bodyPr>
            <a:normAutofit/>
          </a:bodyPr>
          <a:lstStyle/>
          <a:p>
            <a:pPr algn="l"/>
            <a:r>
              <a:rPr lang="en-US" sz="3200" b="1" i="0" dirty="0">
                <a:solidFill>
                  <a:srgbClr val="2D2D2D"/>
                </a:solidFill>
                <a:effectLst/>
                <a:latin typeface="Indeed Sans"/>
              </a:rPr>
              <a:t>Business process migration</a:t>
            </a:r>
          </a:p>
          <a:p>
            <a:r>
              <a:rPr lang="en-US" sz="3200" b="0" i="0" dirty="0">
                <a:solidFill>
                  <a:srgbClr val="2D2D2D"/>
                </a:solidFill>
                <a:effectLst/>
                <a:latin typeface="Indeed Sans"/>
              </a:rPr>
              <a:t>It's common for businesses to merge, acquire, or reorganize to better compete in the marketplace or enter new markets. These alterations can necessitate the migration of existing business applications and databases containing information on clients, products, and activities to new hardware or location.</a:t>
            </a:r>
          </a:p>
          <a:p>
            <a:pPr algn="l"/>
            <a:r>
              <a:rPr lang="en-US" sz="3200" b="1" i="0" dirty="0">
                <a:solidFill>
                  <a:srgbClr val="2D2D2D"/>
                </a:solidFill>
                <a:effectLst/>
                <a:latin typeface="Indeed Sans"/>
              </a:rPr>
              <a:t>Cloud migration</a:t>
            </a:r>
          </a:p>
          <a:p>
            <a:r>
              <a:rPr lang="en-US" sz="3200" b="0" i="0" dirty="0">
                <a:solidFill>
                  <a:srgbClr val="2D2D2D"/>
                </a:solidFill>
                <a:effectLst/>
                <a:latin typeface="Indeed Sans"/>
              </a:rPr>
              <a:t>Cloud migration involves migrating data from a hardware source to virtual storage known as a cloud or transferring data from one cloud to another. This type of migration is typically effective, but it may take long periods. It can also be complex, but is often one of the safest means of storing data and information.</a:t>
            </a:r>
            <a:endParaRPr lang="en-TZ" sz="3200" dirty="0"/>
          </a:p>
        </p:txBody>
      </p:sp>
    </p:spTree>
    <p:extLst>
      <p:ext uri="{BB962C8B-B14F-4D97-AF65-F5344CB8AC3E}">
        <p14:creationId xmlns:p14="http://schemas.microsoft.com/office/powerpoint/2010/main" val="11735369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1FCA7-91BB-40F3-82E8-075847216BAE}"/>
              </a:ext>
            </a:extLst>
          </p:cNvPr>
          <p:cNvSpPr>
            <a:spLocks noGrp="1"/>
          </p:cNvSpPr>
          <p:nvPr>
            <p:ph idx="1"/>
          </p:nvPr>
        </p:nvSpPr>
        <p:spPr>
          <a:xfrm>
            <a:off x="494675" y="464695"/>
            <a:ext cx="11257614" cy="6041036"/>
          </a:xfrm>
        </p:spPr>
        <p:txBody>
          <a:bodyPr>
            <a:normAutofit/>
          </a:bodyPr>
          <a:lstStyle/>
          <a:p>
            <a:pPr algn="l"/>
            <a:r>
              <a:rPr lang="en-US" sz="3600" b="1" i="0" dirty="0">
                <a:solidFill>
                  <a:srgbClr val="2D2D2D"/>
                </a:solidFill>
                <a:effectLst/>
                <a:latin typeface="Indeed Sans"/>
              </a:rPr>
              <a:t>Storage migration</a:t>
            </a:r>
          </a:p>
          <a:p>
            <a:r>
              <a:rPr lang="en-US" sz="3600" b="0" i="0" dirty="0">
                <a:solidFill>
                  <a:srgbClr val="2D2D2D"/>
                </a:solidFill>
                <a:effectLst/>
                <a:latin typeface="Indeed Sans"/>
              </a:rPr>
              <a:t>There may be limited space available on some storage systems. As a result, many companies may migrate their storage from one physical hardware to another or a virtual storage. </a:t>
            </a:r>
          </a:p>
          <a:p>
            <a:pPr algn="l"/>
            <a:r>
              <a:rPr lang="en-US" sz="3600" b="1" i="0" dirty="0">
                <a:solidFill>
                  <a:srgbClr val="2D2D2D"/>
                </a:solidFill>
                <a:effectLst/>
                <a:latin typeface="Indeed Sans"/>
              </a:rPr>
              <a:t>Application migration</a:t>
            </a:r>
          </a:p>
          <a:p>
            <a:r>
              <a:rPr lang="en-US" sz="3600" b="0" i="0" dirty="0">
                <a:solidFill>
                  <a:srgbClr val="2D2D2D"/>
                </a:solidFill>
                <a:effectLst/>
                <a:latin typeface="Indeed Sans"/>
              </a:rPr>
              <a:t>Moving data from one computing environment to another is typically necessary when a company changes its enterprise software vendors. For instance, a hotel switching to a new property management system or a hospital replacing its old electronic health record system.</a:t>
            </a:r>
            <a:endParaRPr lang="en-TZ" sz="3600" dirty="0"/>
          </a:p>
        </p:txBody>
      </p:sp>
    </p:spTree>
    <p:extLst>
      <p:ext uri="{BB962C8B-B14F-4D97-AF65-F5344CB8AC3E}">
        <p14:creationId xmlns:p14="http://schemas.microsoft.com/office/powerpoint/2010/main" val="3575096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4871</TotalTime>
  <Words>5441</Words>
  <Application>Microsoft Office PowerPoint</Application>
  <PresentationFormat>Widescreen</PresentationFormat>
  <Paragraphs>211</Paragraphs>
  <Slides>65</Slides>
  <Notes>0</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85" baseType="lpstr">
      <vt:lpstr>Aptos</vt:lpstr>
      <vt:lpstr>Aptos Display</vt:lpstr>
      <vt:lpstr>Arial</vt:lpstr>
      <vt:lpstr>barlow-medium</vt:lpstr>
      <vt:lpstr>Calibri</vt:lpstr>
      <vt:lpstr>Hexagon Akkurat Web</vt:lpstr>
      <vt:lpstr>Indeed Sans</vt:lpstr>
      <vt:lpstr>inherit</vt:lpstr>
      <vt:lpstr>Lato</vt:lpstr>
      <vt:lpstr>Open Sans</vt:lpstr>
      <vt:lpstr>Poppins</vt:lpstr>
      <vt:lpstr>Roboto</vt:lpstr>
      <vt:lpstr>RobotoSlab-Bold</vt:lpstr>
      <vt:lpstr>Times New Roman</vt:lpstr>
      <vt:lpstr>var(--ricos-custom-h3-font-family,unset)</vt:lpstr>
      <vt:lpstr>var(--ricos-custom-h4-font-family,unset)</vt:lpstr>
      <vt:lpstr>var(--ricos-custom-h5-font-family,unset)</vt:lpstr>
      <vt:lpstr>var(--ricos-custom-p-font-family,unset)</vt:lpstr>
      <vt:lpstr>Office Theme</vt:lpstr>
      <vt:lpstr>Document</vt:lpstr>
      <vt:lpstr>INF3201: Information Systems Audit and Control </vt:lpstr>
      <vt:lpstr>Developing the business case</vt:lpstr>
      <vt:lpstr>PowerPoint Presentation</vt:lpstr>
      <vt:lpstr>Project management practices</vt:lpstr>
      <vt:lpstr>PowerPoint Presentation</vt:lpstr>
      <vt:lpstr>PowerPoint Presentation</vt:lpstr>
      <vt:lpstr>Project reviews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Review Template</vt:lpstr>
      <vt:lpstr>PowerPoint Presentation</vt:lpstr>
      <vt:lpstr>PowerPoint Presentation</vt:lpstr>
      <vt:lpstr>PowerPoint Presentation</vt:lpstr>
      <vt:lpstr>PowerPoint Presentation</vt:lpstr>
      <vt:lpstr>PowerPoint Presentation</vt:lpstr>
      <vt:lpstr>PowerPoint Presentation</vt:lpstr>
      <vt:lpstr>Develop project controls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Information systems implementation and migration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Information systems migration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INF3201: Information Systems Audit and Control </dc:title>
  <dc:creator>hussein shaaban</dc:creator>
  <cp:lastModifiedBy>hussein shaaban</cp:lastModifiedBy>
  <cp:revision>2</cp:revision>
  <dcterms:created xsi:type="dcterms:W3CDTF">2024-05-28T12:14:53Z</dcterms:created>
  <dcterms:modified xsi:type="dcterms:W3CDTF">2025-07-01T12:32:32Z</dcterms:modified>
</cp:coreProperties>
</file>