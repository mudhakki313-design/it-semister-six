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72" r:id="rId4"/>
    <p:sldId id="271" r:id="rId5"/>
    <p:sldId id="273" r:id="rId6"/>
    <p:sldId id="274" r:id="rId7"/>
    <p:sldId id="278" r:id="rId8"/>
    <p:sldId id="275" r:id="rId9"/>
    <p:sldId id="276" r:id="rId10"/>
    <p:sldId id="277" r:id="rId11"/>
    <p:sldId id="279" r:id="rId12"/>
    <p:sldId id="280" r:id="rId13"/>
    <p:sldId id="281" r:id="rId14"/>
    <p:sldId id="282" r:id="rId15"/>
    <p:sldId id="28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5944B-3979-4ECC-811F-E003F0AE9495}" type="datetimeFigureOut">
              <a:rPr lang="en-US" smtClean="0"/>
              <a:t>26-May-26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7DFDB4-5FF5-4484-B577-2D50FC031F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48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131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770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170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029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526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9125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13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3255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3012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69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 smtClean="0"/>
              <a:t>Data Mining Tasks: </a:t>
            </a:r>
            <a:r>
              <a:rPr lang="en-US" sz="1200" dirty="0" smtClean="0"/>
              <a:t>Data mining tasks are the specific activities performed to discover useful information, patterns, and knowledge from data.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7DFDB4-5FF5-4484-B577-2D50FC031F6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3362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26-May-26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338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26-May-26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10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26-May-26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77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26-May-26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34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26-May-26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201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26-May-26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172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26-May-26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168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26-May-26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0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26-May-26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931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26-May-26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1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1A0669-E84A-4B96-A551-52BE95EF1770}" type="datetimeFigureOut">
              <a:rPr lang="en-US" smtClean="0"/>
              <a:t>26-May-26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729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1A0669-E84A-4B96-A551-52BE95EF1770}" type="datetimeFigureOut">
              <a:rPr lang="en-US" smtClean="0"/>
              <a:t>26-May-26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3EC97C-3B05-4053-BD60-33E8AE582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248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7169" y="965057"/>
            <a:ext cx="9144000" cy="814387"/>
          </a:xfrm>
        </p:spPr>
        <p:txBody>
          <a:bodyPr>
            <a:noAutofit/>
          </a:bodyPr>
          <a:lstStyle/>
          <a:p>
            <a:r>
              <a:rPr lang="en-US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mining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297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4087" y="0"/>
            <a:ext cx="11201400" cy="6665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Data mining is the process of discovering useful patterns, relationships, trends, and knowledge from large amounts of data using statistical, mathematical, and machine learning techniques.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It helps organizations make informed decisions and predict future outcomes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Importance of Data Mining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Improves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decision-making 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Detects hidden patterns in data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Predicts future trends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Enhances customer relationship management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Reduces business risks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Increases organizational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efficiency</a:t>
            </a:r>
            <a:endParaRPr lang="en-US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762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31872" y="347000"/>
            <a:ext cx="51507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</a:t>
            </a: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MINING PROCESS </a:t>
            </a:r>
            <a:endParaRPr lang="en-US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95759" y="1008765"/>
            <a:ext cx="10601326" cy="50036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Business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Understanding: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This step defines the goals of the data mining project and what insights you're looking for.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Data Understanding: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Here, you get familiar with the data available, its format, and any initial quality issues.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Data Preparation: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This crucial step cleanses, integrates, reduces, and transforms the data into a usable format for modeling. Data Cleaning, Data Integration, Data Reduction, Scaling, encoding, and normalization for better modeling, Data Discretization- Grouping continuous values into categories. </a:t>
            </a:r>
          </a:p>
        </p:txBody>
      </p:sp>
    </p:spTree>
    <p:extLst>
      <p:ext uri="{BB962C8B-B14F-4D97-AF65-F5344CB8AC3E}">
        <p14:creationId xmlns:p14="http://schemas.microsoft.com/office/powerpoint/2010/main" val="431064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591714" y="139182"/>
            <a:ext cx="70310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</a:t>
            </a: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MINING PROCESS </a:t>
            </a:r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CONT……</a:t>
            </a:r>
            <a:endParaRPr lang="en-US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06594" y="896940"/>
            <a:ext cx="10601326" cy="44496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Modeling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Involves choosing and applying data mining algorithms based on your goals (e.g., classification, clustering, prediction).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Model Evaluation: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Here, you assess the model's performance and accuracy using various metrics.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Deployment: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If the model performs well, it's deployed to generate insights or predictions on new data.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Results: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This is where you interpret the findings from the model and use them to make informed decisions. </a:t>
            </a:r>
          </a:p>
        </p:txBody>
      </p:sp>
    </p:spTree>
    <p:extLst>
      <p:ext uri="{BB962C8B-B14F-4D97-AF65-F5344CB8AC3E}">
        <p14:creationId xmlns:p14="http://schemas.microsoft.com/office/powerpoint/2010/main" val="1671960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69309" y="139182"/>
            <a:ext cx="44759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MINING TASKS</a:t>
            </a:r>
            <a:endParaRPr lang="en-US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06597" y="813813"/>
            <a:ext cx="10803511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Classification: </a:t>
            </a:r>
            <a:r>
              <a:rPr lang="en-US" sz="2600" dirty="0" smtClean="0">
                <a:latin typeface="Verdana" panose="020B0604030504040204" pitchFamily="34" charset="0"/>
                <a:ea typeface="Verdana" panose="020B0604030504040204" pitchFamily="34" charset="0"/>
              </a:rPr>
              <a:t>Classification 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is the process of assigning data into predefined categories or classes.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Example:</a:t>
            </a:r>
            <a:endParaRPr lang="en-US" sz="26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 smtClean="0">
                <a:latin typeface="Verdana" panose="020B0604030504040204" pitchFamily="34" charset="0"/>
                <a:ea typeface="Verdana" panose="020B0604030504040204" pitchFamily="34" charset="0"/>
              </a:rPr>
              <a:t>Email: Spam 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or Not Spam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 smtClean="0">
                <a:latin typeface="Verdana" panose="020B0604030504040204" pitchFamily="34" charset="0"/>
                <a:ea typeface="Verdana" panose="020B0604030504040204" pitchFamily="34" charset="0"/>
              </a:rPr>
              <a:t>Loan 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Applicant </a:t>
            </a:r>
            <a:r>
              <a:rPr lang="en-US" sz="2600" dirty="0" smtClean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Approved or Rejected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latin typeface="Verdana" panose="020B0604030504040204" pitchFamily="34" charset="0"/>
                <a:ea typeface="Verdana" panose="020B0604030504040204" pitchFamily="34" charset="0"/>
              </a:rPr>
              <a:t>Common Algorithms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Decision Tree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Naïve Bayes </a:t>
            </a:r>
          </a:p>
          <a:p>
            <a:pPr marL="800100" lvl="1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Support Vector Machine (SVM) </a:t>
            </a:r>
          </a:p>
        </p:txBody>
      </p:sp>
    </p:spTree>
    <p:extLst>
      <p:ext uri="{BB962C8B-B14F-4D97-AF65-F5344CB8AC3E}">
        <p14:creationId xmlns:p14="http://schemas.microsoft.com/office/powerpoint/2010/main" val="3411315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69309" y="139182"/>
            <a:ext cx="44759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MINING TASKS</a:t>
            </a:r>
            <a:endParaRPr lang="en-US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8861" y="662402"/>
            <a:ext cx="6520083" cy="590931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Clustering: </a:t>
            </a:r>
            <a:r>
              <a:rPr lang="en-US" sz="2800" dirty="0" smtClean="0">
                <a:latin typeface="Verdana" panose="020B0604030504040204" pitchFamily="34" charset="0"/>
                <a:ea typeface="Verdana" panose="020B0604030504040204" pitchFamily="34" charset="0"/>
              </a:rPr>
              <a:t>Clustering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groups similar data items together without predefined classes.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A supermarket groups customers according to purchasing behavior.</a:t>
            </a:r>
          </a:p>
          <a:p>
            <a:pPr algn="just">
              <a:lnSpc>
                <a:spcPct val="150000"/>
              </a:lnSpc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Common Algorithms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K-Means </a:t>
            </a:r>
          </a:p>
          <a:p>
            <a:pPr algn="just">
              <a:lnSpc>
                <a:spcPct val="150000"/>
              </a:lnSpc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Hierarchical Clustering</a:t>
            </a:r>
          </a:p>
        </p:txBody>
      </p:sp>
      <p:pic>
        <p:nvPicPr>
          <p:cNvPr id="1026" name="Picture 2" descr="¿Qué es el algoritmo K-means? | Asimov Ingenierí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9783" y="1066800"/>
            <a:ext cx="4779818" cy="48629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1582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69309" y="139182"/>
            <a:ext cx="44759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DATA MINING TASKS</a:t>
            </a:r>
            <a:endParaRPr lang="en-US" sz="4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28861" y="662402"/>
            <a:ext cx="6520083" cy="618630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Regression: 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predicts 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continuous numerical values.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Example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Predicting: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House prices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Temperature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Income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Applications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Financial analysis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Economic forecasting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Price estimation</a:t>
            </a:r>
          </a:p>
        </p:txBody>
      </p:sp>
      <p:pic>
        <p:nvPicPr>
          <p:cNvPr id="4" name="Picture 2" descr="Simple Linear Regression | Learn Simple Linear Regression (SLR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944" y="1594247"/>
            <a:ext cx="4724400" cy="432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87364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24013" y="332157"/>
            <a:ext cx="59747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Regression </a:t>
            </a: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Vs Classification </a:t>
            </a:r>
            <a:endParaRPr lang="en-US" sz="6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9615" y="1049340"/>
            <a:ext cx="10803511" cy="48127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Regression 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predicts continuous numerical values (e.g., price, temperature) using algorithms like Linear Regression.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latin typeface="Verdana" panose="020B0604030504040204" pitchFamily="34" charset="0"/>
                <a:ea typeface="Verdana" panose="020B0604030504040204" pitchFamily="34" charset="0"/>
              </a:rPr>
              <a:t>Classification 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predicts discrete class labels (e.g., spam/not spam) using algorithms like Logistic Regression and SVM.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latin typeface="Verdana" panose="020B0604030504040204" pitchFamily="34" charset="0"/>
                <a:ea typeface="Verdana" panose="020B0604030504040204" pitchFamily="34" charset="0"/>
              </a:rPr>
              <a:t>Regression answers </a:t>
            </a:r>
            <a:r>
              <a:rPr lang="en-US" sz="2600" i="1" dirty="0">
                <a:latin typeface="Verdana" panose="020B0604030504040204" pitchFamily="34" charset="0"/>
                <a:ea typeface="Verdana" panose="020B0604030504040204" pitchFamily="34" charset="0"/>
              </a:rPr>
              <a:t>"How much?" 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or "What is the value?", while classification answers </a:t>
            </a:r>
            <a:r>
              <a:rPr lang="en-US" sz="2600" i="1" dirty="0">
                <a:latin typeface="Verdana" panose="020B0604030504040204" pitchFamily="34" charset="0"/>
                <a:ea typeface="Verdana" panose="020B0604030504040204" pitchFamily="34" charset="0"/>
              </a:rPr>
              <a:t>"What category?"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600" b="1" dirty="0">
                <a:latin typeface="Verdana" panose="020B0604030504040204" pitchFamily="34" charset="0"/>
                <a:ea typeface="Verdana" panose="020B0604030504040204" pitchFamily="34" charset="0"/>
              </a:rPr>
              <a:t>Regression outputs numbers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, while </a:t>
            </a:r>
            <a:r>
              <a:rPr lang="en-US" sz="2600" b="1" dirty="0">
                <a:latin typeface="Verdana" panose="020B0604030504040204" pitchFamily="34" charset="0"/>
                <a:ea typeface="Verdana" panose="020B0604030504040204" pitchFamily="34" charset="0"/>
              </a:rPr>
              <a:t>classification outputs class labels or probabilities</a:t>
            </a:r>
            <a:r>
              <a:rPr lang="en-US" sz="26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538058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13346" y="346011"/>
            <a:ext cx="67153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Regression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, Classification, Clustering </a:t>
            </a:r>
            <a:endParaRPr lang="en-US" sz="8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4836" y="1454727"/>
            <a:ext cx="8880764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18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13346" y="346011"/>
            <a:ext cx="67153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24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Regression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, Classification, Clustering </a:t>
            </a:r>
            <a:endParaRPr lang="en-US" sz="80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205345"/>
            <a:ext cx="5814455" cy="4572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855" y="1205345"/>
            <a:ext cx="4996543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316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84922" y="844774"/>
            <a:ext cx="7266733" cy="6515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Types of Data Mining Architectures</a:t>
            </a:r>
            <a:endParaRPr lang="en-US" sz="6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583686" y="1902725"/>
            <a:ext cx="7502423" cy="1944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Single-Tier Architecture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Two-Tier Architecture 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Three-Tier Architecture </a:t>
            </a:r>
          </a:p>
        </p:txBody>
      </p:sp>
    </p:spTree>
    <p:extLst>
      <p:ext uri="{BB962C8B-B14F-4D97-AF65-F5344CB8AC3E}">
        <p14:creationId xmlns:p14="http://schemas.microsoft.com/office/powerpoint/2010/main" val="19388807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32704" y="110483"/>
            <a:ext cx="5014514" cy="6515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Single-Tier Architecture</a:t>
            </a:r>
            <a:endParaRPr lang="en-US" sz="6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7817" y="930716"/>
            <a:ext cx="5652656" cy="507831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 Single-Tier Architecture is the simplest architecture where the database, data mining engine, and user interface are all located in one system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Characteristics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All components are in one computer.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Suitable for small datasets. </a:t>
            </a:r>
          </a:p>
        </p:txBody>
      </p:sp>
      <p:sp>
        <p:nvSpPr>
          <p:cNvPr id="6" name="Rectangle 5"/>
          <p:cNvSpPr/>
          <p:nvPr/>
        </p:nvSpPr>
        <p:spPr>
          <a:xfrm>
            <a:off x="6165272" y="930716"/>
            <a:ext cx="5652656" cy="507831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Advantages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Easy to implement.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Low cost.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Fast for small datasets. </a:t>
            </a:r>
          </a:p>
          <a:p>
            <a:pPr algn="just"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Disadvantages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Poor scalability.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Limited security.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Not suitable for large organizations.</a:t>
            </a:r>
          </a:p>
        </p:txBody>
      </p:sp>
    </p:spTree>
    <p:extLst>
      <p:ext uri="{BB962C8B-B14F-4D97-AF65-F5344CB8AC3E}">
        <p14:creationId xmlns:p14="http://schemas.microsoft.com/office/powerpoint/2010/main" val="2719445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35484" y="110483"/>
            <a:ext cx="4608955" cy="6515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Two-Tier Architecture</a:t>
            </a:r>
            <a:endParaRPr lang="en-US" sz="6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7817" y="930716"/>
            <a:ext cx="5652656" cy="563231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A Two-Tier Architecture consists of a client and a server. The client communicates directly with the server, which stores the data and performs data mining operations</a:t>
            </a:r>
            <a:r>
              <a:rPr lang="en-US" sz="2400" dirty="0" smtClean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Characteristics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Client sends requests directly to the server.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</a:rPr>
              <a:t>Data and mining functions are stored on the server. </a:t>
            </a:r>
          </a:p>
        </p:txBody>
      </p:sp>
      <p:sp>
        <p:nvSpPr>
          <p:cNvPr id="6" name="Rectangle 5"/>
          <p:cNvSpPr/>
          <p:nvPr/>
        </p:nvSpPr>
        <p:spPr>
          <a:xfrm>
            <a:off x="6165272" y="930716"/>
            <a:ext cx="5652656" cy="520828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500" b="1" dirty="0">
                <a:latin typeface="Verdana" panose="020B0604030504040204" pitchFamily="34" charset="0"/>
                <a:ea typeface="Verdana" panose="020B0604030504040204" pitchFamily="34" charset="0"/>
              </a:rPr>
              <a:t>Advantages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Centralized data management.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Better security than single-tier.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Easier data sharing. </a:t>
            </a:r>
          </a:p>
          <a:p>
            <a:pPr algn="just">
              <a:lnSpc>
                <a:spcPct val="150000"/>
              </a:lnSpc>
            </a:pPr>
            <a:r>
              <a:rPr lang="en-US" sz="2500" b="1" dirty="0">
                <a:latin typeface="Verdana" panose="020B0604030504040204" pitchFamily="34" charset="0"/>
                <a:ea typeface="Verdana" panose="020B0604030504040204" pitchFamily="34" charset="0"/>
              </a:rPr>
              <a:t>Disadvantages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Server may become overloaded.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Dependent on server availability.</a:t>
            </a:r>
          </a:p>
        </p:txBody>
      </p:sp>
    </p:spTree>
    <p:extLst>
      <p:ext uri="{BB962C8B-B14F-4D97-AF65-F5344CB8AC3E}">
        <p14:creationId xmlns:p14="http://schemas.microsoft.com/office/powerpoint/2010/main" val="3517468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78391" y="110483"/>
            <a:ext cx="4923143" cy="6515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Three-Tier Architecture</a:t>
            </a:r>
            <a:endParaRPr lang="en-US" sz="6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7817" y="930716"/>
            <a:ext cx="5652656" cy="578536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A Three-Tier Architecture separates the system into three layers: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Presentation Layer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Application Layer </a:t>
            </a:r>
          </a:p>
          <a:p>
            <a:pPr marL="514350" indent="-514350" algn="just">
              <a:lnSpc>
                <a:spcPct val="150000"/>
              </a:lnSpc>
              <a:buFont typeface="+mj-lt"/>
              <a:buAutoNum type="arabicPeriod"/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Data </a:t>
            </a:r>
            <a:r>
              <a:rPr lang="en-US" sz="2500" dirty="0" smtClean="0">
                <a:latin typeface="Verdana" panose="020B0604030504040204" pitchFamily="34" charset="0"/>
                <a:ea typeface="Verdana" panose="020B0604030504040204" pitchFamily="34" charset="0"/>
              </a:rPr>
              <a:t>Layer</a:t>
            </a:r>
          </a:p>
          <a:p>
            <a:pPr algn="just">
              <a:lnSpc>
                <a:spcPct val="150000"/>
              </a:lnSpc>
            </a:pPr>
            <a:r>
              <a:rPr lang="en-US" sz="2500" b="1" dirty="0">
                <a:latin typeface="Verdana" panose="020B0604030504040204" pitchFamily="34" charset="0"/>
                <a:ea typeface="Verdana" panose="020B0604030504040204" pitchFamily="34" charset="0"/>
              </a:rPr>
              <a:t>Presentation Layer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Interacts with users. 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Displays reports, dashboards, and graphs. </a:t>
            </a:r>
          </a:p>
        </p:txBody>
      </p:sp>
      <p:sp>
        <p:nvSpPr>
          <p:cNvPr id="6" name="Rectangle 5"/>
          <p:cNvSpPr/>
          <p:nvPr/>
        </p:nvSpPr>
        <p:spPr>
          <a:xfrm>
            <a:off x="6165272" y="930716"/>
            <a:ext cx="5652656" cy="347704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500" b="1" dirty="0" smtClean="0">
                <a:latin typeface="Verdana" panose="020B0604030504040204" pitchFamily="34" charset="0"/>
                <a:ea typeface="Verdana" panose="020B0604030504040204" pitchFamily="34" charset="0"/>
              </a:rPr>
              <a:t>Application </a:t>
            </a:r>
            <a:r>
              <a:rPr lang="en-US" sz="2500" b="1" dirty="0">
                <a:latin typeface="Verdana" panose="020B0604030504040204" pitchFamily="34" charset="0"/>
                <a:ea typeface="Verdana" panose="020B0604030504040204" pitchFamily="34" charset="0"/>
              </a:rPr>
              <a:t>Layer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Contains business logic. 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Executes data mining algorithms. </a:t>
            </a:r>
          </a:p>
          <a:p>
            <a:pPr algn="just">
              <a:lnSpc>
                <a:spcPct val="150000"/>
              </a:lnSpc>
            </a:pPr>
            <a:r>
              <a:rPr lang="en-US" sz="2500" b="1" dirty="0">
                <a:latin typeface="Verdana" panose="020B0604030504040204" pitchFamily="34" charset="0"/>
                <a:ea typeface="Verdana" panose="020B0604030504040204" pitchFamily="34" charset="0"/>
              </a:rPr>
              <a:t>Data Layer</a:t>
            </a:r>
          </a:p>
          <a:p>
            <a:pPr algn="just">
              <a:lnSpc>
                <a:spcPct val="150000"/>
              </a:lnSpc>
            </a:pPr>
            <a:r>
              <a:rPr lang="en-US" sz="2500" dirty="0">
                <a:latin typeface="Verdana" panose="020B0604030504040204" pitchFamily="34" charset="0"/>
                <a:ea typeface="Verdana" panose="020B0604030504040204" pitchFamily="34" charset="0"/>
              </a:rPr>
              <a:t>Stores databases and data warehouses.</a:t>
            </a:r>
          </a:p>
        </p:txBody>
      </p:sp>
    </p:spTree>
    <p:extLst>
      <p:ext uri="{BB962C8B-B14F-4D97-AF65-F5344CB8AC3E}">
        <p14:creationId xmlns:p14="http://schemas.microsoft.com/office/powerpoint/2010/main" val="2010655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78391" y="110483"/>
            <a:ext cx="4923143" cy="6515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Three-Tier Architecture</a:t>
            </a:r>
            <a:endParaRPr lang="en-US" sz="66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66799" y="930715"/>
            <a:ext cx="10002982" cy="526297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Advantages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Highly scalable.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Better security.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Easy maintenance.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High performance. 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Verdana" panose="020B0604030504040204" pitchFamily="34" charset="0"/>
                <a:ea typeface="Verdana" panose="020B0604030504040204" pitchFamily="34" charset="0"/>
              </a:rPr>
              <a:t>Disadvantages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More complex.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</a:rPr>
              <a:t>Higher implementation cost.</a:t>
            </a:r>
          </a:p>
        </p:txBody>
      </p:sp>
    </p:spTree>
    <p:extLst>
      <p:ext uri="{BB962C8B-B14F-4D97-AF65-F5344CB8AC3E}">
        <p14:creationId xmlns:p14="http://schemas.microsoft.com/office/powerpoint/2010/main" val="39194163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18867</TotalTime>
  <Words>926</Words>
  <Application>Microsoft Office PowerPoint</Application>
  <PresentationFormat>Widescreen</PresentationFormat>
  <Paragraphs>125</Paragraphs>
  <Slides>15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Verdana</vt:lpstr>
      <vt:lpstr>Wingdings</vt:lpstr>
      <vt:lpstr>Office Theme</vt:lpstr>
      <vt:lpstr>Data mining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warehouse</dc:title>
  <dc:creator>Asus</dc:creator>
  <cp:lastModifiedBy>Asus</cp:lastModifiedBy>
  <cp:revision>31</cp:revision>
  <dcterms:created xsi:type="dcterms:W3CDTF">2026-04-25T05:28:02Z</dcterms:created>
  <dcterms:modified xsi:type="dcterms:W3CDTF">2026-06-01T08:37:21Z</dcterms:modified>
</cp:coreProperties>
</file>