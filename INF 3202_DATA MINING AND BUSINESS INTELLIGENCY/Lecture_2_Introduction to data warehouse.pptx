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9" r:id="rId3"/>
    <p:sldId id="280" r:id="rId4"/>
    <p:sldId id="281" r:id="rId5"/>
    <p:sldId id="282" r:id="rId6"/>
    <p:sldId id="283" r:id="rId7"/>
    <p:sldId id="257" r:id="rId8"/>
    <p:sldId id="278" r:id="rId9"/>
    <p:sldId id="284" r:id="rId10"/>
    <p:sldId id="285" r:id="rId11"/>
    <p:sldId id="286" r:id="rId12"/>
    <p:sldId id="287" r:id="rId13"/>
    <p:sldId id="288" r:id="rId14"/>
    <p:sldId id="289" r:id="rId15"/>
    <p:sldId id="290" r:id="rId16"/>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53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72A7677-1DE8-4248-9051-8C58049A507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3F88F2-F8F2-4C83-AFC3-AE512AE6E82F}" type="slidenum">
              <a:rPr lang="en-US" smtClean="0"/>
              <a:t>‹#›</a:t>
            </a:fld>
            <a:endParaRPr lang="en-US"/>
          </a:p>
        </p:txBody>
      </p:sp>
    </p:spTree>
    <p:extLst>
      <p:ext uri="{BB962C8B-B14F-4D97-AF65-F5344CB8AC3E}">
        <p14:creationId xmlns:p14="http://schemas.microsoft.com/office/powerpoint/2010/main" val="3329222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72A7677-1DE8-4248-9051-8C58049A507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3F88F2-F8F2-4C83-AFC3-AE512AE6E82F}" type="slidenum">
              <a:rPr lang="en-US" smtClean="0"/>
              <a:t>‹#›</a:t>
            </a:fld>
            <a:endParaRPr lang="en-US"/>
          </a:p>
        </p:txBody>
      </p:sp>
    </p:spTree>
    <p:extLst>
      <p:ext uri="{BB962C8B-B14F-4D97-AF65-F5344CB8AC3E}">
        <p14:creationId xmlns:p14="http://schemas.microsoft.com/office/powerpoint/2010/main" val="1657202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72A7677-1DE8-4248-9051-8C58049A507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3F88F2-F8F2-4C83-AFC3-AE512AE6E82F}" type="slidenum">
              <a:rPr lang="en-US" smtClean="0"/>
              <a:t>‹#›</a:t>
            </a:fld>
            <a:endParaRPr lang="en-US"/>
          </a:p>
        </p:txBody>
      </p:sp>
    </p:spTree>
    <p:extLst>
      <p:ext uri="{BB962C8B-B14F-4D97-AF65-F5344CB8AC3E}">
        <p14:creationId xmlns:p14="http://schemas.microsoft.com/office/powerpoint/2010/main" val="1889195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72A7677-1DE8-4248-9051-8C58049A5074}"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3F88F2-F8F2-4C83-AFC3-AE512AE6E82F}" type="slidenum">
              <a:rPr lang="en-US" smtClean="0"/>
              <a:t>‹#›</a:t>
            </a:fld>
            <a:endParaRPr lang="en-US"/>
          </a:p>
        </p:txBody>
      </p:sp>
    </p:spTree>
    <p:extLst>
      <p:ext uri="{BB962C8B-B14F-4D97-AF65-F5344CB8AC3E}">
        <p14:creationId xmlns:p14="http://schemas.microsoft.com/office/powerpoint/2010/main" val="4268616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72A7677-1DE8-4248-9051-8C58049A5074}" type="datetimeFigureOut">
              <a:rPr lang="en-US" smtClean="0"/>
              <a:t>7/24/2026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3F88F2-F8F2-4C83-AFC3-AE512AE6E82F}" type="slidenum">
              <a:rPr lang="en-US" smtClean="0"/>
              <a:t>‹#›</a:t>
            </a:fld>
            <a:endParaRPr lang="en-US"/>
          </a:p>
        </p:txBody>
      </p:sp>
    </p:spTree>
    <p:extLst>
      <p:ext uri="{BB962C8B-B14F-4D97-AF65-F5344CB8AC3E}">
        <p14:creationId xmlns:p14="http://schemas.microsoft.com/office/powerpoint/2010/main" val="1012288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72A7677-1DE8-4248-9051-8C58049A5074}" type="datetimeFigureOut">
              <a:rPr lang="en-US" smtClean="0"/>
              <a:t>7/24/2026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3F88F2-F8F2-4C83-AFC3-AE512AE6E82F}" type="slidenum">
              <a:rPr lang="en-US" smtClean="0"/>
              <a:t>‹#›</a:t>
            </a:fld>
            <a:endParaRPr lang="en-US"/>
          </a:p>
        </p:txBody>
      </p:sp>
    </p:spTree>
    <p:extLst>
      <p:ext uri="{BB962C8B-B14F-4D97-AF65-F5344CB8AC3E}">
        <p14:creationId xmlns:p14="http://schemas.microsoft.com/office/powerpoint/2010/main" val="2313857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2A7677-1DE8-4248-9051-8C58049A5074}" type="datetimeFigureOut">
              <a:rPr lang="en-US" smtClean="0"/>
              <a:t>7/24/2026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3F88F2-F8F2-4C83-AFC3-AE512AE6E82F}" type="slidenum">
              <a:rPr lang="en-US" smtClean="0"/>
              <a:t>‹#›</a:t>
            </a:fld>
            <a:endParaRPr lang="en-US"/>
          </a:p>
        </p:txBody>
      </p:sp>
    </p:spTree>
    <p:extLst>
      <p:ext uri="{BB962C8B-B14F-4D97-AF65-F5344CB8AC3E}">
        <p14:creationId xmlns:p14="http://schemas.microsoft.com/office/powerpoint/2010/main" val="3582497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72A7677-1DE8-4248-9051-8C58049A5074}"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3F88F2-F8F2-4C83-AFC3-AE512AE6E82F}" type="slidenum">
              <a:rPr lang="en-US" smtClean="0"/>
              <a:t>‹#›</a:t>
            </a:fld>
            <a:endParaRPr lang="en-US"/>
          </a:p>
        </p:txBody>
      </p:sp>
    </p:spTree>
    <p:extLst>
      <p:ext uri="{BB962C8B-B14F-4D97-AF65-F5344CB8AC3E}">
        <p14:creationId xmlns:p14="http://schemas.microsoft.com/office/powerpoint/2010/main" val="1736754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72A7677-1DE8-4248-9051-8C58049A5074}"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3F88F2-F8F2-4C83-AFC3-AE512AE6E82F}" type="slidenum">
              <a:rPr lang="en-US" smtClean="0"/>
              <a:t>‹#›</a:t>
            </a:fld>
            <a:endParaRPr lang="en-US"/>
          </a:p>
        </p:txBody>
      </p:sp>
    </p:spTree>
    <p:extLst>
      <p:ext uri="{BB962C8B-B14F-4D97-AF65-F5344CB8AC3E}">
        <p14:creationId xmlns:p14="http://schemas.microsoft.com/office/powerpoint/2010/main" val="2655605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72A7677-1DE8-4248-9051-8C58049A507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3F88F2-F8F2-4C83-AFC3-AE512AE6E82F}" type="slidenum">
              <a:rPr lang="en-US" smtClean="0"/>
              <a:t>‹#›</a:t>
            </a:fld>
            <a:endParaRPr lang="en-US"/>
          </a:p>
        </p:txBody>
      </p:sp>
    </p:spTree>
    <p:extLst>
      <p:ext uri="{BB962C8B-B14F-4D97-AF65-F5344CB8AC3E}">
        <p14:creationId xmlns:p14="http://schemas.microsoft.com/office/powerpoint/2010/main" val="1810825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72A7677-1DE8-4248-9051-8C58049A507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3F88F2-F8F2-4C83-AFC3-AE512AE6E82F}" type="slidenum">
              <a:rPr lang="en-US" smtClean="0"/>
              <a:t>‹#›</a:t>
            </a:fld>
            <a:endParaRPr lang="en-US"/>
          </a:p>
        </p:txBody>
      </p:sp>
    </p:spTree>
    <p:extLst>
      <p:ext uri="{BB962C8B-B14F-4D97-AF65-F5344CB8AC3E}">
        <p14:creationId xmlns:p14="http://schemas.microsoft.com/office/powerpoint/2010/main" val="3391028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2A7677-1DE8-4248-9051-8C58049A5074}" type="datetimeFigureOut">
              <a:rPr lang="en-US" smtClean="0"/>
              <a:t>7/24/2026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3F88F2-F8F2-4C83-AFC3-AE512AE6E82F}" type="slidenum">
              <a:rPr lang="en-US" smtClean="0"/>
              <a:t>‹#›</a:t>
            </a:fld>
            <a:endParaRPr lang="en-US"/>
          </a:p>
        </p:txBody>
      </p:sp>
    </p:spTree>
    <p:extLst>
      <p:ext uri="{BB962C8B-B14F-4D97-AF65-F5344CB8AC3E}">
        <p14:creationId xmlns:p14="http://schemas.microsoft.com/office/powerpoint/2010/main" val="42525692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1931" y="966651"/>
            <a:ext cx="9144000" cy="1541417"/>
          </a:xfrm>
        </p:spPr>
        <p:txBody>
          <a:bodyPr>
            <a:normAutofit/>
          </a:bodyPr>
          <a:lstStyle/>
          <a:p>
            <a:r>
              <a:rPr lang="en-US" sz="5000" b="1" dirty="0">
                <a:latin typeface="Verdana" panose="020B0604030504040204" pitchFamily="34" charset="0"/>
                <a:ea typeface="Verdana" panose="020B0604030504040204" pitchFamily="34" charset="0"/>
              </a:rPr>
              <a:t>Introduction to data warehouse</a:t>
            </a:r>
            <a:endParaRPr lang="en-US" sz="5000" dirty="0">
              <a:latin typeface="Verdana" panose="020B0604030504040204" pitchFamily="34" charset="0"/>
              <a:ea typeface="Verdana" panose="020B0604030504040204" pitchFamily="34" charset="0"/>
            </a:endParaRPr>
          </a:p>
        </p:txBody>
      </p:sp>
      <p:sp>
        <p:nvSpPr>
          <p:cNvPr id="3" name="Subtitle 2"/>
          <p:cNvSpPr>
            <a:spLocks noGrp="1"/>
          </p:cNvSpPr>
          <p:nvPr>
            <p:ph type="subTitle" idx="1"/>
          </p:nvPr>
        </p:nvSpPr>
        <p:spPr>
          <a:xfrm>
            <a:off x="1815737" y="5081451"/>
            <a:ext cx="8116388" cy="966652"/>
          </a:xfrm>
        </p:spPr>
        <p:txBody>
          <a:bodyPr/>
          <a:lstStyle/>
          <a:p>
            <a:r>
              <a:rPr lang="en-US" dirty="0">
                <a:latin typeface="Verdana" panose="020B0604030504040204" pitchFamily="34" charset="0"/>
                <a:ea typeface="Verdana" panose="020B0604030504040204" pitchFamily="34" charset="0"/>
              </a:rPr>
              <a:t>Semester II</a:t>
            </a:r>
          </a:p>
          <a:p>
            <a:r>
              <a:rPr lang="en-US" dirty="0">
                <a:latin typeface="Verdana" panose="020B0604030504040204" pitchFamily="34" charset="0"/>
                <a:ea typeface="Verdana" panose="020B0604030504040204" pitchFamily="34" charset="0"/>
              </a:rPr>
              <a:t>2025/2026</a:t>
            </a:r>
          </a:p>
        </p:txBody>
      </p:sp>
    </p:spTree>
    <p:extLst>
      <p:ext uri="{BB962C8B-B14F-4D97-AF65-F5344CB8AC3E}">
        <p14:creationId xmlns:p14="http://schemas.microsoft.com/office/powerpoint/2010/main" val="1325300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Verdana" panose="020B0604030504040204" pitchFamily="34" charset="0"/>
                <a:ea typeface="Verdana" panose="020B0604030504040204" pitchFamily="34" charset="0"/>
              </a:rPr>
              <a:t>Class norms:</a:t>
            </a:r>
            <a:endParaRPr lang="en-US" dirty="0">
              <a:latin typeface="Verdana" panose="020B0604030504040204" pitchFamily="34" charset="0"/>
              <a:ea typeface="Verdana" panose="020B0604030504040204" pitchFamily="34" charset="0"/>
            </a:endParaRPr>
          </a:p>
        </p:txBody>
      </p:sp>
      <p:sp>
        <p:nvSpPr>
          <p:cNvPr id="3" name="Rectangle 2"/>
          <p:cNvSpPr/>
          <p:nvPr/>
        </p:nvSpPr>
        <p:spPr>
          <a:xfrm>
            <a:off x="1219199" y="1924821"/>
            <a:ext cx="9675223" cy="2926122"/>
          </a:xfrm>
          <a:prstGeom prst="rect">
            <a:avLst/>
          </a:prstGeom>
        </p:spPr>
        <p:txBody>
          <a:bodyPr wrap="square">
            <a:spAutoFit/>
          </a:bodyPr>
          <a:lstStyle/>
          <a:p>
            <a:pPr marL="342900" indent="-342900" algn="just">
              <a:lnSpc>
                <a:spcPct val="200000"/>
              </a:lnSpc>
              <a:buFont typeface="Wingdings" panose="05000000000000000000" pitchFamily="2" charset="2"/>
              <a:buChar char="v"/>
            </a:pPr>
            <a:r>
              <a:rPr lang="en-US" sz="2400" dirty="0">
                <a:latin typeface="Verdana" panose="020B0604030504040204" pitchFamily="34" charset="0"/>
                <a:ea typeface="Verdana" panose="020B0604030504040204" pitchFamily="34" charset="0"/>
              </a:rPr>
              <a:t>Be in class on time and not in time </a:t>
            </a:r>
          </a:p>
          <a:p>
            <a:pPr marL="342900" indent="-342900" algn="just">
              <a:lnSpc>
                <a:spcPct val="200000"/>
              </a:lnSpc>
              <a:buFont typeface="Wingdings" panose="05000000000000000000" pitchFamily="2" charset="2"/>
              <a:buChar char="v"/>
            </a:pPr>
            <a:r>
              <a:rPr lang="en-US" sz="2400" dirty="0">
                <a:latin typeface="Verdana" panose="020B0604030504040204" pitchFamily="34" charset="0"/>
                <a:ea typeface="Verdana" panose="020B0604030504040204" pitchFamily="34" charset="0"/>
              </a:rPr>
              <a:t>Mobile phone: Put off or Silent mode </a:t>
            </a:r>
          </a:p>
          <a:p>
            <a:pPr marL="342900" indent="-342900" algn="just">
              <a:lnSpc>
                <a:spcPct val="200000"/>
              </a:lnSpc>
              <a:buFont typeface="Wingdings" panose="05000000000000000000" pitchFamily="2" charset="2"/>
              <a:buChar char="v"/>
            </a:pPr>
            <a:r>
              <a:rPr lang="en-US" sz="2400" dirty="0">
                <a:latin typeface="Verdana" panose="020B0604030504040204" pitchFamily="34" charset="0"/>
                <a:ea typeface="Verdana" panose="020B0604030504040204" pitchFamily="34" charset="0"/>
              </a:rPr>
              <a:t>No Charting </a:t>
            </a:r>
          </a:p>
          <a:p>
            <a:pPr marL="342900" indent="-342900" algn="just">
              <a:lnSpc>
                <a:spcPct val="200000"/>
              </a:lnSpc>
              <a:buFont typeface="Wingdings" panose="05000000000000000000" pitchFamily="2" charset="2"/>
              <a:buChar char="v"/>
            </a:pPr>
            <a:r>
              <a:rPr lang="en-US" sz="2400" dirty="0">
                <a:latin typeface="Verdana" panose="020B0604030504040204" pitchFamily="34" charset="0"/>
                <a:ea typeface="Verdana" panose="020B0604030504040204" pitchFamily="34" charset="0"/>
              </a:rPr>
              <a:t>Dress code: Decent &amp; appropriate dressing </a:t>
            </a:r>
          </a:p>
        </p:txBody>
      </p:sp>
    </p:spTree>
    <p:extLst>
      <p:ext uri="{BB962C8B-B14F-4D97-AF65-F5344CB8AC3E}">
        <p14:creationId xmlns:p14="http://schemas.microsoft.com/office/powerpoint/2010/main" val="1757009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5308"/>
            <a:ext cx="10709366" cy="640715"/>
          </a:xfrm>
        </p:spPr>
        <p:txBody>
          <a:bodyPr>
            <a:normAutofit fontScale="90000"/>
          </a:bodyPr>
          <a:lstStyle/>
          <a:p>
            <a:r>
              <a:rPr lang="en-US" b="1" dirty="0">
                <a:latin typeface="Verdana" panose="020B0604030504040204" pitchFamily="34" charset="0"/>
                <a:ea typeface="Verdana" panose="020B0604030504040204" pitchFamily="34" charset="0"/>
              </a:rPr>
              <a:t>Why Decent and Appropriate Attire? </a:t>
            </a:r>
            <a:endParaRPr lang="en-US" dirty="0">
              <a:latin typeface="Verdana" panose="020B0604030504040204" pitchFamily="34" charset="0"/>
              <a:ea typeface="Verdana" panose="020B0604030504040204" pitchFamily="34" charset="0"/>
            </a:endParaRPr>
          </a:p>
        </p:txBody>
      </p:sp>
      <p:sp>
        <p:nvSpPr>
          <p:cNvPr id="3" name="Content Placeholder 2"/>
          <p:cNvSpPr>
            <a:spLocks noGrp="1"/>
          </p:cNvSpPr>
          <p:nvPr>
            <p:ph idx="1"/>
          </p:nvPr>
        </p:nvSpPr>
        <p:spPr>
          <a:xfrm>
            <a:off x="300446" y="836023"/>
            <a:ext cx="11743508" cy="5669280"/>
          </a:xfrm>
        </p:spPr>
        <p:txBody>
          <a:bodyPr>
            <a:noAutofit/>
          </a:bodyPr>
          <a:lstStyle/>
          <a:p>
            <a:pPr marL="0" indent="0" algn="just">
              <a:lnSpc>
                <a:spcPct val="170000"/>
              </a:lnSpc>
              <a:buNone/>
            </a:pPr>
            <a:r>
              <a:rPr lang="en-US" sz="1400" dirty="0">
                <a:latin typeface="Verdana" panose="020B0604030504040204" pitchFamily="34" charset="0"/>
                <a:ea typeface="Verdana" panose="020B0604030504040204" pitchFamily="34" charset="0"/>
              </a:rPr>
              <a:t>Two young ladies arrived at a Meeting wearing clothes that were quite revealing their body parts. Here is what the Chairman told them: He took a good look at them and made them sit. Then he said something that, they might never forget in their life. He looked at them straight in the eyes and said; "ladies, everything that God made valuable in this world is well covered and hardly to see, find or get. </a:t>
            </a:r>
          </a:p>
          <a:p>
            <a:pPr algn="just">
              <a:lnSpc>
                <a:spcPct val="170000"/>
              </a:lnSpc>
              <a:buFont typeface="Wingdings" panose="05000000000000000000" pitchFamily="2" charset="2"/>
              <a:buChar char="v"/>
            </a:pPr>
            <a:r>
              <a:rPr lang="en-US" sz="1400" dirty="0">
                <a:latin typeface="Verdana" panose="020B0604030504040204" pitchFamily="34" charset="0"/>
                <a:ea typeface="Verdana" panose="020B0604030504040204" pitchFamily="34" charset="0"/>
              </a:rPr>
              <a:t>Where do you find diamonds? Deep down in the ground, covered and protected. </a:t>
            </a:r>
          </a:p>
          <a:p>
            <a:pPr algn="just">
              <a:lnSpc>
                <a:spcPct val="170000"/>
              </a:lnSpc>
              <a:buFont typeface="Wingdings" panose="05000000000000000000" pitchFamily="2" charset="2"/>
              <a:buChar char="v"/>
            </a:pPr>
            <a:r>
              <a:rPr lang="en-US" sz="1400" dirty="0">
                <a:latin typeface="Verdana" panose="020B0604030504040204" pitchFamily="34" charset="0"/>
                <a:ea typeface="Verdana" panose="020B0604030504040204" pitchFamily="34" charset="0"/>
              </a:rPr>
              <a:t>Where do you find pearls? Deep down at the bottom of the ocean, covered up and protected in a beautiful shell. </a:t>
            </a:r>
          </a:p>
          <a:p>
            <a:pPr algn="just">
              <a:lnSpc>
                <a:spcPct val="170000"/>
              </a:lnSpc>
              <a:buFont typeface="Wingdings" panose="05000000000000000000" pitchFamily="2" charset="2"/>
              <a:buChar char="v"/>
            </a:pPr>
            <a:r>
              <a:rPr lang="en-US" sz="1400" dirty="0">
                <a:latin typeface="Verdana" panose="020B0604030504040204" pitchFamily="34" charset="0"/>
                <a:ea typeface="Verdana" panose="020B0604030504040204" pitchFamily="34" charset="0"/>
              </a:rPr>
              <a:t>Where do you find gold? Way down in the mine, covered over with layers of rock and to get them, you have to work hard &amp; dig deep down to get them. </a:t>
            </a:r>
          </a:p>
          <a:p>
            <a:pPr marL="0" indent="0" algn="just">
              <a:lnSpc>
                <a:spcPct val="170000"/>
              </a:lnSpc>
              <a:buNone/>
            </a:pPr>
            <a:r>
              <a:rPr lang="en-US" sz="1400" dirty="0">
                <a:latin typeface="Verdana" panose="020B0604030504040204" pitchFamily="34" charset="0"/>
                <a:ea typeface="Verdana" panose="020B0604030504040204" pitchFamily="34" charset="0"/>
              </a:rPr>
              <a:t>He looked at them with serious eyes and said; "Your body is </a:t>
            </a:r>
            <a:r>
              <a:rPr lang="en-US" sz="1400" b="1" dirty="0">
                <a:latin typeface="Verdana" panose="020B0604030504040204" pitchFamily="34" charset="0"/>
                <a:ea typeface="Verdana" panose="020B0604030504040204" pitchFamily="34" charset="0"/>
              </a:rPr>
              <a:t>sacred &amp; unique</a:t>
            </a:r>
            <a:r>
              <a:rPr lang="en-US" sz="1400" dirty="0">
                <a:latin typeface="Verdana" panose="020B0604030504040204" pitchFamily="34" charset="0"/>
                <a:ea typeface="Verdana" panose="020B0604030504040204" pitchFamily="34" charset="0"/>
              </a:rPr>
              <a:t>" You are far more </a:t>
            </a:r>
            <a:r>
              <a:rPr lang="en-US" sz="1400" b="1" dirty="0">
                <a:latin typeface="Verdana" panose="020B0604030504040204" pitchFamily="34" charset="0"/>
                <a:ea typeface="Verdana" panose="020B0604030504040204" pitchFamily="34" charset="0"/>
              </a:rPr>
              <a:t>precious </a:t>
            </a:r>
            <a:r>
              <a:rPr lang="en-US" sz="1400" dirty="0">
                <a:latin typeface="Verdana" panose="020B0604030504040204" pitchFamily="34" charset="0"/>
                <a:ea typeface="Verdana" panose="020B0604030504040204" pitchFamily="34" charset="0"/>
              </a:rPr>
              <a:t>than gold, diamonds and pearls, and you should be well covered too. "So he added that, if you keep your treasured mineral just like gold, diamond and pearls, deeply covered up, a reputable mining organization with the requisite machinery will fly down and conduct years of extensive exploration. First, they will contact your government (family), sign professional contracts (wedding) and mine you professionally ( legal marriage). But if you leave your precious minerals uncovered on the surface of the earth, you always attract a lot of illegal miners to come and mine you illegally. </a:t>
            </a:r>
          </a:p>
        </p:txBody>
      </p:sp>
    </p:spTree>
    <p:extLst>
      <p:ext uri="{BB962C8B-B14F-4D97-AF65-F5344CB8AC3E}">
        <p14:creationId xmlns:p14="http://schemas.microsoft.com/office/powerpoint/2010/main" val="680154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Verdana" panose="020B0604030504040204" pitchFamily="34" charset="0"/>
                <a:ea typeface="Verdana" panose="020B0604030504040204" pitchFamily="34" charset="0"/>
              </a:rPr>
              <a:t>Course Description</a:t>
            </a:r>
            <a:r>
              <a:rPr lang="en-US" dirty="0">
                <a:latin typeface="Verdana" panose="020B0604030504040204" pitchFamily="34" charset="0"/>
                <a:ea typeface="Verdana" panose="020B0604030504040204" pitchFamily="34" charset="0"/>
              </a:rPr>
              <a:t>:</a:t>
            </a:r>
          </a:p>
        </p:txBody>
      </p:sp>
      <p:sp>
        <p:nvSpPr>
          <p:cNvPr id="3" name="Content Placeholder 2"/>
          <p:cNvSpPr>
            <a:spLocks noGrp="1"/>
          </p:cNvSpPr>
          <p:nvPr>
            <p:ph idx="1"/>
          </p:nvPr>
        </p:nvSpPr>
        <p:spPr>
          <a:xfrm>
            <a:off x="838200" y="1604827"/>
            <a:ext cx="10515600" cy="4351338"/>
          </a:xfrm>
        </p:spPr>
        <p:txBody>
          <a:bodyPr>
            <a:normAutofit/>
          </a:bodyPr>
          <a:lstStyle/>
          <a:p>
            <a:pPr marL="0" indent="0" algn="just">
              <a:lnSpc>
                <a:spcPct val="150000"/>
              </a:lnSpc>
              <a:buNone/>
            </a:pPr>
            <a:r>
              <a:rPr lang="en-GB" dirty="0">
                <a:latin typeface="Verdana" panose="020B0604030504040204" pitchFamily="34" charset="0"/>
                <a:ea typeface="Verdana" panose="020B0604030504040204" pitchFamily="34" charset="0"/>
              </a:rPr>
              <a:t>This intends to provide students with concepts and techniques of Data warehouse, data mining and business intelligence. The students will get the opportunity to study different data warehouse case study. It will also give them the skills and technique on designing and implementing data warehouse</a:t>
            </a:r>
            <a:endParaRPr lang="en-US"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824503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69183"/>
            <a:ext cx="10515600" cy="719092"/>
          </a:xfrm>
        </p:spPr>
        <p:txBody>
          <a:bodyPr/>
          <a:lstStyle/>
          <a:p>
            <a:r>
              <a:rPr lang="en-US" b="1" dirty="0">
                <a:latin typeface="Verdana" panose="020B0604030504040204" pitchFamily="34" charset="0"/>
                <a:ea typeface="Verdana" panose="020B0604030504040204" pitchFamily="34" charset="0"/>
              </a:rPr>
              <a:t>Learning Outcomes:</a:t>
            </a:r>
            <a:endParaRPr lang="en-US" dirty="0">
              <a:latin typeface="Verdana" panose="020B0604030504040204" pitchFamily="34" charset="0"/>
              <a:ea typeface="Verdana" panose="020B0604030504040204" pitchFamily="34" charset="0"/>
            </a:endParaRPr>
          </a:p>
        </p:txBody>
      </p:sp>
      <p:sp>
        <p:nvSpPr>
          <p:cNvPr id="3" name="Content Placeholder 2"/>
          <p:cNvSpPr>
            <a:spLocks noGrp="1"/>
          </p:cNvSpPr>
          <p:nvPr>
            <p:ph idx="1"/>
          </p:nvPr>
        </p:nvSpPr>
        <p:spPr>
          <a:xfrm>
            <a:off x="838199" y="888275"/>
            <a:ext cx="10186853" cy="5277395"/>
          </a:xfrm>
        </p:spPr>
        <p:txBody>
          <a:bodyPr>
            <a:noAutofit/>
          </a:bodyPr>
          <a:lstStyle/>
          <a:p>
            <a:pPr lvl="0" algn="just">
              <a:lnSpc>
                <a:spcPct val="150000"/>
              </a:lnSpc>
              <a:buFont typeface="Wingdings" panose="05000000000000000000" pitchFamily="2" charset="2"/>
              <a:buChar char="q"/>
            </a:pPr>
            <a:r>
              <a:rPr lang="en-US" dirty="0">
                <a:latin typeface="Verdana" panose="020B0604030504040204" pitchFamily="34" charset="0"/>
                <a:ea typeface="Verdana" panose="020B0604030504040204" pitchFamily="34" charset="0"/>
              </a:rPr>
              <a:t>Understand the concept of data mining, data warehouse and business intelligence</a:t>
            </a:r>
            <a:endParaRPr lang="en-US" sz="1800" dirty="0">
              <a:latin typeface="Verdana" panose="020B0604030504040204" pitchFamily="34" charset="0"/>
              <a:ea typeface="Verdana" panose="020B0604030504040204" pitchFamily="34" charset="0"/>
            </a:endParaRPr>
          </a:p>
          <a:p>
            <a:pPr lvl="0" algn="just">
              <a:lnSpc>
                <a:spcPct val="150000"/>
              </a:lnSpc>
              <a:buFont typeface="Wingdings" panose="05000000000000000000" pitchFamily="2" charset="2"/>
              <a:buChar char="q"/>
            </a:pPr>
            <a:r>
              <a:rPr lang="en-US" dirty="0">
                <a:latin typeface="Verdana" panose="020B0604030504040204" pitchFamily="34" charset="0"/>
                <a:ea typeface="Verdana" panose="020B0604030504040204" pitchFamily="34" charset="0"/>
              </a:rPr>
              <a:t>Apply the knowledge, skills and techniques in big industries data warehouse</a:t>
            </a:r>
            <a:endParaRPr lang="en-US" sz="1800" dirty="0">
              <a:latin typeface="Verdana" panose="020B0604030504040204" pitchFamily="34" charset="0"/>
              <a:ea typeface="Verdana" panose="020B0604030504040204" pitchFamily="34" charset="0"/>
            </a:endParaRPr>
          </a:p>
          <a:p>
            <a:pPr algn="just">
              <a:lnSpc>
                <a:spcPct val="150000"/>
              </a:lnSpc>
              <a:buFont typeface="Wingdings" panose="05000000000000000000" pitchFamily="2" charset="2"/>
              <a:buChar char="q"/>
            </a:pPr>
            <a:r>
              <a:rPr lang="en-GB" dirty="0">
                <a:latin typeface="Verdana" panose="020B0604030504040204" pitchFamily="34" charset="0"/>
                <a:ea typeface="Verdana" panose="020B0604030504040204" pitchFamily="34" charset="0"/>
              </a:rPr>
              <a:t>Design and implement data warehouse and data mining </a:t>
            </a: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790601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latin typeface="Verdana" panose="020B0604030504040204" pitchFamily="34" charset="0"/>
                <a:ea typeface="Verdana" panose="020B0604030504040204" pitchFamily="34" charset="0"/>
              </a:rPr>
            </a:br>
            <a:r>
              <a:rPr lang="en-US" b="1" dirty="0">
                <a:latin typeface="Verdana" panose="020B0604030504040204" pitchFamily="34" charset="0"/>
                <a:ea typeface="Verdana" panose="020B0604030504040204" pitchFamily="34" charset="0"/>
              </a:rPr>
              <a:t>Assessment : </a:t>
            </a:r>
            <a:endParaRPr lang="en-US" dirty="0">
              <a:latin typeface="Verdana" panose="020B0604030504040204" pitchFamily="34" charset="0"/>
              <a:ea typeface="Verdana" panose="020B0604030504040204" pitchFamily="34" charset="0"/>
            </a:endParaRPr>
          </a:p>
        </p:txBody>
      </p:sp>
      <p:sp>
        <p:nvSpPr>
          <p:cNvPr id="3" name="Content Placeholder 2"/>
          <p:cNvSpPr>
            <a:spLocks noGrp="1"/>
          </p:cNvSpPr>
          <p:nvPr>
            <p:ph idx="1"/>
          </p:nvPr>
        </p:nvSpPr>
        <p:spPr/>
        <p:txBody>
          <a:bodyPr>
            <a:normAutofit/>
          </a:bodyPr>
          <a:lstStyle/>
          <a:p>
            <a:pPr>
              <a:lnSpc>
                <a:spcPct val="150000"/>
              </a:lnSpc>
              <a:buFont typeface="Wingdings" panose="05000000000000000000" pitchFamily="2" charset="2"/>
              <a:buChar char="q"/>
            </a:pPr>
            <a:r>
              <a:rPr lang="en-US" dirty="0">
                <a:latin typeface="Verdana" panose="020B0604030504040204" pitchFamily="34" charset="0"/>
                <a:ea typeface="Verdana" panose="020B0604030504040204" pitchFamily="34" charset="0"/>
              </a:rPr>
              <a:t>Coursework 40%, </a:t>
            </a:r>
          </a:p>
          <a:p>
            <a:pPr lvl="1">
              <a:lnSpc>
                <a:spcPct val="150000"/>
              </a:lnSpc>
              <a:buFont typeface="Wingdings" panose="05000000000000000000" pitchFamily="2" charset="2"/>
              <a:buChar char="q"/>
            </a:pPr>
            <a:r>
              <a:rPr lang="en-US" sz="2800" dirty="0">
                <a:latin typeface="Verdana" panose="020B0604030504040204" pitchFamily="34" charset="0"/>
                <a:ea typeface="Verdana" panose="020B0604030504040204" pitchFamily="34" charset="0"/>
              </a:rPr>
              <a:t>Practical, assignment and quizzes: (20 marks)</a:t>
            </a:r>
          </a:p>
          <a:p>
            <a:pPr lvl="1">
              <a:lnSpc>
                <a:spcPct val="150000"/>
              </a:lnSpc>
              <a:buFont typeface="Wingdings" panose="05000000000000000000" pitchFamily="2" charset="2"/>
              <a:buChar char="q"/>
            </a:pPr>
            <a:r>
              <a:rPr lang="en-US" sz="2800" dirty="0">
                <a:latin typeface="Verdana" panose="020B0604030504040204" pitchFamily="34" charset="0"/>
                <a:ea typeface="Verdana" panose="020B0604030504040204" pitchFamily="34" charset="0"/>
              </a:rPr>
              <a:t>Test1 and Test 2: (20 mark)</a:t>
            </a:r>
          </a:p>
          <a:p>
            <a:pPr lvl="1">
              <a:lnSpc>
                <a:spcPct val="150000"/>
              </a:lnSpc>
              <a:buFont typeface="Wingdings" panose="05000000000000000000" pitchFamily="2" charset="2"/>
              <a:buChar char="q"/>
            </a:pPr>
            <a:r>
              <a:rPr lang="en-US" sz="2800" dirty="0">
                <a:latin typeface="Verdana" panose="020B0604030504040204" pitchFamily="34" charset="0"/>
                <a:ea typeface="Verdana" panose="020B0604030504040204" pitchFamily="34" charset="0"/>
              </a:rPr>
              <a:t>Project and Presentations : 25% </a:t>
            </a:r>
          </a:p>
          <a:p>
            <a:pPr>
              <a:lnSpc>
                <a:spcPct val="150000"/>
              </a:lnSpc>
              <a:buFont typeface="Wingdings" panose="05000000000000000000" pitchFamily="2" charset="2"/>
              <a:buChar char="q"/>
            </a:pPr>
            <a:r>
              <a:rPr lang="en-US" dirty="0">
                <a:latin typeface="Verdana" panose="020B0604030504040204" pitchFamily="34" charset="0"/>
                <a:ea typeface="Verdana" panose="020B0604030504040204" pitchFamily="34" charset="0"/>
              </a:rPr>
              <a:t>Final Examination 60%. </a:t>
            </a:r>
          </a:p>
        </p:txBody>
      </p:sp>
    </p:spTree>
    <p:extLst>
      <p:ext uri="{BB962C8B-B14F-4D97-AF65-F5344CB8AC3E}">
        <p14:creationId xmlns:p14="http://schemas.microsoft.com/office/powerpoint/2010/main" val="2577007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46594"/>
            <a:ext cx="10515600" cy="606162"/>
          </a:xfrm>
        </p:spPr>
        <p:txBody>
          <a:bodyPr>
            <a:normAutofit fontScale="90000"/>
          </a:bodyPr>
          <a:lstStyle/>
          <a:p>
            <a:r>
              <a:rPr lang="en-US" sz="4000" b="1" dirty="0">
                <a:latin typeface="Verdana" panose="020B0604030504040204" pitchFamily="34" charset="0"/>
                <a:ea typeface="Verdana" panose="020B0604030504040204" pitchFamily="34" charset="0"/>
              </a:rPr>
              <a:t>DATA MINING CONCEPTS </a:t>
            </a:r>
            <a:endParaRPr lang="en-US" sz="2800" b="1" dirty="0">
              <a:latin typeface="Verdana" panose="020B0604030504040204" pitchFamily="34" charset="0"/>
              <a:ea typeface="Verdana" panose="020B0604030504040204" pitchFamily="34" charset="0"/>
            </a:endParaRPr>
          </a:p>
        </p:txBody>
      </p:sp>
      <p:sp>
        <p:nvSpPr>
          <p:cNvPr id="3" name="Rectangle 2"/>
          <p:cNvSpPr/>
          <p:nvPr/>
        </p:nvSpPr>
        <p:spPr>
          <a:xfrm>
            <a:off x="734785" y="748252"/>
            <a:ext cx="10722429" cy="5909310"/>
          </a:xfrm>
          <a:prstGeom prst="rect">
            <a:avLst/>
          </a:prstGeom>
        </p:spPr>
        <p:txBody>
          <a:bodyPr wrap="square">
            <a:spAutoFit/>
          </a:bodyPr>
          <a:lstStyle/>
          <a:p>
            <a:pPr marL="342900" indent="-342900" algn="just">
              <a:lnSpc>
                <a:spcPct val="150000"/>
              </a:lnSpc>
              <a:buFont typeface="Wingdings" panose="05000000000000000000" pitchFamily="2" charset="2"/>
              <a:buChar char="q"/>
            </a:pPr>
            <a:r>
              <a:rPr lang="en-US" sz="2800" dirty="0">
                <a:latin typeface="Verdana" panose="020B0604030504040204" pitchFamily="34" charset="0"/>
                <a:ea typeface="Verdana" panose="020B0604030504040204" pitchFamily="34" charset="0"/>
              </a:rPr>
              <a:t>Data warehousing is the process of collecting, storing, and managing large volumes of structured and unstructured data. </a:t>
            </a:r>
          </a:p>
          <a:p>
            <a:pPr marL="342900" indent="-342900" algn="just">
              <a:lnSpc>
                <a:spcPct val="150000"/>
              </a:lnSpc>
              <a:buFont typeface="Wingdings" panose="05000000000000000000" pitchFamily="2" charset="2"/>
              <a:buChar char="q"/>
            </a:pPr>
            <a:r>
              <a:rPr lang="en-US" sz="2800" dirty="0">
                <a:latin typeface="Verdana" panose="020B0604030504040204" pitchFamily="34" charset="0"/>
                <a:ea typeface="Verdana" panose="020B0604030504040204" pitchFamily="34" charset="0"/>
              </a:rPr>
              <a:t>This data is gathered from diverse sources within an organization and is organized in a central repository, known as a data warehouse. </a:t>
            </a:r>
          </a:p>
          <a:p>
            <a:pPr marL="342900" indent="-342900" algn="just">
              <a:lnSpc>
                <a:spcPct val="150000"/>
              </a:lnSpc>
              <a:buFont typeface="Wingdings" panose="05000000000000000000" pitchFamily="2" charset="2"/>
              <a:buChar char="q"/>
            </a:pPr>
            <a:r>
              <a:rPr lang="en-US" sz="2800" dirty="0">
                <a:latin typeface="Verdana" panose="020B0604030504040204" pitchFamily="34" charset="0"/>
                <a:ea typeface="Verdana" panose="020B0604030504040204" pitchFamily="34" charset="0"/>
              </a:rPr>
              <a:t>The primary purpose of a data warehouse is to support analytical and decision-making processes within the organization. </a:t>
            </a:r>
          </a:p>
        </p:txBody>
      </p:sp>
    </p:spTree>
    <p:extLst>
      <p:ext uri="{BB962C8B-B14F-4D97-AF65-F5344CB8AC3E}">
        <p14:creationId xmlns:p14="http://schemas.microsoft.com/office/powerpoint/2010/main" val="1270090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2091"/>
            <a:ext cx="10515600" cy="606162"/>
          </a:xfrm>
        </p:spPr>
        <p:txBody>
          <a:bodyPr>
            <a:normAutofit fontScale="90000"/>
          </a:bodyPr>
          <a:lstStyle/>
          <a:p>
            <a:r>
              <a:rPr lang="en-US" sz="4000" b="1" dirty="0">
                <a:latin typeface="Verdana" panose="020B0604030504040204" pitchFamily="34" charset="0"/>
                <a:ea typeface="Verdana" panose="020B0604030504040204" pitchFamily="34" charset="0"/>
              </a:rPr>
              <a:t>DATA MINING CONCEPTS CONT…</a:t>
            </a:r>
            <a:endParaRPr lang="en-US" sz="2800" b="1" dirty="0">
              <a:latin typeface="Verdana" panose="020B0604030504040204" pitchFamily="34" charset="0"/>
              <a:ea typeface="Verdana" panose="020B0604030504040204" pitchFamily="34" charset="0"/>
            </a:endParaRPr>
          </a:p>
        </p:txBody>
      </p:sp>
      <p:sp>
        <p:nvSpPr>
          <p:cNvPr id="3" name="Rectangle 2"/>
          <p:cNvSpPr/>
          <p:nvPr/>
        </p:nvSpPr>
        <p:spPr>
          <a:xfrm>
            <a:off x="838200" y="764986"/>
            <a:ext cx="10515600" cy="5632311"/>
          </a:xfrm>
          <a:prstGeom prst="rect">
            <a:avLst/>
          </a:prstGeom>
        </p:spPr>
        <p:txBody>
          <a:bodyPr wrap="square">
            <a:spAutoFit/>
          </a:bodyPr>
          <a:lstStyle/>
          <a:p>
            <a:pPr marL="342900" indent="-342900" algn="just">
              <a:lnSpc>
                <a:spcPct val="150000"/>
              </a:lnSpc>
              <a:buFont typeface="Wingdings" panose="05000000000000000000" pitchFamily="2" charset="2"/>
              <a:buChar char="q"/>
            </a:pPr>
            <a:r>
              <a:rPr lang="en-US" sz="2400" b="1" dirty="0">
                <a:latin typeface="Verdana" panose="020B0604030504040204" pitchFamily="34" charset="0"/>
                <a:ea typeface="Verdana" panose="020B0604030504040204" pitchFamily="34" charset="0"/>
              </a:rPr>
              <a:t>ETL (Extract, Transform, and Load) </a:t>
            </a:r>
            <a:r>
              <a:rPr lang="en-US" sz="2400" dirty="0">
                <a:latin typeface="Verdana" panose="020B0604030504040204" pitchFamily="34" charset="0"/>
                <a:ea typeface="Verdana" panose="020B0604030504040204" pitchFamily="34" charset="0"/>
              </a:rPr>
              <a:t>:ETL is the process of extracting data from various sources, transforming it into a consistent format, and loading it into a data warehouse. Transformation includes cleaning, filtering, aggregating, and converting data to ensure consistency and quality. </a:t>
            </a:r>
          </a:p>
          <a:p>
            <a:pPr marL="342900" indent="-342900" algn="just">
              <a:lnSpc>
                <a:spcPct val="150000"/>
              </a:lnSpc>
              <a:buFont typeface="Wingdings" panose="05000000000000000000" pitchFamily="2" charset="2"/>
              <a:buChar char="q"/>
            </a:pPr>
            <a:r>
              <a:rPr lang="en-US" sz="2400" b="1" dirty="0">
                <a:latin typeface="Verdana" panose="020B0604030504040204" pitchFamily="34" charset="0"/>
                <a:ea typeface="Verdana" panose="020B0604030504040204" pitchFamily="34" charset="0"/>
              </a:rPr>
              <a:t>Data Quality Management </a:t>
            </a:r>
            <a:r>
              <a:rPr lang="en-US" sz="2400" dirty="0">
                <a:latin typeface="Verdana" panose="020B0604030504040204" pitchFamily="34" charset="0"/>
                <a:ea typeface="Verdana" panose="020B0604030504040204" pitchFamily="34" charset="0"/>
              </a:rPr>
              <a:t>Data quality management ensures that data stored in the data warehouse is accurate, consistent, and reliable. It involves processes such as data cleansing, deduplication, validation, and enrichment to improve data quality. </a:t>
            </a:r>
            <a:endParaRPr lang="en-US" sz="36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978132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2091"/>
            <a:ext cx="10515600" cy="583706"/>
          </a:xfrm>
        </p:spPr>
        <p:txBody>
          <a:bodyPr>
            <a:noAutofit/>
          </a:bodyPr>
          <a:lstStyle/>
          <a:p>
            <a:pPr algn="just"/>
            <a:r>
              <a:rPr lang="en-US" sz="3200" b="1" dirty="0">
                <a:latin typeface="Verdana" panose="020B0604030504040204" pitchFamily="34" charset="0"/>
                <a:ea typeface="Verdana" panose="020B0604030504040204" pitchFamily="34" charset="0"/>
              </a:rPr>
              <a:t>CHARACTERISTICS OF DATA WAREHOUSE  </a:t>
            </a:r>
            <a:endParaRPr lang="en-US" sz="2000" b="1" dirty="0">
              <a:latin typeface="Verdana" panose="020B0604030504040204" pitchFamily="34" charset="0"/>
              <a:ea typeface="Verdana" panose="020B0604030504040204" pitchFamily="34" charset="0"/>
            </a:endParaRPr>
          </a:p>
        </p:txBody>
      </p:sp>
      <p:sp>
        <p:nvSpPr>
          <p:cNvPr id="3" name="Rectangle 2"/>
          <p:cNvSpPr/>
          <p:nvPr/>
        </p:nvSpPr>
        <p:spPr>
          <a:xfrm>
            <a:off x="653143" y="671691"/>
            <a:ext cx="11116491" cy="6186309"/>
          </a:xfrm>
          <a:prstGeom prst="rect">
            <a:avLst/>
          </a:prstGeom>
        </p:spPr>
        <p:txBody>
          <a:bodyPr wrap="square">
            <a:spAutoFit/>
          </a:bodyPr>
          <a:lstStyle/>
          <a:p>
            <a:pPr algn="just">
              <a:lnSpc>
                <a:spcPct val="150000"/>
              </a:lnSpc>
            </a:pPr>
            <a:r>
              <a:rPr lang="en-US" sz="2400" b="1" dirty="0">
                <a:latin typeface="Verdana" panose="020B0604030504040204" pitchFamily="34" charset="0"/>
                <a:ea typeface="Verdana" panose="020B0604030504040204" pitchFamily="34" charset="0"/>
              </a:rPr>
              <a:t>Subject-Oriented: </a:t>
            </a:r>
            <a:r>
              <a:rPr lang="en-US" sz="2400" dirty="0">
                <a:latin typeface="Verdana" panose="020B0604030504040204" pitchFamily="34" charset="0"/>
                <a:ea typeface="Verdana" panose="020B0604030504040204" pitchFamily="34" charset="0"/>
              </a:rPr>
              <a:t>Designed to store data that is organized around specific subjects or themes relevant to the business, such as sales, marketing, or finance. Common </a:t>
            </a:r>
            <a:r>
              <a:rPr lang="en-US" sz="2400" dirty="0" err="1">
                <a:latin typeface="Verdana" panose="020B0604030504040204" pitchFamily="34" charset="0"/>
                <a:ea typeface="Verdana" panose="020B0604030504040204" pitchFamily="34" charset="0"/>
              </a:rPr>
              <a:t>subjects:Customers</a:t>
            </a:r>
            <a:r>
              <a:rPr lang="en-US" sz="2400" dirty="0">
                <a:latin typeface="Verdana" panose="020B0604030504040204" pitchFamily="34" charset="0"/>
                <a:ea typeface="Verdana" panose="020B0604030504040204" pitchFamily="34" charset="0"/>
              </a:rPr>
              <a:t>, Sales, Products, Employees.</a:t>
            </a:r>
          </a:p>
          <a:p>
            <a:pPr algn="just">
              <a:lnSpc>
                <a:spcPct val="150000"/>
              </a:lnSpc>
            </a:pPr>
            <a:r>
              <a:rPr lang="en-US" sz="2400" b="1" dirty="0">
                <a:latin typeface="Verdana" panose="020B0604030504040204" pitchFamily="34" charset="0"/>
                <a:ea typeface="Verdana" panose="020B0604030504040204" pitchFamily="34" charset="0"/>
              </a:rPr>
              <a:t>Integrated: </a:t>
            </a:r>
            <a:r>
              <a:rPr lang="en-US" sz="2400" dirty="0">
                <a:latin typeface="Verdana" panose="020B0604030504040204" pitchFamily="34" charset="0"/>
                <a:ea typeface="Verdana" panose="020B0604030504040204" pitchFamily="34" charset="0"/>
              </a:rPr>
              <a:t>Data is collected from multiple sources and made consistent. Data is cleaned, transformed, and standardized. </a:t>
            </a:r>
            <a:r>
              <a:rPr lang="en-US" sz="2400" dirty="0" err="1">
                <a:latin typeface="Verdana" panose="020B0604030504040204" pitchFamily="34" charset="0"/>
                <a:ea typeface="Verdana" panose="020B0604030504040204" pitchFamily="34" charset="0"/>
              </a:rPr>
              <a:t>Example:Gender</a:t>
            </a:r>
            <a:r>
              <a:rPr lang="en-US" sz="2400" dirty="0">
                <a:latin typeface="Verdana" panose="020B0604030504040204" pitchFamily="34" charset="0"/>
                <a:ea typeface="Verdana" panose="020B0604030504040204" pitchFamily="34" charset="0"/>
              </a:rPr>
              <a:t> stored as 'M/F' and 'Male/Female' is unified into one format.</a:t>
            </a:r>
          </a:p>
          <a:p>
            <a:pPr algn="just">
              <a:lnSpc>
                <a:spcPct val="150000"/>
              </a:lnSpc>
            </a:pPr>
            <a:r>
              <a:rPr lang="en-US" sz="2400" b="1" dirty="0">
                <a:latin typeface="Verdana" panose="020B0604030504040204" pitchFamily="34" charset="0"/>
                <a:ea typeface="Verdana" panose="020B0604030504040204" pitchFamily="34" charset="0"/>
              </a:rPr>
              <a:t>Time-Variant: </a:t>
            </a:r>
            <a:r>
              <a:rPr lang="en-US" sz="2400" dirty="0">
                <a:latin typeface="Verdana" panose="020B0604030504040204" pitchFamily="34" charset="0"/>
                <a:ea typeface="Verdana" panose="020B0604030504040204" pitchFamily="34" charset="0"/>
              </a:rPr>
              <a:t>Data warehouses maintain historical data over time, allowing analysts to perform trend analysis, track changes, and conduct historical comparisons. </a:t>
            </a:r>
          </a:p>
        </p:txBody>
      </p:sp>
    </p:spTree>
    <p:extLst>
      <p:ext uri="{BB962C8B-B14F-4D97-AF65-F5344CB8AC3E}">
        <p14:creationId xmlns:p14="http://schemas.microsoft.com/office/powerpoint/2010/main" val="3339432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2091"/>
            <a:ext cx="10515600" cy="432675"/>
          </a:xfrm>
        </p:spPr>
        <p:txBody>
          <a:bodyPr>
            <a:noAutofit/>
          </a:bodyPr>
          <a:lstStyle/>
          <a:p>
            <a:pPr algn="just"/>
            <a:r>
              <a:rPr lang="en-US" sz="3200" b="1" dirty="0">
                <a:latin typeface="Verdana" panose="020B0604030504040204" pitchFamily="34" charset="0"/>
                <a:ea typeface="Verdana" panose="020B0604030504040204" pitchFamily="34" charset="0"/>
              </a:rPr>
              <a:t>CHARACTERISTICS OF DATA WAREHOUSE </a:t>
            </a:r>
            <a:endParaRPr lang="en-US" sz="2000" b="1" dirty="0">
              <a:latin typeface="Verdana" panose="020B0604030504040204" pitchFamily="34" charset="0"/>
              <a:ea typeface="Verdana" panose="020B0604030504040204" pitchFamily="34" charset="0"/>
            </a:endParaRPr>
          </a:p>
        </p:txBody>
      </p:sp>
      <p:sp>
        <p:nvSpPr>
          <p:cNvPr id="3" name="Rectangle 2"/>
          <p:cNvSpPr/>
          <p:nvPr/>
        </p:nvSpPr>
        <p:spPr>
          <a:xfrm>
            <a:off x="653143" y="574766"/>
            <a:ext cx="10700657" cy="6186309"/>
          </a:xfrm>
          <a:prstGeom prst="rect">
            <a:avLst/>
          </a:prstGeom>
        </p:spPr>
        <p:txBody>
          <a:bodyPr wrap="square">
            <a:spAutoFit/>
          </a:bodyPr>
          <a:lstStyle/>
          <a:p>
            <a:pPr algn="just">
              <a:lnSpc>
                <a:spcPct val="150000"/>
              </a:lnSpc>
            </a:pPr>
            <a:r>
              <a:rPr lang="en-US" sz="2400" b="1" dirty="0">
                <a:latin typeface="Verdana" panose="020B0604030504040204" pitchFamily="34" charset="0"/>
                <a:ea typeface="Verdana" panose="020B0604030504040204" pitchFamily="34" charset="0"/>
              </a:rPr>
              <a:t>Non-Volatile: </a:t>
            </a:r>
            <a:r>
              <a:rPr lang="en-US" sz="2400" dirty="0">
                <a:latin typeface="Verdana" panose="020B0604030504040204" pitchFamily="34" charset="0"/>
                <a:ea typeface="Verdana" panose="020B0604030504040204" pitchFamily="34" charset="0"/>
              </a:rPr>
              <a:t>Once data is loaded into the data warehouse, it is typically not updated or deleted frequently. Data in the warehouse is considered to be read-only or append-only, preserving the integrity of historical records. </a:t>
            </a:r>
          </a:p>
          <a:p>
            <a:pPr algn="just">
              <a:lnSpc>
                <a:spcPct val="150000"/>
              </a:lnSpc>
            </a:pPr>
            <a:r>
              <a:rPr lang="en-US" sz="2400" b="1" dirty="0">
                <a:latin typeface="Verdana" panose="020B0604030504040204" pitchFamily="34" charset="0"/>
                <a:ea typeface="Verdana" panose="020B0604030504040204" pitchFamily="34" charset="0"/>
              </a:rPr>
              <a:t>Supports Decision Making: </a:t>
            </a:r>
            <a:r>
              <a:rPr lang="en-US" sz="2400" dirty="0">
                <a:latin typeface="Verdana" panose="020B0604030504040204" pitchFamily="34" charset="0"/>
                <a:ea typeface="Verdana" panose="020B0604030504040204" pitchFamily="34" charset="0"/>
              </a:rPr>
              <a:t>Designed to support management </a:t>
            </a:r>
            <a:r>
              <a:rPr lang="en-US" sz="2400" dirty="0" err="1">
                <a:latin typeface="Verdana" panose="020B0604030504040204" pitchFamily="34" charset="0"/>
                <a:ea typeface="Verdana" panose="020B0604030504040204" pitchFamily="34" charset="0"/>
              </a:rPr>
              <a:t>decisions.Used</a:t>
            </a:r>
            <a:r>
              <a:rPr lang="en-US" sz="2400" dirty="0">
                <a:latin typeface="Verdana" panose="020B0604030504040204" pitchFamily="34" charset="0"/>
                <a:ea typeface="Verdana" panose="020B0604030504040204" pitchFamily="34" charset="0"/>
              </a:rPr>
              <a:t> for analysis, reporting, and strategic planning. Example: Managers identify top-selling products and best-performing regions.</a:t>
            </a:r>
          </a:p>
          <a:p>
            <a:pPr algn="just">
              <a:lnSpc>
                <a:spcPct val="150000"/>
              </a:lnSpc>
            </a:pPr>
            <a:r>
              <a:rPr lang="en-US" sz="2400" b="1" dirty="0">
                <a:latin typeface="Verdana" panose="020B0604030504040204" pitchFamily="34" charset="0"/>
                <a:ea typeface="Verdana" panose="020B0604030504040204" pitchFamily="34" charset="0"/>
              </a:rPr>
              <a:t>Large-Scale Storage: </a:t>
            </a:r>
            <a:r>
              <a:rPr lang="en-US" sz="2400" dirty="0">
                <a:latin typeface="Verdana" panose="020B0604030504040204" pitchFamily="34" charset="0"/>
                <a:ea typeface="Verdana" panose="020B0604030504040204" pitchFamily="34" charset="0"/>
              </a:rPr>
              <a:t>Data warehouses are capable of storing large volumes of data, including historical records spanning many years. </a:t>
            </a:r>
            <a:endParaRPr lang="en-US" sz="2400" dirty="0"/>
          </a:p>
        </p:txBody>
      </p:sp>
    </p:spTree>
    <p:extLst>
      <p:ext uri="{BB962C8B-B14F-4D97-AF65-F5344CB8AC3E}">
        <p14:creationId xmlns:p14="http://schemas.microsoft.com/office/powerpoint/2010/main" val="4145637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5671" y="311908"/>
            <a:ext cx="10515600" cy="432675"/>
          </a:xfrm>
        </p:spPr>
        <p:txBody>
          <a:bodyPr>
            <a:noAutofit/>
          </a:bodyPr>
          <a:lstStyle/>
          <a:p>
            <a:pPr algn="just"/>
            <a:r>
              <a:rPr lang="en-US" sz="2800" b="1" dirty="0">
                <a:latin typeface="Verdana" panose="020B0604030504040204" pitchFamily="34" charset="0"/>
                <a:ea typeface="Verdana" panose="020B0604030504040204" pitchFamily="34" charset="0"/>
              </a:rPr>
              <a:t>GOALS AND OBJECTIVES OF DATA WAREHOUSE </a:t>
            </a:r>
            <a:endParaRPr lang="en-US" sz="1200" b="1" dirty="0">
              <a:latin typeface="Verdana" panose="020B0604030504040204" pitchFamily="34" charset="0"/>
              <a:ea typeface="Verdana" panose="020B0604030504040204" pitchFamily="34" charset="0"/>
            </a:endParaRPr>
          </a:p>
        </p:txBody>
      </p:sp>
      <p:sp>
        <p:nvSpPr>
          <p:cNvPr id="3" name="Rectangle 2"/>
          <p:cNvSpPr/>
          <p:nvPr/>
        </p:nvSpPr>
        <p:spPr>
          <a:xfrm>
            <a:off x="653143" y="849086"/>
            <a:ext cx="10700657" cy="5557612"/>
          </a:xfrm>
          <a:prstGeom prst="rect">
            <a:avLst/>
          </a:prstGeom>
        </p:spPr>
        <p:txBody>
          <a:bodyPr wrap="square">
            <a:spAutoFit/>
          </a:bodyPr>
          <a:lstStyle/>
          <a:p>
            <a:pPr algn="just">
              <a:lnSpc>
                <a:spcPct val="150000"/>
              </a:lnSpc>
            </a:pPr>
            <a:r>
              <a:rPr lang="en-US" sz="2400" dirty="0">
                <a:latin typeface="Verdana" panose="020B0604030504040204" pitchFamily="34" charset="0"/>
                <a:ea typeface="Verdana" panose="020B0604030504040204" pitchFamily="34" charset="0"/>
              </a:rPr>
              <a:t>Enabling organizations to effectively manage and utilize their data </a:t>
            </a:r>
            <a:r>
              <a:rPr lang="en-US" sz="2400" b="1" dirty="0">
                <a:latin typeface="Verdana" panose="020B0604030504040204" pitchFamily="34" charset="0"/>
                <a:ea typeface="Verdana" panose="020B0604030504040204" pitchFamily="34" charset="0"/>
              </a:rPr>
              <a:t>assets </a:t>
            </a:r>
            <a:r>
              <a:rPr lang="en-US" sz="2400" dirty="0">
                <a:latin typeface="Verdana" panose="020B0604030504040204" pitchFamily="34" charset="0"/>
                <a:ea typeface="Verdana" panose="020B0604030504040204" pitchFamily="34" charset="0"/>
              </a:rPr>
              <a:t>for strategic decision-making, business intelligence, and operational excellence. </a:t>
            </a:r>
          </a:p>
          <a:p>
            <a:pPr algn="just">
              <a:lnSpc>
                <a:spcPct val="150000"/>
              </a:lnSpc>
            </a:pPr>
            <a:r>
              <a:rPr lang="en-US" sz="2400" dirty="0">
                <a:latin typeface="Verdana" panose="020B0604030504040204" pitchFamily="34" charset="0"/>
                <a:ea typeface="Verdana" panose="020B0604030504040204" pitchFamily="34" charset="0"/>
              </a:rPr>
              <a:t>•Centralized Data Repository </a:t>
            </a:r>
          </a:p>
          <a:p>
            <a:pPr algn="just">
              <a:lnSpc>
                <a:spcPct val="150000"/>
              </a:lnSpc>
            </a:pPr>
            <a:r>
              <a:rPr lang="en-US" sz="2400" dirty="0">
                <a:latin typeface="Verdana" panose="020B0604030504040204" pitchFamily="34" charset="0"/>
                <a:ea typeface="Verdana" panose="020B0604030504040204" pitchFamily="34" charset="0"/>
              </a:rPr>
              <a:t>•Data Integration and Consistency </a:t>
            </a:r>
          </a:p>
          <a:p>
            <a:pPr algn="just">
              <a:lnSpc>
                <a:spcPct val="150000"/>
              </a:lnSpc>
            </a:pPr>
            <a:r>
              <a:rPr lang="en-US" sz="2400" dirty="0">
                <a:latin typeface="Verdana" panose="020B0604030504040204" pitchFamily="34" charset="0"/>
                <a:ea typeface="Verdana" panose="020B0604030504040204" pitchFamily="34" charset="0"/>
              </a:rPr>
              <a:t>•Historical Data Storage </a:t>
            </a:r>
          </a:p>
          <a:p>
            <a:pPr algn="just">
              <a:lnSpc>
                <a:spcPct val="150000"/>
              </a:lnSpc>
            </a:pPr>
            <a:r>
              <a:rPr lang="en-US" sz="2400" dirty="0">
                <a:latin typeface="Verdana" panose="020B0604030504040204" pitchFamily="34" charset="0"/>
                <a:ea typeface="Verdana" panose="020B0604030504040204" pitchFamily="34" charset="0"/>
              </a:rPr>
              <a:t>•Optimized Query Performance </a:t>
            </a:r>
          </a:p>
          <a:p>
            <a:pPr algn="just">
              <a:lnSpc>
                <a:spcPct val="150000"/>
              </a:lnSpc>
            </a:pPr>
            <a:r>
              <a:rPr lang="en-US" sz="2400" dirty="0">
                <a:latin typeface="Verdana" panose="020B0604030504040204" pitchFamily="34" charset="0"/>
                <a:ea typeface="Verdana" panose="020B0604030504040204" pitchFamily="34" charset="0"/>
              </a:rPr>
              <a:t>•Support for Decision Making  </a:t>
            </a:r>
          </a:p>
          <a:p>
            <a:pPr algn="just">
              <a:lnSpc>
                <a:spcPct val="150000"/>
              </a:lnSpc>
            </a:pPr>
            <a:r>
              <a:rPr lang="en-US" sz="2400" dirty="0">
                <a:latin typeface="Verdana" panose="020B0604030504040204" pitchFamily="34" charset="0"/>
                <a:ea typeface="Verdana" panose="020B0604030504040204" pitchFamily="34" charset="0"/>
              </a:rPr>
              <a:t>•Data Quality and Governance </a:t>
            </a:r>
          </a:p>
          <a:p>
            <a:pPr algn="just">
              <a:lnSpc>
                <a:spcPct val="150000"/>
              </a:lnSpc>
            </a:pPr>
            <a:r>
              <a:rPr lang="en-US" sz="2400" dirty="0">
                <a:latin typeface="Verdana" panose="020B0604030504040204" pitchFamily="34" charset="0"/>
                <a:ea typeface="Verdana" panose="020B0604030504040204" pitchFamily="34" charset="0"/>
              </a:rPr>
              <a:t>•Alignment with Business Objectives </a:t>
            </a:r>
          </a:p>
        </p:txBody>
      </p:sp>
    </p:spTree>
    <p:extLst>
      <p:ext uri="{BB962C8B-B14F-4D97-AF65-F5344CB8AC3E}">
        <p14:creationId xmlns:p14="http://schemas.microsoft.com/office/powerpoint/2010/main" val="2642432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5671" y="311908"/>
            <a:ext cx="10515600" cy="432675"/>
          </a:xfrm>
        </p:spPr>
        <p:txBody>
          <a:bodyPr>
            <a:noAutofit/>
          </a:bodyPr>
          <a:lstStyle/>
          <a:p>
            <a:pPr algn="just"/>
            <a:r>
              <a:rPr lang="en-US" sz="3200" b="1" dirty="0">
                <a:latin typeface="Verdana" panose="020B0604030504040204" pitchFamily="34" charset="0"/>
                <a:ea typeface="Verdana" panose="020B0604030504040204" pitchFamily="34" charset="0"/>
              </a:rPr>
              <a:t>BENEFITS OF A DATA WAREHOUSE</a:t>
            </a:r>
            <a:endParaRPr lang="en-US" sz="1400" b="1" dirty="0">
              <a:latin typeface="Verdana" panose="020B0604030504040204" pitchFamily="34" charset="0"/>
              <a:ea typeface="Verdana" panose="020B0604030504040204" pitchFamily="34" charset="0"/>
            </a:endParaRPr>
          </a:p>
        </p:txBody>
      </p:sp>
      <p:sp>
        <p:nvSpPr>
          <p:cNvPr id="3" name="Rectangle 2"/>
          <p:cNvSpPr/>
          <p:nvPr/>
        </p:nvSpPr>
        <p:spPr>
          <a:xfrm>
            <a:off x="653143" y="849086"/>
            <a:ext cx="10700657" cy="5860835"/>
          </a:xfrm>
          <a:prstGeom prst="rect">
            <a:avLst/>
          </a:prstGeom>
        </p:spPr>
        <p:txBody>
          <a:bodyPr wrap="square">
            <a:spAutoFit/>
          </a:bodyPr>
          <a:lstStyle/>
          <a:p>
            <a:pPr marL="342900" indent="-342900" algn="just">
              <a:lnSpc>
                <a:spcPct val="150000"/>
              </a:lnSpc>
              <a:buFont typeface="Wingdings" panose="05000000000000000000" pitchFamily="2" charset="2"/>
              <a:buChar char="q"/>
            </a:pPr>
            <a:r>
              <a:rPr lang="en-US" sz="2300" dirty="0">
                <a:latin typeface="Verdana" panose="020B0604030504040204" pitchFamily="34" charset="0"/>
                <a:ea typeface="Verdana" panose="020B0604030504040204" pitchFamily="34" charset="0"/>
              </a:rPr>
              <a:t>Better Decision Making: A data warehouse helps organizations make </a:t>
            </a:r>
            <a:r>
              <a:rPr lang="en-US" sz="2300" b="1" dirty="0">
                <a:latin typeface="Verdana" panose="020B0604030504040204" pitchFamily="34" charset="0"/>
                <a:ea typeface="Verdana" panose="020B0604030504040204" pitchFamily="34" charset="0"/>
              </a:rPr>
              <a:t>accurate and informed decisions</a:t>
            </a:r>
            <a:r>
              <a:rPr lang="en-US" sz="2300" dirty="0">
                <a:latin typeface="Verdana" panose="020B0604030504040204" pitchFamily="34" charset="0"/>
                <a:ea typeface="Verdana" panose="020B0604030504040204" pitchFamily="34" charset="0"/>
              </a:rPr>
              <a:t>.</a:t>
            </a:r>
          </a:p>
          <a:p>
            <a:pPr marL="342900" indent="-342900" algn="just">
              <a:lnSpc>
                <a:spcPct val="150000"/>
              </a:lnSpc>
              <a:buFont typeface="Wingdings" panose="05000000000000000000" pitchFamily="2" charset="2"/>
              <a:buChar char="q"/>
            </a:pPr>
            <a:r>
              <a:rPr lang="en-US" sz="2300" dirty="0">
                <a:latin typeface="Verdana" panose="020B0604030504040204" pitchFamily="34" charset="0"/>
                <a:ea typeface="Verdana" panose="020B0604030504040204" pitchFamily="34" charset="0"/>
              </a:rPr>
              <a:t>Improved Data Quality: Data is </a:t>
            </a:r>
            <a:r>
              <a:rPr lang="en-US" sz="2300" b="1" dirty="0">
                <a:latin typeface="Verdana" panose="020B0604030504040204" pitchFamily="34" charset="0"/>
                <a:ea typeface="Verdana" panose="020B0604030504040204" pitchFamily="34" charset="0"/>
              </a:rPr>
              <a:t>cleaned and standardized</a:t>
            </a:r>
            <a:r>
              <a:rPr lang="en-US" sz="2300" dirty="0">
                <a:latin typeface="Verdana" panose="020B0604030504040204" pitchFamily="34" charset="0"/>
                <a:ea typeface="Verdana" panose="020B0604030504040204" pitchFamily="34" charset="0"/>
              </a:rPr>
              <a:t> before storing.</a:t>
            </a:r>
          </a:p>
          <a:p>
            <a:pPr marL="342900" indent="-342900" algn="just">
              <a:lnSpc>
                <a:spcPct val="150000"/>
              </a:lnSpc>
              <a:buFont typeface="Wingdings" panose="05000000000000000000" pitchFamily="2" charset="2"/>
              <a:buChar char="q"/>
            </a:pPr>
            <a:r>
              <a:rPr lang="en-US" sz="2300" dirty="0">
                <a:latin typeface="Verdana" panose="020B0604030504040204" pitchFamily="34" charset="0"/>
                <a:ea typeface="Verdana" panose="020B0604030504040204" pitchFamily="34" charset="0"/>
              </a:rPr>
              <a:t>Faster Reporting and Querying : Allows </a:t>
            </a:r>
            <a:r>
              <a:rPr lang="en-US" sz="2300" b="1" dirty="0">
                <a:latin typeface="Verdana" panose="020B0604030504040204" pitchFamily="34" charset="0"/>
                <a:ea typeface="Verdana" panose="020B0604030504040204" pitchFamily="34" charset="0"/>
              </a:rPr>
              <a:t>quick access to information</a:t>
            </a:r>
            <a:r>
              <a:rPr lang="en-US" sz="2300" dirty="0">
                <a:latin typeface="Verdana" panose="020B0604030504040204" pitchFamily="34" charset="0"/>
                <a:ea typeface="Verdana" panose="020B0604030504040204" pitchFamily="34" charset="0"/>
              </a:rPr>
              <a:t>.</a:t>
            </a:r>
          </a:p>
          <a:p>
            <a:pPr marL="342900" indent="-342900" algn="just">
              <a:lnSpc>
                <a:spcPct val="150000"/>
              </a:lnSpc>
              <a:buFont typeface="Wingdings" panose="05000000000000000000" pitchFamily="2" charset="2"/>
              <a:buChar char="q"/>
            </a:pPr>
            <a:r>
              <a:rPr lang="en-US" sz="2300" dirty="0">
                <a:latin typeface="Verdana" panose="020B0604030504040204" pitchFamily="34" charset="0"/>
                <a:ea typeface="Verdana" panose="020B0604030504040204" pitchFamily="34" charset="0"/>
              </a:rPr>
              <a:t>Data Integration : Combines data from </a:t>
            </a:r>
            <a:r>
              <a:rPr lang="en-US" sz="2300" b="1" dirty="0">
                <a:latin typeface="Verdana" panose="020B0604030504040204" pitchFamily="34" charset="0"/>
                <a:ea typeface="Verdana" panose="020B0604030504040204" pitchFamily="34" charset="0"/>
              </a:rPr>
              <a:t>multiple sources into one system</a:t>
            </a:r>
            <a:r>
              <a:rPr lang="en-US" sz="2300" dirty="0">
                <a:latin typeface="Verdana" panose="020B0604030504040204" pitchFamily="34" charset="0"/>
                <a:ea typeface="Verdana" panose="020B0604030504040204" pitchFamily="34" charset="0"/>
              </a:rPr>
              <a:t>.</a:t>
            </a:r>
          </a:p>
          <a:p>
            <a:pPr marL="342900" indent="-342900" algn="just">
              <a:lnSpc>
                <a:spcPct val="150000"/>
              </a:lnSpc>
              <a:buFont typeface="Wingdings" panose="05000000000000000000" pitchFamily="2" charset="2"/>
              <a:buChar char="q"/>
            </a:pPr>
            <a:r>
              <a:rPr lang="en-US" sz="2300" dirty="0">
                <a:latin typeface="Verdana" panose="020B0604030504040204" pitchFamily="34" charset="0"/>
                <a:ea typeface="Verdana" panose="020B0604030504040204" pitchFamily="34" charset="0"/>
              </a:rPr>
              <a:t>Historical Data Analysis : Stores data over a </a:t>
            </a:r>
            <a:r>
              <a:rPr lang="en-US" sz="2300" b="1" dirty="0">
                <a:latin typeface="Verdana" panose="020B0604030504040204" pitchFamily="34" charset="0"/>
                <a:ea typeface="Verdana" panose="020B0604030504040204" pitchFamily="34" charset="0"/>
              </a:rPr>
              <a:t>long period of time</a:t>
            </a:r>
            <a:r>
              <a:rPr lang="en-US" sz="2300" dirty="0">
                <a:latin typeface="Verdana" panose="020B0604030504040204" pitchFamily="34" charset="0"/>
                <a:ea typeface="Verdana" panose="020B0604030504040204" pitchFamily="34" charset="0"/>
              </a:rPr>
              <a:t>.</a:t>
            </a:r>
          </a:p>
          <a:p>
            <a:pPr marL="342900" indent="-342900" algn="just">
              <a:lnSpc>
                <a:spcPct val="150000"/>
              </a:lnSpc>
              <a:buFont typeface="Wingdings" panose="05000000000000000000" pitchFamily="2" charset="2"/>
              <a:buChar char="q"/>
            </a:pPr>
            <a:r>
              <a:rPr lang="en-US" sz="2300" dirty="0">
                <a:latin typeface="Verdana" panose="020B0604030504040204" pitchFamily="34" charset="0"/>
                <a:ea typeface="Verdana" panose="020B0604030504040204" pitchFamily="34" charset="0"/>
              </a:rPr>
              <a:t>Data Consistency : Ensures data is </a:t>
            </a:r>
            <a:r>
              <a:rPr lang="en-US" sz="2300" b="1" dirty="0">
                <a:latin typeface="Verdana" panose="020B0604030504040204" pitchFamily="34" charset="0"/>
                <a:ea typeface="Verdana" panose="020B0604030504040204" pitchFamily="34" charset="0"/>
              </a:rPr>
              <a:t>uniform across the organization</a:t>
            </a:r>
            <a:r>
              <a:rPr lang="en-US" sz="2300" dirty="0">
                <a:latin typeface="Verdana" panose="020B0604030504040204" pitchFamily="34" charset="0"/>
                <a:ea typeface="Verdana" panose="020B0604030504040204" pitchFamily="34" charset="0"/>
              </a:rPr>
              <a:t>.</a:t>
            </a:r>
          </a:p>
        </p:txBody>
      </p:sp>
    </p:spTree>
    <p:extLst>
      <p:ext uri="{BB962C8B-B14F-4D97-AF65-F5344CB8AC3E}">
        <p14:creationId xmlns:p14="http://schemas.microsoft.com/office/powerpoint/2010/main" val="3177054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307" y="272719"/>
            <a:ext cx="10515600" cy="432675"/>
          </a:xfrm>
        </p:spPr>
        <p:txBody>
          <a:bodyPr>
            <a:noAutofit/>
          </a:bodyPr>
          <a:lstStyle/>
          <a:p>
            <a:pPr algn="just"/>
            <a:r>
              <a:rPr lang="en-US" sz="3200" b="1" dirty="0">
                <a:latin typeface="Verdana" panose="020B0604030504040204" pitchFamily="34" charset="0"/>
                <a:ea typeface="Verdana" panose="020B0604030504040204" pitchFamily="34" charset="0"/>
              </a:rPr>
              <a:t>CASE STUDIES OF DATA WAREHOUSING</a:t>
            </a:r>
            <a:endParaRPr lang="en-US" sz="1400" b="1" dirty="0">
              <a:latin typeface="Verdana" panose="020B0604030504040204" pitchFamily="34" charset="0"/>
              <a:ea typeface="Verdana" panose="020B0604030504040204" pitchFamily="34" charset="0"/>
            </a:endParaRPr>
          </a:p>
        </p:txBody>
      </p:sp>
      <p:sp>
        <p:nvSpPr>
          <p:cNvPr id="3" name="Rectangle 2"/>
          <p:cNvSpPr/>
          <p:nvPr/>
        </p:nvSpPr>
        <p:spPr>
          <a:xfrm>
            <a:off x="719547" y="836023"/>
            <a:ext cx="11247120" cy="5632311"/>
          </a:xfrm>
          <a:prstGeom prst="rect">
            <a:avLst/>
          </a:prstGeom>
        </p:spPr>
        <p:txBody>
          <a:bodyPr wrap="square">
            <a:spAutoFit/>
          </a:bodyPr>
          <a:lstStyle/>
          <a:p>
            <a:pPr>
              <a:lnSpc>
                <a:spcPct val="150000"/>
              </a:lnSpc>
            </a:pPr>
            <a:r>
              <a:rPr lang="en-US" sz="2000" b="1" dirty="0">
                <a:latin typeface="Verdana" panose="020B0604030504040204" pitchFamily="34" charset="0"/>
                <a:ea typeface="Verdana" panose="020B0604030504040204" pitchFamily="34" charset="0"/>
              </a:rPr>
              <a:t>1. Retail Industry – Walmart</a:t>
            </a:r>
          </a:p>
          <a:p>
            <a:pPr>
              <a:lnSpc>
                <a:spcPct val="150000"/>
              </a:lnSpc>
            </a:pPr>
            <a:r>
              <a:rPr lang="en-US" sz="2000" b="1" dirty="0">
                <a:latin typeface="Verdana" panose="020B0604030504040204" pitchFamily="34" charset="0"/>
                <a:ea typeface="Verdana" panose="020B0604030504040204" pitchFamily="34" charset="0"/>
              </a:rPr>
              <a:t>Problem: </a:t>
            </a:r>
            <a:r>
              <a:rPr lang="en-US" sz="2000" dirty="0">
                <a:latin typeface="Verdana" panose="020B0604030504040204" pitchFamily="34" charset="0"/>
                <a:ea typeface="Verdana" panose="020B0604030504040204" pitchFamily="34" charset="0"/>
              </a:rPr>
              <a:t>Walmart had massive amounts of sales data from different stores worldwide but lacked a centralized system for analysis.</a:t>
            </a:r>
          </a:p>
          <a:p>
            <a:pPr>
              <a:lnSpc>
                <a:spcPct val="150000"/>
              </a:lnSpc>
            </a:pPr>
            <a:r>
              <a:rPr lang="en-US" sz="2000" b="1" dirty="0">
                <a:latin typeface="Verdana" panose="020B0604030504040204" pitchFamily="34" charset="0"/>
                <a:ea typeface="Verdana" panose="020B0604030504040204" pitchFamily="34" charset="0"/>
              </a:rPr>
              <a:t>Solution: </a:t>
            </a:r>
            <a:r>
              <a:rPr lang="en-US" sz="2000" dirty="0">
                <a:latin typeface="Verdana" panose="020B0604030504040204" pitchFamily="34" charset="0"/>
                <a:ea typeface="Verdana" panose="020B0604030504040204" pitchFamily="34" charset="0"/>
              </a:rPr>
              <a:t>They implemented a large-scale </a:t>
            </a:r>
            <a:r>
              <a:rPr lang="en-US" sz="2000" b="1" dirty="0">
                <a:latin typeface="Verdana" panose="020B0604030504040204" pitchFamily="34" charset="0"/>
                <a:ea typeface="Verdana" panose="020B0604030504040204" pitchFamily="34" charset="0"/>
              </a:rPr>
              <a:t>data warehouse</a:t>
            </a:r>
            <a:r>
              <a:rPr lang="en-US" sz="2000" dirty="0">
                <a:latin typeface="Verdana" panose="020B0604030504040204" pitchFamily="34" charset="0"/>
                <a:ea typeface="Verdana" panose="020B0604030504040204" pitchFamily="34" charset="0"/>
              </a:rPr>
              <a:t> to integrate data from:</a:t>
            </a:r>
          </a:p>
          <a:p>
            <a:pPr>
              <a:lnSpc>
                <a:spcPct val="150000"/>
              </a:lnSpc>
            </a:pPr>
            <a:r>
              <a:rPr lang="en-US" sz="2000" dirty="0">
                <a:latin typeface="Verdana" panose="020B0604030504040204" pitchFamily="34" charset="0"/>
                <a:ea typeface="Verdana" panose="020B0604030504040204" pitchFamily="34" charset="0"/>
              </a:rPr>
              <a:t>Point of Sale (POS) systems </a:t>
            </a:r>
          </a:p>
          <a:p>
            <a:pPr>
              <a:lnSpc>
                <a:spcPct val="150000"/>
              </a:lnSpc>
            </a:pPr>
            <a:r>
              <a:rPr lang="en-US" sz="2000" dirty="0">
                <a:latin typeface="Verdana" panose="020B0604030504040204" pitchFamily="34" charset="0"/>
                <a:ea typeface="Verdana" panose="020B0604030504040204" pitchFamily="34" charset="0"/>
              </a:rPr>
              <a:t>Inventory systems </a:t>
            </a:r>
          </a:p>
          <a:p>
            <a:pPr>
              <a:lnSpc>
                <a:spcPct val="150000"/>
              </a:lnSpc>
            </a:pPr>
            <a:r>
              <a:rPr lang="en-US" sz="2000" dirty="0">
                <a:latin typeface="Verdana" panose="020B0604030504040204" pitchFamily="34" charset="0"/>
                <a:ea typeface="Verdana" panose="020B0604030504040204" pitchFamily="34" charset="0"/>
              </a:rPr>
              <a:t>Supply chain data </a:t>
            </a:r>
          </a:p>
          <a:p>
            <a:pPr>
              <a:lnSpc>
                <a:spcPct val="150000"/>
              </a:lnSpc>
            </a:pPr>
            <a:r>
              <a:rPr lang="en-US" sz="2000" b="1" dirty="0">
                <a:latin typeface="Verdana" panose="020B0604030504040204" pitchFamily="34" charset="0"/>
                <a:ea typeface="Verdana" panose="020B0604030504040204" pitchFamily="34" charset="0"/>
              </a:rPr>
              <a:t>Outcome:</a:t>
            </a:r>
            <a:endParaRPr lang="en-US" sz="2000" dirty="0">
              <a:latin typeface="Verdana" panose="020B0604030504040204" pitchFamily="34" charset="0"/>
              <a:ea typeface="Verdana" panose="020B0604030504040204" pitchFamily="34" charset="0"/>
            </a:endParaRPr>
          </a:p>
          <a:p>
            <a:pPr>
              <a:lnSpc>
                <a:spcPct val="150000"/>
              </a:lnSpc>
            </a:pPr>
            <a:r>
              <a:rPr lang="en-US" sz="2000" dirty="0">
                <a:latin typeface="Verdana" panose="020B0604030504040204" pitchFamily="34" charset="0"/>
                <a:ea typeface="Verdana" panose="020B0604030504040204" pitchFamily="34" charset="0"/>
              </a:rPr>
              <a:t>Real-time sales tracking </a:t>
            </a:r>
          </a:p>
          <a:p>
            <a:pPr>
              <a:lnSpc>
                <a:spcPct val="150000"/>
              </a:lnSpc>
            </a:pPr>
            <a:r>
              <a:rPr lang="en-US" sz="2000" dirty="0">
                <a:latin typeface="Verdana" panose="020B0604030504040204" pitchFamily="34" charset="0"/>
                <a:ea typeface="Verdana" panose="020B0604030504040204" pitchFamily="34" charset="0"/>
              </a:rPr>
              <a:t>Improved inventory management </a:t>
            </a:r>
          </a:p>
          <a:p>
            <a:pPr>
              <a:lnSpc>
                <a:spcPct val="150000"/>
              </a:lnSpc>
            </a:pPr>
            <a:r>
              <a:rPr lang="en-US" sz="2000" dirty="0">
                <a:latin typeface="Verdana" panose="020B0604030504040204" pitchFamily="34" charset="0"/>
                <a:ea typeface="Verdana" panose="020B0604030504040204" pitchFamily="34" charset="0"/>
              </a:rPr>
              <a:t>Better demand forecasting</a:t>
            </a:r>
          </a:p>
          <a:p>
            <a:pPr>
              <a:lnSpc>
                <a:spcPct val="150000"/>
              </a:lnSpc>
            </a:pPr>
            <a:r>
              <a:rPr lang="en-US" sz="2000" dirty="0">
                <a:latin typeface="Verdana" panose="020B0604030504040204" pitchFamily="34" charset="0"/>
                <a:ea typeface="Verdana" panose="020B0604030504040204" pitchFamily="34" charset="0"/>
              </a:rPr>
              <a:t>Example: If a product sells fast in one region, restocking decisions are automated.</a:t>
            </a:r>
          </a:p>
        </p:txBody>
      </p:sp>
    </p:spTree>
    <p:extLst>
      <p:ext uri="{BB962C8B-B14F-4D97-AF65-F5344CB8AC3E}">
        <p14:creationId xmlns:p14="http://schemas.microsoft.com/office/powerpoint/2010/main" val="25408880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307" y="272719"/>
            <a:ext cx="10515600" cy="432675"/>
          </a:xfrm>
        </p:spPr>
        <p:txBody>
          <a:bodyPr>
            <a:noAutofit/>
          </a:bodyPr>
          <a:lstStyle/>
          <a:p>
            <a:pPr algn="just"/>
            <a:r>
              <a:rPr lang="en-US" sz="3200" b="1" dirty="0">
                <a:latin typeface="Verdana" panose="020B0604030504040204" pitchFamily="34" charset="0"/>
                <a:ea typeface="Verdana" panose="020B0604030504040204" pitchFamily="34" charset="0"/>
              </a:rPr>
              <a:t>CASE STUDIES OF DATA WAREHOUSING</a:t>
            </a:r>
            <a:endParaRPr lang="en-US" sz="1400" b="1" dirty="0">
              <a:latin typeface="Verdana" panose="020B0604030504040204" pitchFamily="34" charset="0"/>
              <a:ea typeface="Verdana" panose="020B0604030504040204" pitchFamily="34" charset="0"/>
            </a:endParaRPr>
          </a:p>
        </p:txBody>
      </p:sp>
      <p:sp>
        <p:nvSpPr>
          <p:cNvPr id="3" name="Rectangle 2"/>
          <p:cNvSpPr/>
          <p:nvPr/>
        </p:nvSpPr>
        <p:spPr>
          <a:xfrm>
            <a:off x="719547" y="836023"/>
            <a:ext cx="11247120" cy="5632311"/>
          </a:xfrm>
          <a:prstGeom prst="rect">
            <a:avLst/>
          </a:prstGeom>
        </p:spPr>
        <p:txBody>
          <a:bodyPr wrap="square">
            <a:spAutoFit/>
          </a:bodyPr>
          <a:lstStyle/>
          <a:p>
            <a:pPr>
              <a:lnSpc>
                <a:spcPct val="150000"/>
              </a:lnSpc>
            </a:pPr>
            <a:r>
              <a:rPr lang="en-US" sz="2000" b="1" dirty="0">
                <a:latin typeface="Verdana" panose="020B0604030504040204" pitchFamily="34" charset="0"/>
                <a:ea typeface="Verdana" panose="020B0604030504040204" pitchFamily="34" charset="0"/>
              </a:rPr>
              <a:t>1. Retail Industry – Walmart</a:t>
            </a:r>
          </a:p>
          <a:p>
            <a:pPr>
              <a:lnSpc>
                <a:spcPct val="150000"/>
              </a:lnSpc>
            </a:pPr>
            <a:r>
              <a:rPr lang="en-US" sz="2000" b="1" dirty="0">
                <a:latin typeface="Verdana" panose="020B0604030504040204" pitchFamily="34" charset="0"/>
                <a:ea typeface="Verdana" panose="020B0604030504040204" pitchFamily="34" charset="0"/>
              </a:rPr>
              <a:t>Problem: </a:t>
            </a:r>
            <a:r>
              <a:rPr lang="en-US" sz="2000" dirty="0">
                <a:latin typeface="Verdana" panose="020B0604030504040204" pitchFamily="34" charset="0"/>
                <a:ea typeface="Verdana" panose="020B0604030504040204" pitchFamily="34" charset="0"/>
              </a:rPr>
              <a:t>Walmart had massive amounts of sales data from different stores worldwide but lacked a centralized system for analysis.</a:t>
            </a:r>
          </a:p>
          <a:p>
            <a:pPr>
              <a:lnSpc>
                <a:spcPct val="150000"/>
              </a:lnSpc>
            </a:pPr>
            <a:r>
              <a:rPr lang="en-US" sz="2000" b="1" dirty="0">
                <a:latin typeface="Verdana" panose="020B0604030504040204" pitchFamily="34" charset="0"/>
                <a:ea typeface="Verdana" panose="020B0604030504040204" pitchFamily="34" charset="0"/>
              </a:rPr>
              <a:t>Solution: </a:t>
            </a:r>
            <a:r>
              <a:rPr lang="en-US" sz="2000" dirty="0">
                <a:latin typeface="Verdana" panose="020B0604030504040204" pitchFamily="34" charset="0"/>
                <a:ea typeface="Verdana" panose="020B0604030504040204" pitchFamily="34" charset="0"/>
              </a:rPr>
              <a:t>They implemented a large-scale </a:t>
            </a:r>
            <a:r>
              <a:rPr lang="en-US" sz="2000" b="1" dirty="0">
                <a:latin typeface="Verdana" panose="020B0604030504040204" pitchFamily="34" charset="0"/>
                <a:ea typeface="Verdana" panose="020B0604030504040204" pitchFamily="34" charset="0"/>
              </a:rPr>
              <a:t>data warehouse</a:t>
            </a:r>
            <a:r>
              <a:rPr lang="en-US" sz="2000" dirty="0">
                <a:latin typeface="Verdana" panose="020B0604030504040204" pitchFamily="34" charset="0"/>
                <a:ea typeface="Verdana" panose="020B0604030504040204" pitchFamily="34" charset="0"/>
              </a:rPr>
              <a:t> to integrate data from:</a:t>
            </a:r>
          </a:p>
          <a:p>
            <a:pPr>
              <a:lnSpc>
                <a:spcPct val="150000"/>
              </a:lnSpc>
            </a:pPr>
            <a:r>
              <a:rPr lang="en-US" sz="2000" dirty="0">
                <a:latin typeface="Verdana" panose="020B0604030504040204" pitchFamily="34" charset="0"/>
                <a:ea typeface="Verdana" panose="020B0604030504040204" pitchFamily="34" charset="0"/>
              </a:rPr>
              <a:t>Point of Sale (POS) systems </a:t>
            </a:r>
          </a:p>
          <a:p>
            <a:pPr>
              <a:lnSpc>
                <a:spcPct val="150000"/>
              </a:lnSpc>
            </a:pPr>
            <a:r>
              <a:rPr lang="en-US" sz="2000" dirty="0">
                <a:latin typeface="Verdana" panose="020B0604030504040204" pitchFamily="34" charset="0"/>
                <a:ea typeface="Verdana" panose="020B0604030504040204" pitchFamily="34" charset="0"/>
              </a:rPr>
              <a:t>Inventory systems </a:t>
            </a:r>
          </a:p>
          <a:p>
            <a:pPr>
              <a:lnSpc>
                <a:spcPct val="150000"/>
              </a:lnSpc>
            </a:pPr>
            <a:r>
              <a:rPr lang="en-US" sz="2000" dirty="0">
                <a:latin typeface="Verdana" panose="020B0604030504040204" pitchFamily="34" charset="0"/>
                <a:ea typeface="Verdana" panose="020B0604030504040204" pitchFamily="34" charset="0"/>
              </a:rPr>
              <a:t>Supply chain data </a:t>
            </a:r>
          </a:p>
          <a:p>
            <a:pPr>
              <a:lnSpc>
                <a:spcPct val="150000"/>
              </a:lnSpc>
            </a:pPr>
            <a:r>
              <a:rPr lang="en-US" sz="2000" b="1" dirty="0">
                <a:latin typeface="Verdana" panose="020B0604030504040204" pitchFamily="34" charset="0"/>
                <a:ea typeface="Verdana" panose="020B0604030504040204" pitchFamily="34" charset="0"/>
              </a:rPr>
              <a:t>Outcome:</a:t>
            </a:r>
            <a:endParaRPr lang="en-US" sz="2000" dirty="0">
              <a:latin typeface="Verdana" panose="020B0604030504040204" pitchFamily="34" charset="0"/>
              <a:ea typeface="Verdana" panose="020B0604030504040204" pitchFamily="34" charset="0"/>
            </a:endParaRPr>
          </a:p>
          <a:p>
            <a:pPr>
              <a:lnSpc>
                <a:spcPct val="150000"/>
              </a:lnSpc>
            </a:pPr>
            <a:r>
              <a:rPr lang="en-US" sz="2000" dirty="0">
                <a:latin typeface="Verdana" panose="020B0604030504040204" pitchFamily="34" charset="0"/>
                <a:ea typeface="Verdana" panose="020B0604030504040204" pitchFamily="34" charset="0"/>
              </a:rPr>
              <a:t>Real-time sales tracking </a:t>
            </a:r>
          </a:p>
          <a:p>
            <a:pPr>
              <a:lnSpc>
                <a:spcPct val="150000"/>
              </a:lnSpc>
            </a:pPr>
            <a:r>
              <a:rPr lang="en-US" sz="2000" dirty="0">
                <a:latin typeface="Verdana" panose="020B0604030504040204" pitchFamily="34" charset="0"/>
                <a:ea typeface="Verdana" panose="020B0604030504040204" pitchFamily="34" charset="0"/>
              </a:rPr>
              <a:t>Improved inventory management </a:t>
            </a:r>
          </a:p>
          <a:p>
            <a:pPr>
              <a:lnSpc>
                <a:spcPct val="150000"/>
              </a:lnSpc>
            </a:pPr>
            <a:r>
              <a:rPr lang="en-US" sz="2000" dirty="0">
                <a:latin typeface="Verdana" panose="020B0604030504040204" pitchFamily="34" charset="0"/>
                <a:ea typeface="Verdana" panose="020B0604030504040204" pitchFamily="34" charset="0"/>
              </a:rPr>
              <a:t>Better demand forecasting</a:t>
            </a:r>
          </a:p>
          <a:p>
            <a:pPr>
              <a:lnSpc>
                <a:spcPct val="150000"/>
              </a:lnSpc>
            </a:pPr>
            <a:r>
              <a:rPr lang="en-US" sz="2000" dirty="0">
                <a:latin typeface="Verdana" panose="020B0604030504040204" pitchFamily="34" charset="0"/>
                <a:ea typeface="Verdana" panose="020B0604030504040204" pitchFamily="34" charset="0"/>
              </a:rPr>
              <a:t>Example: If a product sells fast in one region, restocking decisions are automated.</a:t>
            </a:r>
          </a:p>
        </p:txBody>
      </p:sp>
    </p:spTree>
    <p:extLst>
      <p:ext uri="{BB962C8B-B14F-4D97-AF65-F5344CB8AC3E}">
        <p14:creationId xmlns:p14="http://schemas.microsoft.com/office/powerpoint/2010/main" val="2278861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307" y="272719"/>
            <a:ext cx="10515600" cy="432675"/>
          </a:xfrm>
        </p:spPr>
        <p:txBody>
          <a:bodyPr>
            <a:noAutofit/>
          </a:bodyPr>
          <a:lstStyle/>
          <a:p>
            <a:pPr algn="just"/>
            <a:r>
              <a:rPr lang="en-US" sz="3200" b="1" dirty="0">
                <a:latin typeface="Verdana" panose="020B0604030504040204" pitchFamily="34" charset="0"/>
                <a:ea typeface="Verdana" panose="020B0604030504040204" pitchFamily="34" charset="0"/>
              </a:rPr>
              <a:t>CASE STUDIES OF DATA WAREHOUSING</a:t>
            </a:r>
            <a:endParaRPr lang="en-US" sz="1400" b="1" dirty="0">
              <a:latin typeface="Verdana" panose="020B0604030504040204" pitchFamily="34" charset="0"/>
              <a:ea typeface="Verdana" panose="020B0604030504040204" pitchFamily="34" charset="0"/>
            </a:endParaRPr>
          </a:p>
        </p:txBody>
      </p:sp>
      <p:sp>
        <p:nvSpPr>
          <p:cNvPr id="3" name="Rectangle 2"/>
          <p:cNvSpPr/>
          <p:nvPr/>
        </p:nvSpPr>
        <p:spPr>
          <a:xfrm>
            <a:off x="971006" y="875211"/>
            <a:ext cx="10080171" cy="5678478"/>
          </a:xfrm>
          <a:prstGeom prst="rect">
            <a:avLst/>
          </a:prstGeom>
        </p:spPr>
        <p:txBody>
          <a:bodyPr wrap="square">
            <a:spAutoFit/>
          </a:bodyPr>
          <a:lstStyle/>
          <a:p>
            <a:pPr algn="just">
              <a:lnSpc>
                <a:spcPct val="150000"/>
              </a:lnSpc>
            </a:pPr>
            <a:r>
              <a:rPr lang="en-US" sz="2200" b="1" dirty="0">
                <a:latin typeface="Verdana" panose="020B0604030504040204" pitchFamily="34" charset="0"/>
                <a:ea typeface="Verdana" panose="020B0604030504040204" pitchFamily="34" charset="0"/>
              </a:rPr>
              <a:t>2. Healthcare – National Health Service (NHS)</a:t>
            </a:r>
          </a:p>
          <a:p>
            <a:pPr algn="just">
              <a:lnSpc>
                <a:spcPct val="150000"/>
              </a:lnSpc>
            </a:pPr>
            <a:r>
              <a:rPr lang="en-US" sz="2200" b="1" dirty="0">
                <a:latin typeface="Verdana" panose="020B0604030504040204" pitchFamily="34" charset="0"/>
                <a:ea typeface="Verdana" panose="020B0604030504040204" pitchFamily="34" charset="0"/>
              </a:rPr>
              <a:t>Problem: </a:t>
            </a:r>
            <a:r>
              <a:rPr lang="en-US" sz="2200" dirty="0">
                <a:latin typeface="Verdana" panose="020B0604030504040204" pitchFamily="34" charset="0"/>
                <a:ea typeface="Verdana" panose="020B0604030504040204" pitchFamily="34" charset="0"/>
              </a:rPr>
              <a:t>Patient data stored in separate hospitals and systems.</a:t>
            </a:r>
          </a:p>
          <a:p>
            <a:pPr algn="just">
              <a:lnSpc>
                <a:spcPct val="150000"/>
              </a:lnSpc>
            </a:pPr>
            <a:r>
              <a:rPr lang="en-US" sz="2200" b="1" dirty="0">
                <a:latin typeface="Verdana" panose="020B0604030504040204" pitchFamily="34" charset="0"/>
                <a:ea typeface="Verdana" panose="020B0604030504040204" pitchFamily="34" charset="0"/>
              </a:rPr>
              <a:t>Solution: </a:t>
            </a:r>
            <a:r>
              <a:rPr lang="en-US" sz="2200" dirty="0">
                <a:latin typeface="Verdana" panose="020B0604030504040204" pitchFamily="34" charset="0"/>
                <a:ea typeface="Verdana" panose="020B0604030504040204" pitchFamily="34" charset="0"/>
              </a:rPr>
              <a:t>Implemented a data warehouse to combine:</a:t>
            </a:r>
          </a:p>
          <a:p>
            <a:pPr algn="just">
              <a:lnSpc>
                <a:spcPct val="150000"/>
              </a:lnSpc>
            </a:pPr>
            <a:r>
              <a:rPr lang="en-US" sz="2200" dirty="0">
                <a:latin typeface="Verdana" panose="020B0604030504040204" pitchFamily="34" charset="0"/>
                <a:ea typeface="Verdana" panose="020B0604030504040204" pitchFamily="34" charset="0"/>
              </a:rPr>
              <a:t>Patient records </a:t>
            </a:r>
          </a:p>
          <a:p>
            <a:pPr algn="just">
              <a:lnSpc>
                <a:spcPct val="150000"/>
              </a:lnSpc>
            </a:pPr>
            <a:r>
              <a:rPr lang="en-US" sz="2200" dirty="0">
                <a:latin typeface="Verdana" panose="020B0604030504040204" pitchFamily="34" charset="0"/>
                <a:ea typeface="Verdana" panose="020B0604030504040204" pitchFamily="34" charset="0"/>
              </a:rPr>
              <a:t>Treatment histories </a:t>
            </a:r>
          </a:p>
          <a:p>
            <a:pPr algn="just">
              <a:lnSpc>
                <a:spcPct val="150000"/>
              </a:lnSpc>
            </a:pPr>
            <a:r>
              <a:rPr lang="en-US" sz="2200" dirty="0">
                <a:latin typeface="Verdana" panose="020B0604030504040204" pitchFamily="34" charset="0"/>
                <a:ea typeface="Verdana" panose="020B0604030504040204" pitchFamily="34" charset="0"/>
              </a:rPr>
              <a:t>Hospital performance data </a:t>
            </a:r>
          </a:p>
          <a:p>
            <a:pPr algn="just">
              <a:lnSpc>
                <a:spcPct val="150000"/>
              </a:lnSpc>
            </a:pPr>
            <a:r>
              <a:rPr lang="en-US" sz="2200" b="1" dirty="0">
                <a:latin typeface="Verdana" panose="020B0604030504040204" pitchFamily="34" charset="0"/>
                <a:ea typeface="Verdana" panose="020B0604030504040204" pitchFamily="34" charset="0"/>
              </a:rPr>
              <a:t>Outcome:</a:t>
            </a:r>
            <a:endParaRPr lang="en-US" sz="2200" dirty="0">
              <a:latin typeface="Verdana" panose="020B0604030504040204" pitchFamily="34" charset="0"/>
              <a:ea typeface="Verdana" panose="020B0604030504040204" pitchFamily="34" charset="0"/>
            </a:endParaRPr>
          </a:p>
          <a:p>
            <a:pPr algn="just">
              <a:lnSpc>
                <a:spcPct val="150000"/>
              </a:lnSpc>
            </a:pPr>
            <a:r>
              <a:rPr lang="en-US" sz="2200" dirty="0">
                <a:latin typeface="Verdana" panose="020B0604030504040204" pitchFamily="34" charset="0"/>
                <a:ea typeface="Verdana" panose="020B0604030504040204" pitchFamily="34" charset="0"/>
              </a:rPr>
              <a:t>Improved patient care </a:t>
            </a:r>
          </a:p>
          <a:p>
            <a:pPr algn="just">
              <a:lnSpc>
                <a:spcPct val="150000"/>
              </a:lnSpc>
            </a:pPr>
            <a:r>
              <a:rPr lang="en-US" sz="2200" dirty="0">
                <a:latin typeface="Verdana" panose="020B0604030504040204" pitchFamily="34" charset="0"/>
                <a:ea typeface="Verdana" panose="020B0604030504040204" pitchFamily="34" charset="0"/>
              </a:rPr>
              <a:t>Better disease tracking </a:t>
            </a:r>
          </a:p>
          <a:p>
            <a:pPr algn="just">
              <a:lnSpc>
                <a:spcPct val="150000"/>
              </a:lnSpc>
            </a:pPr>
            <a:r>
              <a:rPr lang="en-US" sz="2200" dirty="0">
                <a:latin typeface="Verdana" panose="020B0604030504040204" pitchFamily="34" charset="0"/>
                <a:ea typeface="Verdana" panose="020B0604030504040204" pitchFamily="34" charset="0"/>
              </a:rPr>
              <a:t>Efficient resource allocation</a:t>
            </a:r>
          </a:p>
          <a:p>
            <a:pPr algn="just">
              <a:lnSpc>
                <a:spcPct val="150000"/>
              </a:lnSpc>
            </a:pPr>
            <a:r>
              <a:rPr lang="en-US" sz="2400" dirty="0">
                <a:latin typeface="Verdana" panose="020B0604030504040204" pitchFamily="34" charset="0"/>
                <a:ea typeface="Verdana" panose="020B0604030504040204" pitchFamily="34" charset="0"/>
              </a:rPr>
              <a:t>Example: Tracking outbreaks and treatment success rates.</a:t>
            </a:r>
            <a:endParaRPr lang="en-US" sz="22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1008292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PFI"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22501</TotalTime>
  <Words>1193</Words>
  <Application>Microsoft Office PowerPoint</Application>
  <PresentationFormat>Widescreen</PresentationFormat>
  <Paragraphs>93</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Verdana</vt:lpstr>
      <vt:lpstr>Wingdings</vt:lpstr>
      <vt:lpstr>Office Theme</vt:lpstr>
      <vt:lpstr>Introduction to data warehouse</vt:lpstr>
      <vt:lpstr>Class norms:</vt:lpstr>
      <vt:lpstr>Why Decent and Appropriate Attire? </vt:lpstr>
      <vt:lpstr>Course Description:</vt:lpstr>
      <vt:lpstr>Learning Outcomes:</vt:lpstr>
      <vt:lpstr> Assessment : </vt:lpstr>
      <vt:lpstr>DATA MINING CONCEPTS </vt:lpstr>
      <vt:lpstr>DATA MINING CONCEPTS CONT…</vt:lpstr>
      <vt:lpstr>CHARACTERISTICS OF DATA WAREHOUSE  </vt:lpstr>
      <vt:lpstr>CHARACTERISTICS OF DATA WAREHOUSE </vt:lpstr>
      <vt:lpstr>GOALS AND OBJECTIVES OF DATA WAREHOUSE </vt:lpstr>
      <vt:lpstr>BENEFITS OF A DATA WAREHOUSE</vt:lpstr>
      <vt:lpstr>CASE STUDIES OF DATA WAREHOUSING</vt:lpstr>
      <vt:lpstr>CASE STUDIES OF DATA WAREHOUSING</vt:lpstr>
      <vt:lpstr>CASE STUDIES OF DATA WAREHOUSING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1101: IT Application in Education</dc:title>
  <dc:creator>Asus</dc:creator>
  <cp:lastModifiedBy>MUDHAKKIR-313</cp:lastModifiedBy>
  <cp:revision>175</cp:revision>
  <dcterms:created xsi:type="dcterms:W3CDTF">2025-11-13T05:34:38Z</dcterms:created>
  <dcterms:modified xsi:type="dcterms:W3CDTF">2026-07-24T12:11:34Z</dcterms:modified>
</cp:coreProperties>
</file>