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2" r:id="rId4"/>
    <p:sldId id="271" r:id="rId5"/>
    <p:sldId id="273" r:id="rId6"/>
    <p:sldId id="274" r:id="rId7"/>
    <p:sldId id="278" r:id="rId8"/>
    <p:sldId id="275" r:id="rId9"/>
    <p:sldId id="276" r:id="rId10"/>
    <p:sldId id="277" r:id="rId11"/>
    <p:sldId id="282" r:id="rId12"/>
    <p:sldId id="279" r:id="rId13"/>
    <p:sldId id="280" r:id="rId14"/>
    <p:sldId id="281" r:id="rId15"/>
    <p:sldId id="283" r:id="rId16"/>
    <p:sldId id="284" r:id="rId17"/>
    <p:sldId id="285" r:id="rId18"/>
    <p:sldId id="28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1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65944B-3979-4ECC-811F-E003F0AE9495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DFDB4-5FF5-4484-B577-2D50FC031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8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131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77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7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02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526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12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655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13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255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301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439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545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678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76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33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410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77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34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01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172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68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07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31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1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729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A0669-E84A-4B96-A551-52BE95EF1770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248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7169" y="965057"/>
            <a:ext cx="9144000" cy="814387"/>
          </a:xfrm>
        </p:spPr>
        <p:txBody>
          <a:bodyPr>
            <a:noAutofit/>
          </a:bodyPr>
          <a:lstStyle/>
          <a:p>
            <a:r>
              <a:rPr lang="en-US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Clustering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29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32523" y="568037"/>
            <a:ext cx="11201400" cy="2899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Clustering is the process of grouping similar objects together and separating dissimilar objects into different groups.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500" b="1" dirty="0">
                <a:latin typeface="Verdana" panose="020B0604030504040204" pitchFamily="34" charset="0"/>
                <a:ea typeface="Verdana" panose="020B0604030504040204" pitchFamily="34" charset="0"/>
              </a:rPr>
              <a:t>cluster</a:t>
            </a: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 is a collection of data objects that are: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Similar to each other within the same </a:t>
            </a:r>
            <a:r>
              <a:rPr lang="en-US" sz="2500" dirty="0" smtClean="0">
                <a:latin typeface="Verdana" panose="020B0604030504040204" pitchFamily="34" charset="0"/>
                <a:ea typeface="Verdana" panose="020B0604030504040204" pitchFamily="34" charset="0"/>
              </a:rPr>
              <a:t>group (Intra-cluster)</a:t>
            </a:r>
            <a:endParaRPr lang="en-US" sz="2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dirty="0" smtClean="0">
                <a:latin typeface="Verdana" panose="020B0604030504040204" pitchFamily="34" charset="0"/>
                <a:ea typeface="Verdana" panose="020B0604030504040204" pitchFamily="34" charset="0"/>
              </a:rPr>
              <a:t>Different </a:t>
            </a: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from objects in other </a:t>
            </a:r>
            <a:r>
              <a:rPr lang="en-US" sz="2500" dirty="0" smtClean="0">
                <a:latin typeface="Verdana" panose="020B0604030504040204" pitchFamily="34" charset="0"/>
                <a:ea typeface="Verdana" panose="020B0604030504040204" pitchFamily="34" charset="0"/>
              </a:rPr>
              <a:t>groups(Inter-cluster)</a:t>
            </a:r>
            <a:endParaRPr lang="en-US" sz="25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43326"/>
              </p:ext>
            </p:extLst>
          </p:nvPr>
        </p:nvGraphicFramePr>
        <p:xfrm>
          <a:off x="678872" y="4269875"/>
          <a:ext cx="10276177" cy="2286000"/>
        </p:xfrm>
        <a:graphic>
          <a:graphicData uri="http://schemas.openxmlformats.org/drawingml/2006/table">
            <a:tbl>
              <a:tblPr/>
              <a:tblGrid>
                <a:gridCol w="3261159">
                  <a:extLst>
                    <a:ext uri="{9D8B030D-6E8A-4147-A177-3AD203B41FA5}">
                      <a16:colId xmlns:a16="http://schemas.microsoft.com/office/drawing/2014/main" val="787047745"/>
                    </a:ext>
                  </a:extLst>
                </a:gridCol>
                <a:gridCol w="3507509">
                  <a:extLst>
                    <a:ext uri="{9D8B030D-6E8A-4147-A177-3AD203B41FA5}">
                      <a16:colId xmlns:a16="http://schemas.microsoft.com/office/drawing/2014/main" val="1405635815"/>
                    </a:ext>
                  </a:extLst>
                </a:gridCol>
                <a:gridCol w="3507509">
                  <a:extLst>
                    <a:ext uri="{9D8B030D-6E8A-4147-A177-3AD203B41FA5}">
                      <a16:colId xmlns:a16="http://schemas.microsoft.com/office/drawing/2014/main" val="866025026"/>
                    </a:ext>
                  </a:extLst>
                </a:gridCol>
              </a:tblGrid>
              <a:tr h="440040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Student</a:t>
                      </a:r>
                      <a:endParaRPr lang="en-US" sz="24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Study Hours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7171614"/>
                  </a:ext>
                </a:extLst>
              </a:tr>
              <a:tr h="4400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142155"/>
                  </a:ext>
                </a:extLst>
              </a:tr>
              <a:tr h="4400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6733977"/>
                  </a:ext>
                </a:extLst>
              </a:tr>
              <a:tr h="440040">
                <a:tc>
                  <a:txBody>
                    <a:bodyPr/>
                    <a:lstStyle/>
                    <a:p>
                      <a:r>
                        <a:rPr lang="en-US" sz="2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4373736"/>
                  </a:ext>
                </a:extLst>
              </a:tr>
              <a:tr h="440040">
                <a:tc>
                  <a:txBody>
                    <a:bodyPr/>
                    <a:lstStyle/>
                    <a:p>
                      <a:r>
                        <a:rPr lang="en-US" sz="2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8218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2762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2333" y="180745"/>
            <a:ext cx="77652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Supervised vs Unsupervised Learning</a:t>
            </a:r>
            <a:endParaRPr lang="en-US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863968"/>
              </p:ext>
            </p:extLst>
          </p:nvPr>
        </p:nvGraphicFramePr>
        <p:xfrm>
          <a:off x="877166" y="4297781"/>
          <a:ext cx="10515600" cy="15544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9833616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650854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746944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Customer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4687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Premium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3688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Standard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0714471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99655" y="833690"/>
            <a:ext cx="1037012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Supervised </a:t>
            </a:r>
            <a:r>
              <a:rPr lang="en-U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Learning: </a:t>
            </a: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already contains labels</a:t>
            </a: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The algorithm learns from known answers.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Classification </a:t>
            </a:r>
            <a:endParaRPr lang="en-US" sz="2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Prediction</a:t>
            </a:r>
            <a:endParaRPr lang="en-US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064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24627" y="139182"/>
            <a:ext cx="77652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Supervised vs Unsupervised Learning</a:t>
            </a:r>
            <a:endParaRPr lang="en-US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49460" y="1079665"/>
            <a:ext cx="10601326" cy="27876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Unsupervised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Learning: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No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labels are provided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The algorithm discovers hidden patterns itself.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Clustering belongs to Unsupervised Learning.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en-US" sz="24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239890"/>
              </p:ext>
            </p:extLst>
          </p:nvPr>
        </p:nvGraphicFramePr>
        <p:xfrm>
          <a:off x="849460" y="3662703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69303058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053403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949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4663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791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1960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24628" y="319291"/>
            <a:ext cx="77652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Supervised vs Unsupervised Learning</a:t>
            </a:r>
            <a:endParaRPr lang="en-US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112871"/>
              </p:ext>
            </p:extLst>
          </p:nvPr>
        </p:nvGraphicFramePr>
        <p:xfrm>
          <a:off x="1302328" y="1050327"/>
          <a:ext cx="10141527" cy="5308908"/>
        </p:xfrm>
        <a:graphic>
          <a:graphicData uri="http://schemas.openxmlformats.org/drawingml/2006/table">
            <a:tbl>
              <a:tblPr/>
              <a:tblGrid>
                <a:gridCol w="3380509">
                  <a:extLst>
                    <a:ext uri="{9D8B030D-6E8A-4147-A177-3AD203B41FA5}">
                      <a16:colId xmlns:a16="http://schemas.microsoft.com/office/drawing/2014/main" val="1064750538"/>
                    </a:ext>
                  </a:extLst>
                </a:gridCol>
                <a:gridCol w="3380509">
                  <a:extLst>
                    <a:ext uri="{9D8B030D-6E8A-4147-A177-3AD203B41FA5}">
                      <a16:colId xmlns:a16="http://schemas.microsoft.com/office/drawing/2014/main" val="884345888"/>
                    </a:ext>
                  </a:extLst>
                </a:gridCol>
                <a:gridCol w="3380509">
                  <a:extLst>
                    <a:ext uri="{9D8B030D-6E8A-4147-A177-3AD203B41FA5}">
                      <a16:colId xmlns:a16="http://schemas.microsoft.com/office/drawing/2014/main" val="2531568118"/>
                    </a:ext>
                  </a:extLst>
                </a:gridCol>
              </a:tblGrid>
              <a:tr h="11689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2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Supervised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Unsupervised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0043805"/>
                  </a:ext>
                </a:extLst>
              </a:tr>
              <a:tr h="63317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Labeled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Unlabeled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4366295"/>
                  </a:ext>
                </a:extLst>
              </a:tr>
              <a:tr h="116893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Predict known outcomes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Discover hidden patterns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1462330"/>
                  </a:ext>
                </a:extLst>
              </a:tr>
              <a:tr h="116893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Learns from input-output examples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Learns from data structure itself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53728204"/>
                  </a:ext>
                </a:extLst>
              </a:tr>
              <a:tr h="116893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Predictions or classifications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Clusters, groups, associations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9320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1315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0332" y="305437"/>
            <a:ext cx="57935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Why Do We Use Clustering?</a:t>
            </a:r>
            <a:endParaRPr lang="en-US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22218" y="1161165"/>
            <a:ext cx="10266219" cy="397031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Better Understanding of </a:t>
            </a:r>
            <a:r>
              <a:rPr lang="en-U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: </a:t>
            </a: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Large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datasets become easier to analyze.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Reduction: </a:t>
            </a: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Instead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of analyzing millions of records, we analyze cluster representatives.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Outlier </a:t>
            </a:r>
            <a:r>
              <a:rPr lang="en-U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Detection: </a:t>
            </a: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Abnormal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records can be identified and removed.</a:t>
            </a:r>
          </a:p>
        </p:txBody>
      </p:sp>
    </p:spTree>
    <p:extLst>
      <p:ext uri="{BB962C8B-B14F-4D97-AF65-F5344CB8AC3E}">
        <p14:creationId xmlns:p14="http://schemas.microsoft.com/office/powerpoint/2010/main" val="240158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17263" y="139182"/>
            <a:ext cx="53799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Applications of Clustering</a:t>
            </a:r>
            <a:endParaRPr lang="en-US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45128" y="1105747"/>
            <a:ext cx="10586504" cy="34163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Marketing (Customer Segmentation):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Customers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are grouped according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to: </a:t>
            </a:r>
            <a:r>
              <a:rPr lang="en-US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Age,Income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, Buying behavior.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Document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Analysis(Topic Detection):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Documents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discussing similar subjects are grouped together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Image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Processing(Image Segmentation):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Pixels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with similar colors are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grouped. Used in: Satellite imagery.</a:t>
            </a:r>
          </a:p>
        </p:txBody>
      </p:sp>
    </p:spTree>
    <p:extLst>
      <p:ext uri="{BB962C8B-B14F-4D97-AF65-F5344CB8AC3E}">
        <p14:creationId xmlns:p14="http://schemas.microsoft.com/office/powerpoint/2010/main" val="2178736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09615" y="1049340"/>
            <a:ext cx="4846058" cy="52629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Partitioning Methods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Data is divided into K groups.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Examples: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K-Means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K-</a:t>
            </a:r>
            <a:r>
              <a:rPr lang="en-US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Medoids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PAM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CLARANS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35466" y="133659"/>
            <a:ext cx="4084773" cy="5716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Clustering Approaches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77852" y="1049340"/>
            <a:ext cx="6096000" cy="538609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Hierarchical methods </a:t>
            </a:r>
            <a:r>
              <a:rPr lang="en-US" sz="240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form </a:t>
            </a: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tree of </a:t>
            </a:r>
            <a:r>
              <a:rPr lang="en-US" sz="240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clusters. The root </a:t>
            </a: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contains all </a:t>
            </a:r>
            <a:r>
              <a:rPr lang="en-US" sz="240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nodes; </a:t>
            </a: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leaves are individual data points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Methods: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AGNES</a:t>
            </a:r>
            <a:r>
              <a:rPr lang="en-US" sz="240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DIANA</a:t>
            </a:r>
            <a:r>
              <a:rPr lang="en-US" sz="240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BIRCH, </a:t>
            </a:r>
            <a:endParaRPr lang="en-US" sz="2400" dirty="0" smtClean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CHAMELEON</a:t>
            </a: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endParaRPr lang="en-US" sz="2400" dirty="0" smtClean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ROCK</a:t>
            </a:r>
            <a:endParaRPr lang="en-US" sz="24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20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058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58876" y="262883"/>
            <a:ext cx="41120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K-Means Clustering</a:t>
            </a:r>
            <a:endParaRPr lang="en-US" sz="8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37590" y="1138674"/>
            <a:ext cx="95321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This is the most important algorithm in the chapter.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Why is K-Means Popular?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Easy to understand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Easy to implement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Fast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Available in most software tools </a:t>
            </a:r>
          </a:p>
        </p:txBody>
      </p:sp>
    </p:spTree>
    <p:extLst>
      <p:ext uri="{BB962C8B-B14F-4D97-AF65-F5344CB8AC3E}">
        <p14:creationId xmlns:p14="http://schemas.microsoft.com/office/powerpoint/2010/main" val="604818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23287" y="332157"/>
            <a:ext cx="42627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K-Means Algorithms</a:t>
            </a:r>
            <a:endParaRPr lang="en-US" sz="8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77636" y="1318643"/>
            <a:ext cx="10210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Step 1: Choose K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Centroids: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centroid is the center of a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cluster. Initially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chosen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randomly.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Step 2: Assign Data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Points.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Each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point joins the nearest centroid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Step 3: Recalculate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Centroids.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Compute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new cluster centers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Step 4: Reassign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Points.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Points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may move to different clusters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Step 5: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Repeat: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Continue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until no more changes occur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431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44960" y="512266"/>
            <a:ext cx="42627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K-Means Algorithms</a:t>
            </a:r>
            <a:endParaRPr lang="en-US" sz="8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77636" y="1318643"/>
            <a:ext cx="10210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Suppose the data mining task is to cluster points into three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clusters, where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the points are A1(2,10), A2(2,5), A3(8,4), B1(5,8), B2(7,5), B3(6,4), C1(1,2), and C2(4,9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). The distance function is Euclidean distance. Suppose the initially given clusters are A1, B1, and C1 as the </a:t>
            </a:r>
            <a:r>
              <a:rPr lang="en-US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centre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of each cluster, respectively. Find the final clusters.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753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47403" y="193610"/>
            <a:ext cx="4464684" cy="6515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Problems of K-Means</a:t>
            </a:r>
            <a:endParaRPr lang="en-US" sz="6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82596" y="1052189"/>
            <a:ext cx="10301041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Local </a:t>
            </a:r>
            <a:r>
              <a:rPr lang="en-U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Optimum: </a:t>
            </a: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algorithm may find a good </a:t>
            </a: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solution,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but not the best solution</a:t>
            </a: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Works Only with Numerical </a:t>
            </a:r>
            <a:r>
              <a:rPr lang="en-U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Data: </a:t>
            </a: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Cannot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directly handle text </a:t>
            </a: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data.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Must Specify </a:t>
            </a:r>
            <a:r>
              <a:rPr lang="en-U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K: </a:t>
            </a: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number of clusters must be known before starting</a:t>
            </a: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Sensitive to Initial </a:t>
            </a:r>
            <a:r>
              <a:rPr lang="en-U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Centroids: </a:t>
            </a: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Different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starting points may produce different results. </a:t>
            </a:r>
          </a:p>
        </p:txBody>
      </p:sp>
    </p:spTree>
    <p:extLst>
      <p:ext uri="{BB962C8B-B14F-4D97-AF65-F5344CB8AC3E}">
        <p14:creationId xmlns:p14="http://schemas.microsoft.com/office/powerpoint/2010/main" val="1938880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6956" y="110483"/>
            <a:ext cx="8586005" cy="5716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Choosing the Number of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Clusters (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Knee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Method)</a:t>
            </a:r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0108" y="682114"/>
            <a:ext cx="7024256" cy="618630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Compute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the total sum-of-squares error, for various values of k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The location of a ‘knee’ is an indicator of the appropriate number of clusters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The knee gives a small enough value of k with low error, past which we get diminishing returns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As we increase k, the error will decrease, reaching zero when the number of clusters is equal to the number of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points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058" y="1464719"/>
            <a:ext cx="4601688" cy="337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44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26105" y="110483"/>
            <a:ext cx="5227713" cy="5716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Evaluating Clustering Quality</a:t>
            </a:r>
            <a:endParaRPr lang="en-US" sz="6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5288" y="762008"/>
            <a:ext cx="10900239" cy="586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Purity: </a:t>
            </a:r>
            <a:r>
              <a:rPr lang="en-US" sz="2300" dirty="0" smtClean="0">
                <a:latin typeface="Verdana" panose="020B0604030504040204" pitchFamily="34" charset="0"/>
                <a:ea typeface="Verdana" panose="020B0604030504040204" pitchFamily="34" charset="0"/>
              </a:rPr>
              <a:t>Measures </a:t>
            </a:r>
            <a:r>
              <a:rPr lang="en-US" sz="2300" dirty="0">
                <a:latin typeface="Verdana" panose="020B0604030504040204" pitchFamily="34" charset="0"/>
                <a:ea typeface="Verdana" panose="020B0604030504040204" pitchFamily="34" charset="0"/>
              </a:rPr>
              <a:t>how many objects are correctly </a:t>
            </a:r>
            <a:r>
              <a:rPr lang="en-US" sz="23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grouped.Ranges</a:t>
            </a:r>
            <a:r>
              <a:rPr lang="en-US" sz="2300" dirty="0" smtClean="0">
                <a:latin typeface="Verdana" panose="020B0604030504040204" pitchFamily="34" charset="0"/>
                <a:ea typeface="Verdana" panose="020B0604030504040204" pitchFamily="34" charset="0"/>
              </a:rPr>
              <a:t> from 0 to 1.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2300" dirty="0">
                <a:latin typeface="Verdana" panose="020B0604030504040204" pitchFamily="34" charset="0"/>
                <a:ea typeface="Verdana" panose="020B0604030504040204" pitchFamily="34" charset="0"/>
              </a:rPr>
              <a:t>1 = Perfect clustering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2300" dirty="0">
                <a:latin typeface="Verdana" panose="020B0604030504040204" pitchFamily="34" charset="0"/>
                <a:ea typeface="Verdana" panose="020B0604030504040204" pitchFamily="34" charset="0"/>
              </a:rPr>
              <a:t>0 = Poor clustering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b="1" dirty="0">
                <a:latin typeface="Verdana" panose="020B0604030504040204" pitchFamily="34" charset="0"/>
                <a:ea typeface="Verdana" panose="020B0604030504040204" pitchFamily="34" charset="0"/>
              </a:rPr>
              <a:t>Entropy</a:t>
            </a:r>
            <a:r>
              <a:rPr lang="en-US" sz="2300" dirty="0">
                <a:latin typeface="Verdana" panose="020B0604030504040204" pitchFamily="34" charset="0"/>
                <a:ea typeface="Verdana" panose="020B0604030504040204" pitchFamily="34" charset="0"/>
              </a:rPr>
              <a:t> is a measure of </a:t>
            </a:r>
            <a:r>
              <a:rPr lang="en-US" sz="2300" b="1" dirty="0">
                <a:latin typeface="Verdana" panose="020B0604030504040204" pitchFamily="34" charset="0"/>
                <a:ea typeface="Verdana" panose="020B0604030504040204" pitchFamily="34" charset="0"/>
              </a:rPr>
              <a:t>disorder, impurity, or uncertainty</a:t>
            </a:r>
            <a:r>
              <a:rPr lang="en-US" sz="2300" dirty="0">
                <a:latin typeface="Verdana" panose="020B0604030504040204" pitchFamily="34" charset="0"/>
                <a:ea typeface="Verdana" panose="020B0604030504040204" pitchFamily="34" charset="0"/>
              </a:rPr>
              <a:t> within a cluster.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Low </a:t>
            </a:r>
            <a:r>
              <a:rPr lang="en-US" sz="2300" b="1" dirty="0">
                <a:latin typeface="Verdana" panose="020B0604030504040204" pitchFamily="34" charset="0"/>
                <a:ea typeface="Verdana" panose="020B0604030504040204" pitchFamily="34" charset="0"/>
              </a:rPr>
              <a:t>Entropy</a:t>
            </a:r>
            <a:r>
              <a:rPr lang="en-US" sz="2300" dirty="0">
                <a:latin typeface="Verdana" panose="020B0604030504040204" pitchFamily="34" charset="0"/>
                <a:ea typeface="Verdana" panose="020B0604030504040204" pitchFamily="34" charset="0"/>
              </a:rPr>
              <a:t> → Cluster contains mostly similar objects → Good cluster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b="1" dirty="0">
                <a:latin typeface="Verdana" panose="020B0604030504040204" pitchFamily="34" charset="0"/>
                <a:ea typeface="Verdana" panose="020B0604030504040204" pitchFamily="34" charset="0"/>
              </a:rPr>
              <a:t>High Entropy</a:t>
            </a:r>
            <a:r>
              <a:rPr lang="en-US" sz="2300" dirty="0">
                <a:latin typeface="Verdana" panose="020B0604030504040204" pitchFamily="34" charset="0"/>
                <a:ea typeface="Verdana" panose="020B0604030504040204" pitchFamily="34" charset="0"/>
              </a:rPr>
              <a:t> → Cluster contains many different types of objects → Poor cluster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b="1" dirty="0">
                <a:latin typeface="Verdana" panose="020B0604030504040204" pitchFamily="34" charset="0"/>
                <a:ea typeface="Verdana" panose="020B0604030504040204" pitchFamily="34" charset="0"/>
              </a:rPr>
              <a:t>Lower entropy is better because it indicates purer clusters</a:t>
            </a:r>
            <a:r>
              <a:rPr lang="en-US" sz="23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3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468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88469" y="165902"/>
            <a:ext cx="41360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Hierarchical Clustering</a:t>
            </a:r>
            <a:endParaRPr lang="en-US" sz="115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6690" y="752258"/>
            <a:ext cx="10848109" cy="57853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dirty="0" smtClean="0">
                <a:latin typeface="Verdana" panose="020B0604030504040204" pitchFamily="34" charset="0"/>
                <a:ea typeface="Verdana" panose="020B0604030504040204" pitchFamily="34" charset="0"/>
              </a:rPr>
              <a:t>Build </a:t>
            </a: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trees of </a:t>
            </a:r>
            <a:r>
              <a:rPr lang="en-US" sz="2500" dirty="0" smtClean="0">
                <a:latin typeface="Verdana" panose="020B0604030504040204" pitchFamily="34" charset="0"/>
                <a:ea typeface="Verdana" panose="020B0604030504040204" pitchFamily="34" charset="0"/>
              </a:rPr>
              <a:t>clusters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Dendrograms</a:t>
            </a:r>
            <a:endParaRPr lang="en-US" sz="2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dirty="0" smtClean="0">
                <a:latin typeface="Verdana" panose="020B0604030504040204" pitchFamily="34" charset="0"/>
                <a:ea typeface="Verdana" panose="020B0604030504040204" pitchFamily="34" charset="0"/>
              </a:rPr>
              <a:t>Agglomerative Clustering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dirty="0" smtClean="0">
                <a:latin typeface="Verdana" panose="020B0604030504040204" pitchFamily="34" charset="0"/>
                <a:ea typeface="Verdana" panose="020B0604030504040204" pitchFamily="34" charset="0"/>
              </a:rPr>
              <a:t>Start </a:t>
            </a: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with individual points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Repeatedly merge </a:t>
            </a:r>
            <a:r>
              <a:rPr lang="en-US" sz="2500" dirty="0" smtClean="0">
                <a:latin typeface="Verdana" panose="020B0604030504040204" pitchFamily="34" charset="0"/>
                <a:ea typeface="Verdana" panose="020B0604030504040204" pitchFamily="34" charset="0"/>
              </a:rPr>
              <a:t>the closest </a:t>
            </a: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clusters based on some criterion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Most </a:t>
            </a:r>
            <a:r>
              <a:rPr lang="en-US" sz="2500" dirty="0" smtClean="0">
                <a:latin typeface="Verdana" panose="020B0604030504040204" pitchFamily="34" charset="0"/>
                <a:ea typeface="Verdana" panose="020B0604030504040204" pitchFamily="34" charset="0"/>
              </a:rPr>
              <a:t>popular</a:t>
            </a:r>
            <a:endParaRPr lang="en-US" sz="2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dirty="0" smtClean="0">
                <a:latin typeface="Verdana" panose="020B0604030504040204" pitchFamily="34" charset="0"/>
                <a:ea typeface="Verdana" panose="020B0604030504040204" pitchFamily="34" charset="0"/>
              </a:rPr>
              <a:t>Divisive Clustering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dirty="0" smtClean="0">
                <a:latin typeface="Verdana" panose="020B0604030504040204" pitchFamily="34" charset="0"/>
                <a:ea typeface="Verdana" panose="020B0604030504040204" pitchFamily="34" charset="0"/>
              </a:rPr>
              <a:t>Start </a:t>
            </a: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with one cluster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Divide based on some </a:t>
            </a:r>
            <a:r>
              <a:rPr lang="en-US" sz="2500" dirty="0" smtClean="0">
                <a:latin typeface="Verdana" panose="020B0604030504040204" pitchFamily="34" charset="0"/>
                <a:ea typeface="Verdana" panose="020B0604030504040204" pitchFamily="34" charset="0"/>
              </a:rPr>
              <a:t>criterion</a:t>
            </a:r>
            <a:endParaRPr lang="en-US" sz="25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339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55952" y="415283"/>
            <a:ext cx="88264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i="1" dirty="0" err="1">
                <a:latin typeface="Verdana" panose="020B0604030504040204" pitchFamily="34" charset="0"/>
                <a:ea typeface="Verdana" panose="020B0604030504040204" pitchFamily="34" charset="0"/>
              </a:rPr>
              <a:t>Dendrogram</a:t>
            </a:r>
            <a:r>
              <a:rPr lang="en-US" sz="2800" b="1" i="1" dirty="0" smtClean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How </a:t>
            </a: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the Clusters are Merged</a:t>
            </a:r>
            <a:endParaRPr lang="en-US" sz="199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5126" y="1444986"/>
            <a:ext cx="1084810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Decompose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data objects into </a:t>
            </a: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several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levels of nested partitioning </a:t>
            </a: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(tree of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clusters), called a </a:t>
            </a:r>
            <a:r>
              <a:rPr lang="en-US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dendrogram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clustering of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the data objects is </a:t>
            </a: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obtained by cutting the </a:t>
            </a:r>
            <a:r>
              <a:rPr lang="en-US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dendrogram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 at the desired </a:t>
            </a: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level ,then each connected component forms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a cluster.</a:t>
            </a:r>
          </a:p>
        </p:txBody>
      </p:sp>
    </p:spTree>
    <p:extLst>
      <p:ext uri="{BB962C8B-B14F-4D97-AF65-F5344CB8AC3E}">
        <p14:creationId xmlns:p14="http://schemas.microsoft.com/office/powerpoint/2010/main" val="2377215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87653" y="553828"/>
            <a:ext cx="46426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Inter Cluster Distance</a:t>
            </a:r>
            <a:endParaRPr lang="en-US" sz="34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255" y="1530927"/>
            <a:ext cx="10557163" cy="234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74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090978"/>
              </p:ext>
            </p:extLst>
          </p:nvPr>
        </p:nvGraphicFramePr>
        <p:xfrm>
          <a:off x="1595579" y="3144211"/>
          <a:ext cx="812800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65305383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348861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6017506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5321557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0755527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46777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b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e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152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379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b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795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c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722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055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02221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246909" y="806025"/>
            <a:ext cx="8936182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Given the dataset {</a:t>
            </a:r>
            <a:r>
              <a:rPr lang="en-US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a,b,c,d,e</a:t>
            </a:r>
            <a:r>
              <a:rPr lang="en-US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} and the following distance matrix, Calculate a </a:t>
            </a:r>
            <a:r>
              <a:rPr lang="en-US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dendgram</a:t>
            </a:r>
            <a:r>
              <a:rPr lang="en-US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by single linkage hierarchical and complete </a:t>
            </a:r>
            <a:r>
              <a:rPr lang="en-US" b="1" smtClean="0">
                <a:latin typeface="Verdana" panose="020B0604030504040204" pitchFamily="34" charset="0"/>
                <a:ea typeface="Verdana" panose="020B0604030504040204" pitchFamily="34" charset="0"/>
              </a:rPr>
              <a:t>linkage method.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442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21831</TotalTime>
  <Words>1189</Words>
  <Application>Microsoft Office PowerPoint</Application>
  <PresentationFormat>Widescreen</PresentationFormat>
  <Paragraphs>195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Verdana</vt:lpstr>
      <vt:lpstr>Wingdings</vt:lpstr>
      <vt:lpstr>Office Theme</vt:lpstr>
      <vt:lpstr>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warehouse</dc:title>
  <dc:creator>Asus</dc:creator>
  <cp:lastModifiedBy>Asus</cp:lastModifiedBy>
  <cp:revision>53</cp:revision>
  <dcterms:created xsi:type="dcterms:W3CDTF">2026-04-25T05:28:02Z</dcterms:created>
  <dcterms:modified xsi:type="dcterms:W3CDTF">2026-06-30T11:43:07Z</dcterms:modified>
</cp:coreProperties>
</file>