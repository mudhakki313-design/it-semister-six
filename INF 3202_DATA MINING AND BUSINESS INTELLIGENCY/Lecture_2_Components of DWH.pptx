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6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5944B-3979-4ECC-811F-E003F0AE9495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DFDB4-5FF5-4484-B577-2D50FC031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8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relational database</a:t>
            </a:r>
            <a:r>
              <a:rPr lang="en-US" dirty="0" smtClean="0"/>
              <a:t> is a type of database that stores data in the form of </a:t>
            </a:r>
            <a:r>
              <a:rPr lang="en-US" b="1" dirty="0" smtClean="0"/>
              <a:t>tables (relations)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Multidimensional OLAP (MOLAP)</a:t>
            </a:r>
            <a:r>
              <a:rPr lang="en-US" dirty="0" smtClean="0"/>
              <a:t> is a type of OLAP system that stores data in a </a:t>
            </a:r>
            <a:r>
              <a:rPr lang="en-US" b="1" dirty="0" smtClean="0"/>
              <a:t>multidimensional cube format</a:t>
            </a:r>
            <a:r>
              <a:rPr lang="en-US" dirty="0" smtClean="0"/>
              <a:t> instead of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21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84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4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1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08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99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1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1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7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7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3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1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A0669-E84A-4B96-A551-52BE95EF1770}" type="datetimeFigureOut">
              <a:rPr lang="en-US" smtClean="0"/>
              <a:t>27-Apr-26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4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2587" y="757238"/>
            <a:ext cx="9144000" cy="814387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warehouse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9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34746" y="101083"/>
            <a:ext cx="6085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Components of Data Warehousing</a:t>
            </a: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57214" y="582571"/>
            <a:ext cx="112014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Sources: 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These are the </a:t>
            </a: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origins of data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 that feed the data warehouse.</a:t>
            </a:r>
          </a:p>
          <a:p>
            <a:pPr algn="just">
              <a:lnSpc>
                <a:spcPct val="150000"/>
              </a:lnSpc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Operational Databases (OLTP systems)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Day-to-day transaction systems such as sales systems, banking systems, ERP, </a:t>
            </a:r>
            <a:r>
              <a:rPr lang="en-US" sz="21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etc.Example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: customer orders, payments, inventory updates. </a:t>
            </a:r>
          </a:p>
          <a:p>
            <a:pPr algn="just">
              <a:lnSpc>
                <a:spcPct val="150000"/>
              </a:lnSpc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External </a:t>
            </a:r>
            <a:r>
              <a:rPr lang="en-US" sz="21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en-US" sz="2100" dirty="0" err="1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21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 coming from outside the </a:t>
            </a:r>
            <a:r>
              <a:rPr lang="en-US" sz="21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organization.Example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: market trends, social media data, government statistics.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ETL Process (Extract, Transform, Load):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This is the </a:t>
            </a: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core pipeline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 that prepares data for the warehouse.</a:t>
            </a:r>
          </a:p>
          <a:p>
            <a:pPr algn="just">
              <a:lnSpc>
                <a:spcPct val="150000"/>
              </a:lnSpc>
            </a:pPr>
            <a:r>
              <a:rPr lang="en-US" sz="21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Extract</a:t>
            </a:r>
            <a:r>
              <a:rPr lang="en-US" sz="2100" dirty="0" err="1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21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Data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 is collected from multiple sources (databases, APIs, files). </a:t>
            </a:r>
          </a:p>
          <a:p>
            <a:pPr algn="just">
              <a:lnSpc>
                <a:spcPct val="150000"/>
              </a:lnSpc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Transform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: Data is cleaned and prepared: Remove duplicates ,Fix errors ,Standardize formats ,Integrate data from different sources </a:t>
            </a:r>
          </a:p>
          <a:p>
            <a:pPr algn="just">
              <a:lnSpc>
                <a:spcPct val="150000"/>
              </a:lnSpc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Load 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:Processed data is stored into the data warehouse.</a:t>
            </a:r>
          </a:p>
        </p:txBody>
      </p:sp>
    </p:spTree>
    <p:extLst>
      <p:ext uri="{BB962C8B-B14F-4D97-AF65-F5344CB8AC3E}">
        <p14:creationId xmlns:p14="http://schemas.microsoft.com/office/powerpoint/2010/main" val="241276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1771" y="302179"/>
            <a:ext cx="90252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Components of Data Warehousing</a:t>
            </a:r>
            <a:endParaRPr 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4412" y="1362847"/>
            <a:ext cx="10601326" cy="500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Warehouse Storage: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This is the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central repository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where processed data is stored. Typically implemented using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relational databases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 Organized using models like Star Schema and Snowflake Schema.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Marts: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These are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smaller, specialized subsets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of the data warehouse. Designed for specific departments: Finance, Sales, and </a:t>
            </a:r>
            <a:r>
              <a:rPr lang="en-U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Marketing.It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facilitate Faster access to relevant data, Improved performance and Easier for users to analyze.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1771" y="145016"/>
            <a:ext cx="90252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Components of Data Warehousing</a:t>
            </a:r>
            <a:endParaRPr 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42962" y="791347"/>
            <a:ext cx="10601326" cy="593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OLAP(Online Analytical Processing):It is a technology used in data warehousing that enables users to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analyze large volumes of data quickly and interactively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, especially for decision-making.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Slicing: 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Extract a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single layer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of the cube Example: Sales data for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2025 only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Dicing: 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Extract a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sub-cube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(more specific selection) .Example: Sales in Zanzibar for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Q1 2025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Drill-Down: 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Move from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summary  detailed data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.Example: Year → Month → Day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Roll-Up:</a:t>
            </a:r>
            <a:r>
              <a:rPr lang="en-US" sz="23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Move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from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detailed → summarized data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 .Example: Daily sales → Monthly sales. </a:t>
            </a:r>
          </a:p>
        </p:txBody>
      </p:sp>
    </p:spTree>
    <p:extLst>
      <p:ext uri="{BB962C8B-B14F-4D97-AF65-F5344CB8AC3E}">
        <p14:creationId xmlns:p14="http://schemas.microsoft.com/office/powerpoint/2010/main" val="214840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images.openai.com/static-rsc-4/L8g105y5Oeb7UvpHfAGgGRZk0z4W9sXlywXRHBSB9I2Rt6J6b4uuS-LOJubeRgiG9jdfAEt7wMbeZ9zTWj-0D3QaNCI3FNmfXkqSX173zf8Jb5XOOwc6v2x64_aqw0W1YTmO56ZtPp3gZ8szrOkzUGD0vr1IOPh0K3BaPt8RylM7IdNyhQESdGLQzKl3fFfj?purpose=fulls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1" y="1114425"/>
            <a:ext cx="5472112" cy="472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images.openai.com/static-rsc-4/viwVSJJU3gKXcZjxUNw6jp22SoSt6jrDZNWzfcfSRubB4nSIUCTSt0YzarRlY9FtFY7UTG3YtOYQ2inX1khmEyixul54gzGNIFq9832DB6E1BPowTUTcI2bpJaf23JHCUpWBmAMdjXOMXHouAukUME10k0Imc6xkFNTdToPhDAG6-YE-YnZfCnHDPIkkfp_I?purpose=fullsiz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4" y="1600199"/>
            <a:ext cx="5314949" cy="4100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415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7558" y="0"/>
            <a:ext cx="64187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Data Modeling Concepts</a:t>
            </a:r>
            <a:endParaRPr 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589" y="764023"/>
            <a:ext cx="5843586" cy="593239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Fact </a:t>
            </a:r>
            <a:r>
              <a:rPr lang="en-US" sz="23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Tables: 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Fact 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tables store </a:t>
            </a: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quantitative, measurable business data</a:t>
            </a: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b="1" dirty="0">
                <a:latin typeface="Verdana" panose="020B0604030504040204" pitchFamily="34" charset="0"/>
                <a:ea typeface="Verdana" panose="020B0604030504040204" pitchFamily="34" charset="0"/>
              </a:rPr>
              <a:t>Characteristics: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Contains numeric values for analysis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Represents business events or transactions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Usually very large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300" dirty="0">
                <a:latin typeface="Verdana" panose="020B0604030504040204" pitchFamily="34" charset="0"/>
                <a:ea typeface="Verdana" panose="020B0604030504040204" pitchFamily="34" charset="0"/>
              </a:rPr>
              <a:t>Linked to dimension tables through foreign </a:t>
            </a:r>
            <a:r>
              <a:rPr lang="en-US" sz="2300" dirty="0" smtClean="0">
                <a:latin typeface="Verdana" panose="020B0604030504040204" pitchFamily="34" charset="0"/>
                <a:ea typeface="Verdana" panose="020B0604030504040204" pitchFamily="34" charset="0"/>
              </a:rPr>
              <a:t>keys.</a:t>
            </a:r>
            <a:endParaRPr lang="en-US" sz="23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17371" y="764023"/>
            <a:ext cx="5855554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Dimension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Tables: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Dimension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tables store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descriptive attributes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that provide context to facts.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Characteristics: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Contains textual or categorical information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Used for filtering, grouping, and labeling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Usually smaller than fact tables</a:t>
            </a:r>
          </a:p>
        </p:txBody>
      </p:sp>
    </p:spTree>
    <p:extLst>
      <p:ext uri="{BB962C8B-B14F-4D97-AF65-F5344CB8AC3E}">
        <p14:creationId xmlns:p14="http://schemas.microsoft.com/office/powerpoint/2010/main" val="281268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77558" y="0"/>
            <a:ext cx="64187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Data Modeling Concepts</a:t>
            </a:r>
            <a:endParaRPr lang="en-US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8589" y="764023"/>
            <a:ext cx="5843586" cy="48127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Star </a:t>
            </a:r>
            <a:r>
              <a:rPr lang="en-US" sz="26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Schema:</a:t>
            </a:r>
            <a:r>
              <a:rPr lang="en-US" sz="26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Star</a:t>
            </a:r>
            <a:r>
              <a:rPr lang="en-US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Schema is the simplest and most widely used data warehouse schema.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Structure: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One central fact table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Connected directly to multiple dimension tables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Resembles a star </a:t>
            </a:r>
            <a:r>
              <a:rPr lang="en-US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shape</a:t>
            </a:r>
            <a:endParaRPr lang="en-US" sz="2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17370" y="764023"/>
            <a:ext cx="5941279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Snowflake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Schema: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Snowflake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Schema is an extension of the star schema with normalized dimensions.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Structure: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Fact table at center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Dimension tables split into sub-dimensions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More complex design</a:t>
            </a:r>
          </a:p>
        </p:txBody>
      </p:sp>
    </p:spTree>
    <p:extLst>
      <p:ext uri="{BB962C8B-B14F-4D97-AF65-F5344CB8AC3E}">
        <p14:creationId xmlns:p14="http://schemas.microsoft.com/office/powerpoint/2010/main" val="4184606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0345" y="115372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535" y="728781"/>
            <a:ext cx="1097234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b="1" dirty="0">
                <a:latin typeface="Verdana" panose="020B0604030504040204" pitchFamily="34" charset="0"/>
                <a:ea typeface="Verdana" panose="020B0604030504040204" pitchFamily="34" charset="0"/>
              </a:rPr>
              <a:t>Business Requirements </a:t>
            </a: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Analysis: 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This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is the foundation of the entire data warehouse project.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Purpose: 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To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understand what the organization needs from the data warehouse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b="1" dirty="0">
                <a:latin typeface="Verdana" panose="020B0604030504040204" pitchFamily="34" charset="0"/>
                <a:ea typeface="Verdana" panose="020B0604030504040204" pitchFamily="34" charset="0"/>
              </a:rPr>
              <a:t>Data Source </a:t>
            </a:r>
            <a:r>
              <a:rPr lang="en-US" sz="21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Identification: 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Organizations </a:t>
            </a: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have data stored in multiple systems.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b="1" dirty="0">
                <a:latin typeface="Verdana" panose="020B0604030504040204" pitchFamily="34" charset="0"/>
                <a:ea typeface="Verdana" panose="020B0604030504040204" pitchFamily="34" charset="0"/>
              </a:rPr>
              <a:t>Purpose: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To determine: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Where data comes from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Data structure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Data quality 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</a:rPr>
              <a:t>Integration </a:t>
            </a:r>
            <a:r>
              <a:rPr lang="en-US" sz="2100" dirty="0" smtClean="0">
                <a:latin typeface="Verdana" panose="020B0604030504040204" pitchFamily="34" charset="0"/>
                <a:ea typeface="Verdana" panose="020B0604030504040204" pitchFamily="34" charset="0"/>
              </a:rPr>
              <a:t>difficulty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23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0345" y="115372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535" y="728781"/>
            <a:ext cx="1097234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Data Warehouse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Design: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This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phase determines how data will be organized.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534" y="1908899"/>
            <a:ext cx="2999915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A. Conceptual Design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High-level overview.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Focus: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Business subjects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Major entities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Data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3844" y="1908899"/>
            <a:ext cx="3409950" cy="46628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B. Logical Design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Detailed relationships.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Includes: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Fact tables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Dimension tables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Schema selection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Star Schema: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Simple and direct.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Snowflake Schema: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More normalized and detailed.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7189" y="1908899"/>
            <a:ext cx="3395661" cy="42473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C. Physical Design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Actual technical implementation.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Includes: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Database platform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Storage allocation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Partitioning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Indexes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Security controls </a:t>
            </a:r>
          </a:p>
        </p:txBody>
      </p:sp>
    </p:spTree>
    <p:extLst>
      <p:ext uri="{BB962C8B-B14F-4D97-AF65-F5344CB8AC3E}">
        <p14:creationId xmlns:p14="http://schemas.microsoft.com/office/powerpoint/2010/main" val="230646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0345" y="115372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534" y="700147"/>
            <a:ext cx="10972340" cy="11256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ETL Development (Extract, Transform,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Load):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This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is one of the most critical steps.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0534" y="1908899"/>
            <a:ext cx="2999915" cy="2944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Extract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Retrieve data from source systems.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Customer data from CRM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Sales data from POS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3844" y="1908899"/>
            <a:ext cx="3409950" cy="41850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Transform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Prepare data for warehouse use.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Activities: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Cleaning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Removing duplicates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Standardization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Validation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Data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77189" y="1908899"/>
            <a:ext cx="3395661" cy="28146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Load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Store transformed data into warehouse.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Types: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Full load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Incremental load</a:t>
            </a:r>
          </a:p>
        </p:txBody>
      </p:sp>
    </p:spTree>
    <p:extLst>
      <p:ext uri="{BB962C8B-B14F-4D97-AF65-F5344CB8AC3E}">
        <p14:creationId xmlns:p14="http://schemas.microsoft.com/office/powerpoint/2010/main" val="1806452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090" y="350899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64828" y="1172126"/>
            <a:ext cx="10972340" cy="4449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Data Warehouse </a:t>
            </a:r>
            <a:r>
              <a:rPr lang="en-US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Implementation:</a:t>
            </a:r>
            <a:r>
              <a:rPr lang="en-US" sz="2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Build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and deploy the designed system.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Activities: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Create tables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Configure ETL jobs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Build data marts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Establish security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Set backup systems</a:t>
            </a:r>
          </a:p>
        </p:txBody>
      </p:sp>
    </p:spTree>
    <p:extLst>
      <p:ext uri="{BB962C8B-B14F-4D97-AF65-F5344CB8AC3E}">
        <p14:creationId xmlns:p14="http://schemas.microsoft.com/office/powerpoint/2010/main" val="3093897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090" y="350899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956079" y="1144417"/>
            <a:ext cx="998931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OLAP and Analytical Processing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Layer: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OLAP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allows multidimensional analysis.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Functions: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Drill-down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Roll-up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Slice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Dice</a:t>
            </a:r>
          </a:p>
        </p:txBody>
      </p:sp>
    </p:spTree>
    <p:extLst>
      <p:ext uri="{BB962C8B-B14F-4D97-AF65-F5344CB8AC3E}">
        <p14:creationId xmlns:p14="http://schemas.microsoft.com/office/powerpoint/2010/main" val="242316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1497" y="415636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943486" y="1000411"/>
            <a:ext cx="998931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Testing and Quality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Assurance: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Testing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ensures system reliability.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Types of Testing: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Data Accuracy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Testing: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Ensures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correct values.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ETL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Testing: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Ensures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transformations work correctly.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Performance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Testing: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Ensures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fast query speed.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Security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Testing: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Protects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sensitive information.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User Acceptance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Testing: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End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users verify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425158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1497" y="415636"/>
            <a:ext cx="99213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</a:rPr>
              <a:t>Phases of Data Warehousing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943486" y="1000411"/>
            <a:ext cx="9989317" cy="55750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Deployment: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Move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warehouse into real business use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Maintenance and Continuous </a:t>
            </a: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Improvement: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warehouses evolve with business needs.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Activities: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Add new data sources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Upgrade ETL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Optimize performance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Improve reports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Data governance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80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5605" y="521711"/>
            <a:ext cx="9144000" cy="814387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Assignment 01: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46005" y="1748066"/>
            <a:ext cx="10363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Differentiate between relational database and OLAP (Provides 5 differences).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Describe the architecture of data warehouse </a:t>
            </a:r>
          </a:p>
          <a:p>
            <a:pPr marL="857250" lvl="1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Explain single Tier-architecture</a:t>
            </a:r>
          </a:p>
          <a:p>
            <a:pPr marL="857250" lvl="1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Two tier - architecture</a:t>
            </a:r>
          </a:p>
          <a:p>
            <a:pPr marL="857250" lvl="1" indent="-400050" algn="just">
              <a:lnSpc>
                <a:spcPct val="150000"/>
              </a:lnSpc>
              <a:buFont typeface="+mj-lt"/>
              <a:buAutoNum type="romanL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Three tier - architecture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Differentiate between star and snowflake schema.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66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3074</TotalTime>
  <Words>892</Words>
  <Application>Microsoft Office PowerPoint</Application>
  <PresentationFormat>Widescreen</PresentationFormat>
  <Paragraphs>146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Verdana</vt:lpstr>
      <vt:lpstr>Wingdings</vt:lpstr>
      <vt:lpstr>Office Theme</vt:lpstr>
      <vt:lpstr>Data warehouse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 01: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</dc:title>
  <dc:creator>Asus</dc:creator>
  <cp:lastModifiedBy>Asus</cp:lastModifiedBy>
  <cp:revision>18</cp:revision>
  <dcterms:created xsi:type="dcterms:W3CDTF">2026-04-25T05:28:02Z</dcterms:created>
  <dcterms:modified xsi:type="dcterms:W3CDTF">2026-04-27T17:52:34Z</dcterms:modified>
</cp:coreProperties>
</file>